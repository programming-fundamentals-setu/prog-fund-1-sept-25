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7" r:id="rId1"/>
  </p:sldMasterIdLst>
  <p:notesMasterIdLst>
    <p:notesMasterId r:id="rId29"/>
  </p:notesMasterIdLst>
  <p:handoutMasterIdLst>
    <p:handoutMasterId r:id="rId30"/>
  </p:handoutMasterIdLst>
  <p:sldIdLst>
    <p:sldId id="256" r:id="rId2"/>
    <p:sldId id="348" r:id="rId3"/>
    <p:sldId id="265" r:id="rId4"/>
    <p:sldId id="288" r:id="rId5"/>
    <p:sldId id="266" r:id="rId6"/>
    <p:sldId id="289" r:id="rId7"/>
    <p:sldId id="279" r:id="rId8"/>
    <p:sldId id="304" r:id="rId9"/>
    <p:sldId id="267" r:id="rId10"/>
    <p:sldId id="290" r:id="rId11"/>
    <p:sldId id="291" r:id="rId12"/>
    <p:sldId id="299" r:id="rId13"/>
    <p:sldId id="268" r:id="rId14"/>
    <p:sldId id="303" r:id="rId15"/>
    <p:sldId id="354" r:id="rId16"/>
    <p:sldId id="351" r:id="rId17"/>
    <p:sldId id="353" r:id="rId18"/>
    <p:sldId id="352" r:id="rId19"/>
    <p:sldId id="269" r:id="rId20"/>
    <p:sldId id="282" r:id="rId21"/>
    <p:sldId id="349" r:id="rId22"/>
    <p:sldId id="283" r:id="rId23"/>
    <p:sldId id="301" r:id="rId24"/>
    <p:sldId id="302" r:id="rId25"/>
    <p:sldId id="292" r:id="rId26"/>
    <p:sldId id="270" r:id="rId27"/>
    <p:sldId id="35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E4F"/>
    <a:srgbClr val="009C5C"/>
    <a:srgbClr val="7F6F5E"/>
    <a:srgbClr val="C81D2B"/>
    <a:srgbClr val="1A3170"/>
    <a:srgbClr val="A57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89"/>
    <p:restoredTop sz="94725"/>
  </p:normalViewPr>
  <p:slideViewPr>
    <p:cSldViewPr>
      <p:cViewPr varScale="1">
        <p:scale>
          <a:sx n="109" d="100"/>
          <a:sy n="109" d="100"/>
        </p:scale>
        <p:origin x="1176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22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301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301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BF01C2B9-F148-D248-8B24-36F43746ED6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301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1548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608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608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42B80AA9-9110-5649-856E-9959702D86FC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5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608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711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538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915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915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D87F04AC-66A4-8A46-8CF7-4EB8D4BAC17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7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915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813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2751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08B82-A232-E607-AD42-E16EA067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>
            <a:extLst>
              <a:ext uri="{FF2B5EF4-FFF2-40B4-BE49-F238E27FC236}">
                <a16:creationId xmlns:a16="http://schemas.microsoft.com/office/drawing/2014/main" id="{4334F84B-A9CB-D2FF-763B-B9277DAC5C1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9154" name="Rectangle 6">
            <a:extLst>
              <a:ext uri="{FF2B5EF4-FFF2-40B4-BE49-F238E27FC236}">
                <a16:creationId xmlns:a16="http://schemas.microsoft.com/office/drawing/2014/main" id="{AF1B7357-07BE-D8B6-6EA6-2B9AA2855E5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9155" name="Rectangle 7">
            <a:extLst>
              <a:ext uri="{FF2B5EF4-FFF2-40B4-BE49-F238E27FC236}">
                <a16:creationId xmlns:a16="http://schemas.microsoft.com/office/drawing/2014/main" id="{AEBCC6A2-40C2-FD5A-40D0-9EA09CDF77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D87F04AC-66A4-8A46-8CF7-4EB8D4BAC17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8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9156" name="Rectangle 2">
            <a:extLst>
              <a:ext uri="{FF2B5EF4-FFF2-40B4-BE49-F238E27FC236}">
                <a16:creationId xmlns:a16="http://schemas.microsoft.com/office/drawing/2014/main" id="{22CC24A8-480A-A51D-CFA7-A6242AD6C7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8134" name="Rectangle 3">
            <a:extLst>
              <a:ext uri="{FF2B5EF4-FFF2-40B4-BE49-F238E27FC236}">
                <a16:creationId xmlns:a16="http://schemas.microsoft.com/office/drawing/2014/main" id="{FAAF8EEE-3291-7083-ED63-F6D8AB02CE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598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5325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5325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6C979DF4-CC73-9B4F-8FFB-0055A5D5E511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5325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018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6082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5529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5529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5B76FE57-F2C0-4646-9243-30FE5272AB4D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5530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120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8009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041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041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CEE1565E-29AA-3446-A164-B8D1885B9D1E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042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48103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246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246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3DCE7E3-7332-834C-B906-2AEF9A08C04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20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24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246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  <p:txBody>
          <a:bodyPr/>
          <a:lstStyle/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try out in codepad</a:t>
            </a:r>
          </a:p>
        </p:txBody>
      </p:sp>
    </p:spTree>
    <p:extLst>
      <p:ext uri="{BB962C8B-B14F-4D97-AF65-F5344CB8AC3E}">
        <p14:creationId xmlns:p14="http://schemas.microsoft.com/office/powerpoint/2010/main" val="3149392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AF1B8-C70D-F191-0A84-6147FC32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>
            <a:extLst>
              <a:ext uri="{FF2B5EF4-FFF2-40B4-BE49-F238E27FC236}">
                <a16:creationId xmlns:a16="http://schemas.microsoft.com/office/drawing/2014/main" id="{4F6D4727-1C9B-5F6B-62CF-506FC256260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4514" name="Rectangle 6">
            <a:extLst>
              <a:ext uri="{FF2B5EF4-FFF2-40B4-BE49-F238E27FC236}">
                <a16:creationId xmlns:a16="http://schemas.microsoft.com/office/drawing/2014/main" id="{94EE65B2-6786-C887-D606-41B066B0F15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4515" name="Rectangle 7">
            <a:extLst>
              <a:ext uri="{FF2B5EF4-FFF2-40B4-BE49-F238E27FC236}">
                <a16:creationId xmlns:a16="http://schemas.microsoft.com/office/drawing/2014/main" id="{E3B1C645-DDC0-0AB2-E1F8-958482AE48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68F1F93-EB3A-2A46-83B6-547F456C1C5F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4516" name="Rectangle 2">
            <a:extLst>
              <a:ext uri="{FF2B5EF4-FFF2-40B4-BE49-F238E27FC236}">
                <a16:creationId xmlns:a16="http://schemas.microsoft.com/office/drawing/2014/main" id="{BF64AD31-EE87-CD08-E7F4-DF8B72C024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712BCBB8-AF08-D87E-23FF-0F1CCC076D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GB" altLang="en-US" sz="1600">
              <a:latin typeface="Lucida Grande" charset="0"/>
              <a:ea typeface="ＭＳ Ｐゴシック" charset="-128"/>
              <a:sym typeface="Lucida Gran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9762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451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451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68F1F93-EB3A-2A46-83B6-547F456C1C5F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22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451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451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GB" altLang="en-US" sz="1600">
              <a:latin typeface="Lucida Grande" charset="0"/>
              <a:ea typeface="ＭＳ Ｐゴシック" charset="-128"/>
              <a:sym typeface="Lucida Gran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545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758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758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69974D1-C273-1A44-83FD-CD5A69E869C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758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53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8204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88531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71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34847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98188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27121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419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56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293640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161385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22263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653910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85827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81542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00583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6371"/>
      </p:ext>
    </p:extLst>
  </p:cSld>
  <p:clrMapOvr>
    <a:masterClrMapping/>
  </p:clrMapOvr>
  <p:hf sldNum="0"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1625600" y="1828800"/>
            <a:ext cx="9956800" cy="4267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49611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816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8" r:id="rId1"/>
    <p:sldLayoutId id="2147483959" r:id="rId2"/>
    <p:sldLayoutId id="2147483960" r:id="rId3"/>
    <p:sldLayoutId id="2147483961" r:id="rId4"/>
    <p:sldLayoutId id="2147483962" r:id="rId5"/>
    <p:sldLayoutId id="2147483963" r:id="rId6"/>
    <p:sldLayoutId id="2147483964" r:id="rId7"/>
    <p:sldLayoutId id="2147483965" r:id="rId8"/>
    <p:sldLayoutId id="2147483966" r:id="rId9"/>
    <p:sldLayoutId id="2147483967" r:id="rId10"/>
    <p:sldLayoutId id="2147483968" r:id="rId11"/>
    <p:sldLayoutId id="2147483969" r:id="rId12"/>
    <p:sldLayoutId id="2147483970" r:id="rId13"/>
    <p:sldLayoutId id="2147483971" r:id="rId14"/>
    <p:sldLayoutId id="2147483972" r:id="rId15"/>
    <p:sldLayoutId id="2147483973" r:id="rId16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dirty="0">
                <a:ea typeface="+mj-ea"/>
                <a:cs typeface="+mj-cs"/>
              </a:rPr>
              <a:t>Understanding class definitions 2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418712"/>
            <a:ext cx="10134430" cy="846384"/>
          </a:xfrm>
        </p:spPr>
        <p:txBody>
          <a:bodyPr/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Exploring source code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60E8F1-B4D3-8DAE-B911-C719A1B1D1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C1D98B-EAD8-17AC-9CB8-C2BBF110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Upcoming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FC1126-1F70-0EA1-DCE5-D16434703A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>
                <a:ea typeface="MS PGothic" charset="-128"/>
              </a:rPr>
              <a:t>Methods, including:</a:t>
            </a:r>
          </a:p>
          <a:p>
            <a:pPr lvl="1" eaLnBrk="1" hangingPunct="1"/>
            <a:r>
              <a:rPr lang="en-US" altLang="en-US" i="1">
                <a:ea typeface="MS PGothic" charset="-128"/>
              </a:rPr>
              <a:t>accessor </a:t>
            </a:r>
            <a:r>
              <a:rPr lang="en-US" altLang="en-US">
                <a:ea typeface="MS PGothic" charset="-128"/>
              </a:rPr>
              <a:t>(</a:t>
            </a:r>
            <a:r>
              <a:rPr lang="en-US" altLang="en-US" i="1">
                <a:ea typeface="MS PGothic" charset="-128"/>
              </a:rPr>
              <a:t>getter</a:t>
            </a:r>
            <a:r>
              <a:rPr lang="en-US" altLang="en-US">
                <a:ea typeface="MS PGothic" charset="-128"/>
              </a:rPr>
              <a:t>) methods</a:t>
            </a:r>
          </a:p>
          <a:p>
            <a:pPr lvl="1" eaLnBrk="1" hangingPunct="1"/>
            <a:r>
              <a:rPr lang="en-US" altLang="en-US" i="1">
                <a:ea typeface="MS PGothic" charset="-128"/>
              </a:rPr>
              <a:t>mutator</a:t>
            </a:r>
            <a:r>
              <a:rPr lang="en-US" altLang="en-US">
                <a:ea typeface="MS PGothic" charset="-128"/>
              </a:rPr>
              <a:t> (</a:t>
            </a:r>
            <a:r>
              <a:rPr lang="en-US" altLang="en-US" i="1">
                <a:ea typeface="MS PGothic" charset="-128"/>
              </a:rPr>
              <a:t>setter</a:t>
            </a:r>
            <a:r>
              <a:rPr lang="en-US" altLang="en-US">
                <a:ea typeface="MS PGothic" charset="-128"/>
              </a:rPr>
              <a:t>) methods;</a:t>
            </a:r>
          </a:p>
          <a:p>
            <a:pPr marL="382588"/>
            <a:r>
              <a:rPr lang="en-US" altLang="en-US">
                <a:ea typeface="MS PGothic" charset="-128"/>
              </a:rPr>
              <a:t>String formatting;</a:t>
            </a:r>
          </a:p>
          <a:p>
            <a:pPr marL="382588"/>
            <a:r>
              <a:rPr lang="en-US" altLang="en-US">
                <a:ea typeface="MS PGothic" charset="-128"/>
              </a:rPr>
              <a:t>Conditional statements;</a:t>
            </a:r>
          </a:p>
          <a:p>
            <a:pPr marL="382588"/>
            <a:r>
              <a:rPr lang="en-US" altLang="en-US">
                <a:ea typeface="MS PGothic" charset="-128"/>
              </a:rPr>
              <a:t>Local variables. (next </a:t>
            </a:r>
            <a:r>
              <a:rPr lang="en-US" altLang="en-US" err="1">
                <a:ea typeface="MS PGothic" charset="-128"/>
              </a:rPr>
              <a:t>slidedeck</a:t>
            </a:r>
            <a:r>
              <a:rPr lang="en-US" altLang="en-US">
                <a:ea typeface="MS PGothic" charset="-128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4699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>
                <a:ea typeface="MS PGothic" charset="-128"/>
              </a:rPr>
              <a:t>Methods</a:t>
            </a:r>
          </a:p>
        </p:txBody>
      </p:sp>
      <p:sp>
        <p:nvSpPr>
          <p:cNvPr id="41986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dirty="0">
                <a:ea typeface="MS PGothic" charset="-128"/>
              </a:rPr>
              <a:t>Methods implement the </a:t>
            </a:r>
            <a:r>
              <a:rPr lang="en-IE" sz="3600" i="1" noProof="0" dirty="0">
                <a:ea typeface="MS PGothic" charset="-128"/>
              </a:rPr>
              <a:t>behaviour</a:t>
            </a:r>
            <a:r>
              <a:rPr lang="en-US" altLang="en-US" sz="3600" dirty="0">
                <a:ea typeface="MS PGothic" charset="-128"/>
              </a:rPr>
              <a:t> of objects.</a:t>
            </a:r>
          </a:p>
          <a:p>
            <a:pPr eaLnBrk="1" hangingPunct="1"/>
            <a:r>
              <a:rPr lang="en-US" altLang="en-US" sz="3600" dirty="0">
                <a:ea typeface="MS PGothic" charset="-128"/>
              </a:rPr>
              <a:t>Methods have a consistent structure comprised of a </a:t>
            </a:r>
            <a:r>
              <a:rPr lang="en-US" altLang="en-US" sz="3600" i="1" dirty="0">
                <a:ea typeface="MS PGothic" charset="-128"/>
              </a:rPr>
              <a:t>header</a:t>
            </a:r>
            <a:r>
              <a:rPr lang="en-US" altLang="en-US" sz="3600" dirty="0">
                <a:ea typeface="MS PGothic" charset="-128"/>
              </a:rPr>
              <a:t> and a </a:t>
            </a:r>
            <a:r>
              <a:rPr lang="en-US" altLang="en-US" sz="3600" i="1" dirty="0">
                <a:ea typeface="MS PGothic" charset="-128"/>
              </a:rPr>
              <a:t>body</a:t>
            </a:r>
            <a:r>
              <a:rPr lang="en-US" altLang="en-US" sz="3600" dirty="0">
                <a:ea typeface="MS PGothic" charset="-128"/>
              </a:rPr>
              <a:t>.</a:t>
            </a:r>
          </a:p>
          <a:p>
            <a:pPr eaLnBrk="1" hangingPunct="1"/>
            <a:r>
              <a:rPr lang="en-US" altLang="en-US" sz="3600" i="1" dirty="0">
                <a:ea typeface="MS PGothic" charset="-128"/>
              </a:rPr>
              <a:t>Accessor methods</a:t>
            </a:r>
            <a:r>
              <a:rPr lang="en-US" altLang="en-US" sz="3600" dirty="0">
                <a:ea typeface="MS PGothic" charset="-128"/>
              </a:rPr>
              <a:t> provide information about an object.</a:t>
            </a:r>
          </a:p>
          <a:p>
            <a:pPr eaLnBrk="1" hangingPunct="1"/>
            <a:r>
              <a:rPr lang="en-US" altLang="en-US" sz="3600" i="1" dirty="0">
                <a:ea typeface="MS PGothic" charset="-128"/>
              </a:rPr>
              <a:t>Mutator methods</a:t>
            </a:r>
            <a:r>
              <a:rPr lang="en-US" altLang="en-US" sz="3600" dirty="0">
                <a:ea typeface="MS PGothic" charset="-128"/>
              </a:rPr>
              <a:t> change the state of an object.</a:t>
            </a:r>
          </a:p>
          <a:p>
            <a:pPr eaLnBrk="1" hangingPunct="1"/>
            <a:r>
              <a:rPr lang="en-US" altLang="en-US" sz="3600" dirty="0">
                <a:ea typeface="MS PGothic" charset="-128"/>
              </a:rPr>
              <a:t>Other sorts of methods accomplish a variety of tasks.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Method structure</a:t>
            </a:r>
          </a:p>
        </p:txBody>
      </p:sp>
      <p:sp>
        <p:nvSpPr>
          <p:cNvPr id="4403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Accessor methods often occur in the form of </a:t>
            </a:r>
            <a:r>
              <a:rPr lang="en-US" altLang="en-US" sz="3200" i="1">
                <a:ea typeface="MS PGothic" charset="-128"/>
              </a:rPr>
              <a:t>getter</a:t>
            </a:r>
            <a:r>
              <a:rPr lang="en-US" altLang="en-US" sz="3200">
                <a:ea typeface="MS PGothic" charset="-128"/>
              </a:rPr>
              <a:t> methods.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header</a:t>
            </a:r>
            <a:r>
              <a:rPr lang="en-US" altLang="ja-JP" sz="3200">
                <a:ea typeface="MS PGothic" charset="-128"/>
              </a:rPr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b="1">
                <a:latin typeface="Courier New" charset="0"/>
                <a:ea typeface="MS PGothic" charset="-128"/>
              </a:rPr>
              <a:t>public </a:t>
            </a:r>
            <a:r>
              <a:rPr lang="en-US" altLang="en-US" sz="2800" b="1" err="1">
                <a:latin typeface="Courier New" charset="0"/>
                <a:ea typeface="MS PGothic" charset="-128"/>
              </a:rPr>
              <a:t>int</a:t>
            </a:r>
            <a:r>
              <a:rPr lang="en-US" altLang="en-US" sz="2800" b="1">
                <a:latin typeface="Courier New" charset="0"/>
                <a:ea typeface="MS PGothic" charset="-128"/>
              </a:rPr>
              <a:t> </a:t>
            </a:r>
            <a:r>
              <a:rPr lang="en-US" altLang="en-US" sz="2800" b="1" err="1">
                <a:latin typeface="Courier New" charset="0"/>
                <a:ea typeface="MS PGothic" charset="-128"/>
              </a:rPr>
              <a:t>getPrice</a:t>
            </a:r>
            <a:r>
              <a:rPr lang="en-US" altLang="en-US" sz="2800" b="1">
                <a:latin typeface="Courier New" charset="0"/>
                <a:ea typeface="MS PGothic" charset="-128"/>
              </a:rPr>
              <a:t>()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header tells us: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the </a:t>
            </a:r>
            <a:r>
              <a:rPr lang="en-US" altLang="en-US" sz="2800" i="1">
                <a:ea typeface="MS PGothic" charset="-128"/>
              </a:rPr>
              <a:t>visibility</a:t>
            </a:r>
            <a:r>
              <a:rPr lang="en-US" altLang="en-US" sz="2800">
                <a:ea typeface="MS PGothic" charset="-128"/>
              </a:rPr>
              <a:t> to objects of other classes (public);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whether the method </a:t>
            </a:r>
            <a:r>
              <a:rPr lang="en-US" altLang="en-US" sz="2800" i="1">
                <a:ea typeface="MS PGothic" charset="-128"/>
              </a:rPr>
              <a:t>returns a result </a:t>
            </a:r>
            <a:r>
              <a:rPr lang="en-US" altLang="en-US" sz="2800">
                <a:ea typeface="MS PGothic" charset="-128"/>
              </a:rPr>
              <a:t>(an integer);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the </a:t>
            </a:r>
            <a:r>
              <a:rPr lang="en-US" altLang="en-US" sz="2800" i="1">
                <a:ea typeface="MS PGothic" charset="-128"/>
              </a:rPr>
              <a:t>name</a:t>
            </a:r>
            <a:r>
              <a:rPr lang="en-US" altLang="en-US" sz="2800">
                <a:ea typeface="MS PGothic" charset="-128"/>
              </a:rPr>
              <a:t> of the method </a:t>
            </a:r>
            <a:r>
              <a:rPr lang="en-US" altLang="en-US" sz="2800" i="1">
                <a:ea typeface="MS PGothic" charset="-128"/>
              </a:rPr>
              <a:t>(</a:t>
            </a:r>
            <a:r>
              <a:rPr lang="en-US" altLang="en-US" sz="2800" err="1">
                <a:ea typeface="MS PGothic" charset="-128"/>
              </a:rPr>
              <a:t>getPrice</a:t>
            </a:r>
            <a:r>
              <a:rPr lang="en-US" altLang="en-US" sz="2800" i="1">
                <a:ea typeface="MS PGothic" charset="-128"/>
              </a:rPr>
              <a:t>)</a:t>
            </a:r>
            <a:r>
              <a:rPr lang="en-US" altLang="en-US" sz="2800">
                <a:ea typeface="MS PGothic" charset="-128"/>
              </a:rPr>
              <a:t>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whether the method takes </a:t>
            </a:r>
            <a:r>
              <a:rPr lang="en-US" altLang="en-US" sz="2800" i="1">
                <a:ea typeface="MS PGothic" charset="-128"/>
              </a:rPr>
              <a:t>parameters </a:t>
            </a:r>
            <a:r>
              <a:rPr lang="en-US" altLang="en-US" sz="2800">
                <a:ea typeface="MS PGothic" charset="-128"/>
              </a:rPr>
              <a:t>(none, in this case).</a:t>
            </a:r>
            <a:br>
              <a:rPr lang="en-US" altLang="en-US" sz="2800">
                <a:ea typeface="MS PGothic" charset="-128"/>
              </a:rPr>
            </a:br>
            <a:endParaRPr lang="en-US" altLang="en-US" sz="280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body encloses the method'</a:t>
            </a:r>
            <a:r>
              <a:rPr lang="en-US" altLang="ja-JP" sz="3200">
                <a:ea typeface="MS PGothic" charset="-128"/>
              </a:rPr>
              <a:t>s </a:t>
            </a:r>
            <a:r>
              <a:rPr lang="en-US" altLang="ja-JP" sz="3200" i="1">
                <a:ea typeface="MS PGothic" charset="-128"/>
              </a:rPr>
              <a:t>statements</a:t>
            </a:r>
            <a:r>
              <a:rPr lang="en-US" altLang="ja-JP" sz="3200">
                <a:ea typeface="MS PGothic" charset="-128"/>
              </a:rPr>
              <a:t>.</a:t>
            </a:r>
            <a:endParaRPr lang="en-GB" altLang="en-US" sz="480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59720"/>
            <a:ext cx="10363200" cy="1143000"/>
          </a:xfrm>
        </p:spPr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Getter methods</a:t>
            </a:r>
          </a:p>
        </p:txBody>
      </p:sp>
      <p:sp>
        <p:nvSpPr>
          <p:cNvPr id="450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endParaRPr lang="en-GB" altLang="en-US" sz="1200">
              <a:solidFill>
                <a:srgbClr val="76807A"/>
              </a:solidFill>
              <a:latin typeface="Arial" charset="0"/>
            </a:endParaRPr>
          </a:p>
        </p:txBody>
      </p:sp>
      <p:sp>
        <p:nvSpPr>
          <p:cNvPr id="45059" name="Text Box 4"/>
          <p:cNvSpPr txBox="1">
            <a:spLocks noChangeArrowheads="1"/>
          </p:cNvSpPr>
          <p:nvPr/>
        </p:nvSpPr>
        <p:spPr bwMode="auto">
          <a:xfrm>
            <a:off x="3825878" y="3203575"/>
            <a:ext cx="4055919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int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getPrice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4862684" y="1411439"/>
            <a:ext cx="389761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FF0000"/>
                </a:solidFill>
              </a:rPr>
              <a:t>return type – ‘</a:t>
            </a:r>
            <a:r>
              <a:rPr lang="en-US" altLang="en-US" sz="2000" b="0" i="1" dirty="0">
                <a:solidFill>
                  <a:srgbClr val="FF0000"/>
                </a:solidFill>
                <a:latin typeface=""/>
              </a:rPr>
              <a:t>I promise to return something of this type</a:t>
            </a:r>
            <a:r>
              <a:rPr lang="en-US" altLang="en-US" sz="2000" dirty="0">
                <a:solidFill>
                  <a:srgbClr val="FF0000"/>
                </a:solidFill>
              </a:rPr>
              <a:t>’</a:t>
            </a:r>
            <a:endParaRPr lang="en-US" altLang="en-US" sz="2000" b="0" dirty="0">
              <a:solidFill>
                <a:srgbClr val="FF0000"/>
              </a:solidFill>
            </a:endParaRPr>
          </a:p>
        </p:txBody>
      </p:sp>
      <p:sp>
        <p:nvSpPr>
          <p:cNvPr id="45061" name="Text Box 6"/>
          <p:cNvSpPr txBox="1">
            <a:spLocks noChangeArrowheads="1"/>
          </p:cNvSpPr>
          <p:nvPr/>
        </p:nvSpPr>
        <p:spPr bwMode="auto">
          <a:xfrm>
            <a:off x="6528048" y="2489200"/>
            <a:ext cx="37337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method name ('get' something)</a:t>
            </a:r>
          </a:p>
        </p:txBody>
      </p:sp>
      <p:sp>
        <p:nvSpPr>
          <p:cNvPr id="45062" name="Text Box 7"/>
          <p:cNvSpPr txBox="1">
            <a:spLocks noChangeArrowheads="1"/>
          </p:cNvSpPr>
          <p:nvPr/>
        </p:nvSpPr>
        <p:spPr bwMode="auto">
          <a:xfrm>
            <a:off x="8299450" y="2871791"/>
            <a:ext cx="20637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45063" name="Oval 8"/>
          <p:cNvSpPr>
            <a:spLocks noChangeArrowheads="1"/>
          </p:cNvSpPr>
          <p:nvPr/>
        </p:nvSpPr>
        <p:spPr bwMode="auto">
          <a:xfrm>
            <a:off x="3825878" y="3581400"/>
            <a:ext cx="365125" cy="1371600"/>
          </a:xfrm>
          <a:prstGeom prst="ellipse">
            <a:avLst/>
          </a:prstGeom>
          <a:noFill/>
          <a:ln w="9525">
            <a:solidFill>
              <a:srgbClr val="A5713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endParaRPr lang="en-GB" altLang="en-US"/>
          </a:p>
        </p:txBody>
      </p:sp>
      <p:sp>
        <p:nvSpPr>
          <p:cNvPr id="45064" name="Text Box 9"/>
          <p:cNvSpPr txBox="1">
            <a:spLocks noChangeArrowheads="1"/>
          </p:cNvSpPr>
          <p:nvPr/>
        </p:nvSpPr>
        <p:spPr bwMode="auto">
          <a:xfrm>
            <a:off x="4368801" y="5548692"/>
            <a:ext cx="4552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45065" name="Text Box 10"/>
          <p:cNvSpPr txBox="1">
            <a:spLocks noChangeArrowheads="1"/>
          </p:cNvSpPr>
          <p:nvPr/>
        </p:nvSpPr>
        <p:spPr bwMode="auto">
          <a:xfrm>
            <a:off x="8159750" y="3937003"/>
            <a:ext cx="356059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FF0000"/>
                </a:solidFill>
              </a:rPr>
              <a:t>return statement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rgbClr val="FF0000"/>
                </a:solidFill>
              </a:rPr>
              <a:t>‘this is the value and it’s the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rgbClr val="FF0000"/>
                </a:solidFill>
              </a:rPr>
              <a:t>type I promised’</a:t>
            </a:r>
            <a:endParaRPr lang="en-US" altLang="en-US" sz="2000" b="0" dirty="0">
              <a:solidFill>
                <a:srgbClr val="FF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 b="0" dirty="0">
              <a:solidFill>
                <a:srgbClr val="A57133"/>
              </a:solidFill>
            </a:endParaRPr>
          </a:p>
        </p:txBody>
      </p:sp>
      <p:sp>
        <p:nvSpPr>
          <p:cNvPr id="45066" name="Line 11"/>
          <p:cNvSpPr>
            <a:spLocks noChangeShapeType="1"/>
          </p:cNvSpPr>
          <p:nvPr/>
        </p:nvSpPr>
        <p:spPr bwMode="auto">
          <a:xfrm flipH="1" flipV="1">
            <a:off x="4149724" y="4776788"/>
            <a:ext cx="712959" cy="77190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7" name="Line 12"/>
          <p:cNvSpPr>
            <a:spLocks noChangeShapeType="1"/>
          </p:cNvSpPr>
          <p:nvPr/>
        </p:nvSpPr>
        <p:spPr bwMode="auto">
          <a:xfrm>
            <a:off x="5490593" y="2055813"/>
            <a:ext cx="24383" cy="120491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8" name="Line 13"/>
          <p:cNvSpPr>
            <a:spLocks noChangeShapeType="1"/>
          </p:cNvSpPr>
          <p:nvPr/>
        </p:nvSpPr>
        <p:spPr bwMode="auto">
          <a:xfrm flipH="1">
            <a:off x="6807200" y="2819400"/>
            <a:ext cx="685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9" name="Line 14"/>
          <p:cNvSpPr>
            <a:spLocks noChangeShapeType="1"/>
          </p:cNvSpPr>
          <p:nvPr/>
        </p:nvSpPr>
        <p:spPr bwMode="auto">
          <a:xfrm flipH="1">
            <a:off x="7705725" y="3124200"/>
            <a:ext cx="609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70" name="Line 15"/>
          <p:cNvSpPr>
            <a:spLocks noChangeShapeType="1"/>
          </p:cNvSpPr>
          <p:nvPr/>
        </p:nvSpPr>
        <p:spPr bwMode="auto">
          <a:xfrm flipH="1">
            <a:off x="7108825" y="4164013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71" name="Text Box 16"/>
          <p:cNvSpPr txBox="1">
            <a:spLocks noChangeArrowheads="1"/>
          </p:cNvSpPr>
          <p:nvPr/>
        </p:nvSpPr>
        <p:spPr bwMode="auto">
          <a:xfrm>
            <a:off x="2478091" y="2489200"/>
            <a:ext cx="220605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45072" name="Line 17"/>
          <p:cNvSpPr>
            <a:spLocks noChangeShapeType="1"/>
          </p:cNvSpPr>
          <p:nvPr/>
        </p:nvSpPr>
        <p:spPr bwMode="auto">
          <a:xfrm>
            <a:off x="3124203" y="2895600"/>
            <a:ext cx="1006475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0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0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5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5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50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50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0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50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50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50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50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0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50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50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50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50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0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0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50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50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50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50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50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50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0" grpId="0"/>
      <p:bldP spid="45061" grpId="0"/>
      <p:bldP spid="45062" grpId="0"/>
      <p:bldP spid="45063" grpId="0" animBg="1"/>
      <p:bldP spid="45064" grpId="0"/>
      <p:bldP spid="45065" grpId="0"/>
      <p:bldP spid="45067" grpId="0" animBg="1"/>
      <p:bldP spid="45068" grpId="0" animBg="1"/>
      <p:bldP spid="45069" grpId="0" animBg="1"/>
      <p:bldP spid="45070" grpId="0" animBg="1"/>
      <p:bldP spid="45071" grpId="0"/>
      <p:bldP spid="4507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/>
              <a:t>Accessor methods</a:t>
            </a:r>
          </a:p>
        </p:txBody>
      </p:sp>
      <p:pic>
        <p:nvPicPr>
          <p:cNvPr id="2" name="Picture 1" descr="A green arrow pointing to the left&#10;&#10;AI-generated content may be incorrect.">
            <a:extLst>
              <a:ext uri="{FF2B5EF4-FFF2-40B4-BE49-F238E27FC236}">
                <a16:creationId xmlns:a16="http://schemas.microsoft.com/office/drawing/2014/main" id="{5D9AC701-0FF7-435C-FA33-92DBEAE7D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1758516"/>
            <a:ext cx="3340967" cy="3340967"/>
          </a:xfrm>
          <a:prstGeom prst="rect">
            <a:avLst/>
          </a:prstGeom>
          <a:noFill/>
        </p:spPr>
      </p:pic>
      <p:sp>
        <p:nvSpPr>
          <p:cNvPr id="47106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655840" y="1600201"/>
            <a:ext cx="6926560" cy="4525963"/>
          </a:xfrm>
        </p:spPr>
        <p:txBody>
          <a:bodyPr>
            <a:normAutofit/>
          </a:bodyPr>
          <a:lstStyle/>
          <a:p>
            <a:pPr>
              <a:lnSpc>
                <a:spcPct val="70000"/>
              </a:lnSpc>
            </a:pPr>
            <a:r>
              <a:rPr lang="en-GB" altLang="en-US" sz="2600" dirty="0"/>
              <a:t>An accessor method always has a return type that is not void.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An accessor method returns a value (result) of the type given in the header.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The method will contain a return statement to return the value.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NB: Returning is not printing!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It presents a value to the </a:t>
            </a:r>
            <a:r>
              <a:rPr lang="en-GB" altLang="en-US" dirty="0"/>
              <a:t>calling method. </a:t>
            </a:r>
          </a:p>
        </p:txBody>
      </p:sp>
      <p:sp>
        <p:nvSpPr>
          <p:cNvPr id="47111" name="Footer Placeholder 4">
            <a:extLst>
              <a:ext uri="{FF2B5EF4-FFF2-40B4-BE49-F238E27FC236}">
                <a16:creationId xmlns:a16="http://schemas.microsoft.com/office/drawing/2014/main" id="{5B7683AF-0172-93CD-98CD-6BE07B9EC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Test – syntax errors</a:t>
            </a:r>
          </a:p>
        </p:txBody>
      </p:sp>
      <p:sp>
        <p:nvSpPr>
          <p:cNvPr id="66563" name="Rectangle 3"/>
          <p:cNvSpPr>
            <a:spLocks noGrp="1" noChangeArrowheads="1"/>
          </p:cNvSpPr>
          <p:nvPr>
            <p:ph idx="1"/>
          </p:nvPr>
        </p:nvSpPr>
        <p:spPr>
          <a:xfrm>
            <a:off x="6273255" y="1988840"/>
            <a:ext cx="4719289" cy="2880320"/>
          </a:xfrm>
        </p:spPr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What is wrong here?</a:t>
            </a:r>
            <a:br>
              <a:rPr lang="en-US">
                <a:ea typeface="+mn-ea"/>
                <a:cs typeface="+mn-cs"/>
              </a:rPr>
            </a:br>
            <a:r>
              <a:rPr lang="en-US">
                <a:ea typeface="+mn-ea"/>
                <a:cs typeface="+mn-cs"/>
              </a:rPr>
              <a:t>There are five errors.</a:t>
            </a:r>
          </a:p>
        </p:txBody>
      </p:sp>
      <p:sp>
        <p:nvSpPr>
          <p:cNvPr id="48132" name="Rectangle 4"/>
          <p:cNvSpPr>
            <a:spLocks/>
          </p:cNvSpPr>
          <p:nvPr/>
        </p:nvSpPr>
        <p:spPr bwMode="auto">
          <a:xfrm>
            <a:off x="1199456" y="1988840"/>
            <a:ext cx="6048672" cy="4001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public class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private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price = 300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int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getPrice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1A4A3-2407-3BE9-6B46-BD9F7EAE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43641ED0-6141-861A-EC5D-2A88975D71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Test</a:t>
            </a:r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03E2B7DE-9F83-28D7-A21B-168D77556B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73255" y="1988840"/>
            <a:ext cx="4719289" cy="2880320"/>
          </a:xfrm>
        </p:spPr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What is wrong here?</a:t>
            </a:r>
            <a:br>
              <a:rPr lang="en-US">
                <a:ea typeface="+mn-ea"/>
                <a:cs typeface="+mn-cs"/>
              </a:rPr>
            </a:br>
            <a:r>
              <a:rPr lang="en-US">
                <a:ea typeface="+mn-ea"/>
                <a:cs typeface="+mn-cs"/>
              </a:rPr>
              <a:t>There are five errors.</a:t>
            </a:r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5413393E-BF41-158D-A90C-B431BF1870AA}"/>
              </a:ext>
            </a:extLst>
          </p:cNvPr>
          <p:cNvSpPr>
            <a:spLocks/>
          </p:cNvSpPr>
          <p:nvPr/>
        </p:nvSpPr>
        <p:spPr bwMode="auto">
          <a:xfrm>
            <a:off x="1199456" y="1988840"/>
            <a:ext cx="6048672" cy="4001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public class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private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price = 300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int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getPrice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</p:txBody>
      </p:sp>
      <p:sp>
        <p:nvSpPr>
          <p:cNvPr id="2" name="Oval 8">
            <a:extLst>
              <a:ext uri="{FF2B5EF4-FFF2-40B4-BE49-F238E27FC236}">
                <a16:creationId xmlns:a16="http://schemas.microsoft.com/office/drawing/2014/main" id="{8B52A5C5-556C-7523-7CAC-2F40311E07E2}"/>
              </a:ext>
            </a:extLst>
          </p:cNvPr>
          <p:cNvSpPr>
            <a:spLocks/>
          </p:cNvSpPr>
          <p:nvPr/>
        </p:nvSpPr>
        <p:spPr bwMode="auto">
          <a:xfrm>
            <a:off x="2528839" y="2204864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int</a:t>
            </a:r>
          </a:p>
        </p:txBody>
      </p:sp>
      <p:sp>
        <p:nvSpPr>
          <p:cNvPr id="3" name="Oval 6">
            <a:extLst>
              <a:ext uri="{FF2B5EF4-FFF2-40B4-BE49-F238E27FC236}">
                <a16:creationId xmlns:a16="http://schemas.microsoft.com/office/drawing/2014/main" id="{E1A88179-FACC-48C3-D357-25EE78D40277}"/>
              </a:ext>
            </a:extLst>
          </p:cNvPr>
          <p:cNvSpPr>
            <a:spLocks/>
          </p:cNvSpPr>
          <p:nvPr/>
        </p:nvSpPr>
        <p:spPr bwMode="auto">
          <a:xfrm>
            <a:off x="3753892" y="3633787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;</a:t>
            </a:r>
          </a:p>
        </p:txBody>
      </p:sp>
      <p:sp>
        <p:nvSpPr>
          <p:cNvPr id="4" name="Oval 7">
            <a:extLst>
              <a:ext uri="{FF2B5EF4-FFF2-40B4-BE49-F238E27FC236}">
                <a16:creationId xmlns:a16="http://schemas.microsoft.com/office/drawing/2014/main" id="{0B678439-3040-9479-99A8-1AA1B8E4B568}"/>
              </a:ext>
            </a:extLst>
          </p:cNvPr>
          <p:cNvSpPr>
            <a:spLocks/>
          </p:cNvSpPr>
          <p:nvPr/>
        </p:nvSpPr>
        <p:spPr bwMode="auto">
          <a:xfrm>
            <a:off x="4543674" y="4581128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()</a:t>
            </a:r>
          </a:p>
        </p:txBody>
      </p:sp>
      <p:sp>
        <p:nvSpPr>
          <p:cNvPr id="5" name="Oval 9">
            <a:extLst>
              <a:ext uri="{FF2B5EF4-FFF2-40B4-BE49-F238E27FC236}">
                <a16:creationId xmlns:a16="http://schemas.microsoft.com/office/drawing/2014/main" id="{9A4784F0-016C-8751-A114-575510535936}"/>
              </a:ext>
            </a:extLst>
          </p:cNvPr>
          <p:cNvSpPr>
            <a:spLocks/>
          </p:cNvSpPr>
          <p:nvPr/>
        </p:nvSpPr>
        <p:spPr bwMode="auto">
          <a:xfrm>
            <a:off x="2998739" y="5292328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-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8813118-DF7C-2207-7768-691B09CFE71B}"/>
              </a:ext>
            </a:extLst>
          </p:cNvPr>
          <p:cNvSpPr>
            <a:spLocks/>
          </p:cNvSpPr>
          <p:nvPr/>
        </p:nvSpPr>
        <p:spPr bwMode="auto">
          <a:xfrm>
            <a:off x="695400" y="5877272"/>
            <a:ext cx="11430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0590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utoUpdateAnimBg="0"/>
      <p:bldP spid="3" grpId="0" animBg="1" autoUpdateAnimBg="0"/>
      <p:bldP spid="4" grpId="0" animBg="1" autoUpdateAnimBg="0"/>
      <p:bldP spid="5" grpId="0" animBg="1" autoUpdateAnimBg="0"/>
      <p:bldP spid="6" grpId="0" animBg="1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pPr eaLnBrk="1" hangingPunct="1">
              <a:defRPr/>
            </a:pPr>
            <a:r>
              <a:rPr lang="en-US"/>
              <a:t>Mutator methods</a:t>
            </a:r>
          </a:p>
        </p:txBody>
      </p:sp>
      <p:pic>
        <p:nvPicPr>
          <p:cNvPr id="3" name="Picture 2" descr="A green arrow pointing to a black background&#10;&#10;AI-generated content may be incorrect.">
            <a:extLst>
              <a:ext uri="{FF2B5EF4-FFF2-40B4-BE49-F238E27FC236}">
                <a16:creationId xmlns:a16="http://schemas.microsoft.com/office/drawing/2014/main" id="{763A71DE-C613-9CD5-5875-8F1889338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58516"/>
            <a:ext cx="3340967" cy="3340967"/>
          </a:xfrm>
          <a:prstGeom prst="rect">
            <a:avLst/>
          </a:prstGeom>
          <a:noFill/>
        </p:spPr>
      </p:pic>
      <p:sp>
        <p:nvSpPr>
          <p:cNvPr id="52226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172818" y="1599655"/>
            <a:ext cx="7251774" cy="4637657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Have a similar method structure: header and body.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Used to </a:t>
            </a:r>
            <a:r>
              <a:rPr lang="en-US" altLang="en-US" i="1" dirty="0"/>
              <a:t>mutate</a:t>
            </a:r>
            <a:r>
              <a:rPr lang="en-US" altLang="en-US" dirty="0"/>
              <a:t> (i.e., change) an object</a:t>
            </a:r>
            <a:r>
              <a:rPr lang="en-IE" altLang="en-US" dirty="0"/>
              <a:t>’</a:t>
            </a:r>
            <a:r>
              <a:rPr lang="en-US" altLang="ja-JP" dirty="0"/>
              <a:t>s state.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ja-JP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Achieved through changing the value of one or more fields.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/>
              <a:t>They typically contain one or more assignment statements.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/>
              <a:t>Often receive parameters.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/>
          </a:p>
          <a:p>
            <a:pPr>
              <a:lnSpc>
                <a:spcPct val="90000"/>
              </a:lnSpc>
            </a:pPr>
            <a:r>
              <a:rPr lang="en-US" altLang="en-US" dirty="0"/>
              <a:t>The most basic mutator methods are 'setter' methods.</a:t>
            </a:r>
          </a:p>
        </p:txBody>
      </p:sp>
      <p:sp>
        <p:nvSpPr>
          <p:cNvPr id="52231" name="Footer Placeholder 4">
            <a:extLst>
              <a:ext uri="{FF2B5EF4-FFF2-40B4-BE49-F238E27FC236}">
                <a16:creationId xmlns:a16="http://schemas.microsoft.com/office/drawing/2014/main" id="{BA0666CA-A203-E121-CE99-A1FB9C307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setter methods</a:t>
            </a:r>
          </a:p>
        </p:txBody>
      </p:sp>
      <p:sp>
        <p:nvSpPr>
          <p:cNvPr id="5632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Fields often have dedicated </a:t>
            </a:r>
            <a:r>
              <a:rPr lang="en-GB" altLang="en-US" b="1">
                <a:latin typeface="Courier New" charset="0"/>
                <a:ea typeface="MS PGothic" charset="-128"/>
              </a:rPr>
              <a:t>set</a:t>
            </a:r>
            <a:r>
              <a:rPr lang="en-GB" altLang="en-US">
                <a:ea typeface="MS PGothic" charset="-128"/>
              </a:rPr>
              <a:t> mutator methods.</a:t>
            </a:r>
          </a:p>
          <a:p>
            <a:pPr>
              <a:lnSpc>
                <a:spcPct val="90000"/>
              </a:lnSpc>
            </a:pPr>
            <a:endParaRPr lang="en-GB" altLang="en-US">
              <a:ea typeface="MS PGothic" charset="-128"/>
            </a:endParaRPr>
          </a:p>
          <a:p>
            <a:pPr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These have a simple, distinctive form:</a:t>
            </a:r>
          </a:p>
          <a:p>
            <a:pPr lvl="1">
              <a:lnSpc>
                <a:spcPct val="90000"/>
              </a:lnSpc>
            </a:pPr>
            <a:r>
              <a:rPr lang="en-GB" altLang="en-US" b="1">
                <a:latin typeface="Courier New" charset="0"/>
                <a:ea typeface="MS PGothic" charset="-128"/>
              </a:rPr>
              <a:t>void</a:t>
            </a:r>
            <a:r>
              <a:rPr lang="en-GB" altLang="en-US">
                <a:ea typeface="MS PGothic" charset="-128"/>
              </a:rPr>
              <a:t> return type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method name related to the field name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single formal parameter, with the same type as the type of the field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a single assignment statement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2"/>
          <p:cNvSpPr>
            <a:spLocks noGrp="1" noChangeArrowheads="1"/>
          </p:cNvSpPr>
          <p:nvPr>
            <p:ph type="title"/>
          </p:nvPr>
        </p:nvSpPr>
        <p:spPr>
          <a:xfrm>
            <a:off x="722373" y="333979"/>
            <a:ext cx="10747254" cy="1143001"/>
          </a:xfrm>
        </p:spPr>
        <p:txBody>
          <a:bodyPr/>
          <a:lstStyle/>
          <a:p>
            <a:r>
              <a:rPr lang="en-GB" altLang="en-US">
                <a:ea typeface="MS PGothic" charset="-128"/>
              </a:rPr>
              <a:t>A typical </a:t>
            </a:r>
            <a:r>
              <a:rPr lang="en-GB" altLang="en-US" b="1">
                <a:latin typeface="Courier New" charset="0"/>
                <a:ea typeface="MS PGothic" charset="-128"/>
              </a:rPr>
              <a:t>set</a:t>
            </a:r>
            <a:r>
              <a:rPr lang="en-GB" altLang="en-US">
                <a:ea typeface="MS PGothic" charset="-128"/>
              </a:rPr>
              <a:t> method</a:t>
            </a:r>
          </a:p>
        </p:txBody>
      </p:sp>
      <p:sp>
        <p:nvSpPr>
          <p:cNvPr id="57346" name="Text Box 4"/>
          <p:cNvSpPr txBox="1">
            <a:spLocks noChangeArrowheads="1"/>
          </p:cNvSpPr>
          <p:nvPr/>
        </p:nvSpPr>
        <p:spPr bwMode="auto">
          <a:xfrm>
            <a:off x="3071816" y="1844675"/>
            <a:ext cx="6636753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GB" altLang="en-US" dirty="0" err="1">
                <a:solidFill>
                  <a:schemeClr val="tx1"/>
                </a:solidFill>
                <a:latin typeface="Courier New" charset="0"/>
              </a:rPr>
              <a:t>setDiscount</a:t>
            </a:r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    discount = amount;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}</a:t>
            </a:r>
          </a:p>
        </p:txBody>
      </p:sp>
      <p:sp>
        <p:nvSpPr>
          <p:cNvPr id="57347" name="Text Box 5"/>
          <p:cNvSpPr txBox="1">
            <a:spLocks noChangeArrowheads="1"/>
          </p:cNvSpPr>
          <p:nvPr/>
        </p:nvSpPr>
        <p:spPr bwMode="auto">
          <a:xfrm>
            <a:off x="983432" y="4149725"/>
            <a:ext cx="1000911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2800" b="0" dirty="0">
                <a:solidFill>
                  <a:srgbClr val="1A3170"/>
                </a:solidFill>
              </a:rPr>
              <a:t>We can easily infer that </a:t>
            </a:r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discount</a:t>
            </a:r>
            <a:r>
              <a:rPr lang="en-GB" altLang="en-US" sz="2800" b="0" dirty="0">
                <a:solidFill>
                  <a:srgbClr val="1A3170"/>
                </a:solidFill>
              </a:rPr>
              <a:t> is a field of type </a:t>
            </a:r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int</a:t>
            </a:r>
            <a:r>
              <a:rPr lang="en-GB" altLang="en-US" sz="2800" b="0" dirty="0">
                <a:solidFill>
                  <a:srgbClr val="1A3170"/>
                </a:solidFill>
              </a:rPr>
              <a:t>, </a:t>
            </a:r>
            <a:r>
              <a:rPr lang="en-GB" altLang="en-US" sz="2800" b="0" dirty="0" err="1">
                <a:solidFill>
                  <a:srgbClr val="1A3170"/>
                </a:solidFill>
              </a:rPr>
              <a:t>i.e</a:t>
            </a:r>
            <a:r>
              <a:rPr lang="en-GB" altLang="en-US" sz="2800" b="0" dirty="0">
                <a:solidFill>
                  <a:srgbClr val="1A3170"/>
                </a:solidFill>
              </a:rPr>
              <a:t>:</a:t>
            </a:r>
          </a:p>
          <a:p>
            <a:pPr algn="l"/>
            <a:endParaRPr lang="en-GB" altLang="en-US" sz="2800" b="0" dirty="0">
              <a:solidFill>
                <a:srgbClr val="1A3170"/>
              </a:solidFill>
            </a:endParaRPr>
          </a:p>
          <a:p>
            <a:pPr algn="l"/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private int discount;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altLang="en-US"/>
              <a:t>Protective mutators</a:t>
            </a:r>
          </a:p>
        </p:txBody>
      </p:sp>
      <p:pic>
        <p:nvPicPr>
          <p:cNvPr id="4" name="Picture 3" descr="A green key with a shield&#10;&#10;AI-generated content may be incorrect.">
            <a:extLst>
              <a:ext uri="{FF2B5EF4-FFF2-40B4-BE49-F238E27FC236}">
                <a16:creationId xmlns:a16="http://schemas.microsoft.com/office/drawing/2014/main" id="{63B968A6-79BA-C9BA-5BE5-8F26B1AE9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1574305"/>
            <a:ext cx="2880320" cy="2548879"/>
          </a:xfrm>
          <a:prstGeom prst="rect">
            <a:avLst/>
          </a:prstGeom>
          <a:noFill/>
        </p:spPr>
      </p:pic>
      <p:sp>
        <p:nvSpPr>
          <p:cNvPr id="58370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165600" y="1600201"/>
            <a:ext cx="74168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600" dirty="0"/>
              <a:t>A set method does not have to always assign unconditionally to the field.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The parameter may be checked for validity and rejected if inappropriate.  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e.g. only update field if new value is &gt;=10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Mutators thereby protect fields.</a:t>
            </a:r>
          </a:p>
          <a:p>
            <a:pPr>
              <a:lnSpc>
                <a:spcPct val="90000"/>
              </a:lnSpc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Mutators support </a:t>
            </a:r>
            <a:r>
              <a:rPr lang="en-US" altLang="en-US" sz="2600" i="1" dirty="0"/>
              <a:t>encapsulation</a:t>
            </a:r>
            <a:r>
              <a:rPr lang="en-US" altLang="en-US" sz="2600" dirty="0"/>
              <a:t>.</a:t>
            </a:r>
          </a:p>
        </p:txBody>
      </p:sp>
      <p:sp>
        <p:nvSpPr>
          <p:cNvPr id="58375" name="Footer Placeholder 4">
            <a:extLst>
              <a:ext uri="{FF2B5EF4-FFF2-40B4-BE49-F238E27FC236}">
                <a16:creationId xmlns:a16="http://schemas.microsoft.com/office/drawing/2014/main" id="{33819E28-622F-8192-8958-0F7AC36A6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Another m</a:t>
            </a:r>
            <a:r>
              <a:rPr lang="en-US">
                <a:ea typeface="+mj-ea"/>
                <a:cs typeface="+mj-cs"/>
              </a:rPr>
              <a:t>utator method</a:t>
            </a:r>
          </a:p>
        </p:txBody>
      </p:sp>
      <p:sp>
        <p:nvSpPr>
          <p:cNvPr id="54275" name="Text Box 3"/>
          <p:cNvSpPr txBox="1">
            <a:spLocks noChangeArrowheads="1"/>
          </p:cNvSpPr>
          <p:nvPr/>
        </p:nvSpPr>
        <p:spPr bwMode="auto">
          <a:xfrm>
            <a:off x="2724227" y="3107280"/>
            <a:ext cx="6636753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4753049" y="2097633"/>
            <a:ext cx="14811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54277" name="Text Box 5"/>
          <p:cNvSpPr txBox="1">
            <a:spLocks noChangeArrowheads="1"/>
          </p:cNvSpPr>
          <p:nvPr/>
        </p:nvSpPr>
        <p:spPr bwMode="auto">
          <a:xfrm>
            <a:off x="6503916" y="2097633"/>
            <a:ext cx="17494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54278" name="Text Box 6"/>
          <p:cNvSpPr txBox="1">
            <a:spLocks noChangeArrowheads="1"/>
          </p:cNvSpPr>
          <p:nvPr/>
        </p:nvSpPr>
        <p:spPr bwMode="auto">
          <a:xfrm>
            <a:off x="7524823" y="2459521"/>
            <a:ext cx="222048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formal parameter</a:t>
            </a:r>
          </a:p>
        </p:txBody>
      </p:sp>
      <p:sp>
        <p:nvSpPr>
          <p:cNvPr id="54279" name="Line 7"/>
          <p:cNvSpPr>
            <a:spLocks noChangeShapeType="1"/>
          </p:cNvSpPr>
          <p:nvPr/>
        </p:nvSpPr>
        <p:spPr bwMode="auto">
          <a:xfrm flipH="1">
            <a:off x="4480002" y="2494505"/>
            <a:ext cx="911225" cy="6175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0" name="Line 8"/>
          <p:cNvSpPr>
            <a:spLocks noChangeShapeType="1"/>
          </p:cNvSpPr>
          <p:nvPr/>
        </p:nvSpPr>
        <p:spPr bwMode="auto">
          <a:xfrm flipH="1">
            <a:off x="6299448" y="2508796"/>
            <a:ext cx="837232" cy="581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1" name="Line 9"/>
          <p:cNvSpPr>
            <a:spLocks noChangeShapeType="1"/>
          </p:cNvSpPr>
          <p:nvPr/>
        </p:nvSpPr>
        <p:spPr bwMode="auto">
          <a:xfrm flipH="1">
            <a:off x="8076480" y="2877093"/>
            <a:ext cx="792088" cy="30422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2" name="Text Box 10"/>
          <p:cNvSpPr txBox="1">
            <a:spLocks noChangeArrowheads="1"/>
          </p:cNvSpPr>
          <p:nvPr/>
        </p:nvSpPr>
        <p:spPr bwMode="auto">
          <a:xfrm>
            <a:off x="2267027" y="2111918"/>
            <a:ext cx="220605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54283" name="Line 11"/>
          <p:cNvSpPr>
            <a:spLocks noChangeShapeType="1"/>
          </p:cNvSpPr>
          <p:nvPr/>
        </p:nvSpPr>
        <p:spPr bwMode="auto">
          <a:xfrm>
            <a:off x="3333827" y="2570708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4" name="Text Box 12"/>
          <p:cNvSpPr txBox="1">
            <a:spLocks noChangeArrowheads="1"/>
          </p:cNvSpPr>
          <p:nvPr/>
        </p:nvSpPr>
        <p:spPr bwMode="auto">
          <a:xfrm>
            <a:off x="7220024" y="4778921"/>
            <a:ext cx="26924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assignment statement</a:t>
            </a:r>
          </a:p>
        </p:txBody>
      </p:sp>
      <p:sp>
        <p:nvSpPr>
          <p:cNvPr id="54285" name="Line 13"/>
          <p:cNvSpPr>
            <a:spLocks noChangeShapeType="1"/>
          </p:cNvSpPr>
          <p:nvPr/>
        </p:nvSpPr>
        <p:spPr bwMode="auto">
          <a:xfrm flipH="1" flipV="1">
            <a:off x="5196160" y="4316955"/>
            <a:ext cx="2328664" cy="463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6" name="Text Box 14"/>
          <p:cNvSpPr txBox="1">
            <a:spLocks noChangeArrowheads="1"/>
          </p:cNvSpPr>
          <p:nvPr/>
        </p:nvSpPr>
        <p:spPr bwMode="auto">
          <a:xfrm>
            <a:off x="3077446" y="4904333"/>
            <a:ext cx="2441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54287" name="Line 15"/>
          <p:cNvSpPr>
            <a:spLocks noChangeShapeType="1"/>
          </p:cNvSpPr>
          <p:nvPr/>
        </p:nvSpPr>
        <p:spPr bwMode="auto">
          <a:xfrm flipV="1">
            <a:off x="4044032" y="4316955"/>
            <a:ext cx="0" cy="587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BFC61292-6595-B530-9B4E-7CA15EA8EE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4811" y="5194242"/>
            <a:ext cx="9937104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This method </a:t>
            </a:r>
            <a:r>
              <a:rPr lang="en-GB" altLang="en-US" sz="3200" b="0" i="1">
                <a:solidFill>
                  <a:srgbClr val="1A3170"/>
                </a:solidFill>
                <a:latin typeface="Tw Cen MT" panose="020B0602020104020603" pitchFamily="34" charset="77"/>
              </a:rPr>
              <a:t>changes</a:t>
            </a:r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 the value of balance; hence the object's state is </a:t>
            </a:r>
            <a:r>
              <a:rPr lang="en-GB" altLang="en-US" sz="3200" b="0" i="1">
                <a:solidFill>
                  <a:srgbClr val="1A3170"/>
                </a:solidFill>
                <a:latin typeface="Tw Cen MT" panose="020B0602020104020603" pitchFamily="34" charset="77"/>
              </a:rPr>
              <a:t>mutated</a:t>
            </a:r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4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4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42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4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4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4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4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4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4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4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4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4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4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4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4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54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4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4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4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6" grpId="0"/>
      <p:bldP spid="54277" grpId="0"/>
      <p:bldP spid="54278" grpId="0"/>
      <p:bldP spid="54279" grpId="0" animBg="1"/>
      <p:bldP spid="54280" grpId="0" animBg="1"/>
      <p:bldP spid="54281" grpId="0" animBg="1"/>
      <p:bldP spid="54282" grpId="0"/>
      <p:bldP spid="54283" grpId="0" animBg="1"/>
      <p:bldP spid="54284" grpId="0"/>
      <p:bldP spid="54285" grpId="0" animBg="1"/>
      <p:bldP spid="54286" grpId="0"/>
      <p:bldP spid="5428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Up to now we have come up with a different name for the parameter and the field.</a:t>
            </a:r>
          </a:p>
          <a:p>
            <a:r>
              <a:rPr lang="en-IE" dirty="0"/>
              <a:t>However, sometimes there is one name that perfectly describes the use of a variable—it fits so well that we do not want to invent a different name for it.</a:t>
            </a:r>
          </a:p>
          <a:p>
            <a:pPr marL="0" indent="0">
              <a:buNone/>
            </a:pPr>
            <a:endParaRPr lang="en-IE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r>
              <a:rPr lang="en-IE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Enter the this. construct</a:t>
            </a:r>
            <a:endParaRPr lang="en-US" b="1" dirty="0">
              <a:solidFill>
                <a:srgbClr val="FF0000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9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8FFB-8A27-4C04-ED50-2A7D07BCE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33977-50F8-5E73-7642-893C2F79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D820F-71D9-37EF-25F8-ECEC47585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distinguish parameters and fields of the same name. E.g.:</a:t>
            </a:r>
            <a:br>
              <a:rPr lang="en-US" dirty="0"/>
            </a:br>
            <a:br>
              <a:rPr lang="en-US" dirty="0"/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public </a:t>
            </a:r>
            <a:r>
              <a:rPr lang="en-US" sz="2400" b="1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TicketMachine</a:t>
            </a: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(int price)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US" sz="2400" b="1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this.price</a:t>
            </a: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= price;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balance = 0;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total = 0;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  <a:endParaRPr lang="en-US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076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02AC-5345-0C5F-DEBE-2976DB180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5D42B-B603-410C-E4E2-D9C5DB7E2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 dirty="0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DEDFB-5D58-9CA3-A021-D2E43B50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distinguish parameters and fields of the same name. E.g.:</a:t>
            </a:r>
            <a:br>
              <a:rPr lang="en-US" dirty="0"/>
            </a:br>
            <a:br>
              <a:rPr lang="en-US" dirty="0"/>
            </a:br>
            <a:endParaRPr lang="en-US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B92A4614-E965-DDA7-90B1-E49CA2ADD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212" y="2472018"/>
            <a:ext cx="6958123" cy="4401205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2000" dirty="0" err="1">
                <a:solidFill>
                  <a:schemeClr val="tx1"/>
                </a:solidFill>
                <a:latin typeface="Courier New" charset="0"/>
              </a:rPr>
              <a:t>TicketMachine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</a:t>
            </a:r>
            <a:r>
              <a:rPr lang="en-US" altLang="en-US" sz="2000" b="1" dirty="0">
                <a:solidFill>
                  <a:srgbClr val="009C5C"/>
                </a:solidFill>
                <a:latin typeface="Courier New" charset="0"/>
              </a:rPr>
              <a:t>price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total;</a:t>
            </a:r>
          </a:p>
          <a:p>
            <a:pPr>
              <a:spcBef>
                <a:spcPct val="0"/>
              </a:spcBef>
              <a:buClr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 </a:t>
            </a:r>
            <a:r>
              <a:rPr lang="en-US" sz="20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</a:t>
            </a:r>
          </a:p>
          <a:p>
            <a:pPr>
              <a:spcBef>
                <a:spcPct val="0"/>
              </a:spcBef>
              <a:buClrTx/>
              <a:buNone/>
            </a:pPr>
            <a:endParaRPr lang="en-US" sz="2000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>
              <a:spcBef>
                <a:spcPct val="0"/>
              </a:spcBef>
              <a:buClrTx/>
              <a:buNone/>
            </a:pP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public </a:t>
            </a:r>
            <a:r>
              <a:rPr lang="en-US" sz="2000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TicketMachine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(int </a:t>
            </a:r>
            <a:r>
              <a:rPr lang="en-US" sz="2000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US" sz="2000" b="1" dirty="0" err="1">
                <a:solidFill>
                  <a:srgbClr val="009C5C"/>
                </a:solidFill>
                <a:latin typeface="Courier New" charset="0"/>
                <a:ea typeface="Courier New" charset="0"/>
                <a:cs typeface="Courier New" charset="0"/>
              </a:rPr>
              <a:t>this.price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= </a:t>
            </a:r>
            <a:r>
              <a:rPr lang="en-US" sz="2000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balance = 0;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total = 0;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FAA2B447-14A8-B3D7-8BF0-ED7706A1A2A4}"/>
              </a:ext>
            </a:extLst>
          </p:cNvPr>
          <p:cNvSpPr/>
          <p:nvPr/>
        </p:nvSpPr>
        <p:spPr>
          <a:xfrm rot="3337302">
            <a:off x="5874462" y="4722200"/>
            <a:ext cx="203299" cy="791860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392B574F-6042-C0D9-8216-DAF750E3E620}"/>
              </a:ext>
            </a:extLst>
          </p:cNvPr>
          <p:cNvSpPr/>
          <p:nvPr/>
        </p:nvSpPr>
        <p:spPr>
          <a:xfrm rot="13492897">
            <a:off x="4001557" y="2951119"/>
            <a:ext cx="176246" cy="2702327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AA81FA1B-AB5B-03C2-6289-1F9A7C85313C}"/>
              </a:ext>
            </a:extLst>
          </p:cNvPr>
          <p:cNvSpPr/>
          <p:nvPr/>
        </p:nvSpPr>
        <p:spPr>
          <a:xfrm flipH="1">
            <a:off x="3791744" y="4974107"/>
            <a:ext cx="1527948" cy="385682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94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AA162-B8A3-16C8-268A-470F8B844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E" dirty="0"/>
              <a:t>	</a:t>
            </a:r>
            <a:r>
              <a:rPr lang="en-IE" sz="3600" dirty="0" err="1"/>
              <a:t>this.</a:t>
            </a:r>
            <a:r>
              <a:rPr lang="en-IE" sz="3600" dirty="0" err="1">
                <a:solidFill>
                  <a:srgbClr val="009C5C"/>
                </a:solidFill>
              </a:rPr>
              <a:t>price</a:t>
            </a:r>
            <a:r>
              <a:rPr lang="en-IE" sz="3600" dirty="0"/>
              <a:t> = </a:t>
            </a:r>
            <a:r>
              <a:rPr lang="en-IE" sz="3600" dirty="0">
                <a:solidFill>
                  <a:srgbClr val="FF0000"/>
                </a:solidFill>
              </a:rPr>
              <a:t>price</a:t>
            </a:r>
            <a:r>
              <a:rPr lang="en-IE" sz="3600" dirty="0"/>
              <a:t>;</a:t>
            </a:r>
          </a:p>
          <a:p>
            <a:pPr marL="457200" lvl="1" indent="0">
              <a:buNone/>
            </a:pPr>
            <a:endParaRPr lang="en-IE" sz="3600" dirty="0"/>
          </a:p>
          <a:p>
            <a:pPr marL="457200" lvl="1" indent="0">
              <a:buNone/>
            </a:pPr>
            <a:endParaRPr lang="en-IE" sz="3600" dirty="0"/>
          </a:p>
          <a:p>
            <a:pPr marL="57150" indent="0">
              <a:buNone/>
            </a:pPr>
            <a:r>
              <a:rPr lang="en-IE" sz="3600" dirty="0"/>
              <a:t>This statement has the following effect:</a:t>
            </a:r>
          </a:p>
          <a:p>
            <a:pPr marL="57150" indent="0">
              <a:buNone/>
            </a:pPr>
            <a:endParaRPr lang="en-IE" sz="3600" dirty="0"/>
          </a:p>
          <a:p>
            <a:pPr marL="57150" indent="0">
              <a:buNone/>
            </a:pPr>
            <a:endParaRPr lang="en-IE" sz="3600" dirty="0"/>
          </a:p>
          <a:p>
            <a:pPr marL="0" indent="0">
              <a:buNone/>
            </a:pPr>
            <a:r>
              <a:rPr lang="en-IE" sz="3600" i="1" dirty="0"/>
              <a:t>field named</a:t>
            </a:r>
            <a:r>
              <a:rPr lang="en-IE" sz="3600" dirty="0"/>
              <a:t> </a:t>
            </a:r>
            <a:r>
              <a:rPr lang="en-IE" sz="3600" dirty="0">
                <a:solidFill>
                  <a:srgbClr val="009C5C"/>
                </a:solidFill>
              </a:rPr>
              <a:t>price</a:t>
            </a:r>
            <a:r>
              <a:rPr lang="en-IE" sz="3600" dirty="0"/>
              <a:t> = </a:t>
            </a:r>
            <a:r>
              <a:rPr lang="en-IE" sz="3600" i="1" dirty="0"/>
              <a:t>parameter named</a:t>
            </a:r>
            <a:r>
              <a:rPr lang="en-IE" sz="3600" dirty="0"/>
              <a:t> </a:t>
            </a:r>
            <a:r>
              <a:rPr lang="en-IE" sz="3600" dirty="0">
                <a:solidFill>
                  <a:srgbClr val="FF0000"/>
                </a:solidFill>
              </a:rPr>
              <a:t>price</a:t>
            </a:r>
            <a:r>
              <a:rPr lang="en-IE" sz="3600" dirty="0"/>
              <a:t>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61DD58-819E-013F-77EE-77FB70FD3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32460B6-AB8B-50A0-FB4C-3F7EEAA7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2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982C5-BE4D-501B-887D-A7B8AB734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this</a:t>
            </a:r>
            <a:r>
              <a:rPr lang="en-US" dirty="0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422DB-E57F-32B6-D1E4-C47BE748B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this</a:t>
            </a:r>
            <a:r>
              <a:rPr lang="en-US" dirty="0"/>
              <a:t> keyboard can </a:t>
            </a:r>
            <a:r>
              <a:rPr lang="en-US" b="1" dirty="0"/>
              <a:t>always</a:t>
            </a:r>
            <a:r>
              <a:rPr lang="en-US" dirty="0"/>
              <a:t> be used when referencing field variables. </a:t>
            </a:r>
          </a:p>
          <a:p>
            <a:endParaRPr lang="en-US" dirty="0"/>
          </a:p>
          <a:p>
            <a:r>
              <a:rPr lang="en-US" dirty="0"/>
              <a:t>In practice, we use it when there is a parameter with the same name as a field.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 err="1">
                <a:solidFill>
                  <a:srgbClr val="009C5C"/>
                </a:solidFill>
              </a:rPr>
              <a:t>this.x</a:t>
            </a:r>
            <a:r>
              <a:rPr lang="en-US" dirty="0">
                <a:solidFill>
                  <a:srgbClr val="009C5C"/>
                </a:solidFill>
              </a:rPr>
              <a:t> </a:t>
            </a:r>
            <a:r>
              <a:rPr lang="en-US" dirty="0"/>
              <a:t>= </a:t>
            </a:r>
            <a:r>
              <a:rPr lang="en-US" dirty="0">
                <a:solidFill>
                  <a:srgbClr val="FF0000"/>
                </a:solidFill>
              </a:rPr>
              <a:t>x;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B136FD-F9A9-FA2A-5A9C-DDD8F0D8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8E7D71-043B-7B03-DCAE-BCBDE26EA713}"/>
              </a:ext>
            </a:extLst>
          </p:cNvPr>
          <p:cNvSpPr txBox="1"/>
          <p:nvPr/>
        </p:nvSpPr>
        <p:spPr>
          <a:xfrm>
            <a:off x="2855640" y="4437112"/>
            <a:ext cx="1440160" cy="707886"/>
          </a:xfrm>
          <a:prstGeom prst="rect">
            <a:avLst/>
          </a:prstGeom>
          <a:solidFill>
            <a:srgbClr val="009C5C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Field version of x 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DEF1800-9A64-622F-5E2B-290D7EC61F3F}"/>
              </a:ext>
            </a:extLst>
          </p:cNvPr>
          <p:cNvSpPr/>
          <p:nvPr/>
        </p:nvSpPr>
        <p:spPr>
          <a:xfrm rot="18006459">
            <a:off x="4592956" y="4406952"/>
            <a:ext cx="261736" cy="1138794"/>
          </a:xfrm>
          <a:prstGeom prst="downArrow">
            <a:avLst/>
          </a:prstGeom>
          <a:solidFill>
            <a:srgbClr val="009C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EE655E7-23E2-8FA4-C91D-77201B003A14}"/>
              </a:ext>
            </a:extLst>
          </p:cNvPr>
          <p:cNvSpPr/>
          <p:nvPr/>
        </p:nvSpPr>
        <p:spPr>
          <a:xfrm rot="3739934">
            <a:off x="7599796" y="4072145"/>
            <a:ext cx="206920" cy="1635224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2E5A84-AE0E-15CF-0528-0C04A5BBE876}"/>
              </a:ext>
            </a:extLst>
          </p:cNvPr>
          <p:cNvSpPr txBox="1"/>
          <p:nvPr/>
        </p:nvSpPr>
        <p:spPr>
          <a:xfrm>
            <a:off x="8362130" y="4437112"/>
            <a:ext cx="1948460" cy="707886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Local/parameter  version of x </a:t>
            </a:r>
          </a:p>
        </p:txBody>
      </p:sp>
    </p:spTree>
    <p:extLst>
      <p:ext uri="{BB962C8B-B14F-4D97-AF65-F5344CB8AC3E}">
        <p14:creationId xmlns:p14="http://schemas.microsoft.com/office/powerpoint/2010/main" val="984285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722373" y="476672"/>
            <a:ext cx="10747254" cy="1143001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Printing from methods</a:t>
            </a:r>
          </a:p>
        </p:txBody>
      </p:sp>
      <p:sp>
        <p:nvSpPr>
          <p:cNvPr id="59395" name="Text Box 3"/>
          <p:cNvSpPr txBox="1">
            <a:spLocks noChangeArrowheads="1"/>
          </p:cNvSpPr>
          <p:nvPr/>
        </p:nvSpPr>
        <p:spPr bwMode="auto">
          <a:xfrm>
            <a:off x="2505869" y="1916832"/>
            <a:ext cx="7180262" cy="4211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printTicket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Simulate the printing of a ticket.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("##################");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The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BlueJ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Line");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Ticket");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" + price + " cents.");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("##################");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 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Update the total collected with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total = total +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Clear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String concatenation</a:t>
            </a:r>
          </a:p>
        </p:txBody>
      </p:sp>
      <p:sp>
        <p:nvSpPr>
          <p:cNvPr id="94211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lnSpc>
                <a:spcPct val="90000"/>
              </a:lnSpc>
              <a:defRPr/>
            </a:pPr>
            <a:r>
              <a:rPr lang="en-US" dirty="0">
                <a:ea typeface="+mn-ea"/>
                <a:cs typeface="+mn-cs"/>
              </a:rPr>
              <a:t>4 + 5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9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"wind" + "ow"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"window"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"Result: " + 6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"Result: 6"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"# " + price + " cents"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"# 500 cents"</a:t>
            </a:r>
          </a:p>
        </p:txBody>
      </p:sp>
      <p:grpSp>
        <p:nvGrpSpPr>
          <p:cNvPr id="94212" name="Group 4"/>
          <p:cNvGrpSpPr>
            <a:grpSpLocks/>
          </p:cNvGrpSpPr>
          <p:nvPr/>
        </p:nvGrpSpPr>
        <p:grpSpPr bwMode="auto">
          <a:xfrm>
            <a:off x="6079611" y="2865438"/>
            <a:ext cx="3194050" cy="563562"/>
            <a:chOff x="0" y="31"/>
            <a:chExt cx="2011" cy="355"/>
          </a:xfrm>
        </p:grpSpPr>
        <p:sp>
          <p:nvSpPr>
            <p:cNvPr id="61445" name="Rectangle 5"/>
            <p:cNvSpPr>
              <a:spLocks/>
            </p:cNvSpPr>
            <p:nvPr/>
          </p:nvSpPr>
          <p:spPr bwMode="auto">
            <a:xfrm>
              <a:off x="472" y="31"/>
              <a:ext cx="1539" cy="3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40639" bIns="0" anchor="ctr">
              <a:spAutoFit/>
            </a:bodyPr>
            <a:lstStyle>
              <a:lvl1pPr marL="39688">
                <a:spcBef>
                  <a:spcPct val="20000"/>
                </a:spcBef>
                <a:buClr>
                  <a:srgbClr val="264D8B"/>
                </a:buClr>
                <a:buFont typeface="Times" charset="0"/>
                <a:buChar char="•"/>
                <a:defRPr sz="32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1pPr>
              <a:lvl2pPr marL="742950" indent="-285750">
                <a:spcBef>
                  <a:spcPct val="20000"/>
                </a:spcBef>
                <a:buClr>
                  <a:srgbClr val="264D8B"/>
                </a:buClr>
                <a:buChar char="–"/>
                <a:defRPr sz="28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2pPr>
              <a:lvl3pPr marL="1143000" indent="-228600">
                <a:spcBef>
                  <a:spcPct val="20000"/>
                </a:spcBef>
                <a:buClr>
                  <a:srgbClr val="264D8B"/>
                </a:buClr>
                <a:buChar char="•"/>
                <a:defRPr sz="24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3pPr>
              <a:lvl4pPr marL="1600200" indent="-228600">
                <a:spcBef>
                  <a:spcPct val="20000"/>
                </a:spcBef>
                <a:buClr>
                  <a:srgbClr val="264D8B"/>
                </a:buClr>
                <a:buChar char="–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4pPr>
              <a:lvl5pPr marL="2057400" indent="-228600">
                <a:spcBef>
                  <a:spcPct val="20000"/>
                </a:spcBef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en-US" sz="3600" b="0" dirty="0">
                  <a:solidFill>
                    <a:schemeClr val="tx1"/>
                  </a:solidFill>
                  <a:latin typeface="Helvetica" charset="0"/>
                  <a:sym typeface="Helvetica" charset="0"/>
                </a:rPr>
                <a:t>overloading</a:t>
              </a:r>
            </a:p>
          </p:txBody>
        </p:sp>
        <p:pic>
          <p:nvPicPr>
            <p:cNvPr id="61446" name="Picture 6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6"/>
              <a:ext cx="418" cy="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FFFFFF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" name="Rectangle 5">
            <a:extLst>
              <a:ext uri="{FF2B5EF4-FFF2-40B4-BE49-F238E27FC236}">
                <a16:creationId xmlns:a16="http://schemas.microsoft.com/office/drawing/2014/main" id="{E9386C77-71E4-C3F9-F3B2-D90644C449FC}"/>
              </a:ext>
            </a:extLst>
          </p:cNvPr>
          <p:cNvSpPr>
            <a:spLocks/>
          </p:cNvSpPr>
          <p:nvPr/>
        </p:nvSpPr>
        <p:spPr bwMode="auto">
          <a:xfrm>
            <a:off x="7673999" y="4225196"/>
            <a:ext cx="4495081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 b="0" dirty="0">
                <a:solidFill>
                  <a:schemeClr val="tx1"/>
                </a:solidFill>
                <a:latin typeface="Helvetica" charset="0"/>
                <a:sym typeface="Helvetica" charset="0"/>
              </a:rPr>
              <a:t>+ has two different functionalities 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F8B09C8A-D5E7-581F-5448-8CEDCF426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337728">
            <a:off x="8072804" y="3597276"/>
            <a:ext cx="120085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FFFFFF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42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4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8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1" grpId="0" build="p" bldLvl="5" autoUpdateAnimBg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1236-7335-A720-56C6-78125D235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3FA26109-8378-C754-D65B-CCC3AEED44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72400" cy="1752600"/>
          </a:xfrm>
        </p:spPr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Quiz</a:t>
            </a:r>
          </a:p>
        </p:txBody>
      </p:sp>
      <p:sp>
        <p:nvSpPr>
          <p:cNvPr id="96259" name="Rectangle 3">
            <a:extLst>
              <a:ext uri="{FF2B5EF4-FFF2-40B4-BE49-F238E27FC236}">
                <a16:creationId xmlns:a16="http://schemas.microsoft.com/office/drawing/2014/main" id="{7A61779F-2F1A-79BD-CDC8-FDFD4039EC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System.out.println(5 + 6 + "hello");</a:t>
            </a:r>
          </a:p>
          <a:p>
            <a:pPr marL="39688" indent="0">
              <a:buNone/>
              <a:defRPr/>
            </a:pPr>
            <a:endParaRPr lang="en-US">
              <a:ea typeface="+mn-ea"/>
              <a:cs typeface="+mn-cs"/>
            </a:endParaRPr>
          </a:p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System.out.println("hello" + 5 + 6);</a:t>
            </a:r>
          </a:p>
        </p:txBody>
      </p:sp>
    </p:spTree>
    <p:extLst>
      <p:ext uri="{BB962C8B-B14F-4D97-AF65-F5344CB8AC3E}">
        <p14:creationId xmlns:p14="http://schemas.microsoft.com/office/powerpoint/2010/main" val="228264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72400" cy="1752600"/>
          </a:xfrm>
        </p:spPr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Quiz</a:t>
            </a:r>
          </a:p>
        </p:txBody>
      </p:sp>
      <p:sp>
        <p:nvSpPr>
          <p:cNvPr id="96259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System.out.println(5 + 6 + "hello");</a:t>
            </a:r>
          </a:p>
          <a:p>
            <a:pPr marL="39688" indent="0">
              <a:buNone/>
              <a:defRPr/>
            </a:pPr>
            <a:endParaRPr lang="en-US">
              <a:ea typeface="+mn-ea"/>
              <a:cs typeface="+mn-cs"/>
            </a:endParaRPr>
          </a:p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System.out.println("hello" + 5 + 6);</a:t>
            </a:r>
          </a:p>
        </p:txBody>
      </p:sp>
      <p:sp>
        <p:nvSpPr>
          <p:cNvPr id="96260" name="Rectangle 4"/>
          <p:cNvSpPr>
            <a:spLocks/>
          </p:cNvSpPr>
          <p:nvPr/>
        </p:nvSpPr>
        <p:spPr bwMode="auto">
          <a:xfrm>
            <a:off x="6972303" y="2599552"/>
            <a:ext cx="2022669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>
                <a:solidFill>
                  <a:srgbClr val="BA2D00"/>
                </a:solidFill>
                <a:latin typeface="Courier New" charset="0"/>
                <a:sym typeface="Courier" charset="0"/>
              </a:rPr>
              <a:t>11hello</a:t>
            </a:r>
          </a:p>
        </p:txBody>
      </p:sp>
      <p:sp>
        <p:nvSpPr>
          <p:cNvPr id="96261" name="Rectangle 5"/>
          <p:cNvSpPr>
            <a:spLocks/>
          </p:cNvSpPr>
          <p:nvPr/>
        </p:nvSpPr>
        <p:spPr bwMode="auto">
          <a:xfrm>
            <a:off x="6972303" y="4293096"/>
            <a:ext cx="2022669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>
                <a:solidFill>
                  <a:srgbClr val="BA2D00"/>
                </a:solidFill>
                <a:latin typeface="Courier New" charset="0"/>
                <a:sym typeface="Courier" charset="0"/>
              </a:rPr>
              <a:t>hello56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2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62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6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0" grpId="0" autoUpdateAnimBg="0"/>
      <p:bldP spid="96261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42025-E71E-E9B2-525A-82A5977D7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Formatted 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AEA59-FCC9-B81A-EE67-0000BDBE1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/>
              <a:t>Concatenation can be used to create output in a desired format.</a:t>
            </a:r>
          </a:p>
          <a:p>
            <a:r>
              <a:rPr lang="en-GB"/>
              <a:t>An alternative is to use </a:t>
            </a:r>
            <a:r>
              <a:rPr lang="en-GB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GB"/>
              <a:t>.</a:t>
            </a:r>
          </a:p>
          <a:p>
            <a:r>
              <a:rPr lang="en-GB"/>
              <a:t>The first argument gives the overall structure.</a:t>
            </a:r>
          </a:p>
          <a:p>
            <a:r>
              <a:rPr lang="en-GB"/>
              <a:t>Format specifiers represent 'holes' to be filled in by the other arguments.</a:t>
            </a:r>
          </a:p>
        </p:txBody>
      </p:sp>
    </p:spTree>
    <p:extLst>
      <p:ext uri="{BB962C8B-B14F-4D97-AF65-F5344CB8AC3E}">
        <p14:creationId xmlns:p14="http://schemas.microsoft.com/office/powerpoint/2010/main" val="4115708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42025-E71E-E9B2-525A-82A5977D7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Formatted 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AEA59-FCC9-B81A-EE67-0000BDBE1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/>
              <a:t>Concatenation:</a:t>
            </a:r>
            <a:br>
              <a:rPr lang="en-GB"/>
            </a:br>
            <a:r>
              <a:rPr lang="en-US" altLang="en-US" sz="3300">
                <a:solidFill>
                  <a:schemeClr val="tx1"/>
                </a:solidFill>
                <a:latin typeface="Courier New" charset="0"/>
              </a:rPr>
              <a:t>System.out.println("# " + price + " cents.");</a:t>
            </a:r>
            <a:endParaRPr lang="en-GB" sz="3300"/>
          </a:p>
          <a:p>
            <a:r>
              <a:rPr lang="en-GB"/>
              <a:t>Using </a:t>
            </a:r>
            <a:r>
              <a:rPr lang="en-GB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GB"/>
              <a:t>:</a:t>
            </a:r>
            <a:br>
              <a:rPr lang="en-GB"/>
            </a:br>
            <a:r>
              <a:rPr lang="en-US" altLang="en-US" sz="3500" err="1">
                <a:solidFill>
                  <a:schemeClr val="tx1"/>
                </a:solidFill>
                <a:latin typeface="Courier New" charset="0"/>
              </a:rPr>
              <a:t>System.out.printf</a:t>
            </a:r>
            <a:r>
              <a:rPr lang="en-US" altLang="en-US" sz="3500">
                <a:solidFill>
                  <a:schemeClr val="tx1"/>
                </a:solidFill>
                <a:latin typeface="Courier New" charset="0"/>
              </a:rPr>
              <a:t>("# %d </a:t>
            </a:r>
            <a:r>
              <a:rPr lang="en-US" altLang="en-US" sz="3500" err="1">
                <a:solidFill>
                  <a:schemeClr val="tx1"/>
                </a:solidFill>
                <a:latin typeface="Courier New" charset="0"/>
              </a:rPr>
              <a:t>cents.%n</a:t>
            </a:r>
            <a:r>
              <a:rPr lang="en-US" altLang="en-US" sz="3500">
                <a:solidFill>
                  <a:schemeClr val="tx1"/>
                </a:solidFill>
                <a:latin typeface="Courier New" charset="0"/>
              </a:rPr>
              <a:t>", price);</a:t>
            </a:r>
            <a:endParaRPr lang="en-GB" sz="6500"/>
          </a:p>
          <a:p>
            <a:r>
              <a:rPr lang="en-GB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%d </a:t>
            </a:r>
            <a:r>
              <a:rPr lang="en-GB"/>
              <a:t>means insert the next argument as an integer value at this point.</a:t>
            </a:r>
          </a:p>
          <a:p>
            <a:r>
              <a:rPr lang="en-GB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%n</a:t>
            </a:r>
            <a:r>
              <a:rPr lang="en-GB" b="1">
                <a:solidFill>
                  <a:schemeClr val="tx1"/>
                </a:solidFill>
              </a:rPr>
              <a:t> </a:t>
            </a:r>
            <a:r>
              <a:rPr lang="en-GB"/>
              <a:t>means 'end the line' (i.e., 'insert' a newline) at this point.</a:t>
            </a:r>
          </a:p>
        </p:txBody>
      </p:sp>
    </p:spTree>
    <p:extLst>
      <p:ext uri="{BB962C8B-B14F-4D97-AF65-F5344CB8AC3E}">
        <p14:creationId xmlns:p14="http://schemas.microsoft.com/office/powerpoint/2010/main" val="280869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Method summary</a:t>
            </a:r>
          </a:p>
        </p:txBody>
      </p:sp>
      <p:sp>
        <p:nvSpPr>
          <p:cNvPr id="6553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altLang="en-US" sz="3600">
                <a:ea typeface="MS PGothic" charset="-128"/>
              </a:rPr>
              <a:t>Methods implement all object behavior.</a:t>
            </a:r>
          </a:p>
          <a:p>
            <a:r>
              <a:rPr lang="en-GB" altLang="en-US" sz="3600">
                <a:ea typeface="MS PGothic" charset="-128"/>
              </a:rPr>
              <a:t>A method has a name and a return type.</a:t>
            </a:r>
          </a:p>
          <a:p>
            <a:pPr lvl="1"/>
            <a:r>
              <a:rPr lang="en-GB" altLang="en-US" sz="3200">
                <a:ea typeface="MS PGothic" charset="-128"/>
              </a:rPr>
              <a:t>The return-type may be </a:t>
            </a:r>
            <a:r>
              <a:rPr lang="en-GB" altLang="en-US" sz="3200" b="1">
                <a:latin typeface="Courier New" charset="0"/>
                <a:ea typeface="MS PGothic" charset="-128"/>
              </a:rPr>
              <a:t>void</a:t>
            </a:r>
            <a:r>
              <a:rPr lang="en-GB" altLang="en-US" sz="3200">
                <a:ea typeface="MS PGothic" charset="-128"/>
              </a:rPr>
              <a:t>.</a:t>
            </a:r>
          </a:p>
          <a:p>
            <a:pPr lvl="1"/>
            <a:r>
              <a:rPr lang="en-GB" altLang="en-US" sz="3200">
                <a:ea typeface="MS PGothic" charset="-128"/>
              </a:rPr>
              <a:t>A non-</a:t>
            </a:r>
            <a:r>
              <a:rPr lang="en-GB" altLang="en-US" sz="3200" b="1">
                <a:latin typeface="Courier New" charset="0"/>
                <a:ea typeface="MS PGothic" charset="-128"/>
              </a:rPr>
              <a:t>void</a:t>
            </a:r>
            <a:r>
              <a:rPr lang="en-GB" altLang="en-US" sz="3200">
                <a:ea typeface="MS PGothic" charset="-128"/>
              </a:rPr>
              <a:t> return type means the method will return a value to its caller.</a:t>
            </a:r>
          </a:p>
          <a:p>
            <a:r>
              <a:rPr lang="en-GB" altLang="en-US" sz="3600">
                <a:ea typeface="MS PGothic" charset="-128"/>
              </a:rPr>
              <a:t>A method might take parameters.</a:t>
            </a:r>
          </a:p>
          <a:p>
            <a:pPr lvl="1"/>
            <a:r>
              <a:rPr lang="en-GB" altLang="en-US" sz="3200">
                <a:ea typeface="MS PGothic" charset="-128"/>
              </a:rPr>
              <a:t>Parameters bring values in from outside for the method to use.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Reflecting on the ticket machines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Their behavior is inadequate in several ways: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on the amounts entered.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refunds.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for a sensible initialization.</a:t>
            </a:r>
          </a:p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How can we do better?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We need the ability to choose between different courses of action.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F5CEC-C519-7415-E8C5-6165A0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BD32-6831-866D-240C-B756434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3E13AD8-C2EB-2965-C5E5-DBF2EFD0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034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class-definitions</Template>
  <TotalTime>600</TotalTime>
  <Words>1486</Words>
  <Application>Microsoft Macintosh PowerPoint</Application>
  <PresentationFormat>Widescreen</PresentationFormat>
  <Paragraphs>270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MS PGothic</vt:lpstr>
      <vt:lpstr>Arial</vt:lpstr>
      <vt:lpstr>Calibri</vt:lpstr>
      <vt:lpstr>Courier New</vt:lpstr>
      <vt:lpstr>Courier New Bold</vt:lpstr>
      <vt:lpstr>Helvetica</vt:lpstr>
      <vt:lpstr>Lucida Grande</vt:lpstr>
      <vt:lpstr>Times New Roman</vt:lpstr>
      <vt:lpstr>Tw Cen MT</vt:lpstr>
      <vt:lpstr>a-processing-mouse-event-methods</vt:lpstr>
      <vt:lpstr>Understanding class definitions 2</vt:lpstr>
      <vt:lpstr>Upcoming</vt:lpstr>
      <vt:lpstr>Methods</vt:lpstr>
      <vt:lpstr>Method structure</vt:lpstr>
      <vt:lpstr>Getter methods</vt:lpstr>
      <vt:lpstr>Accessor methods</vt:lpstr>
      <vt:lpstr>Test – syntax errors</vt:lpstr>
      <vt:lpstr>Test</vt:lpstr>
      <vt:lpstr>Mutator methods</vt:lpstr>
      <vt:lpstr>setter methods</vt:lpstr>
      <vt:lpstr>A typical set method</vt:lpstr>
      <vt:lpstr>Protective mutators</vt:lpstr>
      <vt:lpstr>Another mutator method</vt:lpstr>
      <vt:lpstr>The this keyword</vt:lpstr>
      <vt:lpstr>The this keyword</vt:lpstr>
      <vt:lpstr>The this keyword</vt:lpstr>
      <vt:lpstr>The this keyword</vt:lpstr>
      <vt:lpstr>The this keyword</vt:lpstr>
      <vt:lpstr>Printing from methods</vt:lpstr>
      <vt:lpstr>String concatenation</vt:lpstr>
      <vt:lpstr>Quiz</vt:lpstr>
      <vt:lpstr>Quiz</vt:lpstr>
      <vt:lpstr>Formatted printing</vt:lpstr>
      <vt:lpstr>Formatted printing</vt:lpstr>
      <vt:lpstr>Method summary</vt:lpstr>
      <vt:lpstr>Reflecting on the ticket machines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197</cp:revision>
  <cp:lastPrinted>2003-09-01T07:04:41Z</cp:lastPrinted>
  <dcterms:created xsi:type="dcterms:W3CDTF">2009-04-22T19:24:48Z</dcterms:created>
  <dcterms:modified xsi:type="dcterms:W3CDTF">2025-10-16T21:33:56Z</dcterms:modified>
  <cp:category/>
</cp:coreProperties>
</file>