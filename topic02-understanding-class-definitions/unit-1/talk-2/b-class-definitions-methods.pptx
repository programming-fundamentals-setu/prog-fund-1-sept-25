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57" r:id="rId1"/>
  </p:sldMasterIdLst>
  <p:notesMasterIdLst>
    <p:notesMasterId r:id="rId29"/>
  </p:notesMasterIdLst>
  <p:handoutMasterIdLst>
    <p:handoutMasterId r:id="rId30"/>
  </p:handoutMasterIdLst>
  <p:sldIdLst>
    <p:sldId id="256" r:id="rId2"/>
    <p:sldId id="348" r:id="rId3"/>
    <p:sldId id="265" r:id="rId4"/>
    <p:sldId id="288" r:id="rId5"/>
    <p:sldId id="266" r:id="rId6"/>
    <p:sldId id="289" r:id="rId7"/>
    <p:sldId id="279" r:id="rId8"/>
    <p:sldId id="304" r:id="rId9"/>
    <p:sldId id="267" r:id="rId10"/>
    <p:sldId id="290" r:id="rId11"/>
    <p:sldId id="291" r:id="rId12"/>
    <p:sldId id="299" r:id="rId13"/>
    <p:sldId id="268" r:id="rId14"/>
    <p:sldId id="303" r:id="rId15"/>
    <p:sldId id="354" r:id="rId16"/>
    <p:sldId id="351" r:id="rId17"/>
    <p:sldId id="353" r:id="rId18"/>
    <p:sldId id="352" r:id="rId19"/>
    <p:sldId id="269" r:id="rId20"/>
    <p:sldId id="282" r:id="rId21"/>
    <p:sldId id="349" r:id="rId22"/>
    <p:sldId id="283" r:id="rId23"/>
    <p:sldId id="301" r:id="rId24"/>
    <p:sldId id="302" r:id="rId25"/>
    <p:sldId id="292" r:id="rId26"/>
    <p:sldId id="270" r:id="rId27"/>
    <p:sldId id="350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E4F"/>
    <a:srgbClr val="009C5C"/>
    <a:srgbClr val="7F6F5E"/>
    <a:srgbClr val="C81D2B"/>
    <a:srgbClr val="1A3170"/>
    <a:srgbClr val="A571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60"/>
    <p:restoredTop sz="94725"/>
  </p:normalViewPr>
  <p:slideViewPr>
    <p:cSldViewPr>
      <p:cViewPr varScale="1">
        <p:scale>
          <a:sx n="109" d="100"/>
          <a:sy n="109" d="100"/>
        </p:scale>
        <p:origin x="123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220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6858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53340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486400" y="8686800"/>
            <a:ext cx="1371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BD304B27-EDAE-2B42-B931-F4A43A4E72E1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6059915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solidFill>
                  <a:schemeClr val="tx1"/>
                </a:solidFill>
                <a:latin typeface="Times New Roman" pitchFamily="18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30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430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30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 smtClean="0">
                <a:solidFill>
                  <a:schemeClr val="tx1"/>
                </a:solidFill>
                <a:latin typeface="Times New Roman" charset="0"/>
              </a:defRPr>
            </a:lvl1pPr>
          </a:lstStyle>
          <a:p>
            <a:pPr>
              <a:defRPr/>
            </a:pPr>
            <a:fld id="{86EFD2CC-C5C9-994E-897A-55750BC69004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806599796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1843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1843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2BB65-6B68-B449-A95C-B1A6D9CE7C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1843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2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315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43010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4301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BF01C2B9-F148-D248-8B24-36F43746ED66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3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4301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608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1548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46082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4608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42B80AA9-9110-5649-856E-9959702D86FC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5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4608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711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538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4915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4915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D87F04AC-66A4-8A46-8CF7-4EB8D4BAC172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7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4915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8134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72751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08B82-A232-E607-AD42-E16EA067D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2">
            <a:extLst>
              <a:ext uri="{FF2B5EF4-FFF2-40B4-BE49-F238E27FC236}">
                <a16:creationId xmlns:a16="http://schemas.microsoft.com/office/drawing/2014/main" id="{4334F84B-A9CB-D2FF-763B-B9277DAC5C1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49154" name="Rectangle 6">
            <a:extLst>
              <a:ext uri="{FF2B5EF4-FFF2-40B4-BE49-F238E27FC236}">
                <a16:creationId xmlns:a16="http://schemas.microsoft.com/office/drawing/2014/main" id="{AF1B7357-07BE-D8B6-6EA6-2B9AA2855E55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49155" name="Rectangle 7">
            <a:extLst>
              <a:ext uri="{FF2B5EF4-FFF2-40B4-BE49-F238E27FC236}">
                <a16:creationId xmlns:a16="http://schemas.microsoft.com/office/drawing/2014/main" id="{AEBCC6A2-40C2-FD5A-40D0-9EA09CDF77A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D87F04AC-66A4-8A46-8CF7-4EB8D4BAC172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8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49156" name="Rectangle 2">
            <a:extLst>
              <a:ext uri="{FF2B5EF4-FFF2-40B4-BE49-F238E27FC236}">
                <a16:creationId xmlns:a16="http://schemas.microsoft.com/office/drawing/2014/main" id="{22CC24A8-480A-A51D-CFA7-A6242AD6C75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8134" name="Rectangle 3">
            <a:extLst>
              <a:ext uri="{FF2B5EF4-FFF2-40B4-BE49-F238E27FC236}">
                <a16:creationId xmlns:a16="http://schemas.microsoft.com/office/drawing/2014/main" id="{FAAF8EEE-3291-7083-ED63-F6D8AB02CE0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85987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53250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5325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6C979DF4-CC73-9B4F-8FFB-0055A5D5E511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9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5325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018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60827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7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55298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5529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5B76FE57-F2C0-4646-9243-30FE5272AB4D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13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5530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120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80095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7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60418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6041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CEE1565E-29AA-3446-A164-B8D1885B9D1E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19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6042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2230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48103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5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62466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6246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33DCE7E3-7332-834C-B906-2AEF9A08C045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20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624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solidFill>
            <a:srgbClr val="FFFFFF"/>
          </a:solidFill>
          <a:ln/>
        </p:spPr>
      </p:sp>
      <p:sp>
        <p:nvSpPr>
          <p:cNvPr id="6246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="" xmlns:a14="http://schemas.microsoft.com/office/drawing/2010/main" val="1"/>
            </a:ext>
          </a:extLst>
        </p:spPr>
        <p:txBody>
          <a:bodyPr/>
          <a:lstStyle/>
          <a:p>
            <a:r>
              <a:rPr lang="en-US" altLang="en-US" sz="1600">
                <a:latin typeface="Lucida Grande" charset="0"/>
                <a:ea typeface="ＭＳ Ｐゴシック" charset="-128"/>
                <a:sym typeface="Lucida Grande" charset="0"/>
              </a:rPr>
              <a:t>try out in codepad</a:t>
            </a:r>
          </a:p>
        </p:txBody>
      </p:sp>
    </p:spTree>
    <p:extLst>
      <p:ext uri="{BB962C8B-B14F-4D97-AF65-F5344CB8AC3E}">
        <p14:creationId xmlns:p14="http://schemas.microsoft.com/office/powerpoint/2010/main" val="3149392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AF1B8-C70D-F191-0A84-6147FC32F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3" name="Rectangle 2">
            <a:extLst>
              <a:ext uri="{FF2B5EF4-FFF2-40B4-BE49-F238E27FC236}">
                <a16:creationId xmlns:a16="http://schemas.microsoft.com/office/drawing/2014/main" id="{4F6D4727-1C9B-5F6B-62CF-506FC256260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64514" name="Rectangle 6">
            <a:extLst>
              <a:ext uri="{FF2B5EF4-FFF2-40B4-BE49-F238E27FC236}">
                <a16:creationId xmlns:a16="http://schemas.microsoft.com/office/drawing/2014/main" id="{94EE65B2-6786-C887-D606-41B066B0F15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64515" name="Rectangle 7">
            <a:extLst>
              <a:ext uri="{FF2B5EF4-FFF2-40B4-BE49-F238E27FC236}">
                <a16:creationId xmlns:a16="http://schemas.microsoft.com/office/drawing/2014/main" id="{E3B1C645-DDC0-0AB2-E1F8-958482AE48E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168F1F93-EB3A-2A46-83B6-547F456C1C5F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21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64516" name="Rectangle 2">
            <a:extLst>
              <a:ext uri="{FF2B5EF4-FFF2-40B4-BE49-F238E27FC236}">
                <a16:creationId xmlns:a16="http://schemas.microsoft.com/office/drawing/2014/main" id="{BF64AD31-EE87-CD08-E7F4-DF8B72C0246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solidFill>
            <a:srgbClr val="FFFFFF"/>
          </a:solidFill>
          <a:ln/>
        </p:spPr>
      </p:sp>
      <p:sp>
        <p:nvSpPr>
          <p:cNvPr id="64517" name="Rectangle 3">
            <a:extLst>
              <a:ext uri="{FF2B5EF4-FFF2-40B4-BE49-F238E27FC236}">
                <a16:creationId xmlns:a16="http://schemas.microsoft.com/office/drawing/2014/main" id="{712BCBB8-AF08-D87E-23FF-0F1CCC076D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="" xmlns:a14="http://schemas.microsoft.com/office/drawing/2010/main" val="1"/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GB" altLang="en-US" sz="1600">
              <a:latin typeface="Lucida Grande" charset="0"/>
              <a:ea typeface="ＭＳ Ｐゴシック" charset="-128"/>
              <a:sym typeface="Lucida Grande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9762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6451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6451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168F1F93-EB3A-2A46-83B6-547F456C1C5F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22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6451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solidFill>
            <a:srgbClr val="FFFFFF"/>
          </a:solidFill>
          <a:ln/>
        </p:spPr>
      </p:sp>
      <p:sp>
        <p:nvSpPr>
          <p:cNvPr id="6451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="" xmlns:a14="http://schemas.microsoft.com/office/drawing/2010/main" val="1"/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GB" altLang="en-US" sz="1600">
              <a:latin typeface="Lucida Grande" charset="0"/>
              <a:ea typeface="ＭＳ Ｐゴシック" charset="-128"/>
              <a:sym typeface="Lucida Grande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35458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5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67586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6758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969974D1-C273-1A44-83FD-CD5A69E869C2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26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6758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5530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782048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088531"/>
      </p:ext>
    </p:extLst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710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234847"/>
      </p:ext>
    </p:extLst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0898188"/>
      </p:ext>
    </p:extLst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2271219"/>
      </p:ext>
    </p:extLst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6419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3556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7293640"/>
      </p:ext>
    </p:extLst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7161385"/>
      </p:ext>
    </p:extLst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822263"/>
      </p:ext>
    </p:extLst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1653910"/>
      </p:ext>
    </p:extLst>
  </p:cSld>
  <p:clrMapOvr>
    <a:masterClrMapping/>
  </p:clrMapOvr>
  <p:hf sldNum="0"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6685827"/>
      </p:ext>
    </p:extLst>
  </p:cSld>
  <p:clrMapOvr>
    <a:masterClrMapping/>
  </p:clrMapOvr>
  <p:hf sldNum="0"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181542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3005837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6371"/>
      </p:ext>
    </p:extLst>
  </p:cSld>
  <p:clrMapOvr>
    <a:masterClrMapping/>
  </p:clrMapOvr>
  <p:hf sldNum="0"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dgm">
  <p:cSld name="Title and Diagram or Organizatio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martArt Placeholder 2"/>
          <p:cNvSpPr>
            <a:spLocks noGrp="1"/>
          </p:cNvSpPr>
          <p:nvPr>
            <p:ph type="dgm" idx="1"/>
          </p:nvPr>
        </p:nvSpPr>
        <p:spPr>
          <a:xfrm>
            <a:off x="1625600" y="1828800"/>
            <a:ext cx="9956800" cy="42672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8496113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CB4B4D-7CA3-9044-876B-883B54F8677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0816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8" r:id="rId1"/>
    <p:sldLayoutId id="2147483959" r:id="rId2"/>
    <p:sldLayoutId id="2147483960" r:id="rId3"/>
    <p:sldLayoutId id="2147483961" r:id="rId4"/>
    <p:sldLayoutId id="2147483962" r:id="rId5"/>
    <p:sldLayoutId id="2147483963" r:id="rId6"/>
    <p:sldLayoutId id="2147483964" r:id="rId7"/>
    <p:sldLayoutId id="2147483965" r:id="rId8"/>
    <p:sldLayoutId id="2147483966" r:id="rId9"/>
    <p:sldLayoutId id="2147483967" r:id="rId10"/>
    <p:sldLayoutId id="2147483968" r:id="rId11"/>
    <p:sldLayoutId id="2147483969" r:id="rId12"/>
    <p:sldLayoutId id="2147483970" r:id="rId13"/>
    <p:sldLayoutId id="2147483971" r:id="rId14"/>
    <p:sldLayoutId id="2147483972" r:id="rId15"/>
    <p:sldLayoutId id="2147483973" r:id="rId16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09446" y="380999"/>
            <a:ext cx="10464801" cy="1143001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GB" dirty="0">
                <a:ea typeface="+mj-ea"/>
                <a:cs typeface="+mj-cs"/>
              </a:rPr>
              <a:t>Understanding class definitions 2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quarter" idx="22"/>
          </p:nvPr>
        </p:nvSpPr>
        <p:spPr>
          <a:xfrm>
            <a:off x="98936" y="1418712"/>
            <a:ext cx="10134430" cy="846384"/>
          </a:xfrm>
        </p:spPr>
        <p:txBody>
          <a:bodyPr/>
          <a:lstStyle/>
          <a:p>
            <a:pPr eaLnBrk="1" hangingPunct="1">
              <a:defRPr/>
            </a:pPr>
            <a:r>
              <a:rPr lang="en-GB" dirty="0">
                <a:ea typeface="+mn-ea"/>
                <a:cs typeface="+mn-cs"/>
              </a:rPr>
              <a:t>Exploring source code</a:t>
            </a:r>
          </a:p>
        </p:txBody>
      </p:sp>
      <p:sp>
        <p:nvSpPr>
          <p:cNvPr id="17411" name="Text Box 4"/>
          <p:cNvSpPr txBox="1">
            <a:spLocks noChangeArrowheads="1"/>
          </p:cNvSpPr>
          <p:nvPr/>
        </p:nvSpPr>
        <p:spPr bwMode="auto">
          <a:xfrm>
            <a:off x="10050463" y="6537328"/>
            <a:ext cx="36580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0" dirty="0">
                <a:solidFill>
                  <a:schemeClr val="tx1"/>
                </a:solidFill>
              </a:rPr>
              <a:t>7.0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21513C8-B0FF-BA55-A698-0A8D7677585F}"/>
              </a:ext>
            </a:extLst>
          </p:cNvPr>
          <p:cNvSpPr txBox="1">
            <a:spLocks/>
          </p:cNvSpPr>
          <p:nvPr/>
        </p:nvSpPr>
        <p:spPr>
          <a:xfrm>
            <a:off x="1596259" y="3809999"/>
            <a:ext cx="1866900" cy="10668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0755C-E815-5AA3-D4B2-32A9F0530610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</a:t>
            </a:r>
            <a:r>
              <a:rPr lang="en-IE" sz="1600" dirty="0" err="1"/>
              <a:t>www.setu.ie</a:t>
            </a:r>
            <a:r>
              <a:rPr lang="en-IE" sz="1600"/>
              <a:t>/</a:t>
            </a:r>
          </a:p>
        </p:txBody>
      </p:sp>
      <p:pic>
        <p:nvPicPr>
          <p:cNvPr id="4" name="Picture 3" descr="Text&#10;&#10;Description automatically generated">
            <a:extLst>
              <a:ext uri="{FF2B5EF4-FFF2-40B4-BE49-F238E27FC236}">
                <a16:creationId xmlns:a16="http://schemas.microsoft.com/office/drawing/2014/main" id="{3C52B6A4-97C1-5BF3-8F44-19C73FB401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BA0C4-2BF0-58D8-E3BD-B3765AC49632}"/>
              </a:ext>
            </a:extLst>
          </p:cNvPr>
          <p:cNvSpPr txBox="1"/>
          <p:nvPr/>
        </p:nvSpPr>
        <p:spPr>
          <a:xfrm>
            <a:off x="3647728" y="3876597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FA2458C-C466-1502-FE9B-6FD66EA77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286" y="952499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5C1D98B-EAD8-17AC-9CB8-C2BBF110A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Upcoming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2FC1126-1F70-0EA1-DCE5-D16434703AD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/>
            <a:r>
              <a:rPr lang="en-US" altLang="en-US">
                <a:ea typeface="MS PGothic" charset="-128"/>
              </a:rPr>
              <a:t>Methods, including:</a:t>
            </a:r>
          </a:p>
          <a:p>
            <a:pPr lvl="1" eaLnBrk="1" hangingPunct="1"/>
            <a:r>
              <a:rPr lang="en-US" altLang="en-US" i="1">
                <a:ea typeface="MS PGothic" charset="-128"/>
              </a:rPr>
              <a:t>accessor </a:t>
            </a:r>
            <a:r>
              <a:rPr lang="en-US" altLang="en-US">
                <a:ea typeface="MS PGothic" charset="-128"/>
              </a:rPr>
              <a:t>(</a:t>
            </a:r>
            <a:r>
              <a:rPr lang="en-US" altLang="en-US" i="1">
                <a:ea typeface="MS PGothic" charset="-128"/>
              </a:rPr>
              <a:t>getter</a:t>
            </a:r>
            <a:r>
              <a:rPr lang="en-US" altLang="en-US">
                <a:ea typeface="MS PGothic" charset="-128"/>
              </a:rPr>
              <a:t>) methods</a:t>
            </a:r>
          </a:p>
          <a:p>
            <a:pPr lvl="1" eaLnBrk="1" hangingPunct="1"/>
            <a:r>
              <a:rPr lang="en-US" altLang="en-US" i="1">
                <a:ea typeface="MS PGothic" charset="-128"/>
              </a:rPr>
              <a:t>mutator</a:t>
            </a:r>
            <a:r>
              <a:rPr lang="en-US" altLang="en-US">
                <a:ea typeface="MS PGothic" charset="-128"/>
              </a:rPr>
              <a:t> (</a:t>
            </a:r>
            <a:r>
              <a:rPr lang="en-US" altLang="en-US" i="1">
                <a:ea typeface="MS PGothic" charset="-128"/>
              </a:rPr>
              <a:t>setter</a:t>
            </a:r>
            <a:r>
              <a:rPr lang="en-US" altLang="en-US">
                <a:ea typeface="MS PGothic" charset="-128"/>
              </a:rPr>
              <a:t>) methods;</a:t>
            </a:r>
          </a:p>
          <a:p>
            <a:pPr marL="382588"/>
            <a:r>
              <a:rPr lang="en-US" altLang="en-US">
                <a:ea typeface="MS PGothic" charset="-128"/>
              </a:rPr>
              <a:t>String formatting;</a:t>
            </a:r>
          </a:p>
          <a:p>
            <a:pPr marL="382588"/>
            <a:r>
              <a:rPr lang="en-US" altLang="en-US">
                <a:ea typeface="MS PGothic" charset="-128"/>
              </a:rPr>
              <a:t>Conditional statements;</a:t>
            </a:r>
          </a:p>
          <a:p>
            <a:pPr marL="382588"/>
            <a:r>
              <a:rPr lang="en-US" altLang="en-US">
                <a:ea typeface="MS PGothic" charset="-128"/>
              </a:rPr>
              <a:t>Local variables. (next </a:t>
            </a:r>
            <a:r>
              <a:rPr lang="en-US" altLang="en-US" err="1">
                <a:ea typeface="MS PGothic" charset="-128"/>
              </a:rPr>
              <a:t>slidedeck</a:t>
            </a:r>
            <a:r>
              <a:rPr lang="en-US" altLang="en-US">
                <a:ea typeface="MS PGothic" charset="-128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446994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>
                <a:ea typeface="MS PGothic" charset="-128"/>
              </a:rPr>
              <a:t>Methods</a:t>
            </a:r>
          </a:p>
        </p:txBody>
      </p:sp>
      <p:sp>
        <p:nvSpPr>
          <p:cNvPr id="41986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en-US" sz="3600" dirty="0">
                <a:ea typeface="MS PGothic" charset="-128"/>
              </a:rPr>
              <a:t>Methods implement the </a:t>
            </a:r>
            <a:r>
              <a:rPr lang="en-IE" sz="3600" i="1" noProof="0" dirty="0">
                <a:ea typeface="MS PGothic" charset="-128"/>
              </a:rPr>
              <a:t>behaviour</a:t>
            </a:r>
            <a:r>
              <a:rPr lang="en-US" altLang="en-US" sz="3600" dirty="0">
                <a:ea typeface="MS PGothic" charset="-128"/>
              </a:rPr>
              <a:t> of objects.</a:t>
            </a:r>
          </a:p>
          <a:p>
            <a:pPr eaLnBrk="1" hangingPunct="1"/>
            <a:r>
              <a:rPr lang="en-US" altLang="en-US" sz="3600" dirty="0">
                <a:ea typeface="MS PGothic" charset="-128"/>
              </a:rPr>
              <a:t>Methods have a consistent structure comprised of a </a:t>
            </a:r>
            <a:r>
              <a:rPr lang="en-US" altLang="en-US" sz="3600" i="1" dirty="0">
                <a:ea typeface="MS PGothic" charset="-128"/>
              </a:rPr>
              <a:t>header</a:t>
            </a:r>
            <a:r>
              <a:rPr lang="en-US" altLang="en-US" sz="3600" dirty="0">
                <a:ea typeface="MS PGothic" charset="-128"/>
              </a:rPr>
              <a:t> and a </a:t>
            </a:r>
            <a:r>
              <a:rPr lang="en-US" altLang="en-US" sz="3600" i="1" dirty="0">
                <a:ea typeface="MS PGothic" charset="-128"/>
              </a:rPr>
              <a:t>body</a:t>
            </a:r>
            <a:r>
              <a:rPr lang="en-US" altLang="en-US" sz="3600" dirty="0">
                <a:ea typeface="MS PGothic" charset="-128"/>
              </a:rPr>
              <a:t>.</a:t>
            </a:r>
          </a:p>
          <a:p>
            <a:pPr eaLnBrk="1" hangingPunct="1"/>
            <a:r>
              <a:rPr lang="en-US" altLang="en-US" sz="3600" i="1" dirty="0">
                <a:ea typeface="MS PGothic" charset="-128"/>
              </a:rPr>
              <a:t>Accessor methods</a:t>
            </a:r>
            <a:r>
              <a:rPr lang="en-US" altLang="en-US" sz="3600" dirty="0">
                <a:ea typeface="MS PGothic" charset="-128"/>
              </a:rPr>
              <a:t> provide information about an object.</a:t>
            </a:r>
          </a:p>
          <a:p>
            <a:pPr eaLnBrk="1" hangingPunct="1"/>
            <a:r>
              <a:rPr lang="en-US" altLang="en-US" sz="3600" i="1" dirty="0">
                <a:ea typeface="MS PGothic" charset="-128"/>
              </a:rPr>
              <a:t>Mutator methods</a:t>
            </a:r>
            <a:r>
              <a:rPr lang="en-US" altLang="en-US" sz="3600" dirty="0">
                <a:ea typeface="MS PGothic" charset="-128"/>
              </a:rPr>
              <a:t> change the state of an object.</a:t>
            </a:r>
          </a:p>
          <a:p>
            <a:pPr eaLnBrk="1" hangingPunct="1"/>
            <a:r>
              <a:rPr lang="en-US" altLang="en-US" sz="3600" dirty="0">
                <a:ea typeface="MS PGothic" charset="-128"/>
              </a:rPr>
              <a:t>Other sorts of methods accomplish a variety of tasks.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9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9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19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19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19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19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19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19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19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19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6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>
                <a:ea typeface="MS PGothic" charset="-128"/>
              </a:rPr>
              <a:t>Method structure</a:t>
            </a:r>
          </a:p>
        </p:txBody>
      </p:sp>
      <p:sp>
        <p:nvSpPr>
          <p:cNvPr id="44034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sz="3200">
                <a:ea typeface="MS PGothic" charset="-128"/>
              </a:rPr>
              <a:t>Accessor methods often occur in the form of </a:t>
            </a:r>
            <a:r>
              <a:rPr lang="en-US" altLang="en-US" sz="3200" i="1">
                <a:ea typeface="MS PGothic" charset="-128"/>
              </a:rPr>
              <a:t>getter</a:t>
            </a:r>
            <a:r>
              <a:rPr lang="en-US" altLang="en-US" sz="3200">
                <a:ea typeface="MS PGothic" charset="-128"/>
              </a:rPr>
              <a:t> methods.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3200">
                <a:ea typeface="MS PGothic" charset="-128"/>
              </a:rPr>
              <a:t>The header</a:t>
            </a:r>
            <a:r>
              <a:rPr lang="en-US" altLang="ja-JP" sz="3200">
                <a:ea typeface="MS PGothic" charset="-128"/>
              </a:rPr>
              <a:t>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b="1">
                <a:latin typeface="Courier New" charset="0"/>
                <a:ea typeface="MS PGothic" charset="-128"/>
              </a:rPr>
              <a:t>public </a:t>
            </a:r>
            <a:r>
              <a:rPr lang="en-US" altLang="en-US" sz="2800" b="1" err="1">
                <a:latin typeface="Courier New" charset="0"/>
                <a:ea typeface="MS PGothic" charset="-128"/>
              </a:rPr>
              <a:t>int</a:t>
            </a:r>
            <a:r>
              <a:rPr lang="en-US" altLang="en-US" sz="2800" b="1">
                <a:latin typeface="Courier New" charset="0"/>
                <a:ea typeface="MS PGothic" charset="-128"/>
              </a:rPr>
              <a:t> </a:t>
            </a:r>
            <a:r>
              <a:rPr lang="en-US" altLang="en-US" sz="2800" b="1" err="1">
                <a:latin typeface="Courier New" charset="0"/>
                <a:ea typeface="MS PGothic" charset="-128"/>
              </a:rPr>
              <a:t>getPrice</a:t>
            </a:r>
            <a:r>
              <a:rPr lang="en-US" altLang="en-US" sz="2800" b="1">
                <a:latin typeface="Courier New" charset="0"/>
                <a:ea typeface="MS PGothic" charset="-128"/>
              </a:rPr>
              <a:t>()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en-US" sz="3200">
                <a:ea typeface="MS PGothic" charset="-128"/>
              </a:rPr>
              <a:t>The header tells us: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>
                <a:ea typeface="MS PGothic" charset="-128"/>
              </a:rPr>
              <a:t>the </a:t>
            </a:r>
            <a:r>
              <a:rPr lang="en-US" altLang="en-US" sz="2800" i="1">
                <a:ea typeface="MS PGothic" charset="-128"/>
              </a:rPr>
              <a:t>visibility</a:t>
            </a:r>
            <a:r>
              <a:rPr lang="en-US" altLang="en-US" sz="2800">
                <a:ea typeface="MS PGothic" charset="-128"/>
              </a:rPr>
              <a:t> to objects of other classes (public);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>
                <a:ea typeface="MS PGothic" charset="-128"/>
              </a:rPr>
              <a:t>whether the method </a:t>
            </a:r>
            <a:r>
              <a:rPr lang="en-US" altLang="en-US" sz="2800" i="1">
                <a:ea typeface="MS PGothic" charset="-128"/>
              </a:rPr>
              <a:t>returns a result </a:t>
            </a:r>
            <a:r>
              <a:rPr lang="en-US" altLang="en-US" sz="2800">
                <a:ea typeface="MS PGothic" charset="-128"/>
              </a:rPr>
              <a:t>(an integer);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>
                <a:ea typeface="MS PGothic" charset="-128"/>
              </a:rPr>
              <a:t>the </a:t>
            </a:r>
            <a:r>
              <a:rPr lang="en-US" altLang="en-US" sz="2800" i="1">
                <a:ea typeface="MS PGothic" charset="-128"/>
              </a:rPr>
              <a:t>name</a:t>
            </a:r>
            <a:r>
              <a:rPr lang="en-US" altLang="en-US" sz="2800">
                <a:ea typeface="MS PGothic" charset="-128"/>
              </a:rPr>
              <a:t> of the method </a:t>
            </a:r>
            <a:r>
              <a:rPr lang="en-US" altLang="en-US" sz="2800" i="1">
                <a:ea typeface="MS PGothic" charset="-128"/>
              </a:rPr>
              <a:t>(</a:t>
            </a:r>
            <a:r>
              <a:rPr lang="en-US" altLang="en-US" sz="2800" err="1">
                <a:ea typeface="MS PGothic" charset="-128"/>
              </a:rPr>
              <a:t>getPrice</a:t>
            </a:r>
            <a:r>
              <a:rPr lang="en-US" altLang="en-US" sz="2800" i="1">
                <a:ea typeface="MS PGothic" charset="-128"/>
              </a:rPr>
              <a:t>)</a:t>
            </a:r>
            <a:r>
              <a:rPr lang="en-US" altLang="en-US" sz="2800">
                <a:ea typeface="MS PGothic" charset="-128"/>
              </a:rPr>
              <a:t>;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>
                <a:ea typeface="MS PGothic" charset="-128"/>
              </a:rPr>
              <a:t>whether the method takes </a:t>
            </a:r>
            <a:r>
              <a:rPr lang="en-US" altLang="en-US" sz="2800" i="1">
                <a:ea typeface="MS PGothic" charset="-128"/>
              </a:rPr>
              <a:t>parameters </a:t>
            </a:r>
            <a:r>
              <a:rPr lang="en-US" altLang="en-US" sz="2800">
                <a:ea typeface="MS PGothic" charset="-128"/>
              </a:rPr>
              <a:t>(none, in this case).</a:t>
            </a:r>
            <a:br>
              <a:rPr lang="en-US" altLang="en-US" sz="2800">
                <a:ea typeface="MS PGothic" charset="-128"/>
              </a:rPr>
            </a:br>
            <a:endParaRPr lang="en-US" altLang="en-US" sz="2800">
              <a:ea typeface="MS PGothic" charset="-128"/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3200">
                <a:ea typeface="MS PGothic" charset="-128"/>
              </a:rPr>
              <a:t>The body encloses the method'</a:t>
            </a:r>
            <a:r>
              <a:rPr lang="en-US" altLang="ja-JP" sz="3200">
                <a:ea typeface="MS PGothic" charset="-128"/>
              </a:rPr>
              <a:t>s </a:t>
            </a:r>
            <a:r>
              <a:rPr lang="en-US" altLang="ja-JP" sz="3200" i="1">
                <a:ea typeface="MS PGothic" charset="-128"/>
              </a:rPr>
              <a:t>statements</a:t>
            </a:r>
            <a:r>
              <a:rPr lang="en-US" altLang="ja-JP" sz="3200">
                <a:ea typeface="MS PGothic" charset="-128"/>
              </a:rPr>
              <a:t>.</a:t>
            </a:r>
            <a:endParaRPr lang="en-GB" altLang="en-US" sz="4800">
              <a:ea typeface="MS PGothic" charset="-128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40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40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40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40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40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40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40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40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40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40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40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40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40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40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40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440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440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440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7" name="Rectangle 2"/>
          <p:cNvSpPr>
            <a:spLocks noGrp="1" noChangeArrowheads="1"/>
          </p:cNvSpPr>
          <p:nvPr>
            <p:ph type="title"/>
          </p:nvPr>
        </p:nvSpPr>
        <p:spPr>
          <a:xfrm>
            <a:off x="914400" y="359720"/>
            <a:ext cx="10363200" cy="1143000"/>
          </a:xfrm>
        </p:spPr>
        <p:txBody>
          <a:bodyPr/>
          <a:lstStyle/>
          <a:p>
            <a:pPr eaLnBrk="1" hangingPunct="1"/>
            <a:r>
              <a:rPr lang="en-US" altLang="en-US" dirty="0">
                <a:ea typeface="MS PGothic" charset="-128"/>
              </a:rPr>
              <a:t>Getter methods</a:t>
            </a:r>
          </a:p>
        </p:txBody>
      </p:sp>
      <p:sp>
        <p:nvSpPr>
          <p:cNvPr id="45058" name="Footer Placeholder 3"/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endParaRPr lang="en-GB" altLang="en-US" sz="1200">
              <a:solidFill>
                <a:srgbClr val="76807A"/>
              </a:solidFill>
              <a:latin typeface="Arial" charset="0"/>
            </a:endParaRPr>
          </a:p>
        </p:txBody>
      </p:sp>
      <p:sp>
        <p:nvSpPr>
          <p:cNvPr id="45059" name="Text Box 4"/>
          <p:cNvSpPr txBox="1">
            <a:spLocks noChangeArrowheads="1"/>
          </p:cNvSpPr>
          <p:nvPr/>
        </p:nvSpPr>
        <p:spPr bwMode="auto">
          <a:xfrm>
            <a:off x="3825878" y="3203575"/>
            <a:ext cx="4055919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public int </a:t>
            </a:r>
            <a:r>
              <a:rPr lang="en-US" altLang="en-US" sz="2400" dirty="0" err="1">
                <a:solidFill>
                  <a:schemeClr val="tx1"/>
                </a:solidFill>
                <a:latin typeface="Courier New" charset="0"/>
              </a:rPr>
              <a:t>getPrice</a:t>
            </a: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    return price;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45060" name="Text Box 5"/>
          <p:cNvSpPr txBox="1">
            <a:spLocks noChangeArrowheads="1"/>
          </p:cNvSpPr>
          <p:nvPr/>
        </p:nvSpPr>
        <p:spPr bwMode="auto">
          <a:xfrm>
            <a:off x="4862684" y="1411439"/>
            <a:ext cx="3897611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FF0000"/>
                </a:solidFill>
              </a:rPr>
              <a:t>return type – ‘</a:t>
            </a:r>
            <a:r>
              <a:rPr lang="en-US" altLang="en-US" sz="2000" b="0" i="1" dirty="0">
                <a:solidFill>
                  <a:srgbClr val="FF0000"/>
                </a:solidFill>
                <a:latin typeface=""/>
              </a:rPr>
              <a:t>I promise to return something of this type</a:t>
            </a:r>
            <a:r>
              <a:rPr lang="en-US" altLang="en-US" sz="2000" dirty="0">
                <a:solidFill>
                  <a:srgbClr val="FF0000"/>
                </a:solidFill>
              </a:rPr>
              <a:t>’</a:t>
            </a:r>
            <a:endParaRPr lang="en-US" altLang="en-US" sz="2000" b="0" dirty="0">
              <a:solidFill>
                <a:srgbClr val="FF0000"/>
              </a:solidFill>
            </a:endParaRPr>
          </a:p>
        </p:txBody>
      </p:sp>
      <p:sp>
        <p:nvSpPr>
          <p:cNvPr id="45061" name="Text Box 6"/>
          <p:cNvSpPr txBox="1">
            <a:spLocks noChangeArrowheads="1"/>
          </p:cNvSpPr>
          <p:nvPr/>
        </p:nvSpPr>
        <p:spPr bwMode="auto">
          <a:xfrm>
            <a:off x="6528048" y="2489200"/>
            <a:ext cx="373371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method name ('get' something)</a:t>
            </a:r>
          </a:p>
        </p:txBody>
      </p:sp>
      <p:sp>
        <p:nvSpPr>
          <p:cNvPr id="45062" name="Text Box 7"/>
          <p:cNvSpPr txBox="1">
            <a:spLocks noChangeArrowheads="1"/>
          </p:cNvSpPr>
          <p:nvPr/>
        </p:nvSpPr>
        <p:spPr bwMode="auto">
          <a:xfrm>
            <a:off x="8299450" y="2871791"/>
            <a:ext cx="2063750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parameter list (empty)</a:t>
            </a:r>
          </a:p>
        </p:txBody>
      </p:sp>
      <p:sp>
        <p:nvSpPr>
          <p:cNvPr id="45063" name="Oval 8"/>
          <p:cNvSpPr>
            <a:spLocks noChangeArrowheads="1"/>
          </p:cNvSpPr>
          <p:nvPr/>
        </p:nvSpPr>
        <p:spPr bwMode="auto">
          <a:xfrm>
            <a:off x="3825878" y="3581400"/>
            <a:ext cx="365125" cy="1371600"/>
          </a:xfrm>
          <a:prstGeom prst="ellipse">
            <a:avLst/>
          </a:prstGeom>
          <a:noFill/>
          <a:ln w="9525">
            <a:solidFill>
              <a:srgbClr val="A57133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endParaRPr lang="en-GB" altLang="en-US"/>
          </a:p>
        </p:txBody>
      </p:sp>
      <p:sp>
        <p:nvSpPr>
          <p:cNvPr id="45064" name="Text Box 9"/>
          <p:cNvSpPr txBox="1">
            <a:spLocks noChangeArrowheads="1"/>
          </p:cNvSpPr>
          <p:nvPr/>
        </p:nvSpPr>
        <p:spPr bwMode="auto">
          <a:xfrm>
            <a:off x="4368801" y="5548692"/>
            <a:ext cx="4552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start and end of method body (block)</a:t>
            </a:r>
          </a:p>
        </p:txBody>
      </p:sp>
      <p:sp>
        <p:nvSpPr>
          <p:cNvPr id="45065" name="Text Box 10"/>
          <p:cNvSpPr txBox="1">
            <a:spLocks noChangeArrowheads="1"/>
          </p:cNvSpPr>
          <p:nvPr/>
        </p:nvSpPr>
        <p:spPr bwMode="auto">
          <a:xfrm>
            <a:off x="8159750" y="3937003"/>
            <a:ext cx="3560590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FF0000"/>
                </a:solidFill>
              </a:rPr>
              <a:t>return statement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rgbClr val="FF0000"/>
                </a:solidFill>
              </a:rPr>
              <a:t>‘this is the value and it’s the 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rgbClr val="FF0000"/>
                </a:solidFill>
              </a:rPr>
              <a:t>type I promised’</a:t>
            </a:r>
            <a:endParaRPr lang="en-US" altLang="en-US" sz="2000" b="0" dirty="0">
              <a:solidFill>
                <a:srgbClr val="FF0000"/>
              </a:solidFill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2000" b="0" dirty="0">
              <a:solidFill>
                <a:srgbClr val="A57133"/>
              </a:solidFill>
            </a:endParaRPr>
          </a:p>
        </p:txBody>
      </p:sp>
      <p:sp>
        <p:nvSpPr>
          <p:cNvPr id="45066" name="Line 11"/>
          <p:cNvSpPr>
            <a:spLocks noChangeShapeType="1"/>
          </p:cNvSpPr>
          <p:nvPr/>
        </p:nvSpPr>
        <p:spPr bwMode="auto">
          <a:xfrm flipH="1" flipV="1">
            <a:off x="4149724" y="4776788"/>
            <a:ext cx="712959" cy="77190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5067" name="Line 12"/>
          <p:cNvSpPr>
            <a:spLocks noChangeShapeType="1"/>
          </p:cNvSpPr>
          <p:nvPr/>
        </p:nvSpPr>
        <p:spPr bwMode="auto">
          <a:xfrm>
            <a:off x="5490593" y="2055813"/>
            <a:ext cx="24383" cy="120491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5068" name="Line 13"/>
          <p:cNvSpPr>
            <a:spLocks noChangeShapeType="1"/>
          </p:cNvSpPr>
          <p:nvPr/>
        </p:nvSpPr>
        <p:spPr bwMode="auto">
          <a:xfrm flipH="1">
            <a:off x="6807200" y="2819400"/>
            <a:ext cx="6858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5069" name="Line 14"/>
          <p:cNvSpPr>
            <a:spLocks noChangeShapeType="1"/>
          </p:cNvSpPr>
          <p:nvPr/>
        </p:nvSpPr>
        <p:spPr bwMode="auto">
          <a:xfrm flipH="1">
            <a:off x="7705725" y="3124200"/>
            <a:ext cx="60960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5070" name="Line 15"/>
          <p:cNvSpPr>
            <a:spLocks noChangeShapeType="1"/>
          </p:cNvSpPr>
          <p:nvPr/>
        </p:nvSpPr>
        <p:spPr bwMode="auto">
          <a:xfrm flipH="1">
            <a:off x="7108825" y="4164013"/>
            <a:ext cx="1066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5071" name="Text Box 16"/>
          <p:cNvSpPr txBox="1">
            <a:spLocks noChangeArrowheads="1"/>
          </p:cNvSpPr>
          <p:nvPr/>
        </p:nvSpPr>
        <p:spPr bwMode="auto">
          <a:xfrm>
            <a:off x="2478091" y="2489200"/>
            <a:ext cx="220605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45072" name="Line 17"/>
          <p:cNvSpPr>
            <a:spLocks noChangeShapeType="1"/>
          </p:cNvSpPr>
          <p:nvPr/>
        </p:nvSpPr>
        <p:spPr bwMode="auto">
          <a:xfrm>
            <a:off x="3124203" y="2895600"/>
            <a:ext cx="1006475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50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50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50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50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50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50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50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50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50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50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50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50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50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50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450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450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450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450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450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450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50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50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450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450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60" grpId="0"/>
      <p:bldP spid="45061" grpId="0"/>
      <p:bldP spid="45062" grpId="0"/>
      <p:bldP spid="45063" grpId="0" animBg="1"/>
      <p:bldP spid="45064" grpId="0"/>
      <p:bldP spid="45065" grpId="0"/>
      <p:bldP spid="45067" grpId="0" animBg="1"/>
      <p:bldP spid="45068" grpId="0" animBg="1"/>
      <p:bldP spid="45069" grpId="0" animBg="1"/>
      <p:bldP spid="45070" grpId="0" animBg="1"/>
      <p:bldP spid="45071" grpId="0"/>
      <p:bldP spid="4507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GB" altLang="en-US"/>
              <a:t>Accessor methods</a:t>
            </a:r>
          </a:p>
        </p:txBody>
      </p:sp>
      <p:pic>
        <p:nvPicPr>
          <p:cNvPr id="2" name="Picture 1" descr="A green arrow pointing to the left&#10;&#10;AI-generated content may be incorrect.">
            <a:extLst>
              <a:ext uri="{FF2B5EF4-FFF2-40B4-BE49-F238E27FC236}">
                <a16:creationId xmlns:a16="http://schemas.microsoft.com/office/drawing/2014/main" id="{5D9AC701-0FF7-435C-FA33-92DBEAE7DB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376" y="1758516"/>
            <a:ext cx="3340967" cy="3340967"/>
          </a:xfrm>
          <a:prstGeom prst="rect">
            <a:avLst/>
          </a:prstGeom>
          <a:noFill/>
        </p:spPr>
      </p:pic>
      <p:sp>
        <p:nvSpPr>
          <p:cNvPr id="47106" name="Rectangle 3"/>
          <p:cNvSpPr>
            <a:spLocks noGrp="1" noChangeArrowheads="1"/>
          </p:cNvSpPr>
          <p:nvPr>
            <p:ph sz="half" idx="2"/>
          </p:nvPr>
        </p:nvSpPr>
        <p:spPr>
          <a:xfrm>
            <a:off x="4655840" y="1600201"/>
            <a:ext cx="6926560" cy="4525963"/>
          </a:xfrm>
        </p:spPr>
        <p:txBody>
          <a:bodyPr>
            <a:normAutofit/>
          </a:bodyPr>
          <a:lstStyle/>
          <a:p>
            <a:pPr>
              <a:lnSpc>
                <a:spcPct val="70000"/>
              </a:lnSpc>
            </a:pPr>
            <a:r>
              <a:rPr lang="en-GB" altLang="en-US" sz="2600" dirty="0"/>
              <a:t>An accessor method always has a return type that is not void.</a:t>
            </a:r>
          </a:p>
          <a:p>
            <a:pPr>
              <a:lnSpc>
                <a:spcPct val="70000"/>
              </a:lnSpc>
            </a:pPr>
            <a:endParaRPr lang="en-GB" altLang="en-US" sz="2600" dirty="0"/>
          </a:p>
          <a:p>
            <a:pPr>
              <a:lnSpc>
                <a:spcPct val="70000"/>
              </a:lnSpc>
            </a:pPr>
            <a:r>
              <a:rPr lang="en-GB" altLang="en-US" sz="2600" dirty="0"/>
              <a:t>An accessor method returns a value (result) of the type given in the header.</a:t>
            </a:r>
          </a:p>
          <a:p>
            <a:pPr>
              <a:lnSpc>
                <a:spcPct val="70000"/>
              </a:lnSpc>
            </a:pPr>
            <a:endParaRPr lang="en-GB" altLang="en-US" sz="2600" dirty="0"/>
          </a:p>
          <a:p>
            <a:pPr>
              <a:lnSpc>
                <a:spcPct val="70000"/>
              </a:lnSpc>
            </a:pPr>
            <a:r>
              <a:rPr lang="en-GB" altLang="en-US" sz="2600" dirty="0"/>
              <a:t>The method will contain a return statement to return the value.</a:t>
            </a:r>
          </a:p>
          <a:p>
            <a:pPr>
              <a:lnSpc>
                <a:spcPct val="70000"/>
              </a:lnSpc>
            </a:pPr>
            <a:endParaRPr lang="en-GB" altLang="en-US" sz="2600" dirty="0"/>
          </a:p>
          <a:p>
            <a:pPr>
              <a:lnSpc>
                <a:spcPct val="70000"/>
              </a:lnSpc>
            </a:pPr>
            <a:r>
              <a:rPr lang="en-GB" altLang="en-US" sz="2600" dirty="0"/>
              <a:t>NB: Returning is not printing!</a:t>
            </a:r>
          </a:p>
          <a:p>
            <a:pPr>
              <a:lnSpc>
                <a:spcPct val="70000"/>
              </a:lnSpc>
            </a:pPr>
            <a:endParaRPr lang="en-GB" altLang="en-US" sz="2600" dirty="0"/>
          </a:p>
          <a:p>
            <a:pPr>
              <a:lnSpc>
                <a:spcPct val="70000"/>
              </a:lnSpc>
            </a:pPr>
            <a:r>
              <a:rPr lang="en-GB" altLang="en-US" sz="2600" dirty="0"/>
              <a:t>It presents a value to the </a:t>
            </a:r>
            <a:r>
              <a:rPr lang="en-GB" altLang="en-US" dirty="0"/>
              <a:t>calling method. </a:t>
            </a:r>
          </a:p>
        </p:txBody>
      </p:sp>
      <p:sp>
        <p:nvSpPr>
          <p:cNvPr id="47111" name="Footer Placeholder 4">
            <a:extLst>
              <a:ext uri="{FF2B5EF4-FFF2-40B4-BE49-F238E27FC236}">
                <a16:creationId xmlns:a16="http://schemas.microsoft.com/office/drawing/2014/main" id="{5B7683AF-0172-93CD-98CD-6BE07B9EC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7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7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7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7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7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71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710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710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710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710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106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Test – syntax errors</a:t>
            </a:r>
          </a:p>
        </p:txBody>
      </p:sp>
      <p:sp>
        <p:nvSpPr>
          <p:cNvPr id="66563" name="Rectangle 3"/>
          <p:cNvSpPr>
            <a:spLocks noGrp="1" noChangeArrowheads="1"/>
          </p:cNvSpPr>
          <p:nvPr>
            <p:ph idx="1"/>
          </p:nvPr>
        </p:nvSpPr>
        <p:spPr>
          <a:xfrm>
            <a:off x="6273255" y="1988840"/>
            <a:ext cx="4719289" cy="2880320"/>
          </a:xfrm>
        </p:spPr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>
              <a:defRPr/>
            </a:pPr>
            <a:r>
              <a:rPr lang="en-US">
                <a:ea typeface="+mn-ea"/>
                <a:cs typeface="+mn-cs"/>
              </a:rPr>
              <a:t>What is wrong here?</a:t>
            </a:r>
            <a:br>
              <a:rPr lang="en-US">
                <a:ea typeface="+mn-ea"/>
                <a:cs typeface="+mn-cs"/>
              </a:rPr>
            </a:br>
            <a:r>
              <a:rPr lang="en-US">
                <a:ea typeface="+mn-ea"/>
                <a:cs typeface="+mn-cs"/>
              </a:rPr>
              <a:t>There are five errors.</a:t>
            </a:r>
          </a:p>
        </p:txBody>
      </p:sp>
      <p:sp>
        <p:nvSpPr>
          <p:cNvPr id="48132" name="Rectangle 4"/>
          <p:cNvSpPr>
            <a:spLocks/>
          </p:cNvSpPr>
          <p:nvPr/>
        </p:nvSpPr>
        <p:spPr bwMode="auto">
          <a:xfrm>
            <a:off x="1199456" y="1988840"/>
            <a:ext cx="6048672" cy="40010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40639" bIns="0">
            <a:spAutoFit/>
          </a:bodyPr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public class </a:t>
            </a:r>
            <a:r>
              <a:rPr lang="en-US" altLang="en-US" sz="2000" err="1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CokeMachine</a:t>
            </a:r>
            <a:endParaRPr lang="en-US" altLang="en-US" sz="2000">
              <a:solidFill>
                <a:schemeClr val="tx1"/>
              </a:solidFill>
              <a:latin typeface="Courier New Bold" charset="0"/>
              <a:sym typeface="Courier New Bold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private price;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2000">
              <a:solidFill>
                <a:schemeClr val="tx1"/>
              </a:solidFill>
              <a:latin typeface="Courier New Bold" charset="0"/>
              <a:sym typeface="Courier New Bold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public </a:t>
            </a:r>
            <a:r>
              <a:rPr lang="en-US" altLang="en-US" sz="2000" err="1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CokeMachine</a:t>
            </a: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   price = 300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2000">
              <a:solidFill>
                <a:schemeClr val="tx1"/>
              </a:solidFill>
              <a:latin typeface="Courier New Bold" charset="0"/>
              <a:sym typeface="Courier New Bold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public int </a:t>
            </a:r>
            <a:r>
              <a:rPr lang="en-US" altLang="en-US" sz="2000" err="1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getPrice</a:t>
            </a:r>
            <a:endParaRPr lang="en-US" altLang="en-US" sz="2000">
              <a:solidFill>
                <a:schemeClr val="tx1"/>
              </a:solidFill>
              <a:latin typeface="Courier New Bold" charset="0"/>
              <a:sym typeface="Courier New Bold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   return Price;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}</a:t>
            </a: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1A4A3-2407-3BE9-6B46-BD9F7EAEF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>
            <a:extLst>
              <a:ext uri="{FF2B5EF4-FFF2-40B4-BE49-F238E27FC236}">
                <a16:creationId xmlns:a16="http://schemas.microsoft.com/office/drawing/2014/main" id="{43641ED0-6141-861A-EC5D-2A88975D715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Test</a:t>
            </a:r>
          </a:p>
        </p:txBody>
      </p:sp>
      <p:sp>
        <p:nvSpPr>
          <p:cNvPr id="66563" name="Rectangle 3">
            <a:extLst>
              <a:ext uri="{FF2B5EF4-FFF2-40B4-BE49-F238E27FC236}">
                <a16:creationId xmlns:a16="http://schemas.microsoft.com/office/drawing/2014/main" id="{03E2B7DE-9F83-28D7-A21B-168D77556B5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73255" y="1988840"/>
            <a:ext cx="4719289" cy="2880320"/>
          </a:xfrm>
        </p:spPr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>
              <a:defRPr/>
            </a:pPr>
            <a:r>
              <a:rPr lang="en-US">
                <a:ea typeface="+mn-ea"/>
                <a:cs typeface="+mn-cs"/>
              </a:rPr>
              <a:t>What is wrong here?</a:t>
            </a:r>
            <a:br>
              <a:rPr lang="en-US">
                <a:ea typeface="+mn-ea"/>
                <a:cs typeface="+mn-cs"/>
              </a:rPr>
            </a:br>
            <a:r>
              <a:rPr lang="en-US">
                <a:ea typeface="+mn-ea"/>
                <a:cs typeface="+mn-cs"/>
              </a:rPr>
              <a:t>There are five errors.</a:t>
            </a:r>
          </a:p>
        </p:txBody>
      </p:sp>
      <p:sp>
        <p:nvSpPr>
          <p:cNvPr id="48132" name="Rectangle 4">
            <a:extLst>
              <a:ext uri="{FF2B5EF4-FFF2-40B4-BE49-F238E27FC236}">
                <a16:creationId xmlns:a16="http://schemas.microsoft.com/office/drawing/2014/main" id="{5413393E-BF41-158D-A90C-B431BF1870AA}"/>
              </a:ext>
            </a:extLst>
          </p:cNvPr>
          <p:cNvSpPr>
            <a:spLocks/>
          </p:cNvSpPr>
          <p:nvPr/>
        </p:nvSpPr>
        <p:spPr bwMode="auto">
          <a:xfrm>
            <a:off x="1199456" y="1988840"/>
            <a:ext cx="6048672" cy="40010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40639" bIns="0">
            <a:spAutoFit/>
          </a:bodyPr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public class </a:t>
            </a:r>
            <a:r>
              <a:rPr lang="en-US" altLang="en-US" sz="2000" err="1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CokeMachine</a:t>
            </a:r>
            <a:endParaRPr lang="en-US" altLang="en-US" sz="2000">
              <a:solidFill>
                <a:schemeClr val="tx1"/>
              </a:solidFill>
              <a:latin typeface="Courier New Bold" charset="0"/>
              <a:sym typeface="Courier New Bold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private price;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2000">
              <a:solidFill>
                <a:schemeClr val="tx1"/>
              </a:solidFill>
              <a:latin typeface="Courier New Bold" charset="0"/>
              <a:sym typeface="Courier New Bold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public </a:t>
            </a:r>
            <a:r>
              <a:rPr lang="en-US" altLang="en-US" sz="2000" err="1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CokeMachine</a:t>
            </a: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   price = 300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}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en-US" altLang="en-US" sz="2000">
              <a:solidFill>
                <a:schemeClr val="tx1"/>
              </a:solidFill>
              <a:latin typeface="Courier New Bold" charset="0"/>
              <a:sym typeface="Courier New Bold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public int </a:t>
            </a:r>
            <a:r>
              <a:rPr lang="en-US" altLang="en-US" sz="2000" err="1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getPrice</a:t>
            </a:r>
            <a:endParaRPr lang="en-US" altLang="en-US" sz="2000">
              <a:solidFill>
                <a:schemeClr val="tx1"/>
              </a:solidFill>
              <a:latin typeface="Courier New Bold" charset="0"/>
              <a:sym typeface="Courier New Bold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   return Price;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>
                <a:solidFill>
                  <a:schemeClr val="tx1"/>
                </a:solidFill>
                <a:latin typeface="Courier New Bold" charset="0"/>
                <a:sym typeface="Courier New Bold" charset="0"/>
              </a:rPr>
              <a:t>    }</a:t>
            </a:r>
          </a:p>
        </p:txBody>
      </p:sp>
      <p:sp>
        <p:nvSpPr>
          <p:cNvPr id="2" name="Oval 8">
            <a:extLst>
              <a:ext uri="{FF2B5EF4-FFF2-40B4-BE49-F238E27FC236}">
                <a16:creationId xmlns:a16="http://schemas.microsoft.com/office/drawing/2014/main" id="{8B52A5C5-556C-7523-7CAC-2F40311E07E2}"/>
              </a:ext>
            </a:extLst>
          </p:cNvPr>
          <p:cNvSpPr>
            <a:spLocks/>
          </p:cNvSpPr>
          <p:nvPr/>
        </p:nvSpPr>
        <p:spPr bwMode="auto">
          <a:xfrm>
            <a:off x="2528839" y="2204864"/>
            <a:ext cx="939800" cy="711200"/>
          </a:xfrm>
          <a:prstGeom prst="ellipse">
            <a:avLst/>
          </a:prstGeom>
          <a:noFill/>
          <a:ln w="50800">
            <a:solidFill>
              <a:srgbClr val="BA2D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40639" bIns="0"/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b="0">
                <a:solidFill>
                  <a:srgbClr val="BA2D00"/>
                </a:solidFill>
                <a:latin typeface="Courier New Bold" charset="0"/>
                <a:sym typeface="Courier New Bold" charset="0"/>
              </a:rPr>
              <a:t>int</a:t>
            </a:r>
          </a:p>
        </p:txBody>
      </p:sp>
      <p:sp>
        <p:nvSpPr>
          <p:cNvPr id="3" name="Oval 6">
            <a:extLst>
              <a:ext uri="{FF2B5EF4-FFF2-40B4-BE49-F238E27FC236}">
                <a16:creationId xmlns:a16="http://schemas.microsoft.com/office/drawing/2014/main" id="{E1A88179-FACC-48C3-D357-25EE78D40277}"/>
              </a:ext>
            </a:extLst>
          </p:cNvPr>
          <p:cNvSpPr>
            <a:spLocks/>
          </p:cNvSpPr>
          <p:nvPr/>
        </p:nvSpPr>
        <p:spPr bwMode="auto">
          <a:xfrm>
            <a:off x="3753892" y="3633787"/>
            <a:ext cx="939800" cy="711200"/>
          </a:xfrm>
          <a:prstGeom prst="ellipse">
            <a:avLst/>
          </a:prstGeom>
          <a:noFill/>
          <a:ln w="50800">
            <a:solidFill>
              <a:srgbClr val="BA2D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40639" bIns="0"/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b="0">
                <a:solidFill>
                  <a:srgbClr val="BA2D00"/>
                </a:solidFill>
                <a:latin typeface="Courier New Bold" charset="0"/>
                <a:sym typeface="Courier New Bold" charset="0"/>
              </a:rPr>
              <a:t>;</a:t>
            </a:r>
          </a:p>
        </p:txBody>
      </p:sp>
      <p:sp>
        <p:nvSpPr>
          <p:cNvPr id="4" name="Oval 7">
            <a:extLst>
              <a:ext uri="{FF2B5EF4-FFF2-40B4-BE49-F238E27FC236}">
                <a16:creationId xmlns:a16="http://schemas.microsoft.com/office/drawing/2014/main" id="{0B678439-3040-9479-99A8-1AA1B8E4B568}"/>
              </a:ext>
            </a:extLst>
          </p:cNvPr>
          <p:cNvSpPr>
            <a:spLocks/>
          </p:cNvSpPr>
          <p:nvPr/>
        </p:nvSpPr>
        <p:spPr bwMode="auto">
          <a:xfrm>
            <a:off x="4543674" y="4581128"/>
            <a:ext cx="939800" cy="711200"/>
          </a:xfrm>
          <a:prstGeom prst="ellipse">
            <a:avLst/>
          </a:prstGeom>
          <a:noFill/>
          <a:ln w="50800">
            <a:solidFill>
              <a:srgbClr val="BA2D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40639" bIns="0"/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b="0">
                <a:solidFill>
                  <a:srgbClr val="BA2D00"/>
                </a:solidFill>
                <a:latin typeface="Courier New Bold" charset="0"/>
                <a:sym typeface="Courier New Bold" charset="0"/>
              </a:rPr>
              <a:t>()</a:t>
            </a:r>
          </a:p>
        </p:txBody>
      </p:sp>
      <p:sp>
        <p:nvSpPr>
          <p:cNvPr id="5" name="Oval 9">
            <a:extLst>
              <a:ext uri="{FF2B5EF4-FFF2-40B4-BE49-F238E27FC236}">
                <a16:creationId xmlns:a16="http://schemas.microsoft.com/office/drawing/2014/main" id="{9A4784F0-016C-8751-A114-575510535936}"/>
              </a:ext>
            </a:extLst>
          </p:cNvPr>
          <p:cNvSpPr>
            <a:spLocks/>
          </p:cNvSpPr>
          <p:nvPr/>
        </p:nvSpPr>
        <p:spPr bwMode="auto">
          <a:xfrm>
            <a:off x="2998739" y="5292328"/>
            <a:ext cx="939800" cy="711200"/>
          </a:xfrm>
          <a:prstGeom prst="ellipse">
            <a:avLst/>
          </a:prstGeom>
          <a:noFill/>
          <a:ln w="50800">
            <a:solidFill>
              <a:srgbClr val="BA2D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40639" bIns="0"/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 b="0">
                <a:solidFill>
                  <a:srgbClr val="BA2D00"/>
                </a:solidFill>
                <a:latin typeface="Courier New Bold" charset="0"/>
                <a:sym typeface="Courier New Bold" charset="0"/>
              </a:rPr>
              <a:t>-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8813118-DF7C-2207-7768-691B09CFE71B}"/>
              </a:ext>
            </a:extLst>
          </p:cNvPr>
          <p:cNvSpPr>
            <a:spLocks/>
          </p:cNvSpPr>
          <p:nvPr/>
        </p:nvSpPr>
        <p:spPr bwMode="auto">
          <a:xfrm>
            <a:off x="695400" y="5877272"/>
            <a:ext cx="1143000" cy="711200"/>
          </a:xfrm>
          <a:prstGeom prst="ellipse">
            <a:avLst/>
          </a:prstGeom>
          <a:noFill/>
          <a:ln w="50800">
            <a:solidFill>
              <a:srgbClr val="BA2D00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40639" bIns="0"/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rgbClr val="BA2D00"/>
                </a:solidFill>
                <a:latin typeface="Courier New Bold" charset="0"/>
                <a:sym typeface="Courier New Bold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0590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 autoUpdateAnimBg="0"/>
      <p:bldP spid="3" grpId="0" animBg="1" autoUpdateAnimBg="0"/>
      <p:bldP spid="4" grpId="0" animBg="1" autoUpdateAnimBg="0"/>
      <p:bldP spid="5" grpId="0" animBg="1" autoUpdateAnimBg="0"/>
      <p:bldP spid="6" grpId="0" animBg="1" autoUpdateAnimBg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pPr eaLnBrk="1" hangingPunct="1">
              <a:defRPr/>
            </a:pPr>
            <a:r>
              <a:rPr lang="en-US"/>
              <a:t>Mutator methods</a:t>
            </a:r>
          </a:p>
        </p:txBody>
      </p:sp>
      <p:pic>
        <p:nvPicPr>
          <p:cNvPr id="3" name="Picture 2" descr="A green arrow pointing to a black background&#10;&#10;AI-generated content may be incorrect.">
            <a:extLst>
              <a:ext uri="{FF2B5EF4-FFF2-40B4-BE49-F238E27FC236}">
                <a16:creationId xmlns:a16="http://schemas.microsoft.com/office/drawing/2014/main" id="{763A71DE-C613-9CD5-5875-8F18893389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58516"/>
            <a:ext cx="3340967" cy="3340967"/>
          </a:xfrm>
          <a:prstGeom prst="rect">
            <a:avLst/>
          </a:prstGeom>
          <a:noFill/>
        </p:spPr>
      </p:pic>
      <p:sp>
        <p:nvSpPr>
          <p:cNvPr id="52226" name="Rectangle 3"/>
          <p:cNvSpPr>
            <a:spLocks noGrp="1" noChangeArrowheads="1"/>
          </p:cNvSpPr>
          <p:nvPr>
            <p:ph sz="half" idx="2"/>
          </p:nvPr>
        </p:nvSpPr>
        <p:spPr>
          <a:xfrm>
            <a:off x="4172818" y="1599655"/>
            <a:ext cx="7251774" cy="4637657"/>
          </a:xfrm>
        </p:spPr>
        <p:txBody>
          <a:bodyPr>
            <a:normAutofit fontScale="92500" lnSpcReduction="20000"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en-US" dirty="0"/>
              <a:t>Have a similar method structure: header and body.</a:t>
            </a:r>
          </a:p>
          <a:p>
            <a:pPr marL="0" indent="0" eaLnBrk="1" hangingPunct="1">
              <a:lnSpc>
                <a:spcPct val="90000"/>
              </a:lnSpc>
              <a:buNone/>
            </a:pPr>
            <a:endParaRPr lang="en-US" altLang="en-US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Used to </a:t>
            </a:r>
            <a:r>
              <a:rPr lang="en-US" altLang="en-US" i="1" dirty="0"/>
              <a:t>mutate</a:t>
            </a:r>
            <a:r>
              <a:rPr lang="en-US" altLang="en-US" dirty="0"/>
              <a:t> (i.e., change) an object</a:t>
            </a:r>
            <a:r>
              <a:rPr lang="en-IE" altLang="en-US" dirty="0"/>
              <a:t>’</a:t>
            </a:r>
            <a:r>
              <a:rPr lang="en-US" altLang="ja-JP" dirty="0"/>
              <a:t>s state.</a:t>
            </a:r>
          </a:p>
          <a:p>
            <a:pPr marL="0" indent="0" eaLnBrk="1" hangingPunct="1">
              <a:lnSpc>
                <a:spcPct val="90000"/>
              </a:lnSpc>
              <a:buNone/>
            </a:pPr>
            <a:endParaRPr lang="en-US" altLang="ja-JP" dirty="0"/>
          </a:p>
          <a:p>
            <a:pPr eaLnBrk="1" hangingPunct="1">
              <a:lnSpc>
                <a:spcPct val="90000"/>
              </a:lnSpc>
            </a:pPr>
            <a:r>
              <a:rPr lang="en-US" altLang="en-US" dirty="0"/>
              <a:t>Achieved through changing the value of one or more fields.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/>
              <a:t>They typically contain one or more assignment statements.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en-US" sz="2800" dirty="0"/>
              <a:t>Often receive parameters.</a:t>
            </a:r>
          </a:p>
          <a:p>
            <a:pPr marL="457200" lvl="1" indent="0" eaLnBrk="1" hangingPunct="1">
              <a:lnSpc>
                <a:spcPct val="90000"/>
              </a:lnSpc>
              <a:buNone/>
            </a:pPr>
            <a:endParaRPr lang="en-US" altLang="en-US" sz="2800" dirty="0"/>
          </a:p>
          <a:p>
            <a:pPr>
              <a:lnSpc>
                <a:spcPct val="90000"/>
              </a:lnSpc>
            </a:pPr>
            <a:r>
              <a:rPr lang="en-US" altLang="en-US" dirty="0"/>
              <a:t>The most basic mutator methods are 'setter' methods.</a:t>
            </a:r>
          </a:p>
        </p:txBody>
      </p:sp>
      <p:sp>
        <p:nvSpPr>
          <p:cNvPr id="52231" name="Footer Placeholder 4">
            <a:extLst>
              <a:ext uri="{FF2B5EF4-FFF2-40B4-BE49-F238E27FC236}">
                <a16:creationId xmlns:a16="http://schemas.microsoft.com/office/drawing/2014/main" id="{BA0666CA-A203-E121-CE99-A1FB9C307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2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2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2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2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2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22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2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22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2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22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2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22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6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>
                <a:ea typeface="MS PGothic" charset="-128"/>
              </a:rPr>
              <a:t>setter methods</a:t>
            </a:r>
          </a:p>
        </p:txBody>
      </p:sp>
      <p:sp>
        <p:nvSpPr>
          <p:cNvPr id="56322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altLang="en-US">
                <a:ea typeface="MS PGothic" charset="-128"/>
              </a:rPr>
              <a:t>Fields often have dedicated </a:t>
            </a:r>
            <a:r>
              <a:rPr lang="en-GB" altLang="en-US" b="1">
                <a:latin typeface="Courier New" charset="0"/>
                <a:ea typeface="MS PGothic" charset="-128"/>
              </a:rPr>
              <a:t>set</a:t>
            </a:r>
            <a:r>
              <a:rPr lang="en-GB" altLang="en-US">
                <a:ea typeface="MS PGothic" charset="-128"/>
              </a:rPr>
              <a:t> mutator methods.</a:t>
            </a:r>
          </a:p>
          <a:p>
            <a:pPr>
              <a:lnSpc>
                <a:spcPct val="90000"/>
              </a:lnSpc>
            </a:pPr>
            <a:endParaRPr lang="en-GB" altLang="en-US">
              <a:ea typeface="MS PGothic" charset="-128"/>
            </a:endParaRPr>
          </a:p>
          <a:p>
            <a:pPr>
              <a:lnSpc>
                <a:spcPct val="90000"/>
              </a:lnSpc>
            </a:pPr>
            <a:r>
              <a:rPr lang="en-GB" altLang="en-US">
                <a:ea typeface="MS PGothic" charset="-128"/>
              </a:rPr>
              <a:t>These have a simple, distinctive form:</a:t>
            </a:r>
          </a:p>
          <a:p>
            <a:pPr lvl="1">
              <a:lnSpc>
                <a:spcPct val="90000"/>
              </a:lnSpc>
            </a:pPr>
            <a:r>
              <a:rPr lang="en-GB" altLang="en-US" b="1">
                <a:latin typeface="Courier New" charset="0"/>
                <a:ea typeface="MS PGothic" charset="-128"/>
              </a:rPr>
              <a:t>void</a:t>
            </a:r>
            <a:r>
              <a:rPr lang="en-GB" altLang="en-US">
                <a:ea typeface="MS PGothic" charset="-128"/>
              </a:rPr>
              <a:t> return type</a:t>
            </a:r>
          </a:p>
          <a:p>
            <a:pPr lvl="1">
              <a:lnSpc>
                <a:spcPct val="90000"/>
              </a:lnSpc>
            </a:pPr>
            <a:r>
              <a:rPr lang="en-GB" altLang="en-US">
                <a:ea typeface="MS PGothic" charset="-128"/>
              </a:rPr>
              <a:t>method name related to the field name</a:t>
            </a:r>
          </a:p>
          <a:p>
            <a:pPr lvl="1">
              <a:lnSpc>
                <a:spcPct val="90000"/>
              </a:lnSpc>
            </a:pPr>
            <a:r>
              <a:rPr lang="en-GB" altLang="en-US">
                <a:ea typeface="MS PGothic" charset="-128"/>
              </a:rPr>
              <a:t>single formal parameter, with the same type as the type of the field</a:t>
            </a:r>
          </a:p>
          <a:p>
            <a:pPr lvl="1">
              <a:lnSpc>
                <a:spcPct val="90000"/>
              </a:lnSpc>
            </a:pPr>
            <a:r>
              <a:rPr lang="en-GB" altLang="en-US">
                <a:ea typeface="MS PGothic" charset="-128"/>
              </a:rPr>
              <a:t>a single assignment statement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63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63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3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3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63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63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63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63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63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63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632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632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2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5" name="Rectangle 2"/>
          <p:cNvSpPr>
            <a:spLocks noGrp="1" noChangeArrowheads="1"/>
          </p:cNvSpPr>
          <p:nvPr>
            <p:ph type="title"/>
          </p:nvPr>
        </p:nvSpPr>
        <p:spPr>
          <a:xfrm>
            <a:off x="722373" y="333979"/>
            <a:ext cx="10747254" cy="1143001"/>
          </a:xfrm>
        </p:spPr>
        <p:txBody>
          <a:bodyPr/>
          <a:lstStyle/>
          <a:p>
            <a:r>
              <a:rPr lang="en-GB" altLang="en-US">
                <a:ea typeface="MS PGothic" charset="-128"/>
              </a:rPr>
              <a:t>A typical </a:t>
            </a:r>
            <a:r>
              <a:rPr lang="en-GB" altLang="en-US" b="1">
                <a:latin typeface="Courier New" charset="0"/>
                <a:ea typeface="MS PGothic" charset="-128"/>
              </a:rPr>
              <a:t>set</a:t>
            </a:r>
            <a:r>
              <a:rPr lang="en-GB" altLang="en-US">
                <a:ea typeface="MS PGothic" charset="-128"/>
              </a:rPr>
              <a:t> method</a:t>
            </a:r>
          </a:p>
        </p:txBody>
      </p:sp>
      <p:sp>
        <p:nvSpPr>
          <p:cNvPr id="57346" name="Text Box 4"/>
          <p:cNvSpPr txBox="1">
            <a:spLocks noChangeArrowheads="1"/>
          </p:cNvSpPr>
          <p:nvPr/>
        </p:nvSpPr>
        <p:spPr bwMode="auto">
          <a:xfrm>
            <a:off x="3071816" y="1844675"/>
            <a:ext cx="6636753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dirty="0">
                <a:solidFill>
                  <a:schemeClr val="tx1"/>
                </a:solidFill>
                <a:latin typeface="Courier New" charset="0"/>
              </a:rPr>
              <a:t>public void </a:t>
            </a:r>
            <a:r>
              <a:rPr lang="en-GB" altLang="en-US" dirty="0" err="1">
                <a:solidFill>
                  <a:schemeClr val="tx1"/>
                </a:solidFill>
                <a:latin typeface="Courier New" charset="0"/>
              </a:rPr>
              <a:t>setDiscount</a:t>
            </a:r>
            <a:r>
              <a:rPr lang="en-GB" altLang="en-US" dirty="0">
                <a:solidFill>
                  <a:schemeClr val="tx1"/>
                </a:solidFill>
                <a:latin typeface="Courier New" charset="0"/>
              </a:rPr>
              <a:t>(int amount)</a:t>
            </a:r>
          </a:p>
          <a:p>
            <a:pPr algn="l"/>
            <a:r>
              <a:rPr lang="en-GB" altLang="en-US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algn="l"/>
            <a:r>
              <a:rPr lang="en-GB" altLang="en-US" dirty="0">
                <a:solidFill>
                  <a:schemeClr val="tx1"/>
                </a:solidFill>
                <a:latin typeface="Courier New" charset="0"/>
              </a:rPr>
              <a:t>    discount = amount;</a:t>
            </a:r>
          </a:p>
          <a:p>
            <a:pPr algn="l"/>
            <a:r>
              <a:rPr lang="en-GB" altLang="en-US" dirty="0">
                <a:solidFill>
                  <a:schemeClr val="tx1"/>
                </a:solidFill>
                <a:latin typeface="Courier New" charset="0"/>
              </a:rPr>
              <a:t>}</a:t>
            </a:r>
          </a:p>
        </p:txBody>
      </p:sp>
      <p:sp>
        <p:nvSpPr>
          <p:cNvPr id="57347" name="Text Box 5"/>
          <p:cNvSpPr txBox="1">
            <a:spLocks noChangeArrowheads="1"/>
          </p:cNvSpPr>
          <p:nvPr/>
        </p:nvSpPr>
        <p:spPr bwMode="auto">
          <a:xfrm>
            <a:off x="983432" y="4149725"/>
            <a:ext cx="10009112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2800" b="0" dirty="0">
                <a:solidFill>
                  <a:srgbClr val="1A3170"/>
                </a:solidFill>
              </a:rPr>
              <a:t>We can easily infer that </a:t>
            </a:r>
            <a:r>
              <a:rPr lang="en-GB" altLang="en-US" sz="2800" dirty="0">
                <a:solidFill>
                  <a:srgbClr val="1A3170"/>
                </a:solidFill>
                <a:latin typeface="Courier New" charset="0"/>
              </a:rPr>
              <a:t>discount</a:t>
            </a:r>
            <a:r>
              <a:rPr lang="en-GB" altLang="en-US" sz="2800" b="0" dirty="0">
                <a:solidFill>
                  <a:srgbClr val="1A3170"/>
                </a:solidFill>
              </a:rPr>
              <a:t> is a field of type </a:t>
            </a:r>
            <a:r>
              <a:rPr lang="en-GB" altLang="en-US" sz="2800" dirty="0">
                <a:solidFill>
                  <a:srgbClr val="1A3170"/>
                </a:solidFill>
                <a:latin typeface="Courier New" charset="0"/>
              </a:rPr>
              <a:t>int</a:t>
            </a:r>
            <a:r>
              <a:rPr lang="en-GB" altLang="en-US" sz="2800" b="0" dirty="0">
                <a:solidFill>
                  <a:srgbClr val="1A3170"/>
                </a:solidFill>
              </a:rPr>
              <a:t>, </a:t>
            </a:r>
            <a:r>
              <a:rPr lang="en-GB" altLang="en-US" sz="2800" b="0" dirty="0" err="1">
                <a:solidFill>
                  <a:srgbClr val="1A3170"/>
                </a:solidFill>
              </a:rPr>
              <a:t>i.e</a:t>
            </a:r>
            <a:r>
              <a:rPr lang="en-GB" altLang="en-US" sz="2800" b="0" dirty="0">
                <a:solidFill>
                  <a:srgbClr val="1A3170"/>
                </a:solidFill>
              </a:rPr>
              <a:t>:</a:t>
            </a:r>
          </a:p>
          <a:p>
            <a:pPr algn="l"/>
            <a:endParaRPr lang="en-GB" altLang="en-US" sz="2800" b="0" dirty="0">
              <a:solidFill>
                <a:srgbClr val="1A3170"/>
              </a:solidFill>
            </a:endParaRPr>
          </a:p>
          <a:p>
            <a:pPr algn="l"/>
            <a:r>
              <a:rPr lang="en-GB" altLang="en-US" sz="2800" dirty="0">
                <a:solidFill>
                  <a:srgbClr val="1A3170"/>
                </a:solidFill>
                <a:latin typeface="Courier New" charset="0"/>
              </a:rPr>
              <a:t>private int discount;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69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 anchor="ctr">
            <a:normAutofit/>
          </a:bodyPr>
          <a:lstStyle/>
          <a:p>
            <a:r>
              <a:rPr lang="en-US" altLang="en-US"/>
              <a:t>Protective mutators</a:t>
            </a:r>
          </a:p>
        </p:txBody>
      </p:sp>
      <p:pic>
        <p:nvPicPr>
          <p:cNvPr id="4" name="Picture 3" descr="A green key with a shield&#10;&#10;AI-generated content may be incorrect.">
            <a:extLst>
              <a:ext uri="{FF2B5EF4-FFF2-40B4-BE49-F238E27FC236}">
                <a16:creationId xmlns:a16="http://schemas.microsoft.com/office/drawing/2014/main" id="{63B968A6-79BA-C9BA-5BE5-8F26B1AE9C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336" y="1574305"/>
            <a:ext cx="2880320" cy="2548879"/>
          </a:xfrm>
          <a:prstGeom prst="rect">
            <a:avLst/>
          </a:prstGeom>
          <a:noFill/>
        </p:spPr>
      </p:pic>
      <p:sp>
        <p:nvSpPr>
          <p:cNvPr id="58370" name="Rectangle 3"/>
          <p:cNvSpPr>
            <a:spLocks noGrp="1" noChangeArrowheads="1"/>
          </p:cNvSpPr>
          <p:nvPr>
            <p:ph sz="half" idx="2"/>
          </p:nvPr>
        </p:nvSpPr>
        <p:spPr>
          <a:xfrm>
            <a:off x="4165600" y="1600201"/>
            <a:ext cx="7416800" cy="452596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sz="2600" dirty="0"/>
              <a:t>A set method does not have to always assign unconditionally to the field.</a:t>
            </a:r>
          </a:p>
          <a:p>
            <a:pPr marL="0" indent="0">
              <a:lnSpc>
                <a:spcPct val="90000"/>
              </a:lnSpc>
              <a:buNone/>
            </a:pPr>
            <a:endParaRPr lang="en-US" altLang="en-US" sz="2600" dirty="0"/>
          </a:p>
          <a:p>
            <a:pPr>
              <a:lnSpc>
                <a:spcPct val="90000"/>
              </a:lnSpc>
            </a:pPr>
            <a:r>
              <a:rPr lang="en-US" altLang="en-US" sz="2600" dirty="0"/>
              <a:t>The parameter may be checked for validity and rejected if inappropriate.  </a:t>
            </a:r>
          </a:p>
          <a:p>
            <a:pPr lvl="1">
              <a:lnSpc>
                <a:spcPct val="90000"/>
              </a:lnSpc>
            </a:pPr>
            <a:r>
              <a:rPr lang="en-US" altLang="en-US" sz="2600" dirty="0"/>
              <a:t>e.g. only update field if new value is &gt;=10</a:t>
            </a:r>
          </a:p>
          <a:p>
            <a:pPr marL="457200" lvl="1" indent="0">
              <a:lnSpc>
                <a:spcPct val="90000"/>
              </a:lnSpc>
              <a:buNone/>
            </a:pPr>
            <a:endParaRPr lang="en-US" altLang="en-US" sz="2600" dirty="0"/>
          </a:p>
          <a:p>
            <a:pPr>
              <a:lnSpc>
                <a:spcPct val="90000"/>
              </a:lnSpc>
            </a:pPr>
            <a:r>
              <a:rPr lang="en-US" altLang="en-US" sz="2600" dirty="0"/>
              <a:t>Mutators thereby protect fields.</a:t>
            </a:r>
          </a:p>
          <a:p>
            <a:pPr>
              <a:lnSpc>
                <a:spcPct val="90000"/>
              </a:lnSpc>
            </a:pPr>
            <a:endParaRPr lang="en-US" altLang="en-US" sz="2600" dirty="0"/>
          </a:p>
          <a:p>
            <a:pPr>
              <a:lnSpc>
                <a:spcPct val="90000"/>
              </a:lnSpc>
            </a:pPr>
            <a:r>
              <a:rPr lang="en-US" altLang="en-US" sz="2600" dirty="0"/>
              <a:t>Mutators support </a:t>
            </a:r>
            <a:r>
              <a:rPr lang="en-US" altLang="en-US" sz="2600" i="1" dirty="0"/>
              <a:t>encapsulation</a:t>
            </a:r>
            <a:r>
              <a:rPr lang="en-US" altLang="en-US" sz="2600" dirty="0"/>
              <a:t>.</a:t>
            </a:r>
          </a:p>
        </p:txBody>
      </p:sp>
      <p:sp>
        <p:nvSpPr>
          <p:cNvPr id="58375" name="Footer Placeholder 4">
            <a:extLst>
              <a:ext uri="{FF2B5EF4-FFF2-40B4-BE49-F238E27FC236}">
                <a16:creationId xmlns:a16="http://schemas.microsoft.com/office/drawing/2014/main" id="{33819E28-622F-8192-8958-0F7AC36A6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83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83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83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837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83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837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837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837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/>
              <a:t>Another m</a:t>
            </a:r>
            <a:r>
              <a:rPr lang="en-US">
                <a:ea typeface="+mj-ea"/>
                <a:cs typeface="+mj-cs"/>
              </a:rPr>
              <a:t>utator method</a:t>
            </a:r>
          </a:p>
        </p:txBody>
      </p:sp>
      <p:sp>
        <p:nvSpPr>
          <p:cNvPr id="54275" name="Text Box 3"/>
          <p:cNvSpPr txBox="1">
            <a:spLocks noChangeArrowheads="1"/>
          </p:cNvSpPr>
          <p:nvPr/>
        </p:nvSpPr>
        <p:spPr bwMode="auto">
          <a:xfrm>
            <a:off x="2724227" y="3107280"/>
            <a:ext cx="6636753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public void </a:t>
            </a:r>
            <a:r>
              <a:rPr lang="en-US" altLang="en-US" sz="2400" err="1">
                <a:solidFill>
                  <a:schemeClr val="tx1"/>
                </a:solidFill>
                <a:latin typeface="Courier New" charset="0"/>
              </a:rPr>
              <a:t>insertMoney</a:t>
            </a: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(</a:t>
            </a:r>
            <a:r>
              <a:rPr lang="en-US" altLang="en-US" sz="2400" err="1">
                <a:solidFill>
                  <a:schemeClr val="tx1"/>
                </a:solidFill>
                <a:latin typeface="Courier New" charset="0"/>
              </a:rPr>
              <a:t>int</a:t>
            </a: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amount)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    balance = balance + amount;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40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54276" name="Text Box 4"/>
          <p:cNvSpPr txBox="1">
            <a:spLocks noChangeArrowheads="1"/>
          </p:cNvSpPr>
          <p:nvPr/>
        </p:nvSpPr>
        <p:spPr bwMode="auto">
          <a:xfrm>
            <a:off x="4753049" y="2097633"/>
            <a:ext cx="14811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>
                <a:solidFill>
                  <a:srgbClr val="A57133"/>
                </a:solidFill>
              </a:rPr>
              <a:t>return type</a:t>
            </a:r>
          </a:p>
        </p:txBody>
      </p:sp>
      <p:sp>
        <p:nvSpPr>
          <p:cNvPr id="54277" name="Text Box 5"/>
          <p:cNvSpPr txBox="1">
            <a:spLocks noChangeArrowheads="1"/>
          </p:cNvSpPr>
          <p:nvPr/>
        </p:nvSpPr>
        <p:spPr bwMode="auto">
          <a:xfrm>
            <a:off x="6503916" y="2097633"/>
            <a:ext cx="17494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>
                <a:solidFill>
                  <a:srgbClr val="A57133"/>
                </a:solidFill>
              </a:rPr>
              <a:t>method name</a:t>
            </a:r>
          </a:p>
        </p:txBody>
      </p:sp>
      <p:sp>
        <p:nvSpPr>
          <p:cNvPr id="54278" name="Text Box 6"/>
          <p:cNvSpPr txBox="1">
            <a:spLocks noChangeArrowheads="1"/>
          </p:cNvSpPr>
          <p:nvPr/>
        </p:nvSpPr>
        <p:spPr bwMode="auto">
          <a:xfrm>
            <a:off x="7524823" y="2459521"/>
            <a:ext cx="222048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>
                <a:solidFill>
                  <a:srgbClr val="A57133"/>
                </a:solidFill>
              </a:rPr>
              <a:t>formal parameter</a:t>
            </a:r>
          </a:p>
        </p:txBody>
      </p:sp>
      <p:sp>
        <p:nvSpPr>
          <p:cNvPr id="54279" name="Line 7"/>
          <p:cNvSpPr>
            <a:spLocks noChangeShapeType="1"/>
          </p:cNvSpPr>
          <p:nvPr/>
        </p:nvSpPr>
        <p:spPr bwMode="auto">
          <a:xfrm flipH="1">
            <a:off x="4480002" y="2494505"/>
            <a:ext cx="911225" cy="6175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4280" name="Line 8"/>
          <p:cNvSpPr>
            <a:spLocks noChangeShapeType="1"/>
          </p:cNvSpPr>
          <p:nvPr/>
        </p:nvSpPr>
        <p:spPr bwMode="auto">
          <a:xfrm flipH="1">
            <a:off x="6299448" y="2508796"/>
            <a:ext cx="837232" cy="581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4281" name="Line 9"/>
          <p:cNvSpPr>
            <a:spLocks noChangeShapeType="1"/>
          </p:cNvSpPr>
          <p:nvPr/>
        </p:nvSpPr>
        <p:spPr bwMode="auto">
          <a:xfrm flipH="1">
            <a:off x="8076480" y="2877093"/>
            <a:ext cx="792088" cy="30422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4282" name="Text Box 10"/>
          <p:cNvSpPr txBox="1">
            <a:spLocks noChangeArrowheads="1"/>
          </p:cNvSpPr>
          <p:nvPr/>
        </p:nvSpPr>
        <p:spPr bwMode="auto">
          <a:xfrm>
            <a:off x="2267027" y="2111918"/>
            <a:ext cx="220605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 dirty="0">
                <a:solidFill>
                  <a:srgbClr val="A57133"/>
                </a:solidFill>
              </a:rPr>
              <a:t>visibility modifier</a:t>
            </a:r>
          </a:p>
        </p:txBody>
      </p:sp>
      <p:sp>
        <p:nvSpPr>
          <p:cNvPr id="54283" name="Line 11"/>
          <p:cNvSpPr>
            <a:spLocks noChangeShapeType="1"/>
          </p:cNvSpPr>
          <p:nvPr/>
        </p:nvSpPr>
        <p:spPr bwMode="auto">
          <a:xfrm>
            <a:off x="3333827" y="2570708"/>
            <a:ext cx="131763" cy="5191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4284" name="Text Box 12"/>
          <p:cNvSpPr txBox="1">
            <a:spLocks noChangeArrowheads="1"/>
          </p:cNvSpPr>
          <p:nvPr/>
        </p:nvSpPr>
        <p:spPr bwMode="auto">
          <a:xfrm>
            <a:off x="7220024" y="4778921"/>
            <a:ext cx="26924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>
                <a:solidFill>
                  <a:srgbClr val="A57133"/>
                </a:solidFill>
              </a:rPr>
              <a:t>assignment statement</a:t>
            </a:r>
          </a:p>
        </p:txBody>
      </p:sp>
      <p:sp>
        <p:nvSpPr>
          <p:cNvPr id="54285" name="Line 13"/>
          <p:cNvSpPr>
            <a:spLocks noChangeShapeType="1"/>
          </p:cNvSpPr>
          <p:nvPr/>
        </p:nvSpPr>
        <p:spPr bwMode="auto">
          <a:xfrm flipH="1" flipV="1">
            <a:off x="5196160" y="4316955"/>
            <a:ext cx="2328664" cy="463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4286" name="Text Box 14"/>
          <p:cNvSpPr txBox="1">
            <a:spLocks noChangeArrowheads="1"/>
          </p:cNvSpPr>
          <p:nvPr/>
        </p:nvSpPr>
        <p:spPr bwMode="auto">
          <a:xfrm>
            <a:off x="3077446" y="4904333"/>
            <a:ext cx="2441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b="0">
                <a:solidFill>
                  <a:srgbClr val="A57133"/>
                </a:solidFill>
              </a:rPr>
              <a:t>field being mutated</a:t>
            </a:r>
          </a:p>
        </p:txBody>
      </p:sp>
      <p:sp>
        <p:nvSpPr>
          <p:cNvPr id="54287" name="Line 15"/>
          <p:cNvSpPr>
            <a:spLocks noChangeShapeType="1"/>
          </p:cNvSpPr>
          <p:nvPr/>
        </p:nvSpPr>
        <p:spPr bwMode="auto">
          <a:xfrm flipV="1">
            <a:off x="4044032" y="4316955"/>
            <a:ext cx="0" cy="58737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Text Box 5">
            <a:extLst>
              <a:ext uri="{FF2B5EF4-FFF2-40B4-BE49-F238E27FC236}">
                <a16:creationId xmlns:a16="http://schemas.microsoft.com/office/drawing/2014/main" id="{BFC61292-6595-B530-9B4E-7CA15EA8EE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34811" y="5194242"/>
            <a:ext cx="9937104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3200" b="0">
                <a:solidFill>
                  <a:srgbClr val="1A3170"/>
                </a:solidFill>
                <a:latin typeface="Tw Cen MT" panose="020B0602020104020603" pitchFamily="34" charset="77"/>
              </a:rPr>
              <a:t>This method </a:t>
            </a:r>
            <a:r>
              <a:rPr lang="en-GB" altLang="en-US" sz="3200" b="0" i="1">
                <a:solidFill>
                  <a:srgbClr val="1A3170"/>
                </a:solidFill>
                <a:latin typeface="Tw Cen MT" panose="020B0602020104020603" pitchFamily="34" charset="77"/>
              </a:rPr>
              <a:t>changes</a:t>
            </a:r>
            <a:r>
              <a:rPr lang="en-GB" altLang="en-US" sz="3200" b="0">
                <a:solidFill>
                  <a:srgbClr val="1A3170"/>
                </a:solidFill>
                <a:latin typeface="Tw Cen MT" panose="020B0602020104020603" pitchFamily="34" charset="77"/>
              </a:rPr>
              <a:t> the value of balance; hence the object's state is </a:t>
            </a:r>
            <a:r>
              <a:rPr lang="en-GB" altLang="en-US" sz="3200" b="0" i="1">
                <a:solidFill>
                  <a:srgbClr val="1A3170"/>
                </a:solidFill>
                <a:latin typeface="Tw Cen MT" panose="020B0602020104020603" pitchFamily="34" charset="77"/>
              </a:rPr>
              <a:t>mutated</a:t>
            </a:r>
            <a:r>
              <a:rPr lang="en-GB" altLang="en-US" sz="3200" b="0">
                <a:solidFill>
                  <a:srgbClr val="1A3170"/>
                </a:solidFill>
                <a:latin typeface="Tw Cen MT" panose="020B0602020104020603" pitchFamily="34" charset="77"/>
              </a:rPr>
              <a:t>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42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42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42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42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42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42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42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42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42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42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42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42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42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42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542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42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42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42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542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54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542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542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542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542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276" grpId="0"/>
      <p:bldP spid="54277" grpId="0"/>
      <p:bldP spid="54278" grpId="0"/>
      <p:bldP spid="54279" grpId="0" animBg="1"/>
      <p:bldP spid="54280" grpId="0" animBg="1"/>
      <p:bldP spid="54281" grpId="0" animBg="1"/>
      <p:bldP spid="54282" grpId="0"/>
      <p:bldP spid="54283" grpId="0" animBg="1"/>
      <p:bldP spid="54284" grpId="0"/>
      <p:bldP spid="54285" grpId="0" animBg="1"/>
      <p:bldP spid="54286" grpId="0"/>
      <p:bldP spid="5428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</a:t>
            </a:r>
            <a:r>
              <a:rPr lang="en-US" b="1">
                <a:latin typeface="Courier New" charset="0"/>
                <a:ea typeface="Courier New" charset="0"/>
                <a:cs typeface="Courier New" charset="0"/>
              </a:rPr>
              <a:t>this</a:t>
            </a:r>
            <a:r>
              <a:rPr lang="en-US"/>
              <a:t> keyword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Up to now we have come up with a different name for the parameter and the field.</a:t>
            </a:r>
          </a:p>
          <a:p>
            <a:r>
              <a:rPr lang="en-IE" dirty="0"/>
              <a:t>However, sometimes there is one name that perfectly describes the use of a variable—it fits so well that we do not want to invent a different name for it.</a:t>
            </a:r>
          </a:p>
          <a:p>
            <a:pPr marL="0" indent="0">
              <a:buNone/>
            </a:pPr>
            <a:endParaRPr lang="en-IE" b="1" dirty="0">
              <a:solidFill>
                <a:schemeClr val="tx1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r>
              <a:rPr lang="en-IE" b="1" dirty="0">
                <a:solidFill>
                  <a:srgbClr val="FF0000"/>
                </a:solidFill>
                <a:latin typeface="Courier New" charset="0"/>
                <a:ea typeface="Courier New" charset="0"/>
                <a:cs typeface="Courier New" charset="0"/>
              </a:rPr>
              <a:t>Enter the this. construct</a:t>
            </a:r>
            <a:endParaRPr lang="en-US" b="1" dirty="0">
              <a:solidFill>
                <a:srgbClr val="FF0000"/>
              </a:solidFill>
              <a:latin typeface="Courier New" charset="0"/>
              <a:ea typeface="Courier New" charset="0"/>
              <a:cs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905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C8FFB-8A27-4C04-ED50-2A7D07BCE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33977-50F8-5E73-7642-893C2F79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</a:t>
            </a:r>
            <a:r>
              <a:rPr lang="en-US" b="1">
                <a:latin typeface="Courier New" charset="0"/>
                <a:ea typeface="Courier New" charset="0"/>
                <a:cs typeface="Courier New" charset="0"/>
              </a:rPr>
              <a:t>this</a:t>
            </a:r>
            <a:r>
              <a:rPr lang="en-US"/>
              <a:t>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8D820F-71D9-37EF-25F8-ECEC47585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Used to distinguish parameters and fields of the same name. E.g.:</a:t>
            </a:r>
            <a:br>
              <a:rPr lang="en-US" dirty="0"/>
            </a:br>
            <a:br>
              <a:rPr lang="en-US" dirty="0"/>
            </a:br>
            <a: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public </a:t>
            </a:r>
            <a:r>
              <a:rPr lang="en-US" sz="2400" b="1" dirty="0" err="1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TicketMachine</a:t>
            </a:r>
            <a: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(int price)</a:t>
            </a:r>
            <a:b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{</a:t>
            </a:r>
            <a:b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   </a:t>
            </a:r>
            <a:r>
              <a:rPr lang="en-US" sz="2400" b="1" dirty="0" err="1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this.price</a:t>
            </a:r>
            <a: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= price;</a:t>
            </a:r>
            <a:b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   balance = 0;</a:t>
            </a:r>
            <a:b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   total = 0;</a:t>
            </a:r>
            <a:b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4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}</a:t>
            </a:r>
            <a:endParaRPr lang="en-US" b="1" dirty="0">
              <a:solidFill>
                <a:schemeClr val="tx1"/>
              </a:solidFill>
              <a:latin typeface="Courier New" charset="0"/>
              <a:ea typeface="Courier New" charset="0"/>
              <a:cs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0763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102AC-5345-0C5F-DEBE-2976DB180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5D42B-B603-410C-E4E2-D9C5DB7E2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>
                <a:latin typeface="Courier New" charset="0"/>
                <a:ea typeface="Courier New" charset="0"/>
                <a:cs typeface="Courier New" charset="0"/>
              </a:rPr>
              <a:t>this</a:t>
            </a:r>
            <a:r>
              <a:rPr lang="en-US" dirty="0"/>
              <a:t>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DEDFB-5D58-9CA3-A021-D2E43B506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Used to distinguish parameters and fields of the same name. E.g.:</a:t>
            </a:r>
            <a:br>
              <a:rPr lang="en-US" dirty="0"/>
            </a:br>
            <a:br>
              <a:rPr lang="en-US" dirty="0"/>
            </a:br>
            <a:endParaRPr lang="en-US" b="1" dirty="0">
              <a:solidFill>
                <a:schemeClr val="tx1"/>
              </a:solidFill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B92A4614-E965-DDA7-90B1-E49CA2ADD7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2212" y="2472018"/>
            <a:ext cx="6958123" cy="4401205"/>
          </a:xfrm>
          <a:prstGeom prst="rect">
            <a:avLst/>
          </a:prstGeom>
          <a:noFill/>
          <a:ln w="31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public class </a:t>
            </a:r>
            <a:r>
              <a:rPr lang="en-US" altLang="en-US" sz="2000" dirty="0" err="1">
                <a:solidFill>
                  <a:schemeClr val="tx1"/>
                </a:solidFill>
                <a:latin typeface="Courier New" charset="0"/>
              </a:rPr>
              <a:t>TicketMachine</a:t>
            </a:r>
            <a:endParaRPr lang="en-US" altLang="en-US" sz="2000" dirty="0">
              <a:solidFill>
                <a:schemeClr val="tx1"/>
              </a:solidFill>
              <a:latin typeface="Courier New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   private int </a:t>
            </a:r>
            <a:r>
              <a:rPr lang="en-US" altLang="en-US" sz="2000" b="1" dirty="0">
                <a:solidFill>
                  <a:srgbClr val="009C5C"/>
                </a:solidFill>
                <a:latin typeface="Courier New" charset="0"/>
              </a:rPr>
              <a:t>price</a:t>
            </a: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   private int balance;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    private int total;</a:t>
            </a:r>
          </a:p>
          <a:p>
            <a:pPr>
              <a:spcBef>
                <a:spcPct val="0"/>
              </a:spcBef>
              <a:buClr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 </a:t>
            </a:r>
            <a:r>
              <a:rPr lang="en-US" sz="2000" b="1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</a:t>
            </a:r>
          </a:p>
          <a:p>
            <a:pPr>
              <a:spcBef>
                <a:spcPct val="0"/>
              </a:spcBef>
              <a:buClrTx/>
              <a:buNone/>
            </a:pPr>
            <a:endParaRPr lang="en-US" sz="2000" b="1" dirty="0">
              <a:solidFill>
                <a:schemeClr val="tx1"/>
              </a:solidFill>
              <a:latin typeface="Courier New" charset="0"/>
              <a:ea typeface="Courier New" charset="0"/>
              <a:cs typeface="Courier New" charset="0"/>
            </a:endParaRPr>
          </a:p>
          <a:p>
            <a:pPr>
              <a:spcBef>
                <a:spcPct val="0"/>
              </a:spcBef>
              <a:buClrTx/>
              <a:buNone/>
            </a:pP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public </a:t>
            </a:r>
            <a:r>
              <a:rPr lang="en-US" sz="2000" dirty="0" err="1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TicketMachine</a:t>
            </a: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(int </a:t>
            </a:r>
            <a:r>
              <a:rPr lang="en-US" sz="2000" b="1" dirty="0">
                <a:solidFill>
                  <a:srgbClr val="FF0000"/>
                </a:solidFill>
                <a:latin typeface="Courier New" charset="0"/>
                <a:ea typeface="Courier New" charset="0"/>
                <a:cs typeface="Courier New" charset="0"/>
              </a:rPr>
              <a:t>price</a:t>
            </a: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)</a:t>
            </a:r>
            <a:b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{</a:t>
            </a:r>
            <a:b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   </a:t>
            </a:r>
            <a:r>
              <a:rPr lang="en-US" sz="2000" b="1" dirty="0" err="1">
                <a:solidFill>
                  <a:srgbClr val="009C5C"/>
                </a:solidFill>
                <a:latin typeface="Courier New" charset="0"/>
                <a:ea typeface="Courier New" charset="0"/>
                <a:cs typeface="Courier New" charset="0"/>
              </a:rPr>
              <a:t>this.price</a:t>
            </a: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= </a:t>
            </a:r>
            <a:r>
              <a:rPr lang="en-US" sz="2000" b="1" dirty="0">
                <a:solidFill>
                  <a:srgbClr val="FF0000"/>
                </a:solidFill>
                <a:latin typeface="Courier New" charset="0"/>
                <a:ea typeface="Courier New" charset="0"/>
                <a:cs typeface="Courier New" charset="0"/>
              </a:rPr>
              <a:t>price</a:t>
            </a: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;</a:t>
            </a:r>
            <a:b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   balance = 0;</a:t>
            </a:r>
            <a:b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    total = 0;</a:t>
            </a:r>
            <a:b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</a:br>
            <a:r>
              <a:rPr lang="en-US" sz="2000" dirty="0">
                <a:solidFill>
                  <a:schemeClr val="tx1"/>
                </a:solidFill>
                <a:latin typeface="Courier New" charset="0"/>
                <a:ea typeface="Courier New" charset="0"/>
                <a:cs typeface="Courier New" charset="0"/>
              </a:rPr>
              <a:t>}</a:t>
            </a:r>
            <a:endParaRPr lang="en-US" altLang="en-US" sz="2000" dirty="0">
              <a:solidFill>
                <a:schemeClr val="tx1"/>
              </a:solidFill>
              <a:latin typeface="Courier New" charset="0"/>
            </a:endParaRP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FAA2B447-14A8-B3D7-8BF0-ED7706A1A2A4}"/>
              </a:ext>
            </a:extLst>
          </p:cNvPr>
          <p:cNvSpPr/>
          <p:nvPr/>
        </p:nvSpPr>
        <p:spPr>
          <a:xfrm rot="3337302">
            <a:off x="5874462" y="4722200"/>
            <a:ext cx="203299" cy="791860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392B574F-6042-C0D9-8216-DAF750E3E620}"/>
              </a:ext>
            </a:extLst>
          </p:cNvPr>
          <p:cNvSpPr/>
          <p:nvPr/>
        </p:nvSpPr>
        <p:spPr>
          <a:xfrm rot="13492897">
            <a:off x="4001557" y="2951119"/>
            <a:ext cx="176246" cy="2702327"/>
          </a:xfrm>
          <a:prstGeom prst="down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U-turn Arrow 7">
            <a:extLst>
              <a:ext uri="{FF2B5EF4-FFF2-40B4-BE49-F238E27FC236}">
                <a16:creationId xmlns:a16="http://schemas.microsoft.com/office/drawing/2014/main" id="{AA81FA1B-AB5B-03C2-6289-1F9A7C85313C}"/>
              </a:ext>
            </a:extLst>
          </p:cNvPr>
          <p:cNvSpPr/>
          <p:nvPr/>
        </p:nvSpPr>
        <p:spPr>
          <a:xfrm flipH="1">
            <a:off x="3791744" y="4974107"/>
            <a:ext cx="1527948" cy="385682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8948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3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AA162-B8A3-16C8-268A-470F8B844E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E" dirty="0"/>
              <a:t>	</a:t>
            </a:r>
            <a:r>
              <a:rPr lang="en-IE" sz="3600" dirty="0" err="1"/>
              <a:t>this.</a:t>
            </a:r>
            <a:r>
              <a:rPr lang="en-IE" sz="3600" dirty="0" err="1">
                <a:solidFill>
                  <a:srgbClr val="009C5C"/>
                </a:solidFill>
              </a:rPr>
              <a:t>price</a:t>
            </a:r>
            <a:r>
              <a:rPr lang="en-IE" sz="3600" dirty="0"/>
              <a:t> = </a:t>
            </a:r>
            <a:r>
              <a:rPr lang="en-IE" sz="3600" dirty="0">
                <a:solidFill>
                  <a:srgbClr val="FF0000"/>
                </a:solidFill>
              </a:rPr>
              <a:t>price</a:t>
            </a:r>
            <a:r>
              <a:rPr lang="en-IE" sz="3600" dirty="0"/>
              <a:t>;</a:t>
            </a:r>
          </a:p>
          <a:p>
            <a:pPr marL="457200" lvl="1" indent="0">
              <a:buNone/>
            </a:pPr>
            <a:endParaRPr lang="en-IE" sz="3600" dirty="0"/>
          </a:p>
          <a:p>
            <a:pPr marL="457200" lvl="1" indent="0">
              <a:buNone/>
            </a:pPr>
            <a:endParaRPr lang="en-IE" sz="3600" dirty="0"/>
          </a:p>
          <a:p>
            <a:pPr marL="57150" indent="0">
              <a:buNone/>
            </a:pPr>
            <a:r>
              <a:rPr lang="en-IE" sz="3600" dirty="0"/>
              <a:t>This statement has the following effect:</a:t>
            </a:r>
          </a:p>
          <a:p>
            <a:pPr marL="57150" indent="0">
              <a:buNone/>
            </a:pPr>
            <a:endParaRPr lang="en-IE" sz="3600" dirty="0"/>
          </a:p>
          <a:p>
            <a:pPr marL="57150" indent="0">
              <a:buNone/>
            </a:pPr>
            <a:endParaRPr lang="en-IE" sz="3600" dirty="0"/>
          </a:p>
          <a:p>
            <a:pPr marL="0" indent="0">
              <a:buNone/>
            </a:pPr>
            <a:r>
              <a:rPr lang="en-IE" sz="3600" i="1" dirty="0"/>
              <a:t>field named</a:t>
            </a:r>
            <a:r>
              <a:rPr lang="en-IE" sz="3600" dirty="0"/>
              <a:t> </a:t>
            </a:r>
            <a:r>
              <a:rPr lang="en-IE" sz="3600" dirty="0">
                <a:solidFill>
                  <a:srgbClr val="009C5C"/>
                </a:solidFill>
              </a:rPr>
              <a:t>price</a:t>
            </a:r>
            <a:r>
              <a:rPr lang="en-IE" sz="3600" dirty="0"/>
              <a:t> = </a:t>
            </a:r>
            <a:r>
              <a:rPr lang="en-IE" sz="3600" i="1" dirty="0"/>
              <a:t>parameter named</a:t>
            </a:r>
            <a:r>
              <a:rPr lang="en-IE" sz="3600" dirty="0"/>
              <a:t> </a:t>
            </a:r>
            <a:r>
              <a:rPr lang="en-IE" sz="3600" dirty="0">
                <a:solidFill>
                  <a:srgbClr val="FF0000"/>
                </a:solidFill>
              </a:rPr>
              <a:t>price</a:t>
            </a:r>
            <a:r>
              <a:rPr lang="en-IE" sz="3600" dirty="0"/>
              <a:t>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61DD58-819E-013F-77EE-77FB70FD3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32460B6-AB8B-50A0-FB4C-3F7EEAA77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</a:t>
            </a:r>
            <a:r>
              <a:rPr lang="en-US" b="1">
                <a:latin typeface="Courier New" charset="0"/>
                <a:ea typeface="Courier New" charset="0"/>
                <a:cs typeface="Courier New" charset="0"/>
              </a:rPr>
              <a:t>this</a:t>
            </a:r>
            <a:r>
              <a:rPr lang="en-US"/>
              <a:t> keyword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22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982C5-BE4D-501B-887D-A7B8AB734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this</a:t>
            </a:r>
            <a:r>
              <a:rPr lang="en-US" dirty="0"/>
              <a:t>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B422DB-E57F-32B6-D1E4-C47BE748B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this</a:t>
            </a:r>
            <a:r>
              <a:rPr lang="en-US" dirty="0"/>
              <a:t> keyboard can </a:t>
            </a:r>
            <a:r>
              <a:rPr lang="en-US" b="1" dirty="0"/>
              <a:t>always</a:t>
            </a:r>
            <a:r>
              <a:rPr lang="en-US" dirty="0"/>
              <a:t> be used when referencing field variables. </a:t>
            </a:r>
          </a:p>
          <a:p>
            <a:endParaRPr lang="en-US" dirty="0"/>
          </a:p>
          <a:p>
            <a:r>
              <a:rPr lang="en-US" dirty="0"/>
              <a:t>In practice, we use it when there is a parameter with the same name as a field. 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 err="1">
                <a:solidFill>
                  <a:srgbClr val="009C5C"/>
                </a:solidFill>
              </a:rPr>
              <a:t>this.x</a:t>
            </a:r>
            <a:r>
              <a:rPr lang="en-US" dirty="0">
                <a:solidFill>
                  <a:srgbClr val="009C5C"/>
                </a:solidFill>
              </a:rPr>
              <a:t> </a:t>
            </a:r>
            <a:r>
              <a:rPr lang="en-US" dirty="0"/>
              <a:t>= </a:t>
            </a:r>
            <a:r>
              <a:rPr lang="en-US" dirty="0">
                <a:solidFill>
                  <a:srgbClr val="FF0000"/>
                </a:solidFill>
              </a:rPr>
              <a:t>x;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B136FD-F9A9-FA2A-5A9C-DDD8F0D82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8E7D71-043B-7B03-DCAE-BCBDE26EA713}"/>
              </a:ext>
            </a:extLst>
          </p:cNvPr>
          <p:cNvSpPr txBox="1"/>
          <p:nvPr/>
        </p:nvSpPr>
        <p:spPr>
          <a:xfrm>
            <a:off x="2855640" y="4437112"/>
            <a:ext cx="1440160" cy="707886"/>
          </a:xfrm>
          <a:prstGeom prst="rect">
            <a:avLst/>
          </a:prstGeom>
          <a:solidFill>
            <a:srgbClr val="009C5C"/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Field version of x 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DEF1800-9A64-622F-5E2B-290D7EC61F3F}"/>
              </a:ext>
            </a:extLst>
          </p:cNvPr>
          <p:cNvSpPr/>
          <p:nvPr/>
        </p:nvSpPr>
        <p:spPr>
          <a:xfrm rot="18006459">
            <a:off x="4592956" y="4406952"/>
            <a:ext cx="261736" cy="1138794"/>
          </a:xfrm>
          <a:prstGeom prst="downArrow">
            <a:avLst/>
          </a:prstGeom>
          <a:solidFill>
            <a:srgbClr val="009C5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0EE655E7-23E2-8FA4-C91D-77201B003A14}"/>
              </a:ext>
            </a:extLst>
          </p:cNvPr>
          <p:cNvSpPr/>
          <p:nvPr/>
        </p:nvSpPr>
        <p:spPr>
          <a:xfrm rot="3739934">
            <a:off x="7599796" y="4072145"/>
            <a:ext cx="206920" cy="1635224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2E5A84-AE0E-15CF-0528-0C04A5BBE876}"/>
              </a:ext>
            </a:extLst>
          </p:cNvPr>
          <p:cNvSpPr txBox="1"/>
          <p:nvPr/>
        </p:nvSpPr>
        <p:spPr>
          <a:xfrm>
            <a:off x="8362130" y="4437112"/>
            <a:ext cx="1948460" cy="707886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r>
              <a:rPr lang="en-US" sz="2000" dirty="0"/>
              <a:t>Local/parameter  version of x </a:t>
            </a:r>
          </a:p>
        </p:txBody>
      </p:sp>
    </p:spTree>
    <p:extLst>
      <p:ext uri="{BB962C8B-B14F-4D97-AF65-F5344CB8AC3E}">
        <p14:creationId xmlns:p14="http://schemas.microsoft.com/office/powerpoint/2010/main" val="9842851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722373" y="476672"/>
            <a:ext cx="10747254" cy="1143001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>
                <a:ea typeface="+mj-ea"/>
                <a:cs typeface="+mj-cs"/>
              </a:rPr>
              <a:t>Printing from methods</a:t>
            </a:r>
          </a:p>
        </p:txBody>
      </p:sp>
      <p:sp>
        <p:nvSpPr>
          <p:cNvPr id="59395" name="Text Box 3"/>
          <p:cNvSpPr txBox="1">
            <a:spLocks noChangeArrowheads="1"/>
          </p:cNvSpPr>
          <p:nvPr/>
        </p:nvSpPr>
        <p:spPr bwMode="auto">
          <a:xfrm>
            <a:off x="2505869" y="1916832"/>
            <a:ext cx="7180262" cy="4211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public void </a:t>
            </a:r>
            <a:r>
              <a:rPr lang="en-US" altLang="en-US" sz="1800" dirty="0" err="1">
                <a:solidFill>
                  <a:schemeClr val="tx1"/>
                </a:solidFill>
                <a:latin typeface="Courier New" charset="0"/>
              </a:rPr>
              <a:t>printTicket</a:t>
            </a: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()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{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// Simulate the printing of a ticket.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1800" dirty="0" err="1">
                <a:solidFill>
                  <a:schemeClr val="tx1"/>
                </a:solidFill>
                <a:latin typeface="Courier New" charset="0"/>
              </a:rPr>
              <a:t>System.out.println</a:t>
            </a: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("##################");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1800" dirty="0" err="1">
                <a:solidFill>
                  <a:schemeClr val="tx1"/>
                </a:solidFill>
                <a:latin typeface="Courier New" charset="0"/>
              </a:rPr>
              <a:t>System.out.println</a:t>
            </a: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("# The </a:t>
            </a:r>
            <a:r>
              <a:rPr lang="en-US" altLang="en-US" sz="1800" dirty="0" err="1">
                <a:solidFill>
                  <a:schemeClr val="tx1"/>
                </a:solidFill>
                <a:latin typeface="Courier New" charset="0"/>
              </a:rPr>
              <a:t>BlueJ</a:t>
            </a: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Line");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1800" dirty="0" err="1">
                <a:solidFill>
                  <a:schemeClr val="tx1"/>
                </a:solidFill>
                <a:latin typeface="Courier New" charset="0"/>
              </a:rPr>
              <a:t>System.out.println</a:t>
            </a: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("# Ticket");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1800" dirty="0" err="1">
                <a:solidFill>
                  <a:schemeClr val="tx1"/>
                </a:solidFill>
                <a:latin typeface="Courier New" charset="0"/>
              </a:rPr>
              <a:t>System.out.println</a:t>
            </a: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("# " + price + " cents.");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1800" dirty="0" err="1">
                <a:solidFill>
                  <a:schemeClr val="tx1"/>
                </a:solidFill>
                <a:latin typeface="Courier New" charset="0"/>
              </a:rPr>
              <a:t>System.out.println</a:t>
            </a: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("##################");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</a:t>
            </a:r>
            <a:r>
              <a:rPr lang="en-US" altLang="en-US" sz="1800" dirty="0" err="1">
                <a:solidFill>
                  <a:schemeClr val="tx1"/>
                </a:solidFill>
                <a:latin typeface="Courier New" charset="0"/>
              </a:rPr>
              <a:t>System.out.println</a:t>
            </a: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();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 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// Update the total collected with the balance.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total = total + balance;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// Clear the balance.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    balance = 0;</a:t>
            </a:r>
          </a:p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1800" dirty="0">
                <a:solidFill>
                  <a:schemeClr val="tx1"/>
                </a:solidFill>
                <a:latin typeface="Courier New" charset="0"/>
              </a:rPr>
              <a:t>} 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2"/>
          <p:cNvSpPr>
            <a:spLocks noGrp="1" noChangeArrowheads="1"/>
          </p:cNvSpPr>
          <p:nvPr>
            <p:ph type="title"/>
          </p:nvPr>
        </p:nvSpPr>
        <p:spPr/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String concatenation</a:t>
            </a:r>
          </a:p>
        </p:txBody>
      </p:sp>
      <p:sp>
        <p:nvSpPr>
          <p:cNvPr id="94211" name="Rectangle 3"/>
          <p:cNvSpPr>
            <a:spLocks noGrp="1" noChangeArrowheads="1"/>
          </p:cNvSpPr>
          <p:nvPr>
            <p:ph idx="1"/>
          </p:nvPr>
        </p:nvSpPr>
        <p:spPr/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>
              <a:lnSpc>
                <a:spcPct val="90000"/>
              </a:lnSpc>
              <a:defRPr/>
            </a:pPr>
            <a:r>
              <a:rPr lang="en-US" dirty="0">
                <a:ea typeface="+mn-ea"/>
                <a:cs typeface="+mn-cs"/>
              </a:rPr>
              <a:t>4 + 5</a:t>
            </a:r>
          </a:p>
          <a:p>
            <a:pPr marL="496888" lvl="1" indent="0">
              <a:lnSpc>
                <a:spcPct val="90000"/>
              </a:lnSpc>
              <a:buNone/>
              <a:defRPr/>
            </a:pPr>
            <a:r>
              <a:rPr lang="en-US" dirty="0">
                <a:solidFill>
                  <a:srgbClr val="BA2D00"/>
                </a:solidFill>
                <a:ea typeface="+mn-ea"/>
              </a:rPr>
              <a:t>9</a:t>
            </a:r>
          </a:p>
          <a:p>
            <a:pPr marL="382588">
              <a:lnSpc>
                <a:spcPct val="90000"/>
              </a:lnSpc>
              <a:spcBef>
                <a:spcPts val="1200"/>
              </a:spcBef>
              <a:defRPr/>
            </a:pPr>
            <a:r>
              <a:rPr lang="en-US" dirty="0">
                <a:ea typeface="+mn-ea"/>
                <a:cs typeface="+mn-cs"/>
              </a:rPr>
              <a:t>"wind" + "ow"</a:t>
            </a:r>
          </a:p>
          <a:p>
            <a:pPr marL="496888" lvl="1" indent="0">
              <a:lnSpc>
                <a:spcPct val="90000"/>
              </a:lnSpc>
              <a:buNone/>
              <a:defRPr/>
            </a:pPr>
            <a:r>
              <a:rPr lang="en-US" dirty="0">
                <a:solidFill>
                  <a:srgbClr val="BA2D00"/>
                </a:solidFill>
                <a:ea typeface="+mn-ea"/>
              </a:rPr>
              <a:t>"window"</a:t>
            </a:r>
          </a:p>
          <a:p>
            <a:pPr marL="382588">
              <a:lnSpc>
                <a:spcPct val="90000"/>
              </a:lnSpc>
              <a:spcBef>
                <a:spcPts val="1200"/>
              </a:spcBef>
              <a:defRPr/>
            </a:pPr>
            <a:r>
              <a:rPr lang="en-US" dirty="0">
                <a:ea typeface="+mn-ea"/>
                <a:cs typeface="+mn-cs"/>
              </a:rPr>
              <a:t>"Result: " + 6</a:t>
            </a:r>
          </a:p>
          <a:p>
            <a:pPr marL="496888" lvl="1" indent="0">
              <a:lnSpc>
                <a:spcPct val="90000"/>
              </a:lnSpc>
              <a:buNone/>
              <a:defRPr/>
            </a:pPr>
            <a:r>
              <a:rPr lang="en-US" dirty="0">
                <a:solidFill>
                  <a:srgbClr val="BA2D00"/>
                </a:solidFill>
                <a:ea typeface="+mn-ea"/>
              </a:rPr>
              <a:t>"Result: 6"</a:t>
            </a:r>
          </a:p>
          <a:p>
            <a:pPr marL="382588">
              <a:lnSpc>
                <a:spcPct val="90000"/>
              </a:lnSpc>
              <a:spcBef>
                <a:spcPts val="1200"/>
              </a:spcBef>
              <a:defRPr/>
            </a:pPr>
            <a:r>
              <a:rPr lang="en-US" dirty="0">
                <a:ea typeface="+mn-ea"/>
                <a:cs typeface="+mn-cs"/>
              </a:rPr>
              <a:t>"# " + price + " cents"</a:t>
            </a:r>
          </a:p>
          <a:p>
            <a:pPr marL="496888" lvl="1" indent="0">
              <a:lnSpc>
                <a:spcPct val="90000"/>
              </a:lnSpc>
              <a:buNone/>
              <a:defRPr/>
            </a:pPr>
            <a:r>
              <a:rPr lang="en-US" dirty="0">
                <a:solidFill>
                  <a:srgbClr val="BA2D00"/>
                </a:solidFill>
                <a:ea typeface="+mn-ea"/>
              </a:rPr>
              <a:t>"# 500 cents"</a:t>
            </a:r>
          </a:p>
        </p:txBody>
      </p:sp>
      <p:grpSp>
        <p:nvGrpSpPr>
          <p:cNvPr id="94212" name="Group 4"/>
          <p:cNvGrpSpPr>
            <a:grpSpLocks/>
          </p:cNvGrpSpPr>
          <p:nvPr/>
        </p:nvGrpSpPr>
        <p:grpSpPr bwMode="auto">
          <a:xfrm>
            <a:off x="6079611" y="2865438"/>
            <a:ext cx="3194050" cy="563562"/>
            <a:chOff x="0" y="31"/>
            <a:chExt cx="2011" cy="355"/>
          </a:xfrm>
        </p:grpSpPr>
        <p:sp>
          <p:nvSpPr>
            <p:cNvPr id="61445" name="Rectangle 5"/>
            <p:cNvSpPr>
              <a:spLocks/>
            </p:cNvSpPr>
            <p:nvPr/>
          </p:nvSpPr>
          <p:spPr bwMode="auto">
            <a:xfrm>
              <a:off x="472" y="31"/>
              <a:ext cx="1539" cy="3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40639" bIns="0" anchor="ctr">
              <a:spAutoFit/>
            </a:bodyPr>
            <a:lstStyle>
              <a:lvl1pPr marL="39688">
                <a:spcBef>
                  <a:spcPct val="20000"/>
                </a:spcBef>
                <a:buClr>
                  <a:srgbClr val="264D8B"/>
                </a:buClr>
                <a:buFont typeface="Times" charset="0"/>
                <a:buChar char="•"/>
                <a:defRPr sz="32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1pPr>
              <a:lvl2pPr marL="742950" indent="-285750">
                <a:spcBef>
                  <a:spcPct val="20000"/>
                </a:spcBef>
                <a:buClr>
                  <a:srgbClr val="264D8B"/>
                </a:buClr>
                <a:buChar char="–"/>
                <a:defRPr sz="28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2pPr>
              <a:lvl3pPr marL="1143000" indent="-228600">
                <a:spcBef>
                  <a:spcPct val="20000"/>
                </a:spcBef>
                <a:buClr>
                  <a:srgbClr val="264D8B"/>
                </a:buClr>
                <a:buChar char="•"/>
                <a:defRPr sz="24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3pPr>
              <a:lvl4pPr marL="1600200" indent="-228600">
                <a:spcBef>
                  <a:spcPct val="20000"/>
                </a:spcBef>
                <a:buClr>
                  <a:srgbClr val="264D8B"/>
                </a:buClr>
                <a:buChar char="–"/>
                <a:defRPr sz="20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4pPr>
              <a:lvl5pPr marL="2057400" indent="-228600">
                <a:spcBef>
                  <a:spcPct val="20000"/>
                </a:spcBef>
                <a:buClr>
                  <a:srgbClr val="264D8B"/>
                </a:buClr>
                <a:buChar char="»"/>
                <a:defRPr sz="20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264D8B"/>
                </a:buClr>
                <a:buChar char="»"/>
                <a:defRPr sz="20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264D8B"/>
                </a:buClr>
                <a:buChar char="»"/>
                <a:defRPr sz="20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264D8B"/>
                </a:buClr>
                <a:buChar char="»"/>
                <a:defRPr sz="20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rgbClr val="264D8B"/>
                </a:buClr>
                <a:buChar char="»"/>
                <a:defRPr sz="2000">
                  <a:solidFill>
                    <a:srgbClr val="1A3170"/>
                  </a:solidFill>
                  <a:latin typeface="Trebuchet MS" charset="0"/>
                  <a:ea typeface="MS PGothic" charset="-128"/>
                </a:defRPr>
              </a:lvl9pPr>
            </a:lstStyle>
            <a:p>
              <a:pPr eaLnBrk="1" hangingPunct="1">
                <a:spcBef>
                  <a:spcPct val="0"/>
                </a:spcBef>
                <a:buClrTx/>
                <a:buFontTx/>
                <a:buNone/>
              </a:pPr>
              <a:r>
                <a:rPr lang="en-US" altLang="en-US" sz="3600" b="0" dirty="0">
                  <a:solidFill>
                    <a:schemeClr val="tx1"/>
                  </a:solidFill>
                  <a:latin typeface="Helvetica" charset="0"/>
                  <a:sym typeface="Helvetica" charset="0"/>
                </a:rPr>
                <a:t>overloading</a:t>
              </a:r>
            </a:p>
          </p:txBody>
        </p:sp>
        <p:pic>
          <p:nvPicPr>
            <p:cNvPr id="61446" name="Picture 6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96"/>
              <a:ext cx="418" cy="2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25400">
                  <a:solidFill>
                    <a:srgbClr val="FFFFFF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" name="Rectangle 5">
            <a:extLst>
              <a:ext uri="{FF2B5EF4-FFF2-40B4-BE49-F238E27FC236}">
                <a16:creationId xmlns:a16="http://schemas.microsoft.com/office/drawing/2014/main" id="{E9386C77-71E4-C3F9-F3B2-D90644C449FC}"/>
              </a:ext>
            </a:extLst>
          </p:cNvPr>
          <p:cNvSpPr>
            <a:spLocks/>
          </p:cNvSpPr>
          <p:nvPr/>
        </p:nvSpPr>
        <p:spPr bwMode="auto">
          <a:xfrm>
            <a:off x="7673999" y="4225196"/>
            <a:ext cx="4495081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40639" bIns="0" anchor="ctr">
            <a:spAutoFit/>
          </a:bodyPr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3600" b="0" dirty="0">
                <a:solidFill>
                  <a:schemeClr val="tx1"/>
                </a:solidFill>
                <a:latin typeface="Helvetica" charset="0"/>
                <a:sym typeface="Helvetica" charset="0"/>
              </a:rPr>
              <a:t>+ has two different functionalities 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F8B09C8A-D5E7-581F-5448-8CEDCF426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337728">
            <a:off x="8072804" y="3597276"/>
            <a:ext cx="1200857" cy="460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FFFFFF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74"/>
                                          </p:stCondLst>
                                        </p:cTn>
                                        <p:tgtEl>
                                          <p:spTgt spid="942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42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42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5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8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211" grpId="0" build="p" bldLvl="5" autoUpdateAnimBg="0"/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C1236-7335-A720-56C6-78125D235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>
            <a:extLst>
              <a:ext uri="{FF2B5EF4-FFF2-40B4-BE49-F238E27FC236}">
                <a16:creationId xmlns:a16="http://schemas.microsoft.com/office/drawing/2014/main" id="{3FA26109-8378-C754-D65B-CCC3AEED446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72400" cy="1752600"/>
          </a:xfrm>
        </p:spPr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Quiz</a:t>
            </a:r>
          </a:p>
        </p:txBody>
      </p:sp>
      <p:sp>
        <p:nvSpPr>
          <p:cNvPr id="96259" name="Rectangle 3">
            <a:extLst>
              <a:ext uri="{FF2B5EF4-FFF2-40B4-BE49-F238E27FC236}">
                <a16:creationId xmlns:a16="http://schemas.microsoft.com/office/drawing/2014/main" id="{7A61779F-2F1A-79BD-CDC8-FDFD4039EC1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>
              <a:defRPr/>
            </a:pPr>
            <a:r>
              <a:rPr lang="en-US">
                <a:ea typeface="+mn-ea"/>
                <a:cs typeface="+mn-cs"/>
              </a:rPr>
              <a:t>System.out.println(5 + 6 + "hello");</a:t>
            </a:r>
          </a:p>
          <a:p>
            <a:pPr marL="39688" indent="0">
              <a:buNone/>
              <a:defRPr/>
            </a:pPr>
            <a:endParaRPr lang="en-US">
              <a:ea typeface="+mn-ea"/>
              <a:cs typeface="+mn-cs"/>
            </a:endParaRPr>
          </a:p>
          <a:p>
            <a:pPr marL="382588">
              <a:defRPr/>
            </a:pPr>
            <a:r>
              <a:rPr lang="en-US">
                <a:ea typeface="+mn-ea"/>
                <a:cs typeface="+mn-cs"/>
              </a:rPr>
              <a:t>System.out.println("hello" + 5 + 6);</a:t>
            </a:r>
          </a:p>
        </p:txBody>
      </p:sp>
    </p:spTree>
    <p:extLst>
      <p:ext uri="{BB962C8B-B14F-4D97-AF65-F5344CB8AC3E}">
        <p14:creationId xmlns:p14="http://schemas.microsoft.com/office/powerpoint/2010/main" val="2282642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72400" cy="1752600"/>
          </a:xfrm>
        </p:spPr>
        <p:txBody>
          <a:bodyPr vert="horz" wrap="square" lIns="91440" tIns="91439" rIns="81279" bIns="91439" numCol="1" anchor="ctr" anchorCtr="0" compatLnSpc="1">
            <a:prstTxWarp prst="textNoShape">
              <a:avLst/>
            </a:prstTxWarp>
            <a:normAutofit/>
          </a:bodyPr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Quiz</a:t>
            </a:r>
          </a:p>
        </p:txBody>
      </p:sp>
      <p:sp>
        <p:nvSpPr>
          <p:cNvPr id="96259" name="Rectangle 3"/>
          <p:cNvSpPr>
            <a:spLocks noGrp="1" noChangeArrowheads="1"/>
          </p:cNvSpPr>
          <p:nvPr>
            <p:ph idx="1"/>
          </p:nvPr>
        </p:nvSpPr>
        <p:spPr/>
        <p:txBody>
          <a:bodyPr vert="horz" wrap="square" lIns="91440" tIns="91439" rIns="233680" bIns="91439" numCol="1" anchor="t" anchorCtr="0" compatLnSpc="1">
            <a:prstTxWarp prst="textNoShape">
              <a:avLst/>
            </a:prstTxWarp>
            <a:normAutofit/>
          </a:bodyPr>
          <a:lstStyle/>
          <a:p>
            <a:pPr marL="382588">
              <a:defRPr/>
            </a:pPr>
            <a:r>
              <a:rPr lang="en-US">
                <a:ea typeface="+mn-ea"/>
                <a:cs typeface="+mn-cs"/>
              </a:rPr>
              <a:t>System.out.println(5 + 6 + "hello");</a:t>
            </a:r>
          </a:p>
          <a:p>
            <a:pPr marL="39688" indent="0">
              <a:buNone/>
              <a:defRPr/>
            </a:pPr>
            <a:endParaRPr lang="en-US">
              <a:ea typeface="+mn-ea"/>
              <a:cs typeface="+mn-cs"/>
            </a:endParaRPr>
          </a:p>
          <a:p>
            <a:pPr marL="382588">
              <a:defRPr/>
            </a:pPr>
            <a:r>
              <a:rPr lang="en-US">
                <a:ea typeface="+mn-ea"/>
                <a:cs typeface="+mn-cs"/>
              </a:rPr>
              <a:t>System.out.println("hello" + 5 + 6);</a:t>
            </a:r>
          </a:p>
        </p:txBody>
      </p:sp>
      <p:sp>
        <p:nvSpPr>
          <p:cNvPr id="96260" name="Rectangle 4"/>
          <p:cNvSpPr>
            <a:spLocks/>
          </p:cNvSpPr>
          <p:nvPr/>
        </p:nvSpPr>
        <p:spPr bwMode="auto">
          <a:xfrm>
            <a:off x="6972303" y="2599552"/>
            <a:ext cx="2022669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40639" bIns="0" anchor="ctr">
            <a:spAutoFit/>
          </a:bodyPr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3600">
                <a:solidFill>
                  <a:srgbClr val="BA2D00"/>
                </a:solidFill>
                <a:latin typeface="Courier New" charset="0"/>
                <a:sym typeface="Courier" charset="0"/>
              </a:rPr>
              <a:t>11hello</a:t>
            </a:r>
          </a:p>
        </p:txBody>
      </p:sp>
      <p:sp>
        <p:nvSpPr>
          <p:cNvPr id="96261" name="Rectangle 5"/>
          <p:cNvSpPr>
            <a:spLocks/>
          </p:cNvSpPr>
          <p:nvPr/>
        </p:nvSpPr>
        <p:spPr bwMode="auto">
          <a:xfrm>
            <a:off x="6972303" y="4293096"/>
            <a:ext cx="2022669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40639" bIns="0" anchor="ctr">
            <a:spAutoFit/>
          </a:bodyPr>
          <a:lstStyle>
            <a:lvl1pPr marL="39688"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US" altLang="en-US" sz="3600">
                <a:solidFill>
                  <a:srgbClr val="BA2D00"/>
                </a:solidFill>
                <a:latin typeface="Courier New" charset="0"/>
                <a:sym typeface="Courier" charset="0"/>
              </a:rPr>
              <a:t>hello56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62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62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62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62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260" grpId="0" autoUpdateAnimBg="0"/>
      <p:bldP spid="96261" grpId="0" autoUpdateAnimBg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42025-E71E-E9B2-525A-82A5977D7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Formatted printing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AEA59-FCC9-B81A-EE67-0000BDBE1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/>
              <a:t>Concatenation can be used to create output in a desired format.</a:t>
            </a:r>
          </a:p>
          <a:p>
            <a:r>
              <a:rPr lang="en-GB"/>
              <a:t>An alternative is to use </a:t>
            </a:r>
            <a:r>
              <a:rPr lang="en-GB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GB"/>
              <a:t>.</a:t>
            </a:r>
          </a:p>
          <a:p>
            <a:r>
              <a:rPr lang="en-GB"/>
              <a:t>The first argument gives the overall structure.</a:t>
            </a:r>
          </a:p>
          <a:p>
            <a:r>
              <a:rPr lang="en-GB"/>
              <a:t>Format specifiers represent 'holes' to be filled in by the other arguments.</a:t>
            </a:r>
          </a:p>
        </p:txBody>
      </p:sp>
    </p:spTree>
    <p:extLst>
      <p:ext uri="{BB962C8B-B14F-4D97-AF65-F5344CB8AC3E}">
        <p14:creationId xmlns:p14="http://schemas.microsoft.com/office/powerpoint/2010/main" val="41157084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42025-E71E-E9B2-525A-82A5977D7E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Formatted printing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AEA59-FCC9-B81A-EE67-0000BDBE1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/>
              <a:t>Concatenation:</a:t>
            </a:r>
            <a:br>
              <a:rPr lang="en-GB"/>
            </a:br>
            <a:r>
              <a:rPr lang="en-US" altLang="en-US" sz="3300">
                <a:solidFill>
                  <a:schemeClr val="tx1"/>
                </a:solidFill>
                <a:latin typeface="Courier New" charset="0"/>
              </a:rPr>
              <a:t>System.out.println("# " + price + " cents.");</a:t>
            </a:r>
            <a:endParaRPr lang="en-GB" sz="3300"/>
          </a:p>
          <a:p>
            <a:r>
              <a:rPr lang="en-GB"/>
              <a:t>Using </a:t>
            </a:r>
            <a:r>
              <a:rPr lang="en-GB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GB"/>
              <a:t>:</a:t>
            </a:r>
            <a:br>
              <a:rPr lang="en-GB"/>
            </a:br>
            <a:r>
              <a:rPr lang="en-US" altLang="en-US" sz="3500" err="1">
                <a:solidFill>
                  <a:schemeClr val="tx1"/>
                </a:solidFill>
                <a:latin typeface="Courier New" charset="0"/>
              </a:rPr>
              <a:t>System.out.printf</a:t>
            </a:r>
            <a:r>
              <a:rPr lang="en-US" altLang="en-US" sz="3500">
                <a:solidFill>
                  <a:schemeClr val="tx1"/>
                </a:solidFill>
                <a:latin typeface="Courier New" charset="0"/>
              </a:rPr>
              <a:t>("# %d </a:t>
            </a:r>
            <a:r>
              <a:rPr lang="en-US" altLang="en-US" sz="3500" err="1">
                <a:solidFill>
                  <a:schemeClr val="tx1"/>
                </a:solidFill>
                <a:latin typeface="Courier New" charset="0"/>
              </a:rPr>
              <a:t>cents.%n</a:t>
            </a:r>
            <a:r>
              <a:rPr lang="en-US" altLang="en-US" sz="3500">
                <a:solidFill>
                  <a:schemeClr val="tx1"/>
                </a:solidFill>
                <a:latin typeface="Courier New" charset="0"/>
              </a:rPr>
              <a:t>", price);</a:t>
            </a:r>
            <a:endParaRPr lang="en-GB" sz="6500"/>
          </a:p>
          <a:p>
            <a:r>
              <a:rPr lang="en-GB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%d </a:t>
            </a:r>
            <a:r>
              <a:rPr lang="en-GB"/>
              <a:t>means insert the next argument as an integer value at this point.</a:t>
            </a:r>
          </a:p>
          <a:p>
            <a:r>
              <a:rPr lang="en-GB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%n</a:t>
            </a:r>
            <a:r>
              <a:rPr lang="en-GB" b="1">
                <a:solidFill>
                  <a:schemeClr val="tx1"/>
                </a:solidFill>
              </a:rPr>
              <a:t> </a:t>
            </a:r>
            <a:r>
              <a:rPr lang="en-GB"/>
              <a:t>means 'end the line' (i.e., 'insert' a newline) at this point.</a:t>
            </a:r>
          </a:p>
        </p:txBody>
      </p:sp>
    </p:spTree>
    <p:extLst>
      <p:ext uri="{BB962C8B-B14F-4D97-AF65-F5344CB8AC3E}">
        <p14:creationId xmlns:p14="http://schemas.microsoft.com/office/powerpoint/2010/main" val="2808692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en-US">
                <a:ea typeface="MS PGothic" charset="-128"/>
              </a:rPr>
              <a:t>Method summary</a:t>
            </a:r>
          </a:p>
        </p:txBody>
      </p:sp>
      <p:sp>
        <p:nvSpPr>
          <p:cNvPr id="65538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altLang="en-US" sz="3600">
                <a:ea typeface="MS PGothic" charset="-128"/>
              </a:rPr>
              <a:t>Methods implement all object behavior.</a:t>
            </a:r>
          </a:p>
          <a:p>
            <a:r>
              <a:rPr lang="en-GB" altLang="en-US" sz="3600">
                <a:ea typeface="MS PGothic" charset="-128"/>
              </a:rPr>
              <a:t>A method has a name and a return type.</a:t>
            </a:r>
          </a:p>
          <a:p>
            <a:pPr lvl="1"/>
            <a:r>
              <a:rPr lang="en-GB" altLang="en-US" sz="3200">
                <a:ea typeface="MS PGothic" charset="-128"/>
              </a:rPr>
              <a:t>The return-type may be </a:t>
            </a:r>
            <a:r>
              <a:rPr lang="en-GB" altLang="en-US" sz="3200" b="1">
                <a:latin typeface="Courier New" charset="0"/>
                <a:ea typeface="MS PGothic" charset="-128"/>
              </a:rPr>
              <a:t>void</a:t>
            </a:r>
            <a:r>
              <a:rPr lang="en-GB" altLang="en-US" sz="3200">
                <a:ea typeface="MS PGothic" charset="-128"/>
              </a:rPr>
              <a:t>.</a:t>
            </a:r>
          </a:p>
          <a:p>
            <a:pPr lvl="1"/>
            <a:r>
              <a:rPr lang="en-GB" altLang="en-US" sz="3200">
                <a:ea typeface="MS PGothic" charset="-128"/>
              </a:rPr>
              <a:t>A non-</a:t>
            </a:r>
            <a:r>
              <a:rPr lang="en-GB" altLang="en-US" sz="3200" b="1">
                <a:latin typeface="Courier New" charset="0"/>
                <a:ea typeface="MS PGothic" charset="-128"/>
              </a:rPr>
              <a:t>void</a:t>
            </a:r>
            <a:r>
              <a:rPr lang="en-GB" altLang="en-US" sz="3200">
                <a:ea typeface="MS PGothic" charset="-128"/>
              </a:rPr>
              <a:t> return type means the method will return a value to its caller.</a:t>
            </a:r>
          </a:p>
          <a:p>
            <a:r>
              <a:rPr lang="en-GB" altLang="en-US" sz="3600">
                <a:ea typeface="MS PGothic" charset="-128"/>
              </a:rPr>
              <a:t>A method might take parameters.</a:t>
            </a:r>
          </a:p>
          <a:p>
            <a:pPr lvl="1"/>
            <a:r>
              <a:rPr lang="en-GB" altLang="en-US" sz="3200">
                <a:ea typeface="MS PGothic" charset="-128"/>
              </a:rPr>
              <a:t>Parameters bring values in from outside for the method to use.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>
                <a:ea typeface="+mj-ea"/>
                <a:cs typeface="+mj-cs"/>
              </a:rPr>
              <a:t>Reflecting on the ticket machines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>
                <a:ea typeface="+mn-ea"/>
                <a:cs typeface="+mn-cs"/>
              </a:rPr>
              <a:t>Their behavior is inadequate in several ways:</a:t>
            </a:r>
          </a:p>
          <a:p>
            <a:pPr lvl="1" eaLnBrk="1" hangingPunct="1">
              <a:defRPr/>
            </a:pPr>
            <a:r>
              <a:rPr lang="en-US">
                <a:ea typeface="+mn-ea"/>
              </a:rPr>
              <a:t>No checks on the amounts entered.</a:t>
            </a:r>
          </a:p>
          <a:p>
            <a:pPr lvl="1" eaLnBrk="1" hangingPunct="1">
              <a:defRPr/>
            </a:pPr>
            <a:r>
              <a:rPr lang="en-US">
                <a:ea typeface="+mn-ea"/>
              </a:rPr>
              <a:t>No refunds.</a:t>
            </a:r>
          </a:p>
          <a:p>
            <a:pPr lvl="1" eaLnBrk="1" hangingPunct="1">
              <a:defRPr/>
            </a:pPr>
            <a:r>
              <a:rPr lang="en-US">
                <a:ea typeface="+mn-ea"/>
              </a:rPr>
              <a:t>No checks for a sensible initialization.</a:t>
            </a:r>
          </a:p>
          <a:p>
            <a:pPr eaLnBrk="1" hangingPunct="1">
              <a:defRPr/>
            </a:pPr>
            <a:r>
              <a:rPr lang="en-US">
                <a:ea typeface="+mn-ea"/>
                <a:cs typeface="+mn-cs"/>
              </a:rPr>
              <a:t>How can we do better?</a:t>
            </a:r>
          </a:p>
          <a:p>
            <a:pPr lvl="1" eaLnBrk="1" hangingPunct="1">
              <a:defRPr/>
            </a:pPr>
            <a:r>
              <a:rPr lang="en-US">
                <a:ea typeface="+mn-ea"/>
              </a:rPr>
              <a:t>We need the ability to choose between different courses of action.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F5CEC-C519-7415-E8C5-6165A0F60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BD32-6831-866D-240C-B756434CF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63E13AD8-C2EB-2965-C5E5-DBF2EFD05D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740345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class-definitions</Template>
  <TotalTime>600</TotalTime>
  <Words>1486</Words>
  <Application>Microsoft Macintosh PowerPoint</Application>
  <PresentationFormat>Widescreen</PresentationFormat>
  <Paragraphs>270</Paragraphs>
  <Slides>27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7" baseType="lpstr">
      <vt:lpstr>MS PGothic</vt:lpstr>
      <vt:lpstr>Arial</vt:lpstr>
      <vt:lpstr>Calibri</vt:lpstr>
      <vt:lpstr>Courier New</vt:lpstr>
      <vt:lpstr>Courier New Bold</vt:lpstr>
      <vt:lpstr>Helvetica</vt:lpstr>
      <vt:lpstr>Lucida Grande</vt:lpstr>
      <vt:lpstr>Times New Roman</vt:lpstr>
      <vt:lpstr>Tw Cen MT</vt:lpstr>
      <vt:lpstr>a-processing-mouse-event-methods</vt:lpstr>
      <vt:lpstr>Understanding class definitions 2</vt:lpstr>
      <vt:lpstr>Upcoming</vt:lpstr>
      <vt:lpstr>Methods</vt:lpstr>
      <vt:lpstr>Method structure</vt:lpstr>
      <vt:lpstr>Getter methods</vt:lpstr>
      <vt:lpstr>Accessor methods</vt:lpstr>
      <vt:lpstr>Test – syntax errors</vt:lpstr>
      <vt:lpstr>Test</vt:lpstr>
      <vt:lpstr>Mutator methods</vt:lpstr>
      <vt:lpstr>setter methods</vt:lpstr>
      <vt:lpstr>A typical set method</vt:lpstr>
      <vt:lpstr>Protective mutators</vt:lpstr>
      <vt:lpstr>Another mutator method</vt:lpstr>
      <vt:lpstr>The this keyword</vt:lpstr>
      <vt:lpstr>The this keyword</vt:lpstr>
      <vt:lpstr>The this keyword</vt:lpstr>
      <vt:lpstr>The this keyword</vt:lpstr>
      <vt:lpstr>The this keyword</vt:lpstr>
      <vt:lpstr>Printing from methods</vt:lpstr>
      <vt:lpstr>String concatenation</vt:lpstr>
      <vt:lpstr>Quiz</vt:lpstr>
      <vt:lpstr>Quiz</vt:lpstr>
      <vt:lpstr>Formatted printing</vt:lpstr>
      <vt:lpstr>Formatted printing</vt:lpstr>
      <vt:lpstr>Method summary</vt:lpstr>
      <vt:lpstr>Reflecting on the ticket machines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Objects First With Java - Chapter 2</dc:title>
  <dc:subject/>
  <dc:creator>David J. Barnes, Michael Kölling</dc:creator>
  <cp:keywords/>
  <dc:description>Copyright © David J. Barnes, Michael Kölling</dc:description>
  <cp:lastModifiedBy>Mairead Meagher</cp:lastModifiedBy>
  <cp:revision>196</cp:revision>
  <cp:lastPrinted>2003-09-01T07:04:41Z</cp:lastPrinted>
  <dcterms:created xsi:type="dcterms:W3CDTF">2009-04-22T19:24:48Z</dcterms:created>
  <dcterms:modified xsi:type="dcterms:W3CDTF">2025-09-20T19:23:49Z</dcterms:modified>
  <cp:category/>
</cp:coreProperties>
</file>