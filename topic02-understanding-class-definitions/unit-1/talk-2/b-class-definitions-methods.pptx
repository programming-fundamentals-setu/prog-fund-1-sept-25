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44"/>
  </p:notesMasterIdLst>
  <p:handoutMasterIdLst>
    <p:handoutMasterId r:id="rId45"/>
  </p:handoutMasterIdLst>
  <p:sldIdLst>
    <p:sldId id="256" r:id="rId2"/>
    <p:sldId id="348" r:id="rId3"/>
    <p:sldId id="265" r:id="rId4"/>
    <p:sldId id="288" r:id="rId5"/>
    <p:sldId id="266" r:id="rId6"/>
    <p:sldId id="289" r:id="rId7"/>
    <p:sldId id="279" r:id="rId8"/>
    <p:sldId id="304" r:id="rId9"/>
    <p:sldId id="267" r:id="rId10"/>
    <p:sldId id="290" r:id="rId11"/>
    <p:sldId id="291" r:id="rId12"/>
    <p:sldId id="299" r:id="rId13"/>
    <p:sldId id="268" r:id="rId14"/>
    <p:sldId id="303" r:id="rId15"/>
    <p:sldId id="354" r:id="rId16"/>
    <p:sldId id="351" r:id="rId17"/>
    <p:sldId id="353" r:id="rId18"/>
    <p:sldId id="352" r:id="rId19"/>
    <p:sldId id="269" r:id="rId20"/>
    <p:sldId id="282" r:id="rId21"/>
    <p:sldId id="349" r:id="rId22"/>
    <p:sldId id="283" r:id="rId23"/>
    <p:sldId id="301" r:id="rId24"/>
    <p:sldId id="302" r:id="rId25"/>
    <p:sldId id="292" r:id="rId26"/>
    <p:sldId id="270" r:id="rId27"/>
    <p:sldId id="355" r:id="rId28"/>
    <p:sldId id="360" r:id="rId29"/>
    <p:sldId id="276" r:id="rId30"/>
    <p:sldId id="361" r:id="rId31"/>
    <p:sldId id="293" r:id="rId32"/>
    <p:sldId id="296" r:id="rId33"/>
    <p:sldId id="271" r:id="rId34"/>
    <p:sldId id="362" r:id="rId35"/>
    <p:sldId id="359" r:id="rId36"/>
    <p:sldId id="363" r:id="rId37"/>
    <p:sldId id="356" r:id="rId38"/>
    <p:sldId id="357" r:id="rId39"/>
    <p:sldId id="306" r:id="rId40"/>
    <p:sldId id="313" r:id="rId41"/>
    <p:sldId id="358" r:id="rId42"/>
    <p:sldId id="35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6"/>
    <p:restoredTop sz="94725"/>
  </p:normalViewPr>
  <p:slideViewPr>
    <p:cSldViewPr>
      <p:cViewPr varScale="1">
        <p:scale>
          <a:sx n="104" d="100"/>
          <a:sy n="104" d="100"/>
        </p:scale>
        <p:origin x="240" y="3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301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F01C2B9-F148-D248-8B24-36F43746ED6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54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60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42B80AA9-9110-5649-856E-9959702D86F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538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915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91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D87F04AC-66A4-8A46-8CF7-4EB8D4BAC17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275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8B82-A232-E607-AD42-E16EA067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4334F84B-A9CB-D2FF-763B-B9277DAC5C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9154" name="Rectangle 6">
            <a:extLst>
              <a:ext uri="{FF2B5EF4-FFF2-40B4-BE49-F238E27FC236}">
                <a16:creationId xmlns:a16="http://schemas.microsoft.com/office/drawing/2014/main" id="{AF1B7357-07BE-D8B6-6EA6-2B9AA2855E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AEBCC6A2-40C2-FD5A-40D0-9EA09CDF77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D87F04AC-66A4-8A46-8CF7-4EB8D4BAC17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22CC24A8-480A-A51D-CFA7-A6242AD6C7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>
            <a:extLst>
              <a:ext uri="{FF2B5EF4-FFF2-40B4-BE49-F238E27FC236}">
                <a16:creationId xmlns:a16="http://schemas.microsoft.com/office/drawing/2014/main" id="{FAAF8EEE-3291-7083-ED63-F6D8AB02C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598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5325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532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C979DF4-CC73-9B4F-8FFB-0055A5D5E511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8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5529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552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5B76FE57-F2C0-4646-9243-30FE5272AB4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5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009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04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CEE1565E-29AA-3446-A164-B8D1885B9D1E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810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24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3DCE7E3-7332-834C-B906-2AEF9A08C04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20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try out in codepad</a:t>
            </a:r>
          </a:p>
        </p:txBody>
      </p:sp>
    </p:spTree>
    <p:extLst>
      <p:ext uri="{BB962C8B-B14F-4D97-AF65-F5344CB8AC3E}">
        <p14:creationId xmlns:p14="http://schemas.microsoft.com/office/powerpoint/2010/main" val="314939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F1B8-C70D-F191-0A84-6147FC32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4F6D4727-1C9B-5F6B-62CF-506FC25626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4514" name="Rectangle 6">
            <a:extLst>
              <a:ext uri="{FF2B5EF4-FFF2-40B4-BE49-F238E27FC236}">
                <a16:creationId xmlns:a16="http://schemas.microsoft.com/office/drawing/2014/main" id="{94EE65B2-6786-C887-D606-41B066B0F1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4515" name="Rectangle 7">
            <a:extLst>
              <a:ext uri="{FF2B5EF4-FFF2-40B4-BE49-F238E27FC236}">
                <a16:creationId xmlns:a16="http://schemas.microsoft.com/office/drawing/2014/main" id="{E3B1C645-DDC0-0AB2-E1F8-958482AE4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68F1F93-EB3A-2A46-83B6-547F456C1C5F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BF64AD31-EE87-CD08-E7F4-DF8B72C02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712BCBB8-AF08-D87E-23FF-0F1CCC07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en-US" sz="1600">
              <a:latin typeface="Lucida Grande" charset="0"/>
              <a:ea typeface="ＭＳ Ｐゴシック" charset="-128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76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45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45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68F1F93-EB3A-2A46-83B6-547F456C1C5F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4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en-US" sz="1600">
              <a:latin typeface="Lucida Grande" charset="0"/>
              <a:ea typeface="ＭＳ Ｐゴシック" charset="-128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545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758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69974D1-C273-1A44-83FD-CD5A69E869C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7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204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29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3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ED87-AC10-B89C-20DE-8013F002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6401945-7709-DF74-E0D9-8758BC07AB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C53D51BE-67ED-05B5-2346-21149BCF70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5B9518-7F24-DCB3-E90D-5328421EF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30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4503B63-6077-4B2E-7EFC-AFFF2CAED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F34A593F-867A-B84E-CC68-E199F9231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579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32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05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35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half multiple </a:t>
            </a:r>
            <a:r>
              <a:rPr lang="en-US" dirty="0" err="1"/>
              <a:t>ocurences</a:t>
            </a:r>
            <a:r>
              <a:rPr lang="en-US" dirty="0"/>
              <a:t> of “else if” </a:t>
            </a:r>
          </a:p>
        </p:txBody>
      </p:sp>
    </p:spTree>
    <p:extLst>
      <p:ext uri="{BB962C8B-B14F-4D97-AF65-F5344CB8AC3E}">
        <p14:creationId xmlns:p14="http://schemas.microsoft.com/office/powerpoint/2010/main" val="646854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E054-A482-661A-E72C-5437454B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98BA9EB9-9E4C-A193-9837-1A492941A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1375909F-167B-F7A5-11C7-253D1E3452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36D45D92-73AD-B7A6-F0DE-2D55A13D4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95ABC380-CA8E-3E50-4B02-939E753D9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EFF46FC0-B7F8-6E55-6841-F9C59DAD2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523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I would advise to use use them to avoid errors</a:t>
            </a:r>
            <a:r>
              <a:rPr lang="en-GB" baseline="0" dirty="0"/>
              <a:t> when updating programs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75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  <a:p>
            <a:pPr marL="171450" indent="-171450">
              <a:buFontTx/>
              <a:buChar char="-"/>
            </a:pPr>
            <a:r>
              <a:rPr lang="en-GB" dirty="0"/>
              <a:t>A simple</a:t>
            </a:r>
            <a:r>
              <a:rPr lang="en-GB" baseline="0" dirty="0"/>
              <a:t> statement ends in a semi colon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 compound statement is a collection of statement surround by curly braces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An if statement is the if keyword followed by a condition in brackets followed by compound statement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718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0583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625600" y="1828800"/>
            <a:ext cx="99568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961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 2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>
                <a:ea typeface="MS PGothic" charset="-128"/>
              </a:rPr>
              <a:t>Methods, including:</a:t>
            </a:r>
          </a:p>
          <a:p>
            <a:pPr lvl="1" eaLnBrk="1" hangingPunct="1"/>
            <a:r>
              <a:rPr lang="en-US" altLang="en-US" i="1">
                <a:ea typeface="MS PGothic" charset="-128"/>
              </a:rPr>
              <a:t>accessor </a:t>
            </a:r>
            <a:r>
              <a:rPr lang="en-US" altLang="en-US">
                <a:ea typeface="MS PGothic" charset="-128"/>
              </a:rPr>
              <a:t>(</a:t>
            </a:r>
            <a:r>
              <a:rPr lang="en-US" altLang="en-US" i="1">
                <a:ea typeface="MS PGothic" charset="-128"/>
              </a:rPr>
              <a:t>getter</a:t>
            </a:r>
            <a:r>
              <a:rPr lang="en-US" altLang="en-US">
                <a:ea typeface="MS PGothic" charset="-128"/>
              </a:rPr>
              <a:t>) methods</a:t>
            </a:r>
          </a:p>
          <a:p>
            <a:pPr lvl="1" eaLnBrk="1" hangingPunct="1"/>
            <a:r>
              <a:rPr lang="en-US" altLang="en-US" i="1">
                <a:ea typeface="MS PGothic" charset="-128"/>
              </a:rPr>
              <a:t>mutator</a:t>
            </a:r>
            <a:r>
              <a:rPr lang="en-US" altLang="en-US">
                <a:ea typeface="MS PGothic" charset="-128"/>
              </a:rPr>
              <a:t> (</a:t>
            </a:r>
            <a:r>
              <a:rPr lang="en-US" altLang="en-US" i="1">
                <a:ea typeface="MS PGothic" charset="-128"/>
              </a:rPr>
              <a:t>setter</a:t>
            </a:r>
            <a:r>
              <a:rPr lang="en-US" altLang="en-US">
                <a:ea typeface="MS PGothic" charset="-128"/>
              </a:rPr>
              <a:t>) methods;</a:t>
            </a:r>
          </a:p>
          <a:p>
            <a:pPr marL="382588"/>
            <a:r>
              <a:rPr lang="en-US" altLang="en-US">
                <a:ea typeface="MS PGothic" charset="-128"/>
              </a:rPr>
              <a:t>String formatting;</a:t>
            </a:r>
          </a:p>
          <a:p>
            <a:pPr marL="382588"/>
            <a:r>
              <a:rPr lang="en-US" altLang="en-US">
                <a:ea typeface="MS PGothic" charset="-128"/>
              </a:rPr>
              <a:t>Conditional statements;</a:t>
            </a:r>
          </a:p>
          <a:p>
            <a:pPr marL="382588"/>
            <a:r>
              <a:rPr lang="en-US" altLang="en-US">
                <a:ea typeface="MS PGothic" charset="-128"/>
              </a:rPr>
              <a:t>Local variables. (next </a:t>
            </a:r>
            <a:r>
              <a:rPr lang="en-US" altLang="en-US" err="1">
                <a:ea typeface="MS PGothic" charset="-128"/>
              </a:rPr>
              <a:t>slidedeck</a:t>
            </a:r>
            <a:r>
              <a:rPr lang="en-US" altLang="en-US">
                <a:ea typeface="MS PGothic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Methods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ea typeface="MS PGothic" charset="-128"/>
              </a:rPr>
              <a:t>Methods implement the </a:t>
            </a:r>
            <a:r>
              <a:rPr lang="en-IE" sz="3600" i="1" noProof="0" dirty="0">
                <a:ea typeface="MS PGothic" charset="-128"/>
              </a:rPr>
              <a:t>behaviour</a:t>
            </a:r>
            <a:r>
              <a:rPr lang="en-US" altLang="en-US" sz="3600" dirty="0">
                <a:ea typeface="MS PGothic" charset="-128"/>
              </a:rPr>
              <a:t> of objects.</a:t>
            </a:r>
          </a:p>
          <a:p>
            <a:pPr eaLnBrk="1" hangingPunct="1"/>
            <a:r>
              <a:rPr lang="en-US" altLang="en-US" sz="3600" dirty="0">
                <a:ea typeface="MS PGothic" charset="-128"/>
              </a:rPr>
              <a:t>Methods have a consistent structure comprised of a </a:t>
            </a:r>
            <a:r>
              <a:rPr lang="en-US" altLang="en-US" sz="3600" i="1" dirty="0">
                <a:ea typeface="MS PGothic" charset="-128"/>
              </a:rPr>
              <a:t>header</a:t>
            </a:r>
            <a:r>
              <a:rPr lang="en-US" altLang="en-US" sz="3600" dirty="0">
                <a:ea typeface="MS PGothic" charset="-128"/>
              </a:rPr>
              <a:t> and a </a:t>
            </a:r>
            <a:r>
              <a:rPr lang="en-US" altLang="en-US" sz="3600" i="1" dirty="0">
                <a:ea typeface="MS PGothic" charset="-128"/>
              </a:rPr>
              <a:t>body</a:t>
            </a:r>
            <a:r>
              <a:rPr lang="en-US" altLang="en-US" sz="3600" dirty="0">
                <a:ea typeface="MS PGothic" charset="-128"/>
              </a:rPr>
              <a:t>.</a:t>
            </a:r>
          </a:p>
          <a:p>
            <a:pPr eaLnBrk="1" hangingPunct="1"/>
            <a:r>
              <a:rPr lang="en-US" altLang="en-US" sz="3600" i="1" dirty="0">
                <a:ea typeface="MS PGothic" charset="-128"/>
              </a:rPr>
              <a:t>Accessor methods</a:t>
            </a:r>
            <a:r>
              <a:rPr lang="en-US" altLang="en-US" sz="3600" dirty="0">
                <a:ea typeface="MS PGothic" charset="-128"/>
              </a:rPr>
              <a:t> provide information about an object.</a:t>
            </a:r>
          </a:p>
          <a:p>
            <a:pPr eaLnBrk="1" hangingPunct="1"/>
            <a:r>
              <a:rPr lang="en-US" altLang="en-US" sz="3600" i="1" dirty="0">
                <a:ea typeface="MS PGothic" charset="-128"/>
              </a:rPr>
              <a:t>Mutator methods</a:t>
            </a:r>
            <a:r>
              <a:rPr lang="en-US" altLang="en-US" sz="3600" dirty="0">
                <a:ea typeface="MS PGothic" charset="-128"/>
              </a:rPr>
              <a:t> change the state of an object.</a:t>
            </a:r>
          </a:p>
          <a:p>
            <a:pPr eaLnBrk="1" hangingPunct="1"/>
            <a:r>
              <a:rPr lang="en-US" altLang="en-US" sz="3600" dirty="0">
                <a:ea typeface="MS PGothic" charset="-128"/>
              </a:rPr>
              <a:t>Other sorts of methods accomplish a variety of tasks.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Method structure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>
                <a:ea typeface="MS PGothic" charset="-128"/>
              </a:rPr>
              <a:t>Accessor methods often occur in the form of </a:t>
            </a:r>
            <a:r>
              <a:rPr lang="en-US" altLang="en-US" sz="3200" i="1">
                <a:ea typeface="MS PGothic" charset="-128"/>
              </a:rPr>
              <a:t>getter</a:t>
            </a:r>
            <a:r>
              <a:rPr lang="en-US" altLang="en-US" sz="3200">
                <a:ea typeface="MS PGothic" charset="-128"/>
              </a:rPr>
              <a:t> methods.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>
                <a:ea typeface="MS PGothic" charset="-128"/>
              </a:rPr>
              <a:t>The header</a:t>
            </a:r>
            <a:r>
              <a:rPr lang="en-US" altLang="ja-JP" sz="3200">
                <a:ea typeface="MS PGothic" charset="-128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>
                <a:latin typeface="Courier New" charset="0"/>
                <a:ea typeface="MS PGothic" charset="-128"/>
              </a:rPr>
              <a:t>public </a:t>
            </a:r>
            <a:r>
              <a:rPr lang="en-US" altLang="en-US" sz="2800" b="1" err="1">
                <a:latin typeface="Courier New" charset="0"/>
                <a:ea typeface="MS PGothic" charset="-128"/>
              </a:rPr>
              <a:t>int</a:t>
            </a:r>
            <a:r>
              <a:rPr lang="en-US" altLang="en-US" sz="2800" b="1">
                <a:latin typeface="Courier New" charset="0"/>
                <a:ea typeface="MS PGothic" charset="-128"/>
              </a:rPr>
              <a:t> </a:t>
            </a:r>
            <a:r>
              <a:rPr lang="en-US" altLang="en-US" sz="2800" b="1" err="1">
                <a:latin typeface="Courier New" charset="0"/>
                <a:ea typeface="MS PGothic" charset="-128"/>
              </a:rPr>
              <a:t>getPrice</a:t>
            </a:r>
            <a:r>
              <a:rPr lang="en-US" altLang="en-US" sz="2800" b="1">
                <a:latin typeface="Courier New" charset="0"/>
                <a:ea typeface="MS PGothic" charset="-128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>
                <a:ea typeface="MS PGothic" charset="-128"/>
              </a:rPr>
              <a:t>The header tells us: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ea typeface="MS PGothic" charset="-128"/>
              </a:rPr>
              <a:t>the </a:t>
            </a:r>
            <a:r>
              <a:rPr lang="en-US" altLang="en-US" sz="2800" i="1">
                <a:ea typeface="MS PGothic" charset="-128"/>
              </a:rPr>
              <a:t>visibility</a:t>
            </a:r>
            <a:r>
              <a:rPr lang="en-US" altLang="en-US" sz="2800">
                <a:ea typeface="MS PGothic" charset="-128"/>
              </a:rPr>
              <a:t> to objects of other classes (public);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ea typeface="MS PGothic" charset="-128"/>
              </a:rPr>
              <a:t>whether the method </a:t>
            </a:r>
            <a:r>
              <a:rPr lang="en-US" altLang="en-US" sz="2800" i="1">
                <a:ea typeface="MS PGothic" charset="-128"/>
              </a:rPr>
              <a:t>returns a result </a:t>
            </a:r>
            <a:r>
              <a:rPr lang="en-US" altLang="en-US" sz="2800">
                <a:ea typeface="MS PGothic" charset="-128"/>
              </a:rPr>
              <a:t>(an integer);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ea typeface="MS PGothic" charset="-128"/>
              </a:rPr>
              <a:t>the </a:t>
            </a:r>
            <a:r>
              <a:rPr lang="en-US" altLang="en-US" sz="2800" i="1">
                <a:ea typeface="MS PGothic" charset="-128"/>
              </a:rPr>
              <a:t>name</a:t>
            </a:r>
            <a:r>
              <a:rPr lang="en-US" altLang="en-US" sz="2800">
                <a:ea typeface="MS PGothic" charset="-128"/>
              </a:rPr>
              <a:t> of the method </a:t>
            </a:r>
            <a:r>
              <a:rPr lang="en-US" altLang="en-US" sz="2800" i="1">
                <a:ea typeface="MS PGothic" charset="-128"/>
              </a:rPr>
              <a:t>(</a:t>
            </a:r>
            <a:r>
              <a:rPr lang="en-US" altLang="en-US" sz="2800" err="1">
                <a:ea typeface="MS PGothic" charset="-128"/>
              </a:rPr>
              <a:t>getPrice</a:t>
            </a:r>
            <a:r>
              <a:rPr lang="en-US" altLang="en-US" sz="2800" i="1">
                <a:ea typeface="MS PGothic" charset="-128"/>
              </a:rPr>
              <a:t>)</a:t>
            </a:r>
            <a:r>
              <a:rPr lang="en-US" altLang="en-US" sz="2800">
                <a:ea typeface="MS PGothic" charset="-128"/>
              </a:rPr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>
                <a:ea typeface="MS PGothic" charset="-128"/>
              </a:rPr>
              <a:t>whether the method takes </a:t>
            </a:r>
            <a:r>
              <a:rPr lang="en-US" altLang="en-US" sz="2800" i="1">
                <a:ea typeface="MS PGothic" charset="-128"/>
              </a:rPr>
              <a:t>parameters </a:t>
            </a:r>
            <a:r>
              <a:rPr lang="en-US" altLang="en-US" sz="2800">
                <a:ea typeface="MS PGothic" charset="-128"/>
              </a:rPr>
              <a:t>(none, in this case).</a:t>
            </a:r>
            <a:br>
              <a:rPr lang="en-US" altLang="en-US" sz="2800">
                <a:ea typeface="MS PGothic" charset="-128"/>
              </a:rPr>
            </a:br>
            <a:endParaRPr lang="en-US" altLang="en-US" sz="2800">
              <a:ea typeface="MS PGothic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3200">
                <a:ea typeface="MS PGothic" charset="-128"/>
              </a:rPr>
              <a:t>The body encloses the method'</a:t>
            </a:r>
            <a:r>
              <a:rPr lang="en-US" altLang="ja-JP" sz="3200">
                <a:ea typeface="MS PGothic" charset="-128"/>
              </a:rPr>
              <a:t>s </a:t>
            </a:r>
            <a:r>
              <a:rPr lang="en-US" altLang="ja-JP" sz="3200" i="1">
                <a:ea typeface="MS PGothic" charset="-128"/>
              </a:rPr>
              <a:t>statements</a:t>
            </a:r>
            <a:r>
              <a:rPr lang="en-US" altLang="ja-JP" sz="3200">
                <a:ea typeface="MS PGothic" charset="-128"/>
              </a:rPr>
              <a:t>.</a:t>
            </a:r>
            <a:endParaRPr lang="en-GB" altLang="en-US" sz="480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5972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Getter methods</a:t>
            </a:r>
          </a:p>
        </p:txBody>
      </p:sp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altLang="en-US" sz="1200">
              <a:solidFill>
                <a:srgbClr val="76807A"/>
              </a:solidFill>
              <a:latin typeface="Arial" charset="0"/>
            </a:endParaRP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3825878" y="3203575"/>
            <a:ext cx="405591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getPrice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4862684" y="1411439"/>
            <a:ext cx="389761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</a:rPr>
              <a:t>return type – ‘</a:t>
            </a:r>
            <a:r>
              <a:rPr lang="en-US" altLang="en-US" sz="2000" b="0" i="1" dirty="0">
                <a:solidFill>
                  <a:srgbClr val="FF0000"/>
                </a:solidFill>
                <a:latin typeface=""/>
              </a:rPr>
              <a:t>I promise to return something of this type</a:t>
            </a:r>
            <a:r>
              <a:rPr lang="en-US" altLang="en-US" sz="2000" dirty="0">
                <a:solidFill>
                  <a:srgbClr val="FF0000"/>
                </a:solidFill>
              </a:rPr>
              <a:t>’</a:t>
            </a:r>
            <a:endParaRPr lang="en-US" altLang="en-US" sz="2000" b="0" dirty="0">
              <a:solidFill>
                <a:srgbClr val="FF0000"/>
              </a:solidFill>
            </a:endParaRP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6528048" y="2489200"/>
            <a:ext cx="37337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method name ('get' something)</a:t>
            </a:r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auto">
          <a:xfrm>
            <a:off x="8299450" y="2871791"/>
            <a:ext cx="2063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45063" name="Oval 8"/>
          <p:cNvSpPr>
            <a:spLocks noChangeArrowheads="1"/>
          </p:cNvSpPr>
          <p:nvPr/>
        </p:nvSpPr>
        <p:spPr bwMode="auto">
          <a:xfrm>
            <a:off x="3825878" y="3581400"/>
            <a:ext cx="365125" cy="1371600"/>
          </a:xfrm>
          <a:prstGeom prst="ellipse">
            <a:avLst/>
          </a:prstGeom>
          <a:noFill/>
          <a:ln w="9525">
            <a:solidFill>
              <a:srgbClr val="A571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45064" name="Text Box 9"/>
          <p:cNvSpPr txBox="1">
            <a:spLocks noChangeArrowheads="1"/>
          </p:cNvSpPr>
          <p:nvPr/>
        </p:nvSpPr>
        <p:spPr bwMode="auto">
          <a:xfrm>
            <a:off x="4368801" y="5548692"/>
            <a:ext cx="455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45065" name="Text Box 10"/>
          <p:cNvSpPr txBox="1">
            <a:spLocks noChangeArrowheads="1"/>
          </p:cNvSpPr>
          <p:nvPr/>
        </p:nvSpPr>
        <p:spPr bwMode="auto">
          <a:xfrm>
            <a:off x="8159750" y="3937003"/>
            <a:ext cx="356059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</a:rPr>
              <a:t>return statement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‘this is the value and it’s the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type I promised’</a:t>
            </a:r>
            <a:endParaRPr lang="en-US" altLang="en-US" sz="2000" b="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rgbClr val="A57133"/>
              </a:solidFill>
            </a:endParaRPr>
          </a:p>
        </p:txBody>
      </p:sp>
      <p:sp>
        <p:nvSpPr>
          <p:cNvPr id="45066" name="Line 11"/>
          <p:cNvSpPr>
            <a:spLocks noChangeShapeType="1"/>
          </p:cNvSpPr>
          <p:nvPr/>
        </p:nvSpPr>
        <p:spPr bwMode="auto">
          <a:xfrm flipH="1" flipV="1">
            <a:off x="4149724" y="4776788"/>
            <a:ext cx="712959" cy="7719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Line 12"/>
          <p:cNvSpPr>
            <a:spLocks noChangeShapeType="1"/>
          </p:cNvSpPr>
          <p:nvPr/>
        </p:nvSpPr>
        <p:spPr bwMode="auto">
          <a:xfrm>
            <a:off x="5490593" y="2055813"/>
            <a:ext cx="24383" cy="12049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 flipH="1">
            <a:off x="6807200" y="2819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9" name="Line 14"/>
          <p:cNvSpPr>
            <a:spLocks noChangeShapeType="1"/>
          </p:cNvSpPr>
          <p:nvPr/>
        </p:nvSpPr>
        <p:spPr bwMode="auto">
          <a:xfrm flipH="1">
            <a:off x="7705725" y="31242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0" name="Line 15"/>
          <p:cNvSpPr>
            <a:spLocks noChangeShapeType="1"/>
          </p:cNvSpPr>
          <p:nvPr/>
        </p:nvSpPr>
        <p:spPr bwMode="auto">
          <a:xfrm flipH="1">
            <a:off x="7108825" y="4164013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1" name="Text Box 16"/>
          <p:cNvSpPr txBox="1">
            <a:spLocks noChangeArrowheads="1"/>
          </p:cNvSpPr>
          <p:nvPr/>
        </p:nvSpPr>
        <p:spPr bwMode="auto">
          <a:xfrm>
            <a:off x="2478091" y="2489200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45072" name="Line 17"/>
          <p:cNvSpPr>
            <a:spLocks noChangeShapeType="1"/>
          </p:cNvSpPr>
          <p:nvPr/>
        </p:nvSpPr>
        <p:spPr bwMode="auto">
          <a:xfrm>
            <a:off x="3124203" y="2895600"/>
            <a:ext cx="10064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1" grpId="0"/>
      <p:bldP spid="45062" grpId="0"/>
      <p:bldP spid="45063" grpId="0" animBg="1"/>
      <p:bldP spid="45064" grpId="0"/>
      <p:bldP spid="45065" grpId="0"/>
      <p:bldP spid="45067" grpId="0" animBg="1"/>
      <p:bldP spid="45068" grpId="0" animBg="1"/>
      <p:bldP spid="45069" grpId="0" animBg="1"/>
      <p:bldP spid="45070" grpId="0" animBg="1"/>
      <p:bldP spid="45071" grpId="0"/>
      <p:bldP spid="450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/>
              <a:t>Accessor methods</a:t>
            </a:r>
          </a:p>
        </p:txBody>
      </p:sp>
      <p:pic>
        <p:nvPicPr>
          <p:cNvPr id="2" name="Picture 1" descr="A green arrow pointing to the left&#10;&#10;AI-generated content may be incorrect.">
            <a:extLst>
              <a:ext uri="{FF2B5EF4-FFF2-40B4-BE49-F238E27FC236}">
                <a16:creationId xmlns:a16="http://schemas.microsoft.com/office/drawing/2014/main" id="{5D9AC701-0FF7-435C-FA33-92DBEAE7D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758516"/>
            <a:ext cx="3340967" cy="3340967"/>
          </a:xfrm>
          <a:prstGeom prst="rect">
            <a:avLst/>
          </a:prstGeom>
          <a:noFill/>
        </p:spPr>
      </p:pic>
      <p:sp>
        <p:nvSpPr>
          <p:cNvPr id="47106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655840" y="1600201"/>
            <a:ext cx="6926560" cy="4525963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GB" altLang="en-US" sz="2600" dirty="0"/>
              <a:t>An accessor method always has a return type that is not void.</a:t>
            </a:r>
          </a:p>
          <a:p>
            <a:pPr>
              <a:lnSpc>
                <a:spcPct val="70000"/>
              </a:lnSpc>
            </a:pPr>
            <a:endParaRPr lang="en-GB" altLang="en-US" sz="2600" dirty="0"/>
          </a:p>
          <a:p>
            <a:pPr>
              <a:lnSpc>
                <a:spcPct val="70000"/>
              </a:lnSpc>
            </a:pPr>
            <a:r>
              <a:rPr lang="en-GB" altLang="en-US" sz="2600" dirty="0"/>
              <a:t>An accessor method returns a value (result) of the type given in the header.</a:t>
            </a:r>
          </a:p>
          <a:p>
            <a:pPr>
              <a:lnSpc>
                <a:spcPct val="70000"/>
              </a:lnSpc>
            </a:pPr>
            <a:endParaRPr lang="en-GB" altLang="en-US" sz="2600" dirty="0"/>
          </a:p>
          <a:p>
            <a:pPr>
              <a:lnSpc>
                <a:spcPct val="70000"/>
              </a:lnSpc>
            </a:pPr>
            <a:r>
              <a:rPr lang="en-GB" altLang="en-US" sz="2600" dirty="0"/>
              <a:t>The method will contain a return statement to return the value.</a:t>
            </a:r>
          </a:p>
          <a:p>
            <a:pPr>
              <a:lnSpc>
                <a:spcPct val="70000"/>
              </a:lnSpc>
            </a:pPr>
            <a:endParaRPr lang="en-GB" altLang="en-US" sz="2600" dirty="0"/>
          </a:p>
          <a:p>
            <a:pPr>
              <a:lnSpc>
                <a:spcPct val="70000"/>
              </a:lnSpc>
            </a:pPr>
            <a:r>
              <a:rPr lang="en-GB" altLang="en-US" sz="2600" dirty="0"/>
              <a:t>NB: Returning is not printing!</a:t>
            </a:r>
          </a:p>
          <a:p>
            <a:pPr>
              <a:lnSpc>
                <a:spcPct val="70000"/>
              </a:lnSpc>
            </a:pPr>
            <a:endParaRPr lang="en-GB" altLang="en-US" sz="2600" dirty="0"/>
          </a:p>
          <a:p>
            <a:pPr>
              <a:lnSpc>
                <a:spcPct val="70000"/>
              </a:lnSpc>
            </a:pPr>
            <a:r>
              <a:rPr lang="en-GB" altLang="en-US" sz="2600" dirty="0"/>
              <a:t>It presents a value to the </a:t>
            </a:r>
            <a:r>
              <a:rPr lang="en-GB" altLang="en-US" dirty="0"/>
              <a:t>calling method. </a:t>
            </a:r>
          </a:p>
        </p:txBody>
      </p:sp>
      <p:sp>
        <p:nvSpPr>
          <p:cNvPr id="47111" name="Footer Placeholder 4">
            <a:extLst>
              <a:ext uri="{FF2B5EF4-FFF2-40B4-BE49-F238E27FC236}">
                <a16:creationId xmlns:a16="http://schemas.microsoft.com/office/drawing/2014/main" id="{5B7683AF-0172-93CD-98CD-6BE07B9E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Test – syntax errors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273255" y="1988840"/>
            <a:ext cx="4719289" cy="288032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>
                <a:ea typeface="+mn-ea"/>
                <a:cs typeface="+mn-cs"/>
              </a:rPr>
              <a:t>What is wrong here?</a:t>
            </a:r>
            <a:br>
              <a:rPr lang="en-US">
                <a:ea typeface="+mn-ea"/>
                <a:cs typeface="+mn-cs"/>
              </a:rPr>
            </a:br>
            <a:r>
              <a:rPr lang="en-US">
                <a:ea typeface="+mn-ea"/>
                <a:cs typeface="+mn-cs"/>
              </a:rPr>
              <a:t>There are five errors.</a:t>
            </a:r>
          </a:p>
        </p:txBody>
      </p:sp>
      <p:sp>
        <p:nvSpPr>
          <p:cNvPr id="48132" name="Rectangle 4"/>
          <p:cNvSpPr>
            <a:spLocks/>
          </p:cNvSpPr>
          <p:nvPr/>
        </p:nvSpPr>
        <p:spPr bwMode="auto">
          <a:xfrm>
            <a:off x="1199456" y="1988840"/>
            <a:ext cx="604867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public class </a:t>
            </a:r>
            <a:r>
              <a:rPr lang="en-US" altLang="en-US" sz="200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private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</a:t>
            </a:r>
            <a:r>
              <a:rPr lang="en-US" altLang="en-US" sz="200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price = 300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int </a:t>
            </a:r>
            <a:r>
              <a:rPr lang="en-US" altLang="en-US" sz="200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getPrice</a:t>
            </a: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A4A3-2407-3BE9-6B46-BD9F7EAE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3641ED0-6141-861A-EC5D-2A88975D7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Test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3E2B7DE-9F83-28D7-A21B-168D77556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73255" y="1988840"/>
            <a:ext cx="4719289" cy="288032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>
                <a:ea typeface="+mn-ea"/>
                <a:cs typeface="+mn-cs"/>
              </a:rPr>
              <a:t>What is wrong here?</a:t>
            </a:r>
            <a:br>
              <a:rPr lang="en-US">
                <a:ea typeface="+mn-ea"/>
                <a:cs typeface="+mn-cs"/>
              </a:rPr>
            </a:br>
            <a:r>
              <a:rPr lang="en-US">
                <a:ea typeface="+mn-ea"/>
                <a:cs typeface="+mn-cs"/>
              </a:rPr>
              <a:t>There are five errors.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413393E-BF41-158D-A90C-B431BF1870AA}"/>
              </a:ext>
            </a:extLst>
          </p:cNvPr>
          <p:cNvSpPr>
            <a:spLocks/>
          </p:cNvSpPr>
          <p:nvPr/>
        </p:nvSpPr>
        <p:spPr bwMode="auto">
          <a:xfrm>
            <a:off x="1199456" y="1988840"/>
            <a:ext cx="604867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public class </a:t>
            </a:r>
            <a:r>
              <a:rPr lang="en-US" altLang="en-US" sz="200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private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</a:t>
            </a:r>
            <a:r>
              <a:rPr lang="en-US" altLang="en-US" sz="200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price = 300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int </a:t>
            </a:r>
            <a:r>
              <a:rPr lang="en-US" altLang="en-US" sz="200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getPrice</a:t>
            </a:r>
            <a:endParaRPr lang="en-US" altLang="en-US" sz="200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</p:txBody>
      </p:sp>
      <p:sp>
        <p:nvSpPr>
          <p:cNvPr id="2" name="Oval 8">
            <a:extLst>
              <a:ext uri="{FF2B5EF4-FFF2-40B4-BE49-F238E27FC236}">
                <a16:creationId xmlns:a16="http://schemas.microsoft.com/office/drawing/2014/main" id="{8B52A5C5-556C-7523-7CAC-2F40311E07E2}"/>
              </a:ext>
            </a:extLst>
          </p:cNvPr>
          <p:cNvSpPr>
            <a:spLocks/>
          </p:cNvSpPr>
          <p:nvPr/>
        </p:nvSpPr>
        <p:spPr bwMode="auto">
          <a:xfrm>
            <a:off x="2528839" y="2204864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int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E1A88179-FACC-48C3-D357-25EE78D40277}"/>
              </a:ext>
            </a:extLst>
          </p:cNvPr>
          <p:cNvSpPr>
            <a:spLocks/>
          </p:cNvSpPr>
          <p:nvPr/>
        </p:nvSpPr>
        <p:spPr bwMode="auto">
          <a:xfrm>
            <a:off x="3753892" y="3633787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;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0B678439-3040-9479-99A8-1AA1B8E4B568}"/>
              </a:ext>
            </a:extLst>
          </p:cNvPr>
          <p:cNvSpPr>
            <a:spLocks/>
          </p:cNvSpPr>
          <p:nvPr/>
        </p:nvSpPr>
        <p:spPr bwMode="auto">
          <a:xfrm>
            <a:off x="4543674" y="4581128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()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9A4784F0-016C-8751-A114-575510535936}"/>
              </a:ext>
            </a:extLst>
          </p:cNvPr>
          <p:cNvSpPr>
            <a:spLocks/>
          </p:cNvSpPr>
          <p:nvPr/>
        </p:nvSpPr>
        <p:spPr bwMode="auto">
          <a:xfrm>
            <a:off x="2998739" y="5292328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-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813118-DF7C-2207-7768-691B09CFE71B}"/>
              </a:ext>
            </a:extLst>
          </p:cNvPr>
          <p:cNvSpPr>
            <a:spLocks/>
          </p:cNvSpPr>
          <p:nvPr/>
        </p:nvSpPr>
        <p:spPr bwMode="auto">
          <a:xfrm>
            <a:off x="695400" y="5877272"/>
            <a:ext cx="11430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0590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/>
      <p:bldP spid="4" grpId="0" animBg="1" autoUpdateAnimBg="0"/>
      <p:bldP spid="5" grpId="0" animBg="1" autoUpdateAnimBg="0"/>
      <p:bldP spid="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en-US"/>
              <a:t>Mutator methods</a:t>
            </a:r>
          </a:p>
        </p:txBody>
      </p:sp>
      <p:pic>
        <p:nvPicPr>
          <p:cNvPr id="3" name="Picture 2" descr="A green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763A71DE-C613-9CD5-5875-8F1889338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516"/>
            <a:ext cx="3340967" cy="3340967"/>
          </a:xfrm>
          <a:prstGeom prst="rect">
            <a:avLst/>
          </a:prstGeom>
          <a:noFill/>
        </p:spPr>
      </p:pic>
      <p:sp>
        <p:nvSpPr>
          <p:cNvPr id="52226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172818" y="1599655"/>
            <a:ext cx="7251774" cy="463765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Have a similar method structure: header and body.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Used to </a:t>
            </a:r>
            <a:r>
              <a:rPr lang="en-US" altLang="en-US" i="1" dirty="0"/>
              <a:t>mutate</a:t>
            </a:r>
            <a:r>
              <a:rPr lang="en-US" altLang="en-US" dirty="0"/>
              <a:t> (i.e., change) an object</a:t>
            </a:r>
            <a:r>
              <a:rPr lang="en-IE" altLang="en-US" dirty="0"/>
              <a:t>’</a:t>
            </a:r>
            <a:r>
              <a:rPr lang="en-US" altLang="ja-JP" dirty="0"/>
              <a:t>s state.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ja-JP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Achieved through changing the value of one or more fields.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They typically contain one or more assignment statements.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Often receive parameters.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 most basic mutator methods are 'setter' methods.</a:t>
            </a:r>
          </a:p>
        </p:txBody>
      </p:sp>
      <p:sp>
        <p:nvSpPr>
          <p:cNvPr id="52231" name="Footer Placeholder 4">
            <a:extLst>
              <a:ext uri="{FF2B5EF4-FFF2-40B4-BE49-F238E27FC236}">
                <a16:creationId xmlns:a16="http://schemas.microsoft.com/office/drawing/2014/main" id="{BA0666CA-A203-E121-CE99-A1FB9C30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setter methods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>
                <a:ea typeface="MS PGothic" charset="-128"/>
              </a:rPr>
              <a:t>Fields often have dedicated </a:t>
            </a:r>
            <a:r>
              <a:rPr lang="en-GB" altLang="en-US" b="1">
                <a:latin typeface="Courier New" charset="0"/>
                <a:ea typeface="MS PGothic" charset="-128"/>
              </a:rPr>
              <a:t>set</a:t>
            </a:r>
            <a:r>
              <a:rPr lang="en-GB" altLang="en-US">
                <a:ea typeface="MS PGothic" charset="-128"/>
              </a:rPr>
              <a:t> mutator methods.</a:t>
            </a:r>
          </a:p>
          <a:p>
            <a:pPr>
              <a:lnSpc>
                <a:spcPct val="90000"/>
              </a:lnSpc>
            </a:pPr>
            <a:endParaRPr lang="en-GB" altLang="en-US">
              <a:ea typeface="MS PGothic" charset="-128"/>
            </a:endParaRPr>
          </a:p>
          <a:p>
            <a:pPr>
              <a:lnSpc>
                <a:spcPct val="90000"/>
              </a:lnSpc>
            </a:pPr>
            <a:r>
              <a:rPr lang="en-GB" altLang="en-US">
                <a:ea typeface="MS PGothic" charset="-128"/>
              </a:rPr>
              <a:t>These have a simple, distinctive form:</a:t>
            </a:r>
          </a:p>
          <a:p>
            <a:pPr lvl="1">
              <a:lnSpc>
                <a:spcPct val="90000"/>
              </a:lnSpc>
            </a:pPr>
            <a:r>
              <a:rPr lang="en-GB" altLang="en-US" b="1">
                <a:latin typeface="Courier New" charset="0"/>
                <a:ea typeface="MS PGothic" charset="-128"/>
              </a:rPr>
              <a:t>void</a:t>
            </a:r>
            <a:r>
              <a:rPr lang="en-GB" altLang="en-US">
                <a:ea typeface="MS PGothic" charset="-128"/>
              </a:rPr>
              <a:t> return type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MS PGothic" charset="-128"/>
              </a:rPr>
              <a:t>method name related to the field name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MS PGothic" charset="-128"/>
              </a:rPr>
              <a:t>single formal parameter, with the same type as the type of the field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MS PGothic" charset="-128"/>
              </a:rPr>
              <a:t>a single assignment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722373" y="333979"/>
            <a:ext cx="10747254" cy="1143001"/>
          </a:xfrm>
        </p:spPr>
        <p:txBody>
          <a:bodyPr/>
          <a:lstStyle/>
          <a:p>
            <a:r>
              <a:rPr lang="en-GB" altLang="en-US">
                <a:ea typeface="MS PGothic" charset="-128"/>
              </a:rPr>
              <a:t>A typical </a:t>
            </a:r>
            <a:r>
              <a:rPr lang="en-GB" altLang="en-US" b="1">
                <a:latin typeface="Courier New" charset="0"/>
                <a:ea typeface="MS PGothic" charset="-128"/>
              </a:rPr>
              <a:t>set</a:t>
            </a:r>
            <a:r>
              <a:rPr lang="en-GB" altLang="en-US">
                <a:ea typeface="MS PGothic" charset="-128"/>
              </a:rPr>
              <a:t> method</a:t>
            </a:r>
          </a:p>
        </p:txBody>
      </p:sp>
      <p:sp>
        <p:nvSpPr>
          <p:cNvPr id="57346" name="Text Box 4"/>
          <p:cNvSpPr txBox="1">
            <a:spLocks noChangeArrowheads="1"/>
          </p:cNvSpPr>
          <p:nvPr/>
        </p:nvSpPr>
        <p:spPr bwMode="auto">
          <a:xfrm>
            <a:off x="3071816" y="1844675"/>
            <a:ext cx="66367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GB" altLang="en-US" dirty="0" err="1">
                <a:solidFill>
                  <a:schemeClr val="tx1"/>
                </a:solidFill>
                <a:latin typeface="Courier New" charset="0"/>
              </a:rPr>
              <a:t>setDiscount</a:t>
            </a:r>
            <a:r>
              <a:rPr lang="en-GB" altLang="en-US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algn="l"/>
            <a:r>
              <a:rPr lang="en-GB" altLang="en-US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algn="l"/>
            <a:r>
              <a:rPr lang="en-GB" altLang="en-US" dirty="0">
                <a:solidFill>
                  <a:schemeClr val="tx1"/>
                </a:solidFill>
                <a:latin typeface="Courier New" charset="0"/>
              </a:rPr>
              <a:t>    discount = amount;</a:t>
            </a:r>
          </a:p>
          <a:p>
            <a:pPr algn="l"/>
            <a:r>
              <a:rPr lang="en-GB" altLang="en-US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57347" name="Text Box 5"/>
          <p:cNvSpPr txBox="1">
            <a:spLocks noChangeArrowheads="1"/>
          </p:cNvSpPr>
          <p:nvPr/>
        </p:nvSpPr>
        <p:spPr bwMode="auto">
          <a:xfrm>
            <a:off x="983432" y="4149725"/>
            <a:ext cx="10009112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2800" b="0" dirty="0">
                <a:solidFill>
                  <a:srgbClr val="1A3170"/>
                </a:solidFill>
              </a:rPr>
              <a:t>We can easily infer that </a:t>
            </a:r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discount</a:t>
            </a:r>
            <a:r>
              <a:rPr lang="en-GB" altLang="en-US" sz="2800" b="0" dirty="0">
                <a:solidFill>
                  <a:srgbClr val="1A3170"/>
                </a:solidFill>
              </a:rPr>
              <a:t> is a field of type </a:t>
            </a:r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int</a:t>
            </a:r>
            <a:r>
              <a:rPr lang="en-GB" altLang="en-US" sz="2800" b="0" dirty="0">
                <a:solidFill>
                  <a:srgbClr val="1A3170"/>
                </a:solidFill>
              </a:rPr>
              <a:t>, </a:t>
            </a:r>
            <a:r>
              <a:rPr lang="en-GB" altLang="en-US" sz="2800" b="0" dirty="0" err="1">
                <a:solidFill>
                  <a:srgbClr val="1A3170"/>
                </a:solidFill>
              </a:rPr>
              <a:t>i.e</a:t>
            </a:r>
            <a:r>
              <a:rPr lang="en-GB" altLang="en-US" sz="2800" b="0" dirty="0">
                <a:solidFill>
                  <a:srgbClr val="1A3170"/>
                </a:solidFill>
              </a:rPr>
              <a:t>:</a:t>
            </a:r>
          </a:p>
          <a:p>
            <a:pPr algn="l"/>
            <a:endParaRPr lang="en-GB" altLang="en-US" sz="2800" b="0" dirty="0">
              <a:solidFill>
                <a:srgbClr val="1A3170"/>
              </a:solidFill>
            </a:endParaRPr>
          </a:p>
          <a:p>
            <a:pPr algn="l"/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private int discount;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altLang="en-US"/>
              <a:t>Protective mutators</a:t>
            </a:r>
          </a:p>
        </p:txBody>
      </p:sp>
      <p:pic>
        <p:nvPicPr>
          <p:cNvPr id="4" name="Picture 3" descr="A green key with a shield&#10;&#10;AI-generated content may be incorrect.">
            <a:extLst>
              <a:ext uri="{FF2B5EF4-FFF2-40B4-BE49-F238E27FC236}">
                <a16:creationId xmlns:a16="http://schemas.microsoft.com/office/drawing/2014/main" id="{63B968A6-79BA-C9BA-5BE5-8F26B1AE9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574305"/>
            <a:ext cx="2880320" cy="2548879"/>
          </a:xfrm>
          <a:prstGeom prst="rect">
            <a:avLst/>
          </a:prstGeom>
          <a:noFill/>
        </p:spPr>
      </p:pic>
      <p:sp>
        <p:nvSpPr>
          <p:cNvPr id="58370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165600" y="1600201"/>
            <a:ext cx="7416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A set method does not have to always assign unconditionally to the field.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6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The parameter may be checked for validity and rejected if inappropriate.  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e.g. only update field if new value is &gt;=10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6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Mutators thereby protect fields.</a:t>
            </a:r>
          </a:p>
          <a:p>
            <a:pPr>
              <a:lnSpc>
                <a:spcPct val="90000"/>
              </a:lnSpc>
            </a:pPr>
            <a:endParaRPr lang="en-US" altLang="en-US" sz="26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Mutators support </a:t>
            </a:r>
            <a:r>
              <a:rPr lang="en-US" altLang="en-US" sz="2600" i="1" dirty="0"/>
              <a:t>encapsulation</a:t>
            </a:r>
            <a:r>
              <a:rPr lang="en-US" altLang="en-US" sz="2600" dirty="0"/>
              <a:t>.</a:t>
            </a:r>
          </a:p>
        </p:txBody>
      </p:sp>
      <p:sp>
        <p:nvSpPr>
          <p:cNvPr id="58375" name="Footer Placeholder 4">
            <a:extLst>
              <a:ext uri="{FF2B5EF4-FFF2-40B4-BE49-F238E27FC236}">
                <a16:creationId xmlns:a16="http://schemas.microsoft.com/office/drawing/2014/main" id="{33819E28-622F-8192-8958-0F7AC36A6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Another m</a:t>
            </a:r>
            <a:r>
              <a:rPr lang="en-US">
                <a:ea typeface="+mj-ea"/>
                <a:cs typeface="+mj-cs"/>
              </a:rPr>
              <a:t>utator method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724227" y="3107280"/>
            <a:ext cx="66367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4753049" y="2097633"/>
            <a:ext cx="1481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6503916" y="2097633"/>
            <a:ext cx="1749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7524823" y="2459521"/>
            <a:ext cx="2220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formal parameter</a:t>
            </a:r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 flipH="1">
            <a:off x="4480002" y="2494505"/>
            <a:ext cx="9112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 flipH="1">
            <a:off x="6299448" y="2508796"/>
            <a:ext cx="837232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 flipH="1">
            <a:off x="8076480" y="2877093"/>
            <a:ext cx="792088" cy="3042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2267027" y="2111918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333827" y="2570708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7220024" y="4778921"/>
            <a:ext cx="2692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assignment statement</a:t>
            </a:r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 flipH="1" flipV="1">
            <a:off x="5196160" y="4316955"/>
            <a:ext cx="2328664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3077446" y="4904333"/>
            <a:ext cx="244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 flipV="1">
            <a:off x="4044032" y="4316955"/>
            <a:ext cx="0" cy="587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BFC61292-6595-B530-9B4E-7CA15EA8E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811" y="5194242"/>
            <a:ext cx="993710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3200" b="0">
                <a:solidFill>
                  <a:srgbClr val="1A3170"/>
                </a:solidFill>
                <a:latin typeface="Tw Cen MT" panose="020B0602020104020603" pitchFamily="34" charset="77"/>
              </a:rPr>
              <a:t>This method </a:t>
            </a:r>
            <a:r>
              <a:rPr lang="en-GB" altLang="en-US" sz="3200" b="0" i="1">
                <a:solidFill>
                  <a:srgbClr val="1A3170"/>
                </a:solidFill>
                <a:latin typeface="Tw Cen MT" panose="020B0602020104020603" pitchFamily="34" charset="77"/>
              </a:rPr>
              <a:t>changes</a:t>
            </a:r>
            <a:r>
              <a:rPr lang="en-GB" altLang="en-US" sz="3200" b="0">
                <a:solidFill>
                  <a:srgbClr val="1A3170"/>
                </a:solidFill>
                <a:latin typeface="Tw Cen MT" panose="020B0602020104020603" pitchFamily="34" charset="77"/>
              </a:rPr>
              <a:t> the value of balance; hence the object's state is </a:t>
            </a:r>
            <a:r>
              <a:rPr lang="en-GB" altLang="en-US" sz="3200" b="0" i="1">
                <a:solidFill>
                  <a:srgbClr val="1A3170"/>
                </a:solidFill>
                <a:latin typeface="Tw Cen MT" panose="020B0602020104020603" pitchFamily="34" charset="77"/>
              </a:rPr>
              <a:t>mutated</a:t>
            </a:r>
            <a:r>
              <a:rPr lang="en-GB" altLang="en-US" sz="3200" b="0">
                <a:solidFill>
                  <a:srgbClr val="1A3170"/>
                </a:solidFill>
                <a:latin typeface="Tw Cen MT" panose="020B0602020104020603" pitchFamily="34" charset="77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/>
      <p:bldP spid="54277" grpId="0"/>
      <p:bldP spid="54278" grpId="0"/>
      <p:bldP spid="54279" grpId="0" animBg="1"/>
      <p:bldP spid="54280" grpId="0" animBg="1"/>
      <p:bldP spid="54281" grpId="0" animBg="1"/>
      <p:bldP spid="54282" grpId="0"/>
      <p:bldP spid="54283" grpId="0" animBg="1"/>
      <p:bldP spid="54284" grpId="0"/>
      <p:bldP spid="54285" grpId="0" animBg="1"/>
      <p:bldP spid="54286" grpId="0"/>
      <p:bldP spid="542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>
                <a:latin typeface="Courier New" charset="0"/>
                <a:ea typeface="Courier New" charset="0"/>
                <a:cs typeface="Courier New" charset="0"/>
              </a:rPr>
              <a:t>this</a:t>
            </a:r>
            <a:r>
              <a:rPr lang="en-US"/>
              <a:t>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Up to now we have come up with a different name for the parameter and the field.</a:t>
            </a:r>
          </a:p>
          <a:p>
            <a:r>
              <a:rPr lang="en-IE" dirty="0"/>
              <a:t>However, sometimes there is one name that perfectly describes the use of a variable—it fits so well that we do not want to invent a different name for it.</a:t>
            </a:r>
          </a:p>
          <a:p>
            <a:pPr marL="0" indent="0">
              <a:buNone/>
            </a:pPr>
            <a:endParaRPr lang="en-IE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IE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Enter the this. construct</a:t>
            </a:r>
            <a:endParaRPr lang="en-US" b="1" dirty="0">
              <a:solidFill>
                <a:srgbClr val="FF0000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0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8FFB-8A27-4C04-ED50-2A7D07BC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3977-50F8-5E73-7642-893C2F79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>
                <a:latin typeface="Courier New" charset="0"/>
                <a:ea typeface="Courier New" charset="0"/>
                <a:cs typeface="Courier New" charset="0"/>
              </a:rPr>
              <a:t>this</a:t>
            </a:r>
            <a:r>
              <a:rPr lang="en-US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D820F-71D9-37EF-25F8-ECEC47585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distinguish parameters and fields of the same name. E.g.:</a:t>
            </a:r>
            <a:br>
              <a:rPr lang="en-US" dirty="0"/>
            </a:br>
            <a:br>
              <a:rPr lang="en-US" dirty="0"/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</a:t>
            </a:r>
            <a:r>
              <a:rPr lang="en-US" sz="2400" b="1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TicketMachine</a:t>
            </a: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(int price)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2400" b="1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this.price</a:t>
            </a: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price;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balance = 0;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total = 0;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076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02AC-5345-0C5F-DEBE-2976DB18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D42B-B603-410C-E4E2-D9C5DB7E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EDFB-5D58-9CA3-A021-D2E43B506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distinguish parameters and fields of the same name. E.g.:</a:t>
            </a:r>
            <a:br>
              <a:rPr lang="en-US" dirty="0"/>
            </a:br>
            <a:br>
              <a:rPr lang="en-US" dirty="0"/>
            </a:br>
            <a:endParaRPr lang="en-US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92A4614-E965-DDA7-90B1-E49CA2ADD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212" y="2472018"/>
            <a:ext cx="6958123" cy="440120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</a:t>
            </a:r>
            <a:r>
              <a:rPr lang="en-US" altLang="en-US" sz="2000" b="1" dirty="0">
                <a:solidFill>
                  <a:srgbClr val="009C5C"/>
                </a:solidFill>
                <a:latin typeface="Courier New" charset="0"/>
              </a:rPr>
              <a:t>price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total;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 </a:t>
            </a:r>
            <a:r>
              <a:rPr lang="en-US" sz="20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>
              <a:spcBef>
                <a:spcPct val="0"/>
              </a:spcBef>
              <a:buClrTx/>
              <a:buNone/>
            </a:pPr>
            <a:endParaRPr lang="en-US" sz="20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</a:t>
            </a:r>
            <a:r>
              <a:rPr lang="en-US" sz="20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TicketMachine</a:t>
            </a: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(int 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price</a:t>
            </a: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  <a:b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2000" b="1" dirty="0" err="1">
                <a:solidFill>
                  <a:srgbClr val="009C5C"/>
                </a:solidFill>
                <a:latin typeface="Courier New" charset="0"/>
                <a:ea typeface="Courier New" charset="0"/>
                <a:cs typeface="Courier New" charset="0"/>
              </a:rPr>
              <a:t>this.price</a:t>
            </a: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</a:t>
            </a:r>
            <a:r>
              <a:rPr lang="en-US" sz="2000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price</a:t>
            </a: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balance = 0;</a:t>
            </a:r>
            <a:b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total = 0;</a:t>
            </a:r>
            <a:b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FAA2B447-14A8-B3D7-8BF0-ED7706A1A2A4}"/>
              </a:ext>
            </a:extLst>
          </p:cNvPr>
          <p:cNvSpPr/>
          <p:nvPr/>
        </p:nvSpPr>
        <p:spPr>
          <a:xfrm rot="3337302">
            <a:off x="5874462" y="4722200"/>
            <a:ext cx="203299" cy="79186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92B574F-6042-C0D9-8216-DAF750E3E620}"/>
              </a:ext>
            </a:extLst>
          </p:cNvPr>
          <p:cNvSpPr/>
          <p:nvPr/>
        </p:nvSpPr>
        <p:spPr>
          <a:xfrm rot="13492897">
            <a:off x="4001557" y="2951119"/>
            <a:ext cx="176246" cy="270232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-turn Arrow 7">
            <a:extLst>
              <a:ext uri="{FF2B5EF4-FFF2-40B4-BE49-F238E27FC236}">
                <a16:creationId xmlns:a16="http://schemas.microsoft.com/office/drawing/2014/main" id="{AA81FA1B-AB5B-03C2-6289-1F9A7C85313C}"/>
              </a:ext>
            </a:extLst>
          </p:cNvPr>
          <p:cNvSpPr/>
          <p:nvPr/>
        </p:nvSpPr>
        <p:spPr>
          <a:xfrm flipH="1">
            <a:off x="3791744" y="4974107"/>
            <a:ext cx="1527948" cy="385682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94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A162-B8A3-16C8-268A-470F8B844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E" dirty="0"/>
              <a:t>	</a:t>
            </a:r>
            <a:r>
              <a:rPr lang="en-IE" sz="3600" dirty="0" err="1"/>
              <a:t>this.</a:t>
            </a:r>
            <a:r>
              <a:rPr lang="en-IE" sz="3600" dirty="0" err="1">
                <a:solidFill>
                  <a:srgbClr val="009C5C"/>
                </a:solidFill>
              </a:rPr>
              <a:t>price</a:t>
            </a:r>
            <a:r>
              <a:rPr lang="en-IE" sz="3600" dirty="0"/>
              <a:t> = </a:t>
            </a:r>
            <a:r>
              <a:rPr lang="en-IE" sz="3600" dirty="0">
                <a:solidFill>
                  <a:srgbClr val="FF0000"/>
                </a:solidFill>
              </a:rPr>
              <a:t>price</a:t>
            </a:r>
            <a:r>
              <a:rPr lang="en-IE" sz="3600" dirty="0"/>
              <a:t>;</a:t>
            </a:r>
          </a:p>
          <a:p>
            <a:pPr marL="457200" lvl="1" indent="0">
              <a:buNone/>
            </a:pPr>
            <a:endParaRPr lang="en-IE" sz="3600" dirty="0"/>
          </a:p>
          <a:p>
            <a:pPr marL="457200" lvl="1" indent="0">
              <a:buNone/>
            </a:pPr>
            <a:endParaRPr lang="en-IE" sz="3600" dirty="0"/>
          </a:p>
          <a:p>
            <a:pPr marL="57150" indent="0">
              <a:buNone/>
            </a:pPr>
            <a:r>
              <a:rPr lang="en-IE" sz="3600" dirty="0"/>
              <a:t>This statement has the following effect:</a:t>
            </a:r>
          </a:p>
          <a:p>
            <a:pPr marL="57150" indent="0">
              <a:buNone/>
            </a:pPr>
            <a:endParaRPr lang="en-IE" sz="3600" dirty="0"/>
          </a:p>
          <a:p>
            <a:pPr marL="57150" indent="0">
              <a:buNone/>
            </a:pPr>
            <a:endParaRPr lang="en-IE" sz="3600" dirty="0"/>
          </a:p>
          <a:p>
            <a:pPr marL="0" indent="0">
              <a:buNone/>
            </a:pPr>
            <a:r>
              <a:rPr lang="en-IE" sz="3600" i="1" dirty="0"/>
              <a:t>field named</a:t>
            </a:r>
            <a:r>
              <a:rPr lang="en-IE" sz="3600" dirty="0"/>
              <a:t> </a:t>
            </a:r>
            <a:r>
              <a:rPr lang="en-IE" sz="3600" dirty="0">
                <a:solidFill>
                  <a:srgbClr val="009C5C"/>
                </a:solidFill>
              </a:rPr>
              <a:t>price</a:t>
            </a:r>
            <a:r>
              <a:rPr lang="en-IE" sz="3600" dirty="0"/>
              <a:t> = </a:t>
            </a:r>
            <a:r>
              <a:rPr lang="en-IE" sz="3600" i="1" dirty="0"/>
              <a:t>parameter named</a:t>
            </a:r>
            <a:r>
              <a:rPr lang="en-IE" sz="3600" dirty="0"/>
              <a:t> </a:t>
            </a:r>
            <a:r>
              <a:rPr lang="en-IE" sz="3600" dirty="0">
                <a:solidFill>
                  <a:srgbClr val="FF0000"/>
                </a:solidFill>
              </a:rPr>
              <a:t>price</a:t>
            </a:r>
            <a:r>
              <a:rPr lang="en-IE" sz="3600" dirty="0"/>
              <a:t>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1DD58-819E-013F-77EE-77FB70FD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2460B6-AB8B-50A0-FB4C-3F7EEAA77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>
                <a:latin typeface="Courier New" charset="0"/>
                <a:ea typeface="Courier New" charset="0"/>
                <a:cs typeface="Courier New" charset="0"/>
              </a:rPr>
              <a:t>this</a:t>
            </a:r>
            <a:r>
              <a:rPr lang="en-US"/>
              <a:t> keyword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2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82C5-BE4D-501B-887D-A7B8AB734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this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22DB-E57F-32B6-D1E4-C47BE748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this</a:t>
            </a:r>
            <a:r>
              <a:rPr lang="en-US" dirty="0"/>
              <a:t> keyboard can </a:t>
            </a:r>
            <a:r>
              <a:rPr lang="en-US" b="1" dirty="0"/>
              <a:t>always</a:t>
            </a:r>
            <a:r>
              <a:rPr lang="en-US" dirty="0"/>
              <a:t> be used when referencing field variables. </a:t>
            </a:r>
          </a:p>
          <a:p>
            <a:endParaRPr lang="en-US" dirty="0"/>
          </a:p>
          <a:p>
            <a:r>
              <a:rPr lang="en-US" dirty="0"/>
              <a:t>In practice, we use it when there is a parameter with the same name as a field.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009C5C"/>
                </a:solidFill>
              </a:rPr>
              <a:t>this.x</a:t>
            </a:r>
            <a:r>
              <a:rPr lang="en-US" dirty="0">
                <a:solidFill>
                  <a:srgbClr val="009C5C"/>
                </a:solidFill>
              </a:rPr>
              <a:t> 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x;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136FD-F9A9-FA2A-5A9C-DDD8F0D8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E7D71-043B-7B03-DCAE-BCBDE26EA713}"/>
              </a:ext>
            </a:extLst>
          </p:cNvPr>
          <p:cNvSpPr txBox="1"/>
          <p:nvPr/>
        </p:nvSpPr>
        <p:spPr>
          <a:xfrm>
            <a:off x="2855640" y="4437112"/>
            <a:ext cx="1440160" cy="707886"/>
          </a:xfrm>
          <a:prstGeom prst="rect">
            <a:avLst/>
          </a:prstGeom>
          <a:solidFill>
            <a:srgbClr val="009C5C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Field version of x 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4DEF1800-9A64-622F-5E2B-290D7EC61F3F}"/>
              </a:ext>
            </a:extLst>
          </p:cNvPr>
          <p:cNvSpPr/>
          <p:nvPr/>
        </p:nvSpPr>
        <p:spPr>
          <a:xfrm rot="18006459">
            <a:off x="4592956" y="4406952"/>
            <a:ext cx="261736" cy="1138794"/>
          </a:xfrm>
          <a:prstGeom prst="downArrow">
            <a:avLst/>
          </a:prstGeom>
          <a:solidFill>
            <a:srgbClr val="009C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0EE655E7-23E2-8FA4-C91D-77201B003A14}"/>
              </a:ext>
            </a:extLst>
          </p:cNvPr>
          <p:cNvSpPr/>
          <p:nvPr/>
        </p:nvSpPr>
        <p:spPr>
          <a:xfrm rot="3739934">
            <a:off x="7599796" y="4072145"/>
            <a:ext cx="206920" cy="163522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2E5A84-AE0E-15CF-0528-0C04A5BBE876}"/>
              </a:ext>
            </a:extLst>
          </p:cNvPr>
          <p:cNvSpPr txBox="1"/>
          <p:nvPr/>
        </p:nvSpPr>
        <p:spPr>
          <a:xfrm>
            <a:off x="8362130" y="4437112"/>
            <a:ext cx="1948460" cy="70788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Local/parameter  version of x </a:t>
            </a:r>
          </a:p>
        </p:txBody>
      </p:sp>
    </p:spTree>
    <p:extLst>
      <p:ext uri="{BB962C8B-B14F-4D97-AF65-F5344CB8AC3E}">
        <p14:creationId xmlns:p14="http://schemas.microsoft.com/office/powerpoint/2010/main" val="984285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22373" y="476672"/>
            <a:ext cx="10747254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Printing from methods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2505869" y="1916832"/>
            <a:ext cx="7180262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printTicket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Simulate the printing of a ticket.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("##################");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("# The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BlueJ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Line");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("# Ticket");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("# " + price + " cents.");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("##################");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Update the total collected with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total = total +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String concatenation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lnSpc>
                <a:spcPct val="90000"/>
              </a:lnSpc>
              <a:defRPr/>
            </a:pPr>
            <a:r>
              <a:rPr lang="en-US" dirty="0">
                <a:ea typeface="+mn-ea"/>
                <a:cs typeface="+mn-cs"/>
              </a:rPr>
              <a:t>4 + 5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BA2D00"/>
                </a:solidFill>
                <a:ea typeface="+mn-ea"/>
              </a:rPr>
              <a:t>9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dirty="0">
                <a:ea typeface="+mn-ea"/>
                <a:cs typeface="+mn-cs"/>
              </a:rPr>
              <a:t>"wind" + "ow"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BA2D00"/>
                </a:solidFill>
                <a:ea typeface="+mn-ea"/>
              </a:rPr>
              <a:t>"window"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dirty="0">
                <a:ea typeface="+mn-ea"/>
                <a:cs typeface="+mn-cs"/>
              </a:rPr>
              <a:t>"Result: " + 6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BA2D00"/>
                </a:solidFill>
                <a:ea typeface="+mn-ea"/>
              </a:rPr>
              <a:t>"Result: 6"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dirty="0">
                <a:ea typeface="+mn-ea"/>
                <a:cs typeface="+mn-cs"/>
              </a:rPr>
              <a:t>"# " + price + " cents"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BA2D00"/>
                </a:solidFill>
                <a:ea typeface="+mn-ea"/>
              </a:rPr>
              <a:t>"# 500 cents"</a:t>
            </a:r>
          </a:p>
        </p:txBody>
      </p:sp>
      <p:grpSp>
        <p:nvGrpSpPr>
          <p:cNvPr id="94212" name="Group 4"/>
          <p:cNvGrpSpPr>
            <a:grpSpLocks/>
          </p:cNvGrpSpPr>
          <p:nvPr/>
        </p:nvGrpSpPr>
        <p:grpSpPr bwMode="auto">
          <a:xfrm>
            <a:off x="6079611" y="2865438"/>
            <a:ext cx="3194050" cy="563562"/>
            <a:chOff x="0" y="31"/>
            <a:chExt cx="2011" cy="355"/>
          </a:xfrm>
        </p:grpSpPr>
        <p:sp>
          <p:nvSpPr>
            <p:cNvPr id="61445" name="Rectangle 5"/>
            <p:cNvSpPr>
              <a:spLocks/>
            </p:cNvSpPr>
            <p:nvPr/>
          </p:nvSpPr>
          <p:spPr bwMode="auto">
            <a:xfrm>
              <a:off x="472" y="31"/>
              <a:ext cx="153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>
              <a:lvl1pPr marL="39688">
                <a:spcBef>
                  <a:spcPct val="20000"/>
                </a:spcBef>
                <a:buClr>
                  <a:srgbClr val="264D8B"/>
                </a:buClr>
                <a:buFont typeface="Times" charset="0"/>
                <a:buChar char="•"/>
                <a:defRPr sz="32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264D8B"/>
                </a:buClr>
                <a:buChar char="–"/>
                <a:defRPr sz="28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264D8B"/>
                </a:buClr>
                <a:buChar char="•"/>
                <a:defRPr sz="24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64D8B"/>
                </a:buClr>
                <a:buChar char="–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600" b="0" dirty="0">
                  <a:solidFill>
                    <a:schemeClr val="tx1"/>
                  </a:solidFill>
                  <a:latin typeface="Helvetica" charset="0"/>
                  <a:sym typeface="Helvetica" charset="0"/>
                </a:rPr>
                <a:t>overloading</a:t>
              </a:r>
            </a:p>
          </p:txBody>
        </p:sp>
        <p:pic>
          <p:nvPicPr>
            <p:cNvPr id="6144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6"/>
              <a:ext cx="418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Rectangle 5">
            <a:extLst>
              <a:ext uri="{FF2B5EF4-FFF2-40B4-BE49-F238E27FC236}">
                <a16:creationId xmlns:a16="http://schemas.microsoft.com/office/drawing/2014/main" id="{E9386C77-71E4-C3F9-F3B2-D90644C449FC}"/>
              </a:ext>
            </a:extLst>
          </p:cNvPr>
          <p:cNvSpPr>
            <a:spLocks/>
          </p:cNvSpPr>
          <p:nvPr/>
        </p:nvSpPr>
        <p:spPr bwMode="auto">
          <a:xfrm>
            <a:off x="7673999" y="4225196"/>
            <a:ext cx="4495081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b="0" dirty="0">
                <a:solidFill>
                  <a:schemeClr val="tx1"/>
                </a:solidFill>
                <a:latin typeface="Helvetica" charset="0"/>
                <a:sym typeface="Helvetica" charset="0"/>
              </a:rPr>
              <a:t>+ has two different functionalities 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8B09C8A-D5E7-581F-5448-8CEDCF426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37728">
            <a:off x="8072804" y="3597276"/>
            <a:ext cx="120085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bldLvl="5" autoUpdateAnimBg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1236-7335-A720-56C6-78125D23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FA26109-8378-C754-D65B-CCC3AEED4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752600"/>
          </a:xfrm>
        </p:spPr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Quiz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A61779F-2F1A-79BD-CDC8-FDFD4039EC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>
                <a:ea typeface="+mn-ea"/>
                <a:cs typeface="+mn-cs"/>
              </a:rPr>
              <a:t>System.out.println(5 + 6 + "hello");</a:t>
            </a:r>
          </a:p>
          <a:p>
            <a:pPr marL="39688" indent="0">
              <a:buNone/>
              <a:defRPr/>
            </a:pPr>
            <a:endParaRPr lang="en-US">
              <a:ea typeface="+mn-ea"/>
              <a:cs typeface="+mn-cs"/>
            </a:endParaRPr>
          </a:p>
          <a:p>
            <a:pPr marL="382588">
              <a:defRPr/>
            </a:pPr>
            <a:r>
              <a:rPr lang="en-US">
                <a:ea typeface="+mn-ea"/>
                <a:cs typeface="+mn-cs"/>
              </a:rPr>
              <a:t>System.out.println("hello" + 5 + 6);</a:t>
            </a:r>
          </a:p>
        </p:txBody>
      </p:sp>
    </p:spTree>
    <p:extLst>
      <p:ext uri="{BB962C8B-B14F-4D97-AF65-F5344CB8AC3E}">
        <p14:creationId xmlns:p14="http://schemas.microsoft.com/office/powerpoint/2010/main" val="228264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752600"/>
          </a:xfrm>
        </p:spPr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Quiz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>
                <a:ea typeface="+mn-ea"/>
                <a:cs typeface="+mn-cs"/>
              </a:rPr>
              <a:t>System.out.println(5 + 6 + "hello");</a:t>
            </a:r>
          </a:p>
          <a:p>
            <a:pPr marL="39688" indent="0">
              <a:buNone/>
              <a:defRPr/>
            </a:pPr>
            <a:endParaRPr lang="en-US">
              <a:ea typeface="+mn-ea"/>
              <a:cs typeface="+mn-cs"/>
            </a:endParaRPr>
          </a:p>
          <a:p>
            <a:pPr marL="382588">
              <a:defRPr/>
            </a:pPr>
            <a:r>
              <a:rPr lang="en-US">
                <a:ea typeface="+mn-ea"/>
                <a:cs typeface="+mn-cs"/>
              </a:rPr>
              <a:t>System.out.println("hello" + 5 + 6);</a:t>
            </a:r>
          </a:p>
        </p:txBody>
      </p:sp>
      <p:sp>
        <p:nvSpPr>
          <p:cNvPr id="96260" name="Rectangle 4"/>
          <p:cNvSpPr>
            <a:spLocks/>
          </p:cNvSpPr>
          <p:nvPr/>
        </p:nvSpPr>
        <p:spPr bwMode="auto">
          <a:xfrm>
            <a:off x="6972303" y="2599552"/>
            <a:ext cx="20226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>
                <a:solidFill>
                  <a:srgbClr val="BA2D00"/>
                </a:solidFill>
                <a:latin typeface="Courier New" charset="0"/>
                <a:sym typeface="Courier" charset="0"/>
              </a:rPr>
              <a:t>11hello</a:t>
            </a:r>
          </a:p>
        </p:txBody>
      </p:sp>
      <p:sp>
        <p:nvSpPr>
          <p:cNvPr id="96261" name="Rectangle 5"/>
          <p:cNvSpPr>
            <a:spLocks/>
          </p:cNvSpPr>
          <p:nvPr/>
        </p:nvSpPr>
        <p:spPr bwMode="auto">
          <a:xfrm>
            <a:off x="6972303" y="4293096"/>
            <a:ext cx="20226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>
                <a:solidFill>
                  <a:srgbClr val="BA2D00"/>
                </a:solidFill>
                <a:latin typeface="Courier New" charset="0"/>
                <a:sym typeface="Courier" charset="0"/>
              </a:rPr>
              <a:t>hello56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utoUpdateAnimBg="0"/>
      <p:bldP spid="9626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025-E71E-E9B2-525A-82A5977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Formatted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EA59-FCC9-B81A-EE67-0000BDBE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Concatenation can be used to create output in a desired format.</a:t>
            </a:r>
          </a:p>
          <a:p>
            <a:r>
              <a:rPr lang="en-GB"/>
              <a:t>An alternative is to use </a:t>
            </a:r>
            <a:r>
              <a:rPr lang="en-GB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/>
              <a:t>.</a:t>
            </a:r>
          </a:p>
          <a:p>
            <a:r>
              <a:rPr lang="en-GB"/>
              <a:t>The first argument gives the overall structure.</a:t>
            </a:r>
          </a:p>
          <a:p>
            <a:r>
              <a:rPr lang="en-GB"/>
              <a:t>Format specifiers represent 'holes' to be filled in by the other arguments.</a:t>
            </a:r>
          </a:p>
        </p:txBody>
      </p:sp>
    </p:spTree>
    <p:extLst>
      <p:ext uri="{BB962C8B-B14F-4D97-AF65-F5344CB8AC3E}">
        <p14:creationId xmlns:p14="http://schemas.microsoft.com/office/powerpoint/2010/main" val="4115708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025-E71E-E9B2-525A-82A5977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Formatted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EA59-FCC9-B81A-EE67-0000BDBE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Concatenation:</a:t>
            </a:r>
            <a:br>
              <a:rPr lang="en-GB"/>
            </a:br>
            <a:r>
              <a:rPr lang="en-US" altLang="en-US" sz="3300">
                <a:solidFill>
                  <a:schemeClr val="tx1"/>
                </a:solidFill>
                <a:latin typeface="Courier New" charset="0"/>
              </a:rPr>
              <a:t>System.out.println("# " + price + " cents.");</a:t>
            </a:r>
            <a:endParaRPr lang="en-GB" sz="3300"/>
          </a:p>
          <a:p>
            <a:r>
              <a:rPr lang="en-GB"/>
              <a:t>Using </a:t>
            </a:r>
            <a:r>
              <a:rPr lang="en-GB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/>
              <a:t>:</a:t>
            </a:r>
            <a:br>
              <a:rPr lang="en-GB"/>
            </a:br>
            <a:r>
              <a:rPr lang="en-US" altLang="en-US" sz="350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3500">
                <a:solidFill>
                  <a:schemeClr val="tx1"/>
                </a:solidFill>
                <a:latin typeface="Courier New" charset="0"/>
              </a:rPr>
              <a:t>("# %d </a:t>
            </a:r>
            <a:r>
              <a:rPr lang="en-US" altLang="en-US" sz="3500" err="1">
                <a:solidFill>
                  <a:schemeClr val="tx1"/>
                </a:solidFill>
                <a:latin typeface="Courier New" charset="0"/>
              </a:rPr>
              <a:t>cents.%n</a:t>
            </a:r>
            <a:r>
              <a:rPr lang="en-US" altLang="en-US" sz="3500">
                <a:solidFill>
                  <a:schemeClr val="tx1"/>
                </a:solidFill>
                <a:latin typeface="Courier New" charset="0"/>
              </a:rPr>
              <a:t>", price);</a:t>
            </a:r>
            <a:endParaRPr lang="en-GB" sz="6500"/>
          </a:p>
          <a:p>
            <a:r>
              <a:rPr lang="en-GB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 </a:t>
            </a:r>
            <a:r>
              <a:rPr lang="en-GB"/>
              <a:t>means insert the next argument as an integer value at this point.</a:t>
            </a:r>
          </a:p>
          <a:p>
            <a:r>
              <a:rPr lang="en-GB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</a:t>
            </a:r>
            <a:r>
              <a:rPr lang="en-GB" b="1">
                <a:solidFill>
                  <a:schemeClr val="tx1"/>
                </a:solidFill>
              </a:rPr>
              <a:t> </a:t>
            </a:r>
            <a:r>
              <a:rPr lang="en-GB"/>
              <a:t>means 'end the line' (i.e., 'insert' a newline) at this point.</a:t>
            </a:r>
          </a:p>
        </p:txBody>
      </p:sp>
    </p:spTree>
    <p:extLst>
      <p:ext uri="{BB962C8B-B14F-4D97-AF65-F5344CB8AC3E}">
        <p14:creationId xmlns:p14="http://schemas.microsoft.com/office/powerpoint/2010/main" val="280869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Method summary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 sz="3600">
                <a:ea typeface="MS PGothic" charset="-128"/>
              </a:rPr>
              <a:t>Methods implement all object behavior.</a:t>
            </a:r>
          </a:p>
          <a:p>
            <a:r>
              <a:rPr lang="en-GB" altLang="en-US" sz="3600">
                <a:ea typeface="MS PGothic" charset="-128"/>
              </a:rPr>
              <a:t>A method has a name and a return type.</a:t>
            </a:r>
          </a:p>
          <a:p>
            <a:pPr lvl="1"/>
            <a:r>
              <a:rPr lang="en-GB" altLang="en-US" sz="3200">
                <a:ea typeface="MS PGothic" charset="-128"/>
              </a:rPr>
              <a:t>The return-type may be </a:t>
            </a:r>
            <a:r>
              <a:rPr lang="en-GB" altLang="en-US" sz="3200" b="1">
                <a:latin typeface="Courier New" charset="0"/>
                <a:ea typeface="MS PGothic" charset="-128"/>
              </a:rPr>
              <a:t>void</a:t>
            </a:r>
            <a:r>
              <a:rPr lang="en-GB" altLang="en-US" sz="3200">
                <a:ea typeface="MS PGothic" charset="-128"/>
              </a:rPr>
              <a:t>.</a:t>
            </a:r>
          </a:p>
          <a:p>
            <a:pPr lvl="1"/>
            <a:r>
              <a:rPr lang="en-GB" altLang="en-US" sz="3200">
                <a:ea typeface="MS PGothic" charset="-128"/>
              </a:rPr>
              <a:t>A non-</a:t>
            </a:r>
            <a:r>
              <a:rPr lang="en-GB" altLang="en-US" sz="3200" b="1">
                <a:latin typeface="Courier New" charset="0"/>
                <a:ea typeface="MS PGothic" charset="-128"/>
              </a:rPr>
              <a:t>void</a:t>
            </a:r>
            <a:r>
              <a:rPr lang="en-GB" altLang="en-US" sz="3200">
                <a:ea typeface="MS PGothic" charset="-128"/>
              </a:rPr>
              <a:t> return type means the method will return a value to its caller.</a:t>
            </a:r>
          </a:p>
          <a:p>
            <a:r>
              <a:rPr lang="en-GB" altLang="en-US" sz="3600">
                <a:ea typeface="MS PGothic" charset="-128"/>
              </a:rPr>
              <a:t>A method might take parameters.</a:t>
            </a:r>
          </a:p>
          <a:p>
            <a:pPr lvl="1"/>
            <a:r>
              <a:rPr lang="en-GB" altLang="en-US" sz="3200">
                <a:ea typeface="MS PGothic" charset="-128"/>
              </a:rPr>
              <a:t>Parameters bring values in from outside for the method to use.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Reflecting on the ticket machines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>
                <a:ea typeface="+mn-ea"/>
                <a:cs typeface="+mn-cs"/>
              </a:rPr>
              <a:t>Their behavior is inadequate in several ways: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checks on the amounts entered.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refunds.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No checks for a sensible initialization.</a:t>
            </a:r>
          </a:p>
          <a:p>
            <a:pPr eaLnBrk="1" hangingPunct="1">
              <a:defRPr/>
            </a:pPr>
            <a:r>
              <a:rPr lang="en-US">
                <a:ea typeface="+mn-ea"/>
                <a:cs typeface="+mn-cs"/>
              </a:rPr>
              <a:t>How can we do better?</a:t>
            </a:r>
          </a:p>
          <a:p>
            <a:pPr lvl="1" eaLnBrk="1" hangingPunct="1">
              <a:defRPr/>
            </a:pPr>
            <a:r>
              <a:rPr lang="en-US">
                <a:ea typeface="+mn-ea"/>
              </a:rPr>
              <a:t>We need the ability to choose between different courses of action.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270-F5C8-38C1-18BD-6F7B11A1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Conditionals – the if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041921-7F50-1E1B-D9D8-916D3109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670" y="1801442"/>
            <a:ext cx="4204447" cy="4525963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BA4961D-9019-5941-C5E2-44B00673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01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356-5A74-54D6-F90E-C0000329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2C9053EF-3838-CB2E-C031-45C009FFA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/>
              <a:t>Making choices in everyday life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28AC5360-7A2B-F340-D47B-7763CF2480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2188839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pPr marL="0" indent="0">
              <a:buNone/>
            </a:pPr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04ADE-DD9B-F79A-9275-51C096D494BB}"/>
              </a:ext>
            </a:extLst>
          </p:cNvPr>
          <p:cNvGrpSpPr/>
          <p:nvPr/>
        </p:nvGrpSpPr>
        <p:grpSpPr>
          <a:xfrm>
            <a:off x="6492155" y="1600201"/>
            <a:ext cx="4795690" cy="2032484"/>
            <a:chOff x="2892002" y="1916832"/>
            <a:chExt cx="4417516" cy="1872208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F96B6B5C-92D0-44A6-0A7B-E2431F93B687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46762FCB-FC28-D412-B4B5-2C7615EEFD9E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8A1C9A8-376D-284A-E78A-657F64D9414D}"/>
                </a:ext>
              </a:extLst>
            </p:cNvPr>
            <p:cNvSpPr/>
            <p:nvPr/>
          </p:nvSpPr>
          <p:spPr>
            <a:xfrm>
              <a:off x="6013374" y="2352581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Just Do it!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B248F7-DAE0-6FF7-1156-54D389EFEE24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C0AD28A-A431-C243-E5AA-69859C014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1674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(1)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34138" y="3680801"/>
            <a:ext cx="76290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72044" y="42374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2067198" y="3212976"/>
            <a:ext cx="8258688" cy="184780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TextBox 2"/>
          <p:cNvSpPr txBox="1"/>
          <p:nvPr/>
        </p:nvSpPr>
        <p:spPr>
          <a:xfrm>
            <a:off x="15328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71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CE5A-6E4F-798E-1AC6-8B65ACA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E64DE0F6-CB72-FC7D-00F8-DD16D9C0C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(1) 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A6D230AE-022D-FDFE-5073-2C87699A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6367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105A7-A16D-95C9-C7FE-11852CD9F45D}"/>
              </a:ext>
            </a:extLst>
          </p:cNvPr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149A0-1148-9C6B-9119-96610A48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3431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(2)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I will go to the Gym</a:t>
            </a:r>
            <a:endParaRPr lang="en-US" dirty="0"/>
          </a:p>
          <a:p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964897-A944-0134-49D9-2FA76A199444}"/>
              </a:ext>
            </a:extLst>
          </p:cNvPr>
          <p:cNvGrpSpPr/>
          <p:nvPr/>
        </p:nvGrpSpPr>
        <p:grpSpPr>
          <a:xfrm>
            <a:off x="6529608" y="1600201"/>
            <a:ext cx="4795690" cy="4525963"/>
            <a:chOff x="2892002" y="1916832"/>
            <a:chExt cx="4417516" cy="4169059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C6D22CD9-A7BF-21C4-3E8D-20166D90545D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938698A8-1757-FD75-40DF-E0F881582ACA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51103EC7-E323-EF35-4DE0-59EC1547CC5E}"/>
                </a:ext>
              </a:extLst>
            </p:cNvPr>
            <p:cNvSpPr/>
            <p:nvPr/>
          </p:nvSpPr>
          <p:spPr>
            <a:xfrm rot="5400000">
              <a:off x="3144030" y="4185084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709C3EBA-99CF-33A9-FC4C-A8CF5F625EAC}"/>
                </a:ext>
              </a:extLst>
            </p:cNvPr>
            <p:cNvSpPr/>
            <p:nvPr/>
          </p:nvSpPr>
          <p:spPr>
            <a:xfrm>
              <a:off x="6013374" y="2352582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8" name="Process 7">
              <a:extLst>
                <a:ext uri="{FF2B5EF4-FFF2-40B4-BE49-F238E27FC236}">
                  <a16:creationId xmlns:a16="http://schemas.microsoft.com/office/drawing/2014/main" id="{D293AC4E-A84D-5A61-9186-5CE8029ADC53}"/>
                </a:ext>
              </a:extLst>
            </p:cNvPr>
            <p:cNvSpPr/>
            <p:nvPr/>
          </p:nvSpPr>
          <p:spPr>
            <a:xfrm>
              <a:off x="3215680" y="5085184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Gym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8CC582-C776-32FC-1D7E-492E5757E136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567E5-0B19-1C91-EC06-DC4DA7C2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(2)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62200" y="3117850"/>
            <a:ext cx="7729538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else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1" y="2055813"/>
            <a:ext cx="1409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572000" y="1905001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 err="1">
                <a:solidFill>
                  <a:srgbClr val="A57133"/>
                </a:solidFill>
              </a:rPr>
              <a:t>boolean</a:t>
            </a:r>
            <a:r>
              <a:rPr lang="en-US" sz="2000" dirty="0">
                <a:solidFill>
                  <a:srgbClr val="A57133"/>
                </a:solidFill>
              </a:rPr>
              <a:t> condition to be tested</a:t>
            </a:r>
            <a:endParaRPr lang="en-US" sz="200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6781801" y="2513013"/>
            <a:ext cx="28948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477000" y="5103814"/>
            <a:ext cx="3352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false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590800" y="5256213"/>
            <a:ext cx="1664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>
                <a:solidFill>
                  <a:srgbClr val="A57133"/>
                </a:solidFill>
              </a:rPr>
              <a:t>‘else’ keyword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667000" y="2438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 flipV="1">
            <a:off x="2743200" y="42672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4267200" y="22860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7696200" y="2895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 flipV="1">
            <a:off x="7010400" y="4648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b="1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895600" y="4243388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95600" y="34290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16" name="Rectangle 15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903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  <p:bldP spid="24582" grpId="0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(2)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8DDF6-29CC-488C-2927-B2CF39E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519C-088B-71A0-55F9-1DE850CD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E71C172-2413-DFCA-2FB5-3F7C55A08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(3)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1E67BD42-8EF1-DD0E-145F-3FF7AD4975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4857392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</a:t>
            </a:r>
            <a:r>
              <a:rPr lang="en-IE" altLang="en-US" sz="3200" dirty="0"/>
              <a:t>if I am a member of a gym, go to the gym</a:t>
            </a:r>
          </a:p>
          <a:p>
            <a:r>
              <a:rPr lang="en-IE" sz="3200" dirty="0"/>
              <a:t>Otherwise I will go for a run</a:t>
            </a:r>
            <a:endParaRPr lang="en-US" dirty="0"/>
          </a:p>
          <a:p>
            <a:endParaRPr lang="en-GB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3418C-AD97-5D99-1130-1CAF2694E733}"/>
              </a:ext>
            </a:extLst>
          </p:cNvPr>
          <p:cNvSpPr txBox="1"/>
          <p:nvPr/>
        </p:nvSpPr>
        <p:spPr>
          <a:xfrm>
            <a:off x="7800563" y="2632713"/>
            <a:ext cx="271010" cy="400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2B05F-789E-9A0D-4094-2DBBAD88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5D3738C-BD9E-4240-BB18-D46D617922B9}"/>
              </a:ext>
            </a:extLst>
          </p:cNvPr>
          <p:cNvGrpSpPr/>
          <p:nvPr/>
        </p:nvGrpSpPr>
        <p:grpSpPr>
          <a:xfrm>
            <a:off x="6094160" y="1817263"/>
            <a:ext cx="4968552" cy="4987921"/>
            <a:chOff x="4367808" y="1772817"/>
            <a:chExt cx="4968552" cy="4987921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14BFD934-8BF7-C0EB-A471-32C431055967}"/>
                </a:ext>
              </a:extLst>
            </p:cNvPr>
            <p:cNvSpPr/>
            <p:nvPr/>
          </p:nvSpPr>
          <p:spPr>
            <a:xfrm>
              <a:off x="4367808" y="1772817"/>
              <a:ext cx="1901028" cy="1291974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 dirty="0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67F6C9B-5CD1-022D-FEA3-6C5A9C4009CB}"/>
                </a:ext>
              </a:extLst>
            </p:cNvPr>
            <p:cNvSpPr/>
            <p:nvPr/>
          </p:nvSpPr>
          <p:spPr>
            <a:xfrm>
              <a:off x="6269022" y="2194681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ECD6C22-EA17-CBEC-15A9-C8E82D94A83B}"/>
                </a:ext>
              </a:extLst>
            </p:cNvPr>
            <p:cNvSpPr/>
            <p:nvPr/>
          </p:nvSpPr>
          <p:spPr>
            <a:xfrm>
              <a:off x="7812837" y="1993143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2" name="Decision 1">
              <a:extLst>
                <a:ext uri="{FF2B5EF4-FFF2-40B4-BE49-F238E27FC236}">
                  <a16:creationId xmlns:a16="http://schemas.microsoft.com/office/drawing/2014/main" id="{8124FB81-879C-11B2-1770-31C91EC3E381}"/>
                </a:ext>
              </a:extLst>
            </p:cNvPr>
            <p:cNvSpPr/>
            <p:nvPr/>
          </p:nvSpPr>
          <p:spPr>
            <a:xfrm>
              <a:off x="4497940" y="4127676"/>
              <a:ext cx="1640762" cy="1101525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Am I a member of a gym?</a:t>
              </a:r>
              <a:endParaRPr lang="en-US" sz="1400" dirty="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D6AFEEC-2A75-76EE-462A-386672190E51}"/>
                </a:ext>
              </a:extLst>
            </p:cNvPr>
            <p:cNvSpPr/>
            <p:nvPr/>
          </p:nvSpPr>
          <p:spPr>
            <a:xfrm>
              <a:off x="6145724" y="4473896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13" name="Process 12">
              <a:extLst>
                <a:ext uri="{FF2B5EF4-FFF2-40B4-BE49-F238E27FC236}">
                  <a16:creationId xmlns:a16="http://schemas.microsoft.com/office/drawing/2014/main" id="{7B95F671-5258-E198-391E-4513EDEA89D1}"/>
                </a:ext>
              </a:extLst>
            </p:cNvPr>
            <p:cNvSpPr/>
            <p:nvPr/>
          </p:nvSpPr>
          <p:spPr>
            <a:xfrm>
              <a:off x="7676268" y="4272357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the gym</a:t>
              </a:r>
              <a:endParaRPr lang="en-US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B47B363-2D10-C825-AAA5-36E4B71115DB}"/>
                </a:ext>
              </a:extLst>
            </p:cNvPr>
            <p:cNvSpPr/>
            <p:nvPr/>
          </p:nvSpPr>
          <p:spPr>
            <a:xfrm rot="5400000">
              <a:off x="4866667" y="5525353"/>
              <a:ext cx="903141" cy="2984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F6F9178F-88E1-5E88-20BE-94D7EE42DB21}"/>
                </a:ext>
              </a:extLst>
            </p:cNvPr>
            <p:cNvSpPr/>
            <p:nvPr/>
          </p:nvSpPr>
          <p:spPr>
            <a:xfrm rot="5400000">
              <a:off x="4778011" y="3302660"/>
              <a:ext cx="1101526" cy="62578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31" name="Process 30">
              <a:extLst>
                <a:ext uri="{FF2B5EF4-FFF2-40B4-BE49-F238E27FC236}">
                  <a16:creationId xmlns:a16="http://schemas.microsoft.com/office/drawing/2014/main" id="{D8315F1E-C916-1F6D-41C1-6C4EB638A79C}"/>
                </a:ext>
              </a:extLst>
            </p:cNvPr>
            <p:cNvSpPr/>
            <p:nvPr/>
          </p:nvSpPr>
          <p:spPr>
            <a:xfrm>
              <a:off x="4560413" y="6148090"/>
              <a:ext cx="1523523" cy="612648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 for a run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12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(3)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62533" y="1897082"/>
            <a:ext cx="79047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else 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condition2…perform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false </a:t>
            </a:r>
            <a:b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</a:b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result and condition2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else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{</a:t>
            </a:r>
          </a:p>
          <a:p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both condition1 and </a:t>
            </a:r>
          </a:p>
          <a:p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condition2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724286" y="36048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695933" y="2461895"/>
            <a:ext cx="7371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2695933" y="49002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5-Point Star 5"/>
          <p:cNvSpPr/>
          <p:nvPr/>
        </p:nvSpPr>
        <p:spPr>
          <a:xfrm>
            <a:off x="1599894" y="2971800"/>
            <a:ext cx="533400" cy="457200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4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9D09-F4F7-81A9-BB49-A1961C2A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B3EBDA19-B0CA-FF24-A4E3-35D84CCF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(3)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2CDA4B6D-7D8D-D629-6D49-C481D307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82109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specialOffer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&gt;100)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+ 50;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if amount &gt; 50{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+ 25;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amount = amount + 5;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AC94E-0F7C-95B1-4362-1BBDC100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E4EC2-6E4A-26A9-7252-DFC158659CE5}"/>
              </a:ext>
            </a:extLst>
          </p:cNvPr>
          <p:cNvSpPr txBox="1"/>
          <p:nvPr/>
        </p:nvSpPr>
        <p:spPr>
          <a:xfrm>
            <a:off x="9048328" y="3356992"/>
            <a:ext cx="2160240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  <a:alpha val="62000"/>
              </a:schemeClr>
            </a:solidFill>
          </a:ln>
          <a:effectLst>
            <a:outerShdw blurRad="50800" dist="50800" dir="5400000" algn="ctr" rotWithShape="0">
              <a:srgbClr val="000000">
                <a:alpha val="68539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Note that if any condition is true, the associated statements are executed AND the if statement is finished.</a:t>
            </a:r>
          </a:p>
        </p:txBody>
      </p:sp>
    </p:spTree>
    <p:extLst>
      <p:ext uri="{BB962C8B-B14F-4D97-AF65-F5344CB8AC3E}">
        <p14:creationId xmlns:p14="http://schemas.microsoft.com/office/powerpoint/2010/main" val="20003476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  <a:r>
              <a:rPr lang="en-IE" b="1" dirty="0"/>
              <a:t>true</a:t>
            </a:r>
            <a:r>
              <a:rPr lang="en-IE" dirty="0"/>
              <a:t> or </a:t>
            </a:r>
            <a:r>
              <a:rPr lang="en-IE" b="1" dirty="0"/>
              <a:t>false</a:t>
            </a:r>
            <a:r>
              <a:rPr lang="en-IE" dirty="0"/>
              <a:t>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price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sz="2800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E" dirty="0"/>
              <a:t>An if statement evaluates a </a:t>
            </a:r>
            <a:r>
              <a:rPr lang="en-IE" b="1" dirty="0" err="1"/>
              <a:t>boolean</a:t>
            </a:r>
            <a:r>
              <a:rPr lang="en-IE" b="1" dirty="0"/>
              <a:t> condition </a:t>
            </a:r>
            <a:r>
              <a:rPr lang="en-IE" dirty="0"/>
              <a:t>and its result will determine which portion of the if statement is executed.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29080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1" y="2133600"/>
            <a:ext cx="7102549" cy="34163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before.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if (</a:t>
            </a:r>
            <a:r>
              <a:rPr lang="en-US" sz="2400" b="1" dirty="0" err="1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boolean</a:t>
            </a:r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 condition)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{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     // Perform this clause if the 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	// condition is true.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}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after.</a:t>
            </a:r>
          </a:p>
        </p:txBody>
      </p:sp>
    </p:spTree>
    <p:extLst>
      <p:ext uri="{BB962C8B-B14F-4D97-AF65-F5344CB8AC3E}">
        <p14:creationId xmlns:p14="http://schemas.microsoft.com/office/powerpoint/2010/main" val="3669506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if statement </a:t>
            </a:r>
            <a:r>
              <a:rPr lang="en-IE" dirty="0">
                <a:solidFill>
                  <a:srgbClr val="FF0000"/>
                </a:solidFill>
              </a:rPr>
              <a:t>IS</a:t>
            </a:r>
            <a:r>
              <a:rPr lang="en-IE" dirty="0"/>
              <a:t> a </a:t>
            </a:r>
            <a:r>
              <a:rPr lang="en-IE" b="1" dirty="0"/>
              <a:t>statement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	it is only executed once.</a:t>
            </a:r>
          </a:p>
          <a:p>
            <a:r>
              <a:rPr lang="en-IE" dirty="0"/>
              <a:t>When your if statement only has </a:t>
            </a:r>
            <a:r>
              <a:rPr lang="en-IE" u="sng" dirty="0"/>
              <a:t>one</a:t>
            </a:r>
            <a:r>
              <a:rPr lang="en-IE" dirty="0"/>
              <a:t> statement inside it, you do not need to use the curly braces.</a:t>
            </a:r>
          </a:p>
          <a:p>
            <a:r>
              <a:rPr lang="en-IE" dirty="0"/>
              <a:t>For example, both of these are the same:</a:t>
            </a:r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2667000" y="4840070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price = 50;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384032" y="4978569"/>
            <a:ext cx="2971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price = 50;</a:t>
            </a:r>
          </a:p>
        </p:txBody>
      </p:sp>
    </p:spTree>
    <p:extLst>
      <p:ext uri="{BB962C8B-B14F-4D97-AF65-F5344CB8AC3E}">
        <p14:creationId xmlns:p14="http://schemas.microsoft.com/office/powerpoint/2010/main" val="9331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semi-colon (</a:t>
            </a:r>
            <a:r>
              <a:rPr lang="en-IE" b="1" dirty="0"/>
              <a:t>;</a:t>
            </a:r>
            <a:r>
              <a:rPr lang="en-IE" dirty="0"/>
              <a:t>) is a </a:t>
            </a:r>
            <a:r>
              <a:rPr lang="en-IE" b="1" dirty="0"/>
              <a:t>statement terminator</a:t>
            </a:r>
            <a:r>
              <a:rPr lang="en-IE" dirty="0"/>
              <a:t>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610100" y="2947479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en-IE" dirty="0" err="1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rect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(0, 0, 50, 100) ;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2" name="Oval 1"/>
          <p:cNvSpPr/>
          <p:nvPr/>
        </p:nvSpPr>
        <p:spPr>
          <a:xfrm>
            <a:off x="6816080" y="3284016"/>
            <a:ext cx="152400" cy="9760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b="1" dirty="0"/>
          </a:p>
        </p:txBody>
      </p:sp>
      <p:sp>
        <p:nvSpPr>
          <p:cNvPr id="6" name="Left Arrow 5"/>
          <p:cNvSpPr/>
          <p:nvPr/>
        </p:nvSpPr>
        <p:spPr>
          <a:xfrm rot="820408">
            <a:off x="6169718" y="3294826"/>
            <a:ext cx="2783160" cy="26834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8863716" y="3429000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40B62-FD9D-F06E-C2CF-FE9F8035F4F9}"/>
              </a:ext>
            </a:extLst>
          </p:cNvPr>
          <p:cNvSpPr txBox="1"/>
          <p:nvPr/>
        </p:nvSpPr>
        <p:spPr>
          <a:xfrm>
            <a:off x="4943872" y="5064336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024E6194-C19D-4EEF-0A92-D0337CD58009}"/>
              </a:ext>
            </a:extLst>
          </p:cNvPr>
          <p:cNvSpPr/>
          <p:nvPr/>
        </p:nvSpPr>
        <p:spPr>
          <a:xfrm rot="2969422">
            <a:off x="4670779" y="4362194"/>
            <a:ext cx="1445982" cy="28922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0B0C3-4CF6-F722-66FB-94F3A279831F}"/>
              </a:ext>
            </a:extLst>
          </p:cNvPr>
          <p:cNvSpPr txBox="1"/>
          <p:nvPr/>
        </p:nvSpPr>
        <p:spPr>
          <a:xfrm>
            <a:off x="9485575" y="5211871"/>
            <a:ext cx="1752600" cy="7078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Semi-colon </a:t>
            </a:r>
            <a:r>
              <a:rPr lang="en-IE" sz="2000" b="1" dirty="0"/>
              <a:t>IS </a:t>
            </a:r>
            <a:r>
              <a:rPr lang="en-IE" sz="2000" dirty="0"/>
              <a:t>needed here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0EC9097B-0C94-BE25-8BC3-C361ECBB5A44}"/>
              </a:ext>
            </a:extLst>
          </p:cNvPr>
          <p:cNvSpPr/>
          <p:nvPr/>
        </p:nvSpPr>
        <p:spPr>
          <a:xfrm rot="1607918" flipV="1">
            <a:off x="6884288" y="4472615"/>
            <a:ext cx="2800454" cy="219325"/>
          </a:xfrm>
          <a:prstGeom prst="leftArrow">
            <a:avLst>
              <a:gd name="adj1" fmla="val 7692"/>
              <a:gd name="adj2" fmla="val 50000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4460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class-definitions</Template>
  <TotalTime>562</TotalTime>
  <Words>2459</Words>
  <Application>Microsoft Macintosh PowerPoint</Application>
  <PresentationFormat>Widescreen</PresentationFormat>
  <Paragraphs>444</Paragraphs>
  <Slides>42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 Unicode MS</vt:lpstr>
      <vt:lpstr>MS PGothic</vt:lpstr>
      <vt:lpstr>Anonymous</vt:lpstr>
      <vt:lpstr>Arial</vt:lpstr>
      <vt:lpstr>Calibri</vt:lpstr>
      <vt:lpstr>Courier New</vt:lpstr>
      <vt:lpstr>Courier New Bold</vt:lpstr>
      <vt:lpstr>Helvetica</vt:lpstr>
      <vt:lpstr>Lucida Grande</vt:lpstr>
      <vt:lpstr>Times New Roman</vt:lpstr>
      <vt:lpstr>Tw Cen MT</vt:lpstr>
      <vt:lpstr>a-processing-mouse-event-methods</vt:lpstr>
      <vt:lpstr>Understanding class definitions 2</vt:lpstr>
      <vt:lpstr>Upcoming</vt:lpstr>
      <vt:lpstr>Methods</vt:lpstr>
      <vt:lpstr>Method structure</vt:lpstr>
      <vt:lpstr>Getter methods</vt:lpstr>
      <vt:lpstr>Accessor methods</vt:lpstr>
      <vt:lpstr>Test – syntax errors</vt:lpstr>
      <vt:lpstr>Test</vt:lpstr>
      <vt:lpstr>Mutator methods</vt:lpstr>
      <vt:lpstr>setter methods</vt:lpstr>
      <vt:lpstr>A typical set method</vt:lpstr>
      <vt:lpstr>Protective mutators</vt:lpstr>
      <vt:lpstr>Another mutator method</vt:lpstr>
      <vt:lpstr>The this keyword</vt:lpstr>
      <vt:lpstr>The this keyword</vt:lpstr>
      <vt:lpstr>The this keyword</vt:lpstr>
      <vt:lpstr>The this keyword</vt:lpstr>
      <vt:lpstr>The this keyword</vt:lpstr>
      <vt:lpstr>Printing from methods</vt:lpstr>
      <vt:lpstr>String concatenation</vt:lpstr>
      <vt:lpstr>Quiz</vt:lpstr>
      <vt:lpstr>Quiz</vt:lpstr>
      <vt:lpstr>Formatted printing</vt:lpstr>
      <vt:lpstr>Formatted printing</vt:lpstr>
      <vt:lpstr>Method summary</vt:lpstr>
      <vt:lpstr>Reflecting on the ticket machines</vt:lpstr>
      <vt:lpstr>Conditionals – the if statement</vt:lpstr>
      <vt:lpstr>Making choices in everyday life</vt:lpstr>
      <vt:lpstr>Conditional Statement Syntax (1)</vt:lpstr>
      <vt:lpstr>Making a choice in the ticket machine (1) </vt:lpstr>
      <vt:lpstr>Making choices in everyday life (2)</vt:lpstr>
      <vt:lpstr>Conditional Statement Syntax (2) </vt:lpstr>
      <vt:lpstr>Making a choice in the ticket machine (2)</vt:lpstr>
      <vt:lpstr>Making choices in everyday life (3)</vt:lpstr>
      <vt:lpstr>Conditional Statement Syntax (3) </vt:lpstr>
      <vt:lpstr>Making a choice in the ticket machine (3)</vt:lpstr>
      <vt:lpstr>Boolean conditions</vt:lpstr>
      <vt:lpstr>Boolean conditions</vt:lpstr>
      <vt:lpstr>Java Relational Operators</vt:lpstr>
      <vt:lpstr>Some notes on the if statement</vt:lpstr>
      <vt:lpstr>Some notes on the if statement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195</cp:revision>
  <cp:lastPrinted>2003-09-01T07:04:41Z</cp:lastPrinted>
  <dcterms:created xsi:type="dcterms:W3CDTF">2009-04-22T19:24:48Z</dcterms:created>
  <dcterms:modified xsi:type="dcterms:W3CDTF">2025-09-20T18:38:44Z</dcterms:modified>
  <cp:category/>
</cp:coreProperties>
</file>