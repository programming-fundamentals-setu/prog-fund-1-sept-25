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9"/>
  </p:notesMasterIdLst>
  <p:handoutMasterIdLst>
    <p:handoutMasterId r:id="rId30"/>
  </p:handoutMasterIdLst>
  <p:sldIdLst>
    <p:sldId id="256" r:id="rId2"/>
    <p:sldId id="348" r:id="rId3"/>
    <p:sldId id="265" r:id="rId4"/>
    <p:sldId id="288" r:id="rId5"/>
    <p:sldId id="266" r:id="rId6"/>
    <p:sldId id="289" r:id="rId7"/>
    <p:sldId id="279" r:id="rId8"/>
    <p:sldId id="304" r:id="rId9"/>
    <p:sldId id="267" r:id="rId10"/>
    <p:sldId id="290" r:id="rId11"/>
    <p:sldId id="291" r:id="rId12"/>
    <p:sldId id="299" r:id="rId13"/>
    <p:sldId id="268" r:id="rId14"/>
    <p:sldId id="303" r:id="rId15"/>
    <p:sldId id="269" r:id="rId16"/>
    <p:sldId id="282" r:id="rId17"/>
    <p:sldId id="349" r:id="rId18"/>
    <p:sldId id="283" r:id="rId19"/>
    <p:sldId id="301" r:id="rId20"/>
    <p:sldId id="302" r:id="rId21"/>
    <p:sldId id="292" r:id="rId22"/>
    <p:sldId id="270" r:id="rId23"/>
    <p:sldId id="293" r:id="rId24"/>
    <p:sldId id="294" r:id="rId25"/>
    <p:sldId id="272" r:id="rId26"/>
    <p:sldId id="271" r:id="rId27"/>
    <p:sldId id="35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8"/>
  </p:normalViewPr>
  <p:slideViewPr>
    <p:cSldViewPr>
      <p:cViewPr varScale="1">
        <p:scale>
          <a:sx n="114" d="100"/>
          <a:sy n="114" d="100"/>
        </p:scale>
        <p:origin x="568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301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F01C2B9-F148-D248-8B24-36F43746ED6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3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54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60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42B80AA9-9110-5649-856E-9959702D86FC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538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915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91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D87F04AC-66A4-8A46-8CF7-4EB8D4BAC17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275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8B82-A232-E607-AD42-E16EA067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4334F84B-A9CB-D2FF-763B-B9277DAC5C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9154" name="Rectangle 6">
            <a:extLst>
              <a:ext uri="{FF2B5EF4-FFF2-40B4-BE49-F238E27FC236}">
                <a16:creationId xmlns:a16="http://schemas.microsoft.com/office/drawing/2014/main" id="{AF1B7357-07BE-D8B6-6EA6-2B9AA2855E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AEBCC6A2-40C2-FD5A-40D0-9EA09CDF77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D87F04AC-66A4-8A46-8CF7-4EB8D4BAC17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22CC24A8-480A-A51D-CFA7-A6242AD6C7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4" name="Rectangle 3">
            <a:extLst>
              <a:ext uri="{FF2B5EF4-FFF2-40B4-BE49-F238E27FC236}">
                <a16:creationId xmlns:a16="http://schemas.microsoft.com/office/drawing/2014/main" id="{FAAF8EEE-3291-7083-ED63-F6D8AB02C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598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5325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532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C979DF4-CC73-9B4F-8FFB-0055A5D5E511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8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5529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552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5B76FE57-F2C0-4646-9243-30FE5272AB4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53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009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04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04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CEE1565E-29AA-3446-A164-B8D1885B9D1E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810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24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3DCE7E3-7332-834C-B906-2AEF9A08C04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  <p:txBody>
          <a:bodyPr/>
          <a:lstStyle/>
          <a:p>
            <a:r>
              <a:rPr lang="en-US" altLang="en-US" sz="1600">
                <a:latin typeface="Lucida Grande" charset="0"/>
                <a:ea typeface="ＭＳ Ｐゴシック" charset="-128"/>
                <a:sym typeface="Lucida Grande" charset="0"/>
              </a:rPr>
              <a:t>try out in codepad</a:t>
            </a:r>
          </a:p>
        </p:txBody>
      </p:sp>
    </p:spTree>
    <p:extLst>
      <p:ext uri="{BB962C8B-B14F-4D97-AF65-F5344CB8AC3E}">
        <p14:creationId xmlns:p14="http://schemas.microsoft.com/office/powerpoint/2010/main" val="314939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F1B8-C70D-F191-0A84-6147FC32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4F6D4727-1C9B-5F6B-62CF-506FC25626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4514" name="Rectangle 6">
            <a:extLst>
              <a:ext uri="{FF2B5EF4-FFF2-40B4-BE49-F238E27FC236}">
                <a16:creationId xmlns:a16="http://schemas.microsoft.com/office/drawing/2014/main" id="{94EE65B2-6786-C887-D606-41B066B0F1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4515" name="Rectangle 7">
            <a:extLst>
              <a:ext uri="{FF2B5EF4-FFF2-40B4-BE49-F238E27FC236}">
                <a16:creationId xmlns:a16="http://schemas.microsoft.com/office/drawing/2014/main" id="{E3B1C645-DDC0-0AB2-E1F8-958482AE4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68F1F93-EB3A-2A46-83B6-547F456C1C5F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17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BF64AD31-EE87-CD08-E7F4-DF8B72C02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712BCBB8-AF08-D87E-23FF-0F1CCC076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 altLang="en-US" sz="1600">
              <a:latin typeface="Lucida Grande" charset="0"/>
              <a:ea typeface="ＭＳ Ｐゴシック" charset="-128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76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451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45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68F1F93-EB3A-2A46-83B6-547F456C1C5F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45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GB" altLang="en-US" sz="1600">
              <a:latin typeface="Lucida Grande" charset="0"/>
              <a:ea typeface="ＭＳ Ｐゴシック" charset="-128"/>
              <a:sym typeface="Lucida Gran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545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6758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969974D1-C273-1A44-83FD-CD5A69E869C2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67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204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16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16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8E88E89-A7E9-1241-A2C0-710240EC769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270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0583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625600" y="1828800"/>
            <a:ext cx="99568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961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 2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/>
              <a:t>by:</a:t>
            </a:r>
            <a:endParaRPr lang="en-I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Methods, including: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accessor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i="1" dirty="0">
                <a:ea typeface="MS PGothic" charset="-128"/>
              </a:rPr>
              <a:t>getter</a:t>
            </a:r>
            <a:r>
              <a:rPr lang="en-US" altLang="en-US" dirty="0">
                <a:ea typeface="MS PGothic" charset="-128"/>
              </a:rPr>
              <a:t>) methods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mutator</a:t>
            </a:r>
            <a:r>
              <a:rPr lang="en-US" altLang="en-US" dirty="0">
                <a:ea typeface="MS PGothic" charset="-128"/>
              </a:rPr>
              <a:t> (</a:t>
            </a:r>
            <a:r>
              <a:rPr lang="en-US" altLang="en-US" i="1" dirty="0">
                <a:ea typeface="MS PGothic" charset="-128"/>
              </a:rPr>
              <a:t>setter</a:t>
            </a:r>
            <a:r>
              <a:rPr lang="en-US" altLang="en-US" dirty="0">
                <a:ea typeface="MS PGothic" charset="-128"/>
              </a:rPr>
              <a:t>) methods;</a:t>
            </a:r>
          </a:p>
          <a:p>
            <a:pPr marL="382588"/>
            <a:r>
              <a:rPr lang="en-US" altLang="en-US" dirty="0">
                <a:ea typeface="MS PGothic" charset="-128"/>
              </a:rPr>
              <a:t>String formatting;</a:t>
            </a:r>
          </a:p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 (next </a:t>
            </a:r>
            <a:r>
              <a:rPr lang="en-US" altLang="en-US" dirty="0" err="1">
                <a:ea typeface="MS PGothic" charset="-128"/>
              </a:rPr>
              <a:t>slidedeck</a:t>
            </a:r>
            <a:r>
              <a:rPr lang="en-US" altLang="en-US" dirty="0">
                <a:ea typeface="MS PGothic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Methods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ea typeface="MS PGothic" charset="-128"/>
              </a:rPr>
              <a:t>Methods implement the </a:t>
            </a:r>
            <a:r>
              <a:rPr lang="en-US" altLang="en-US" sz="3600" i="1" dirty="0" err="1">
                <a:ea typeface="MS PGothic" charset="-128"/>
              </a:rPr>
              <a:t>behaviour</a:t>
            </a:r>
            <a:r>
              <a:rPr lang="en-US" altLang="en-US" sz="3600" dirty="0">
                <a:ea typeface="MS PGothic" charset="-128"/>
              </a:rPr>
              <a:t> of objects.</a:t>
            </a:r>
          </a:p>
          <a:p>
            <a:pPr eaLnBrk="1" hangingPunct="1"/>
            <a:r>
              <a:rPr lang="en-US" altLang="en-US" sz="3600" dirty="0">
                <a:ea typeface="MS PGothic" charset="-128"/>
              </a:rPr>
              <a:t>Methods have a consistent structure comprised of a </a:t>
            </a:r>
            <a:r>
              <a:rPr lang="en-US" altLang="en-US" sz="3600" i="1" dirty="0">
                <a:ea typeface="MS PGothic" charset="-128"/>
              </a:rPr>
              <a:t>header</a:t>
            </a:r>
            <a:r>
              <a:rPr lang="en-US" altLang="en-US" sz="3600" dirty="0">
                <a:ea typeface="MS PGothic" charset="-128"/>
              </a:rPr>
              <a:t> and a </a:t>
            </a:r>
            <a:r>
              <a:rPr lang="en-US" altLang="en-US" sz="3600" i="1" dirty="0">
                <a:ea typeface="MS PGothic" charset="-128"/>
              </a:rPr>
              <a:t>body</a:t>
            </a:r>
            <a:r>
              <a:rPr lang="en-US" altLang="en-US" sz="3600" dirty="0">
                <a:ea typeface="MS PGothic" charset="-128"/>
              </a:rPr>
              <a:t>.</a:t>
            </a:r>
          </a:p>
          <a:p>
            <a:pPr eaLnBrk="1" hangingPunct="1"/>
            <a:r>
              <a:rPr lang="en-US" altLang="en-US" sz="3600" i="1" dirty="0" err="1">
                <a:ea typeface="MS PGothic" charset="-128"/>
              </a:rPr>
              <a:t>Accessor</a:t>
            </a:r>
            <a:r>
              <a:rPr lang="en-US" altLang="en-US" sz="3600" i="1" dirty="0">
                <a:ea typeface="MS PGothic" charset="-128"/>
              </a:rPr>
              <a:t> methods</a:t>
            </a:r>
            <a:r>
              <a:rPr lang="en-US" altLang="en-US" sz="3600" dirty="0">
                <a:ea typeface="MS PGothic" charset="-128"/>
              </a:rPr>
              <a:t> provide information about an object.</a:t>
            </a:r>
          </a:p>
          <a:p>
            <a:pPr eaLnBrk="1" hangingPunct="1"/>
            <a:r>
              <a:rPr lang="en-US" altLang="en-US" sz="3600" i="1" dirty="0">
                <a:ea typeface="MS PGothic" charset="-128"/>
              </a:rPr>
              <a:t>Mutator methods</a:t>
            </a:r>
            <a:r>
              <a:rPr lang="en-US" altLang="en-US" sz="3600" dirty="0">
                <a:ea typeface="MS PGothic" charset="-128"/>
              </a:rPr>
              <a:t> change the state of an object.</a:t>
            </a:r>
          </a:p>
          <a:p>
            <a:pPr eaLnBrk="1" hangingPunct="1"/>
            <a:r>
              <a:rPr lang="en-US" altLang="en-US" sz="3600" dirty="0">
                <a:ea typeface="MS PGothic" charset="-128"/>
              </a:rPr>
              <a:t>Other sorts of methods accomplish a variety of tasks.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Method structure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Accessor methods often occur in the form of </a:t>
            </a:r>
            <a:r>
              <a:rPr lang="en-US" altLang="en-US" sz="3200" i="1" dirty="0">
                <a:ea typeface="MS PGothic" charset="-128"/>
              </a:rPr>
              <a:t>getter</a:t>
            </a:r>
            <a:r>
              <a:rPr lang="en-US" altLang="en-US" sz="3200" dirty="0">
                <a:ea typeface="MS PGothic" charset="-128"/>
              </a:rPr>
              <a:t> methods.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header</a:t>
            </a:r>
            <a:r>
              <a:rPr lang="en-US" altLang="ja-JP" sz="3200" dirty="0">
                <a:ea typeface="MS PGothic" charset="-128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b="1" dirty="0">
                <a:latin typeface="Courier New" charset="0"/>
                <a:ea typeface="MS PGothic" charset="-128"/>
              </a:rPr>
              <a:t>public </a:t>
            </a:r>
            <a:r>
              <a:rPr lang="en-US" altLang="en-US" sz="2800" b="1" dirty="0" err="1">
                <a:latin typeface="Courier New" charset="0"/>
                <a:ea typeface="MS PGothic" charset="-128"/>
              </a:rPr>
              <a:t>int</a:t>
            </a:r>
            <a:r>
              <a:rPr lang="en-US" altLang="en-US" sz="2800" b="1" dirty="0">
                <a:latin typeface="Courier New" charset="0"/>
                <a:ea typeface="MS PGothic" charset="-128"/>
              </a:rPr>
              <a:t> </a:t>
            </a:r>
            <a:r>
              <a:rPr lang="en-US" altLang="en-US" sz="2800" b="1" dirty="0" err="1">
                <a:latin typeface="Courier New" charset="0"/>
                <a:ea typeface="MS PGothic" charset="-128"/>
              </a:rPr>
              <a:t>getPrice</a:t>
            </a:r>
            <a:r>
              <a:rPr lang="en-US" altLang="en-US" sz="2800" b="1" dirty="0">
                <a:latin typeface="Courier New" charset="0"/>
                <a:ea typeface="MS PGothic" charset="-128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header tells us: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 </a:t>
            </a:r>
            <a:r>
              <a:rPr lang="en-US" altLang="en-US" sz="2800" i="1" dirty="0">
                <a:ea typeface="MS PGothic" charset="-128"/>
              </a:rPr>
              <a:t>visibility</a:t>
            </a:r>
            <a:r>
              <a:rPr lang="en-US" altLang="en-US" sz="2800" dirty="0">
                <a:ea typeface="MS PGothic" charset="-128"/>
              </a:rPr>
              <a:t> to objects of other classes (public);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whether the method </a:t>
            </a:r>
            <a:r>
              <a:rPr lang="en-US" altLang="en-US" sz="2800" i="1" dirty="0">
                <a:ea typeface="MS PGothic" charset="-128"/>
              </a:rPr>
              <a:t>returns a result </a:t>
            </a:r>
            <a:r>
              <a:rPr lang="en-US" altLang="en-US" sz="2800" dirty="0">
                <a:ea typeface="MS PGothic" charset="-128"/>
              </a:rPr>
              <a:t>(an integer);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 </a:t>
            </a:r>
            <a:r>
              <a:rPr lang="en-US" altLang="en-US" sz="2800" i="1" dirty="0">
                <a:ea typeface="MS PGothic" charset="-128"/>
              </a:rPr>
              <a:t>name</a:t>
            </a:r>
            <a:r>
              <a:rPr lang="en-US" altLang="en-US" sz="2800" dirty="0">
                <a:ea typeface="MS PGothic" charset="-128"/>
              </a:rPr>
              <a:t> of the method </a:t>
            </a:r>
            <a:r>
              <a:rPr lang="en-US" altLang="en-US" sz="2800" i="1" dirty="0">
                <a:ea typeface="MS PGothic" charset="-128"/>
              </a:rPr>
              <a:t>(</a:t>
            </a:r>
            <a:r>
              <a:rPr lang="en-US" altLang="en-US" sz="2800" dirty="0" err="1">
                <a:ea typeface="MS PGothic" charset="-128"/>
              </a:rPr>
              <a:t>getPrice</a:t>
            </a:r>
            <a:r>
              <a:rPr lang="en-US" altLang="en-US" sz="2800" i="1" dirty="0">
                <a:ea typeface="MS PGothic" charset="-128"/>
              </a:rPr>
              <a:t>)</a:t>
            </a:r>
            <a:r>
              <a:rPr lang="en-US" altLang="en-US" sz="2800" dirty="0">
                <a:ea typeface="MS PGothic" charset="-128"/>
              </a:rPr>
              <a:t>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whether the method takes </a:t>
            </a:r>
            <a:r>
              <a:rPr lang="en-US" altLang="en-US" sz="2800" i="1" dirty="0">
                <a:ea typeface="MS PGothic" charset="-128"/>
              </a:rPr>
              <a:t>parameters </a:t>
            </a:r>
            <a:r>
              <a:rPr lang="en-US" altLang="en-US" sz="2800" dirty="0">
                <a:ea typeface="MS PGothic" charset="-128"/>
              </a:rPr>
              <a:t>(none, in this case).</a:t>
            </a:r>
            <a:br>
              <a:rPr lang="en-US" altLang="en-US" sz="2800" dirty="0">
                <a:ea typeface="MS PGothic" charset="-128"/>
              </a:rPr>
            </a:br>
            <a:endParaRPr lang="en-US" altLang="en-US" sz="2800" dirty="0">
              <a:ea typeface="MS PGothic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ea typeface="MS PGothic" charset="-128"/>
              </a:rPr>
              <a:t>The body encloses the method'</a:t>
            </a:r>
            <a:r>
              <a:rPr lang="en-US" altLang="ja-JP" sz="3200" dirty="0">
                <a:ea typeface="MS PGothic" charset="-128"/>
              </a:rPr>
              <a:t>s </a:t>
            </a:r>
            <a:r>
              <a:rPr lang="en-US" altLang="ja-JP" sz="3200" i="1" dirty="0">
                <a:ea typeface="MS PGothic" charset="-128"/>
              </a:rPr>
              <a:t>statements</a:t>
            </a:r>
            <a:r>
              <a:rPr lang="en-US" altLang="ja-JP" sz="3200" dirty="0">
                <a:ea typeface="MS PGothic" charset="-128"/>
              </a:rPr>
              <a:t>.</a:t>
            </a:r>
            <a:endParaRPr lang="en-GB" altLang="en-US" sz="4800" dirty="0">
              <a:ea typeface="MS P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MS PGothic" charset="-128"/>
              </a:rPr>
              <a:t>Getter methods</a:t>
            </a:r>
          </a:p>
        </p:txBody>
      </p:sp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altLang="en-US" sz="1200">
              <a:solidFill>
                <a:srgbClr val="76807A"/>
              </a:solidFill>
              <a:latin typeface="Arial" charset="0"/>
            </a:endParaRPr>
          </a:p>
        </p:txBody>
      </p:sp>
      <p:sp>
        <p:nvSpPr>
          <p:cNvPr id="45059" name="Text Box 4"/>
          <p:cNvSpPr txBox="1">
            <a:spLocks noChangeArrowheads="1"/>
          </p:cNvSpPr>
          <p:nvPr/>
        </p:nvSpPr>
        <p:spPr bwMode="auto">
          <a:xfrm>
            <a:off x="3825878" y="3203575"/>
            <a:ext cx="405591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int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getPrice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4943875" y="2168528"/>
            <a:ext cx="157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6528048" y="2489200"/>
            <a:ext cx="37337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method name ('get' something)</a:t>
            </a:r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auto">
          <a:xfrm>
            <a:off x="8299450" y="2871791"/>
            <a:ext cx="20637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45063" name="Oval 8"/>
          <p:cNvSpPr>
            <a:spLocks noChangeArrowheads="1"/>
          </p:cNvSpPr>
          <p:nvPr/>
        </p:nvSpPr>
        <p:spPr bwMode="auto">
          <a:xfrm>
            <a:off x="3825878" y="3581400"/>
            <a:ext cx="365125" cy="1371600"/>
          </a:xfrm>
          <a:prstGeom prst="ellipse">
            <a:avLst/>
          </a:prstGeom>
          <a:noFill/>
          <a:ln w="9525">
            <a:solidFill>
              <a:srgbClr val="A57133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45064" name="Text Box 9"/>
          <p:cNvSpPr txBox="1">
            <a:spLocks noChangeArrowheads="1"/>
          </p:cNvSpPr>
          <p:nvPr/>
        </p:nvSpPr>
        <p:spPr bwMode="auto">
          <a:xfrm>
            <a:off x="4362450" y="4865691"/>
            <a:ext cx="455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45065" name="Text Box 10"/>
          <p:cNvSpPr txBox="1">
            <a:spLocks noChangeArrowheads="1"/>
          </p:cNvSpPr>
          <p:nvPr/>
        </p:nvSpPr>
        <p:spPr bwMode="auto">
          <a:xfrm>
            <a:off x="8159750" y="3937003"/>
            <a:ext cx="2139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45066" name="Line 11"/>
          <p:cNvSpPr>
            <a:spLocks noChangeShapeType="1"/>
          </p:cNvSpPr>
          <p:nvPr/>
        </p:nvSpPr>
        <p:spPr bwMode="auto">
          <a:xfrm flipH="1" flipV="1">
            <a:off x="4149725" y="4776788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Line 12"/>
          <p:cNvSpPr>
            <a:spLocks noChangeShapeType="1"/>
          </p:cNvSpPr>
          <p:nvPr/>
        </p:nvSpPr>
        <p:spPr bwMode="auto">
          <a:xfrm flipH="1">
            <a:off x="5514977" y="2565403"/>
            <a:ext cx="4961" cy="695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 flipH="1">
            <a:off x="6807200" y="2819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9" name="Line 14"/>
          <p:cNvSpPr>
            <a:spLocks noChangeShapeType="1"/>
          </p:cNvSpPr>
          <p:nvPr/>
        </p:nvSpPr>
        <p:spPr bwMode="auto">
          <a:xfrm flipH="1">
            <a:off x="7705725" y="31242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0" name="Line 15"/>
          <p:cNvSpPr>
            <a:spLocks noChangeShapeType="1"/>
          </p:cNvSpPr>
          <p:nvPr/>
        </p:nvSpPr>
        <p:spPr bwMode="auto">
          <a:xfrm flipH="1">
            <a:off x="7108825" y="4164013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1" name="Text Box 16"/>
          <p:cNvSpPr txBox="1">
            <a:spLocks noChangeArrowheads="1"/>
          </p:cNvSpPr>
          <p:nvPr/>
        </p:nvSpPr>
        <p:spPr bwMode="auto">
          <a:xfrm>
            <a:off x="2478091" y="2489200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45072" name="Line 17"/>
          <p:cNvSpPr>
            <a:spLocks noChangeShapeType="1"/>
          </p:cNvSpPr>
          <p:nvPr/>
        </p:nvSpPr>
        <p:spPr bwMode="auto">
          <a:xfrm>
            <a:off x="3124203" y="2895600"/>
            <a:ext cx="10064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Accessor methods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An accessor method </a:t>
            </a:r>
            <a:r>
              <a:rPr lang="en-GB" altLang="en-US" b="1" dirty="0">
                <a:ea typeface="MS PGothic" charset="-128"/>
              </a:rPr>
              <a:t>always</a:t>
            </a:r>
            <a:r>
              <a:rPr lang="en-GB" altLang="en-US" dirty="0">
                <a:ea typeface="MS PGothic" charset="-128"/>
              </a:rPr>
              <a:t> has a return type that is not </a:t>
            </a:r>
            <a:r>
              <a:rPr lang="en-GB" altLang="en-US" b="1" dirty="0">
                <a:latin typeface="Courier New" charset="0"/>
                <a:ea typeface="MS PGothic" charset="-128"/>
              </a:rPr>
              <a:t>void</a:t>
            </a:r>
            <a:r>
              <a:rPr lang="en-GB" altLang="en-US" dirty="0">
                <a:ea typeface="MS PGothic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An accessor method returns a value (</a:t>
            </a:r>
            <a:r>
              <a:rPr lang="en-GB" altLang="en-US" i="1" dirty="0">
                <a:ea typeface="MS PGothic" charset="-128"/>
              </a:rPr>
              <a:t>result</a:t>
            </a:r>
            <a:r>
              <a:rPr lang="en-GB" altLang="en-US" dirty="0">
                <a:ea typeface="MS PGothic" charset="-128"/>
              </a:rPr>
              <a:t>) of the type given in the header.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 method will contain a </a:t>
            </a:r>
            <a:r>
              <a:rPr lang="en-GB" altLang="en-US" b="1" dirty="0">
                <a:latin typeface="Courier New" charset="0"/>
                <a:ea typeface="MS PGothic" charset="-128"/>
              </a:rPr>
              <a:t>return</a:t>
            </a:r>
            <a:r>
              <a:rPr lang="en-GB" altLang="en-US" dirty="0">
                <a:ea typeface="MS PGothic" charset="-128"/>
              </a:rPr>
              <a:t> statement to return the value.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NB: Returning is </a:t>
            </a:r>
            <a:r>
              <a:rPr lang="en-GB" altLang="en-US" i="1" dirty="0">
                <a:ea typeface="MS PGothic" charset="-128"/>
              </a:rPr>
              <a:t>not</a:t>
            </a:r>
            <a:r>
              <a:rPr lang="en-GB" altLang="en-US" dirty="0">
                <a:ea typeface="MS PGothic" charset="-128"/>
              </a:rPr>
              <a:t> printing!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Test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273255" y="1988840"/>
            <a:ext cx="4719289" cy="288032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What is wrong here?</a:t>
            </a:r>
            <a:br>
              <a:rPr lang="en-US" dirty="0">
                <a:ea typeface="+mn-ea"/>
                <a:cs typeface="+mn-cs"/>
              </a:rPr>
            </a:br>
            <a:r>
              <a:rPr lang="en-US" dirty="0">
                <a:ea typeface="+mn-ea"/>
                <a:cs typeface="+mn-cs"/>
              </a:rPr>
              <a:t>There are five errors.</a:t>
            </a:r>
          </a:p>
        </p:txBody>
      </p:sp>
      <p:sp>
        <p:nvSpPr>
          <p:cNvPr id="48132" name="Rectangle 4"/>
          <p:cNvSpPr>
            <a:spLocks/>
          </p:cNvSpPr>
          <p:nvPr/>
        </p:nvSpPr>
        <p:spPr bwMode="auto">
          <a:xfrm>
            <a:off x="1199456" y="1988840"/>
            <a:ext cx="604867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private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price = 300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int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getPrice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1A4A3-2407-3BE9-6B46-BD9F7EAE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3641ED0-6141-861A-EC5D-2A88975D7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Test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3E2B7DE-9F83-28D7-A21B-168D77556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73255" y="1988840"/>
            <a:ext cx="4719289" cy="288032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What is wrong here?</a:t>
            </a:r>
            <a:br>
              <a:rPr lang="en-US" dirty="0">
                <a:ea typeface="+mn-ea"/>
                <a:cs typeface="+mn-cs"/>
              </a:rPr>
            </a:br>
            <a:r>
              <a:rPr lang="en-US" dirty="0">
                <a:ea typeface="+mn-ea"/>
                <a:cs typeface="+mn-cs"/>
              </a:rPr>
              <a:t>There are five errors.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413393E-BF41-158D-A90C-B431BF1870AA}"/>
              </a:ext>
            </a:extLst>
          </p:cNvPr>
          <p:cNvSpPr>
            <a:spLocks/>
          </p:cNvSpPr>
          <p:nvPr/>
        </p:nvSpPr>
        <p:spPr bwMode="auto">
          <a:xfrm>
            <a:off x="1199456" y="1988840"/>
            <a:ext cx="6048672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private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CokeMachine</a:t>
            </a: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price = 300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public int </a:t>
            </a:r>
            <a:r>
              <a:rPr lang="en-US" altLang="en-US" sz="2000" dirty="0" err="1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getPrice</a:t>
            </a:r>
            <a:endParaRPr lang="en-US" altLang="en-US" sz="2000" dirty="0">
              <a:solidFill>
                <a:schemeClr val="tx1"/>
              </a:solidFill>
              <a:latin typeface="Courier New Bold" charset="0"/>
              <a:sym typeface="Courier New Bold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   return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 Bold" charset="0"/>
                <a:sym typeface="Courier New Bold" charset="0"/>
              </a:rPr>
              <a:t>    }</a:t>
            </a:r>
          </a:p>
        </p:txBody>
      </p:sp>
      <p:sp>
        <p:nvSpPr>
          <p:cNvPr id="2" name="Oval 8">
            <a:extLst>
              <a:ext uri="{FF2B5EF4-FFF2-40B4-BE49-F238E27FC236}">
                <a16:creationId xmlns:a16="http://schemas.microsoft.com/office/drawing/2014/main" id="{8B52A5C5-556C-7523-7CAC-2F40311E07E2}"/>
              </a:ext>
            </a:extLst>
          </p:cNvPr>
          <p:cNvSpPr>
            <a:spLocks/>
          </p:cNvSpPr>
          <p:nvPr/>
        </p:nvSpPr>
        <p:spPr bwMode="auto">
          <a:xfrm>
            <a:off x="2528839" y="2204864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int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E1A88179-FACC-48C3-D357-25EE78D40277}"/>
              </a:ext>
            </a:extLst>
          </p:cNvPr>
          <p:cNvSpPr>
            <a:spLocks/>
          </p:cNvSpPr>
          <p:nvPr/>
        </p:nvSpPr>
        <p:spPr bwMode="auto">
          <a:xfrm>
            <a:off x="3753892" y="3633787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;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0B678439-3040-9479-99A8-1AA1B8E4B568}"/>
              </a:ext>
            </a:extLst>
          </p:cNvPr>
          <p:cNvSpPr>
            <a:spLocks/>
          </p:cNvSpPr>
          <p:nvPr/>
        </p:nvSpPr>
        <p:spPr bwMode="auto">
          <a:xfrm>
            <a:off x="4543674" y="4581128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()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9A4784F0-016C-8751-A114-575510535936}"/>
              </a:ext>
            </a:extLst>
          </p:cNvPr>
          <p:cNvSpPr>
            <a:spLocks/>
          </p:cNvSpPr>
          <p:nvPr/>
        </p:nvSpPr>
        <p:spPr bwMode="auto">
          <a:xfrm>
            <a:off x="2998739" y="5292328"/>
            <a:ext cx="9398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 dirty="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-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813118-DF7C-2207-7768-691B09CFE71B}"/>
              </a:ext>
            </a:extLst>
          </p:cNvPr>
          <p:cNvSpPr>
            <a:spLocks/>
          </p:cNvSpPr>
          <p:nvPr/>
        </p:nvSpPr>
        <p:spPr bwMode="auto">
          <a:xfrm>
            <a:off x="695400" y="5877272"/>
            <a:ext cx="1143000" cy="711200"/>
          </a:xfrm>
          <a:prstGeom prst="ellipse">
            <a:avLst/>
          </a:prstGeom>
          <a:noFill/>
          <a:ln w="50800">
            <a:solidFill>
              <a:srgbClr val="BA2D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40639" bIns="0"/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BA2D00"/>
                </a:solidFill>
                <a:latin typeface="Courier New Bold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0590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nimBg="1" autoUpdateAnimBg="0"/>
      <p:bldP spid="4" grpId="0" animBg="1" autoUpdateAnimBg="0"/>
      <p:bldP spid="5" grpId="0" animBg="1" autoUpdateAnimBg="0"/>
      <p:bldP spid="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Mutator methods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Have a similar method structure: header and body.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Used to </a:t>
            </a:r>
            <a:r>
              <a:rPr lang="en-US" altLang="en-US" i="1" dirty="0">
                <a:ea typeface="MS PGothic" charset="-128"/>
              </a:rPr>
              <a:t>mutate</a:t>
            </a:r>
            <a:r>
              <a:rPr lang="en-US" altLang="en-US" dirty="0">
                <a:ea typeface="MS PGothic" charset="-128"/>
              </a:rPr>
              <a:t> (i.e., change) an object</a:t>
            </a:r>
            <a:r>
              <a:rPr lang="ja-JP" altLang="en-US" dirty="0">
                <a:ea typeface="MS PGothic" charset="-128"/>
              </a:rPr>
              <a:t>’</a:t>
            </a:r>
            <a:r>
              <a:rPr lang="en-US" altLang="ja-JP" dirty="0">
                <a:ea typeface="MS PGothic" charset="-128"/>
              </a:rPr>
              <a:t>s state.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Achieved through changing the value of one or more fields.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They typically contain one or more assignment statements.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Often receive parameters.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charset="-128"/>
              </a:rPr>
              <a:t>The most basic mutator methods are 'setter' methods.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setter methods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Fields often have dedicated </a:t>
            </a:r>
            <a:r>
              <a:rPr lang="en-GB" altLang="en-US" b="1" dirty="0">
                <a:latin typeface="Courier New" charset="0"/>
                <a:ea typeface="MS PGothic" charset="-128"/>
              </a:rPr>
              <a:t>set</a:t>
            </a:r>
            <a:r>
              <a:rPr lang="en-GB" altLang="en-US" dirty="0">
                <a:ea typeface="MS PGothic" charset="-128"/>
              </a:rPr>
              <a:t> mutator methods.</a:t>
            </a:r>
          </a:p>
          <a:p>
            <a:pPr>
              <a:lnSpc>
                <a:spcPct val="90000"/>
              </a:lnSpc>
            </a:pPr>
            <a:endParaRPr lang="en-GB" altLang="en-US" dirty="0">
              <a:ea typeface="MS PGothic" charset="-128"/>
            </a:endParaRPr>
          </a:p>
          <a:p>
            <a:pPr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These have a simple, distinctive form:</a:t>
            </a:r>
          </a:p>
          <a:p>
            <a:pPr lvl="1">
              <a:lnSpc>
                <a:spcPct val="90000"/>
              </a:lnSpc>
            </a:pPr>
            <a:r>
              <a:rPr lang="en-GB" altLang="en-US" b="1" dirty="0">
                <a:latin typeface="Courier New" charset="0"/>
                <a:ea typeface="MS PGothic" charset="-128"/>
              </a:rPr>
              <a:t>void</a:t>
            </a:r>
            <a:r>
              <a:rPr lang="en-GB" altLang="en-US" dirty="0">
                <a:ea typeface="MS PGothic" charset="-128"/>
              </a:rPr>
              <a:t> return type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method name related to the field name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single formal parameter, with the same type as the type of the field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MS PGothic" charset="-128"/>
              </a:rPr>
              <a:t>a single assignment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A typical </a:t>
            </a:r>
            <a:r>
              <a:rPr lang="en-GB" altLang="en-US" b="1">
                <a:latin typeface="Courier New" charset="0"/>
                <a:ea typeface="MS PGothic" charset="-128"/>
              </a:rPr>
              <a:t>set</a:t>
            </a:r>
            <a:r>
              <a:rPr lang="en-GB" altLang="en-US">
                <a:ea typeface="MS PGothic" charset="-128"/>
              </a:rPr>
              <a:t> method</a:t>
            </a:r>
          </a:p>
        </p:txBody>
      </p:sp>
      <p:sp>
        <p:nvSpPr>
          <p:cNvPr id="57346" name="Text Box 4"/>
          <p:cNvSpPr txBox="1">
            <a:spLocks noChangeArrowheads="1"/>
          </p:cNvSpPr>
          <p:nvPr/>
        </p:nvSpPr>
        <p:spPr bwMode="auto">
          <a:xfrm>
            <a:off x="3071816" y="1844675"/>
            <a:ext cx="66367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public void setDiscount(int amount)</a:t>
            </a:r>
          </a:p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    discount = amount;</a:t>
            </a:r>
          </a:p>
          <a:p>
            <a:pPr algn="l"/>
            <a:r>
              <a:rPr lang="en-GB" altLang="en-US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57347" name="Text Box 5"/>
          <p:cNvSpPr txBox="1">
            <a:spLocks noChangeArrowheads="1"/>
          </p:cNvSpPr>
          <p:nvPr/>
        </p:nvSpPr>
        <p:spPr bwMode="auto">
          <a:xfrm>
            <a:off x="3359150" y="4149725"/>
            <a:ext cx="61214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2800" b="0" dirty="0">
                <a:solidFill>
                  <a:srgbClr val="1A3170"/>
                </a:solidFill>
              </a:rPr>
              <a:t>We can easily infer that </a:t>
            </a:r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discount</a:t>
            </a:r>
            <a:r>
              <a:rPr lang="en-GB" altLang="en-US" sz="2800" b="0" dirty="0">
                <a:solidFill>
                  <a:srgbClr val="1A3170"/>
                </a:solidFill>
              </a:rPr>
              <a:t> is a field of type </a:t>
            </a:r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int</a:t>
            </a:r>
            <a:r>
              <a:rPr lang="en-GB" altLang="en-US" sz="2800" b="0" dirty="0">
                <a:solidFill>
                  <a:srgbClr val="1A3170"/>
                </a:solidFill>
              </a:rPr>
              <a:t>, </a:t>
            </a:r>
            <a:r>
              <a:rPr lang="en-GB" altLang="en-US" sz="2800" b="0" dirty="0" err="1">
                <a:solidFill>
                  <a:srgbClr val="1A3170"/>
                </a:solidFill>
              </a:rPr>
              <a:t>i.e</a:t>
            </a:r>
            <a:r>
              <a:rPr lang="en-GB" altLang="en-US" sz="2800" b="0" dirty="0">
                <a:solidFill>
                  <a:srgbClr val="1A3170"/>
                </a:solidFill>
              </a:rPr>
              <a:t>:</a:t>
            </a:r>
          </a:p>
          <a:p>
            <a:pPr algn="l"/>
            <a:endParaRPr lang="en-GB" altLang="en-US" sz="2800" b="0" dirty="0">
              <a:solidFill>
                <a:srgbClr val="1A3170"/>
              </a:solidFill>
            </a:endParaRPr>
          </a:p>
          <a:p>
            <a:pPr algn="l"/>
            <a:r>
              <a:rPr lang="en-GB" altLang="en-US" sz="2800" dirty="0">
                <a:solidFill>
                  <a:srgbClr val="1A3170"/>
                </a:solidFill>
                <a:latin typeface="Courier New" charset="0"/>
              </a:rPr>
              <a:t>private int discount;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charset="-128"/>
              </a:rPr>
              <a:t>Protective mutators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MS PGothic" charset="-128"/>
              </a:rPr>
              <a:t>A set method does not have to always assign unconditionally to the field.</a:t>
            </a:r>
          </a:p>
          <a:p>
            <a:r>
              <a:rPr lang="en-US" altLang="en-US" dirty="0">
                <a:ea typeface="MS PGothic" charset="-128"/>
              </a:rPr>
              <a:t>The parameter may be checked for validity and rejected if inappropriate.  </a:t>
            </a:r>
          </a:p>
          <a:p>
            <a:pPr lvl="1"/>
            <a:r>
              <a:rPr lang="en-US" altLang="en-US" dirty="0">
                <a:ea typeface="MS PGothic" charset="-128"/>
              </a:rPr>
              <a:t>e.g. only update field if new value is &gt;=10</a:t>
            </a:r>
          </a:p>
          <a:p>
            <a:r>
              <a:rPr lang="en-US" altLang="en-US" dirty="0" err="1">
                <a:ea typeface="MS PGothic" charset="-128"/>
              </a:rPr>
              <a:t>Mutators</a:t>
            </a:r>
            <a:r>
              <a:rPr lang="en-US" altLang="en-US" dirty="0">
                <a:ea typeface="MS PGothic" charset="-128"/>
              </a:rPr>
              <a:t> thereby protect fields.</a:t>
            </a:r>
          </a:p>
          <a:p>
            <a:r>
              <a:rPr lang="en-US" altLang="en-US" dirty="0" err="1">
                <a:ea typeface="MS PGothic" charset="-128"/>
              </a:rPr>
              <a:t>Mutators</a:t>
            </a:r>
            <a:r>
              <a:rPr lang="en-US" altLang="en-US" dirty="0">
                <a:ea typeface="MS PGothic" charset="-128"/>
              </a:rPr>
              <a:t> support </a:t>
            </a:r>
            <a:r>
              <a:rPr lang="en-US" altLang="en-US" i="1" dirty="0">
                <a:ea typeface="MS PGothic" charset="-128"/>
              </a:rPr>
              <a:t>encapsulation</a:t>
            </a:r>
            <a:r>
              <a:rPr lang="en-US" altLang="en-US" dirty="0">
                <a:ea typeface="MS PGothic" charset="-128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3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Another m</a:t>
            </a:r>
            <a:r>
              <a:rPr lang="en-US" dirty="0">
                <a:ea typeface="+mj-ea"/>
                <a:cs typeface="+mj-cs"/>
              </a:rPr>
              <a:t>utator method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724227" y="3107280"/>
            <a:ext cx="663675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4753049" y="2097633"/>
            <a:ext cx="1481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6503916" y="2097633"/>
            <a:ext cx="1749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7524823" y="2459521"/>
            <a:ext cx="22204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formal parameter</a:t>
            </a:r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 flipH="1">
            <a:off x="4480002" y="2494505"/>
            <a:ext cx="9112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 flipH="1">
            <a:off x="6299448" y="2508796"/>
            <a:ext cx="837232" cy="581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 flipH="1">
            <a:off x="8076480" y="2877093"/>
            <a:ext cx="792088" cy="3042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2267027" y="2111918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333827" y="2570708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7220024" y="4778921"/>
            <a:ext cx="2692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assignment statement</a:t>
            </a:r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 flipH="1" flipV="1">
            <a:off x="5196160" y="4316955"/>
            <a:ext cx="2328664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3077446" y="4904333"/>
            <a:ext cx="2441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54287" name="Line 15"/>
          <p:cNvSpPr>
            <a:spLocks noChangeShapeType="1"/>
          </p:cNvSpPr>
          <p:nvPr/>
        </p:nvSpPr>
        <p:spPr bwMode="auto">
          <a:xfrm flipV="1">
            <a:off x="4044032" y="4316955"/>
            <a:ext cx="0" cy="587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BFC61292-6595-B530-9B4E-7CA15EA8E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811" y="5194242"/>
            <a:ext cx="993710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3200" b="0" dirty="0">
                <a:solidFill>
                  <a:srgbClr val="1A3170"/>
                </a:solidFill>
                <a:latin typeface="Tw Cen MT" panose="020B0602020104020603" pitchFamily="34" charset="77"/>
              </a:rPr>
              <a:t>This method </a:t>
            </a:r>
            <a:r>
              <a:rPr lang="en-GB" altLang="en-US" sz="3200" b="0" i="1" dirty="0">
                <a:solidFill>
                  <a:srgbClr val="1A3170"/>
                </a:solidFill>
                <a:latin typeface="Tw Cen MT" panose="020B0602020104020603" pitchFamily="34" charset="77"/>
              </a:rPr>
              <a:t>changes</a:t>
            </a:r>
            <a:r>
              <a:rPr lang="en-GB" altLang="en-US" sz="3200" b="0" dirty="0">
                <a:solidFill>
                  <a:srgbClr val="1A3170"/>
                </a:solidFill>
                <a:latin typeface="Tw Cen MT" panose="020B0602020104020603" pitchFamily="34" charset="77"/>
              </a:rPr>
              <a:t> the value of balance; hence the object's state is </a:t>
            </a:r>
            <a:r>
              <a:rPr lang="en-GB" altLang="en-US" sz="3200" b="0" i="1" dirty="0">
                <a:solidFill>
                  <a:srgbClr val="1A3170"/>
                </a:solidFill>
                <a:latin typeface="Tw Cen MT" panose="020B0602020104020603" pitchFamily="34" charset="77"/>
              </a:rPr>
              <a:t>mutated</a:t>
            </a:r>
            <a:r>
              <a:rPr lang="en-GB" altLang="en-US" sz="3200" b="0" dirty="0">
                <a:solidFill>
                  <a:srgbClr val="1A3170"/>
                </a:solidFill>
                <a:latin typeface="Tw Cen MT" panose="020B0602020104020603" pitchFamily="34" charset="77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/>
      <p:bldP spid="54277" grpId="0"/>
      <p:bldP spid="54278" grpId="0"/>
      <p:bldP spid="54279" grpId="0" animBg="1"/>
      <p:bldP spid="54280" grpId="0" animBg="1"/>
      <p:bldP spid="54281" grpId="0" animBg="1"/>
      <p:bldP spid="54282" grpId="0"/>
      <p:bldP spid="54283" grpId="0" animBg="1"/>
      <p:bldP spid="54284" grpId="0"/>
      <p:bldP spid="54285" grpId="0" animBg="1"/>
      <p:bldP spid="54286" grpId="0"/>
      <p:bldP spid="542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this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distinguish parameters and fields of the same name. E.g.:</a:t>
            </a:r>
            <a:br>
              <a:rPr lang="en-US" dirty="0"/>
            </a:br>
            <a:br>
              <a:rPr lang="en-US" dirty="0"/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TicketMachine(int price)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2400" b="1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this.price</a:t>
            </a: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price;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balance = 0;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total = 0;</a:t>
            </a:r>
            <a:b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400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0F48C-F21B-FBCD-CB11-9481E4C881BA}"/>
              </a:ext>
            </a:extLst>
          </p:cNvPr>
          <p:cNvSpPr txBox="1"/>
          <p:nvPr/>
        </p:nvSpPr>
        <p:spPr>
          <a:xfrm>
            <a:off x="1293541" y="5988205"/>
            <a:ext cx="763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TODO : ADD MORE HERE – EXAMPLE USING NEWPRICE THEN This.  </a:t>
            </a:r>
            <a:r>
              <a:rPr lang="en-US" dirty="0" err="1"/>
              <a:t>Colour</a:t>
            </a:r>
            <a:r>
              <a:rPr lang="en-US" dirty="0"/>
              <a:t> code </a:t>
            </a:r>
          </a:p>
        </p:txBody>
      </p:sp>
    </p:spTree>
    <p:extLst>
      <p:ext uri="{BB962C8B-B14F-4D97-AF65-F5344CB8AC3E}">
        <p14:creationId xmlns:p14="http://schemas.microsoft.com/office/powerpoint/2010/main" val="152290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Printing from methods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2505869" y="1916832"/>
            <a:ext cx="7180262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1800" dirty="0" err="1">
                <a:solidFill>
                  <a:schemeClr val="tx1"/>
                </a:solidFill>
                <a:latin typeface="Courier New" charset="0"/>
              </a:rPr>
              <a:t>printTicket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()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Simulate the printing of a ticket.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System.out.println("##################");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 The BlueJ Line");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 Ticket");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 " + price + " cents.");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System.out.println("##################");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System.out.println();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Update the total collected with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total = total +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// Clear the balance.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String concatenation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lnSpc>
                <a:spcPct val="90000"/>
              </a:lnSpc>
              <a:defRPr/>
            </a:pPr>
            <a:r>
              <a:rPr lang="en-US">
                <a:ea typeface="+mn-ea"/>
                <a:cs typeface="+mn-cs"/>
              </a:rPr>
              <a:t>4 + 5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9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>
                <a:ea typeface="+mn-ea"/>
                <a:cs typeface="+mn-cs"/>
              </a:rPr>
              <a:t>"wind" + "ow"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"window"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>
                <a:ea typeface="+mn-ea"/>
                <a:cs typeface="+mn-cs"/>
              </a:rPr>
              <a:t>"Result: " + 6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"Result: 6"</a:t>
            </a:r>
          </a:p>
          <a:p>
            <a:pPr marL="382588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>
                <a:ea typeface="+mn-ea"/>
                <a:cs typeface="+mn-cs"/>
              </a:rPr>
              <a:t>"# " + price + " cents"</a:t>
            </a:r>
          </a:p>
          <a:p>
            <a:pPr marL="496888" lvl="1" indent="0">
              <a:lnSpc>
                <a:spcPct val="90000"/>
              </a:lnSpc>
              <a:buNone/>
              <a:defRPr/>
            </a:pPr>
            <a:r>
              <a:rPr lang="en-US">
                <a:solidFill>
                  <a:srgbClr val="BA2D00"/>
                </a:solidFill>
                <a:ea typeface="+mn-ea"/>
              </a:rPr>
              <a:t>"# 500 cents"</a:t>
            </a:r>
          </a:p>
        </p:txBody>
      </p:sp>
      <p:grpSp>
        <p:nvGrpSpPr>
          <p:cNvPr id="94212" name="Group 4"/>
          <p:cNvGrpSpPr>
            <a:grpSpLocks/>
          </p:cNvGrpSpPr>
          <p:nvPr/>
        </p:nvGrpSpPr>
        <p:grpSpPr bwMode="auto">
          <a:xfrm>
            <a:off x="6079611" y="2865438"/>
            <a:ext cx="3194050" cy="563562"/>
            <a:chOff x="0" y="31"/>
            <a:chExt cx="2011" cy="355"/>
          </a:xfrm>
        </p:grpSpPr>
        <p:sp>
          <p:nvSpPr>
            <p:cNvPr id="61445" name="Rectangle 5"/>
            <p:cNvSpPr>
              <a:spLocks/>
            </p:cNvSpPr>
            <p:nvPr/>
          </p:nvSpPr>
          <p:spPr bwMode="auto">
            <a:xfrm>
              <a:off x="472" y="31"/>
              <a:ext cx="153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 anchor="ctr">
              <a:spAutoFit/>
            </a:bodyPr>
            <a:lstStyle>
              <a:lvl1pPr marL="39688">
                <a:spcBef>
                  <a:spcPct val="20000"/>
                </a:spcBef>
                <a:buClr>
                  <a:srgbClr val="264D8B"/>
                </a:buClr>
                <a:buFont typeface="Times" charset="0"/>
                <a:buChar char="•"/>
                <a:defRPr sz="32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264D8B"/>
                </a:buClr>
                <a:buChar char="–"/>
                <a:defRPr sz="28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264D8B"/>
                </a:buClr>
                <a:buChar char="•"/>
                <a:defRPr sz="24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64D8B"/>
                </a:buClr>
                <a:buChar char="–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64D8B"/>
                </a:buClr>
                <a:buChar char="»"/>
                <a:defRPr sz="2000">
                  <a:solidFill>
                    <a:srgbClr val="1A3170"/>
                  </a:solidFill>
                  <a:latin typeface="Trebuchet MS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3600" b="0" dirty="0">
                  <a:solidFill>
                    <a:schemeClr val="tx1"/>
                  </a:solidFill>
                  <a:latin typeface="Helvetica" charset="0"/>
                  <a:sym typeface="Helvetica" charset="0"/>
                </a:rPr>
                <a:t>overloading</a:t>
              </a:r>
            </a:p>
          </p:txBody>
        </p:sp>
        <p:pic>
          <p:nvPicPr>
            <p:cNvPr id="6144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6"/>
              <a:ext cx="418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bldLvl="5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1236-7335-A720-56C6-78125D23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FA26109-8378-C754-D65B-CCC3AEED4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752600"/>
          </a:xfrm>
        </p:spPr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Quiz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A61779F-2F1A-79BD-CDC8-FDFD4039EC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System.out.println(5 + 6 + "hello");</a:t>
            </a:r>
          </a:p>
          <a:p>
            <a:pPr marL="39688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System.out.println("hello" + 5 + 6);</a:t>
            </a:r>
          </a:p>
        </p:txBody>
      </p:sp>
    </p:spTree>
    <p:extLst>
      <p:ext uri="{BB962C8B-B14F-4D97-AF65-F5344CB8AC3E}">
        <p14:creationId xmlns:p14="http://schemas.microsoft.com/office/powerpoint/2010/main" val="228264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752600"/>
          </a:xfrm>
        </p:spPr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Quiz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System.out.println(5 + 6 + "hello");</a:t>
            </a:r>
          </a:p>
          <a:p>
            <a:pPr marL="39688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382588">
              <a:defRPr/>
            </a:pPr>
            <a:r>
              <a:rPr lang="en-US" dirty="0">
                <a:ea typeface="+mn-ea"/>
                <a:cs typeface="+mn-cs"/>
              </a:rPr>
              <a:t>System.out.println("hello" + 5 + 6);</a:t>
            </a:r>
          </a:p>
        </p:txBody>
      </p:sp>
      <p:sp>
        <p:nvSpPr>
          <p:cNvPr id="96260" name="Rectangle 4"/>
          <p:cNvSpPr>
            <a:spLocks/>
          </p:cNvSpPr>
          <p:nvPr/>
        </p:nvSpPr>
        <p:spPr bwMode="auto">
          <a:xfrm>
            <a:off x="6972303" y="2599552"/>
            <a:ext cx="20226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>
                <a:solidFill>
                  <a:srgbClr val="BA2D00"/>
                </a:solidFill>
                <a:latin typeface="Courier New" charset="0"/>
                <a:sym typeface="Courier" charset="0"/>
              </a:rPr>
              <a:t>11hello</a:t>
            </a:r>
          </a:p>
        </p:txBody>
      </p:sp>
      <p:sp>
        <p:nvSpPr>
          <p:cNvPr id="96261" name="Rectangle 5"/>
          <p:cNvSpPr>
            <a:spLocks/>
          </p:cNvSpPr>
          <p:nvPr/>
        </p:nvSpPr>
        <p:spPr bwMode="auto">
          <a:xfrm>
            <a:off x="6972303" y="4293096"/>
            <a:ext cx="20226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 anchor="ctr">
            <a:spAutoFit/>
          </a:bodyPr>
          <a:lstStyle>
            <a:lvl1pPr marL="39688"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dirty="0">
                <a:solidFill>
                  <a:srgbClr val="BA2D00"/>
                </a:solidFill>
                <a:latin typeface="Courier New" charset="0"/>
                <a:sym typeface="Courier" charset="0"/>
              </a:rPr>
              <a:t>hello56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utoUpdateAnimBg="0"/>
      <p:bldP spid="9626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025-E71E-E9B2-525A-82A5977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Formatted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EA59-FCC9-B81A-EE67-0000BDBE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Concatenation can be used to create output in a desired format.</a:t>
            </a:r>
          </a:p>
          <a:p>
            <a:r>
              <a:rPr lang="en-GB" dirty="0"/>
              <a:t>An alternative is to use </a:t>
            </a:r>
            <a:r>
              <a:rPr lang="en-GB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/>
              <a:t>.</a:t>
            </a:r>
          </a:p>
          <a:p>
            <a:r>
              <a:rPr lang="en-GB" dirty="0"/>
              <a:t>The first argument gives the overall structure.</a:t>
            </a:r>
          </a:p>
          <a:p>
            <a:r>
              <a:rPr lang="en-GB" dirty="0"/>
              <a:t>Format specifiers represent 'holes' to be filled in by the other arguments.</a:t>
            </a:r>
          </a:p>
        </p:txBody>
      </p:sp>
    </p:spTree>
    <p:extLst>
      <p:ext uri="{BB962C8B-B14F-4D97-AF65-F5344CB8AC3E}">
        <p14:creationId xmlns:p14="http://schemas.microsoft.com/office/powerpoint/2010/main" val="411570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2025-E71E-E9B2-525A-82A5977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Formatted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EA59-FCC9-B81A-EE67-0000BDBE1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Concatenation:</a:t>
            </a:r>
            <a:br>
              <a:rPr lang="en-GB" dirty="0"/>
            </a:br>
            <a:r>
              <a:rPr lang="en-US" altLang="en-US" sz="3300" dirty="0">
                <a:solidFill>
                  <a:schemeClr val="tx1"/>
                </a:solidFill>
                <a:latin typeface="Courier New" charset="0"/>
              </a:rPr>
              <a:t>System.out.println("# " + price + " cents.");</a:t>
            </a:r>
            <a:endParaRPr lang="en-GB" sz="3300" dirty="0"/>
          </a:p>
          <a:p>
            <a:r>
              <a:rPr lang="en-GB" dirty="0"/>
              <a:t>Using </a:t>
            </a:r>
            <a:r>
              <a:rPr lang="en-GB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dirty="0"/>
              <a:t>:</a:t>
            </a:r>
            <a:br>
              <a:rPr lang="en-GB" dirty="0"/>
            </a:br>
            <a:r>
              <a:rPr lang="en-US" altLang="en-US" sz="3500" dirty="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3500" dirty="0">
                <a:solidFill>
                  <a:schemeClr val="tx1"/>
                </a:solidFill>
                <a:latin typeface="Courier New" charset="0"/>
              </a:rPr>
              <a:t>("# %d </a:t>
            </a:r>
            <a:r>
              <a:rPr lang="en-US" altLang="en-US" sz="3500" dirty="0" err="1">
                <a:solidFill>
                  <a:schemeClr val="tx1"/>
                </a:solidFill>
                <a:latin typeface="Courier New" charset="0"/>
              </a:rPr>
              <a:t>cents.%n</a:t>
            </a:r>
            <a:r>
              <a:rPr lang="en-US" altLang="en-US" sz="3500" dirty="0">
                <a:solidFill>
                  <a:schemeClr val="tx1"/>
                </a:solidFill>
                <a:latin typeface="Courier New" charset="0"/>
              </a:rPr>
              <a:t>", price);</a:t>
            </a:r>
            <a:endParaRPr lang="en-GB" sz="6500" dirty="0"/>
          </a:p>
          <a:p>
            <a:r>
              <a:rPr lang="en-GB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 </a:t>
            </a:r>
            <a:r>
              <a:rPr lang="en-GB" dirty="0"/>
              <a:t>means insert the next argument as an integer value at this point.</a:t>
            </a:r>
          </a:p>
          <a:p>
            <a:r>
              <a:rPr lang="en-GB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%n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dirty="0"/>
              <a:t>means 'end the line' (i.e., 'insert' a newline) at this point.</a:t>
            </a:r>
          </a:p>
        </p:txBody>
      </p:sp>
    </p:spTree>
    <p:extLst>
      <p:ext uri="{BB962C8B-B14F-4D97-AF65-F5344CB8AC3E}">
        <p14:creationId xmlns:p14="http://schemas.microsoft.com/office/powerpoint/2010/main" val="280869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Method summary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 sz="3600">
                <a:ea typeface="MS PGothic" charset="-128"/>
              </a:rPr>
              <a:t>Methods implement all object behavior.</a:t>
            </a:r>
          </a:p>
          <a:p>
            <a:r>
              <a:rPr lang="en-GB" altLang="en-US" sz="3600">
                <a:ea typeface="MS PGothic" charset="-128"/>
              </a:rPr>
              <a:t>A method has a name and a return type.</a:t>
            </a:r>
          </a:p>
          <a:p>
            <a:pPr lvl="1"/>
            <a:r>
              <a:rPr lang="en-GB" altLang="en-US" sz="3200">
                <a:ea typeface="MS PGothic" charset="-128"/>
              </a:rPr>
              <a:t>The return-type may be </a:t>
            </a:r>
            <a:r>
              <a:rPr lang="en-GB" altLang="en-US" sz="3200" b="1">
                <a:latin typeface="Courier New" charset="0"/>
                <a:ea typeface="MS PGothic" charset="-128"/>
              </a:rPr>
              <a:t>void</a:t>
            </a:r>
            <a:r>
              <a:rPr lang="en-GB" altLang="en-US" sz="3200">
                <a:ea typeface="MS PGothic" charset="-128"/>
              </a:rPr>
              <a:t>.</a:t>
            </a:r>
          </a:p>
          <a:p>
            <a:pPr lvl="1"/>
            <a:r>
              <a:rPr lang="en-GB" altLang="en-US" sz="3200">
                <a:ea typeface="MS PGothic" charset="-128"/>
              </a:rPr>
              <a:t>A non-</a:t>
            </a:r>
            <a:r>
              <a:rPr lang="en-GB" altLang="en-US" sz="3200" b="1">
                <a:latin typeface="Courier New" charset="0"/>
                <a:ea typeface="MS PGothic" charset="-128"/>
              </a:rPr>
              <a:t>void</a:t>
            </a:r>
            <a:r>
              <a:rPr lang="en-GB" altLang="en-US" sz="3200">
                <a:ea typeface="MS PGothic" charset="-128"/>
              </a:rPr>
              <a:t> return type means the method will return a value to its caller.</a:t>
            </a:r>
          </a:p>
          <a:p>
            <a:r>
              <a:rPr lang="en-GB" altLang="en-US" sz="3600">
                <a:ea typeface="MS PGothic" charset="-128"/>
              </a:rPr>
              <a:t>A method might take parameters.</a:t>
            </a:r>
          </a:p>
          <a:p>
            <a:pPr lvl="1"/>
            <a:r>
              <a:rPr lang="en-GB" altLang="en-US" sz="3200">
                <a:ea typeface="MS PGothic" charset="-128"/>
              </a:rPr>
              <a:t>Parameters bring values in from outside for the method to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Reflecting on the ticket machines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Their behavior is inadequate in several ways: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No checks on the amounts entered.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No refunds.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No checks for a sensible initialization.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How can we do better?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</a:rPr>
              <a:t>We need the ability to choose between different courses of action.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>
                <a:ea typeface="MS PGothic" charset="-128"/>
              </a:rPr>
              <a:t>Making choices in everyday life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If I have an assignment to complete, then I shall work on my assignment</a:t>
            </a:r>
          </a:p>
          <a:p>
            <a:r>
              <a:rPr lang="en-GB" altLang="en-US" dirty="0">
                <a:ea typeface="MS PGothic" charset="-128"/>
              </a:rPr>
              <a:t>Otherwise I shall visit a friend.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>
                <a:ea typeface="MS PGothic" charset="-128"/>
              </a:rPr>
              <a:t>Making a choice in everyday life</a:t>
            </a:r>
          </a:p>
        </p:txBody>
      </p:sp>
      <p:sp>
        <p:nvSpPr>
          <p:cNvPr id="69634" name="Text Box 5"/>
          <p:cNvSpPr txBox="1">
            <a:spLocks noChangeArrowheads="1"/>
          </p:cNvSpPr>
          <p:nvPr/>
        </p:nvSpPr>
        <p:spPr bwMode="auto">
          <a:xfrm>
            <a:off x="1929784" y="2852936"/>
            <a:ext cx="834715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if(</a:t>
            </a:r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I have an assignment to complete</a:t>
            </a:r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) {</a:t>
            </a:r>
          </a:p>
          <a:p>
            <a:pPr algn="l"/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    I shall work on my assignment</a:t>
            </a:r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;</a:t>
            </a:r>
            <a:endParaRPr lang="en-GB" altLang="en-US" sz="2800" i="1" dirty="0">
              <a:solidFill>
                <a:schemeClr val="tx1"/>
              </a:solidFill>
              <a:latin typeface="Courier New" charset="0"/>
            </a:endParaRPr>
          </a:p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 </a:t>
            </a:r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else {</a:t>
            </a:r>
          </a:p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GB" altLang="en-US" sz="2800" i="1" dirty="0">
                <a:solidFill>
                  <a:srgbClr val="0070C0"/>
                </a:solidFill>
                <a:latin typeface="Courier New" charset="0"/>
              </a:rPr>
              <a:t>I shall visit a friend</a:t>
            </a:r>
            <a:r>
              <a:rPr lang="en-GB" altLang="en-US" sz="2800" i="1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algn="l"/>
            <a:r>
              <a:rPr lang="en-GB" altLang="en-US" sz="2800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Making choices in Java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79576" y="3698839"/>
            <a:ext cx="7729538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if(</a:t>
            </a:r>
            <a:r>
              <a:rPr lang="en-US" altLang="en-US" sz="1800" i="1" dirty="0">
                <a:solidFill>
                  <a:srgbClr val="0070C0"/>
                </a:solidFill>
                <a:latin typeface="Courier New" charset="0"/>
              </a:rPr>
              <a:t>perform some test</a:t>
            </a: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i="1" dirty="0">
                <a:solidFill>
                  <a:srgbClr val="0070C0"/>
                </a:solidFill>
                <a:latin typeface="Courier New" charset="0"/>
              </a:rPr>
              <a:t>Do these statements if the test gave a true result</a:t>
            </a:r>
            <a:endParaRPr lang="en-US" altLang="en-US" sz="18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1800" i="1" dirty="0">
                <a:solidFill>
                  <a:srgbClr val="0070C0"/>
                </a:solidFill>
                <a:latin typeface="Courier New" charset="0"/>
              </a:rPr>
              <a:t>Do these statements if the test gave a false result</a:t>
            </a:r>
            <a:endParaRPr lang="en-US" altLang="en-US" sz="18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409283" y="2128801"/>
            <a:ext cx="16530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ja-JP" altLang="en-US" sz="2000" b="0" dirty="0">
                <a:solidFill>
                  <a:srgbClr val="A57133"/>
                </a:solidFill>
              </a:rPr>
              <a:t>‘</a:t>
            </a:r>
            <a:r>
              <a:rPr lang="en-US" altLang="ja-JP" sz="2000" b="0" dirty="0">
                <a:solidFill>
                  <a:srgbClr val="A57133"/>
                </a:solidFill>
              </a:rPr>
              <a:t>if</a:t>
            </a:r>
            <a:r>
              <a:rPr lang="ja-JP" altLang="en-US" sz="2000" b="0" dirty="0">
                <a:solidFill>
                  <a:srgbClr val="A57133"/>
                </a:solidFill>
              </a:rPr>
              <a:t>’</a:t>
            </a:r>
            <a:r>
              <a:rPr lang="en-US" altLang="ja-JP" sz="2000" b="0" dirty="0">
                <a:solidFill>
                  <a:srgbClr val="A57133"/>
                </a:solidFill>
              </a:rPr>
              <a:t> keyword</a:t>
            </a:r>
            <a:endParaRPr lang="en-US" altLang="en-US" sz="2000" b="0" dirty="0">
              <a:solidFill>
                <a:srgbClr val="A57133"/>
              </a:solidFill>
            </a:endParaRP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3803576" y="2625691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i="1" dirty="0" err="1">
                <a:solidFill>
                  <a:srgbClr val="A57133"/>
                </a:solidFill>
              </a:rPr>
              <a:t>boolean</a:t>
            </a:r>
            <a:r>
              <a:rPr lang="en-US" altLang="en-US" sz="2000" b="0" dirty="0">
                <a:solidFill>
                  <a:srgbClr val="A57133"/>
                </a:solidFill>
              </a:rPr>
              <a:t> condition to be tested</a:t>
            </a:r>
            <a:endParaRPr lang="en-US" altLang="en-US" sz="2000" b="0" dirty="0">
              <a:solidFill>
                <a:srgbClr val="A57133"/>
              </a:solidFill>
              <a:latin typeface="Times New Roman" charset="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6699176" y="3094005"/>
            <a:ext cx="318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actions if condition is true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6394376" y="5684805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actions if condition is false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2508179" y="5837202"/>
            <a:ext cx="19431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ja-JP" altLang="en-US" sz="2000" b="0">
                <a:solidFill>
                  <a:srgbClr val="A57133"/>
                </a:solidFill>
              </a:rPr>
              <a:t>‘</a:t>
            </a:r>
            <a:r>
              <a:rPr lang="en-US" altLang="ja-JP" sz="2000" b="0">
                <a:solidFill>
                  <a:srgbClr val="A57133"/>
                </a:solidFill>
              </a:rPr>
              <a:t>else</a:t>
            </a:r>
            <a:r>
              <a:rPr lang="ja-JP" altLang="en-US" sz="2000" b="0">
                <a:solidFill>
                  <a:srgbClr val="A57133"/>
                </a:solidFill>
              </a:rPr>
              <a:t>’</a:t>
            </a:r>
            <a:r>
              <a:rPr lang="en-US" altLang="ja-JP" sz="2000" b="0">
                <a:solidFill>
                  <a:srgbClr val="A57133"/>
                </a:solidFill>
              </a:rPr>
              <a:t> keyword</a:t>
            </a:r>
            <a:endParaRPr lang="en-US" altLang="en-US" sz="2000" b="0">
              <a:solidFill>
                <a:srgbClr val="A57133"/>
              </a:solidFill>
            </a:endParaRPr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 flipH="1">
            <a:off x="2584376" y="2549491"/>
            <a:ext cx="476672" cy="11557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6" name="Line 10"/>
          <p:cNvSpPr>
            <a:spLocks noChangeShapeType="1"/>
          </p:cNvSpPr>
          <p:nvPr/>
        </p:nvSpPr>
        <p:spPr bwMode="auto">
          <a:xfrm flipH="1" flipV="1">
            <a:off x="2660576" y="4848189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 flipH="1">
            <a:off x="4184576" y="3030501"/>
            <a:ext cx="1036712" cy="67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8" name="Line 12"/>
          <p:cNvSpPr>
            <a:spLocks noChangeShapeType="1"/>
          </p:cNvSpPr>
          <p:nvPr/>
        </p:nvSpPr>
        <p:spPr bwMode="auto">
          <a:xfrm flipH="1">
            <a:off x="7613576" y="3476589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9" name="Line 13"/>
          <p:cNvSpPr>
            <a:spLocks noChangeShapeType="1"/>
          </p:cNvSpPr>
          <p:nvPr/>
        </p:nvSpPr>
        <p:spPr bwMode="auto">
          <a:xfrm flipH="1" flipV="1">
            <a:off x="6927776" y="5229189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0" name="Rectangle 16"/>
          <p:cNvSpPr>
            <a:spLocks noChangeArrowheads="1"/>
          </p:cNvSpPr>
          <p:nvPr/>
        </p:nvSpPr>
        <p:spPr bwMode="auto">
          <a:xfrm>
            <a:off x="2812976" y="4824377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  <p:sp>
        <p:nvSpPr>
          <p:cNvPr id="70671" name="Rectangle 17"/>
          <p:cNvSpPr>
            <a:spLocks noChangeArrowheads="1"/>
          </p:cNvSpPr>
          <p:nvPr/>
        </p:nvSpPr>
        <p:spPr bwMode="auto">
          <a:xfrm>
            <a:off x="2812976" y="4009989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endParaRPr lang="en-GB" alt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 dirty="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 dirty="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839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the conditional statement avoids an inappropriate action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class-definitions</Template>
  <TotalTime>222</TotalTime>
  <Words>1472</Words>
  <Application>Microsoft Macintosh PowerPoint</Application>
  <PresentationFormat>Widescreen</PresentationFormat>
  <Paragraphs>263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MS PGothic</vt:lpstr>
      <vt:lpstr>Arial</vt:lpstr>
      <vt:lpstr>Calibri</vt:lpstr>
      <vt:lpstr>Courier New</vt:lpstr>
      <vt:lpstr>Courier New Bold</vt:lpstr>
      <vt:lpstr>Helvetica</vt:lpstr>
      <vt:lpstr>Lucida Grande</vt:lpstr>
      <vt:lpstr>Times New Roman</vt:lpstr>
      <vt:lpstr>Tw Cen MT</vt:lpstr>
      <vt:lpstr>a-processing-mouse-event-methods</vt:lpstr>
      <vt:lpstr>Understanding class definitions 2</vt:lpstr>
      <vt:lpstr>Upcoming</vt:lpstr>
      <vt:lpstr>Methods</vt:lpstr>
      <vt:lpstr>Method structure</vt:lpstr>
      <vt:lpstr>Getter methods</vt:lpstr>
      <vt:lpstr>Accessor methods</vt:lpstr>
      <vt:lpstr>Test</vt:lpstr>
      <vt:lpstr>Test</vt:lpstr>
      <vt:lpstr>Mutator methods</vt:lpstr>
      <vt:lpstr>setter methods</vt:lpstr>
      <vt:lpstr>A typical set method</vt:lpstr>
      <vt:lpstr>Protective mutators</vt:lpstr>
      <vt:lpstr>Another mutator method</vt:lpstr>
      <vt:lpstr>The this keyword</vt:lpstr>
      <vt:lpstr>Printing from methods</vt:lpstr>
      <vt:lpstr>String concatenation</vt:lpstr>
      <vt:lpstr>Quiz</vt:lpstr>
      <vt:lpstr>Quiz</vt:lpstr>
      <vt:lpstr>Formatted printing</vt:lpstr>
      <vt:lpstr>Formatted printing</vt:lpstr>
      <vt:lpstr>Method summary</vt:lpstr>
      <vt:lpstr>Reflecting on the ticket machines</vt:lpstr>
      <vt:lpstr>Making choices in everyday life</vt:lpstr>
      <vt:lpstr>Making a choice in everyday life</vt:lpstr>
      <vt:lpstr>Making choices in Java</vt:lpstr>
      <vt:lpstr>Making a choice in the ticket machine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182</cp:revision>
  <cp:lastPrinted>2003-09-01T07:04:41Z</cp:lastPrinted>
  <dcterms:created xsi:type="dcterms:W3CDTF">2009-04-22T19:24:48Z</dcterms:created>
  <dcterms:modified xsi:type="dcterms:W3CDTF">2025-09-19T15:35:50Z</dcterms:modified>
  <cp:category/>
</cp:coreProperties>
</file>