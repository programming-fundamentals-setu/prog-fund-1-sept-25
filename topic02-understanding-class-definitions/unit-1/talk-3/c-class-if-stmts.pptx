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57" r:id="rId1"/>
  </p:sldMasterIdLst>
  <p:notesMasterIdLst>
    <p:notesMasterId r:id="rId21"/>
  </p:notesMasterIdLst>
  <p:handoutMasterIdLst>
    <p:handoutMasterId r:id="rId22"/>
  </p:handoutMasterIdLst>
  <p:sldIdLst>
    <p:sldId id="256" r:id="rId2"/>
    <p:sldId id="348" r:id="rId3"/>
    <p:sldId id="270" r:id="rId4"/>
    <p:sldId id="355" r:id="rId5"/>
    <p:sldId id="360" r:id="rId6"/>
    <p:sldId id="276" r:id="rId7"/>
    <p:sldId id="361" r:id="rId8"/>
    <p:sldId id="293" r:id="rId9"/>
    <p:sldId id="296" r:id="rId10"/>
    <p:sldId id="271" r:id="rId11"/>
    <p:sldId id="362" r:id="rId12"/>
    <p:sldId id="359" r:id="rId13"/>
    <p:sldId id="363" r:id="rId14"/>
    <p:sldId id="356" r:id="rId15"/>
    <p:sldId id="357" r:id="rId16"/>
    <p:sldId id="306" r:id="rId17"/>
    <p:sldId id="313" r:id="rId18"/>
    <p:sldId id="358" r:id="rId19"/>
    <p:sldId id="350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E4F"/>
    <a:srgbClr val="009C5C"/>
    <a:srgbClr val="7F6F5E"/>
    <a:srgbClr val="C81D2B"/>
    <a:srgbClr val="1A3170"/>
    <a:srgbClr val="A571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725"/>
  </p:normalViewPr>
  <p:slideViewPr>
    <p:cSldViewPr>
      <p:cViewPr varScale="1">
        <p:scale>
          <a:sx n="109" d="100"/>
          <a:sy n="109" d="100"/>
        </p:scale>
        <p:origin x="776" y="1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2220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7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6858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GB"/>
              <a:t>Objects First with Java</a:t>
            </a:r>
          </a:p>
        </p:txBody>
      </p:sp>
      <p:sp>
        <p:nvSpPr>
          <p:cNvPr id="471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5334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b="0" smtClean="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pPr>
              <a:defRPr/>
            </a:pPr>
            <a:r>
              <a:rPr lang="en-GB" altLang="en-US"/>
              <a:t>© David J. Barnes and Michael Kölling</a:t>
            </a:r>
          </a:p>
        </p:txBody>
      </p:sp>
      <p:sp>
        <p:nvSpPr>
          <p:cNvPr id="471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486400" y="8686800"/>
            <a:ext cx="1371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 smtClean="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pPr>
              <a:defRPr/>
            </a:pPr>
            <a:fld id="{BD304B27-EDAE-2B42-B931-F4A43A4E72E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6059915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GB"/>
              <a:t>Objects First with Java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430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430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b="0" smtClean="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pPr>
              <a:defRPr/>
            </a:pPr>
            <a:r>
              <a:rPr lang="en-GB" altLang="en-US"/>
              <a:t>© David J. Barnes and Michael Kölling</a:t>
            </a:r>
          </a:p>
        </p:txBody>
      </p:sp>
      <p:sp>
        <p:nvSpPr>
          <p:cNvPr id="430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 smtClean="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pPr>
              <a:defRPr/>
            </a:pPr>
            <a:fld id="{86EFD2CC-C5C9-994E-897A-55750BC69004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06599796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1843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1843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7FE2BB65-6B68-B449-A95C-B1A6D9CE7C69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1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1843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2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3158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6758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6758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969974D1-C273-1A44-83FD-CD5A69E869C2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3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6758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530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82048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Objects First with Java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© David J. Barnes and Michael Kölling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AFB914E-CF00-448E-A14B-E53BADD4D4F1}" type="slidenum">
              <a:rPr lang="en-GB"/>
              <a:pPr/>
              <a:t>6</a:t>
            </a:fld>
            <a:endParaRPr lang="en-GB"/>
          </a:p>
        </p:txBody>
      </p:sp>
      <p:sp>
        <p:nvSpPr>
          <p:cNvPr id="87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0838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EED87-AC10-B89C-20DE-8013F0027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2">
            <a:extLst>
              <a:ext uri="{FF2B5EF4-FFF2-40B4-BE49-F238E27FC236}">
                <a16:creationId xmlns:a16="http://schemas.microsoft.com/office/drawing/2014/main" id="{76401945-7709-DF74-E0D9-8758BC07AB6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73730" name="Rectangle 6">
            <a:extLst>
              <a:ext uri="{FF2B5EF4-FFF2-40B4-BE49-F238E27FC236}">
                <a16:creationId xmlns:a16="http://schemas.microsoft.com/office/drawing/2014/main" id="{C53D51BE-67ED-05B5-2346-21149BCF70C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73731" name="Rectangle 7">
            <a:extLst>
              <a:ext uri="{FF2B5EF4-FFF2-40B4-BE49-F238E27FC236}">
                <a16:creationId xmlns:a16="http://schemas.microsoft.com/office/drawing/2014/main" id="{615B9518-7F24-DCB3-E90D-5328421EF21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3BDD55DC-E889-CD43-96CD-A94D179C4969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7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73732" name="Rectangle 2">
            <a:extLst>
              <a:ext uri="{FF2B5EF4-FFF2-40B4-BE49-F238E27FC236}">
                <a16:creationId xmlns:a16="http://schemas.microsoft.com/office/drawing/2014/main" id="{54503B63-6077-4B2E-7EFC-AFFF2CAED44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6326" name="Rectangle 3">
            <a:extLst>
              <a:ext uri="{FF2B5EF4-FFF2-40B4-BE49-F238E27FC236}">
                <a16:creationId xmlns:a16="http://schemas.microsoft.com/office/drawing/2014/main" id="{F34A593F-867A-B84E-CC68-E199F92317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75796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Objects First with Java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© David J. Barnes and Michael Kölling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AFB914E-CF00-448E-A14B-E53BADD4D4F1}" type="slidenum">
              <a:rPr lang="en-GB"/>
              <a:pPr/>
              <a:t>9</a:t>
            </a:fld>
            <a:endParaRPr lang="en-GB"/>
          </a:p>
        </p:txBody>
      </p:sp>
      <p:sp>
        <p:nvSpPr>
          <p:cNvPr id="87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14050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7373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7373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3BDD55DC-E889-CD43-96CD-A94D179C4969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10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7373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6326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04857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Objects First with Java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© David J. Barnes and Michael Kölling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AFB914E-CF00-448E-A14B-E53BADD4D4F1}" type="slidenum">
              <a:rPr lang="en-GB"/>
              <a:pPr/>
              <a:t>12</a:t>
            </a:fld>
            <a:endParaRPr lang="en-GB"/>
          </a:p>
        </p:txBody>
      </p:sp>
      <p:sp>
        <p:nvSpPr>
          <p:cNvPr id="87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can half multiple </a:t>
            </a:r>
            <a:r>
              <a:rPr lang="en-US" dirty="0" err="1"/>
              <a:t>ocurences</a:t>
            </a:r>
            <a:r>
              <a:rPr lang="en-US" dirty="0"/>
              <a:t> of “else if” </a:t>
            </a:r>
          </a:p>
        </p:txBody>
      </p:sp>
    </p:spTree>
    <p:extLst>
      <p:ext uri="{BB962C8B-B14F-4D97-AF65-F5344CB8AC3E}">
        <p14:creationId xmlns:p14="http://schemas.microsoft.com/office/powerpoint/2010/main" val="6468547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7E054-A482-661A-E72C-5437454BC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2">
            <a:extLst>
              <a:ext uri="{FF2B5EF4-FFF2-40B4-BE49-F238E27FC236}">
                <a16:creationId xmlns:a16="http://schemas.microsoft.com/office/drawing/2014/main" id="{98BA9EB9-9E4C-A193-9837-1A492941A46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73730" name="Rectangle 6">
            <a:extLst>
              <a:ext uri="{FF2B5EF4-FFF2-40B4-BE49-F238E27FC236}">
                <a16:creationId xmlns:a16="http://schemas.microsoft.com/office/drawing/2014/main" id="{1375909F-167B-F7A5-11C7-253D1E3452B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73731" name="Rectangle 7">
            <a:extLst>
              <a:ext uri="{FF2B5EF4-FFF2-40B4-BE49-F238E27FC236}">
                <a16:creationId xmlns:a16="http://schemas.microsoft.com/office/drawing/2014/main" id="{36D45D92-73AD-B7A6-F0DE-2D55A13D4C1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3BDD55DC-E889-CD43-96CD-A94D179C4969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13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73732" name="Rectangle 2">
            <a:extLst>
              <a:ext uri="{FF2B5EF4-FFF2-40B4-BE49-F238E27FC236}">
                <a16:creationId xmlns:a16="http://schemas.microsoft.com/office/drawing/2014/main" id="{95ABC380-CA8E-3E50-4B02-939E753D9AA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6326" name="Rectangle 3">
            <a:extLst>
              <a:ext uri="{FF2B5EF4-FFF2-40B4-BE49-F238E27FC236}">
                <a16:creationId xmlns:a16="http://schemas.microsoft.com/office/drawing/2014/main" id="{EFF46FC0-B7F8-6E55-6841-F9C59DAD2C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65232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But I would advise to use use them to avoid errors</a:t>
            </a:r>
            <a:r>
              <a:rPr lang="en-GB" baseline="0" dirty="0"/>
              <a:t> when updating programs later.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17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478756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Why?</a:t>
            </a:r>
          </a:p>
          <a:p>
            <a:pPr marL="171450" indent="-171450">
              <a:buFontTx/>
              <a:buChar char="-"/>
            </a:pPr>
            <a:r>
              <a:rPr lang="en-GB" dirty="0"/>
              <a:t>A simple</a:t>
            </a:r>
            <a:r>
              <a:rPr lang="en-GB" baseline="0" dirty="0"/>
              <a:t> statement ends in a semi colon</a:t>
            </a:r>
          </a:p>
          <a:p>
            <a:pPr marL="171450" indent="-171450">
              <a:buFontTx/>
              <a:buChar char="-"/>
            </a:pPr>
            <a:r>
              <a:rPr lang="en-GB" baseline="0" dirty="0"/>
              <a:t>A compound statement is a collection of statement surround by curly braces</a:t>
            </a:r>
          </a:p>
          <a:p>
            <a:pPr marL="171450" indent="-171450">
              <a:buFontTx/>
              <a:buChar char="-"/>
            </a:pPr>
            <a:r>
              <a:rPr lang="en-GB" baseline="0" dirty="0"/>
              <a:t>An if statement is the if keyword followed by a condition in brackets followed by compound statement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18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771847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3088531"/>
      </p:ext>
    </p:extLst>
  </p:cSld>
  <p:clrMapOvr>
    <a:masterClrMapping/>
  </p:clrMapOvr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  <p:cxnSp>
        <p:nvCxnSpPr>
          <p:cNvPr id="7" name="Straight Connector 6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54FA624-7CFC-3CFB-8384-E3FA99B20E94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C51F014-A304-3672-EB37-723E4843A104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8710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3234847"/>
      </p:ext>
    </p:extLst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2A16B-6893-A143-E832-A99D7B6427B3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B64861E-C2E3-2C0F-0C43-CF6F042CC211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0898188"/>
      </p:ext>
    </p:extLst>
  </p:cSld>
  <p:clrMapOvr>
    <a:masterClrMapping/>
  </p:clrMapOvr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3436290-11E2-F20B-966B-F18296CC48D7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2271219"/>
      </p:ext>
    </p:extLst>
  </p:cSld>
  <p:clrMapOvr>
    <a:masterClrMapping/>
  </p:clrMapOvr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  <p:cxnSp>
        <p:nvCxnSpPr>
          <p:cNvPr id="6" name="Straight Connector 5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DB4946F-2A50-46DF-D246-8E463A5B9E4E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CF61A43-37C0-D158-13BE-1753663F3BEC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6419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3556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7293640"/>
      </p:ext>
    </p:extLst>
  </p:cSld>
  <p:clrMapOvr>
    <a:masterClrMapping/>
  </p:clrMapOvr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7161385"/>
      </p:ext>
    </p:extLst>
  </p:cSld>
  <p:clrMapOvr>
    <a:masterClrMapping/>
  </p:clrMapOvr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822263"/>
      </p:ext>
    </p:extLst>
  </p:cSld>
  <p:clrMapOvr>
    <a:masterClrMapping/>
  </p:clrMapOvr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1653910"/>
      </p:ext>
    </p:extLst>
  </p:cSld>
  <p:clrMapOvr>
    <a:masterClrMapping/>
  </p:clrMapOvr>
  <p:hf sldNum="0"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23" name="Shape 2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  <p:sp>
        <p:nvSpPr>
          <p:cNvPr id="24" name="Shape 2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6685827"/>
      </p:ext>
    </p:extLst>
  </p:cSld>
  <p:clrMapOvr>
    <a:masterClrMapping/>
  </p:clrMapOvr>
  <p:hf sldNum="0"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Text"/>
          <p:cNvSpPr txBox="1">
            <a:spLocks noGrp="1"/>
          </p:cNvSpPr>
          <p:nvPr>
            <p:ph type="title"/>
          </p:nvPr>
        </p:nvSpPr>
        <p:spPr>
          <a:xfrm>
            <a:off x="863600" y="2286000"/>
            <a:ext cx="10464801" cy="1143001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dirty="0"/>
          </a:p>
        </p:txBody>
      </p:sp>
      <p:sp>
        <p:nvSpPr>
          <p:cNvPr id="16" name="Subtitle"/>
          <p:cNvSpPr txBox="1">
            <a:spLocks noGrp="1"/>
          </p:cNvSpPr>
          <p:nvPr>
            <p:ph type="body" sz="quarter" idx="22"/>
          </p:nvPr>
        </p:nvSpPr>
        <p:spPr>
          <a:xfrm>
            <a:off x="957115" y="3465604"/>
            <a:ext cx="10134430" cy="846384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ctr">
              <a:spcBef>
                <a:spcPts val="0"/>
              </a:spcBef>
              <a:buClrTx/>
              <a:buSzTx/>
              <a:buFontTx/>
              <a:buNone/>
              <a:defRPr>
                <a:solidFill>
                  <a:srgbClr val="2F4468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91544" y="6360984"/>
            <a:ext cx="495649" cy="49244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1815427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691066" y="6493542"/>
            <a:ext cx="434734" cy="43088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  <p:sp>
        <p:nvSpPr>
          <p:cNvPr id="34" name="Title Text"/>
          <p:cNvSpPr txBox="1">
            <a:spLocks noGrp="1"/>
          </p:cNvSpPr>
          <p:nvPr>
            <p:ph type="title"/>
          </p:nvPr>
        </p:nvSpPr>
        <p:spPr>
          <a:xfrm>
            <a:off x="729736" y="395556"/>
            <a:ext cx="10747254" cy="1143001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30058374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381000"/>
            <a:ext cx="10363200" cy="11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625600" y="1828800"/>
            <a:ext cx="4876800" cy="42672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6705600" y="1828800"/>
            <a:ext cx="4876800" cy="4267200"/>
          </a:xfrm>
        </p:spPr>
        <p:txBody>
          <a:bodyPr/>
          <a:lstStyle/>
          <a:p>
            <a:pPr lvl="0"/>
            <a:r>
              <a:rPr lang="en-GB" noProof="0"/>
              <a:t>Click icon to add chart</a:t>
            </a:r>
            <a:endParaRPr lang="en-US" noProof="0"/>
          </a:p>
        </p:txBody>
      </p:sp>
      <p:sp>
        <p:nvSpPr>
          <p:cNvPr id="5" name="Rectangle 102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636371"/>
      </p:ext>
    </p:extLst>
  </p:cSld>
  <p:clrMapOvr>
    <a:masterClrMapping/>
  </p:clrMapOvr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0816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8" r:id="rId1"/>
    <p:sldLayoutId id="2147483959" r:id="rId2"/>
    <p:sldLayoutId id="2147483960" r:id="rId3"/>
    <p:sldLayoutId id="2147483961" r:id="rId4"/>
    <p:sldLayoutId id="2147483962" r:id="rId5"/>
    <p:sldLayoutId id="2147483963" r:id="rId6"/>
    <p:sldLayoutId id="2147483964" r:id="rId7"/>
    <p:sldLayoutId id="2147483965" r:id="rId8"/>
    <p:sldLayoutId id="2147483966" r:id="rId9"/>
    <p:sldLayoutId id="2147483967" r:id="rId10"/>
    <p:sldLayoutId id="2147483968" r:id="rId11"/>
    <p:sldLayoutId id="2147483969" r:id="rId12"/>
    <p:sldLayoutId id="2147483970" r:id="rId13"/>
    <p:sldLayoutId id="2147483971" r:id="rId14"/>
    <p:sldLayoutId id="2147483972" r:id="rId15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freejavaguide.com/relational_operators.htm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209446" y="380999"/>
            <a:ext cx="10464801" cy="114300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GB" dirty="0"/>
              <a:t>Understanding </a:t>
            </a:r>
            <a:r>
              <a:rPr lang="en-GB"/>
              <a:t>class definitions 3</a:t>
            </a:r>
            <a:endParaRPr lang="en-GB" dirty="0">
              <a:ea typeface="+mj-ea"/>
              <a:cs typeface="+mj-cs"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sz="quarter" idx="22"/>
          </p:nvPr>
        </p:nvSpPr>
        <p:spPr>
          <a:xfrm>
            <a:off x="98936" y="1580294"/>
            <a:ext cx="10134430" cy="523220"/>
          </a:xfrm>
        </p:spPr>
        <p:txBody>
          <a:bodyPr/>
          <a:lstStyle/>
          <a:p>
            <a:pPr>
              <a:defRPr/>
            </a:pPr>
            <a:r>
              <a:rPr lang="en-GB" sz="2800" dirty="0"/>
              <a:t>Selection – if statements</a:t>
            </a:r>
            <a:endParaRPr lang="en-GB" sz="2800" dirty="0">
              <a:ea typeface="+mn-ea"/>
              <a:cs typeface="+mn-cs"/>
            </a:endParaRPr>
          </a:p>
        </p:txBody>
      </p:sp>
      <p:sp>
        <p:nvSpPr>
          <p:cNvPr id="17411" name="Text Box 4"/>
          <p:cNvSpPr txBox="1">
            <a:spLocks noChangeArrowheads="1"/>
          </p:cNvSpPr>
          <p:nvPr/>
        </p:nvSpPr>
        <p:spPr bwMode="auto">
          <a:xfrm>
            <a:off x="10050463" y="6537328"/>
            <a:ext cx="36580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0" dirty="0">
                <a:solidFill>
                  <a:schemeClr val="tx1"/>
                </a:solidFill>
              </a:rPr>
              <a:t>7.0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921513C8-B0FF-BA55-A698-0A8D7677585F}"/>
              </a:ext>
            </a:extLst>
          </p:cNvPr>
          <p:cNvSpPr txBox="1">
            <a:spLocks/>
          </p:cNvSpPr>
          <p:nvPr/>
        </p:nvSpPr>
        <p:spPr>
          <a:xfrm>
            <a:off x="1596259" y="3809999"/>
            <a:ext cx="1866900" cy="10668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Produced </a:t>
            </a:r>
          </a:p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by: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E0755C-E815-5AA3-D4B2-32A9F0530610}"/>
              </a:ext>
            </a:extLst>
          </p:cNvPr>
          <p:cNvSpPr txBox="1"/>
          <p:nvPr/>
        </p:nvSpPr>
        <p:spPr>
          <a:xfrm>
            <a:off x="7620000" y="5849826"/>
            <a:ext cx="40727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600" dirty="0"/>
              <a:t>Department of Computing and Mathematics</a:t>
            </a:r>
          </a:p>
          <a:p>
            <a:r>
              <a:rPr lang="en-IE" sz="1600" dirty="0"/>
              <a:t>http://</a:t>
            </a:r>
            <a:r>
              <a:rPr lang="en-IE" sz="1600" dirty="0" err="1"/>
              <a:t>www.setu.ie</a:t>
            </a:r>
            <a:r>
              <a:rPr lang="en-IE" sz="1600"/>
              <a:t>/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2BA0C4-2BF0-58D8-E3BD-B3765AC49632}"/>
              </a:ext>
            </a:extLst>
          </p:cNvPr>
          <p:cNvSpPr txBox="1"/>
          <p:nvPr/>
        </p:nvSpPr>
        <p:spPr>
          <a:xfrm>
            <a:off x="3647728" y="3876597"/>
            <a:ext cx="5562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>
                <a:solidFill>
                  <a:schemeClr val="tx1">
                    <a:lumMod val="75000"/>
                    <a:lumOff val="25000"/>
                  </a:schemeClr>
                </a:solidFill>
              </a:rPr>
              <a:t>Ms. Mairead Meagher,</a:t>
            </a:r>
          </a:p>
          <a:p>
            <a:r>
              <a:rPr lang="en-IE" sz="2400">
                <a:solidFill>
                  <a:schemeClr val="tx1">
                    <a:lumMod val="75000"/>
                    <a:lumOff val="25000"/>
                  </a:schemeClr>
                </a:solidFill>
              </a:rPr>
              <a:t>Ms. Siobhán Roche.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8FA2458C-C466-1502-FE9B-6FD66EA775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8286" y="952499"/>
            <a:ext cx="3524354" cy="2689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0224E30-BD90-6D07-3E1E-E5344C17016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242" y="5565517"/>
            <a:ext cx="2057400" cy="1153391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5C1D98B-EAD8-17AC-9CB8-C2BBF110A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Upcoming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2FC1126-1F70-0EA1-DCE5-D16434703AD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91439" rIns="233680" bIns="91439" numCol="1" anchor="t" anchorCtr="0" compatLnSpc="1">
            <a:prstTxWarp prst="textNoShape">
              <a:avLst/>
            </a:prstTxWarp>
            <a:normAutofit/>
          </a:bodyPr>
          <a:lstStyle/>
          <a:p>
            <a:pPr marL="382588"/>
            <a:r>
              <a:rPr lang="en-US" altLang="en-US" dirty="0">
                <a:ea typeface="MS PGothic" charset="-128"/>
              </a:rPr>
              <a:t>Conditional statements;</a:t>
            </a:r>
          </a:p>
          <a:p>
            <a:pPr marL="782638" lvl="1"/>
            <a:r>
              <a:rPr lang="en-US" altLang="en-US" dirty="0">
                <a:ea typeface="MS PGothic" charset="-128"/>
              </a:rPr>
              <a:t>When do we need them</a:t>
            </a:r>
          </a:p>
          <a:p>
            <a:pPr marL="782638" lvl="1"/>
            <a:r>
              <a:rPr lang="en-US" altLang="en-US" dirty="0">
                <a:ea typeface="MS PGothic" charset="-128"/>
              </a:rPr>
              <a:t>Syntax</a:t>
            </a:r>
          </a:p>
          <a:p>
            <a:pPr marL="782638" lvl="1"/>
            <a:r>
              <a:rPr lang="en-US" altLang="en-US" dirty="0">
                <a:ea typeface="MS PGothic" charset="-128"/>
              </a:rPr>
              <a:t>If </a:t>
            </a:r>
            <a:r>
              <a:rPr lang="en-US" altLang="en-US" dirty="0" err="1">
                <a:ea typeface="MS PGothic" charset="-128"/>
              </a:rPr>
              <a:t>stmt</a:t>
            </a:r>
            <a:r>
              <a:rPr lang="en-US" altLang="en-US" dirty="0">
                <a:ea typeface="MS PGothic" charset="-128"/>
              </a:rPr>
              <a:t>, if-else </a:t>
            </a:r>
            <a:r>
              <a:rPr lang="en-US" altLang="en-US" dirty="0" err="1">
                <a:ea typeface="MS PGothic" charset="-128"/>
              </a:rPr>
              <a:t>stmts</a:t>
            </a:r>
            <a:endParaRPr lang="en-US" altLang="en-US" dirty="0">
              <a:ea typeface="MS PGothic" charset="-128"/>
            </a:endParaRPr>
          </a:p>
          <a:p>
            <a:pPr marL="782638" lvl="1"/>
            <a:r>
              <a:rPr lang="en-US" altLang="en-US" dirty="0">
                <a:ea typeface="MS PGothic" charset="-128"/>
              </a:rPr>
              <a:t>Examples</a:t>
            </a:r>
          </a:p>
          <a:p>
            <a:pPr marL="382588"/>
            <a:r>
              <a:rPr lang="en-US" altLang="en-US" dirty="0">
                <a:ea typeface="MS PGothic" charset="-128"/>
              </a:rPr>
              <a:t>Local variables. (next </a:t>
            </a:r>
            <a:r>
              <a:rPr lang="en-US" altLang="en-US" dirty="0" err="1">
                <a:ea typeface="MS PGothic" charset="-128"/>
              </a:rPr>
              <a:t>slidedeck</a:t>
            </a:r>
            <a:r>
              <a:rPr lang="en-US" altLang="en-US" dirty="0">
                <a:ea typeface="MS PGothic" charset="-128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446994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ea typeface="+mj-ea"/>
                <a:cs typeface="+mj-cs"/>
              </a:rPr>
              <a:t>Reflecting on the ticket machines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>
                <a:ea typeface="+mn-ea"/>
                <a:cs typeface="+mn-cs"/>
              </a:rPr>
              <a:t>Their behavior is inadequate in several ways:</a:t>
            </a:r>
          </a:p>
          <a:p>
            <a:pPr lvl="1" eaLnBrk="1" hangingPunct="1">
              <a:defRPr/>
            </a:pPr>
            <a:r>
              <a:rPr lang="en-US">
                <a:ea typeface="+mn-ea"/>
              </a:rPr>
              <a:t>No checks on the amounts entered.</a:t>
            </a:r>
          </a:p>
          <a:p>
            <a:pPr lvl="1" eaLnBrk="1" hangingPunct="1">
              <a:defRPr/>
            </a:pPr>
            <a:r>
              <a:rPr lang="en-US">
                <a:ea typeface="+mn-ea"/>
              </a:rPr>
              <a:t>No refunds.</a:t>
            </a:r>
          </a:p>
          <a:p>
            <a:pPr lvl="1" eaLnBrk="1" hangingPunct="1">
              <a:defRPr/>
            </a:pPr>
            <a:r>
              <a:rPr lang="en-US">
                <a:ea typeface="+mn-ea"/>
              </a:rPr>
              <a:t>No checks for a sensible initialization.</a:t>
            </a:r>
          </a:p>
          <a:p>
            <a:pPr eaLnBrk="1" hangingPunct="1">
              <a:defRPr/>
            </a:pPr>
            <a:r>
              <a:rPr lang="en-US">
                <a:ea typeface="+mn-ea"/>
                <a:cs typeface="+mn-cs"/>
              </a:rPr>
              <a:t>How can we do better?</a:t>
            </a:r>
          </a:p>
          <a:p>
            <a:pPr lvl="1" eaLnBrk="1" hangingPunct="1">
              <a:defRPr/>
            </a:pPr>
            <a:r>
              <a:rPr lang="en-US">
                <a:ea typeface="+mn-ea"/>
              </a:rPr>
              <a:t>We need the ability to choose between different courses of action.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97270-F5C8-38C1-18BD-6F7B11A15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 anchor="ctr">
            <a:normAutofit/>
          </a:bodyPr>
          <a:lstStyle/>
          <a:p>
            <a:r>
              <a:rPr lang="en-US" b="1" dirty="0"/>
              <a:t>Conditionals – the if statement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E041921-7F50-1E1B-D9D8-916D310988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1670" y="1801442"/>
            <a:ext cx="4204447" cy="4525963"/>
          </a:xfrm>
          <a:prstGeom prst="rect">
            <a:avLst/>
          </a:prstGeom>
          <a:noFill/>
        </p:spPr>
      </p:pic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EBA4961D-9019-5941-C5E2-44B00673F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2010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4E356-5A74-54D6-F90E-C00003290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2">
            <a:extLst>
              <a:ext uri="{FF2B5EF4-FFF2-40B4-BE49-F238E27FC236}">
                <a16:creationId xmlns:a16="http://schemas.microsoft.com/office/drawing/2014/main" id="{2C9053EF-3838-CB2E-C031-45C009FFAC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 anchor="ctr">
            <a:normAutofit/>
          </a:bodyPr>
          <a:lstStyle/>
          <a:p>
            <a:r>
              <a:rPr lang="en-GB" altLang="en-US"/>
              <a:t>Making choices in everyday life</a:t>
            </a:r>
          </a:p>
        </p:txBody>
      </p:sp>
      <p:sp>
        <p:nvSpPr>
          <p:cNvPr id="68610" name="Rectangle 3">
            <a:extLst>
              <a:ext uri="{FF2B5EF4-FFF2-40B4-BE49-F238E27FC236}">
                <a16:creationId xmlns:a16="http://schemas.microsoft.com/office/drawing/2014/main" id="{28AC5360-7A2B-F340-D47B-7763CF24800C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609600" y="1600201"/>
            <a:ext cx="5384800" cy="2188839"/>
          </a:xfrm>
        </p:spPr>
        <p:txBody>
          <a:bodyPr>
            <a:normAutofit/>
          </a:bodyPr>
          <a:lstStyle/>
          <a:p>
            <a:r>
              <a:rPr lang="en-GB" altLang="en-US" sz="3200" dirty="0"/>
              <a:t>If I have an assignment to complete, then I shall work on my assignment</a:t>
            </a:r>
          </a:p>
          <a:p>
            <a:pPr marL="0" indent="0">
              <a:buNone/>
            </a:pPr>
            <a:endParaRPr lang="en-GB" alt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0D04ADE-DD9B-F79A-9275-51C096D494BB}"/>
              </a:ext>
            </a:extLst>
          </p:cNvPr>
          <p:cNvGrpSpPr/>
          <p:nvPr/>
        </p:nvGrpSpPr>
        <p:grpSpPr>
          <a:xfrm>
            <a:off x="6492155" y="1600201"/>
            <a:ext cx="4795690" cy="2032484"/>
            <a:chOff x="2892002" y="1916832"/>
            <a:chExt cx="4417516" cy="1872208"/>
          </a:xfrm>
        </p:grpSpPr>
        <p:sp>
          <p:nvSpPr>
            <p:cNvPr id="3" name="Decision 2">
              <a:extLst>
                <a:ext uri="{FF2B5EF4-FFF2-40B4-BE49-F238E27FC236}">
                  <a16:creationId xmlns:a16="http://schemas.microsoft.com/office/drawing/2014/main" id="{F96B6B5C-92D0-44A6-0A7B-E2431F93B687}"/>
                </a:ext>
              </a:extLst>
            </p:cNvPr>
            <p:cNvSpPr/>
            <p:nvPr/>
          </p:nvSpPr>
          <p:spPr>
            <a:xfrm>
              <a:off x="2892002" y="1916832"/>
              <a:ext cx="1800200" cy="1872208"/>
            </a:xfrm>
            <a:prstGeom prst="flowChartDecision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87552">
                <a:spcAft>
                  <a:spcPts val="600"/>
                </a:spcAft>
              </a:pPr>
              <a:r>
                <a:rPr lang="en-US" sz="194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Have I work to do? </a:t>
              </a:r>
              <a:endParaRPr lang="en-US"/>
            </a:p>
          </p:txBody>
        </p:sp>
        <p:sp>
          <p:nvSpPr>
            <p:cNvPr id="4" name="Right Arrow 3">
              <a:extLst>
                <a:ext uri="{FF2B5EF4-FFF2-40B4-BE49-F238E27FC236}">
                  <a16:creationId xmlns:a16="http://schemas.microsoft.com/office/drawing/2014/main" id="{46762FCB-FC28-D412-B4B5-2C7615EEFD9E}"/>
                </a:ext>
              </a:extLst>
            </p:cNvPr>
            <p:cNvSpPr/>
            <p:nvPr/>
          </p:nvSpPr>
          <p:spPr>
            <a:xfrm>
              <a:off x="4717230" y="2600908"/>
              <a:ext cx="1296144" cy="504056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87552">
                <a:spcAft>
                  <a:spcPts val="600"/>
                </a:spcAft>
              </a:pPr>
              <a:r>
                <a:rPr lang="en-US" sz="194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Yes</a:t>
              </a:r>
              <a:endParaRPr lang="en-US"/>
            </a:p>
          </p:txBody>
        </p:sp>
        <p:sp>
          <p:nvSpPr>
            <p:cNvPr id="6" name="Process 5">
              <a:extLst>
                <a:ext uri="{FF2B5EF4-FFF2-40B4-BE49-F238E27FC236}">
                  <a16:creationId xmlns:a16="http://schemas.microsoft.com/office/drawing/2014/main" id="{88A1C9A8-376D-284A-E78A-657F64D9414D}"/>
                </a:ext>
              </a:extLst>
            </p:cNvPr>
            <p:cNvSpPr/>
            <p:nvPr/>
          </p:nvSpPr>
          <p:spPr>
            <a:xfrm>
              <a:off x="6013374" y="2352581"/>
              <a:ext cx="1296144" cy="1000707"/>
            </a:xfrm>
            <a:prstGeom prst="flowChart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87552">
                <a:spcAft>
                  <a:spcPts val="600"/>
                </a:spcAft>
              </a:pPr>
              <a:r>
                <a:rPr lang="en-US" sz="1944" kern="1200" dirty="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Just Do it!</a:t>
              </a:r>
              <a:endParaRPr lang="en-US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1B248F7-DAE0-6FF7-1156-54D389EFEE24}"/>
                </a:ext>
              </a:extLst>
            </p:cNvPr>
            <p:cNvSpPr txBox="1"/>
            <p:nvPr/>
          </p:nvSpPr>
          <p:spPr>
            <a:xfrm>
              <a:off x="5231904" y="2708920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/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2C0AD28A-A431-C243-E5AA-69859C0140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8528" y="363485"/>
            <a:ext cx="953541" cy="102645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616747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Statement Syntax (1)</a:t>
            </a:r>
          </a:p>
        </p:txBody>
      </p:sp>
      <p:sp>
        <p:nvSpPr>
          <p:cNvPr id="24579" name="Text Box 3"/>
          <p:cNvSpPr txBox="1">
            <a:spLocks noChangeArrowheads="1"/>
          </p:cNvSpPr>
          <p:nvPr/>
        </p:nvSpPr>
        <p:spPr bwMode="auto">
          <a:xfrm>
            <a:off x="2334138" y="3680801"/>
            <a:ext cx="7629012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 dirty="0">
                <a:latin typeface="Courier New" pitchFamily="49" charset="0"/>
                <a:cs typeface="Times" pitchFamily="-32" charset="0"/>
              </a:rPr>
              <a:t>if(</a:t>
            </a:r>
            <a:r>
              <a:rPr lang="en-US" b="1" i="1" dirty="0">
                <a:solidFill>
                  <a:srgbClr val="C81D2B"/>
                </a:solidFill>
                <a:latin typeface="Courier New" pitchFamily="49" charset="0"/>
                <a:cs typeface="Times" pitchFamily="-32" charset="0"/>
              </a:rPr>
              <a:t>condition1…perform some test</a:t>
            </a:r>
            <a:r>
              <a:rPr lang="en-US" b="1" dirty="0">
                <a:latin typeface="Courier New" pitchFamily="49" charset="0"/>
                <a:cs typeface="Times" pitchFamily="-32" charset="0"/>
              </a:rPr>
              <a:t>) </a:t>
            </a:r>
          </a:p>
          <a:p>
            <a:pPr algn="l" eaLnBrk="1" hangingPunct="1"/>
            <a:r>
              <a:rPr lang="en-US" b="1" dirty="0">
                <a:latin typeface="Courier New" pitchFamily="49" charset="0"/>
                <a:cs typeface="Times" pitchFamily="-32" charset="0"/>
              </a:rPr>
              <a:t>{</a:t>
            </a:r>
          </a:p>
          <a:p>
            <a:pPr algn="l" eaLnBrk="1" hangingPunct="1"/>
            <a:r>
              <a:rPr lang="en-US" b="1" dirty="0">
                <a:latin typeface="Courier New" pitchFamily="49" charset="0"/>
                <a:cs typeface="Times" pitchFamily="-32" charset="0"/>
              </a:rPr>
              <a:t>    </a:t>
            </a:r>
            <a:r>
              <a:rPr lang="en-US" b="1" i="1" dirty="0">
                <a:solidFill>
                  <a:srgbClr val="00B050"/>
                </a:solidFill>
                <a:latin typeface="Courier New" pitchFamily="49" charset="0"/>
                <a:cs typeface="Times" pitchFamily="-32" charset="0"/>
              </a:rPr>
              <a:t>Do these statements if the test gave a true result</a:t>
            </a:r>
            <a:endParaRPr lang="en-US" b="1" dirty="0">
              <a:solidFill>
                <a:srgbClr val="00B050"/>
              </a:solidFill>
              <a:latin typeface="Courier New" pitchFamily="49" charset="0"/>
              <a:cs typeface="Times" pitchFamily="-32" charset="0"/>
            </a:endParaRPr>
          </a:p>
          <a:p>
            <a:pPr algn="l" eaLnBrk="1" hangingPunct="1"/>
            <a:r>
              <a:rPr lang="en-US" b="1" dirty="0">
                <a:latin typeface="Courier New" pitchFamily="49" charset="0"/>
                <a:cs typeface="Times" pitchFamily="-32" charset="0"/>
              </a:rPr>
              <a:t>}</a:t>
            </a:r>
          </a:p>
        </p:txBody>
      </p:sp>
      <p:sp>
        <p:nvSpPr>
          <p:cNvPr id="24593" name="Rectangle 17"/>
          <p:cNvSpPr>
            <a:spLocks noChangeArrowheads="1"/>
          </p:cNvSpPr>
          <p:nvPr/>
        </p:nvSpPr>
        <p:spPr bwMode="auto">
          <a:xfrm>
            <a:off x="2872044" y="4237400"/>
            <a:ext cx="7239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E"/>
          </a:p>
        </p:txBody>
      </p:sp>
      <p:sp>
        <p:nvSpPr>
          <p:cNvPr id="11" name="Rectangle 10"/>
          <p:cNvSpPr/>
          <p:nvPr/>
        </p:nvSpPr>
        <p:spPr>
          <a:xfrm>
            <a:off x="2067198" y="3212976"/>
            <a:ext cx="8258688" cy="1847808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3" name="TextBox 2"/>
          <p:cNvSpPr txBox="1"/>
          <p:nvPr/>
        </p:nvSpPr>
        <p:spPr>
          <a:xfrm>
            <a:off x="15328900" y="-11303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20712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FCE5A-6E4F-798E-1AC6-8B65ACA54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2">
            <a:extLst>
              <a:ext uri="{FF2B5EF4-FFF2-40B4-BE49-F238E27FC236}">
                <a16:creationId xmlns:a16="http://schemas.microsoft.com/office/drawing/2014/main" id="{E64DE0F6-CB72-FC7D-00F8-DD16D9C0CD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en-US" altLang="en-US" sz="4000" dirty="0">
                <a:ea typeface="MS PGothic" charset="-128"/>
              </a:rPr>
              <a:t>Making a choice in the ticket machine (1) </a:t>
            </a:r>
          </a:p>
        </p:txBody>
      </p:sp>
      <p:sp>
        <p:nvSpPr>
          <p:cNvPr id="72707" name="Text Box 4">
            <a:extLst>
              <a:ext uri="{FF2B5EF4-FFF2-40B4-BE49-F238E27FC236}">
                <a16:creationId xmlns:a16="http://schemas.microsoft.com/office/drawing/2014/main" id="{A6D230AE-022D-FDFE-5073-2C87699AEB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1504" y="1844824"/>
            <a:ext cx="6636753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public void </a:t>
            </a:r>
            <a:r>
              <a:rPr lang="en-US" altLang="en-US" sz="2400" dirty="0" err="1">
                <a:solidFill>
                  <a:schemeClr val="tx1"/>
                </a:solidFill>
                <a:latin typeface="Courier New" charset="0"/>
              </a:rPr>
              <a:t>insertMoney</a:t>
            </a: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(int amount)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    if(amount &gt; 0) 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        balance = balance + amount;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    }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}</a:t>
            </a:r>
            <a:r>
              <a:rPr lang="en-US" altLang="en-US" sz="2000" dirty="0">
                <a:solidFill>
                  <a:schemeClr val="tx1"/>
                </a:solidFill>
                <a:latin typeface="Courier New" charset="0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F105A7-A16D-95C9-C7FE-11852CD9F45D}"/>
              </a:ext>
            </a:extLst>
          </p:cNvPr>
          <p:cNvSpPr txBox="1"/>
          <p:nvPr/>
        </p:nvSpPr>
        <p:spPr>
          <a:xfrm>
            <a:off x="2817671" y="5661248"/>
            <a:ext cx="5513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the conditional statement avoids an inappropriate action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6149A0-1148-9C6B-9119-96610A48A2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8528" y="363485"/>
            <a:ext cx="953541" cy="102645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9343173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 anchor="ctr">
            <a:normAutofit/>
          </a:bodyPr>
          <a:lstStyle/>
          <a:p>
            <a:r>
              <a:rPr lang="en-GB" altLang="en-US" dirty="0"/>
              <a:t>Making choices in everyday life (2)</a:t>
            </a:r>
          </a:p>
        </p:txBody>
      </p:sp>
      <p:sp>
        <p:nvSpPr>
          <p:cNvPr id="68610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>
            <a:normAutofit/>
          </a:bodyPr>
          <a:lstStyle/>
          <a:p>
            <a:r>
              <a:rPr lang="en-GB" altLang="en-US" sz="3200" dirty="0"/>
              <a:t>If I have an assignment to complete, then I shall work on my assignment</a:t>
            </a:r>
          </a:p>
          <a:p>
            <a:r>
              <a:rPr lang="en-GB" altLang="en-US" sz="3200" dirty="0"/>
              <a:t>Otherwise I will go to the Gym</a:t>
            </a:r>
            <a:endParaRPr lang="en-US" dirty="0"/>
          </a:p>
          <a:p>
            <a:endParaRPr lang="en-GB" alt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1964897-A944-0134-49D9-2FA76A199444}"/>
              </a:ext>
            </a:extLst>
          </p:cNvPr>
          <p:cNvGrpSpPr/>
          <p:nvPr/>
        </p:nvGrpSpPr>
        <p:grpSpPr>
          <a:xfrm>
            <a:off x="6529608" y="1600201"/>
            <a:ext cx="4795690" cy="4525963"/>
            <a:chOff x="2892002" y="1916832"/>
            <a:chExt cx="4417516" cy="4169059"/>
          </a:xfrm>
        </p:grpSpPr>
        <p:sp>
          <p:nvSpPr>
            <p:cNvPr id="3" name="Decision 2">
              <a:extLst>
                <a:ext uri="{FF2B5EF4-FFF2-40B4-BE49-F238E27FC236}">
                  <a16:creationId xmlns:a16="http://schemas.microsoft.com/office/drawing/2014/main" id="{C6D22CD9-A7BF-21C4-3E8D-20166D90545D}"/>
                </a:ext>
              </a:extLst>
            </p:cNvPr>
            <p:cNvSpPr/>
            <p:nvPr/>
          </p:nvSpPr>
          <p:spPr>
            <a:xfrm>
              <a:off x="2892002" y="1916832"/>
              <a:ext cx="1800200" cy="1872208"/>
            </a:xfrm>
            <a:prstGeom prst="flowChartDecision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87552">
                <a:spcAft>
                  <a:spcPts val="600"/>
                </a:spcAft>
              </a:pPr>
              <a:r>
                <a:rPr lang="en-US" sz="194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Have I work to do? </a:t>
              </a:r>
              <a:endParaRPr lang="en-US"/>
            </a:p>
          </p:txBody>
        </p:sp>
        <p:sp>
          <p:nvSpPr>
            <p:cNvPr id="4" name="Right Arrow 3">
              <a:extLst>
                <a:ext uri="{FF2B5EF4-FFF2-40B4-BE49-F238E27FC236}">
                  <a16:creationId xmlns:a16="http://schemas.microsoft.com/office/drawing/2014/main" id="{938698A8-1757-FD75-40DF-E0F881582ACA}"/>
                </a:ext>
              </a:extLst>
            </p:cNvPr>
            <p:cNvSpPr/>
            <p:nvPr/>
          </p:nvSpPr>
          <p:spPr>
            <a:xfrm>
              <a:off x="4717230" y="2600908"/>
              <a:ext cx="1296144" cy="504056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87552">
                <a:spcAft>
                  <a:spcPts val="600"/>
                </a:spcAft>
              </a:pPr>
              <a:r>
                <a:rPr lang="en-US" sz="194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Yes</a:t>
              </a:r>
              <a:endParaRPr lang="en-US"/>
            </a:p>
          </p:txBody>
        </p:sp>
        <p:sp>
          <p:nvSpPr>
            <p:cNvPr id="5" name="Right Arrow 4">
              <a:extLst>
                <a:ext uri="{FF2B5EF4-FFF2-40B4-BE49-F238E27FC236}">
                  <a16:creationId xmlns:a16="http://schemas.microsoft.com/office/drawing/2014/main" id="{51103EC7-E323-EF35-4DE0-59EC1547CC5E}"/>
                </a:ext>
              </a:extLst>
            </p:cNvPr>
            <p:cNvSpPr/>
            <p:nvPr/>
          </p:nvSpPr>
          <p:spPr>
            <a:xfrm rot="5400000">
              <a:off x="3144030" y="4185084"/>
              <a:ext cx="1296144" cy="504056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87552">
                <a:spcAft>
                  <a:spcPts val="600"/>
                </a:spcAft>
              </a:pPr>
              <a:r>
                <a:rPr lang="en-US" sz="194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No</a:t>
              </a:r>
              <a:endParaRPr lang="en-US"/>
            </a:p>
          </p:txBody>
        </p:sp>
        <p:sp>
          <p:nvSpPr>
            <p:cNvPr id="6" name="Process 5">
              <a:extLst>
                <a:ext uri="{FF2B5EF4-FFF2-40B4-BE49-F238E27FC236}">
                  <a16:creationId xmlns:a16="http://schemas.microsoft.com/office/drawing/2014/main" id="{709C3EBA-99CF-33A9-FC4C-A8CF5F625EAC}"/>
                </a:ext>
              </a:extLst>
            </p:cNvPr>
            <p:cNvSpPr/>
            <p:nvPr/>
          </p:nvSpPr>
          <p:spPr>
            <a:xfrm>
              <a:off x="6013374" y="2352582"/>
              <a:ext cx="1296144" cy="1000707"/>
            </a:xfrm>
            <a:prstGeom prst="flowChart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87552">
                <a:spcAft>
                  <a:spcPts val="600"/>
                </a:spcAft>
              </a:pPr>
              <a:r>
                <a:rPr lang="en-US" sz="1944" dirty="0"/>
                <a:t>Just Do it!</a:t>
              </a:r>
              <a:endParaRPr lang="en-US" dirty="0"/>
            </a:p>
          </p:txBody>
        </p:sp>
        <p:sp>
          <p:nvSpPr>
            <p:cNvPr id="8" name="Process 7">
              <a:extLst>
                <a:ext uri="{FF2B5EF4-FFF2-40B4-BE49-F238E27FC236}">
                  <a16:creationId xmlns:a16="http://schemas.microsoft.com/office/drawing/2014/main" id="{D293AC4E-A84D-5A61-9186-5CE8029ADC53}"/>
                </a:ext>
              </a:extLst>
            </p:cNvPr>
            <p:cNvSpPr/>
            <p:nvPr/>
          </p:nvSpPr>
          <p:spPr>
            <a:xfrm>
              <a:off x="3215680" y="5085184"/>
              <a:ext cx="1296144" cy="1000707"/>
            </a:xfrm>
            <a:prstGeom prst="flowChart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87552">
                <a:spcAft>
                  <a:spcPts val="600"/>
                </a:spcAft>
              </a:pPr>
              <a:r>
                <a:rPr lang="en-US" sz="1944" kern="1200" dirty="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Go to Gym</a:t>
              </a:r>
              <a:endParaRPr lang="en-US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28CC582-C776-32FC-1D7E-492E5757E136}"/>
                </a:ext>
              </a:extLst>
            </p:cNvPr>
            <p:cNvSpPr txBox="1"/>
            <p:nvPr/>
          </p:nvSpPr>
          <p:spPr>
            <a:xfrm>
              <a:off x="5231904" y="2708920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/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34E567E5-0B19-1C91-EC06-DC4DA7C27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8528" y="363485"/>
            <a:ext cx="953541" cy="102645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Statement Syntax (2) </a:t>
            </a:r>
          </a:p>
        </p:txBody>
      </p:sp>
      <p:sp>
        <p:nvSpPr>
          <p:cNvPr id="24579" name="Text Box 3"/>
          <p:cNvSpPr txBox="1">
            <a:spLocks noChangeArrowheads="1"/>
          </p:cNvSpPr>
          <p:nvPr/>
        </p:nvSpPr>
        <p:spPr bwMode="auto">
          <a:xfrm>
            <a:off x="2362200" y="3117850"/>
            <a:ext cx="7729538" cy="173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 dirty="0">
                <a:latin typeface="Courier New" pitchFamily="49" charset="0"/>
                <a:cs typeface="Times" pitchFamily="-32" charset="0"/>
              </a:rPr>
              <a:t>if(</a:t>
            </a:r>
            <a:r>
              <a:rPr lang="en-US" b="1" i="1" dirty="0">
                <a:solidFill>
                  <a:srgbClr val="C81D2B"/>
                </a:solidFill>
                <a:latin typeface="Courier New" pitchFamily="49" charset="0"/>
                <a:cs typeface="Times" pitchFamily="-32" charset="0"/>
              </a:rPr>
              <a:t>condition1…perform some test</a:t>
            </a:r>
            <a:r>
              <a:rPr lang="en-US" b="1" dirty="0">
                <a:latin typeface="Courier New" pitchFamily="49" charset="0"/>
                <a:cs typeface="Times" pitchFamily="-32" charset="0"/>
              </a:rPr>
              <a:t>) {</a:t>
            </a:r>
          </a:p>
          <a:p>
            <a:pPr algn="l" eaLnBrk="1" hangingPunct="1"/>
            <a:r>
              <a:rPr lang="en-US" b="1" dirty="0">
                <a:latin typeface="Courier New" pitchFamily="49" charset="0"/>
                <a:cs typeface="Times" pitchFamily="-32" charset="0"/>
              </a:rPr>
              <a:t>    </a:t>
            </a:r>
            <a:r>
              <a:rPr lang="en-US" b="1" i="1" dirty="0">
                <a:solidFill>
                  <a:srgbClr val="00B050"/>
                </a:solidFill>
                <a:latin typeface="Courier New" pitchFamily="49" charset="0"/>
                <a:cs typeface="Times" pitchFamily="-32" charset="0"/>
              </a:rPr>
              <a:t>Do these statements if the test gave a true result</a:t>
            </a:r>
            <a:endParaRPr lang="en-US" b="1" dirty="0">
              <a:solidFill>
                <a:srgbClr val="00B050"/>
              </a:solidFill>
              <a:latin typeface="Courier New" pitchFamily="49" charset="0"/>
              <a:cs typeface="Times" pitchFamily="-32" charset="0"/>
            </a:endParaRPr>
          </a:p>
          <a:p>
            <a:pPr algn="l" eaLnBrk="1" hangingPunct="1"/>
            <a:r>
              <a:rPr lang="en-US" b="1" dirty="0">
                <a:latin typeface="Courier New" pitchFamily="49" charset="0"/>
                <a:cs typeface="Times" pitchFamily="-32" charset="0"/>
              </a:rPr>
              <a:t>}</a:t>
            </a:r>
          </a:p>
          <a:p>
            <a:pPr algn="l" eaLnBrk="1" hangingPunct="1"/>
            <a:r>
              <a:rPr lang="en-US" b="1" dirty="0">
                <a:latin typeface="Courier New" pitchFamily="49" charset="0"/>
                <a:cs typeface="Times" pitchFamily="-32" charset="0"/>
              </a:rPr>
              <a:t>else {</a:t>
            </a:r>
          </a:p>
          <a:p>
            <a:pPr algn="l" eaLnBrk="1" hangingPunct="1"/>
            <a:r>
              <a:rPr lang="en-US" b="1" dirty="0">
                <a:latin typeface="Courier New" pitchFamily="49" charset="0"/>
                <a:cs typeface="Times" pitchFamily="-32" charset="0"/>
              </a:rPr>
              <a:t>    </a:t>
            </a:r>
            <a:r>
              <a:rPr lang="en-US" b="1" i="1" dirty="0">
                <a:solidFill>
                  <a:srgbClr val="00B050"/>
                </a:solidFill>
                <a:latin typeface="Courier New" pitchFamily="49" charset="0"/>
                <a:cs typeface="Times" pitchFamily="-32" charset="0"/>
              </a:rPr>
              <a:t>Do these statements if the test gave a false result</a:t>
            </a:r>
            <a:endParaRPr lang="en-US" b="1" dirty="0">
              <a:solidFill>
                <a:srgbClr val="00B050"/>
              </a:solidFill>
              <a:latin typeface="Courier New" pitchFamily="49" charset="0"/>
              <a:cs typeface="Times" pitchFamily="-32" charset="0"/>
            </a:endParaRPr>
          </a:p>
          <a:p>
            <a:pPr algn="l" eaLnBrk="1" hangingPunct="1"/>
            <a:r>
              <a:rPr lang="en-US" b="1" dirty="0">
                <a:latin typeface="Courier New" pitchFamily="49" charset="0"/>
                <a:cs typeface="Times" pitchFamily="-32" charset="0"/>
              </a:rPr>
              <a:t>}</a:t>
            </a:r>
            <a:r>
              <a:rPr lang="en-US" b="1" dirty="0">
                <a:latin typeface="Courier New" pitchFamily="49" charset="0"/>
              </a:rPr>
              <a:t> </a:t>
            </a:r>
          </a:p>
        </p:txBody>
      </p:sp>
      <p:sp>
        <p:nvSpPr>
          <p:cNvPr id="24580" name="Text Box 4"/>
          <p:cNvSpPr txBox="1">
            <a:spLocks noChangeArrowheads="1"/>
          </p:cNvSpPr>
          <p:nvPr/>
        </p:nvSpPr>
        <p:spPr bwMode="auto">
          <a:xfrm>
            <a:off x="2438401" y="2055813"/>
            <a:ext cx="140987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2000" dirty="0">
                <a:solidFill>
                  <a:srgbClr val="A57133"/>
                </a:solidFill>
              </a:rPr>
              <a:t>‘if’ keyword</a:t>
            </a:r>
          </a:p>
        </p:txBody>
      </p:sp>
      <p:sp>
        <p:nvSpPr>
          <p:cNvPr id="24581" name="Text Box 5"/>
          <p:cNvSpPr txBox="1">
            <a:spLocks noChangeArrowheads="1"/>
          </p:cNvSpPr>
          <p:nvPr/>
        </p:nvSpPr>
        <p:spPr bwMode="auto">
          <a:xfrm>
            <a:off x="4572000" y="1905001"/>
            <a:ext cx="38100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 eaLnBrk="1" hangingPunct="1"/>
            <a:r>
              <a:rPr lang="en-US" sz="2000" dirty="0" err="1">
                <a:solidFill>
                  <a:srgbClr val="A57133"/>
                </a:solidFill>
              </a:rPr>
              <a:t>boolean</a:t>
            </a:r>
            <a:r>
              <a:rPr lang="en-US" sz="2000" dirty="0">
                <a:solidFill>
                  <a:srgbClr val="A57133"/>
                </a:solidFill>
              </a:rPr>
              <a:t> condition to be tested</a:t>
            </a:r>
            <a:endParaRPr lang="en-US" sz="2000" dirty="0">
              <a:solidFill>
                <a:srgbClr val="A57133"/>
              </a:solidFill>
              <a:latin typeface="Times New Roman" pitchFamily="18" charset="0"/>
            </a:endParaRPr>
          </a:p>
        </p:txBody>
      </p:sp>
      <p:sp>
        <p:nvSpPr>
          <p:cNvPr id="24582" name="Text Box 6"/>
          <p:cNvSpPr txBox="1">
            <a:spLocks noChangeArrowheads="1"/>
          </p:cNvSpPr>
          <p:nvPr/>
        </p:nvSpPr>
        <p:spPr bwMode="auto">
          <a:xfrm>
            <a:off x="6781801" y="2513013"/>
            <a:ext cx="289489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2000" dirty="0">
                <a:solidFill>
                  <a:srgbClr val="A57133"/>
                </a:solidFill>
              </a:rPr>
              <a:t>actions if condition is </a:t>
            </a:r>
            <a:r>
              <a:rPr lang="en-US" sz="2000" b="1" dirty="0">
                <a:solidFill>
                  <a:srgbClr val="A57133"/>
                </a:solidFill>
              </a:rPr>
              <a:t>true</a:t>
            </a:r>
          </a:p>
        </p:txBody>
      </p:sp>
      <p:sp>
        <p:nvSpPr>
          <p:cNvPr id="24583" name="Text Box 7"/>
          <p:cNvSpPr txBox="1">
            <a:spLocks noChangeArrowheads="1"/>
          </p:cNvSpPr>
          <p:nvPr/>
        </p:nvSpPr>
        <p:spPr bwMode="auto">
          <a:xfrm>
            <a:off x="6477000" y="5103814"/>
            <a:ext cx="3352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 eaLnBrk="1" hangingPunct="1"/>
            <a:r>
              <a:rPr lang="en-US" sz="2000" dirty="0">
                <a:solidFill>
                  <a:srgbClr val="A57133"/>
                </a:solidFill>
              </a:rPr>
              <a:t>actions if condition is </a:t>
            </a:r>
            <a:r>
              <a:rPr lang="en-US" sz="2000" b="1" dirty="0">
                <a:solidFill>
                  <a:srgbClr val="A57133"/>
                </a:solidFill>
              </a:rPr>
              <a:t>false</a:t>
            </a:r>
          </a:p>
        </p:txBody>
      </p:sp>
      <p:sp>
        <p:nvSpPr>
          <p:cNvPr id="24584" name="Text Box 8"/>
          <p:cNvSpPr txBox="1">
            <a:spLocks noChangeArrowheads="1"/>
          </p:cNvSpPr>
          <p:nvPr/>
        </p:nvSpPr>
        <p:spPr bwMode="auto">
          <a:xfrm>
            <a:off x="2590800" y="5256213"/>
            <a:ext cx="166423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2000">
                <a:solidFill>
                  <a:srgbClr val="A57133"/>
                </a:solidFill>
              </a:rPr>
              <a:t>‘else’ keyword</a:t>
            </a:r>
          </a:p>
        </p:txBody>
      </p:sp>
      <p:sp>
        <p:nvSpPr>
          <p:cNvPr id="24585" name="Line 9"/>
          <p:cNvSpPr>
            <a:spLocks noChangeShapeType="1"/>
          </p:cNvSpPr>
          <p:nvPr/>
        </p:nvSpPr>
        <p:spPr bwMode="auto">
          <a:xfrm flipH="1">
            <a:off x="2667000" y="2438400"/>
            <a:ext cx="3048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/>
          </a:p>
        </p:txBody>
      </p:sp>
      <p:sp>
        <p:nvSpPr>
          <p:cNvPr id="24586" name="Line 10"/>
          <p:cNvSpPr>
            <a:spLocks noChangeShapeType="1"/>
          </p:cNvSpPr>
          <p:nvPr/>
        </p:nvSpPr>
        <p:spPr bwMode="auto">
          <a:xfrm flipH="1" flipV="1">
            <a:off x="2743200" y="4267200"/>
            <a:ext cx="1524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/>
          </a:p>
        </p:txBody>
      </p:sp>
      <p:sp>
        <p:nvSpPr>
          <p:cNvPr id="24587" name="Line 11"/>
          <p:cNvSpPr>
            <a:spLocks noChangeShapeType="1"/>
          </p:cNvSpPr>
          <p:nvPr/>
        </p:nvSpPr>
        <p:spPr bwMode="auto">
          <a:xfrm flipH="1">
            <a:off x="4267200" y="2286000"/>
            <a:ext cx="19050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/>
          </a:p>
        </p:txBody>
      </p:sp>
      <p:sp>
        <p:nvSpPr>
          <p:cNvPr id="24588" name="Line 12"/>
          <p:cNvSpPr>
            <a:spLocks noChangeShapeType="1"/>
          </p:cNvSpPr>
          <p:nvPr/>
        </p:nvSpPr>
        <p:spPr bwMode="auto">
          <a:xfrm flipH="1">
            <a:off x="7696200" y="2895600"/>
            <a:ext cx="457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/>
          </a:p>
        </p:txBody>
      </p:sp>
      <p:sp>
        <p:nvSpPr>
          <p:cNvPr id="24589" name="Line 13"/>
          <p:cNvSpPr>
            <a:spLocks noChangeShapeType="1"/>
          </p:cNvSpPr>
          <p:nvPr/>
        </p:nvSpPr>
        <p:spPr bwMode="auto">
          <a:xfrm flipH="1" flipV="1">
            <a:off x="7010400" y="4648200"/>
            <a:ext cx="6858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 b="1"/>
          </a:p>
        </p:txBody>
      </p:sp>
      <p:sp>
        <p:nvSpPr>
          <p:cNvPr id="24592" name="Rectangle 16"/>
          <p:cNvSpPr>
            <a:spLocks noChangeArrowheads="1"/>
          </p:cNvSpPr>
          <p:nvPr/>
        </p:nvSpPr>
        <p:spPr bwMode="auto">
          <a:xfrm>
            <a:off x="2895600" y="4243388"/>
            <a:ext cx="7239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E" b="1"/>
          </a:p>
        </p:txBody>
      </p:sp>
      <p:sp>
        <p:nvSpPr>
          <p:cNvPr id="24593" name="Rectangle 17"/>
          <p:cNvSpPr>
            <a:spLocks noChangeArrowheads="1"/>
          </p:cNvSpPr>
          <p:nvPr/>
        </p:nvSpPr>
        <p:spPr bwMode="auto">
          <a:xfrm>
            <a:off x="2895600" y="3429000"/>
            <a:ext cx="7239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E" b="1"/>
          </a:p>
        </p:txBody>
      </p:sp>
      <p:sp>
        <p:nvSpPr>
          <p:cNvPr id="16" name="Rectangle 15"/>
          <p:cNvSpPr/>
          <p:nvPr/>
        </p:nvSpPr>
        <p:spPr>
          <a:xfrm>
            <a:off x="2057400" y="1752600"/>
            <a:ext cx="8305800" cy="4419600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89036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0" grpId="0"/>
      <p:bldP spid="24581" grpId="0"/>
      <p:bldP spid="24582" grpId="0"/>
      <p:bldP spid="24583" grpId="0"/>
      <p:bldP spid="24584" grpId="0"/>
      <p:bldP spid="24585" grpId="0" animBg="1"/>
      <p:bldP spid="24586" grpId="0" animBg="1"/>
      <p:bldP spid="24587" grpId="0" animBg="1"/>
      <p:bldP spid="24588" grpId="0" animBg="1"/>
      <p:bldP spid="2458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en-US" altLang="en-US" sz="4000" dirty="0">
                <a:ea typeface="MS PGothic" charset="-128"/>
              </a:rPr>
              <a:t>Making a choice in the ticket machine (2)</a:t>
            </a:r>
          </a:p>
        </p:txBody>
      </p:sp>
      <p:sp>
        <p:nvSpPr>
          <p:cNvPr id="72707" name="Text Box 4"/>
          <p:cNvSpPr txBox="1">
            <a:spLocks noChangeArrowheads="1"/>
          </p:cNvSpPr>
          <p:nvPr/>
        </p:nvSpPr>
        <p:spPr bwMode="auto">
          <a:xfrm>
            <a:off x="1631504" y="1844824"/>
            <a:ext cx="7742825" cy="41549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solidFill>
                  <a:schemeClr val="tx1"/>
                </a:solidFill>
                <a:latin typeface="Courier New" charset="0"/>
              </a:rPr>
              <a:t>public void </a:t>
            </a:r>
            <a:r>
              <a:rPr lang="en-US" altLang="en-US" sz="2400" err="1">
                <a:solidFill>
                  <a:schemeClr val="tx1"/>
                </a:solidFill>
                <a:latin typeface="Courier New" charset="0"/>
              </a:rPr>
              <a:t>insertMoney</a:t>
            </a:r>
            <a:r>
              <a:rPr lang="en-US" altLang="en-US" sz="2400">
                <a:solidFill>
                  <a:schemeClr val="tx1"/>
                </a:solidFill>
                <a:latin typeface="Courier New" charset="0"/>
              </a:rPr>
              <a:t>(</a:t>
            </a:r>
            <a:r>
              <a:rPr lang="en-US" altLang="en-US" sz="2400" err="1">
                <a:solidFill>
                  <a:schemeClr val="tx1"/>
                </a:solidFill>
                <a:latin typeface="Courier New" charset="0"/>
              </a:rPr>
              <a:t>int</a:t>
            </a:r>
            <a:r>
              <a:rPr lang="en-US" altLang="en-US" sz="2400">
                <a:solidFill>
                  <a:schemeClr val="tx1"/>
                </a:solidFill>
                <a:latin typeface="Courier New" charset="0"/>
              </a:rPr>
              <a:t> amount)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solidFill>
                  <a:schemeClr val="tx1"/>
                </a:solidFill>
                <a:latin typeface="Courier New" charset="0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solidFill>
                  <a:schemeClr val="tx1"/>
                </a:solidFill>
                <a:latin typeface="Courier New" charset="0"/>
              </a:rPr>
              <a:t>    if(amount &gt; 0) 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solidFill>
                  <a:schemeClr val="tx1"/>
                </a:solidFill>
                <a:latin typeface="Courier New" charset="0"/>
              </a:rPr>
              <a:t>        balance = balance + amount;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solidFill>
                  <a:schemeClr val="tx1"/>
                </a:solidFill>
                <a:latin typeface="Courier New" charset="0"/>
              </a:rPr>
              <a:t>    }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solidFill>
                  <a:schemeClr val="tx1"/>
                </a:solidFill>
                <a:latin typeface="Courier New" charset="0"/>
              </a:rPr>
              <a:t>    else 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solidFill>
                  <a:schemeClr val="tx1"/>
                </a:solidFill>
                <a:latin typeface="Courier New" charset="0"/>
              </a:rPr>
              <a:t>        </a:t>
            </a:r>
            <a:r>
              <a:rPr lang="en-US" altLang="en-US" sz="2400" err="1">
                <a:solidFill>
                  <a:schemeClr val="tx1"/>
                </a:solidFill>
                <a:latin typeface="Courier New" charset="0"/>
              </a:rPr>
              <a:t>System.out.printf</a:t>
            </a:r>
            <a:r>
              <a:rPr lang="en-US" altLang="en-US" sz="2400">
                <a:solidFill>
                  <a:schemeClr val="tx1"/>
                </a:solidFill>
                <a:latin typeface="Courier New" charset="0"/>
              </a:rPr>
              <a:t>(</a:t>
            </a:r>
            <a:br>
              <a:rPr lang="en-US" altLang="en-US" sz="2400">
                <a:solidFill>
                  <a:schemeClr val="tx1"/>
                </a:solidFill>
                <a:latin typeface="Courier New" charset="0"/>
              </a:rPr>
            </a:br>
            <a:r>
              <a:rPr lang="en-US" altLang="en-US" sz="2400">
                <a:solidFill>
                  <a:schemeClr val="tx1"/>
                </a:solidFill>
                <a:latin typeface="Courier New" charset="0"/>
              </a:rPr>
              <a:t>           "Use a positive amount: %</a:t>
            </a:r>
            <a:r>
              <a:rPr lang="en-US" altLang="en-US" sz="2400" err="1">
                <a:solidFill>
                  <a:schemeClr val="tx1"/>
                </a:solidFill>
                <a:latin typeface="Courier New" charset="0"/>
              </a:rPr>
              <a:t>d%n</a:t>
            </a:r>
            <a:r>
              <a:rPr lang="en-US" altLang="en-US" sz="2400">
                <a:solidFill>
                  <a:schemeClr val="tx1"/>
                </a:solidFill>
                <a:latin typeface="Courier New" charset="0"/>
              </a:rPr>
              <a:t>",</a:t>
            </a:r>
            <a:br>
              <a:rPr lang="en-US" altLang="en-US" sz="2400">
                <a:solidFill>
                  <a:schemeClr val="tx1"/>
                </a:solidFill>
                <a:latin typeface="Courier New" charset="0"/>
              </a:rPr>
            </a:br>
            <a:r>
              <a:rPr lang="en-US" altLang="en-US" sz="2400">
                <a:solidFill>
                  <a:schemeClr val="tx1"/>
                </a:solidFill>
                <a:latin typeface="Courier New" charset="0"/>
              </a:rPr>
              <a:t>            amount);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solidFill>
                  <a:schemeClr val="tx1"/>
                </a:solidFill>
                <a:latin typeface="Courier New" charset="0"/>
              </a:rPr>
              <a:t>    }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solidFill>
                  <a:schemeClr val="tx1"/>
                </a:solidFill>
                <a:latin typeface="Courier New" charset="0"/>
              </a:rPr>
              <a:t>}</a:t>
            </a:r>
            <a:r>
              <a:rPr lang="en-US" altLang="en-US" sz="2000">
                <a:solidFill>
                  <a:schemeClr val="tx1"/>
                </a:solidFill>
                <a:latin typeface="Courier New" charset="0"/>
              </a:rPr>
              <a:t>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817671" y="5661248"/>
            <a:ext cx="5513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the conditional statement avoids an inappropriate action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58DDF6-29CC-488C-2927-B2CF39E848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8528" y="363485"/>
            <a:ext cx="953541" cy="1026459"/>
          </a:xfrm>
          <a:prstGeom prst="rect">
            <a:avLst/>
          </a:prstGeom>
          <a:noFill/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A519C-088B-71A0-55F9-1DE850CD5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2">
            <a:extLst>
              <a:ext uri="{FF2B5EF4-FFF2-40B4-BE49-F238E27FC236}">
                <a16:creationId xmlns:a16="http://schemas.microsoft.com/office/drawing/2014/main" id="{CE71C172-2413-DFCA-2FB5-3F7C55A086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 anchor="ctr">
            <a:normAutofit/>
          </a:bodyPr>
          <a:lstStyle/>
          <a:p>
            <a:r>
              <a:rPr lang="en-GB" altLang="en-US" dirty="0"/>
              <a:t>Making choices in everyday life (3)</a:t>
            </a:r>
          </a:p>
        </p:txBody>
      </p:sp>
      <p:sp>
        <p:nvSpPr>
          <p:cNvPr id="68610" name="Rectangle 3">
            <a:extLst>
              <a:ext uri="{FF2B5EF4-FFF2-40B4-BE49-F238E27FC236}">
                <a16:creationId xmlns:a16="http://schemas.microsoft.com/office/drawing/2014/main" id="{1E67BD42-8EF1-DD0E-145F-3FF7AD4975E5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609600" y="1600201"/>
            <a:ext cx="4857392" cy="4525963"/>
          </a:xfrm>
        </p:spPr>
        <p:txBody>
          <a:bodyPr>
            <a:normAutofit/>
          </a:bodyPr>
          <a:lstStyle/>
          <a:p>
            <a:r>
              <a:rPr lang="en-GB" altLang="en-US" sz="3200" dirty="0"/>
              <a:t>If I have an assignment to complete, then I shall work on my assignment</a:t>
            </a:r>
          </a:p>
          <a:p>
            <a:r>
              <a:rPr lang="en-GB" altLang="en-US" sz="3200" dirty="0"/>
              <a:t>Otherwise </a:t>
            </a:r>
            <a:r>
              <a:rPr lang="en-IE" altLang="en-US" sz="3200" dirty="0"/>
              <a:t>if I am a member of a gym, go to the gym</a:t>
            </a:r>
          </a:p>
          <a:p>
            <a:r>
              <a:rPr lang="en-IE" sz="3200" dirty="0"/>
              <a:t>Otherwise I will go for a run</a:t>
            </a:r>
            <a:endParaRPr lang="en-US" dirty="0"/>
          </a:p>
          <a:p>
            <a:endParaRPr lang="en-GB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93418C-AD97-5D99-1130-1CAF2694E733}"/>
              </a:ext>
            </a:extLst>
          </p:cNvPr>
          <p:cNvSpPr txBox="1"/>
          <p:nvPr/>
        </p:nvSpPr>
        <p:spPr>
          <a:xfrm>
            <a:off x="7800563" y="2632713"/>
            <a:ext cx="271010" cy="4009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8C2B05F-789E-9A0D-4094-2DBBAD885E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8528" y="363485"/>
            <a:ext cx="953541" cy="1026459"/>
          </a:xfrm>
          <a:prstGeom prst="rect">
            <a:avLst/>
          </a:prstGeom>
          <a:noFill/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65D3738C-BD9E-4240-BB18-D46D617922B9}"/>
              </a:ext>
            </a:extLst>
          </p:cNvPr>
          <p:cNvGrpSpPr/>
          <p:nvPr/>
        </p:nvGrpSpPr>
        <p:grpSpPr>
          <a:xfrm>
            <a:off x="6094160" y="1817263"/>
            <a:ext cx="4968552" cy="4987921"/>
            <a:chOff x="4367808" y="1772817"/>
            <a:chExt cx="4968552" cy="4987921"/>
          </a:xfrm>
        </p:grpSpPr>
        <p:sp>
          <p:nvSpPr>
            <p:cNvPr id="3" name="Decision 2">
              <a:extLst>
                <a:ext uri="{FF2B5EF4-FFF2-40B4-BE49-F238E27FC236}">
                  <a16:creationId xmlns:a16="http://schemas.microsoft.com/office/drawing/2014/main" id="{14BFD934-8BF7-C0EB-A471-32C431055967}"/>
                </a:ext>
              </a:extLst>
            </p:cNvPr>
            <p:cNvSpPr/>
            <p:nvPr/>
          </p:nvSpPr>
          <p:spPr>
            <a:xfrm>
              <a:off x="4367808" y="1772817"/>
              <a:ext cx="1901028" cy="1291974"/>
            </a:xfrm>
            <a:prstGeom prst="flowChartDecision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87552">
                <a:spcAft>
                  <a:spcPts val="600"/>
                </a:spcAft>
              </a:pPr>
              <a:r>
                <a:rPr lang="en-US" sz="1944" kern="1200" dirty="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Have I work to do? </a:t>
              </a:r>
              <a:endParaRPr lang="en-US" dirty="0"/>
            </a:p>
          </p:txBody>
        </p:sp>
        <p:sp>
          <p:nvSpPr>
            <p:cNvPr id="4" name="Right Arrow 3">
              <a:extLst>
                <a:ext uri="{FF2B5EF4-FFF2-40B4-BE49-F238E27FC236}">
                  <a16:creationId xmlns:a16="http://schemas.microsoft.com/office/drawing/2014/main" id="{667F6C9B-5CD1-022D-FEA3-6C5A9C4009CB}"/>
                </a:ext>
              </a:extLst>
            </p:cNvPr>
            <p:cNvSpPr/>
            <p:nvPr/>
          </p:nvSpPr>
          <p:spPr>
            <a:xfrm>
              <a:off x="6269022" y="2194681"/>
              <a:ext cx="1523523" cy="409085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87552">
                <a:spcAft>
                  <a:spcPts val="600"/>
                </a:spcAft>
              </a:pPr>
              <a:r>
                <a:rPr lang="en-US" sz="1944" kern="1200" dirty="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Yes</a:t>
              </a:r>
              <a:endParaRPr lang="en-US" dirty="0"/>
            </a:p>
          </p:txBody>
        </p:sp>
        <p:sp>
          <p:nvSpPr>
            <p:cNvPr id="6" name="Process 5">
              <a:extLst>
                <a:ext uri="{FF2B5EF4-FFF2-40B4-BE49-F238E27FC236}">
                  <a16:creationId xmlns:a16="http://schemas.microsoft.com/office/drawing/2014/main" id="{8ECD6C22-EA17-CBEC-15A9-C8E82D94A83B}"/>
                </a:ext>
              </a:extLst>
            </p:cNvPr>
            <p:cNvSpPr/>
            <p:nvPr/>
          </p:nvSpPr>
          <p:spPr>
            <a:xfrm>
              <a:off x="7812837" y="1993143"/>
              <a:ext cx="1523523" cy="812160"/>
            </a:xfrm>
            <a:prstGeom prst="flowChart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87552">
                <a:spcAft>
                  <a:spcPts val="600"/>
                </a:spcAft>
              </a:pPr>
              <a:r>
                <a:rPr lang="en-US" sz="1944" dirty="0"/>
                <a:t>Just Do it!</a:t>
              </a:r>
              <a:endParaRPr lang="en-US" dirty="0"/>
            </a:p>
          </p:txBody>
        </p:sp>
        <p:sp>
          <p:nvSpPr>
            <p:cNvPr id="2" name="Decision 1">
              <a:extLst>
                <a:ext uri="{FF2B5EF4-FFF2-40B4-BE49-F238E27FC236}">
                  <a16:creationId xmlns:a16="http://schemas.microsoft.com/office/drawing/2014/main" id="{8124FB81-879C-11B2-1770-31C91EC3E381}"/>
                </a:ext>
              </a:extLst>
            </p:cNvPr>
            <p:cNvSpPr/>
            <p:nvPr/>
          </p:nvSpPr>
          <p:spPr>
            <a:xfrm>
              <a:off x="4497940" y="4127676"/>
              <a:ext cx="1640762" cy="1101525"/>
            </a:xfrm>
            <a:prstGeom prst="flowChartDecision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87552">
                <a:spcAft>
                  <a:spcPts val="600"/>
                </a:spcAft>
              </a:pPr>
              <a:r>
                <a:rPr lang="en-US" sz="1400" kern="1200" dirty="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Am I a member of a gym?</a:t>
              </a:r>
              <a:endParaRPr lang="en-US" sz="1400" dirty="0"/>
            </a:p>
          </p:txBody>
        </p:sp>
        <p:sp>
          <p:nvSpPr>
            <p:cNvPr id="11" name="Right Arrow 10">
              <a:extLst>
                <a:ext uri="{FF2B5EF4-FFF2-40B4-BE49-F238E27FC236}">
                  <a16:creationId xmlns:a16="http://schemas.microsoft.com/office/drawing/2014/main" id="{5D6AFEEC-2A75-76EE-462A-386672190E51}"/>
                </a:ext>
              </a:extLst>
            </p:cNvPr>
            <p:cNvSpPr/>
            <p:nvPr/>
          </p:nvSpPr>
          <p:spPr>
            <a:xfrm>
              <a:off x="6145724" y="4473896"/>
              <a:ext cx="1523523" cy="409085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87552">
                <a:spcAft>
                  <a:spcPts val="600"/>
                </a:spcAft>
              </a:pPr>
              <a:r>
                <a:rPr lang="en-US" sz="1944" kern="1200" dirty="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Yes</a:t>
              </a:r>
              <a:endParaRPr lang="en-US" dirty="0"/>
            </a:p>
          </p:txBody>
        </p:sp>
        <p:sp>
          <p:nvSpPr>
            <p:cNvPr id="13" name="Process 12">
              <a:extLst>
                <a:ext uri="{FF2B5EF4-FFF2-40B4-BE49-F238E27FC236}">
                  <a16:creationId xmlns:a16="http://schemas.microsoft.com/office/drawing/2014/main" id="{7B95F671-5258-E198-391E-4513EDEA89D1}"/>
                </a:ext>
              </a:extLst>
            </p:cNvPr>
            <p:cNvSpPr/>
            <p:nvPr/>
          </p:nvSpPr>
          <p:spPr>
            <a:xfrm>
              <a:off x="7676268" y="4272357"/>
              <a:ext cx="1523523" cy="812160"/>
            </a:xfrm>
            <a:prstGeom prst="flowChart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87552">
                <a:spcAft>
                  <a:spcPts val="600"/>
                </a:spcAft>
              </a:pPr>
              <a:r>
                <a:rPr lang="en-US" sz="1944" kern="1200" dirty="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Go to the gym</a:t>
              </a:r>
              <a:endParaRPr lang="en-US" dirty="0"/>
            </a:p>
          </p:txBody>
        </p:sp>
        <p:sp>
          <p:nvSpPr>
            <p:cNvPr id="17" name="Right Arrow 16">
              <a:extLst>
                <a:ext uri="{FF2B5EF4-FFF2-40B4-BE49-F238E27FC236}">
                  <a16:creationId xmlns:a16="http://schemas.microsoft.com/office/drawing/2014/main" id="{EB47B363-2D10-C825-AAA5-36E4B71115DB}"/>
                </a:ext>
              </a:extLst>
            </p:cNvPr>
            <p:cNvSpPr/>
            <p:nvPr/>
          </p:nvSpPr>
          <p:spPr>
            <a:xfrm rot="5400000">
              <a:off x="4866667" y="5525353"/>
              <a:ext cx="903141" cy="298485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87552">
                <a:spcAft>
                  <a:spcPts val="600"/>
                </a:spcAft>
              </a:pPr>
              <a:r>
                <a:rPr lang="en-US" sz="1944" kern="1200" dirty="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No</a:t>
              </a:r>
              <a:endParaRPr lang="en-US" dirty="0"/>
            </a:p>
          </p:txBody>
        </p:sp>
        <p:sp>
          <p:nvSpPr>
            <p:cNvPr id="18" name="Right Arrow 17">
              <a:extLst>
                <a:ext uri="{FF2B5EF4-FFF2-40B4-BE49-F238E27FC236}">
                  <a16:creationId xmlns:a16="http://schemas.microsoft.com/office/drawing/2014/main" id="{F6F9178F-88E1-5E88-20BE-94D7EE42DB21}"/>
                </a:ext>
              </a:extLst>
            </p:cNvPr>
            <p:cNvSpPr/>
            <p:nvPr/>
          </p:nvSpPr>
          <p:spPr>
            <a:xfrm rot="5400000">
              <a:off x="4778011" y="3302660"/>
              <a:ext cx="1101526" cy="625788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87552">
                <a:spcAft>
                  <a:spcPts val="600"/>
                </a:spcAft>
              </a:pPr>
              <a:r>
                <a:rPr lang="en-US" sz="1944" kern="1200" dirty="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No</a:t>
              </a:r>
              <a:endParaRPr lang="en-US" dirty="0"/>
            </a:p>
          </p:txBody>
        </p:sp>
        <p:sp>
          <p:nvSpPr>
            <p:cNvPr id="31" name="Process 30">
              <a:extLst>
                <a:ext uri="{FF2B5EF4-FFF2-40B4-BE49-F238E27FC236}">
                  <a16:creationId xmlns:a16="http://schemas.microsoft.com/office/drawing/2014/main" id="{D8315F1E-C916-1F6D-41C1-6C4EB638A79C}"/>
                </a:ext>
              </a:extLst>
            </p:cNvPr>
            <p:cNvSpPr/>
            <p:nvPr/>
          </p:nvSpPr>
          <p:spPr>
            <a:xfrm>
              <a:off x="4560413" y="6148090"/>
              <a:ext cx="1523523" cy="612648"/>
            </a:xfrm>
            <a:prstGeom prst="flowChart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Go for a run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95121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Statement Syntax (3) </a:t>
            </a:r>
          </a:p>
        </p:txBody>
      </p:sp>
      <p:sp>
        <p:nvSpPr>
          <p:cNvPr id="24579" name="Text Box 3"/>
          <p:cNvSpPr txBox="1">
            <a:spLocks noChangeArrowheads="1"/>
          </p:cNvSpPr>
          <p:nvPr/>
        </p:nvSpPr>
        <p:spPr bwMode="auto">
          <a:xfrm>
            <a:off x="2162533" y="1897082"/>
            <a:ext cx="7904728" cy="397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b="1" dirty="0">
                <a:latin typeface="Courier New" pitchFamily="49" charset="0"/>
                <a:cs typeface="Times" pitchFamily="-32" charset="0"/>
              </a:rPr>
              <a:t>if(</a:t>
            </a:r>
            <a:r>
              <a:rPr lang="en-US" b="1" i="1" dirty="0">
                <a:solidFill>
                  <a:srgbClr val="C81D2B"/>
                </a:solidFill>
                <a:latin typeface="Courier New" pitchFamily="49" charset="0"/>
                <a:cs typeface="Times" pitchFamily="-32" charset="0"/>
              </a:rPr>
              <a:t>condition1…perform some test</a:t>
            </a:r>
            <a:r>
              <a:rPr lang="en-US" b="1" dirty="0">
                <a:latin typeface="Courier New" pitchFamily="49" charset="0"/>
                <a:cs typeface="Times" pitchFamily="-32" charset="0"/>
              </a:rPr>
              <a:t>) </a:t>
            </a:r>
          </a:p>
          <a:p>
            <a:pPr algn="l" eaLnBrk="1" hangingPunct="1"/>
            <a:r>
              <a:rPr lang="en-US" b="1" dirty="0">
                <a:latin typeface="Courier New" pitchFamily="49" charset="0"/>
                <a:cs typeface="Times" pitchFamily="-32" charset="0"/>
              </a:rPr>
              <a:t>{</a:t>
            </a:r>
          </a:p>
          <a:p>
            <a:pPr algn="l" eaLnBrk="1" hangingPunct="1"/>
            <a:r>
              <a:rPr lang="en-US" b="1" dirty="0">
                <a:latin typeface="Courier New" pitchFamily="49" charset="0"/>
                <a:cs typeface="Times" pitchFamily="-32" charset="0"/>
              </a:rPr>
              <a:t>    </a:t>
            </a:r>
            <a:r>
              <a:rPr lang="en-US" b="1" i="1" dirty="0">
                <a:solidFill>
                  <a:srgbClr val="00B050"/>
                </a:solidFill>
                <a:latin typeface="Courier New" pitchFamily="49" charset="0"/>
                <a:cs typeface="Times" pitchFamily="-32" charset="0"/>
              </a:rPr>
              <a:t>Do these statements if condition1 gave a true result</a:t>
            </a:r>
            <a:endParaRPr lang="en-US" b="1" dirty="0">
              <a:solidFill>
                <a:srgbClr val="00B050"/>
              </a:solidFill>
              <a:latin typeface="Courier New" pitchFamily="49" charset="0"/>
              <a:cs typeface="Times" pitchFamily="-32" charset="0"/>
            </a:endParaRPr>
          </a:p>
          <a:p>
            <a:pPr algn="l" eaLnBrk="1" hangingPunct="1"/>
            <a:r>
              <a:rPr lang="en-US" b="1" dirty="0">
                <a:latin typeface="Courier New" pitchFamily="49" charset="0"/>
                <a:cs typeface="Times" pitchFamily="-32" charset="0"/>
              </a:rPr>
              <a:t>}</a:t>
            </a:r>
          </a:p>
          <a:p>
            <a:r>
              <a:rPr lang="en-US" b="1" dirty="0">
                <a:latin typeface="Courier New" pitchFamily="49" charset="0"/>
                <a:cs typeface="Times" pitchFamily="-32" charset="0"/>
              </a:rPr>
              <a:t>else if(</a:t>
            </a:r>
            <a:r>
              <a:rPr lang="en-US" b="1" i="1" dirty="0">
                <a:solidFill>
                  <a:srgbClr val="C81D2B"/>
                </a:solidFill>
                <a:latin typeface="Courier New" pitchFamily="49" charset="0"/>
                <a:cs typeface="Times" pitchFamily="-32" charset="0"/>
              </a:rPr>
              <a:t>condition2…perform some test</a:t>
            </a:r>
            <a:r>
              <a:rPr lang="en-US" b="1" dirty="0">
                <a:latin typeface="Courier New" pitchFamily="49" charset="0"/>
                <a:cs typeface="Times" pitchFamily="-32" charset="0"/>
              </a:rPr>
              <a:t>) </a:t>
            </a:r>
          </a:p>
          <a:p>
            <a:r>
              <a:rPr lang="en-US" b="1" dirty="0">
                <a:latin typeface="Courier New" pitchFamily="49" charset="0"/>
                <a:cs typeface="Times" pitchFamily="-32" charset="0"/>
              </a:rPr>
              <a:t>{</a:t>
            </a:r>
          </a:p>
          <a:p>
            <a:pPr algn="l" eaLnBrk="1" hangingPunct="1"/>
            <a:r>
              <a:rPr lang="en-US" b="1" dirty="0">
                <a:latin typeface="Courier New" pitchFamily="49" charset="0"/>
                <a:cs typeface="Times" pitchFamily="-32" charset="0"/>
              </a:rPr>
              <a:t>    </a:t>
            </a:r>
            <a:r>
              <a:rPr lang="en-US" b="1" i="1" dirty="0">
                <a:solidFill>
                  <a:srgbClr val="00B050"/>
                </a:solidFill>
                <a:latin typeface="Courier New" pitchFamily="49" charset="0"/>
                <a:cs typeface="Times" pitchFamily="-32" charset="0"/>
              </a:rPr>
              <a:t>Do these statements if condition1 gave a false </a:t>
            </a:r>
            <a:br>
              <a:rPr lang="en-US" b="1" i="1" dirty="0">
                <a:solidFill>
                  <a:srgbClr val="00B050"/>
                </a:solidFill>
                <a:latin typeface="Courier New" pitchFamily="49" charset="0"/>
                <a:cs typeface="Times" pitchFamily="-32" charset="0"/>
              </a:rPr>
            </a:br>
            <a:r>
              <a:rPr lang="en-US" b="1" i="1" dirty="0">
                <a:solidFill>
                  <a:srgbClr val="00B050"/>
                </a:solidFill>
                <a:latin typeface="Courier New" pitchFamily="49" charset="0"/>
                <a:cs typeface="Times" pitchFamily="-32" charset="0"/>
              </a:rPr>
              <a:t>    result and condition2 gave a true result</a:t>
            </a:r>
            <a:endParaRPr lang="en-US" b="1" dirty="0">
              <a:solidFill>
                <a:srgbClr val="00B050"/>
              </a:solidFill>
              <a:latin typeface="Courier New" pitchFamily="49" charset="0"/>
              <a:cs typeface="Times" pitchFamily="-32" charset="0"/>
            </a:endParaRPr>
          </a:p>
          <a:p>
            <a:pPr algn="l" eaLnBrk="1" hangingPunct="1"/>
            <a:r>
              <a:rPr lang="en-US" b="1" dirty="0">
                <a:latin typeface="Courier New" pitchFamily="49" charset="0"/>
                <a:cs typeface="Times" pitchFamily="-32" charset="0"/>
              </a:rPr>
              <a:t>}</a:t>
            </a:r>
            <a:r>
              <a:rPr lang="en-US" b="1" dirty="0">
                <a:latin typeface="Courier New" pitchFamily="49" charset="0"/>
              </a:rPr>
              <a:t> </a:t>
            </a:r>
          </a:p>
          <a:p>
            <a:pPr algn="l" eaLnBrk="1" hangingPunct="1"/>
            <a:r>
              <a:rPr lang="en-US" b="1" dirty="0">
                <a:latin typeface="Courier New" pitchFamily="49" charset="0"/>
              </a:rPr>
              <a:t>else</a:t>
            </a:r>
          </a:p>
          <a:p>
            <a:pPr algn="l" eaLnBrk="1" hangingPunct="1"/>
            <a:r>
              <a:rPr lang="en-US" b="1" dirty="0">
                <a:latin typeface="Courier New" pitchFamily="49" charset="0"/>
              </a:rPr>
              <a:t>{</a:t>
            </a:r>
          </a:p>
          <a:p>
            <a:r>
              <a:rPr lang="en-US" b="1" i="1" dirty="0">
                <a:solidFill>
                  <a:srgbClr val="C81D2B"/>
                </a:solidFill>
                <a:latin typeface="Courier New" pitchFamily="49" charset="0"/>
                <a:cs typeface="Times" pitchFamily="-32" charset="0"/>
              </a:rPr>
              <a:t>    </a:t>
            </a:r>
            <a:r>
              <a:rPr lang="en-US" b="1" i="1" dirty="0">
                <a:solidFill>
                  <a:srgbClr val="00B050"/>
                </a:solidFill>
                <a:latin typeface="Courier New" pitchFamily="49" charset="0"/>
                <a:cs typeface="Times" pitchFamily="-32" charset="0"/>
              </a:rPr>
              <a:t>Do these statements if both condition1 and </a:t>
            </a:r>
          </a:p>
          <a:p>
            <a:r>
              <a:rPr lang="en-US" b="1" i="1" dirty="0">
                <a:solidFill>
                  <a:srgbClr val="00B050"/>
                </a:solidFill>
                <a:latin typeface="Courier New" pitchFamily="49" charset="0"/>
                <a:cs typeface="Times" pitchFamily="-32" charset="0"/>
              </a:rPr>
              <a:t>    condition2 gave a false result</a:t>
            </a:r>
            <a:endParaRPr lang="en-US" b="1" dirty="0">
              <a:solidFill>
                <a:srgbClr val="00B050"/>
              </a:solidFill>
              <a:latin typeface="Courier New" pitchFamily="49" charset="0"/>
            </a:endParaRPr>
          </a:p>
          <a:p>
            <a:pPr algn="l" eaLnBrk="1" hangingPunct="1"/>
            <a:r>
              <a:rPr lang="en-US" b="1" dirty="0">
                <a:latin typeface="Courier New" pitchFamily="49" charset="0"/>
              </a:rPr>
              <a:t>}</a:t>
            </a:r>
          </a:p>
        </p:txBody>
      </p:sp>
      <p:sp>
        <p:nvSpPr>
          <p:cNvPr id="24592" name="Rectangle 16"/>
          <p:cNvSpPr>
            <a:spLocks noChangeArrowheads="1"/>
          </p:cNvSpPr>
          <p:nvPr/>
        </p:nvSpPr>
        <p:spPr bwMode="auto">
          <a:xfrm>
            <a:off x="2724286" y="3604895"/>
            <a:ext cx="7371328" cy="6334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E"/>
          </a:p>
        </p:txBody>
      </p:sp>
      <p:sp>
        <p:nvSpPr>
          <p:cNvPr id="24593" name="Rectangle 17"/>
          <p:cNvSpPr>
            <a:spLocks noChangeArrowheads="1"/>
          </p:cNvSpPr>
          <p:nvPr/>
        </p:nvSpPr>
        <p:spPr bwMode="auto">
          <a:xfrm>
            <a:off x="2695933" y="2461895"/>
            <a:ext cx="7371328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E"/>
          </a:p>
        </p:txBody>
      </p:sp>
      <p:sp>
        <p:nvSpPr>
          <p:cNvPr id="16" name="Rectangle 16"/>
          <p:cNvSpPr>
            <a:spLocks noChangeArrowheads="1"/>
          </p:cNvSpPr>
          <p:nvPr/>
        </p:nvSpPr>
        <p:spPr bwMode="auto">
          <a:xfrm>
            <a:off x="2695933" y="4900295"/>
            <a:ext cx="7371328" cy="6334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E"/>
          </a:p>
        </p:txBody>
      </p:sp>
      <p:sp>
        <p:nvSpPr>
          <p:cNvPr id="2" name="Rectangle 1"/>
          <p:cNvSpPr/>
          <p:nvPr/>
        </p:nvSpPr>
        <p:spPr>
          <a:xfrm>
            <a:off x="2057400" y="1752600"/>
            <a:ext cx="8305800" cy="4419600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" name="5-Point Star 5"/>
          <p:cNvSpPr/>
          <p:nvPr/>
        </p:nvSpPr>
        <p:spPr>
          <a:xfrm>
            <a:off x="1599894" y="2971800"/>
            <a:ext cx="533400" cy="457200"/>
          </a:xfrm>
          <a:prstGeom prst="star5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8495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A9D09-F4F7-81A9-BB49-A1961C2AD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2">
            <a:extLst>
              <a:ext uri="{FF2B5EF4-FFF2-40B4-BE49-F238E27FC236}">
                <a16:creationId xmlns:a16="http://schemas.microsoft.com/office/drawing/2014/main" id="{B3EBDA19-B0CA-FF24-A4E3-35D84CCFC2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en-US" altLang="en-US" sz="4000" dirty="0">
                <a:ea typeface="MS PGothic" charset="-128"/>
              </a:rPr>
              <a:t>Making a choice in the ticket machine (3)</a:t>
            </a:r>
          </a:p>
        </p:txBody>
      </p:sp>
      <p:sp>
        <p:nvSpPr>
          <p:cNvPr id="72707" name="Text Box 4">
            <a:extLst>
              <a:ext uri="{FF2B5EF4-FFF2-40B4-BE49-F238E27FC236}">
                <a16:creationId xmlns:a16="http://schemas.microsoft.com/office/drawing/2014/main" id="{2CDA4B6D-7D8D-D629-6D49-C481D30741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1504" y="1844824"/>
            <a:ext cx="6821098" cy="378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public void </a:t>
            </a:r>
            <a:r>
              <a:rPr lang="en-US" altLang="en-US" sz="2400" dirty="0" err="1">
                <a:solidFill>
                  <a:schemeClr val="tx1"/>
                </a:solidFill>
                <a:latin typeface="Courier New" charset="0"/>
              </a:rPr>
              <a:t>specialOffer</a:t>
            </a: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(int amount)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    if(amount &gt;100) 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        balance = balance + 50;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    }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    else if amount &gt; 50{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        balance = balance + 25;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    }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    else amount = amount + 5;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}</a:t>
            </a:r>
            <a:r>
              <a:rPr lang="en-US" altLang="en-US" sz="2000" dirty="0">
                <a:solidFill>
                  <a:schemeClr val="tx1"/>
                </a:solidFill>
                <a:latin typeface="Courier New" charset="0"/>
              </a:rPr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3AC94E-0F7C-95B1-4362-1BBDC10080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8528" y="363485"/>
            <a:ext cx="953541" cy="1026459"/>
          </a:xfrm>
          <a:prstGeom prst="rect">
            <a:avLst/>
          </a:prstGeom>
          <a:noFill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DEE4EC2-6E4A-26A9-7252-DFC158659CE5}"/>
              </a:ext>
            </a:extLst>
          </p:cNvPr>
          <p:cNvSpPr txBox="1"/>
          <p:nvPr/>
        </p:nvSpPr>
        <p:spPr>
          <a:xfrm>
            <a:off x="9048328" y="3356992"/>
            <a:ext cx="2160240" cy="203132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  <a:alpha val="62000"/>
              </a:schemeClr>
            </a:solidFill>
          </a:ln>
          <a:effectLst>
            <a:outerShdw blurRad="50800" dist="50800" dir="5400000" algn="ctr" rotWithShape="0">
              <a:srgbClr val="000000">
                <a:alpha val="68539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dirty="0"/>
              <a:t>Note that if any condition is true, the associated statements are executed AND the if statement is finished.</a:t>
            </a:r>
          </a:p>
        </p:txBody>
      </p:sp>
    </p:spTree>
    <p:extLst>
      <p:ext uri="{BB962C8B-B14F-4D97-AF65-F5344CB8AC3E}">
        <p14:creationId xmlns:p14="http://schemas.microsoft.com/office/powerpoint/2010/main" val="200034765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Boolean conditions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dirty="0"/>
              <a:t>A </a:t>
            </a:r>
            <a:r>
              <a:rPr lang="en-IE" dirty="0" err="1"/>
              <a:t>boolean</a:t>
            </a:r>
            <a:r>
              <a:rPr lang="en-IE" dirty="0"/>
              <a:t> condition is an expression that evaluates to either </a:t>
            </a:r>
            <a:r>
              <a:rPr lang="en-IE" b="1" dirty="0"/>
              <a:t>true</a:t>
            </a:r>
            <a:r>
              <a:rPr lang="en-IE" dirty="0"/>
              <a:t> or </a:t>
            </a:r>
            <a:r>
              <a:rPr lang="en-IE" b="1" dirty="0"/>
              <a:t>false</a:t>
            </a:r>
            <a:r>
              <a:rPr lang="en-IE" dirty="0"/>
              <a:t> e.g.</a:t>
            </a:r>
          </a:p>
          <a:p>
            <a:pPr marL="0" indent="0">
              <a:buNone/>
            </a:pPr>
            <a:r>
              <a:rPr lang="en-IE" sz="2800" dirty="0">
                <a:solidFill>
                  <a:srgbClr val="FF0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	price </a:t>
            </a:r>
            <a:r>
              <a:rPr lang="en-IE" sz="2800" dirty="0">
                <a:solidFill>
                  <a:schemeClr val="accent4">
                    <a:lumMod val="50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&lt; 50 </a:t>
            </a:r>
          </a:p>
          <a:p>
            <a:pPr marL="0" indent="0">
              <a:buNone/>
            </a:pPr>
            <a:endParaRPr lang="en-IE" sz="2800" dirty="0">
              <a:solidFill>
                <a:schemeClr val="accent4">
                  <a:lumMod val="50000"/>
                </a:schemeClr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r>
              <a:rPr lang="en-IE" dirty="0"/>
              <a:t>An if statement evaluates a </a:t>
            </a:r>
            <a:r>
              <a:rPr lang="en-IE" b="1" dirty="0" err="1"/>
              <a:t>boolean</a:t>
            </a:r>
            <a:r>
              <a:rPr lang="en-IE" b="1" dirty="0"/>
              <a:t> condition </a:t>
            </a:r>
            <a:r>
              <a:rPr lang="en-IE" dirty="0"/>
              <a:t>and its result will determine which portion of the if statement is executed.</a:t>
            </a:r>
          </a:p>
          <a:p>
            <a:pPr marL="0" indent="0">
              <a:buNone/>
            </a:pP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6290801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Boolean conditions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4601" y="2133600"/>
            <a:ext cx="7102549" cy="341632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2"/>
                </a:solidFill>
                <a:latin typeface="Anonymous" pitchFamily="49" charset="0"/>
                <a:ea typeface="ＭＳ Ｐゴシック" pitchFamily="28" charset="-128"/>
              </a:rPr>
              <a:t>// Do these statements before.</a:t>
            </a:r>
          </a:p>
          <a:p>
            <a:endParaRPr lang="en-US" sz="2400" b="1" dirty="0">
              <a:solidFill>
                <a:srgbClr val="FF0000"/>
              </a:solidFill>
              <a:latin typeface="Anonymous" pitchFamily="49" charset="0"/>
              <a:ea typeface="ＭＳ Ｐゴシック" pitchFamily="28" charset="-128"/>
            </a:endParaRPr>
          </a:p>
          <a:p>
            <a:r>
              <a:rPr lang="en-US" sz="2400" b="1" dirty="0">
                <a:solidFill>
                  <a:srgbClr val="FF0000"/>
                </a:solidFill>
                <a:latin typeface="Anonymous" pitchFamily="49" charset="0"/>
                <a:ea typeface="ＭＳ Ｐゴシック" pitchFamily="28" charset="-128"/>
              </a:rPr>
              <a:t>if (</a:t>
            </a:r>
            <a:r>
              <a:rPr lang="en-US" sz="2400" b="1" dirty="0" err="1">
                <a:solidFill>
                  <a:srgbClr val="FF0000"/>
                </a:solidFill>
                <a:latin typeface="Anonymous" pitchFamily="49" charset="0"/>
                <a:ea typeface="ＭＳ Ｐゴシック" pitchFamily="28" charset="-128"/>
              </a:rPr>
              <a:t>boolean</a:t>
            </a:r>
            <a:r>
              <a:rPr lang="en-US" sz="2400" b="1" dirty="0">
                <a:solidFill>
                  <a:srgbClr val="FF0000"/>
                </a:solidFill>
                <a:latin typeface="Anonymous" pitchFamily="49" charset="0"/>
                <a:ea typeface="ＭＳ Ｐゴシック" pitchFamily="28" charset="-128"/>
              </a:rPr>
              <a:t> condition) </a:t>
            </a:r>
          </a:p>
          <a:p>
            <a:r>
              <a:rPr lang="en-US" sz="2400" b="1" dirty="0">
                <a:solidFill>
                  <a:srgbClr val="FF0000"/>
                </a:solidFill>
                <a:latin typeface="Anonymous" pitchFamily="49" charset="0"/>
                <a:ea typeface="ＭＳ Ｐゴシック" pitchFamily="28" charset="-128"/>
              </a:rPr>
              <a:t>{</a:t>
            </a:r>
          </a:p>
          <a:p>
            <a:r>
              <a:rPr lang="en-US" sz="2400" b="1" dirty="0">
                <a:solidFill>
                  <a:srgbClr val="00B050"/>
                </a:solidFill>
                <a:latin typeface="Anonymous" pitchFamily="49" charset="0"/>
                <a:ea typeface="ＭＳ Ｐゴシック" pitchFamily="28" charset="-128"/>
              </a:rPr>
              <a:t>     // Perform this clause if the </a:t>
            </a:r>
          </a:p>
          <a:p>
            <a:r>
              <a:rPr lang="en-US" sz="2400" b="1" dirty="0">
                <a:solidFill>
                  <a:srgbClr val="00B050"/>
                </a:solidFill>
                <a:latin typeface="Anonymous" pitchFamily="49" charset="0"/>
                <a:ea typeface="ＭＳ Ｐゴシック" pitchFamily="28" charset="-128"/>
              </a:rPr>
              <a:t>	// condition is true.</a:t>
            </a:r>
          </a:p>
          <a:p>
            <a:r>
              <a:rPr lang="en-US" sz="2400" b="1" dirty="0">
                <a:solidFill>
                  <a:srgbClr val="FF0000"/>
                </a:solidFill>
                <a:latin typeface="Anonymous" pitchFamily="49" charset="0"/>
                <a:ea typeface="ＭＳ Ｐゴシック" pitchFamily="28" charset="-128"/>
              </a:rPr>
              <a:t>}</a:t>
            </a:r>
          </a:p>
          <a:p>
            <a:endParaRPr lang="en-US" sz="2400" b="1" dirty="0">
              <a:solidFill>
                <a:srgbClr val="FF0000"/>
              </a:solidFill>
              <a:latin typeface="Anonymous" pitchFamily="49" charset="0"/>
              <a:ea typeface="ＭＳ Ｐゴシック" pitchFamily="28" charset="-128"/>
            </a:endParaRPr>
          </a:p>
          <a:p>
            <a:r>
              <a:rPr lang="en-US" sz="2400" b="1" dirty="0">
                <a:solidFill>
                  <a:schemeClr val="tx2"/>
                </a:solidFill>
                <a:latin typeface="Anonymous" pitchFamily="49" charset="0"/>
                <a:ea typeface="ＭＳ Ｐゴシック" pitchFamily="28" charset="-128"/>
              </a:rPr>
              <a:t>// Do these statements after.</a:t>
            </a:r>
          </a:p>
        </p:txBody>
      </p:sp>
    </p:spTree>
    <p:extLst>
      <p:ext uri="{BB962C8B-B14F-4D97-AF65-F5344CB8AC3E}">
        <p14:creationId xmlns:p14="http://schemas.microsoft.com/office/powerpoint/2010/main" val="36695064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Java Relational Operators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981200" y="1524001"/>
          <a:ext cx="8382000" cy="3801357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599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42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647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E" sz="2400" b="1" dirty="0">
                          <a:effectLst/>
                        </a:rPr>
                        <a:t>Operator</a:t>
                      </a:r>
                    </a:p>
                  </a:txBody>
                  <a:tcPr marL="25558" marR="25558" marT="25558" marB="25558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E" sz="2400" b="1" dirty="0">
                          <a:effectLst/>
                        </a:rPr>
                        <a:t>Use</a:t>
                      </a:r>
                    </a:p>
                  </a:txBody>
                  <a:tcPr marL="25558" marR="25558" marT="25558" marB="25558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E" sz="2400" b="1" dirty="0">
                          <a:effectLst/>
                        </a:rPr>
                        <a:t>Returns true if…</a:t>
                      </a:r>
                    </a:p>
                  </a:txBody>
                  <a:tcPr marL="25558" marR="25558" marT="25558" marB="25558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4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E" sz="3200" b="1" dirty="0">
                          <a:effectLst/>
                        </a:rPr>
                        <a:t>&gt;</a:t>
                      </a:r>
                    </a:p>
                  </a:txBody>
                  <a:tcPr marL="25558" marR="25558" marT="25558" marB="2555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E" sz="2400" dirty="0">
                          <a:effectLst/>
                        </a:rPr>
                        <a:t>op1 &gt; op2</a:t>
                      </a:r>
                    </a:p>
                  </a:txBody>
                  <a:tcPr marL="25558" marR="25558" marT="25558" marB="2555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l-NL" sz="2400" dirty="0">
                          <a:effectLst/>
                        </a:rPr>
                        <a:t>op1 is </a:t>
                      </a:r>
                      <a:r>
                        <a:rPr lang="nl-NL" sz="2400" b="1" dirty="0">
                          <a:effectLst/>
                        </a:rPr>
                        <a:t>greater</a:t>
                      </a:r>
                      <a:r>
                        <a:rPr lang="nl-NL" sz="2400" dirty="0">
                          <a:effectLst/>
                        </a:rPr>
                        <a:t> than op2</a:t>
                      </a:r>
                    </a:p>
                  </a:txBody>
                  <a:tcPr marL="25558" marR="25558" marT="25558" marB="2555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4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E" sz="3200" b="1" dirty="0">
                          <a:effectLst/>
                        </a:rPr>
                        <a:t>&gt;=</a:t>
                      </a:r>
                    </a:p>
                  </a:txBody>
                  <a:tcPr marL="25558" marR="25558" marT="25558" marB="2555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E" sz="2400" dirty="0">
                          <a:effectLst/>
                        </a:rPr>
                        <a:t>op1 &gt;= op2 </a:t>
                      </a:r>
                    </a:p>
                  </a:txBody>
                  <a:tcPr marL="25558" marR="25558" marT="25558" marB="2555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E" sz="2400" dirty="0">
                          <a:effectLst/>
                        </a:rPr>
                        <a:t>op1 is </a:t>
                      </a:r>
                      <a:r>
                        <a:rPr lang="en-IE" sz="2400" b="1" dirty="0">
                          <a:effectLst/>
                        </a:rPr>
                        <a:t>greater than or equal</a:t>
                      </a:r>
                      <a:r>
                        <a:rPr lang="en-IE" sz="2400" dirty="0">
                          <a:effectLst/>
                        </a:rPr>
                        <a:t> to op2</a:t>
                      </a:r>
                    </a:p>
                  </a:txBody>
                  <a:tcPr marL="25558" marR="25558" marT="25558" marB="2555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4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E" sz="3200" b="1" dirty="0">
                          <a:effectLst/>
                        </a:rPr>
                        <a:t>&lt;</a:t>
                      </a:r>
                    </a:p>
                  </a:txBody>
                  <a:tcPr marL="25558" marR="25558" marT="25558" marB="2555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E" sz="2400" dirty="0">
                          <a:effectLst/>
                        </a:rPr>
                        <a:t>op1 &lt; op2 </a:t>
                      </a:r>
                    </a:p>
                  </a:txBody>
                  <a:tcPr marL="25558" marR="25558" marT="25558" marB="2555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E" sz="2400" dirty="0">
                          <a:effectLst/>
                        </a:rPr>
                        <a:t>op1 is </a:t>
                      </a:r>
                      <a:r>
                        <a:rPr lang="en-IE" sz="2400" b="1" dirty="0">
                          <a:effectLst/>
                        </a:rPr>
                        <a:t>less</a:t>
                      </a:r>
                      <a:r>
                        <a:rPr lang="en-IE" sz="2400" dirty="0">
                          <a:effectLst/>
                        </a:rPr>
                        <a:t> than to op2</a:t>
                      </a:r>
                    </a:p>
                  </a:txBody>
                  <a:tcPr marL="25558" marR="25558" marT="25558" marB="2555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64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E" sz="3200" b="1" dirty="0">
                          <a:effectLst/>
                        </a:rPr>
                        <a:t>&lt;=</a:t>
                      </a:r>
                    </a:p>
                  </a:txBody>
                  <a:tcPr marL="25558" marR="25558" marT="25558" marB="2555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E" sz="2400" dirty="0">
                          <a:effectLst/>
                        </a:rPr>
                        <a:t>op1 &lt;= op2 </a:t>
                      </a:r>
                    </a:p>
                  </a:txBody>
                  <a:tcPr marL="25558" marR="25558" marT="25558" marB="2555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E" sz="2400" dirty="0">
                          <a:effectLst/>
                        </a:rPr>
                        <a:t>op1 is </a:t>
                      </a:r>
                      <a:r>
                        <a:rPr lang="en-IE" sz="2400" b="1" dirty="0">
                          <a:effectLst/>
                        </a:rPr>
                        <a:t>less than or equal </a:t>
                      </a:r>
                      <a:r>
                        <a:rPr lang="en-IE" sz="2400" dirty="0">
                          <a:effectLst/>
                        </a:rPr>
                        <a:t>to op2</a:t>
                      </a:r>
                    </a:p>
                  </a:txBody>
                  <a:tcPr marL="25558" marR="25558" marT="25558" marB="2555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64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E" sz="3200" b="1" dirty="0">
                          <a:effectLst/>
                        </a:rPr>
                        <a:t>==</a:t>
                      </a:r>
                    </a:p>
                  </a:txBody>
                  <a:tcPr marL="25558" marR="25558" marT="25558" marB="2555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E" sz="2400" dirty="0">
                          <a:effectLst/>
                        </a:rPr>
                        <a:t>op1 == op2 </a:t>
                      </a:r>
                    </a:p>
                  </a:txBody>
                  <a:tcPr marL="25558" marR="25558" marT="25558" marB="2555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E" sz="2400" dirty="0">
                          <a:effectLst/>
                        </a:rPr>
                        <a:t>op1 and op2 are </a:t>
                      </a:r>
                      <a:r>
                        <a:rPr lang="en-IE" sz="2400" b="1" dirty="0">
                          <a:effectLst/>
                        </a:rPr>
                        <a:t>equal</a:t>
                      </a:r>
                    </a:p>
                  </a:txBody>
                  <a:tcPr marL="25558" marR="25558" marT="25558" marB="2555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64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E" sz="3200" b="1" dirty="0">
                          <a:effectLst/>
                        </a:rPr>
                        <a:t>!=</a:t>
                      </a:r>
                    </a:p>
                  </a:txBody>
                  <a:tcPr marL="25558" marR="25558" marT="25558" marB="2555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E" sz="2400" dirty="0">
                          <a:effectLst/>
                        </a:rPr>
                        <a:t>op1 != op2 </a:t>
                      </a:r>
                    </a:p>
                  </a:txBody>
                  <a:tcPr marL="25558" marR="25558" marT="25558" marB="2555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E" sz="2400" dirty="0">
                          <a:effectLst/>
                        </a:rPr>
                        <a:t>op1 and op2 are </a:t>
                      </a:r>
                      <a:r>
                        <a:rPr lang="en-IE" sz="2400" b="1" dirty="0">
                          <a:effectLst/>
                        </a:rPr>
                        <a:t>not equal</a:t>
                      </a:r>
                    </a:p>
                  </a:txBody>
                  <a:tcPr marL="25558" marR="25558" marT="25558" marB="25558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419600" y="6488668"/>
            <a:ext cx="62484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IE" sz="1600" dirty="0"/>
              <a:t>Source: </a:t>
            </a:r>
            <a:r>
              <a:rPr lang="en-IE" sz="1600" dirty="0">
                <a:hlinkClick r:id="rId2"/>
              </a:rPr>
              <a:t>http://www.freejavaguide.com/relational_operators.htm</a:t>
            </a:r>
            <a:r>
              <a:rPr lang="en-IE" sz="1600" dirty="0"/>
              <a:t>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25604" y="5867401"/>
            <a:ext cx="68135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BEWARE </a:t>
            </a:r>
            <a:r>
              <a:rPr lang="en-GB" b="1" dirty="0">
                <a:solidFill>
                  <a:srgbClr val="FF0000"/>
                </a:solidFill>
              </a:rPr>
              <a:t>=</a:t>
            </a:r>
            <a:r>
              <a:rPr lang="en-GB" dirty="0">
                <a:solidFill>
                  <a:srgbClr val="FF0000"/>
                </a:solidFill>
              </a:rPr>
              <a:t> is an assignment operator. </a:t>
            </a:r>
          </a:p>
          <a:p>
            <a:r>
              <a:rPr lang="en-GB" dirty="0">
                <a:solidFill>
                  <a:srgbClr val="FF0000"/>
                </a:solidFill>
              </a:rPr>
              <a:t>It doesn’t test for equality. Use </a:t>
            </a:r>
            <a:r>
              <a:rPr lang="en-GB" b="1" dirty="0">
                <a:solidFill>
                  <a:srgbClr val="FF0000"/>
                </a:solidFill>
              </a:rPr>
              <a:t>==</a:t>
            </a:r>
            <a:r>
              <a:rPr lang="en-GB" dirty="0">
                <a:solidFill>
                  <a:srgbClr val="FF0000"/>
                </a:solidFill>
              </a:rPr>
              <a:t> to test for equality in primitive types</a:t>
            </a:r>
          </a:p>
        </p:txBody>
      </p:sp>
    </p:spTree>
    <p:extLst>
      <p:ext uri="{BB962C8B-B14F-4D97-AF65-F5344CB8AC3E}">
        <p14:creationId xmlns:p14="http://schemas.microsoft.com/office/powerpoint/2010/main" val="1631295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Some notes on the if statement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An if statement </a:t>
            </a:r>
            <a:r>
              <a:rPr lang="en-IE" dirty="0">
                <a:solidFill>
                  <a:srgbClr val="FF0000"/>
                </a:solidFill>
              </a:rPr>
              <a:t>IS</a:t>
            </a:r>
            <a:r>
              <a:rPr lang="en-IE" dirty="0"/>
              <a:t> a </a:t>
            </a:r>
            <a:r>
              <a:rPr lang="en-IE" b="1" dirty="0"/>
              <a:t>statement</a:t>
            </a:r>
            <a:r>
              <a:rPr lang="en-IE" dirty="0"/>
              <a:t>; </a:t>
            </a:r>
            <a:br>
              <a:rPr lang="en-IE" dirty="0"/>
            </a:br>
            <a:r>
              <a:rPr lang="en-IE" dirty="0"/>
              <a:t>	it is only executed once.</a:t>
            </a:r>
          </a:p>
          <a:p>
            <a:r>
              <a:rPr lang="en-IE" dirty="0"/>
              <a:t>When your if statement only has </a:t>
            </a:r>
            <a:r>
              <a:rPr lang="en-IE" u="sng" dirty="0"/>
              <a:t>one</a:t>
            </a:r>
            <a:r>
              <a:rPr lang="en-IE" dirty="0"/>
              <a:t> statement inside it, you do not need to use the curly braces.</a:t>
            </a:r>
          </a:p>
          <a:p>
            <a:r>
              <a:rPr lang="en-IE" dirty="0"/>
              <a:t>For example, both of these are the same:</a:t>
            </a:r>
          </a:p>
          <a:p>
            <a:endParaRPr lang="en-IE" dirty="0"/>
          </a:p>
        </p:txBody>
      </p:sp>
      <p:sp>
        <p:nvSpPr>
          <p:cNvPr id="5" name="Rectangle 4"/>
          <p:cNvSpPr/>
          <p:nvPr/>
        </p:nvSpPr>
        <p:spPr>
          <a:xfrm>
            <a:off x="2667000" y="4840070"/>
            <a:ext cx="2971800" cy="120032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dirty="0">
                <a:solidFill>
                  <a:schemeClr val="accent4">
                    <a:lumMod val="50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if (</a:t>
            </a:r>
            <a:r>
              <a:rPr lang="en-IE" dirty="0">
                <a:solidFill>
                  <a:srgbClr val="FF0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price </a:t>
            </a:r>
            <a:r>
              <a:rPr lang="en-IE" dirty="0">
                <a:solidFill>
                  <a:schemeClr val="accent4">
                    <a:lumMod val="50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&lt; 50) </a:t>
            </a:r>
          </a:p>
          <a:p>
            <a:r>
              <a:rPr lang="en-IE" dirty="0">
                <a:solidFill>
                  <a:schemeClr val="accent4">
                    <a:lumMod val="50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{</a:t>
            </a:r>
          </a:p>
          <a:p>
            <a:r>
              <a:rPr lang="en-IE" dirty="0">
                <a:solidFill>
                  <a:schemeClr val="accent4">
                    <a:lumMod val="50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   price = 50;</a:t>
            </a:r>
          </a:p>
          <a:p>
            <a:r>
              <a:rPr lang="en-IE" dirty="0">
                <a:solidFill>
                  <a:schemeClr val="accent4">
                    <a:lumMod val="50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} </a:t>
            </a:r>
            <a:endParaRPr lang="en-IE" dirty="0"/>
          </a:p>
        </p:txBody>
      </p:sp>
      <p:sp>
        <p:nvSpPr>
          <p:cNvPr id="6" name="Rectangle 5"/>
          <p:cNvSpPr/>
          <p:nvPr/>
        </p:nvSpPr>
        <p:spPr>
          <a:xfrm>
            <a:off x="6384032" y="4978569"/>
            <a:ext cx="2971800" cy="64633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dirty="0">
                <a:solidFill>
                  <a:schemeClr val="accent4">
                    <a:lumMod val="50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 if (</a:t>
            </a:r>
            <a:r>
              <a:rPr lang="en-IE" dirty="0">
                <a:solidFill>
                  <a:srgbClr val="FF0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price </a:t>
            </a:r>
            <a:r>
              <a:rPr lang="en-IE" dirty="0">
                <a:solidFill>
                  <a:schemeClr val="accent4">
                    <a:lumMod val="50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&lt; 50) </a:t>
            </a:r>
          </a:p>
          <a:p>
            <a:r>
              <a:rPr lang="en-IE" dirty="0">
                <a:solidFill>
                  <a:schemeClr val="accent4">
                    <a:lumMod val="50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    price = 50;</a:t>
            </a:r>
          </a:p>
        </p:txBody>
      </p:sp>
    </p:spTree>
    <p:extLst>
      <p:ext uri="{BB962C8B-B14F-4D97-AF65-F5344CB8AC3E}">
        <p14:creationId xmlns:p14="http://schemas.microsoft.com/office/powerpoint/2010/main" val="933149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 animBg="1"/>
      <p:bldP spid="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Some notes on the if statement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The semi-colon (</a:t>
            </a:r>
            <a:r>
              <a:rPr lang="en-IE" b="1" dirty="0"/>
              <a:t>;</a:t>
            </a:r>
            <a:r>
              <a:rPr lang="en-IE" dirty="0"/>
              <a:t>) is a </a:t>
            </a:r>
            <a:r>
              <a:rPr lang="en-IE" b="1" dirty="0"/>
              <a:t>statement terminator</a:t>
            </a:r>
            <a:r>
              <a:rPr lang="en-IE" dirty="0"/>
              <a:t>.</a:t>
            </a:r>
          </a:p>
          <a:p>
            <a:endParaRPr lang="en-IE" dirty="0"/>
          </a:p>
          <a:p>
            <a:pPr marL="0" indent="0">
              <a:buNone/>
            </a:pPr>
            <a:endParaRPr lang="en-IE" dirty="0"/>
          </a:p>
        </p:txBody>
      </p:sp>
      <p:sp>
        <p:nvSpPr>
          <p:cNvPr id="5" name="Rectangle 4"/>
          <p:cNvSpPr/>
          <p:nvPr/>
        </p:nvSpPr>
        <p:spPr>
          <a:xfrm>
            <a:off x="4610100" y="2947479"/>
            <a:ext cx="2971800" cy="120032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dirty="0">
                <a:solidFill>
                  <a:schemeClr val="accent4">
                    <a:lumMod val="50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if (</a:t>
            </a:r>
            <a:r>
              <a:rPr lang="en-IE" dirty="0">
                <a:solidFill>
                  <a:srgbClr val="FF0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price </a:t>
            </a:r>
            <a:r>
              <a:rPr lang="en-IE" dirty="0">
                <a:solidFill>
                  <a:schemeClr val="accent4">
                    <a:lumMod val="50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&lt; 50) </a:t>
            </a:r>
          </a:p>
          <a:p>
            <a:r>
              <a:rPr lang="en-IE" dirty="0">
                <a:solidFill>
                  <a:schemeClr val="accent4">
                    <a:lumMod val="50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{</a:t>
            </a:r>
          </a:p>
          <a:p>
            <a:r>
              <a:rPr lang="en-IE" dirty="0">
                <a:solidFill>
                  <a:schemeClr val="accent4">
                    <a:lumMod val="50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    </a:t>
            </a:r>
            <a:r>
              <a:rPr lang="en-IE" dirty="0" err="1">
                <a:solidFill>
                  <a:schemeClr val="accent4">
                    <a:lumMod val="50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rect</a:t>
            </a:r>
            <a:r>
              <a:rPr lang="en-IE" dirty="0">
                <a:solidFill>
                  <a:schemeClr val="accent4">
                    <a:lumMod val="50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(0, 0, 50, 100) ; </a:t>
            </a:r>
          </a:p>
          <a:p>
            <a:r>
              <a:rPr lang="en-IE" dirty="0">
                <a:solidFill>
                  <a:schemeClr val="accent4">
                    <a:lumMod val="50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} </a:t>
            </a:r>
            <a:endParaRPr lang="en-IE" dirty="0"/>
          </a:p>
        </p:txBody>
      </p:sp>
      <p:sp>
        <p:nvSpPr>
          <p:cNvPr id="2" name="Oval 1"/>
          <p:cNvSpPr/>
          <p:nvPr/>
        </p:nvSpPr>
        <p:spPr>
          <a:xfrm>
            <a:off x="6816080" y="3284016"/>
            <a:ext cx="152400" cy="976090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b="1" dirty="0"/>
          </a:p>
        </p:txBody>
      </p:sp>
      <p:sp>
        <p:nvSpPr>
          <p:cNvPr id="6" name="Left Arrow 5"/>
          <p:cNvSpPr/>
          <p:nvPr/>
        </p:nvSpPr>
        <p:spPr>
          <a:xfrm rot="820408">
            <a:off x="6169718" y="3294826"/>
            <a:ext cx="2783160" cy="268345"/>
          </a:xfrm>
          <a:prstGeom prst="leftArrow">
            <a:avLst>
              <a:gd name="adj1" fmla="val 7692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7" name="TextBox 6"/>
          <p:cNvSpPr txBox="1"/>
          <p:nvPr/>
        </p:nvSpPr>
        <p:spPr>
          <a:xfrm>
            <a:off x="8863716" y="3429000"/>
            <a:ext cx="1752600" cy="707886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000" dirty="0"/>
              <a:t>No semi-colon needed here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C40B62-FD9D-F06E-C2CF-FE9F8035F4F9}"/>
              </a:ext>
            </a:extLst>
          </p:cNvPr>
          <p:cNvSpPr txBox="1"/>
          <p:nvPr/>
        </p:nvSpPr>
        <p:spPr>
          <a:xfrm>
            <a:off x="4943872" y="5064336"/>
            <a:ext cx="1752600" cy="707886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000" dirty="0"/>
              <a:t>No semi-colon needed here</a:t>
            </a:r>
          </a:p>
        </p:txBody>
      </p:sp>
      <p:sp>
        <p:nvSpPr>
          <p:cNvPr id="9" name="Left Arrow 8">
            <a:extLst>
              <a:ext uri="{FF2B5EF4-FFF2-40B4-BE49-F238E27FC236}">
                <a16:creationId xmlns:a16="http://schemas.microsoft.com/office/drawing/2014/main" id="{024E6194-C19D-4EEF-0A92-D0337CD58009}"/>
              </a:ext>
            </a:extLst>
          </p:cNvPr>
          <p:cNvSpPr/>
          <p:nvPr/>
        </p:nvSpPr>
        <p:spPr>
          <a:xfrm rot="2969422">
            <a:off x="4670779" y="4362194"/>
            <a:ext cx="1445982" cy="289225"/>
          </a:xfrm>
          <a:prstGeom prst="leftArrow">
            <a:avLst>
              <a:gd name="adj1" fmla="val 7692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00B0C3-4CF6-F722-66FB-94F3A279831F}"/>
              </a:ext>
            </a:extLst>
          </p:cNvPr>
          <p:cNvSpPr txBox="1"/>
          <p:nvPr/>
        </p:nvSpPr>
        <p:spPr>
          <a:xfrm>
            <a:off x="9485575" y="5211871"/>
            <a:ext cx="1752600" cy="707886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000" dirty="0"/>
              <a:t>Semi-colon </a:t>
            </a:r>
            <a:r>
              <a:rPr lang="en-IE" sz="2000" b="1" dirty="0"/>
              <a:t>IS </a:t>
            </a:r>
            <a:r>
              <a:rPr lang="en-IE" sz="2000" dirty="0"/>
              <a:t>needed here</a:t>
            </a:r>
          </a:p>
        </p:txBody>
      </p:sp>
      <p:sp>
        <p:nvSpPr>
          <p:cNvPr id="13" name="Left Arrow 12">
            <a:extLst>
              <a:ext uri="{FF2B5EF4-FFF2-40B4-BE49-F238E27FC236}">
                <a16:creationId xmlns:a16="http://schemas.microsoft.com/office/drawing/2014/main" id="{0EC9097B-0C94-BE25-8BC3-C361ECBB5A44}"/>
              </a:ext>
            </a:extLst>
          </p:cNvPr>
          <p:cNvSpPr/>
          <p:nvPr/>
        </p:nvSpPr>
        <p:spPr>
          <a:xfrm rot="1607918" flipV="1">
            <a:off x="6884288" y="4472615"/>
            <a:ext cx="2800454" cy="219325"/>
          </a:xfrm>
          <a:prstGeom prst="leftArrow">
            <a:avLst>
              <a:gd name="adj1" fmla="val 7692"/>
              <a:gd name="adj2" fmla="val 50000"/>
            </a:avLst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2344606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F5CEC-C519-7415-E8C5-6165A0F60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BBD32-6831-866D-240C-B756434CF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Questions?</a:t>
            </a:r>
          </a:p>
        </p:txBody>
      </p:sp>
      <p:pic>
        <p:nvPicPr>
          <p:cNvPr id="3" name="Picture 2" descr="A green question mark in a circle&#10;&#10;AI-generated content may be incorrect.">
            <a:extLst>
              <a:ext uri="{FF2B5EF4-FFF2-40B4-BE49-F238E27FC236}">
                <a16:creationId xmlns:a16="http://schemas.microsoft.com/office/drawing/2014/main" id="{63E13AD8-C2EB-2965-C5E5-DBF2EFD05D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0" y="1325562"/>
            <a:ext cx="5257800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740345"/>
      </p:ext>
    </p:extLst>
  </p:cSld>
  <p:clrMapOvr>
    <a:masterClrMapping/>
  </p:clrMapOvr>
</p:sld>
</file>

<file path=ppt/theme/theme1.xml><?xml version="1.0" encoding="utf-8"?>
<a:theme xmlns:a="http://schemas.openxmlformats.org/drawingml/2006/main" name="a-processing-mouse-event-metho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class-definitions</Template>
  <TotalTime>604</TotalTime>
  <Words>1107</Words>
  <Application>Microsoft Macintosh PowerPoint</Application>
  <PresentationFormat>Widescreen</PresentationFormat>
  <Paragraphs>204</Paragraphs>
  <Slides>19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Arial Unicode MS</vt:lpstr>
      <vt:lpstr>MS PGothic</vt:lpstr>
      <vt:lpstr>Anonymous</vt:lpstr>
      <vt:lpstr>Arial</vt:lpstr>
      <vt:lpstr>Calibri</vt:lpstr>
      <vt:lpstr>Courier New</vt:lpstr>
      <vt:lpstr>Times New Roman</vt:lpstr>
      <vt:lpstr>a-processing-mouse-event-methods</vt:lpstr>
      <vt:lpstr>Understanding class definitions 3</vt:lpstr>
      <vt:lpstr>Upcoming</vt:lpstr>
      <vt:lpstr>Reflecting on the ticket machines</vt:lpstr>
      <vt:lpstr>Conditionals – the if statement</vt:lpstr>
      <vt:lpstr>Making choices in everyday life</vt:lpstr>
      <vt:lpstr>Conditional Statement Syntax (1)</vt:lpstr>
      <vt:lpstr>Making a choice in the ticket machine (1) </vt:lpstr>
      <vt:lpstr>Making choices in everyday life (2)</vt:lpstr>
      <vt:lpstr>Conditional Statement Syntax (2) </vt:lpstr>
      <vt:lpstr>Making a choice in the ticket machine (2)</vt:lpstr>
      <vt:lpstr>Making choices in everyday life (3)</vt:lpstr>
      <vt:lpstr>Conditional Statement Syntax (3) </vt:lpstr>
      <vt:lpstr>Making a choice in the ticket machine (3)</vt:lpstr>
      <vt:lpstr>Boolean conditions</vt:lpstr>
      <vt:lpstr>Boolean conditions</vt:lpstr>
      <vt:lpstr>Java Relational Operators</vt:lpstr>
      <vt:lpstr>Some notes on the if statement</vt:lpstr>
      <vt:lpstr>Some notes on the if statement</vt:lpstr>
      <vt:lpstr>Questions?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Objects First With Java - Chapter 2</dc:title>
  <dc:subject/>
  <dc:creator>David J. Barnes, Michael Kölling</dc:creator>
  <cp:keywords/>
  <dc:description>Copyright © David J. Barnes, Michael Kölling</dc:description>
  <cp:lastModifiedBy>Mairead Meagher</cp:lastModifiedBy>
  <cp:revision>200</cp:revision>
  <cp:lastPrinted>2003-09-01T07:04:41Z</cp:lastPrinted>
  <dcterms:created xsi:type="dcterms:W3CDTF">2009-04-22T19:24:48Z</dcterms:created>
  <dcterms:modified xsi:type="dcterms:W3CDTF">2025-10-16T21:34:18Z</dcterms:modified>
  <cp:category/>
</cp:coreProperties>
</file>