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56" r:id="rId1"/>
  </p:sldMasterIdLst>
  <p:notesMasterIdLst>
    <p:notesMasterId r:id="rId19"/>
  </p:notesMasterIdLst>
  <p:handoutMasterIdLst>
    <p:handoutMasterId r:id="rId20"/>
  </p:handoutMasterIdLst>
  <p:sldIdLst>
    <p:sldId id="256" r:id="rId2"/>
    <p:sldId id="257" r:id="rId3"/>
    <p:sldId id="278" r:id="rId4"/>
    <p:sldId id="258" r:id="rId5"/>
    <p:sldId id="348" r:id="rId6"/>
    <p:sldId id="350" r:id="rId7"/>
    <p:sldId id="351" r:id="rId8"/>
    <p:sldId id="259" r:id="rId9"/>
    <p:sldId id="260" r:id="rId10"/>
    <p:sldId id="286" r:id="rId11"/>
    <p:sldId id="261" r:id="rId12"/>
    <p:sldId id="262" r:id="rId13"/>
    <p:sldId id="263" r:id="rId14"/>
    <p:sldId id="352" r:id="rId15"/>
    <p:sldId id="264" r:id="rId16"/>
    <p:sldId id="281" r:id="rId17"/>
    <p:sldId id="353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F6F5E"/>
    <a:srgbClr val="C81D2B"/>
    <a:srgbClr val="1A3170"/>
    <a:srgbClr val="A57133"/>
    <a:srgbClr val="007E4F"/>
    <a:srgbClr val="009C5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34"/>
    <p:restoredTop sz="94708"/>
  </p:normalViewPr>
  <p:slideViewPr>
    <p:cSldViewPr>
      <p:cViewPr varScale="1">
        <p:scale>
          <a:sx n="93" d="100"/>
          <a:sy n="93" d="100"/>
        </p:scale>
        <p:origin x="208" y="648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  <p:sld r:id="rId2" collapse="1"/>
    </p:sldLst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57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_rels/viewProps.xml.rels><?xml version="1.0" encoding="UTF-8" standalone="yes"?>
<Relationships xmlns="http://schemas.openxmlformats.org/package/2006/relationships"><Relationship Id="rId2" Type="http://schemas.openxmlformats.org/officeDocument/2006/relationships/slide" Target="slides/slide12.xml"/><Relationship Id="rId1" Type="http://schemas.openxmlformats.org/officeDocument/2006/relationships/slide" Target="slides/slide1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6858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eaLnBrk="1" hangingPunct="1">
              <a:defRPr sz="1200" b="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GB"/>
              <a:t>Objects First with Java</a:t>
            </a:r>
          </a:p>
        </p:txBody>
      </p:sp>
      <p:sp>
        <p:nvSpPr>
          <p:cNvPr id="4710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5334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eaLnBrk="1" hangingPunct="1">
              <a:defRPr sz="1200" b="0" smtClean="0">
                <a:solidFill>
                  <a:schemeClr val="tx1"/>
                </a:solidFill>
                <a:latin typeface="Times New Roman" charset="0"/>
              </a:defRPr>
            </a:lvl1pPr>
          </a:lstStyle>
          <a:p>
            <a:pPr>
              <a:defRPr/>
            </a:pPr>
            <a:r>
              <a:rPr lang="en-GB" altLang="en-US"/>
              <a:t>© David J. Barnes and Michael Kölling</a:t>
            </a:r>
          </a:p>
        </p:txBody>
      </p:sp>
      <p:sp>
        <p:nvSpPr>
          <p:cNvPr id="4710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5486400" y="8686800"/>
            <a:ext cx="1371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b="0" smtClean="0">
                <a:solidFill>
                  <a:schemeClr val="tx1"/>
                </a:solidFill>
                <a:latin typeface="Times New Roman" charset="0"/>
              </a:defRPr>
            </a:lvl1pPr>
          </a:lstStyle>
          <a:p>
            <a:pPr>
              <a:defRPr/>
            </a:pPr>
            <a:fld id="{BD304B27-EDAE-2B42-B931-F4A43A4E72E1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60599150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eaLnBrk="1" hangingPunct="1">
              <a:defRPr sz="1200" b="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GB"/>
              <a:t>Objects First with Java</a:t>
            </a:r>
          </a:p>
        </p:txBody>
      </p:sp>
      <p:sp>
        <p:nvSpPr>
          <p:cNvPr id="4301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 b="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536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4301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</p:txBody>
      </p:sp>
      <p:sp>
        <p:nvSpPr>
          <p:cNvPr id="4301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eaLnBrk="1" hangingPunct="1">
              <a:defRPr sz="1200" b="0" smtClean="0">
                <a:solidFill>
                  <a:schemeClr val="tx1"/>
                </a:solidFill>
                <a:latin typeface="Times New Roman" charset="0"/>
              </a:defRPr>
            </a:lvl1pPr>
          </a:lstStyle>
          <a:p>
            <a:pPr>
              <a:defRPr/>
            </a:pPr>
            <a:r>
              <a:rPr lang="en-GB" altLang="en-US"/>
              <a:t>© David J. Barnes and Michael Kölling</a:t>
            </a:r>
          </a:p>
        </p:txBody>
      </p:sp>
      <p:sp>
        <p:nvSpPr>
          <p:cNvPr id="4301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b="0" smtClean="0">
                <a:solidFill>
                  <a:schemeClr val="tx1"/>
                </a:solidFill>
                <a:latin typeface="Times New Roman" charset="0"/>
              </a:defRPr>
            </a:lvl1pPr>
          </a:lstStyle>
          <a:p>
            <a:pPr>
              <a:defRPr/>
            </a:pPr>
            <a:fld id="{86EFD2CC-C5C9-994E-897A-55750BC69004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806599796"/>
      </p:ext>
    </p:extLst>
  </p:cSld>
  <p:clrMap bg1="lt1" tx1="dk1" bg2="lt2" tx2="dk2" accent1="accent1" accent2="accent2" accent3="accent3" accent4="accent4" accent5="accent5" accent6="accent6" hlink="hlink" folHlink="folHlink"/>
  <p:hf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ＭＳ Ｐゴシック" charset="0"/>
        <a:cs typeface="ＭＳ Ｐゴシック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ＭＳ Ｐゴシック" charset="0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ＭＳ Ｐゴシック" charset="0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ＭＳ Ｐゴシック" charset="0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ＭＳ Ｐゴシック" charset="0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1pPr>
            <a:lvl2pPr marL="742950" indent="-28575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2pPr>
            <a:lvl3pPr marL="11430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3pPr>
            <a:lvl4pPr marL="16002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4pPr>
            <a:lvl5pPr marL="20574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9pPr>
          </a:lstStyle>
          <a:p>
            <a:pPr algn="l"/>
            <a:r>
              <a:rPr lang="en-GB" altLang="en-US" sz="1200" b="0">
                <a:solidFill>
                  <a:schemeClr val="tx1"/>
                </a:solidFill>
                <a:latin typeface="Times New Roman" charset="0"/>
              </a:rPr>
              <a:t>Objects First with Java</a:t>
            </a:r>
          </a:p>
        </p:txBody>
      </p:sp>
      <p:sp>
        <p:nvSpPr>
          <p:cNvPr id="18434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1pPr>
            <a:lvl2pPr marL="742950" indent="-28575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2pPr>
            <a:lvl3pPr marL="11430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3pPr>
            <a:lvl4pPr marL="16002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4pPr>
            <a:lvl5pPr marL="20574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9pPr>
          </a:lstStyle>
          <a:p>
            <a:pPr algn="l"/>
            <a:r>
              <a:rPr lang="en-GB" altLang="en-US" sz="1200" b="0">
                <a:solidFill>
                  <a:schemeClr val="tx1"/>
                </a:solidFill>
                <a:latin typeface="Times New Roman" charset="0"/>
              </a:rPr>
              <a:t>© David J. Barnes and Michael Kölling</a:t>
            </a:r>
          </a:p>
        </p:txBody>
      </p:sp>
      <p:sp>
        <p:nvSpPr>
          <p:cNvPr id="1843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1pPr>
            <a:lvl2pPr marL="742950" indent="-28575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2pPr>
            <a:lvl3pPr marL="11430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3pPr>
            <a:lvl4pPr marL="16002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4pPr>
            <a:lvl5pPr marL="20574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9pPr>
          </a:lstStyle>
          <a:p>
            <a:pPr algn="r"/>
            <a:fld id="{7FE2BB65-6B68-B449-A95C-B1A6D9CE7C69}" type="slidenum">
              <a:rPr lang="en-GB" altLang="en-US" sz="1200" b="0">
                <a:solidFill>
                  <a:schemeClr val="tx1"/>
                </a:solidFill>
                <a:latin typeface="Times New Roman" charset="0"/>
              </a:rPr>
              <a:pPr algn="r"/>
              <a:t>1</a:t>
            </a:fld>
            <a:endParaRPr lang="en-GB" altLang="en-US" sz="1200" b="0">
              <a:solidFill>
                <a:schemeClr val="tx1"/>
              </a:solidFill>
              <a:latin typeface="Times New Roman" charset="0"/>
            </a:endParaRPr>
          </a:p>
        </p:txBody>
      </p:sp>
      <p:sp>
        <p:nvSpPr>
          <p:cNvPr id="1843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34822" name="Rectangle 3"/>
          <p:cNvSpPr>
            <a:spLocks noGrp="1" noChangeArrowheads="1"/>
          </p:cNvSpPr>
          <p:nvPr>
            <p:ph type="body" idx="1"/>
          </p:nvPr>
        </p:nvSpPr>
        <p:spPr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>
              <a:defRPr/>
            </a:pPr>
            <a:endParaRPr lang="en-GB">
              <a:latin typeface="Times New Roman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731581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1pPr>
            <a:lvl2pPr marL="742950" indent="-28575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2pPr>
            <a:lvl3pPr marL="11430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3pPr>
            <a:lvl4pPr marL="16002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4pPr>
            <a:lvl5pPr marL="20574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9pPr>
          </a:lstStyle>
          <a:p>
            <a:pPr algn="l"/>
            <a:r>
              <a:rPr lang="en-GB" altLang="en-US" sz="1200" b="0">
                <a:solidFill>
                  <a:schemeClr val="tx1"/>
                </a:solidFill>
                <a:latin typeface="Times New Roman" charset="0"/>
              </a:rPr>
              <a:t>Objects First with Java</a:t>
            </a:r>
          </a:p>
        </p:txBody>
      </p:sp>
      <p:sp>
        <p:nvSpPr>
          <p:cNvPr id="20482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1pPr>
            <a:lvl2pPr marL="742950" indent="-28575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2pPr>
            <a:lvl3pPr marL="11430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3pPr>
            <a:lvl4pPr marL="16002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4pPr>
            <a:lvl5pPr marL="20574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9pPr>
          </a:lstStyle>
          <a:p>
            <a:pPr algn="l"/>
            <a:r>
              <a:rPr lang="en-GB" altLang="en-US" sz="1200" b="0">
                <a:solidFill>
                  <a:schemeClr val="tx1"/>
                </a:solidFill>
                <a:latin typeface="Times New Roman" charset="0"/>
              </a:rPr>
              <a:t>© David J. Barnes and Michael Kölling</a:t>
            </a:r>
          </a:p>
        </p:txBody>
      </p:sp>
      <p:sp>
        <p:nvSpPr>
          <p:cNvPr id="2048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1pPr>
            <a:lvl2pPr marL="742950" indent="-28575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2pPr>
            <a:lvl3pPr marL="11430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3pPr>
            <a:lvl4pPr marL="16002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4pPr>
            <a:lvl5pPr marL="20574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9pPr>
          </a:lstStyle>
          <a:p>
            <a:pPr algn="r"/>
            <a:fld id="{63EEF35E-136E-9848-81A3-81FC4CB5ACBD}" type="slidenum">
              <a:rPr lang="en-GB" altLang="en-US" sz="1200" b="0">
                <a:solidFill>
                  <a:schemeClr val="tx1"/>
                </a:solidFill>
                <a:latin typeface="Times New Roman" charset="0"/>
              </a:rPr>
              <a:pPr algn="r"/>
              <a:t>2</a:t>
            </a:fld>
            <a:endParaRPr lang="en-GB" altLang="en-US" sz="1200" b="0">
              <a:solidFill>
                <a:schemeClr val="tx1"/>
              </a:solidFill>
              <a:latin typeface="Times New Roman" charset="0"/>
            </a:endParaRPr>
          </a:p>
        </p:txBody>
      </p:sp>
      <p:sp>
        <p:nvSpPr>
          <p:cNvPr id="2048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35846" name="Rectangle 3"/>
          <p:cNvSpPr>
            <a:spLocks noGrp="1" noChangeArrowheads="1"/>
          </p:cNvSpPr>
          <p:nvPr>
            <p:ph type="body" idx="1"/>
          </p:nvPr>
        </p:nvSpPr>
        <p:spPr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>
              <a:defRPr/>
            </a:pPr>
            <a:endParaRPr lang="en-GB">
              <a:latin typeface="Times New Roman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8705070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1pPr>
            <a:lvl2pPr marL="742950" indent="-28575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2pPr>
            <a:lvl3pPr marL="11430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3pPr>
            <a:lvl4pPr marL="16002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4pPr>
            <a:lvl5pPr marL="20574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9pPr>
          </a:lstStyle>
          <a:p>
            <a:pPr algn="l"/>
            <a:r>
              <a:rPr lang="en-GB" altLang="en-US" sz="1200" b="0">
                <a:solidFill>
                  <a:schemeClr val="tx1"/>
                </a:solidFill>
                <a:latin typeface="Times New Roman" charset="0"/>
              </a:rPr>
              <a:t>Objects First with Java</a:t>
            </a:r>
          </a:p>
        </p:txBody>
      </p:sp>
      <p:sp>
        <p:nvSpPr>
          <p:cNvPr id="24578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1pPr>
            <a:lvl2pPr marL="742950" indent="-28575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2pPr>
            <a:lvl3pPr marL="11430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3pPr>
            <a:lvl4pPr marL="16002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4pPr>
            <a:lvl5pPr marL="20574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9pPr>
          </a:lstStyle>
          <a:p>
            <a:pPr algn="l"/>
            <a:r>
              <a:rPr lang="en-GB" altLang="en-US" sz="1200" b="0">
                <a:solidFill>
                  <a:schemeClr val="tx1"/>
                </a:solidFill>
                <a:latin typeface="Times New Roman" charset="0"/>
              </a:rPr>
              <a:t>© David J. Barnes and Michael Kölling</a:t>
            </a:r>
          </a:p>
        </p:txBody>
      </p:sp>
      <p:sp>
        <p:nvSpPr>
          <p:cNvPr id="2457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1pPr>
            <a:lvl2pPr marL="742950" indent="-28575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2pPr>
            <a:lvl3pPr marL="11430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3pPr>
            <a:lvl4pPr marL="16002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4pPr>
            <a:lvl5pPr marL="20574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9pPr>
          </a:lstStyle>
          <a:p>
            <a:pPr algn="r"/>
            <a:fld id="{121DF6D3-2844-494B-BE5D-347BDDF11B69}" type="slidenum">
              <a:rPr lang="en-GB" altLang="en-US" sz="1200" b="0">
                <a:solidFill>
                  <a:schemeClr val="tx1"/>
                </a:solidFill>
                <a:latin typeface="Times New Roman" charset="0"/>
              </a:rPr>
              <a:pPr algn="r"/>
              <a:t>3</a:t>
            </a:fld>
            <a:endParaRPr lang="en-GB" altLang="en-US" sz="1200" b="0">
              <a:solidFill>
                <a:schemeClr val="tx1"/>
              </a:solidFill>
              <a:latin typeface="Times New Roman" charset="0"/>
            </a:endParaRPr>
          </a:p>
        </p:txBody>
      </p:sp>
      <p:sp>
        <p:nvSpPr>
          <p:cNvPr id="2458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37894" name="Rectangle 3"/>
          <p:cNvSpPr>
            <a:spLocks noGrp="1" noChangeArrowheads="1"/>
          </p:cNvSpPr>
          <p:nvPr>
            <p:ph type="body" idx="1"/>
          </p:nvPr>
        </p:nvSpPr>
        <p:spPr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>
              <a:defRPr/>
            </a:pPr>
            <a:endParaRPr lang="en-GB">
              <a:latin typeface="Times New Roman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06886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1pPr>
            <a:lvl2pPr marL="742950" indent="-28575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2pPr>
            <a:lvl3pPr marL="11430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3pPr>
            <a:lvl4pPr marL="16002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4pPr>
            <a:lvl5pPr marL="20574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9pPr>
          </a:lstStyle>
          <a:p>
            <a:pPr algn="l"/>
            <a:r>
              <a:rPr lang="en-GB" altLang="en-US" sz="1200" b="0">
                <a:solidFill>
                  <a:schemeClr val="tx1"/>
                </a:solidFill>
                <a:latin typeface="Times New Roman" charset="0"/>
              </a:rPr>
              <a:t>Objects First with Java</a:t>
            </a:r>
          </a:p>
        </p:txBody>
      </p:sp>
      <p:sp>
        <p:nvSpPr>
          <p:cNvPr id="22530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1pPr>
            <a:lvl2pPr marL="742950" indent="-28575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2pPr>
            <a:lvl3pPr marL="11430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3pPr>
            <a:lvl4pPr marL="16002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4pPr>
            <a:lvl5pPr marL="20574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9pPr>
          </a:lstStyle>
          <a:p>
            <a:pPr algn="l"/>
            <a:r>
              <a:rPr lang="en-GB" altLang="en-US" sz="1200" b="0">
                <a:solidFill>
                  <a:schemeClr val="tx1"/>
                </a:solidFill>
                <a:latin typeface="Times New Roman" charset="0"/>
              </a:rPr>
              <a:t>© David J. Barnes and Michael Kölling</a:t>
            </a:r>
          </a:p>
        </p:txBody>
      </p:sp>
      <p:sp>
        <p:nvSpPr>
          <p:cNvPr id="2253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1pPr>
            <a:lvl2pPr marL="742950" indent="-28575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2pPr>
            <a:lvl3pPr marL="11430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3pPr>
            <a:lvl4pPr marL="16002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4pPr>
            <a:lvl5pPr marL="20574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9pPr>
          </a:lstStyle>
          <a:p>
            <a:pPr algn="r"/>
            <a:fld id="{A505FE46-EE54-4B4E-9719-9BE6FC243183}" type="slidenum">
              <a:rPr lang="en-GB" altLang="en-US" sz="1200" b="0">
                <a:solidFill>
                  <a:schemeClr val="tx1"/>
                </a:solidFill>
                <a:latin typeface="Times New Roman" charset="0"/>
              </a:rPr>
              <a:pPr algn="r"/>
              <a:t>4</a:t>
            </a:fld>
            <a:endParaRPr lang="en-GB" altLang="en-US" sz="1200" b="0">
              <a:solidFill>
                <a:schemeClr val="tx1"/>
              </a:solidFill>
              <a:latin typeface="Times New Roman" charset="0"/>
            </a:endParaRPr>
          </a:p>
        </p:txBody>
      </p:sp>
      <p:sp>
        <p:nvSpPr>
          <p:cNvPr id="2253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36870" name="Rectangle 3"/>
          <p:cNvSpPr>
            <a:spLocks noGrp="1" noChangeArrowheads="1"/>
          </p:cNvSpPr>
          <p:nvPr>
            <p:ph type="body" idx="1"/>
          </p:nvPr>
        </p:nvSpPr>
        <p:spPr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>
              <a:defRPr/>
            </a:pPr>
            <a:endParaRPr lang="en-GB">
              <a:latin typeface="Times New Roman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1425277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1pPr>
            <a:lvl2pPr marL="742950" indent="-28575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2pPr>
            <a:lvl3pPr marL="11430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3pPr>
            <a:lvl4pPr marL="16002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4pPr>
            <a:lvl5pPr marL="20574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9pPr>
          </a:lstStyle>
          <a:p>
            <a:pPr algn="l"/>
            <a:r>
              <a:rPr lang="en-GB" altLang="en-US" sz="1200" b="0">
                <a:solidFill>
                  <a:schemeClr val="tx1"/>
                </a:solidFill>
                <a:latin typeface="Times New Roman" charset="0"/>
              </a:rPr>
              <a:t>Objects First with Java</a:t>
            </a:r>
          </a:p>
        </p:txBody>
      </p:sp>
      <p:sp>
        <p:nvSpPr>
          <p:cNvPr id="26626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1pPr>
            <a:lvl2pPr marL="742950" indent="-28575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2pPr>
            <a:lvl3pPr marL="11430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3pPr>
            <a:lvl4pPr marL="16002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4pPr>
            <a:lvl5pPr marL="20574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9pPr>
          </a:lstStyle>
          <a:p>
            <a:pPr algn="l"/>
            <a:r>
              <a:rPr lang="en-GB" altLang="en-US" sz="1200" b="0">
                <a:solidFill>
                  <a:schemeClr val="tx1"/>
                </a:solidFill>
                <a:latin typeface="Times New Roman" charset="0"/>
              </a:rPr>
              <a:t>© David J. Barnes and Michael Kölling</a:t>
            </a:r>
          </a:p>
        </p:txBody>
      </p:sp>
      <p:sp>
        <p:nvSpPr>
          <p:cNvPr id="2662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1pPr>
            <a:lvl2pPr marL="742950" indent="-28575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2pPr>
            <a:lvl3pPr marL="11430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3pPr>
            <a:lvl4pPr marL="16002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4pPr>
            <a:lvl5pPr marL="20574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9pPr>
          </a:lstStyle>
          <a:p>
            <a:pPr algn="r"/>
            <a:fld id="{0378F90A-9381-8040-A980-0A2625F4C8C4}" type="slidenum">
              <a:rPr lang="en-GB" altLang="en-US" sz="1200" b="0">
                <a:solidFill>
                  <a:schemeClr val="tx1"/>
                </a:solidFill>
                <a:latin typeface="Times New Roman" charset="0"/>
              </a:rPr>
              <a:pPr algn="r"/>
              <a:t>8</a:t>
            </a:fld>
            <a:endParaRPr lang="en-GB" altLang="en-US" sz="1200" b="0">
              <a:solidFill>
                <a:schemeClr val="tx1"/>
              </a:solidFill>
              <a:latin typeface="Times New Roman" charset="0"/>
            </a:endParaRPr>
          </a:p>
        </p:txBody>
      </p:sp>
      <p:sp>
        <p:nvSpPr>
          <p:cNvPr id="2662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38918" name="Rectangle 3"/>
          <p:cNvSpPr>
            <a:spLocks noGrp="1" noChangeArrowheads="1"/>
          </p:cNvSpPr>
          <p:nvPr>
            <p:ph type="body" idx="1"/>
          </p:nvPr>
        </p:nvSpPr>
        <p:spPr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>
              <a:defRPr/>
            </a:pPr>
            <a:endParaRPr lang="en-GB">
              <a:latin typeface="Times New Roman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275006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1pPr>
            <a:lvl2pPr marL="742950" indent="-28575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2pPr>
            <a:lvl3pPr marL="11430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3pPr>
            <a:lvl4pPr marL="16002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4pPr>
            <a:lvl5pPr marL="20574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9pPr>
          </a:lstStyle>
          <a:p>
            <a:pPr algn="l"/>
            <a:r>
              <a:rPr lang="en-GB" altLang="en-US" sz="1200" b="0">
                <a:solidFill>
                  <a:schemeClr val="tx1"/>
                </a:solidFill>
                <a:latin typeface="Times New Roman" charset="0"/>
              </a:rPr>
              <a:t>Objects First with Java</a:t>
            </a:r>
          </a:p>
        </p:txBody>
      </p:sp>
      <p:sp>
        <p:nvSpPr>
          <p:cNvPr id="28674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1pPr>
            <a:lvl2pPr marL="742950" indent="-28575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2pPr>
            <a:lvl3pPr marL="11430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3pPr>
            <a:lvl4pPr marL="16002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4pPr>
            <a:lvl5pPr marL="20574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9pPr>
          </a:lstStyle>
          <a:p>
            <a:pPr algn="l"/>
            <a:r>
              <a:rPr lang="en-GB" altLang="en-US" sz="1200" b="0">
                <a:solidFill>
                  <a:schemeClr val="tx1"/>
                </a:solidFill>
                <a:latin typeface="Times New Roman" charset="0"/>
              </a:rPr>
              <a:t>© David J. Barnes and Michael Kölling</a:t>
            </a:r>
          </a:p>
        </p:txBody>
      </p:sp>
      <p:sp>
        <p:nvSpPr>
          <p:cNvPr id="2867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1pPr>
            <a:lvl2pPr marL="742950" indent="-28575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2pPr>
            <a:lvl3pPr marL="11430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3pPr>
            <a:lvl4pPr marL="16002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4pPr>
            <a:lvl5pPr marL="20574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9pPr>
          </a:lstStyle>
          <a:p>
            <a:pPr algn="r"/>
            <a:fld id="{027A423C-2F31-A64B-98F4-2BE2E2995930}" type="slidenum">
              <a:rPr lang="en-GB" altLang="en-US" sz="1200" b="0">
                <a:solidFill>
                  <a:schemeClr val="tx1"/>
                </a:solidFill>
                <a:latin typeface="Times New Roman" charset="0"/>
              </a:rPr>
              <a:pPr algn="r"/>
              <a:t>9</a:t>
            </a:fld>
            <a:endParaRPr lang="en-GB" altLang="en-US" sz="1200" b="0">
              <a:solidFill>
                <a:schemeClr val="tx1"/>
              </a:solidFill>
              <a:latin typeface="Times New Roman" charset="0"/>
            </a:endParaRPr>
          </a:p>
        </p:txBody>
      </p:sp>
      <p:sp>
        <p:nvSpPr>
          <p:cNvPr id="2867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39942" name="Rectangle 3"/>
          <p:cNvSpPr>
            <a:spLocks noGrp="1" noChangeArrowheads="1"/>
          </p:cNvSpPr>
          <p:nvPr>
            <p:ph type="body" idx="1"/>
          </p:nvPr>
        </p:nvSpPr>
        <p:spPr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>
              <a:defRPr/>
            </a:pPr>
            <a:endParaRPr lang="en-GB">
              <a:latin typeface="Times New Roman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0711350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1pPr>
            <a:lvl2pPr marL="742950" indent="-28575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2pPr>
            <a:lvl3pPr marL="11430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3pPr>
            <a:lvl4pPr marL="16002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4pPr>
            <a:lvl5pPr marL="20574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9pPr>
          </a:lstStyle>
          <a:p>
            <a:pPr algn="l"/>
            <a:r>
              <a:rPr lang="en-GB" altLang="en-US" sz="1200" b="0">
                <a:solidFill>
                  <a:schemeClr val="tx1"/>
                </a:solidFill>
                <a:latin typeface="Times New Roman" charset="0"/>
              </a:rPr>
              <a:t>Objects First with Java</a:t>
            </a:r>
          </a:p>
        </p:txBody>
      </p:sp>
      <p:sp>
        <p:nvSpPr>
          <p:cNvPr id="31746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1pPr>
            <a:lvl2pPr marL="742950" indent="-28575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2pPr>
            <a:lvl3pPr marL="11430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3pPr>
            <a:lvl4pPr marL="16002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4pPr>
            <a:lvl5pPr marL="20574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9pPr>
          </a:lstStyle>
          <a:p>
            <a:pPr algn="l"/>
            <a:r>
              <a:rPr lang="en-GB" altLang="en-US" sz="1200" b="0">
                <a:solidFill>
                  <a:schemeClr val="tx1"/>
                </a:solidFill>
                <a:latin typeface="Times New Roman" charset="0"/>
              </a:rPr>
              <a:t>© David J. Barnes and Michael Kölling</a:t>
            </a:r>
          </a:p>
        </p:txBody>
      </p:sp>
      <p:sp>
        <p:nvSpPr>
          <p:cNvPr id="3174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1pPr>
            <a:lvl2pPr marL="742950" indent="-28575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2pPr>
            <a:lvl3pPr marL="11430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3pPr>
            <a:lvl4pPr marL="16002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4pPr>
            <a:lvl5pPr marL="20574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9pPr>
          </a:lstStyle>
          <a:p>
            <a:pPr algn="r"/>
            <a:fld id="{6C8CED3F-91D8-8545-A8A6-5EC7D5FF1716}" type="slidenum">
              <a:rPr lang="en-GB" altLang="en-US" sz="1200" b="0">
                <a:solidFill>
                  <a:schemeClr val="tx1"/>
                </a:solidFill>
                <a:latin typeface="Times New Roman" charset="0"/>
              </a:rPr>
              <a:pPr algn="r"/>
              <a:t>11</a:t>
            </a:fld>
            <a:endParaRPr lang="en-GB" altLang="en-US" sz="1200" b="0">
              <a:solidFill>
                <a:schemeClr val="tx1"/>
              </a:solidFill>
              <a:latin typeface="Times New Roman" charset="0"/>
            </a:endParaRPr>
          </a:p>
        </p:txBody>
      </p:sp>
      <p:sp>
        <p:nvSpPr>
          <p:cNvPr id="3174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40966" name="Rectangle 3"/>
          <p:cNvSpPr>
            <a:spLocks noGrp="1" noChangeArrowheads="1"/>
          </p:cNvSpPr>
          <p:nvPr>
            <p:ph type="body" idx="1"/>
          </p:nvPr>
        </p:nvSpPr>
        <p:spPr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>
              <a:defRPr/>
            </a:pPr>
            <a:endParaRPr lang="en-GB">
              <a:latin typeface="Times New Roman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545901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1pPr>
            <a:lvl2pPr marL="742950" indent="-28575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2pPr>
            <a:lvl3pPr marL="11430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3pPr>
            <a:lvl4pPr marL="16002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4pPr>
            <a:lvl5pPr marL="20574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9pPr>
          </a:lstStyle>
          <a:p>
            <a:pPr algn="l"/>
            <a:r>
              <a:rPr lang="en-GB" altLang="en-US" sz="1200" b="0">
                <a:solidFill>
                  <a:schemeClr val="tx1"/>
                </a:solidFill>
                <a:latin typeface="Times New Roman" charset="0"/>
              </a:rPr>
              <a:t>Objects First with Java</a:t>
            </a:r>
          </a:p>
        </p:txBody>
      </p:sp>
      <p:sp>
        <p:nvSpPr>
          <p:cNvPr id="33794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1pPr>
            <a:lvl2pPr marL="742950" indent="-28575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2pPr>
            <a:lvl3pPr marL="11430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3pPr>
            <a:lvl4pPr marL="16002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4pPr>
            <a:lvl5pPr marL="20574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9pPr>
          </a:lstStyle>
          <a:p>
            <a:pPr algn="l"/>
            <a:r>
              <a:rPr lang="en-GB" altLang="en-US" sz="1200" b="0">
                <a:solidFill>
                  <a:schemeClr val="tx1"/>
                </a:solidFill>
                <a:latin typeface="Times New Roman" charset="0"/>
              </a:rPr>
              <a:t>© David J. Barnes and Michael Kölling</a:t>
            </a:r>
          </a:p>
        </p:txBody>
      </p:sp>
      <p:sp>
        <p:nvSpPr>
          <p:cNvPr id="3379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1pPr>
            <a:lvl2pPr marL="742950" indent="-28575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2pPr>
            <a:lvl3pPr marL="11430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3pPr>
            <a:lvl4pPr marL="16002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4pPr>
            <a:lvl5pPr marL="20574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9pPr>
          </a:lstStyle>
          <a:p>
            <a:pPr algn="r"/>
            <a:fld id="{C7652629-C275-0C4D-8DEC-93027D009818}" type="slidenum">
              <a:rPr lang="en-GB" altLang="en-US" sz="1200" b="0">
                <a:solidFill>
                  <a:schemeClr val="tx1"/>
                </a:solidFill>
                <a:latin typeface="Times New Roman" charset="0"/>
              </a:rPr>
              <a:pPr algn="r"/>
              <a:t>12</a:t>
            </a:fld>
            <a:endParaRPr lang="en-GB" altLang="en-US" sz="1200" b="0">
              <a:solidFill>
                <a:schemeClr val="tx1"/>
              </a:solidFill>
              <a:latin typeface="Times New Roman" charset="0"/>
            </a:endParaRPr>
          </a:p>
        </p:txBody>
      </p:sp>
      <p:sp>
        <p:nvSpPr>
          <p:cNvPr id="3379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41990" name="Rectangle 3"/>
          <p:cNvSpPr>
            <a:spLocks noGrp="1" noChangeArrowheads="1"/>
          </p:cNvSpPr>
          <p:nvPr>
            <p:ph type="body" idx="1"/>
          </p:nvPr>
        </p:nvSpPr>
        <p:spPr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>
              <a:defRPr/>
            </a:pPr>
            <a:endParaRPr lang="en-GB">
              <a:latin typeface="Times New Roman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9745643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1pPr>
            <a:lvl2pPr marL="742950" indent="-28575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2pPr>
            <a:lvl3pPr marL="11430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3pPr>
            <a:lvl4pPr marL="16002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4pPr>
            <a:lvl5pPr marL="20574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9pPr>
          </a:lstStyle>
          <a:p>
            <a:pPr algn="l"/>
            <a:r>
              <a:rPr lang="en-GB" altLang="en-US" sz="1200" b="0">
                <a:solidFill>
                  <a:schemeClr val="tx1"/>
                </a:solidFill>
                <a:latin typeface="Times New Roman" charset="0"/>
              </a:rPr>
              <a:t>Objects First with Java</a:t>
            </a:r>
          </a:p>
        </p:txBody>
      </p:sp>
      <p:sp>
        <p:nvSpPr>
          <p:cNvPr id="35842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1pPr>
            <a:lvl2pPr marL="742950" indent="-28575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2pPr>
            <a:lvl3pPr marL="11430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3pPr>
            <a:lvl4pPr marL="16002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4pPr>
            <a:lvl5pPr marL="20574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9pPr>
          </a:lstStyle>
          <a:p>
            <a:pPr algn="l"/>
            <a:r>
              <a:rPr lang="en-GB" altLang="en-US" sz="1200" b="0">
                <a:solidFill>
                  <a:schemeClr val="tx1"/>
                </a:solidFill>
                <a:latin typeface="Times New Roman" charset="0"/>
              </a:rPr>
              <a:t>© David J. Barnes and Michael Kölling</a:t>
            </a:r>
          </a:p>
        </p:txBody>
      </p:sp>
      <p:sp>
        <p:nvSpPr>
          <p:cNvPr id="3584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1pPr>
            <a:lvl2pPr marL="742950" indent="-28575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2pPr>
            <a:lvl3pPr marL="11430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3pPr>
            <a:lvl4pPr marL="16002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4pPr>
            <a:lvl5pPr marL="20574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9pPr>
          </a:lstStyle>
          <a:p>
            <a:pPr algn="r"/>
            <a:fld id="{B935509B-9BC9-2B42-B016-D97018AA8DC5}" type="slidenum">
              <a:rPr lang="en-GB" altLang="en-US" sz="1200" b="0">
                <a:solidFill>
                  <a:schemeClr val="tx1"/>
                </a:solidFill>
                <a:latin typeface="Times New Roman" charset="0"/>
              </a:rPr>
              <a:pPr algn="r"/>
              <a:t>13</a:t>
            </a:fld>
            <a:endParaRPr lang="en-GB" altLang="en-US" sz="1200" b="0">
              <a:solidFill>
                <a:schemeClr val="tx1"/>
              </a:solidFill>
              <a:latin typeface="Times New Roman" charset="0"/>
            </a:endParaRPr>
          </a:p>
        </p:txBody>
      </p:sp>
      <p:sp>
        <p:nvSpPr>
          <p:cNvPr id="3584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43014" name="Rectangle 3"/>
          <p:cNvSpPr>
            <a:spLocks noGrp="1" noChangeArrowheads="1"/>
          </p:cNvSpPr>
          <p:nvPr>
            <p:ph type="body" idx="1"/>
          </p:nvPr>
        </p:nvSpPr>
        <p:spPr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>
              <a:defRPr/>
            </a:pPr>
            <a:endParaRPr lang="en-GB">
              <a:latin typeface="Times New Roman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484531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9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1pPr>
            <a:lvl2pPr marL="742950" indent="-28575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2pPr>
            <a:lvl3pPr marL="11430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3pPr>
            <a:lvl4pPr marL="16002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4pPr>
            <a:lvl5pPr marL="20574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9pPr>
          </a:lstStyle>
          <a:p>
            <a:pPr algn="l"/>
            <a:r>
              <a:rPr lang="en-GB" altLang="en-US" sz="1200" b="0">
                <a:solidFill>
                  <a:schemeClr val="tx1"/>
                </a:solidFill>
                <a:latin typeface="Times New Roman" charset="0"/>
              </a:rPr>
              <a:t>Objects First with Java</a:t>
            </a:r>
          </a:p>
        </p:txBody>
      </p:sp>
      <p:sp>
        <p:nvSpPr>
          <p:cNvPr id="37890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1pPr>
            <a:lvl2pPr marL="742950" indent="-28575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2pPr>
            <a:lvl3pPr marL="11430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3pPr>
            <a:lvl4pPr marL="16002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4pPr>
            <a:lvl5pPr marL="20574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9pPr>
          </a:lstStyle>
          <a:p>
            <a:pPr algn="l"/>
            <a:r>
              <a:rPr lang="en-GB" altLang="en-US" sz="1200" b="0">
                <a:solidFill>
                  <a:schemeClr val="tx1"/>
                </a:solidFill>
                <a:latin typeface="Times New Roman" charset="0"/>
              </a:rPr>
              <a:t>© David J. Barnes and Michael Kölling</a:t>
            </a:r>
          </a:p>
        </p:txBody>
      </p:sp>
      <p:sp>
        <p:nvSpPr>
          <p:cNvPr id="3789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1pPr>
            <a:lvl2pPr marL="742950" indent="-28575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2pPr>
            <a:lvl3pPr marL="11430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3pPr>
            <a:lvl4pPr marL="16002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4pPr>
            <a:lvl5pPr marL="20574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9pPr>
          </a:lstStyle>
          <a:p>
            <a:pPr algn="r"/>
            <a:fld id="{1C7EA08C-4245-DA4C-A56F-84B99985638D}" type="slidenum">
              <a:rPr lang="en-GB" altLang="en-US" sz="1200" b="0">
                <a:solidFill>
                  <a:schemeClr val="tx1"/>
                </a:solidFill>
                <a:latin typeface="Times New Roman" charset="0"/>
              </a:rPr>
              <a:pPr algn="r"/>
              <a:t>15</a:t>
            </a:fld>
            <a:endParaRPr lang="en-GB" altLang="en-US" sz="1200" b="0">
              <a:solidFill>
                <a:schemeClr val="tx1"/>
              </a:solidFill>
              <a:latin typeface="Times New Roman" charset="0"/>
            </a:endParaRPr>
          </a:p>
        </p:txBody>
      </p:sp>
      <p:sp>
        <p:nvSpPr>
          <p:cNvPr id="3789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44038" name="Rectangle 3"/>
          <p:cNvSpPr>
            <a:spLocks noGrp="1" noChangeArrowheads="1"/>
          </p:cNvSpPr>
          <p:nvPr>
            <p:ph type="body" idx="1"/>
          </p:nvPr>
        </p:nvSpPr>
        <p:spPr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>
              <a:defRPr/>
            </a:pPr>
            <a:endParaRPr lang="en-GB">
              <a:latin typeface="Times New Roman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0694828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1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1pPr>
            <a:lvl2pPr marL="742950" indent="-28575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2pPr>
            <a:lvl3pPr marL="11430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3pPr>
            <a:lvl4pPr marL="16002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4pPr>
            <a:lvl5pPr marL="20574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9pPr>
          </a:lstStyle>
          <a:p>
            <a:pPr algn="l"/>
            <a:r>
              <a:rPr lang="en-GB" altLang="en-US" sz="1200" b="0">
                <a:solidFill>
                  <a:schemeClr val="tx1"/>
                </a:solidFill>
                <a:latin typeface="Times New Roman" charset="0"/>
              </a:rPr>
              <a:t>Objects First with Java</a:t>
            </a:r>
          </a:p>
        </p:txBody>
      </p:sp>
      <p:sp>
        <p:nvSpPr>
          <p:cNvPr id="40962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1pPr>
            <a:lvl2pPr marL="742950" indent="-28575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2pPr>
            <a:lvl3pPr marL="11430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3pPr>
            <a:lvl4pPr marL="16002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4pPr>
            <a:lvl5pPr marL="20574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9pPr>
          </a:lstStyle>
          <a:p>
            <a:pPr algn="l"/>
            <a:r>
              <a:rPr lang="en-GB" altLang="en-US" sz="1200" b="0">
                <a:solidFill>
                  <a:schemeClr val="tx1"/>
                </a:solidFill>
                <a:latin typeface="Times New Roman" charset="0"/>
              </a:rPr>
              <a:t>© David J. Barnes and Michael Kölling</a:t>
            </a:r>
          </a:p>
        </p:txBody>
      </p:sp>
      <p:sp>
        <p:nvSpPr>
          <p:cNvPr id="4096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1pPr>
            <a:lvl2pPr marL="742950" indent="-28575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2pPr>
            <a:lvl3pPr marL="11430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3pPr>
            <a:lvl4pPr marL="16002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4pPr>
            <a:lvl5pPr marL="20574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9pPr>
          </a:lstStyle>
          <a:p>
            <a:pPr algn="r"/>
            <a:fld id="{BAD7F267-F486-8C42-8BE3-D38733D75DD8}" type="slidenum">
              <a:rPr lang="en-GB" altLang="en-US" sz="1200" b="0">
                <a:solidFill>
                  <a:schemeClr val="tx1"/>
                </a:solidFill>
                <a:latin typeface="Times New Roman" charset="0"/>
              </a:rPr>
              <a:pPr algn="r"/>
              <a:t>16</a:t>
            </a:fld>
            <a:endParaRPr lang="en-GB" altLang="en-US" sz="1200" b="0">
              <a:solidFill>
                <a:schemeClr val="tx1"/>
              </a:solidFill>
              <a:latin typeface="Times New Roman" charset="0"/>
            </a:endParaRPr>
          </a:p>
        </p:txBody>
      </p:sp>
      <p:sp>
        <p:nvSpPr>
          <p:cNvPr id="4096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45062" name="Rectangle 3"/>
          <p:cNvSpPr>
            <a:spLocks noGrp="1" noChangeArrowheads="1"/>
          </p:cNvSpPr>
          <p:nvPr>
            <p:ph type="body" idx="1"/>
          </p:nvPr>
        </p:nvSpPr>
        <p:spPr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>
              <a:defRPr/>
            </a:pPr>
            <a:endParaRPr lang="en-GB">
              <a:latin typeface="Times New Roman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086204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9/19/25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78560252"/>
      </p:ext>
    </p:extLst>
  </p:cSld>
  <p:clrMapOvr>
    <a:masterClrMapping/>
  </p:clrMapOvr>
  <p:hf sldNum="0" hd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9/19/25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GB" smtClean="0"/>
              <a:t>‹#›</a:t>
            </a:fld>
            <a:endParaRPr lang="en-GB"/>
          </a:p>
        </p:txBody>
      </p:sp>
      <p:cxnSp>
        <p:nvCxnSpPr>
          <p:cNvPr id="7" name="Straight Connector 6"/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54FA624-7CFC-3CFB-8384-E3FA99B20E94}"/>
              </a:ext>
            </a:extLst>
          </p:cNvPr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C51F014-A304-3672-EB37-723E4843A104}"/>
              </a:ext>
            </a:extLst>
          </p:cNvPr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61214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9/19/25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00206260"/>
      </p:ext>
    </p:extLst>
  </p:cSld>
  <p:clrMapOvr>
    <a:masterClrMapping/>
  </p:clrMapOvr>
  <p:hf sldNum="0" hd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9/19/25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GB" smtClean="0"/>
              <a:t>‹#›</a:t>
            </a:fld>
            <a:endParaRPr lang="en-GB"/>
          </a:p>
        </p:txBody>
      </p:sp>
      <p:cxnSp>
        <p:nvCxnSpPr>
          <p:cNvPr id="8" name="Straight Connector 7"/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F42A16B-6893-A143-E832-A99D7B6427B3}"/>
              </a:ext>
            </a:extLst>
          </p:cNvPr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9B64861E-C2E3-2C0F-0C43-CF6F042CC211}"/>
              </a:ext>
            </a:extLst>
          </p:cNvPr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07909346"/>
      </p:ext>
    </p:extLst>
  </p:cSld>
  <p:clrMapOvr>
    <a:masterClrMapping/>
  </p:clrMapOvr>
  <p:hf sldNum="0" hd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9/19/25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GB" smtClean="0"/>
              <a:t>‹#›</a:t>
            </a:fld>
            <a:endParaRPr lang="en-GB"/>
          </a:p>
        </p:txBody>
      </p:sp>
      <p:cxnSp>
        <p:nvCxnSpPr>
          <p:cNvPr id="10" name="Straight Connector 9"/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3436290-11E2-F20B-966B-F18296CC48D7}"/>
              </a:ext>
            </a:extLst>
          </p:cNvPr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19101854"/>
      </p:ext>
    </p:extLst>
  </p:cSld>
  <p:clrMapOvr>
    <a:masterClrMapping/>
  </p:clrMapOvr>
  <p:hf sldNum="0" hd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9/19/25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GB" smtClean="0"/>
              <a:t>‹#›</a:t>
            </a:fld>
            <a:endParaRPr lang="en-GB"/>
          </a:p>
        </p:txBody>
      </p:sp>
      <p:cxnSp>
        <p:nvCxnSpPr>
          <p:cNvPr id="6" name="Straight Connector 5"/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DB4946F-2A50-46DF-D246-8E463A5B9E4E}"/>
              </a:ext>
            </a:extLst>
          </p:cNvPr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CCF61A43-37C0-D158-13BE-1753663F3BEC}"/>
              </a:ext>
            </a:extLst>
          </p:cNvPr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0677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9/19/25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961143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9/19/25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3040028"/>
      </p:ext>
    </p:extLst>
  </p:cSld>
  <p:clrMapOvr>
    <a:masterClrMapping/>
  </p:clrMapOvr>
  <p:hf sldNum="0" hd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9/19/25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56425582"/>
      </p:ext>
    </p:extLst>
  </p:cSld>
  <p:clrMapOvr>
    <a:masterClrMapping/>
  </p:clrMapOvr>
  <p:hf sldNum="0" hd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9/19/25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39762171"/>
      </p:ext>
    </p:extLst>
  </p:cSld>
  <p:clrMapOvr>
    <a:masterClrMapping/>
  </p:clrMapOvr>
  <p:hf sldNum="0" hd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9/19/25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7806915"/>
      </p:ext>
    </p:extLst>
  </p:cSld>
  <p:clrMapOvr>
    <a:masterClrMapping/>
  </p:clrMapOvr>
  <p:hf sldNum="0" hd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hape 22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GB"/>
              <a:t>Click to edit Master title style</a:t>
            </a:r>
            <a:endParaRPr/>
          </a:p>
        </p:txBody>
      </p:sp>
      <p:sp>
        <p:nvSpPr>
          <p:cNvPr id="23" name="Shape 23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/>
          </a:p>
        </p:txBody>
      </p:sp>
      <p:sp>
        <p:nvSpPr>
          <p:cNvPr id="24" name="Shape 24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34828604"/>
      </p:ext>
    </p:extLst>
  </p:cSld>
  <p:clrMapOvr>
    <a:masterClrMapping/>
  </p:clrMapOvr>
  <p:hf sldNum="0" hd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Text"/>
          <p:cNvSpPr txBox="1">
            <a:spLocks noGrp="1"/>
          </p:cNvSpPr>
          <p:nvPr>
            <p:ph type="title"/>
          </p:nvPr>
        </p:nvSpPr>
        <p:spPr>
          <a:xfrm>
            <a:off x="863600" y="2286000"/>
            <a:ext cx="10464801" cy="1143001"/>
          </a:xfrm>
          <a:prstGeom prst="rect">
            <a:avLst/>
          </a:prstGeom>
        </p:spPr>
        <p:txBody>
          <a:bodyPr/>
          <a:lstStyle/>
          <a:p>
            <a:r>
              <a:rPr lang="en-GB"/>
              <a:t>Click to edit Master title style</a:t>
            </a:r>
            <a:endParaRPr dirty="0"/>
          </a:p>
        </p:txBody>
      </p:sp>
      <p:sp>
        <p:nvSpPr>
          <p:cNvPr id="16" name="Subtitle"/>
          <p:cNvSpPr txBox="1">
            <a:spLocks noGrp="1"/>
          </p:cNvSpPr>
          <p:nvPr>
            <p:ph type="body" sz="quarter" idx="22"/>
          </p:nvPr>
        </p:nvSpPr>
        <p:spPr>
          <a:xfrm>
            <a:off x="957115" y="3465604"/>
            <a:ext cx="10134430" cy="846384"/>
          </a:xfrm>
          <a:prstGeom prst="rect">
            <a:avLst/>
          </a:prstGeom>
        </p:spPr>
        <p:txBody>
          <a:bodyPr anchor="ctr">
            <a:spAutoFit/>
          </a:bodyPr>
          <a:lstStyle>
            <a:lvl1pPr marL="0" indent="0" algn="ctr">
              <a:spcBef>
                <a:spcPts val="0"/>
              </a:spcBef>
              <a:buClrTx/>
              <a:buSzTx/>
              <a:buFontTx/>
              <a:buNone/>
              <a:defRPr>
                <a:solidFill>
                  <a:srgbClr val="2F4468"/>
                </a:solidFill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7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091544" y="6360984"/>
            <a:ext cx="495649" cy="492440"/>
          </a:xfrm>
          <a:prstGeom prst="rect">
            <a:avLst/>
          </a:prstGeom>
        </p:spPr>
        <p:txBody>
          <a:bodyPr/>
          <a:lstStyle>
            <a:lvl1pPr>
              <a:defRPr sz="2000"/>
            </a:lvl1pPr>
          </a:lstStyle>
          <a:p>
            <a:fld id="{86CB4B4D-7CA3-9044-876B-883B54F8677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80298958"/>
      </p:ext>
    </p:extLst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Bo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691066" y="6493542"/>
            <a:ext cx="434734" cy="430885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 lang="en-GB" smtClean="0"/>
              <a:t>‹#›</a:t>
            </a:fld>
            <a:endParaRPr lang="en-GB"/>
          </a:p>
        </p:txBody>
      </p:sp>
      <p:sp>
        <p:nvSpPr>
          <p:cNvPr id="34" name="Title Text"/>
          <p:cNvSpPr txBox="1">
            <a:spLocks noGrp="1"/>
          </p:cNvSpPr>
          <p:nvPr>
            <p:ph type="title"/>
          </p:nvPr>
        </p:nvSpPr>
        <p:spPr>
          <a:xfrm>
            <a:off x="729736" y="395556"/>
            <a:ext cx="10747254" cy="1143001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4103347466"/>
      </p:ext>
    </p:extLst>
  </p:cSld>
  <p:clrMapOvr>
    <a:masterClrMapping/>
  </p:clrMapOvr>
  <p:transition spd="med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hart">
  <p:cSld name="Title, Text and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20800" y="381000"/>
            <a:ext cx="103632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1625600" y="1828800"/>
            <a:ext cx="4876800" cy="4267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hart Placeholder 3"/>
          <p:cNvSpPr>
            <a:spLocks noGrp="1"/>
          </p:cNvSpPr>
          <p:nvPr>
            <p:ph type="chart" sz="half" idx="2"/>
          </p:nvPr>
        </p:nvSpPr>
        <p:spPr>
          <a:xfrm>
            <a:off x="6705600" y="1828800"/>
            <a:ext cx="4876800" cy="4267200"/>
          </a:xfrm>
        </p:spPr>
        <p:txBody>
          <a:bodyPr/>
          <a:lstStyle/>
          <a:p>
            <a:pPr lvl="0"/>
            <a:endParaRPr lang="en-US" noProof="0"/>
          </a:p>
        </p:txBody>
      </p:sp>
      <p:sp>
        <p:nvSpPr>
          <p:cNvPr id="5" name="Rectangle 1028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7691215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9/19/25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CB4B4D-7CA3-9044-876B-883B54F8677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006035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57" r:id="rId1"/>
    <p:sldLayoutId id="2147483958" r:id="rId2"/>
    <p:sldLayoutId id="2147483959" r:id="rId3"/>
    <p:sldLayoutId id="2147483960" r:id="rId4"/>
    <p:sldLayoutId id="2147483961" r:id="rId5"/>
    <p:sldLayoutId id="2147483962" r:id="rId6"/>
    <p:sldLayoutId id="2147483963" r:id="rId7"/>
    <p:sldLayoutId id="2147483964" r:id="rId8"/>
    <p:sldLayoutId id="2147483965" r:id="rId9"/>
    <p:sldLayoutId id="2147483966" r:id="rId10"/>
    <p:sldLayoutId id="2147483967" r:id="rId11"/>
    <p:sldLayoutId id="2147483968" r:id="rId12"/>
    <p:sldLayoutId id="2147483969" r:id="rId13"/>
    <p:sldLayoutId id="2147483970" r:id="rId14"/>
    <p:sldLayoutId id="2147483971" r:id="rId15"/>
  </p:sldLayoutIdLst>
  <p:hf sldNum="0" hd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>
          <a:xfrm>
            <a:off x="209446" y="380999"/>
            <a:ext cx="10464801" cy="1143001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n-GB" dirty="0">
                <a:ea typeface="+mj-ea"/>
                <a:cs typeface="+mj-cs"/>
              </a:rPr>
              <a:t>Understanding class definitions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body" sz="quarter" idx="22"/>
          </p:nvPr>
        </p:nvSpPr>
        <p:spPr>
          <a:xfrm>
            <a:off x="98936" y="1418712"/>
            <a:ext cx="10134430" cy="846384"/>
          </a:xfrm>
        </p:spPr>
        <p:txBody>
          <a:bodyPr/>
          <a:lstStyle/>
          <a:p>
            <a:pPr eaLnBrk="1" hangingPunct="1">
              <a:defRPr/>
            </a:pPr>
            <a:r>
              <a:rPr lang="en-GB" dirty="0">
                <a:ea typeface="+mn-ea"/>
                <a:cs typeface="+mn-cs"/>
              </a:rPr>
              <a:t>Exploring source code</a:t>
            </a:r>
          </a:p>
        </p:txBody>
      </p:sp>
      <p:sp>
        <p:nvSpPr>
          <p:cNvPr id="17411" name="Text Box 4"/>
          <p:cNvSpPr txBox="1">
            <a:spLocks noChangeArrowheads="1"/>
          </p:cNvSpPr>
          <p:nvPr/>
        </p:nvSpPr>
        <p:spPr bwMode="auto">
          <a:xfrm>
            <a:off x="10050463" y="6537328"/>
            <a:ext cx="365806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264D8B"/>
              </a:buClr>
              <a:buFont typeface="Times" charset="0"/>
              <a:buChar char="•"/>
              <a:defRPr sz="3200">
                <a:solidFill>
                  <a:srgbClr val="1A3170"/>
                </a:solidFill>
                <a:latin typeface="Trebuchet MS" charset="0"/>
                <a:ea typeface="MS PGothic" charset="-128"/>
              </a:defRPr>
            </a:lvl1pPr>
            <a:lvl2pPr marL="742950" indent="-285750">
              <a:spcBef>
                <a:spcPct val="20000"/>
              </a:spcBef>
              <a:buClr>
                <a:srgbClr val="264D8B"/>
              </a:buClr>
              <a:buChar char="–"/>
              <a:defRPr sz="2800">
                <a:solidFill>
                  <a:srgbClr val="1A3170"/>
                </a:solidFill>
                <a:latin typeface="Trebuchet MS" charset="0"/>
                <a:ea typeface="MS PGothic" charset="-128"/>
              </a:defRPr>
            </a:lvl2pPr>
            <a:lvl3pPr marL="1143000" indent="-228600">
              <a:spcBef>
                <a:spcPct val="20000"/>
              </a:spcBef>
              <a:buClr>
                <a:srgbClr val="264D8B"/>
              </a:buClr>
              <a:buChar char="•"/>
              <a:defRPr sz="2400">
                <a:solidFill>
                  <a:srgbClr val="1A3170"/>
                </a:solidFill>
                <a:latin typeface="Trebuchet MS" charset="0"/>
                <a:ea typeface="MS PGothic" charset="-128"/>
              </a:defRPr>
            </a:lvl3pPr>
            <a:lvl4pPr marL="1600200" indent="-228600">
              <a:spcBef>
                <a:spcPct val="20000"/>
              </a:spcBef>
              <a:buClr>
                <a:srgbClr val="264D8B"/>
              </a:buClr>
              <a:buChar char="–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4pPr>
            <a:lvl5pPr marL="2057400" indent="-228600">
              <a:spcBef>
                <a:spcPct val="20000"/>
              </a:spcBef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 b="0" dirty="0">
                <a:solidFill>
                  <a:schemeClr val="tx1"/>
                </a:solidFill>
              </a:rPr>
              <a:t>7.0</a:t>
            </a:r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921513C8-B0FF-BA55-A698-0A8D7677585F}"/>
              </a:ext>
            </a:extLst>
          </p:cNvPr>
          <p:cNvSpPr txBox="1">
            <a:spLocks/>
          </p:cNvSpPr>
          <p:nvPr/>
        </p:nvSpPr>
        <p:spPr>
          <a:xfrm>
            <a:off x="1596259" y="3809999"/>
            <a:ext cx="1866900" cy="1066800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IE" sz="2400" dirty="0"/>
              <a:t>Produced 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IE" sz="2400" dirty="0"/>
              <a:t>by: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0E0755C-E815-5AA3-D4B2-32A9F0530610}"/>
              </a:ext>
            </a:extLst>
          </p:cNvPr>
          <p:cNvSpPr txBox="1"/>
          <p:nvPr/>
        </p:nvSpPr>
        <p:spPr>
          <a:xfrm>
            <a:off x="7620000" y="5849826"/>
            <a:ext cx="407275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sz="1600" dirty="0"/>
              <a:t>Department of Computing and Mathematics</a:t>
            </a:r>
          </a:p>
          <a:p>
            <a:r>
              <a:rPr lang="en-IE" sz="1600" dirty="0"/>
              <a:t>http://www.setu.ie/</a:t>
            </a:r>
          </a:p>
        </p:txBody>
      </p:sp>
      <p:pic>
        <p:nvPicPr>
          <p:cNvPr id="4" name="Picture 3" descr="Text&#10;&#10;Description automatically generated">
            <a:extLst>
              <a:ext uri="{FF2B5EF4-FFF2-40B4-BE49-F238E27FC236}">
                <a16:creationId xmlns:a16="http://schemas.microsoft.com/office/drawing/2014/main" id="{3C52B6A4-97C1-5BF3-8F44-19C73FB4016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1641" y="5501441"/>
            <a:ext cx="2286000" cy="128154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12BA0C4-2BF0-58D8-E3BD-B3765AC49632}"/>
              </a:ext>
            </a:extLst>
          </p:cNvPr>
          <p:cNvSpPr txBox="1"/>
          <p:nvPr/>
        </p:nvSpPr>
        <p:spPr>
          <a:xfrm>
            <a:off x="3647728" y="3876597"/>
            <a:ext cx="5562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Ms. Mairead Meagher,</a:t>
            </a:r>
          </a:p>
          <a:p>
            <a:r>
              <a:rPr lang="en-IE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Ms. Siobhán Roche.</a:t>
            </a:r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8FA2458C-C466-1502-FE9B-6FD66EA775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88286" y="952499"/>
            <a:ext cx="3524354" cy="26892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GB">
                <a:ea typeface="+mj-ea"/>
                <a:cs typeface="+mj-cs"/>
              </a:rPr>
              <a:t>Main concepts to be covered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GB" dirty="0">
                <a:ea typeface="+mn-ea"/>
                <a:cs typeface="+mn-cs"/>
              </a:rPr>
              <a:t>fields</a:t>
            </a:r>
          </a:p>
          <a:p>
            <a:pPr eaLnBrk="1" hangingPunct="1">
              <a:defRPr/>
            </a:pPr>
            <a:r>
              <a:rPr lang="en-GB" dirty="0">
                <a:ea typeface="+mn-ea"/>
                <a:cs typeface="+mn-cs"/>
              </a:rPr>
              <a:t>constructors</a:t>
            </a:r>
          </a:p>
          <a:p>
            <a:pPr eaLnBrk="1" hangingPunct="1">
              <a:defRPr/>
            </a:pPr>
            <a:r>
              <a:rPr lang="en-GB" dirty="0">
                <a:ea typeface="+mn-ea"/>
                <a:cs typeface="+mn-cs"/>
              </a:rPr>
              <a:t>methods</a:t>
            </a:r>
          </a:p>
          <a:p>
            <a:pPr eaLnBrk="1" hangingPunct="1">
              <a:defRPr/>
            </a:pPr>
            <a:r>
              <a:rPr lang="en-GB" dirty="0">
                <a:ea typeface="+mn-ea"/>
                <a:cs typeface="+mn-cs"/>
              </a:rPr>
              <a:t>parameters</a:t>
            </a:r>
          </a:p>
          <a:p>
            <a:pPr eaLnBrk="1" hangingPunct="1">
              <a:defRPr/>
            </a:pPr>
            <a:r>
              <a:rPr lang="en-GB" dirty="0">
                <a:ea typeface="+mn-ea"/>
                <a:cs typeface="+mn-cs"/>
              </a:rPr>
              <a:t>assignment statements</a:t>
            </a:r>
          </a:p>
          <a:p>
            <a:pPr eaLnBrk="1" hangingPunct="1">
              <a:buFont typeface="Times" pitchFamily="-32" charset="0"/>
              <a:buNone/>
              <a:defRPr/>
            </a:pPr>
            <a:endParaRPr lang="en-GB" dirty="0"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1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1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1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1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1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1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1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1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51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51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91439" rIns="81279" bIns="91439" numCol="1" anchor="ctr" anchorCtr="0" compatLnSpc="1">
            <a:prstTxWarp prst="textNoShape">
              <a:avLst/>
            </a:prstTxWarp>
            <a:normAutofit/>
          </a:bodyPr>
          <a:lstStyle/>
          <a:p>
            <a:pPr eaLnBrk="1" hangingPunct="1">
              <a:defRPr/>
            </a:pPr>
            <a:r>
              <a:rPr lang="en-US" dirty="0">
                <a:ea typeface="+mj-ea"/>
                <a:cs typeface="+mj-cs"/>
              </a:rPr>
              <a:t>Ticket machine Example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A38F6C0-26D2-EA82-13C2-3118B215F7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613681"/>
            <a:ext cx="5054352" cy="4525963"/>
          </a:xfrm>
        </p:spPr>
        <p:txBody>
          <a:bodyPr/>
          <a:lstStyle/>
          <a:p>
            <a:r>
              <a:rPr lang="en-IE" dirty="0"/>
              <a:t>This is a very simple Ticket machine.</a:t>
            </a:r>
          </a:p>
          <a:p>
            <a:r>
              <a:rPr lang="en-IE" dirty="0"/>
              <a:t>It prints a ticket when an amount of money is entered</a:t>
            </a:r>
          </a:p>
        </p:txBody>
      </p:sp>
      <p:pic>
        <p:nvPicPr>
          <p:cNvPr id="1028" name="Picture 4" descr="MCM100-TIK Mini Ticket Dispensing Machines">
            <a:extLst>
              <a:ext uri="{FF2B5EF4-FFF2-40B4-BE49-F238E27FC236}">
                <a16:creationId xmlns:a16="http://schemas.microsoft.com/office/drawing/2014/main" id="{A0E4C253-D365-8328-0361-684B4B3EB2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84032" y="1019162"/>
            <a:ext cx="5715000" cy="5715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 dirty="0">
                <a:ea typeface="MS PGothic" charset="-128"/>
              </a:rPr>
              <a:t>Ticket machines – an external view</a:t>
            </a:r>
          </a:p>
        </p:txBody>
      </p:sp>
      <p:sp>
        <p:nvSpPr>
          <p:cNvPr id="21506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GB" altLang="en-US" dirty="0">
                <a:ea typeface="MS PGothic" charset="-128"/>
              </a:rPr>
              <a:t>Exploring the </a:t>
            </a:r>
            <a:r>
              <a:rPr lang="en-US" altLang="en-US" dirty="0">
                <a:ea typeface="MS PGothic" charset="-128"/>
              </a:rPr>
              <a:t>behavior</a:t>
            </a:r>
            <a:r>
              <a:rPr lang="en-GB" altLang="en-US" dirty="0">
                <a:ea typeface="MS PGothic" charset="-128"/>
              </a:rPr>
              <a:t> of a typical ticket machine.</a:t>
            </a:r>
          </a:p>
          <a:p>
            <a:pPr lvl="1" eaLnBrk="1" hangingPunct="1"/>
            <a:r>
              <a:rPr lang="en-GB" altLang="en-US" dirty="0">
                <a:ea typeface="MS PGothic" charset="-128"/>
              </a:rPr>
              <a:t>Use the </a:t>
            </a:r>
            <a:r>
              <a:rPr lang="en-GB" altLang="en-US" i="1" dirty="0">
                <a:ea typeface="MS PGothic" charset="-128"/>
              </a:rPr>
              <a:t>naive-ticket-machine</a:t>
            </a:r>
            <a:r>
              <a:rPr lang="en-GB" altLang="en-US" dirty="0">
                <a:ea typeface="MS PGothic" charset="-128"/>
              </a:rPr>
              <a:t> project.</a:t>
            </a:r>
          </a:p>
          <a:p>
            <a:pPr lvl="1" eaLnBrk="1" hangingPunct="1"/>
            <a:r>
              <a:rPr lang="en-GB" altLang="en-US" dirty="0">
                <a:ea typeface="MS PGothic" charset="-128"/>
              </a:rPr>
              <a:t>Machines supply tickets of a fixed price.</a:t>
            </a:r>
          </a:p>
          <a:p>
            <a:pPr lvl="2" eaLnBrk="1" hangingPunct="1"/>
            <a:r>
              <a:rPr lang="en-GB" altLang="en-US" dirty="0">
                <a:ea typeface="MS PGothic" charset="-128"/>
              </a:rPr>
              <a:t>How is that price determined?</a:t>
            </a:r>
          </a:p>
          <a:p>
            <a:pPr lvl="1" eaLnBrk="1" hangingPunct="1"/>
            <a:r>
              <a:rPr lang="en-GB" altLang="en-US" dirty="0">
                <a:ea typeface="MS PGothic" charset="-128"/>
              </a:rPr>
              <a:t>How is </a:t>
            </a:r>
            <a:r>
              <a:rPr lang="en-GB" altLang="en-GB" dirty="0">
                <a:ea typeface="MS PGothic" charset="-128"/>
              </a:rPr>
              <a:t>‘</a:t>
            </a:r>
            <a:r>
              <a:rPr lang="en-GB" altLang="en-US" dirty="0">
                <a:ea typeface="MS PGothic" charset="-128"/>
              </a:rPr>
              <a:t>money</a:t>
            </a:r>
            <a:r>
              <a:rPr lang="en-GB" altLang="en-GB" dirty="0">
                <a:ea typeface="MS PGothic" charset="-128"/>
              </a:rPr>
              <a:t>’</a:t>
            </a:r>
            <a:r>
              <a:rPr lang="en-GB" altLang="en-US" dirty="0">
                <a:ea typeface="MS PGothic" charset="-128"/>
              </a:rPr>
              <a:t> ‘entered’ into a machine?</a:t>
            </a:r>
          </a:p>
          <a:p>
            <a:pPr lvl="1" eaLnBrk="1" hangingPunct="1"/>
            <a:r>
              <a:rPr lang="en-GB" altLang="en-US" dirty="0">
                <a:ea typeface="MS PGothic" charset="-128"/>
              </a:rPr>
              <a:t>How does a machine keep track of the money that is entered?</a:t>
            </a:r>
          </a:p>
        </p:txBody>
      </p:sp>
      <p:pic>
        <p:nvPicPr>
          <p:cNvPr id="2" name="Picture 4" descr="MCM100-TIK Mini Ticket Dispensing Machines">
            <a:extLst>
              <a:ext uri="{FF2B5EF4-FFF2-40B4-BE49-F238E27FC236}">
                <a16:creationId xmlns:a16="http://schemas.microsoft.com/office/drawing/2014/main" id="{5C68D6FD-A511-2786-9C9A-B0C146D6CB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36360" y="627894"/>
            <a:ext cx="2801106" cy="28011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E6394D-082D-5FC8-640C-BCF77F7049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 dirty="0">
                <a:ea typeface="MS PGothic" charset="-128"/>
              </a:rPr>
              <a:t>Ticket machine Example </a:t>
            </a:r>
            <a:endParaRPr lang="en-IE" dirty="0"/>
          </a:p>
        </p:txBody>
      </p:sp>
      <p:pic>
        <p:nvPicPr>
          <p:cNvPr id="5" name="Picture 4" descr="MCM100-TIK Mini Ticket Dispensing Machines">
            <a:extLst>
              <a:ext uri="{FF2B5EF4-FFF2-40B4-BE49-F238E27FC236}">
                <a16:creationId xmlns:a16="http://schemas.microsoft.com/office/drawing/2014/main" id="{D7AA7BC4-C80D-AC1A-3847-81B1F4E7B6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47728" y="1700808"/>
            <a:ext cx="4169258" cy="41692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EB9A448-5AD9-FC0C-FA07-DDAAFFD2748D}"/>
              </a:ext>
            </a:extLst>
          </p:cNvPr>
          <p:cNvSpPr txBox="1"/>
          <p:nvPr/>
        </p:nvSpPr>
        <p:spPr>
          <a:xfrm>
            <a:off x="609600" y="2060848"/>
            <a:ext cx="3038128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sz="3200" dirty="0"/>
              <a:t>What information do we need to store?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2BDA27D-B531-94CD-9832-A1C9C3C13541}"/>
              </a:ext>
            </a:extLst>
          </p:cNvPr>
          <p:cNvSpPr txBox="1"/>
          <p:nvPr/>
        </p:nvSpPr>
        <p:spPr>
          <a:xfrm>
            <a:off x="8256240" y="2132856"/>
            <a:ext cx="303812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sz="3200" dirty="0"/>
              <a:t>What can the Ticket Machine do?</a:t>
            </a:r>
          </a:p>
        </p:txBody>
      </p:sp>
    </p:spTree>
    <p:extLst>
      <p:ext uri="{BB962C8B-B14F-4D97-AF65-F5344CB8AC3E}">
        <p14:creationId xmlns:p14="http://schemas.microsoft.com/office/powerpoint/2010/main" val="23228453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B974AF-95A9-5192-F00B-8F75B72F0C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15826-361A-C409-7071-11DCDB3736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 dirty="0">
                <a:ea typeface="MS PGothic" charset="-128"/>
              </a:rPr>
              <a:t>Ticket machine Example</a:t>
            </a:r>
            <a:endParaRPr lang="en-IE" dirty="0"/>
          </a:p>
        </p:txBody>
      </p:sp>
      <p:pic>
        <p:nvPicPr>
          <p:cNvPr id="5" name="Picture 4" descr="MCM100-TIK Mini Ticket Dispensing Machines">
            <a:extLst>
              <a:ext uri="{FF2B5EF4-FFF2-40B4-BE49-F238E27FC236}">
                <a16:creationId xmlns:a16="http://schemas.microsoft.com/office/drawing/2014/main" id="{2FC9A461-A5F4-B83E-2B74-6A1AB54184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47728" y="1700808"/>
            <a:ext cx="4169258" cy="41692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BB456F9-B8D4-2FE1-C538-44488A68E353}"/>
              </a:ext>
            </a:extLst>
          </p:cNvPr>
          <p:cNvSpPr txBox="1"/>
          <p:nvPr/>
        </p:nvSpPr>
        <p:spPr>
          <a:xfrm>
            <a:off x="658276" y="1831535"/>
            <a:ext cx="3038128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sz="3200" dirty="0"/>
              <a:t>What information do we need to store?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7CC7555-9F47-2601-189A-4D788604B2FD}"/>
              </a:ext>
            </a:extLst>
          </p:cNvPr>
          <p:cNvSpPr txBox="1"/>
          <p:nvPr/>
        </p:nvSpPr>
        <p:spPr>
          <a:xfrm>
            <a:off x="8256240" y="2132856"/>
            <a:ext cx="303812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sz="3200" dirty="0"/>
              <a:t>What can the Ticket Machine do?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15FA6F7-8918-98D6-92AE-6C851CB5867C}"/>
              </a:ext>
            </a:extLst>
          </p:cNvPr>
          <p:cNvSpPr txBox="1"/>
          <p:nvPr/>
        </p:nvSpPr>
        <p:spPr>
          <a:xfrm>
            <a:off x="514260" y="4275488"/>
            <a:ext cx="3326160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IE" sz="2400" dirty="0"/>
              <a:t>Price of ticket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E" sz="2400" dirty="0"/>
              <a:t>Amount entered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E" sz="2400" dirty="0"/>
              <a:t>Amount in machine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E" sz="2400" dirty="0"/>
              <a:t>…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IE" sz="32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7708859-33BC-49E4-B84B-5031343A256D}"/>
              </a:ext>
            </a:extLst>
          </p:cNvPr>
          <p:cNvSpPr txBox="1"/>
          <p:nvPr/>
        </p:nvSpPr>
        <p:spPr>
          <a:xfrm>
            <a:off x="7816986" y="4077072"/>
            <a:ext cx="3326160" cy="16927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IE" sz="2400" dirty="0"/>
              <a:t>Accept Payment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E" sz="2400" dirty="0"/>
              <a:t>Print Ticket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E" sz="2400" dirty="0"/>
              <a:t>…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IE" sz="3200" dirty="0"/>
          </a:p>
        </p:txBody>
      </p:sp>
    </p:spTree>
    <p:extLst>
      <p:ext uri="{BB962C8B-B14F-4D97-AF65-F5344CB8AC3E}">
        <p14:creationId xmlns:p14="http://schemas.microsoft.com/office/powerpoint/2010/main" val="22350379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8D1F3F-AA81-1F0A-E3AA-AD9B95A930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58D2C1-CC40-0FAF-9488-8BF0E940E8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 dirty="0">
                <a:ea typeface="MS PGothic" charset="-128"/>
              </a:rPr>
              <a:t>Ticket machine Example</a:t>
            </a:r>
            <a:endParaRPr lang="en-IE" dirty="0"/>
          </a:p>
        </p:txBody>
      </p:sp>
      <p:pic>
        <p:nvPicPr>
          <p:cNvPr id="5" name="Picture 4" descr="MCM100-TIK Mini Ticket Dispensing Machines">
            <a:extLst>
              <a:ext uri="{FF2B5EF4-FFF2-40B4-BE49-F238E27FC236}">
                <a16:creationId xmlns:a16="http://schemas.microsoft.com/office/drawing/2014/main" id="{F944F444-2FC2-04D0-1053-BA8E21DBB8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47728" y="1700808"/>
            <a:ext cx="4169258" cy="41692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B036CC7-56F0-E693-BD2F-3A6E60B51970}"/>
              </a:ext>
            </a:extLst>
          </p:cNvPr>
          <p:cNvSpPr txBox="1"/>
          <p:nvPr/>
        </p:nvSpPr>
        <p:spPr>
          <a:xfrm>
            <a:off x="658276" y="1831535"/>
            <a:ext cx="3038128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sz="3200" dirty="0"/>
              <a:t>What information do we need to store?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F86CC7D-18D1-D147-1A65-DB363A064D9C}"/>
              </a:ext>
            </a:extLst>
          </p:cNvPr>
          <p:cNvSpPr txBox="1"/>
          <p:nvPr/>
        </p:nvSpPr>
        <p:spPr>
          <a:xfrm>
            <a:off x="8256240" y="2132856"/>
            <a:ext cx="303812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sz="3200" dirty="0"/>
              <a:t>What can the Ticket Machine do?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2F4EF9F-5543-07EC-7331-0300D32C2CD6}"/>
              </a:ext>
            </a:extLst>
          </p:cNvPr>
          <p:cNvSpPr txBox="1"/>
          <p:nvPr/>
        </p:nvSpPr>
        <p:spPr>
          <a:xfrm>
            <a:off x="514260" y="4275488"/>
            <a:ext cx="3326160" cy="24314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IE" sz="2400" dirty="0"/>
              <a:t>Price of ticket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E" sz="2400" dirty="0"/>
              <a:t>Number of tickets sold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E" sz="2400" dirty="0"/>
              <a:t>Amount in machine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E" sz="2400" dirty="0"/>
              <a:t>?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IE" sz="32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B866ABB-0E30-7B27-87C8-447309D0CE14}"/>
              </a:ext>
            </a:extLst>
          </p:cNvPr>
          <p:cNvSpPr txBox="1"/>
          <p:nvPr/>
        </p:nvSpPr>
        <p:spPr>
          <a:xfrm>
            <a:off x="7816986" y="4077072"/>
            <a:ext cx="3326160" cy="16927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IE" sz="2400" dirty="0"/>
              <a:t>Accept Payment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E" sz="2400" dirty="0"/>
              <a:t>Print Ticket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E" sz="2400" dirty="0"/>
              <a:t>?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IE" sz="320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D3F773A-566E-15C6-7199-6B9FF1AF1AFD}"/>
              </a:ext>
            </a:extLst>
          </p:cNvPr>
          <p:cNvSpPr/>
          <p:nvPr/>
        </p:nvSpPr>
        <p:spPr>
          <a:xfrm>
            <a:off x="1889157" y="1440541"/>
            <a:ext cx="1739579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rgbClr val="FF0000"/>
                </a:solidFill>
                <a:effectLst/>
              </a:rPr>
              <a:t>fields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CE2DB71-41FB-E065-DA3A-57BC52CB8142}"/>
              </a:ext>
            </a:extLst>
          </p:cNvPr>
          <p:cNvSpPr/>
          <p:nvPr/>
        </p:nvSpPr>
        <p:spPr>
          <a:xfrm>
            <a:off x="8196935" y="1417638"/>
            <a:ext cx="2722285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rgbClr val="FF0000"/>
                </a:solidFill>
                <a:effectLst/>
              </a:rPr>
              <a:t>methods</a:t>
            </a:r>
          </a:p>
        </p:txBody>
      </p:sp>
    </p:spTree>
    <p:extLst>
      <p:ext uri="{BB962C8B-B14F-4D97-AF65-F5344CB8AC3E}">
        <p14:creationId xmlns:p14="http://schemas.microsoft.com/office/powerpoint/2010/main" val="5711762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MS PGothic" charset="-128"/>
              </a:rPr>
              <a:t>Ticket machines – an internal view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>
              <a:defRPr/>
            </a:pPr>
            <a:r>
              <a:rPr lang="en-US" dirty="0">
                <a:ea typeface="+mn-ea"/>
                <a:cs typeface="+mn-cs"/>
              </a:rPr>
              <a:t>Interacting with an object gives us clues about its behavior.</a:t>
            </a:r>
          </a:p>
          <a:p>
            <a:pPr eaLnBrk="1" hangingPunct="1">
              <a:defRPr/>
            </a:pPr>
            <a:r>
              <a:rPr lang="en-US" dirty="0">
                <a:ea typeface="+mn-ea"/>
                <a:cs typeface="+mn-cs"/>
              </a:rPr>
              <a:t>Looking inside allows us to determine how that behavior is provided or implemented.</a:t>
            </a:r>
          </a:p>
          <a:p>
            <a:pPr eaLnBrk="1" hangingPunct="1">
              <a:defRPr/>
            </a:pPr>
            <a:r>
              <a:rPr lang="en-US" dirty="0">
                <a:ea typeface="+mn-ea"/>
                <a:cs typeface="+mn-cs"/>
              </a:rPr>
              <a:t>All Java classes have a similar-looking internal view.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1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1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1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1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1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1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71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>
                <a:ea typeface="+mj-ea"/>
                <a:cs typeface="+mj-cs"/>
              </a:rPr>
              <a:t>Basic class structure</a:t>
            </a:r>
          </a:p>
        </p:txBody>
      </p:sp>
      <p:sp>
        <p:nvSpPr>
          <p:cNvPr id="27651" name="Text Box 4"/>
          <p:cNvSpPr txBox="1">
            <a:spLocks noChangeArrowheads="1"/>
          </p:cNvSpPr>
          <p:nvPr/>
        </p:nvSpPr>
        <p:spPr bwMode="auto">
          <a:xfrm>
            <a:off x="2207568" y="2348880"/>
            <a:ext cx="4186238" cy="1323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264D8B"/>
              </a:buClr>
              <a:buFont typeface="Times" charset="0"/>
              <a:buChar char="•"/>
              <a:defRPr sz="3200">
                <a:solidFill>
                  <a:srgbClr val="1A3170"/>
                </a:solidFill>
                <a:latin typeface="Trebuchet MS" charset="0"/>
                <a:ea typeface="MS PGothic" charset="-128"/>
              </a:defRPr>
            </a:lvl1pPr>
            <a:lvl2pPr marL="742950" indent="-285750">
              <a:spcBef>
                <a:spcPct val="20000"/>
              </a:spcBef>
              <a:buClr>
                <a:srgbClr val="264D8B"/>
              </a:buClr>
              <a:buChar char="–"/>
              <a:defRPr sz="2800">
                <a:solidFill>
                  <a:srgbClr val="1A3170"/>
                </a:solidFill>
                <a:latin typeface="Trebuchet MS" charset="0"/>
                <a:ea typeface="MS PGothic" charset="-128"/>
              </a:defRPr>
            </a:lvl2pPr>
            <a:lvl3pPr marL="1143000" indent="-228600">
              <a:spcBef>
                <a:spcPct val="20000"/>
              </a:spcBef>
              <a:buClr>
                <a:srgbClr val="264D8B"/>
              </a:buClr>
              <a:buChar char="•"/>
              <a:defRPr sz="2400">
                <a:solidFill>
                  <a:srgbClr val="1A3170"/>
                </a:solidFill>
                <a:latin typeface="Trebuchet MS" charset="0"/>
                <a:ea typeface="MS PGothic" charset="-128"/>
              </a:defRPr>
            </a:lvl3pPr>
            <a:lvl4pPr marL="1600200" indent="-228600">
              <a:spcBef>
                <a:spcPct val="20000"/>
              </a:spcBef>
              <a:buClr>
                <a:srgbClr val="264D8B"/>
              </a:buClr>
              <a:buChar char="–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4pPr>
            <a:lvl5pPr marL="2057400" indent="-228600">
              <a:spcBef>
                <a:spcPct val="20000"/>
              </a:spcBef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000" dirty="0">
                <a:solidFill>
                  <a:schemeClr val="tx1"/>
                </a:solidFill>
                <a:latin typeface="Courier New" charset="0"/>
              </a:rPr>
              <a:t>public class </a:t>
            </a:r>
            <a:r>
              <a:rPr lang="en-US" altLang="en-US" sz="2000" dirty="0" err="1">
                <a:solidFill>
                  <a:schemeClr val="tx1"/>
                </a:solidFill>
                <a:latin typeface="Courier New" charset="0"/>
              </a:rPr>
              <a:t>TicketMachine</a:t>
            </a:r>
            <a:endParaRPr lang="en-US" altLang="en-US" sz="2000" dirty="0">
              <a:solidFill>
                <a:schemeClr val="tx1"/>
              </a:solidFill>
              <a:latin typeface="Courier New" charset="0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000" dirty="0">
                <a:solidFill>
                  <a:schemeClr val="tx1"/>
                </a:solidFill>
                <a:latin typeface="Courier New" charset="0"/>
              </a:rPr>
              <a:t>{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000" dirty="0">
                <a:solidFill>
                  <a:schemeClr val="tx1"/>
                </a:solidFill>
                <a:latin typeface="Courier New" charset="0"/>
              </a:rPr>
              <a:t>    </a:t>
            </a:r>
            <a:r>
              <a:rPr lang="en-US" altLang="en-US" sz="2000" i="1" dirty="0">
                <a:solidFill>
                  <a:srgbClr val="0070C0"/>
                </a:solidFill>
                <a:latin typeface="Courier New" charset="0"/>
              </a:rPr>
              <a:t>Inner part omitted.</a:t>
            </a:r>
            <a:endParaRPr lang="en-US" altLang="en-US" sz="2000" dirty="0">
              <a:solidFill>
                <a:srgbClr val="0070C0"/>
              </a:solidFill>
              <a:latin typeface="Courier New" charset="0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000" dirty="0">
                <a:solidFill>
                  <a:schemeClr val="tx1"/>
                </a:solidFill>
                <a:latin typeface="Courier New" charset="0"/>
              </a:rPr>
              <a:t>} </a:t>
            </a:r>
          </a:p>
        </p:txBody>
      </p:sp>
      <p:sp>
        <p:nvSpPr>
          <p:cNvPr id="27652" name="Text Box 5"/>
          <p:cNvSpPr txBox="1">
            <a:spLocks noChangeArrowheads="1"/>
          </p:cNvSpPr>
          <p:nvPr/>
        </p:nvSpPr>
        <p:spPr bwMode="auto">
          <a:xfrm>
            <a:off x="2217093" y="4028455"/>
            <a:ext cx="3570288" cy="1938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264D8B"/>
              </a:buClr>
              <a:buFont typeface="Times" charset="0"/>
              <a:buChar char="•"/>
              <a:defRPr sz="3200">
                <a:solidFill>
                  <a:srgbClr val="1A3170"/>
                </a:solidFill>
                <a:latin typeface="Trebuchet MS" charset="0"/>
                <a:ea typeface="MS PGothic" charset="-128"/>
              </a:defRPr>
            </a:lvl1pPr>
            <a:lvl2pPr marL="742950" indent="-285750">
              <a:spcBef>
                <a:spcPct val="20000"/>
              </a:spcBef>
              <a:buClr>
                <a:srgbClr val="264D8B"/>
              </a:buClr>
              <a:buChar char="–"/>
              <a:defRPr sz="2800">
                <a:solidFill>
                  <a:srgbClr val="1A3170"/>
                </a:solidFill>
                <a:latin typeface="Trebuchet MS" charset="0"/>
                <a:ea typeface="MS PGothic" charset="-128"/>
              </a:defRPr>
            </a:lvl2pPr>
            <a:lvl3pPr marL="1143000" indent="-228600">
              <a:spcBef>
                <a:spcPct val="20000"/>
              </a:spcBef>
              <a:buClr>
                <a:srgbClr val="264D8B"/>
              </a:buClr>
              <a:buChar char="•"/>
              <a:defRPr sz="2400">
                <a:solidFill>
                  <a:srgbClr val="1A3170"/>
                </a:solidFill>
                <a:latin typeface="Trebuchet MS" charset="0"/>
                <a:ea typeface="MS PGothic" charset="-128"/>
              </a:defRPr>
            </a:lvl3pPr>
            <a:lvl4pPr marL="1600200" indent="-228600">
              <a:spcBef>
                <a:spcPct val="20000"/>
              </a:spcBef>
              <a:buClr>
                <a:srgbClr val="264D8B"/>
              </a:buClr>
              <a:buChar char="–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4pPr>
            <a:lvl5pPr marL="2057400" indent="-228600">
              <a:spcBef>
                <a:spcPct val="20000"/>
              </a:spcBef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000" dirty="0">
                <a:solidFill>
                  <a:schemeClr val="tx1"/>
                </a:solidFill>
                <a:latin typeface="Courier New" charset="0"/>
              </a:rPr>
              <a:t>public class </a:t>
            </a:r>
            <a:r>
              <a:rPr lang="en-US" altLang="en-US" sz="2000" i="1" dirty="0" err="1">
                <a:solidFill>
                  <a:schemeClr val="tx1"/>
                </a:solidFill>
                <a:latin typeface="Courier New" charset="0"/>
              </a:rPr>
              <a:t>ClassName</a:t>
            </a:r>
            <a:endParaRPr lang="en-US" altLang="en-US" sz="2000" dirty="0">
              <a:solidFill>
                <a:schemeClr val="tx1"/>
              </a:solidFill>
              <a:latin typeface="Courier New" charset="0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000" dirty="0">
                <a:solidFill>
                  <a:schemeClr val="tx1"/>
                </a:solidFill>
                <a:latin typeface="Courier New" charset="0"/>
              </a:rPr>
              <a:t>{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000" dirty="0">
                <a:solidFill>
                  <a:schemeClr val="tx1"/>
                </a:solidFill>
                <a:latin typeface="Courier New" charset="0"/>
              </a:rPr>
              <a:t>    </a:t>
            </a:r>
            <a:r>
              <a:rPr lang="en-US" altLang="en-US" sz="2000" i="1" dirty="0">
                <a:solidFill>
                  <a:srgbClr val="0070C0"/>
                </a:solidFill>
                <a:latin typeface="Courier New" charset="0"/>
              </a:rPr>
              <a:t>Fields</a:t>
            </a:r>
            <a:endParaRPr lang="en-US" altLang="en-US" sz="2000" dirty="0">
              <a:solidFill>
                <a:srgbClr val="0070C0"/>
              </a:solidFill>
              <a:latin typeface="Courier New" charset="0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000" i="1" dirty="0">
                <a:solidFill>
                  <a:srgbClr val="0070C0"/>
                </a:solidFill>
                <a:latin typeface="Courier New" charset="0"/>
              </a:rPr>
              <a:t>    Constructors</a:t>
            </a:r>
            <a:endParaRPr lang="en-US" altLang="en-US" sz="2000" dirty="0">
              <a:solidFill>
                <a:srgbClr val="0070C0"/>
              </a:solidFill>
              <a:latin typeface="Courier New" charset="0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000" i="1" dirty="0">
                <a:solidFill>
                  <a:srgbClr val="0070C0"/>
                </a:solidFill>
                <a:latin typeface="Courier New" charset="0"/>
              </a:rPr>
              <a:t>    Methods</a:t>
            </a:r>
            <a:endParaRPr lang="en-US" altLang="en-US" sz="2000" dirty="0">
              <a:solidFill>
                <a:srgbClr val="0070C0"/>
              </a:solidFill>
              <a:latin typeface="Courier New" charset="0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000" dirty="0">
                <a:solidFill>
                  <a:schemeClr val="tx1"/>
                </a:solidFill>
                <a:latin typeface="Courier New" charset="0"/>
              </a:rPr>
              <a:t>} </a:t>
            </a:r>
          </a:p>
        </p:txBody>
      </p:sp>
      <p:sp>
        <p:nvSpPr>
          <p:cNvPr id="27653" name="Line 9"/>
          <p:cNvSpPr>
            <a:spLocks noChangeShapeType="1"/>
          </p:cNvSpPr>
          <p:nvPr/>
        </p:nvSpPr>
        <p:spPr bwMode="auto">
          <a:xfrm flipH="1">
            <a:off x="6369993" y="2544139"/>
            <a:ext cx="4953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7654" name="Line 11"/>
          <p:cNvSpPr>
            <a:spLocks noChangeShapeType="1"/>
          </p:cNvSpPr>
          <p:nvPr/>
        </p:nvSpPr>
        <p:spPr bwMode="auto">
          <a:xfrm flipH="1">
            <a:off x="5074593" y="5136527"/>
            <a:ext cx="17907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7655" name="AutoShape 13"/>
          <p:cNvSpPr>
            <a:spLocks noChangeArrowheads="1"/>
          </p:cNvSpPr>
          <p:nvPr/>
        </p:nvSpPr>
        <p:spPr bwMode="auto">
          <a:xfrm>
            <a:off x="6865293" y="2108254"/>
            <a:ext cx="3048000" cy="919401"/>
          </a:xfrm>
          <a:prstGeom prst="roundRect">
            <a:avLst>
              <a:gd name="adj" fmla="val 16667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1pPr>
            <a:lvl2pPr marL="742950" indent="-28575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2pPr>
            <a:lvl3pPr marL="11430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3pPr>
            <a:lvl4pPr marL="16002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4pPr>
            <a:lvl5pPr marL="20574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9pPr>
          </a:lstStyle>
          <a:p>
            <a:r>
              <a:rPr lang="en-GB" altLang="en-US" b="0">
                <a:solidFill>
                  <a:srgbClr val="A57133"/>
                </a:solidFill>
              </a:rPr>
              <a:t>The outer wrapper of TicketMachine</a:t>
            </a:r>
          </a:p>
        </p:txBody>
      </p:sp>
      <p:sp>
        <p:nvSpPr>
          <p:cNvPr id="27656" name="AutoShape 14"/>
          <p:cNvSpPr>
            <a:spLocks noChangeArrowheads="1"/>
          </p:cNvSpPr>
          <p:nvPr/>
        </p:nvSpPr>
        <p:spPr bwMode="auto">
          <a:xfrm>
            <a:off x="6865293" y="4488827"/>
            <a:ext cx="2438400" cy="1327150"/>
          </a:xfrm>
          <a:prstGeom prst="roundRect">
            <a:avLst>
              <a:gd name="adj" fmla="val 16667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1pPr>
            <a:lvl2pPr marL="742950" indent="-28575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2pPr>
            <a:lvl3pPr marL="11430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3pPr>
            <a:lvl4pPr marL="16002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4pPr>
            <a:lvl5pPr marL="20574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9pPr>
          </a:lstStyle>
          <a:p>
            <a:r>
              <a:rPr lang="en-GB" altLang="en-US" b="0">
                <a:solidFill>
                  <a:srgbClr val="A57133"/>
                </a:solidFill>
              </a:rPr>
              <a:t>The inner contents of a class</a:t>
            </a:r>
          </a:p>
        </p:txBody>
      </p:sp>
    </p:spTree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>
                <a:ea typeface="MS PGothic" charset="-128"/>
              </a:rPr>
              <a:t>Keywords</a:t>
            </a:r>
          </a:p>
        </p:txBody>
      </p:sp>
      <p:sp>
        <p:nvSpPr>
          <p:cNvPr id="29698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altLang="en-US" dirty="0">
                <a:ea typeface="MS PGothic" charset="-128"/>
              </a:rPr>
              <a:t>Words with a special meaning in the language:</a:t>
            </a:r>
          </a:p>
          <a:p>
            <a:pPr lvl="1"/>
            <a:r>
              <a:rPr lang="en-GB" altLang="en-US" b="1" dirty="0">
                <a:latin typeface="Courier New" charset="0"/>
                <a:ea typeface="MS PGothic" charset="-128"/>
              </a:rPr>
              <a:t>public</a:t>
            </a:r>
          </a:p>
          <a:p>
            <a:pPr lvl="1"/>
            <a:r>
              <a:rPr lang="en-GB" altLang="en-US" b="1" dirty="0">
                <a:latin typeface="Courier New" charset="0"/>
                <a:ea typeface="MS PGothic" charset="-128"/>
              </a:rPr>
              <a:t>class</a:t>
            </a:r>
          </a:p>
          <a:p>
            <a:pPr lvl="1"/>
            <a:r>
              <a:rPr lang="en-GB" altLang="en-US" b="1" dirty="0">
                <a:latin typeface="Courier New" charset="0"/>
                <a:ea typeface="MS PGothic" charset="-128"/>
              </a:rPr>
              <a:t>private</a:t>
            </a:r>
          </a:p>
          <a:p>
            <a:pPr lvl="1"/>
            <a:r>
              <a:rPr lang="en-GB" altLang="en-US" b="1" dirty="0">
                <a:latin typeface="Courier New" charset="0"/>
                <a:ea typeface="MS PGothic" charset="-128"/>
              </a:rPr>
              <a:t>int</a:t>
            </a:r>
          </a:p>
          <a:p>
            <a:r>
              <a:rPr lang="en-GB" altLang="en-US" dirty="0">
                <a:ea typeface="MS PGothic" charset="-128"/>
              </a:rPr>
              <a:t>Also known as </a:t>
            </a:r>
            <a:r>
              <a:rPr lang="en-GB" altLang="en-US" i="1" dirty="0">
                <a:ea typeface="MS PGothic" charset="-128"/>
              </a:rPr>
              <a:t>reserved words</a:t>
            </a:r>
            <a:r>
              <a:rPr lang="en-GB" altLang="en-US" dirty="0">
                <a:ea typeface="MS PGothic" charset="-128"/>
              </a:rPr>
              <a:t>.</a:t>
            </a:r>
          </a:p>
          <a:p>
            <a:r>
              <a:rPr lang="en-GB" altLang="en-US" dirty="0">
                <a:ea typeface="MS PGothic" charset="-128"/>
              </a:rPr>
              <a:t>Always entirely lower-case.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96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96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969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969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969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969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969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969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969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969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969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969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969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969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698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>
                <a:ea typeface="+mj-ea"/>
                <a:cs typeface="+mj-cs"/>
              </a:rPr>
              <a:t>Fields</a:t>
            </a:r>
          </a:p>
        </p:txBody>
      </p:sp>
      <p:sp>
        <p:nvSpPr>
          <p:cNvPr id="30722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271587" y="1988840"/>
            <a:ext cx="4448182" cy="4176464"/>
          </a:xfrm>
        </p:spPr>
        <p:txBody>
          <a:bodyPr>
            <a:normAutofit fontScale="92500" lnSpcReduction="10000"/>
          </a:bodyPr>
          <a:lstStyle/>
          <a:p>
            <a:pPr eaLnBrk="1" hangingPunct="1">
              <a:lnSpc>
                <a:spcPct val="90000"/>
              </a:lnSpc>
            </a:pPr>
            <a:r>
              <a:rPr lang="en-US" altLang="en-US" sz="2800" dirty="0">
                <a:ea typeface="MS PGothic" charset="-128"/>
              </a:rPr>
              <a:t>Fields store values for an object.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800" dirty="0">
                <a:ea typeface="MS PGothic" charset="-128"/>
              </a:rPr>
              <a:t>They are also known as </a:t>
            </a:r>
            <a:r>
              <a:rPr lang="en-US" altLang="en-US" sz="2800" i="1" dirty="0">
                <a:ea typeface="MS PGothic" charset="-128"/>
              </a:rPr>
              <a:t>instance variables</a:t>
            </a:r>
            <a:r>
              <a:rPr lang="en-US" altLang="en-US" sz="2800" dirty="0">
                <a:ea typeface="MS PGothic" charset="-128"/>
              </a:rPr>
              <a:t>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800" dirty="0">
                <a:ea typeface="MS PGothic" charset="-128"/>
              </a:rPr>
              <a:t>Fields define the state of an object.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800" dirty="0">
                <a:ea typeface="MS PGothic" charset="-128"/>
              </a:rPr>
              <a:t>Use </a:t>
            </a:r>
            <a:r>
              <a:rPr lang="en-US" altLang="en-US" sz="2800" i="1" dirty="0">
                <a:ea typeface="MS PGothic" charset="-128"/>
              </a:rPr>
              <a:t>Inspect</a:t>
            </a:r>
            <a:r>
              <a:rPr lang="en-US" altLang="en-US" sz="2800" dirty="0">
                <a:ea typeface="MS PGothic" charset="-128"/>
              </a:rPr>
              <a:t> to view the state.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800" dirty="0">
                <a:ea typeface="MS PGothic" charset="-128"/>
              </a:rPr>
              <a:t>Some values change often.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800" dirty="0">
                <a:ea typeface="MS PGothic" charset="-128"/>
              </a:rPr>
              <a:t>Some change rarely (or not at all).</a:t>
            </a:r>
          </a:p>
        </p:txBody>
      </p:sp>
      <p:sp>
        <p:nvSpPr>
          <p:cNvPr id="30723" name="Footer Placeholder 4"/>
          <p:cNvSpPr>
            <a:spLocks noGrp="1"/>
          </p:cNvSpPr>
          <p:nvPr>
            <p:ph type="ftr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264D8B"/>
              </a:buClr>
              <a:buFont typeface="Times" charset="0"/>
              <a:buChar char="•"/>
              <a:defRPr sz="3200">
                <a:solidFill>
                  <a:srgbClr val="1A3170"/>
                </a:solidFill>
                <a:latin typeface="Trebuchet MS" charset="0"/>
                <a:ea typeface="MS PGothic" charset="-128"/>
              </a:defRPr>
            </a:lvl1pPr>
            <a:lvl2pPr marL="742950" indent="-285750">
              <a:spcBef>
                <a:spcPct val="20000"/>
              </a:spcBef>
              <a:buClr>
                <a:srgbClr val="264D8B"/>
              </a:buClr>
              <a:buChar char="–"/>
              <a:defRPr sz="2800">
                <a:solidFill>
                  <a:srgbClr val="1A3170"/>
                </a:solidFill>
                <a:latin typeface="Trebuchet MS" charset="0"/>
                <a:ea typeface="MS PGothic" charset="-128"/>
              </a:defRPr>
            </a:lvl2pPr>
            <a:lvl3pPr marL="1143000" indent="-228600">
              <a:spcBef>
                <a:spcPct val="20000"/>
              </a:spcBef>
              <a:buClr>
                <a:srgbClr val="264D8B"/>
              </a:buClr>
              <a:buChar char="•"/>
              <a:defRPr sz="2400">
                <a:solidFill>
                  <a:srgbClr val="1A3170"/>
                </a:solidFill>
                <a:latin typeface="Trebuchet MS" charset="0"/>
                <a:ea typeface="MS PGothic" charset="-128"/>
              </a:defRPr>
            </a:lvl3pPr>
            <a:lvl4pPr marL="1600200" indent="-228600">
              <a:spcBef>
                <a:spcPct val="20000"/>
              </a:spcBef>
              <a:buClr>
                <a:srgbClr val="264D8B"/>
              </a:buClr>
              <a:buChar char="–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4pPr>
            <a:lvl5pPr marL="2057400" indent="-228600">
              <a:spcBef>
                <a:spcPct val="20000"/>
              </a:spcBef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en-GB" altLang="en-US" sz="1200">
              <a:solidFill>
                <a:srgbClr val="76807A"/>
              </a:solidFill>
              <a:latin typeface="Arial" charset="0"/>
            </a:endParaRPr>
          </a:p>
        </p:txBody>
      </p:sp>
      <p:sp>
        <p:nvSpPr>
          <p:cNvPr id="30724" name="Text Box 5"/>
          <p:cNvSpPr txBox="1">
            <a:spLocks noChangeArrowheads="1"/>
          </p:cNvSpPr>
          <p:nvPr/>
        </p:nvSpPr>
        <p:spPr bwMode="auto">
          <a:xfrm>
            <a:off x="6078537" y="1862711"/>
            <a:ext cx="4801314" cy="2554545"/>
          </a:xfrm>
          <a:prstGeom prst="rect">
            <a:avLst/>
          </a:prstGeom>
          <a:noFill/>
          <a:ln w="31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264D8B"/>
              </a:buClr>
              <a:buFont typeface="Times" charset="0"/>
              <a:buChar char="•"/>
              <a:defRPr sz="3200">
                <a:solidFill>
                  <a:srgbClr val="1A3170"/>
                </a:solidFill>
                <a:latin typeface="Trebuchet MS" charset="0"/>
                <a:ea typeface="MS PGothic" charset="-128"/>
              </a:defRPr>
            </a:lvl1pPr>
            <a:lvl2pPr marL="742950" indent="-285750">
              <a:spcBef>
                <a:spcPct val="20000"/>
              </a:spcBef>
              <a:buClr>
                <a:srgbClr val="264D8B"/>
              </a:buClr>
              <a:buChar char="–"/>
              <a:defRPr sz="2800">
                <a:solidFill>
                  <a:srgbClr val="1A3170"/>
                </a:solidFill>
                <a:latin typeface="Trebuchet MS" charset="0"/>
                <a:ea typeface="MS PGothic" charset="-128"/>
              </a:defRPr>
            </a:lvl2pPr>
            <a:lvl3pPr marL="1143000" indent="-228600">
              <a:spcBef>
                <a:spcPct val="20000"/>
              </a:spcBef>
              <a:buClr>
                <a:srgbClr val="264D8B"/>
              </a:buClr>
              <a:buChar char="•"/>
              <a:defRPr sz="2400">
                <a:solidFill>
                  <a:srgbClr val="1A3170"/>
                </a:solidFill>
                <a:latin typeface="Trebuchet MS" charset="0"/>
                <a:ea typeface="MS PGothic" charset="-128"/>
              </a:defRPr>
            </a:lvl3pPr>
            <a:lvl4pPr marL="1600200" indent="-228600">
              <a:spcBef>
                <a:spcPct val="20000"/>
              </a:spcBef>
              <a:buClr>
                <a:srgbClr val="264D8B"/>
              </a:buClr>
              <a:buChar char="–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4pPr>
            <a:lvl5pPr marL="2057400" indent="-228600">
              <a:spcBef>
                <a:spcPct val="20000"/>
              </a:spcBef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000" dirty="0">
                <a:solidFill>
                  <a:schemeClr val="tx1"/>
                </a:solidFill>
                <a:latin typeface="Courier New" charset="0"/>
              </a:rPr>
              <a:t>public class </a:t>
            </a:r>
            <a:r>
              <a:rPr lang="en-US" altLang="en-US" sz="2000" dirty="0" err="1">
                <a:solidFill>
                  <a:schemeClr val="tx1"/>
                </a:solidFill>
                <a:latin typeface="Courier New" charset="0"/>
              </a:rPr>
              <a:t>TicketMachine</a:t>
            </a:r>
            <a:endParaRPr lang="en-US" altLang="en-US" sz="2000" dirty="0">
              <a:solidFill>
                <a:schemeClr val="tx1"/>
              </a:solidFill>
              <a:latin typeface="Courier New" charset="0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000" dirty="0">
                <a:solidFill>
                  <a:schemeClr val="tx1"/>
                </a:solidFill>
                <a:latin typeface="Courier New" charset="0"/>
              </a:rPr>
              <a:t>{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000" dirty="0">
                <a:solidFill>
                  <a:schemeClr val="tx1"/>
                </a:solidFill>
                <a:latin typeface="Courier New" charset="0"/>
              </a:rPr>
              <a:t>    private int price;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000" dirty="0">
                <a:solidFill>
                  <a:schemeClr val="tx1"/>
                </a:solidFill>
                <a:latin typeface="Courier New" charset="0"/>
              </a:rPr>
              <a:t>    private int balance;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000" dirty="0">
                <a:solidFill>
                  <a:schemeClr val="tx1"/>
                </a:solidFill>
                <a:latin typeface="Courier New" charset="0"/>
              </a:rPr>
              <a:t>    private int total;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000" dirty="0">
                <a:solidFill>
                  <a:schemeClr val="tx1"/>
                </a:solidFill>
                <a:latin typeface="Courier New" charset="0"/>
              </a:rPr>
              <a:t> 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000" dirty="0">
                <a:solidFill>
                  <a:schemeClr val="tx1"/>
                </a:solidFill>
                <a:latin typeface="Courier New" charset="0"/>
              </a:rPr>
              <a:t>    //</a:t>
            </a:r>
            <a:r>
              <a:rPr lang="en-US" altLang="en-US" sz="2000" i="1" dirty="0">
                <a:solidFill>
                  <a:schemeClr val="tx1"/>
                </a:solidFill>
                <a:latin typeface="Courier New" charset="0"/>
              </a:rPr>
              <a:t>Further details omitted.</a:t>
            </a:r>
            <a:endParaRPr lang="en-US" altLang="en-US" sz="2000" dirty="0">
              <a:solidFill>
                <a:schemeClr val="tx1"/>
              </a:solidFill>
              <a:latin typeface="Courier New" charset="0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000" dirty="0">
                <a:solidFill>
                  <a:schemeClr val="tx1"/>
                </a:solidFill>
                <a:latin typeface="Courier New" charset="0"/>
              </a:rPr>
              <a:t>} </a:t>
            </a:r>
          </a:p>
        </p:txBody>
      </p:sp>
      <p:sp>
        <p:nvSpPr>
          <p:cNvPr id="30725" name="Text Box 6"/>
          <p:cNvSpPr txBox="1">
            <a:spLocks noChangeArrowheads="1"/>
          </p:cNvSpPr>
          <p:nvPr/>
        </p:nvSpPr>
        <p:spPr bwMode="auto">
          <a:xfrm>
            <a:off x="6743700" y="5486400"/>
            <a:ext cx="2954338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264D8B"/>
              </a:buClr>
              <a:buFont typeface="Times" charset="0"/>
              <a:buChar char="•"/>
              <a:defRPr sz="3200">
                <a:solidFill>
                  <a:srgbClr val="1A3170"/>
                </a:solidFill>
                <a:latin typeface="Trebuchet MS" charset="0"/>
                <a:ea typeface="MS PGothic" charset="-128"/>
              </a:defRPr>
            </a:lvl1pPr>
            <a:lvl2pPr marL="742950" indent="-285750">
              <a:spcBef>
                <a:spcPct val="20000"/>
              </a:spcBef>
              <a:buClr>
                <a:srgbClr val="264D8B"/>
              </a:buClr>
              <a:buChar char="–"/>
              <a:defRPr sz="2800">
                <a:solidFill>
                  <a:srgbClr val="1A3170"/>
                </a:solidFill>
                <a:latin typeface="Trebuchet MS" charset="0"/>
                <a:ea typeface="MS PGothic" charset="-128"/>
              </a:defRPr>
            </a:lvl2pPr>
            <a:lvl3pPr marL="1143000" indent="-228600">
              <a:spcBef>
                <a:spcPct val="20000"/>
              </a:spcBef>
              <a:buClr>
                <a:srgbClr val="264D8B"/>
              </a:buClr>
              <a:buChar char="•"/>
              <a:defRPr sz="2400">
                <a:solidFill>
                  <a:srgbClr val="1A3170"/>
                </a:solidFill>
                <a:latin typeface="Trebuchet MS" charset="0"/>
                <a:ea typeface="MS PGothic" charset="-128"/>
              </a:defRPr>
            </a:lvl3pPr>
            <a:lvl4pPr marL="1600200" indent="-228600">
              <a:spcBef>
                <a:spcPct val="20000"/>
              </a:spcBef>
              <a:buClr>
                <a:srgbClr val="264D8B"/>
              </a:buClr>
              <a:buChar char="–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4pPr>
            <a:lvl5pPr marL="2057400" indent="-228600">
              <a:spcBef>
                <a:spcPct val="20000"/>
              </a:spcBef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000" dirty="0">
                <a:solidFill>
                  <a:schemeClr val="tx1"/>
                </a:solidFill>
                <a:latin typeface="Courier New" charset="0"/>
              </a:rPr>
              <a:t>private int price;</a:t>
            </a:r>
          </a:p>
        </p:txBody>
      </p:sp>
      <p:sp>
        <p:nvSpPr>
          <p:cNvPr id="30726" name="Text Box 7"/>
          <p:cNvSpPr txBox="1">
            <a:spLocks noChangeArrowheads="1"/>
          </p:cNvSpPr>
          <p:nvPr/>
        </p:nvSpPr>
        <p:spPr bwMode="auto">
          <a:xfrm>
            <a:off x="5783266" y="4775200"/>
            <a:ext cx="2206053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264D8B"/>
              </a:buClr>
              <a:buFont typeface="Times" charset="0"/>
              <a:buChar char="•"/>
              <a:defRPr sz="3200">
                <a:solidFill>
                  <a:srgbClr val="1A3170"/>
                </a:solidFill>
                <a:latin typeface="Trebuchet MS" charset="0"/>
                <a:ea typeface="MS PGothic" charset="-128"/>
              </a:defRPr>
            </a:lvl1pPr>
            <a:lvl2pPr marL="742950" indent="-285750">
              <a:spcBef>
                <a:spcPct val="20000"/>
              </a:spcBef>
              <a:buClr>
                <a:srgbClr val="264D8B"/>
              </a:buClr>
              <a:buChar char="–"/>
              <a:defRPr sz="2800">
                <a:solidFill>
                  <a:srgbClr val="1A3170"/>
                </a:solidFill>
                <a:latin typeface="Trebuchet MS" charset="0"/>
                <a:ea typeface="MS PGothic" charset="-128"/>
              </a:defRPr>
            </a:lvl2pPr>
            <a:lvl3pPr marL="1143000" indent="-228600">
              <a:spcBef>
                <a:spcPct val="20000"/>
              </a:spcBef>
              <a:buClr>
                <a:srgbClr val="264D8B"/>
              </a:buClr>
              <a:buChar char="•"/>
              <a:defRPr sz="2400">
                <a:solidFill>
                  <a:srgbClr val="1A3170"/>
                </a:solidFill>
                <a:latin typeface="Trebuchet MS" charset="0"/>
                <a:ea typeface="MS PGothic" charset="-128"/>
              </a:defRPr>
            </a:lvl3pPr>
            <a:lvl4pPr marL="1600200" indent="-228600">
              <a:spcBef>
                <a:spcPct val="20000"/>
              </a:spcBef>
              <a:buClr>
                <a:srgbClr val="264D8B"/>
              </a:buClr>
              <a:buChar char="–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4pPr>
            <a:lvl5pPr marL="2057400" indent="-228600">
              <a:spcBef>
                <a:spcPct val="20000"/>
              </a:spcBef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000" b="0" dirty="0">
                <a:solidFill>
                  <a:srgbClr val="A57133"/>
                </a:solidFill>
              </a:rPr>
              <a:t>visibility modifier</a:t>
            </a:r>
          </a:p>
        </p:txBody>
      </p:sp>
      <p:sp>
        <p:nvSpPr>
          <p:cNvPr id="30727" name="Text Box 8"/>
          <p:cNvSpPr txBox="1">
            <a:spLocks noChangeArrowheads="1"/>
          </p:cNvSpPr>
          <p:nvPr/>
        </p:nvSpPr>
        <p:spPr bwMode="auto">
          <a:xfrm>
            <a:off x="7967663" y="4572003"/>
            <a:ext cx="69056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264D8B"/>
              </a:buClr>
              <a:buFont typeface="Times" charset="0"/>
              <a:buChar char="•"/>
              <a:defRPr sz="3200">
                <a:solidFill>
                  <a:srgbClr val="1A3170"/>
                </a:solidFill>
                <a:latin typeface="Trebuchet MS" charset="0"/>
                <a:ea typeface="MS PGothic" charset="-128"/>
              </a:defRPr>
            </a:lvl1pPr>
            <a:lvl2pPr marL="742950" indent="-285750">
              <a:spcBef>
                <a:spcPct val="20000"/>
              </a:spcBef>
              <a:buClr>
                <a:srgbClr val="264D8B"/>
              </a:buClr>
              <a:buChar char="–"/>
              <a:defRPr sz="2800">
                <a:solidFill>
                  <a:srgbClr val="1A3170"/>
                </a:solidFill>
                <a:latin typeface="Trebuchet MS" charset="0"/>
                <a:ea typeface="MS PGothic" charset="-128"/>
              </a:defRPr>
            </a:lvl2pPr>
            <a:lvl3pPr marL="1143000" indent="-228600">
              <a:spcBef>
                <a:spcPct val="20000"/>
              </a:spcBef>
              <a:buClr>
                <a:srgbClr val="264D8B"/>
              </a:buClr>
              <a:buChar char="•"/>
              <a:defRPr sz="2400">
                <a:solidFill>
                  <a:srgbClr val="1A3170"/>
                </a:solidFill>
                <a:latin typeface="Trebuchet MS" charset="0"/>
                <a:ea typeface="MS PGothic" charset="-128"/>
              </a:defRPr>
            </a:lvl3pPr>
            <a:lvl4pPr marL="1600200" indent="-228600">
              <a:spcBef>
                <a:spcPct val="20000"/>
              </a:spcBef>
              <a:buClr>
                <a:srgbClr val="264D8B"/>
              </a:buClr>
              <a:buChar char="–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4pPr>
            <a:lvl5pPr marL="2057400" indent="-228600">
              <a:spcBef>
                <a:spcPct val="20000"/>
              </a:spcBef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000" b="0" dirty="0">
                <a:solidFill>
                  <a:srgbClr val="A57133"/>
                </a:solidFill>
              </a:rPr>
              <a:t>type</a:t>
            </a:r>
          </a:p>
        </p:txBody>
      </p:sp>
      <p:sp>
        <p:nvSpPr>
          <p:cNvPr id="30728" name="Text Box 9"/>
          <p:cNvSpPr txBox="1">
            <a:spLocks noChangeArrowheads="1"/>
          </p:cNvSpPr>
          <p:nvPr/>
        </p:nvSpPr>
        <p:spPr bwMode="auto">
          <a:xfrm>
            <a:off x="8610603" y="4775203"/>
            <a:ext cx="18002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264D8B"/>
              </a:buClr>
              <a:buFont typeface="Times" charset="0"/>
              <a:buChar char="•"/>
              <a:defRPr sz="3200">
                <a:solidFill>
                  <a:srgbClr val="1A3170"/>
                </a:solidFill>
                <a:latin typeface="Trebuchet MS" charset="0"/>
                <a:ea typeface="MS PGothic" charset="-128"/>
              </a:defRPr>
            </a:lvl1pPr>
            <a:lvl2pPr marL="742950" indent="-285750">
              <a:spcBef>
                <a:spcPct val="20000"/>
              </a:spcBef>
              <a:buClr>
                <a:srgbClr val="264D8B"/>
              </a:buClr>
              <a:buChar char="–"/>
              <a:defRPr sz="2800">
                <a:solidFill>
                  <a:srgbClr val="1A3170"/>
                </a:solidFill>
                <a:latin typeface="Trebuchet MS" charset="0"/>
                <a:ea typeface="MS PGothic" charset="-128"/>
              </a:defRPr>
            </a:lvl2pPr>
            <a:lvl3pPr marL="1143000" indent="-228600">
              <a:spcBef>
                <a:spcPct val="20000"/>
              </a:spcBef>
              <a:buClr>
                <a:srgbClr val="264D8B"/>
              </a:buClr>
              <a:buChar char="•"/>
              <a:defRPr sz="2400">
                <a:solidFill>
                  <a:srgbClr val="1A3170"/>
                </a:solidFill>
                <a:latin typeface="Trebuchet MS" charset="0"/>
                <a:ea typeface="MS PGothic" charset="-128"/>
              </a:defRPr>
            </a:lvl3pPr>
            <a:lvl4pPr marL="1600200" indent="-228600">
              <a:spcBef>
                <a:spcPct val="20000"/>
              </a:spcBef>
              <a:buClr>
                <a:srgbClr val="264D8B"/>
              </a:buClr>
              <a:buChar char="–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4pPr>
            <a:lvl5pPr marL="2057400" indent="-228600">
              <a:spcBef>
                <a:spcPct val="20000"/>
              </a:spcBef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000" b="0">
                <a:solidFill>
                  <a:srgbClr val="A57133"/>
                </a:solidFill>
              </a:rPr>
              <a:t>variable name</a:t>
            </a:r>
          </a:p>
        </p:txBody>
      </p:sp>
      <p:sp>
        <p:nvSpPr>
          <p:cNvPr id="30729" name="Line 10"/>
          <p:cNvSpPr>
            <a:spLocks noChangeShapeType="1"/>
          </p:cNvSpPr>
          <p:nvPr/>
        </p:nvSpPr>
        <p:spPr bwMode="auto">
          <a:xfrm>
            <a:off x="8305800" y="50292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730" name="Line 11"/>
          <p:cNvSpPr>
            <a:spLocks noChangeShapeType="1"/>
          </p:cNvSpPr>
          <p:nvPr/>
        </p:nvSpPr>
        <p:spPr bwMode="auto">
          <a:xfrm flipH="1">
            <a:off x="8915400" y="5181600"/>
            <a:ext cx="4572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731" name="Line 12"/>
          <p:cNvSpPr>
            <a:spLocks noChangeShapeType="1"/>
          </p:cNvSpPr>
          <p:nvPr/>
        </p:nvSpPr>
        <p:spPr bwMode="auto">
          <a:xfrm>
            <a:off x="6705603" y="5105403"/>
            <a:ext cx="614363" cy="4111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07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07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307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307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307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07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07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07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307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307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307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307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307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307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307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307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307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307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307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307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1000"/>
                                        <p:tgtEl>
                                          <p:spTgt spid="307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307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307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22" grpId="0" build="p"/>
      <p:bldP spid="30724" grpId="0" animBg="1"/>
      <p:bldP spid="30725" grpId="0"/>
      <p:bldP spid="30726" grpId="0"/>
      <p:bldP spid="30727" grpId="0"/>
      <p:bldP spid="30728" grpId="0"/>
      <p:bldP spid="30729" grpId="0" animBg="1"/>
      <p:bldP spid="30730" grpId="0" animBg="1"/>
      <p:bldP spid="30731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>
                <a:ea typeface="+mj-ea"/>
                <a:cs typeface="+mj-cs"/>
              </a:rPr>
              <a:t>Constructors</a:t>
            </a:r>
          </a:p>
        </p:txBody>
      </p:sp>
      <p:sp>
        <p:nvSpPr>
          <p:cNvPr id="32770" name="Rectangle 3"/>
          <p:cNvSpPr>
            <a:spLocks noGrp="1" noChangeArrowheads="1"/>
          </p:cNvSpPr>
          <p:nvPr>
            <p:ph idx="1"/>
          </p:nvPr>
        </p:nvSpPr>
        <p:spPr>
          <a:xfrm>
            <a:off x="1055440" y="2132806"/>
            <a:ext cx="5400600" cy="3816473"/>
          </a:xfrm>
        </p:spPr>
        <p:txBody>
          <a:bodyPr>
            <a:normAutofit fontScale="92500" lnSpcReduction="20000"/>
          </a:bodyPr>
          <a:lstStyle/>
          <a:p>
            <a:pPr eaLnBrk="1" hangingPunct="1"/>
            <a:r>
              <a:rPr lang="en-US" altLang="en-US" sz="3200" dirty="0" err="1">
                <a:ea typeface="MS PGothic" charset="-128"/>
              </a:rPr>
              <a:t>Initialise</a:t>
            </a:r>
            <a:r>
              <a:rPr lang="en-US" altLang="en-US" sz="3200" dirty="0">
                <a:ea typeface="MS PGothic" charset="-128"/>
              </a:rPr>
              <a:t> an object.</a:t>
            </a:r>
          </a:p>
          <a:p>
            <a:pPr eaLnBrk="1" hangingPunct="1"/>
            <a:r>
              <a:rPr lang="en-US" altLang="en-US" sz="3200" dirty="0">
                <a:ea typeface="MS PGothic" charset="-128"/>
              </a:rPr>
              <a:t>Have the same name as their class.</a:t>
            </a:r>
          </a:p>
          <a:p>
            <a:pPr eaLnBrk="1" hangingPunct="1"/>
            <a:r>
              <a:rPr lang="en-US" altLang="en-US" sz="3200" dirty="0">
                <a:ea typeface="MS PGothic" charset="-128"/>
              </a:rPr>
              <a:t>Close association with the fields:</a:t>
            </a:r>
          </a:p>
          <a:p>
            <a:pPr lvl="1" eaLnBrk="1" hangingPunct="1"/>
            <a:r>
              <a:rPr lang="en-US" altLang="en-US" sz="2800" dirty="0">
                <a:ea typeface="MS PGothic" charset="-128"/>
              </a:rPr>
              <a:t>Initial values stored into the fields.</a:t>
            </a:r>
          </a:p>
          <a:p>
            <a:pPr lvl="1" eaLnBrk="1" hangingPunct="1"/>
            <a:r>
              <a:rPr lang="en-US" altLang="en-US" sz="2800" dirty="0">
                <a:ea typeface="MS PGothic" charset="-128"/>
              </a:rPr>
              <a:t>Parameter values often used for these.</a:t>
            </a:r>
          </a:p>
        </p:txBody>
      </p:sp>
      <p:sp>
        <p:nvSpPr>
          <p:cNvPr id="32772" name="Text Box 5"/>
          <p:cNvSpPr txBox="1">
            <a:spLocks noChangeArrowheads="1"/>
          </p:cNvSpPr>
          <p:nvPr/>
        </p:nvSpPr>
        <p:spPr bwMode="auto">
          <a:xfrm>
            <a:off x="6654488" y="2060848"/>
            <a:ext cx="4800600" cy="1938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264D8B"/>
              </a:buClr>
              <a:buFont typeface="Times" charset="0"/>
              <a:buChar char="•"/>
              <a:defRPr sz="3200">
                <a:solidFill>
                  <a:srgbClr val="1A3170"/>
                </a:solidFill>
                <a:latin typeface="Trebuchet MS" charset="0"/>
                <a:ea typeface="MS PGothic" charset="-128"/>
              </a:defRPr>
            </a:lvl1pPr>
            <a:lvl2pPr marL="742950" indent="-285750">
              <a:spcBef>
                <a:spcPct val="20000"/>
              </a:spcBef>
              <a:buClr>
                <a:srgbClr val="264D8B"/>
              </a:buClr>
              <a:buChar char="–"/>
              <a:defRPr sz="2800">
                <a:solidFill>
                  <a:srgbClr val="1A3170"/>
                </a:solidFill>
                <a:latin typeface="Trebuchet MS" charset="0"/>
                <a:ea typeface="MS PGothic" charset="-128"/>
              </a:defRPr>
            </a:lvl2pPr>
            <a:lvl3pPr marL="1143000" indent="-228600">
              <a:spcBef>
                <a:spcPct val="20000"/>
              </a:spcBef>
              <a:buClr>
                <a:srgbClr val="264D8B"/>
              </a:buClr>
              <a:buChar char="•"/>
              <a:defRPr sz="2400">
                <a:solidFill>
                  <a:srgbClr val="1A3170"/>
                </a:solidFill>
                <a:latin typeface="Trebuchet MS" charset="0"/>
                <a:ea typeface="MS PGothic" charset="-128"/>
              </a:defRPr>
            </a:lvl3pPr>
            <a:lvl4pPr marL="1600200" indent="-228600">
              <a:spcBef>
                <a:spcPct val="20000"/>
              </a:spcBef>
              <a:buClr>
                <a:srgbClr val="264D8B"/>
              </a:buClr>
              <a:buChar char="–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4pPr>
            <a:lvl5pPr marL="2057400" indent="-228600">
              <a:spcBef>
                <a:spcPct val="20000"/>
              </a:spcBef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000" dirty="0">
                <a:solidFill>
                  <a:schemeClr val="tx1"/>
                </a:solidFill>
                <a:latin typeface="Courier New" charset="0"/>
              </a:rPr>
              <a:t>public TicketMachine(int cost)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000" dirty="0">
                <a:solidFill>
                  <a:schemeClr val="tx1"/>
                </a:solidFill>
                <a:latin typeface="Courier New" charset="0"/>
              </a:rPr>
              <a:t>{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000" dirty="0">
                <a:solidFill>
                  <a:schemeClr val="tx1"/>
                </a:solidFill>
                <a:latin typeface="Courier New" charset="0"/>
              </a:rPr>
              <a:t>    price = cost;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000" dirty="0">
                <a:solidFill>
                  <a:schemeClr val="tx1"/>
                </a:solidFill>
                <a:latin typeface="Courier New" charset="0"/>
              </a:rPr>
              <a:t>    balance = 0;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000" dirty="0">
                <a:solidFill>
                  <a:schemeClr val="tx1"/>
                </a:solidFill>
                <a:latin typeface="Courier New" charset="0"/>
              </a:rPr>
              <a:t>    total = 0;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000" dirty="0">
                <a:solidFill>
                  <a:schemeClr val="tx1"/>
                </a:solidFill>
                <a:latin typeface="Courier New" charset="0"/>
              </a:rPr>
              <a:t>}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27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27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277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277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277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277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277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277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277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277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770" grpId="0" build="p"/>
      <p:bldP spid="32772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>
                <a:ea typeface="+mj-ea"/>
                <a:cs typeface="+mj-cs"/>
              </a:rPr>
              <a:t>Passing data via parameters</a:t>
            </a:r>
          </a:p>
        </p:txBody>
      </p:sp>
      <p:sp>
        <p:nvSpPr>
          <p:cNvPr id="34820" name="Text Box 6"/>
          <p:cNvSpPr txBox="1">
            <a:spLocks noChangeArrowheads="1"/>
          </p:cNvSpPr>
          <p:nvPr/>
        </p:nvSpPr>
        <p:spPr bwMode="auto">
          <a:xfrm>
            <a:off x="3359699" y="5589243"/>
            <a:ext cx="640843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1pPr>
            <a:lvl2pPr marL="742950" indent="-28575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2pPr>
            <a:lvl3pPr marL="11430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3pPr>
            <a:lvl4pPr marL="16002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4pPr>
            <a:lvl5pPr marL="20574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9pPr>
          </a:lstStyle>
          <a:p>
            <a:pPr algn="l"/>
            <a:r>
              <a:rPr lang="en-GB" altLang="en-US">
                <a:solidFill>
                  <a:srgbClr val="1A3170"/>
                </a:solidFill>
              </a:rPr>
              <a:t>Parameters are another sort of variable.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59696" y="2043286"/>
            <a:ext cx="6057900" cy="2959100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/>
              <a:t>Variables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E" sz="2800"/>
              <a:t>In Programming, variables:</a:t>
            </a:r>
          </a:p>
          <a:p>
            <a:pPr marL="0" indent="0">
              <a:buNone/>
            </a:pPr>
            <a:endParaRPr lang="en-IE" sz="2800"/>
          </a:p>
          <a:p>
            <a:r>
              <a:rPr lang="en-IE" sz="2800"/>
              <a:t>are created (defined) in your programs</a:t>
            </a:r>
          </a:p>
          <a:p>
            <a:r>
              <a:rPr lang="en-IE" sz="2800"/>
              <a:t>are used to store data (whose value can change over time)</a:t>
            </a:r>
          </a:p>
          <a:p>
            <a:r>
              <a:rPr lang="en-IE" sz="2800"/>
              <a:t>have a data type</a:t>
            </a:r>
          </a:p>
          <a:p>
            <a:r>
              <a:rPr lang="en-IE" sz="2800"/>
              <a:t>have a name</a:t>
            </a:r>
          </a:p>
          <a:p>
            <a:r>
              <a:rPr lang="en-IE" sz="2800"/>
              <a:t>are a VERY important programming concept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624621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>
                <a:ea typeface="+mj-ea"/>
                <a:cs typeface="+mj-cs"/>
              </a:rPr>
              <a:t>Assignment</a:t>
            </a:r>
          </a:p>
        </p:txBody>
      </p:sp>
      <p:sp>
        <p:nvSpPr>
          <p:cNvPr id="36866" name="Rectangle 3"/>
          <p:cNvSpPr>
            <a:spLocks noGrp="1" noChangeArrowheads="1"/>
          </p:cNvSpPr>
          <p:nvPr>
            <p:ph idx="1"/>
          </p:nvPr>
        </p:nvSpPr>
        <p:spPr>
          <a:xfrm>
            <a:off x="1017584" y="1808162"/>
            <a:ext cx="9326887" cy="4752975"/>
          </a:xfrm>
        </p:spPr>
        <p:txBody>
          <a:bodyPr>
            <a:normAutofit fontScale="62500" lnSpcReduction="20000"/>
          </a:bodyPr>
          <a:lstStyle/>
          <a:p>
            <a:pPr eaLnBrk="1" hangingPunct="1"/>
            <a:r>
              <a:rPr lang="en-US" altLang="en-US" sz="4000" dirty="0">
                <a:ea typeface="MS PGothic" charset="-128"/>
              </a:rPr>
              <a:t>Values are stored into fields (and other variables) via assignment statements:</a:t>
            </a:r>
            <a:br>
              <a:rPr lang="en-US" altLang="en-US" sz="4000" dirty="0">
                <a:ea typeface="MS PGothic" charset="-128"/>
              </a:rPr>
            </a:br>
            <a:endParaRPr lang="en-US" altLang="en-US" sz="4000" dirty="0">
              <a:ea typeface="MS PGothic" charset="-128"/>
            </a:endParaRPr>
          </a:p>
          <a:p>
            <a:pPr lvl="1" eaLnBrk="1" hangingPunct="1"/>
            <a:r>
              <a:rPr lang="en-US" altLang="en-US" sz="3600" i="1" dirty="0">
                <a:ea typeface="MS PGothic" charset="-128"/>
              </a:rPr>
              <a:t>variable = expression;</a:t>
            </a:r>
            <a:br>
              <a:rPr lang="en-US" altLang="en-US" sz="3600" i="1" dirty="0">
                <a:ea typeface="MS PGothic" charset="-128"/>
              </a:rPr>
            </a:br>
            <a:endParaRPr lang="en-US" altLang="en-US" sz="3600" i="1" dirty="0">
              <a:ea typeface="MS PGothic" charset="-128"/>
            </a:endParaRPr>
          </a:p>
          <a:p>
            <a:pPr lvl="1" eaLnBrk="1" hangingPunct="1"/>
            <a:r>
              <a:rPr lang="en-US" altLang="en-US" sz="3600" b="1" dirty="0">
                <a:latin typeface="Courier New" charset="0"/>
                <a:ea typeface="MS PGothic" charset="-128"/>
              </a:rPr>
              <a:t>balance = balance + amount;</a:t>
            </a:r>
          </a:p>
          <a:p>
            <a:pPr lvl="1" eaLnBrk="1" hangingPunct="1"/>
            <a:endParaRPr lang="en-US" altLang="en-US" sz="3600" b="1" dirty="0">
              <a:latin typeface="Courier New" charset="0"/>
              <a:ea typeface="MS PGothic" charset="-128"/>
            </a:endParaRPr>
          </a:p>
          <a:p>
            <a:pPr marL="457200" lvl="1" indent="0" eaLnBrk="1" hangingPunct="1">
              <a:buNone/>
            </a:pPr>
            <a:endParaRPr lang="en-US" altLang="en-US" sz="3600" b="1" dirty="0">
              <a:latin typeface="Courier New" charset="0"/>
              <a:ea typeface="MS PGothic" charset="-128"/>
            </a:endParaRPr>
          </a:p>
          <a:p>
            <a:pPr eaLnBrk="1" hangingPunct="1"/>
            <a:r>
              <a:rPr lang="en-US" altLang="en-US" sz="4000" dirty="0">
                <a:ea typeface="MS PGothic" charset="-128"/>
              </a:rPr>
              <a:t>A variable can store just one value, so any previous value is lost.</a:t>
            </a:r>
          </a:p>
          <a:p>
            <a:r>
              <a:rPr lang="en-US" sz="4000" dirty="0"/>
              <a:t>Assignment statements work by taking the value of what appears on the right-hand side of the operator and copying that value into a variable on </a:t>
            </a:r>
            <a:r>
              <a:rPr lang="en-IE" sz="4000" dirty="0"/>
              <a:t>the left-hand side.</a:t>
            </a:r>
            <a:endParaRPr lang="en-US" sz="4000" dirty="0"/>
          </a:p>
          <a:p>
            <a:pPr eaLnBrk="1" hangingPunct="1"/>
            <a:endParaRPr lang="en-US" altLang="en-US" sz="4000" dirty="0">
              <a:ea typeface="MS PGothic" charset="-128"/>
            </a:endParaRPr>
          </a:p>
        </p:txBody>
      </p:sp>
      <p:sp>
        <p:nvSpPr>
          <p:cNvPr id="2" name="Cloud 1"/>
          <p:cNvSpPr/>
          <p:nvPr/>
        </p:nvSpPr>
        <p:spPr bwMode="auto">
          <a:xfrm>
            <a:off x="4799856" y="2708920"/>
            <a:ext cx="1943100" cy="647700"/>
          </a:xfrm>
          <a:prstGeom prst="cloud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defRPr/>
            </a:pPr>
            <a:r>
              <a:rPr lang="en-US" b="0" i="1" dirty="0">
                <a:solidFill>
                  <a:srgbClr val="FF6600"/>
                </a:solidFill>
                <a:latin typeface="+mn-lt"/>
                <a:ea typeface="ＭＳ Ｐゴシック" charset="0"/>
                <a:cs typeface="MS PGothic" charset="0"/>
              </a:rPr>
              <a:t>pattern</a:t>
            </a:r>
          </a:p>
        </p:txBody>
      </p:sp>
      <p:sp>
        <p:nvSpPr>
          <p:cNvPr id="6" name="Cloud 5"/>
          <p:cNvSpPr/>
          <p:nvPr/>
        </p:nvSpPr>
        <p:spPr bwMode="auto">
          <a:xfrm>
            <a:off x="6816080" y="3315979"/>
            <a:ext cx="2160587" cy="647700"/>
          </a:xfrm>
          <a:prstGeom prst="cloud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defRPr/>
            </a:pPr>
            <a:r>
              <a:rPr lang="en-US" b="0" i="1" dirty="0">
                <a:solidFill>
                  <a:srgbClr val="FF6600"/>
                </a:solidFill>
                <a:latin typeface="+mn-lt"/>
                <a:ea typeface="ＭＳ Ｐゴシック" charset="0"/>
                <a:cs typeface="MS PGothic" charset="0"/>
              </a:rPr>
              <a:t>example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866" grpId="0" uiExpand="1" build="p"/>
      <p:bldP spid="2" grpId="0" animBg="1"/>
      <p:bldP spid="6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91439" rIns="81279" bIns="91439" numCol="1" anchor="ctr" anchorCtr="0" compatLnSpc="1">
            <a:prstTxWarp prst="textNoShape">
              <a:avLst/>
            </a:prstTxWarp>
            <a:normAutofit/>
          </a:bodyPr>
          <a:lstStyle/>
          <a:p>
            <a:pPr eaLnBrk="1" hangingPunct="1">
              <a:defRPr/>
            </a:pPr>
            <a:r>
              <a:rPr lang="en-US" dirty="0">
                <a:ea typeface="+mj-ea"/>
                <a:cs typeface="+mj-cs"/>
              </a:rPr>
              <a:t>Next concepts to be covered</a:t>
            </a:r>
          </a:p>
        </p:txBody>
      </p:sp>
      <p:sp>
        <p:nvSpPr>
          <p:cNvPr id="39938" name="Rectangle 3"/>
          <p:cNvSpPr>
            <a:spLocks noGrp="1" noChangeArrowheads="1"/>
          </p:cNvSpPr>
          <p:nvPr>
            <p:ph idx="1"/>
          </p:nvPr>
        </p:nvSpPr>
        <p:spPr>
          <a:xfrm>
            <a:off x="1271464" y="1844824"/>
            <a:ext cx="9505056" cy="4267200"/>
          </a:xfrm>
        </p:spPr>
        <p:txBody>
          <a:bodyPr vert="horz" wrap="square" lIns="91440" tIns="91439" rIns="233680" bIns="91439" numCol="1" anchor="t" anchorCtr="0" compatLnSpc="1">
            <a:prstTxWarp prst="textNoShape">
              <a:avLst/>
            </a:prstTxWarp>
            <a:normAutofit/>
          </a:bodyPr>
          <a:lstStyle/>
          <a:p>
            <a:pPr marL="382588"/>
            <a:r>
              <a:rPr lang="en-US" altLang="en-US" dirty="0">
                <a:ea typeface="MS PGothic" charset="-128"/>
              </a:rPr>
              <a:t>Methods, including:</a:t>
            </a:r>
          </a:p>
          <a:p>
            <a:pPr lvl="1" eaLnBrk="1" hangingPunct="1"/>
            <a:r>
              <a:rPr lang="en-US" altLang="en-US" i="1" dirty="0">
                <a:ea typeface="MS PGothic" charset="-128"/>
              </a:rPr>
              <a:t>accessor </a:t>
            </a:r>
            <a:r>
              <a:rPr lang="en-US" altLang="en-US" dirty="0">
                <a:ea typeface="MS PGothic" charset="-128"/>
              </a:rPr>
              <a:t>(</a:t>
            </a:r>
            <a:r>
              <a:rPr lang="en-US" altLang="en-US" i="1" dirty="0">
                <a:ea typeface="MS PGothic" charset="-128"/>
              </a:rPr>
              <a:t>getter</a:t>
            </a:r>
            <a:r>
              <a:rPr lang="en-US" altLang="en-US" dirty="0">
                <a:ea typeface="MS PGothic" charset="-128"/>
              </a:rPr>
              <a:t>) methods</a:t>
            </a:r>
          </a:p>
          <a:p>
            <a:pPr lvl="1" eaLnBrk="1" hangingPunct="1"/>
            <a:r>
              <a:rPr lang="en-US" altLang="en-US" i="1" dirty="0">
                <a:ea typeface="MS PGothic" charset="-128"/>
              </a:rPr>
              <a:t>mutator</a:t>
            </a:r>
            <a:r>
              <a:rPr lang="en-US" altLang="en-US" dirty="0">
                <a:ea typeface="MS PGothic" charset="-128"/>
              </a:rPr>
              <a:t> (</a:t>
            </a:r>
            <a:r>
              <a:rPr lang="en-US" altLang="en-US" i="1" dirty="0">
                <a:ea typeface="MS PGothic" charset="-128"/>
              </a:rPr>
              <a:t>setter</a:t>
            </a:r>
            <a:r>
              <a:rPr lang="en-US" altLang="en-US" dirty="0">
                <a:ea typeface="MS PGothic" charset="-128"/>
              </a:rPr>
              <a:t>) methods;</a:t>
            </a:r>
          </a:p>
          <a:p>
            <a:pPr marL="382588"/>
            <a:r>
              <a:rPr lang="en-US" altLang="en-US" dirty="0">
                <a:ea typeface="MS PGothic" charset="-128"/>
              </a:rPr>
              <a:t>String formatting;</a:t>
            </a:r>
          </a:p>
          <a:p>
            <a:pPr marL="382588"/>
            <a:r>
              <a:rPr lang="en-US" altLang="en-US" dirty="0">
                <a:ea typeface="MS PGothic" charset="-128"/>
              </a:rPr>
              <a:t>Conditional statements;</a:t>
            </a:r>
          </a:p>
          <a:p>
            <a:pPr marL="382588"/>
            <a:r>
              <a:rPr lang="en-US" altLang="en-US" dirty="0">
                <a:ea typeface="MS PGothic" charset="-128"/>
              </a:rPr>
              <a:t>Local variables.</a:t>
            </a:r>
          </a:p>
        </p:txBody>
      </p:sp>
    </p:spTree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9CC6DF-A9A6-E5FF-46CD-0673045D19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F9C003-4B4A-606C-627F-3EF5272DD3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Questions?</a:t>
            </a:r>
          </a:p>
        </p:txBody>
      </p:sp>
      <p:pic>
        <p:nvPicPr>
          <p:cNvPr id="3" name="Picture 2" descr="A green question mark in a circle&#10;&#10;AI-generated content may be incorrect.">
            <a:extLst>
              <a:ext uri="{FF2B5EF4-FFF2-40B4-BE49-F238E27FC236}">
                <a16:creationId xmlns:a16="http://schemas.microsoft.com/office/drawing/2014/main" id="{CA4F6315-0241-2E9B-6A02-8502906E69B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71800" y="1325562"/>
            <a:ext cx="5257800" cy="5257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8092065"/>
      </p:ext>
    </p:extLst>
  </p:cSld>
  <p:clrMapOvr>
    <a:masterClrMapping/>
  </p:clrMapOvr>
</p:sld>
</file>

<file path=ppt/theme/theme1.xml><?xml version="1.0" encoding="utf-8"?>
<a:theme xmlns:a="http://schemas.openxmlformats.org/drawingml/2006/main" name="a-processing-mouse-event-methods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getting-started-bluej</Template>
  <TotalTime>4</TotalTime>
  <Words>746</Words>
  <Application>Microsoft Macintosh PowerPoint</Application>
  <PresentationFormat>Widescreen</PresentationFormat>
  <Paragraphs>168</Paragraphs>
  <Slides>17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4" baseType="lpstr">
      <vt:lpstr>MS PGothic</vt:lpstr>
      <vt:lpstr>Arial</vt:lpstr>
      <vt:lpstr>Calibri</vt:lpstr>
      <vt:lpstr>Courier New</vt:lpstr>
      <vt:lpstr>Times</vt:lpstr>
      <vt:lpstr>Times New Roman</vt:lpstr>
      <vt:lpstr>a-processing-mouse-event-methods</vt:lpstr>
      <vt:lpstr>Understanding class definitions</vt:lpstr>
      <vt:lpstr>Main concepts to be covered</vt:lpstr>
      <vt:lpstr>Ticket machine Example</vt:lpstr>
      <vt:lpstr>Ticket machines – an external view</vt:lpstr>
      <vt:lpstr>Ticket machine Example </vt:lpstr>
      <vt:lpstr>Ticket machine Example</vt:lpstr>
      <vt:lpstr>Ticket machine Example</vt:lpstr>
      <vt:lpstr>Ticket machines – an internal view</vt:lpstr>
      <vt:lpstr>Basic class structure</vt:lpstr>
      <vt:lpstr>Keywords</vt:lpstr>
      <vt:lpstr>Fields</vt:lpstr>
      <vt:lpstr>Constructors</vt:lpstr>
      <vt:lpstr>Passing data via parameters</vt:lpstr>
      <vt:lpstr>Variables</vt:lpstr>
      <vt:lpstr>Assignment</vt:lpstr>
      <vt:lpstr>Next concepts to be covered</vt:lpstr>
      <vt:lpstr>Questions?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Objects First With Java - Chapter 2</dc:title>
  <dc:subject/>
  <dc:creator>David J. Barnes, Michael Kölling</dc:creator>
  <cp:keywords/>
  <dc:description>Copyright © David J. Barnes, Michael Kölling</dc:description>
  <cp:lastModifiedBy>Mairead Meagher</cp:lastModifiedBy>
  <cp:revision>179</cp:revision>
  <cp:lastPrinted>2003-09-01T07:04:41Z</cp:lastPrinted>
  <dcterms:created xsi:type="dcterms:W3CDTF">2009-04-22T19:24:48Z</dcterms:created>
  <dcterms:modified xsi:type="dcterms:W3CDTF">2025-09-19T11:52:31Z</dcterms:modified>
  <cp:category/>
</cp:coreProperties>
</file>