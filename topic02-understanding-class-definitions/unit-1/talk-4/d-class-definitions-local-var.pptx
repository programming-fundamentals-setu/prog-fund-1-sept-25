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1"/>
  </p:sldMasterIdLst>
  <p:notesMasterIdLst>
    <p:notesMasterId r:id="rId17"/>
  </p:notesMasterIdLst>
  <p:handoutMasterIdLst>
    <p:handoutMasterId r:id="rId18"/>
  </p:handoutMasterIdLst>
  <p:sldIdLst>
    <p:sldId id="256" r:id="rId2"/>
    <p:sldId id="348" r:id="rId3"/>
    <p:sldId id="273" r:id="rId4"/>
    <p:sldId id="296" r:id="rId5"/>
    <p:sldId id="285" r:id="rId6"/>
    <p:sldId id="284" r:id="rId7"/>
    <p:sldId id="300" r:id="rId8"/>
    <p:sldId id="295" r:id="rId9"/>
    <p:sldId id="274" r:id="rId10"/>
    <p:sldId id="297" r:id="rId11"/>
    <p:sldId id="275" r:id="rId12"/>
    <p:sldId id="276" r:id="rId13"/>
    <p:sldId id="298" r:id="rId14"/>
    <p:sldId id="277" r:id="rId15"/>
    <p:sldId id="34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F5E"/>
    <a:srgbClr val="C81D2B"/>
    <a:srgbClr val="1A3170"/>
    <a:srgbClr val="A57133"/>
    <a:srgbClr val="007E4F"/>
    <a:srgbClr val="009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62"/>
    <p:restoredTop sz="94708"/>
  </p:normalViewPr>
  <p:slideViewPr>
    <p:cSldViewPr>
      <p:cViewPr>
        <p:scale>
          <a:sx n="94" d="100"/>
          <a:sy n="94" d="100"/>
        </p:scale>
        <p:origin x="824" y="6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577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FF930-7A3E-E440-99D2-D88CF4C2A3B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594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192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192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9A42CBBF-813F-C24A-9B84-B001A2F9FD36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5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19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38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782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78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07873945-15D1-0D4D-A39F-AD56662E5318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78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778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  <p:txBody>
          <a:bodyPr/>
          <a:lstStyle/>
          <a:p>
            <a:r>
              <a:rPr lang="en-US" altLang="en-US" sz="1600">
                <a:latin typeface="Lucida Grande" charset="0"/>
                <a:ea typeface="ＭＳ Ｐゴシック" charset="-128"/>
                <a:sym typeface="Lucida Grande" charset="0"/>
              </a:rPr>
              <a:t>write method in BlueJ;</a:t>
            </a:r>
          </a:p>
          <a:p>
            <a:r>
              <a:rPr lang="en-US" altLang="en-US" sz="1600">
                <a:latin typeface="Lucida Grande" charset="0"/>
                <a:ea typeface="ＭＳ Ｐゴシック" charset="-128"/>
                <a:sym typeface="Lucida Grande" charset="0"/>
              </a:rPr>
              <a:t>first: do it wrong</a:t>
            </a:r>
          </a:p>
        </p:txBody>
      </p:sp>
    </p:spTree>
    <p:extLst>
      <p:ext uri="{BB962C8B-B14F-4D97-AF65-F5344CB8AC3E}">
        <p14:creationId xmlns:p14="http://schemas.microsoft.com/office/powerpoint/2010/main" val="1089921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397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39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4180958-73CC-0144-BCE8-529C91825BE5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9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39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707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70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70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A7C21A4-7154-284F-95B6-24ADE101CD5C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70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7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9149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909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909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9D6D8DB9-229C-A142-9375-6DC2BBB50BDC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12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90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6598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9216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9216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42F78871-0436-0947-88D0-D12E443F6C06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14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921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22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150146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26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56706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703938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998779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315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000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569111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252568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628586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809980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850764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788420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16456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63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  <p:sldLayoutId id="2147483953" r:id="rId13"/>
    <p:sldLayoutId id="2147483954" r:id="rId14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dirty="0">
                <a:ea typeface="+mj-ea"/>
                <a:cs typeface="+mj-cs"/>
              </a:rPr>
              <a:t>Understanding class definitions 3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quarter" idx="22"/>
          </p:nvPr>
        </p:nvSpPr>
        <p:spPr>
          <a:xfrm>
            <a:off x="98936" y="1418712"/>
            <a:ext cx="10134430" cy="846384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Exploring source code</a:t>
            </a: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by:</a:t>
            </a:r>
            <a:endParaRPr lang="en-IE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C52B6A4-97C1-5BF3-8F44-19C73FB40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C1D98B-EAD8-17AC-9CB8-C2BBF110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Upcoming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FC1126-1F70-0EA1-DCE5-D16434703A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Local variables. </a:t>
            </a:r>
          </a:p>
          <a:p>
            <a:pPr marL="382588"/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469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MS PGothic" charset="-128"/>
              </a:rPr>
              <a:t>Variables – a recap</a:t>
            </a:r>
          </a:p>
        </p:txBody>
      </p:sp>
      <p:sp>
        <p:nvSpPr>
          <p:cNvPr id="7475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Fields are one sort of variable.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store values through the life of an object.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are accessible throughout the class.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Parameters are another sort of variable: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receive values from outside the method.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help a method complete its task.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Each call to the method receives a fresh set of values.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Parameter values are short lived.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800" dirty="0">
              <a:ea typeface="MS PGothic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4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4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Scope highlighting</a:t>
            </a:r>
          </a:p>
        </p:txBody>
      </p:sp>
      <p:pic>
        <p:nvPicPr>
          <p:cNvPr id="79874" name="Picture 5" descr="fig2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02" y="1628800"/>
            <a:ext cx="5690196" cy="48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>
                <a:ea typeface="MS PGothic" charset="-128"/>
              </a:rPr>
              <a:t>Scope and lifetime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Each block defines a new scope.</a:t>
            </a:r>
          </a:p>
          <a:p>
            <a:pPr lvl="1" eaLnBrk="1" hangingPunct="1"/>
            <a:r>
              <a:rPr lang="en-US" altLang="en-US" dirty="0">
                <a:ea typeface="MS PGothic" charset="-128"/>
              </a:rPr>
              <a:t>Class, method and statement.</a:t>
            </a:r>
          </a:p>
          <a:p>
            <a:pPr marL="382588"/>
            <a:r>
              <a:rPr lang="en-US" altLang="en-US" dirty="0">
                <a:ea typeface="MS PGothic" charset="-128"/>
              </a:rPr>
              <a:t>Scopes may be nested:</a:t>
            </a:r>
          </a:p>
          <a:p>
            <a:pPr lvl="1" eaLnBrk="1" hangingPunct="1"/>
            <a:r>
              <a:rPr lang="en-US" altLang="en-US" dirty="0">
                <a:ea typeface="MS PGothic" charset="-128"/>
              </a:rPr>
              <a:t>statement block inside another block inside a method body inside a class body.</a:t>
            </a:r>
          </a:p>
          <a:p>
            <a:pPr marL="382588"/>
            <a:r>
              <a:rPr lang="en-US" altLang="en-US" dirty="0">
                <a:ea typeface="MS PGothic" charset="-128"/>
              </a:rPr>
              <a:t>Scope is static (textual).</a:t>
            </a:r>
          </a:p>
          <a:p>
            <a:pPr marL="382588"/>
            <a:r>
              <a:rPr lang="en-US" altLang="en-US" dirty="0">
                <a:ea typeface="MS PGothic" charset="-128"/>
              </a:rPr>
              <a:t>Lifetime is dynamic (runtime).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To think about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4C516-31C6-8219-05F9-CC7C5BE8D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ea"/>
                <a:cs typeface="+mj-cs"/>
              </a:rPr>
              <a:t>How could we write a method to ‘refund’ an excess balance?</a:t>
            </a:r>
          </a:p>
          <a:p>
            <a:pPr lvl="1"/>
            <a:r>
              <a:rPr lang="en-US" dirty="0">
                <a:ea typeface="+mj-ea"/>
                <a:cs typeface="+mj-cs"/>
              </a:rPr>
              <a:t>We need to return the value in balance.</a:t>
            </a:r>
          </a:p>
          <a:p>
            <a:pPr lvl="1"/>
            <a:r>
              <a:rPr lang="en-US" dirty="0">
                <a:ea typeface="+mj-ea"/>
                <a:cs typeface="+mj-cs"/>
              </a:rPr>
              <a:t>We need to set the balance to zero.</a:t>
            </a:r>
          </a:p>
          <a:p>
            <a:r>
              <a:rPr lang="en-US" dirty="0">
                <a:ea typeface="+mj-ea"/>
                <a:cs typeface="+mj-cs"/>
              </a:rPr>
              <a:t>How can we do the first without losing the value in balance?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Unsuccessful attempt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071664" y="1984654"/>
            <a:ext cx="6628738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public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refundBalance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// Return the amount left.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return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// Clear the balance.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400" y="5475547"/>
            <a:ext cx="9371733" cy="830997"/>
          </a:xfrm>
          <a:prstGeom prst="rect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It looks logical, but the language does not allow it.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 method will terminate immediately after executing a return statement! </a:t>
            </a:r>
          </a:p>
        </p:txBody>
      </p:sp>
    </p:spTree>
    <p:extLst>
      <p:ext uri="{BB962C8B-B14F-4D97-AF65-F5344CB8AC3E}">
        <p14:creationId xmlns:p14="http://schemas.microsoft.com/office/powerpoint/2010/main" val="110569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Local variables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600" dirty="0">
                <a:ea typeface="MS PGothic" charset="-128"/>
              </a:rPr>
              <a:t>Methods can define their own, </a:t>
            </a:r>
            <a:r>
              <a:rPr lang="en-US" altLang="en-US" sz="3600" i="1" dirty="0">
                <a:ea typeface="MS PGothic" charset="-128"/>
              </a:rPr>
              <a:t>local</a:t>
            </a:r>
            <a:r>
              <a:rPr lang="en-US" altLang="en-US" sz="3600" dirty="0">
                <a:ea typeface="MS PGothic" charset="-128"/>
              </a:rPr>
              <a:t> variables: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Short lived, like parameters.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 method sets their values – unlike parameters, they do not receive external values.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Used for </a:t>
            </a:r>
            <a:r>
              <a:rPr lang="ja-JP" altLang="en-US" sz="3200">
                <a:ea typeface="MS PGothic" charset="-128"/>
              </a:rPr>
              <a:t>‘</a:t>
            </a:r>
            <a:r>
              <a:rPr lang="en-US" altLang="ja-JP" sz="3200" dirty="0">
                <a:ea typeface="MS PGothic" charset="-128"/>
              </a:rPr>
              <a:t>temporary</a:t>
            </a:r>
            <a:r>
              <a:rPr lang="ja-JP" altLang="en-US" sz="3200">
                <a:ea typeface="MS PGothic" charset="-128"/>
              </a:rPr>
              <a:t>’</a:t>
            </a:r>
            <a:r>
              <a:rPr lang="en-US" altLang="ja-JP" sz="3200" dirty="0">
                <a:ea typeface="MS PGothic" charset="-128"/>
              </a:rPr>
              <a:t> calculation and storage.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exist only as long as the method is being executed.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are only accessible from within the method.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are defined within a particular </a:t>
            </a:r>
            <a:r>
              <a:rPr lang="en-US" altLang="en-US" sz="3200" i="1" dirty="0">
                <a:ea typeface="MS PGothic" charset="-128"/>
              </a:rPr>
              <a:t>scope</a:t>
            </a:r>
            <a:r>
              <a:rPr lang="en-US" altLang="en-US" sz="3200" dirty="0">
                <a:ea typeface="MS PGothic" charset="-128"/>
              </a:rPr>
              <a:t>.</a:t>
            </a:r>
          </a:p>
          <a:p>
            <a:endParaRPr lang="en-GB" altLang="en-US" sz="5400" dirty="0">
              <a:ea typeface="MS PGothic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Local variables</a:t>
            </a:r>
          </a:p>
        </p:txBody>
      </p:sp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4648200" y="2638428"/>
            <a:ext cx="6413935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public int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refundBalance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=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return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1575434" y="3095382"/>
            <a:ext cx="26805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b="0" dirty="0">
                <a:solidFill>
                  <a:srgbClr val="A57133"/>
                </a:solidFill>
              </a:rPr>
              <a:t>A local variable</a:t>
            </a:r>
          </a:p>
        </p:txBody>
      </p:sp>
      <p:sp>
        <p:nvSpPr>
          <p:cNvPr id="82950" name="AutoShape 6"/>
          <p:cNvSpPr>
            <a:spLocks noChangeArrowheads="1"/>
          </p:cNvSpPr>
          <p:nvPr/>
        </p:nvSpPr>
        <p:spPr bwMode="auto">
          <a:xfrm>
            <a:off x="1243553" y="3789040"/>
            <a:ext cx="2209800" cy="2362200"/>
          </a:xfrm>
          <a:prstGeom prst="irregularSeal1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endParaRPr lang="en-GB" altLang="en-US"/>
          </a:p>
        </p:txBody>
      </p:sp>
      <p:sp>
        <p:nvSpPr>
          <p:cNvPr id="82951" name="Text Box 7"/>
          <p:cNvSpPr txBox="1">
            <a:spLocks noChangeArrowheads="1"/>
          </p:cNvSpPr>
          <p:nvPr/>
        </p:nvSpPr>
        <p:spPr bwMode="auto">
          <a:xfrm>
            <a:off x="1703512" y="4509120"/>
            <a:ext cx="15327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No visibility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modifier</a:t>
            </a:r>
          </a:p>
        </p:txBody>
      </p:sp>
      <p:sp>
        <p:nvSpPr>
          <p:cNvPr id="82952" name="Line 8"/>
          <p:cNvSpPr>
            <a:spLocks noChangeShapeType="1"/>
          </p:cNvSpPr>
          <p:nvPr/>
        </p:nvSpPr>
        <p:spPr bwMode="auto">
          <a:xfrm>
            <a:off x="3863752" y="3717032"/>
            <a:ext cx="1584176" cy="0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Scope and lifetime</a:t>
            </a:r>
          </a:p>
        </p:txBody>
      </p:sp>
      <p:sp>
        <p:nvSpPr>
          <p:cNvPr id="8499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The scope of a field is its whole class.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The lifetime of a field is the lifetime of its containing object.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The scope of a local variable is the block in which it is declared.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The lifetime of a local variable is the time of execution of the block in which it is declared.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Review (1)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ea typeface="MS PGothic" charset="-128"/>
              </a:rPr>
              <a:t>Class bodies contain fields, constructors and methods.</a:t>
            </a:r>
          </a:p>
          <a:p>
            <a:pPr eaLnBrk="1" hangingPunct="1"/>
            <a:r>
              <a:rPr lang="en-US" altLang="en-US" dirty="0">
                <a:ea typeface="MS PGothic" charset="-128"/>
              </a:rPr>
              <a:t>Fields store values that determine an object</a:t>
            </a:r>
            <a:r>
              <a:rPr lang="ja-JP" altLang="en-US" dirty="0">
                <a:ea typeface="MS PGothic" charset="-128"/>
              </a:rPr>
              <a:t>’</a:t>
            </a:r>
            <a:r>
              <a:rPr lang="en-US" altLang="ja-JP" dirty="0">
                <a:ea typeface="MS PGothic" charset="-128"/>
              </a:rPr>
              <a:t>s state.</a:t>
            </a:r>
          </a:p>
          <a:p>
            <a:pPr eaLnBrk="1" hangingPunct="1"/>
            <a:r>
              <a:rPr lang="en-US" altLang="en-US" dirty="0">
                <a:ea typeface="MS PGothic" charset="-128"/>
              </a:rPr>
              <a:t>Constructors </a:t>
            </a:r>
            <a:r>
              <a:rPr lang="en-US" altLang="en-US" dirty="0" err="1">
                <a:ea typeface="MS PGothic" charset="-128"/>
              </a:rPr>
              <a:t>initialise</a:t>
            </a:r>
            <a:r>
              <a:rPr lang="en-US" altLang="en-US" dirty="0">
                <a:ea typeface="MS PGothic" charset="-128"/>
              </a:rPr>
              <a:t> objects – particularly their fields.</a:t>
            </a:r>
          </a:p>
          <a:p>
            <a:pPr eaLnBrk="1" hangingPunct="1"/>
            <a:r>
              <a:rPr lang="en-US" altLang="en-US" dirty="0">
                <a:ea typeface="MS PGothic" charset="-128"/>
              </a:rPr>
              <a:t>Methods implement the behavior of objects.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Review (2)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ea typeface="+mn-ea"/>
                <a:cs typeface="+mn-cs"/>
              </a:rPr>
              <a:t>Fields, parameters and local variables are all variables.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ea typeface="+mn-ea"/>
                <a:cs typeface="+mn-cs"/>
              </a:rPr>
              <a:t>Fields persist for the lifetime of an object.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ea typeface="+mn-ea"/>
                <a:cs typeface="+mn-cs"/>
              </a:rPr>
              <a:t>Local variables are used for short-lived temporary storage.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ea typeface="+mn-ea"/>
                <a:cs typeface="+mn-cs"/>
              </a:rPr>
              <a:t>Parameters are used to receive values into a constructor or method.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Review (3)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Methods have a return type.</a:t>
            </a:r>
          </a:p>
          <a:p>
            <a:r>
              <a:rPr lang="en-GB" altLang="en-US" b="1" dirty="0">
                <a:latin typeface="Courier New" charset="0"/>
                <a:ea typeface="Courier New" charset="0"/>
                <a:cs typeface="Courier New" charset="0"/>
              </a:rPr>
              <a:t>void</a:t>
            </a:r>
            <a:r>
              <a:rPr lang="en-GB" altLang="en-US" dirty="0">
                <a:ea typeface="MS PGothic" charset="-128"/>
              </a:rPr>
              <a:t> methods do not return anything.</a:t>
            </a:r>
          </a:p>
          <a:p>
            <a:r>
              <a:rPr lang="en-GB" altLang="en-US" dirty="0">
                <a:ea typeface="MS PGothic" charset="-128"/>
              </a:rPr>
              <a:t>non-</a:t>
            </a:r>
            <a:r>
              <a:rPr lang="en-GB" altLang="en-US" b="1" dirty="0">
                <a:latin typeface="Courier New" charset="0"/>
                <a:ea typeface="Courier New" charset="0"/>
                <a:cs typeface="Courier New" charset="0"/>
              </a:rPr>
              <a:t>void</a:t>
            </a:r>
            <a:r>
              <a:rPr lang="en-GB" altLang="en-US" dirty="0">
                <a:ea typeface="MS PGothic" charset="-128"/>
              </a:rPr>
              <a:t> methods always return a value.</a:t>
            </a:r>
          </a:p>
          <a:p>
            <a:r>
              <a:rPr lang="en-GB" altLang="en-US" dirty="0">
                <a:ea typeface="MS PGothic" charset="-128"/>
              </a:rPr>
              <a:t>non-</a:t>
            </a:r>
            <a:r>
              <a:rPr lang="en-GB" altLang="en-US" b="1" dirty="0">
                <a:latin typeface="Courier New" charset="0"/>
                <a:ea typeface="Courier New" charset="0"/>
                <a:cs typeface="Courier New" charset="0"/>
              </a:rPr>
              <a:t>void</a:t>
            </a:r>
            <a:r>
              <a:rPr lang="en-GB" altLang="en-US" dirty="0">
                <a:ea typeface="MS PGothic" charset="-128"/>
              </a:rPr>
              <a:t> methods must have a return statement.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Review (4)</a:t>
            </a:r>
          </a:p>
        </p:txBody>
      </p:sp>
      <p:sp>
        <p:nvSpPr>
          <p:cNvPr id="9113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ja-JP" altLang="en-US">
                <a:ea typeface="MS PGothic" charset="-128"/>
              </a:rPr>
              <a:t>‘</a:t>
            </a:r>
            <a:r>
              <a:rPr lang="en-US" altLang="ja-JP">
                <a:ea typeface="MS PGothic" charset="-128"/>
              </a:rPr>
              <a:t>Correct</a:t>
            </a:r>
            <a:r>
              <a:rPr lang="ja-JP" altLang="en-US">
                <a:ea typeface="MS PGothic" charset="-128"/>
              </a:rPr>
              <a:t>’</a:t>
            </a:r>
            <a:r>
              <a:rPr lang="en-US" altLang="ja-JP">
                <a:ea typeface="MS PGothic" charset="-128"/>
              </a:rPr>
              <a:t> behavior often requires objects to make decisions.</a:t>
            </a:r>
          </a:p>
          <a:p>
            <a:pPr eaLnBrk="1" hangingPunct="1"/>
            <a:r>
              <a:rPr lang="en-US" altLang="en-US">
                <a:ea typeface="MS PGothic" charset="-128"/>
              </a:rPr>
              <a:t>Objects can make decisions via conditional (if) statements.</a:t>
            </a:r>
          </a:p>
          <a:p>
            <a:pPr eaLnBrk="1" hangingPunct="1"/>
            <a:r>
              <a:rPr lang="en-US" altLang="en-US">
                <a:ea typeface="MS PGothic" charset="-128"/>
              </a:rPr>
              <a:t>A true-or-false test allows one of two alternative courses of actions to be taken.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4021528B-859B-0F0C-6479-D9428D88B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classes</Template>
  <TotalTime>5</TotalTime>
  <Words>693</Words>
  <Application>Microsoft Macintosh PowerPoint</Application>
  <PresentationFormat>Widescreen</PresentationFormat>
  <Paragraphs>113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MS PGothic</vt:lpstr>
      <vt:lpstr>Arial</vt:lpstr>
      <vt:lpstr>Calibri</vt:lpstr>
      <vt:lpstr>Courier New</vt:lpstr>
      <vt:lpstr>Lucida Grande</vt:lpstr>
      <vt:lpstr>Times New Roman</vt:lpstr>
      <vt:lpstr>a-processing-mouse-event-methods</vt:lpstr>
      <vt:lpstr>Understanding class definitions 3</vt:lpstr>
      <vt:lpstr>Upcoming</vt:lpstr>
      <vt:lpstr>Variables – a recap</vt:lpstr>
      <vt:lpstr>Scope highlighting</vt:lpstr>
      <vt:lpstr>Scope and lifetime</vt:lpstr>
      <vt:lpstr>To think about</vt:lpstr>
      <vt:lpstr>Unsuccessful attempt</vt:lpstr>
      <vt:lpstr>Local variables</vt:lpstr>
      <vt:lpstr>Local variables</vt:lpstr>
      <vt:lpstr>Scope and lifetime</vt:lpstr>
      <vt:lpstr>Review (1)</vt:lpstr>
      <vt:lpstr>Review (2)</vt:lpstr>
      <vt:lpstr>Review (3)</vt:lpstr>
      <vt:lpstr>Review (4)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2</dc:title>
  <dc:subject/>
  <dc:creator>David J. Barnes, Michael Kölling</dc:creator>
  <cp:keywords/>
  <dc:description>Copyright © David J. Barnes, Michael Kölling</dc:description>
  <cp:lastModifiedBy>Mairead Meagher</cp:lastModifiedBy>
  <cp:revision>180</cp:revision>
  <cp:lastPrinted>2003-09-01T07:04:41Z</cp:lastPrinted>
  <dcterms:created xsi:type="dcterms:W3CDTF">2009-04-22T19:24:48Z</dcterms:created>
  <dcterms:modified xsi:type="dcterms:W3CDTF">2025-09-20T18:44:35Z</dcterms:modified>
  <cp:category/>
</cp:coreProperties>
</file>