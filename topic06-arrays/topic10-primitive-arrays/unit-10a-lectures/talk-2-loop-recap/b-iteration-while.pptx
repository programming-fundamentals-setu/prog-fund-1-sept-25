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363" r:id="rId4"/>
    <p:sldId id="372" r:id="rId5"/>
    <p:sldId id="391" r:id="rId6"/>
    <p:sldId id="373" r:id="rId7"/>
    <p:sldId id="394" r:id="rId8"/>
    <p:sldId id="364" r:id="rId9"/>
    <p:sldId id="382" r:id="rId10"/>
    <p:sldId id="383" r:id="rId11"/>
    <p:sldId id="384" r:id="rId12"/>
    <p:sldId id="386" r:id="rId13"/>
    <p:sldId id="396" r:id="rId14"/>
    <p:sldId id="390" r:id="rId15"/>
    <p:sldId id="393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5" autoAdjust="0"/>
    <p:restoredTop sz="80442" autoAdjust="0"/>
  </p:normalViewPr>
  <p:slideViewPr>
    <p:cSldViewPr>
      <p:cViewPr varScale="1">
        <p:scale>
          <a:sx n="122" d="100"/>
          <a:sy n="122" d="100"/>
        </p:scale>
        <p:origin x="1976" y="2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21/11/2024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73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73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762EAF62-C546-4744-BC24-2CCA716ACD46}" type="slidenum">
              <a:rPr lang="en-GB" altLang="en-US"/>
              <a:pPr/>
              <a:t>4</a:t>
            </a:fld>
            <a:endParaRPr lang="en-GB" altLang="en-US"/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2281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8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We add 20 because its 10 for the height</a:t>
            </a:r>
            <a:r>
              <a:rPr lang="en-US" altLang="en-US" baseline="0" dirty="0"/>
              <a:t> of the rectangle +10 for the gap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0126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D00790-568A-44AB-A948-643E31985A48}" type="slidenum">
              <a:rPr lang="en-GB"/>
              <a:pPr/>
              <a:t>9</a:t>
            </a:fld>
            <a:endParaRPr lang="en-GB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62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614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614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96C53C0E-6DE2-48FF-AFC8-5B6F7D1351EB}" type="slidenum">
              <a:rPr lang="en-GB" altLang="en-US"/>
              <a:pPr/>
              <a:t>10</a:t>
            </a:fld>
            <a:endParaRPr lang="en-GB" altLang="en-US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“update the LCV” should always update it so that the Boolean condition will eventually evaluation to false. </a:t>
            </a:r>
          </a:p>
        </p:txBody>
      </p:sp>
    </p:spTree>
    <p:extLst>
      <p:ext uri="{BB962C8B-B14F-4D97-AF65-F5344CB8AC3E}">
        <p14:creationId xmlns:p14="http://schemas.microsoft.com/office/powerpoint/2010/main" val="3967997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206F4-4E20-479E-ABC0-0EB3661565C0}" type="slidenum">
              <a:rPr lang="en-GB"/>
              <a:pPr/>
              <a:t>11</a:t>
            </a:fld>
            <a:endParaRPr lang="en-GB"/>
          </a:p>
        </p:txBody>
      </p:sp>
      <p:sp>
        <p:nvSpPr>
          <p:cNvPr id="160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77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040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22282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Iteration in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while loops and loop control variable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0CAF6-79A2-80AF-4174-7F4BD6073CBD}"/>
              </a:ext>
            </a:extLst>
          </p:cNvPr>
          <p:cNvSpPr txBox="1"/>
          <p:nvPr/>
        </p:nvSpPr>
        <p:spPr>
          <a:xfrm>
            <a:off x="7445567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BB0ABB9-1CEE-F241-D24D-610FE04B2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425583-0D84-7031-13DD-0BBE06B4F4F1}"/>
              </a:ext>
            </a:extLst>
          </p:cNvPr>
          <p:cNvSpPr txBox="1"/>
          <p:nvPr/>
        </p:nvSpPr>
        <p:spPr>
          <a:xfrm>
            <a:off x="3925972" y="3676471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Repetition in Programming – Intro to looping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Use of loops (while loops).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1143000" y="2819400"/>
            <a:ext cx="82296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true or false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IE" sz="28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x&lt;50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Boolean conditions can be used to control:</a:t>
            </a:r>
          </a:p>
          <a:p>
            <a:pPr lvl="1"/>
            <a:r>
              <a:rPr lang="en-IE" dirty="0"/>
              <a:t>Selection i.e. if statements and </a:t>
            </a:r>
          </a:p>
          <a:p>
            <a:pPr lvl="1"/>
            <a:r>
              <a:rPr lang="en-IE" dirty="0"/>
              <a:t>Iteration i.e. loops (we will look at these now).</a:t>
            </a:r>
          </a:p>
        </p:txBody>
      </p:sp>
    </p:spTree>
    <p:extLst>
      <p:ext uri="{BB962C8B-B14F-4D97-AF65-F5344CB8AC3E}">
        <p14:creationId xmlns:p14="http://schemas.microsoft.com/office/powerpoint/2010/main" val="417895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Repetition in Programming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000" dirty="0"/>
              <a:t>Computers are very good at repetition.</a:t>
            </a:r>
          </a:p>
          <a:p>
            <a:pPr>
              <a:lnSpc>
                <a:spcPct val="90000"/>
              </a:lnSpc>
            </a:pPr>
            <a:endParaRPr lang="en-US" altLang="en-US" sz="3000" dirty="0"/>
          </a:p>
          <a:p>
            <a:pPr>
              <a:lnSpc>
                <a:spcPct val="90000"/>
              </a:lnSpc>
            </a:pPr>
            <a:r>
              <a:rPr lang="en-US" altLang="en-US" sz="3000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for 1000 employees.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You should use the same </a:t>
            </a: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algorithm 1000 times.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You don’t write the </a:t>
            </a: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algorithm 1000 times; instead you include it in a loop.</a:t>
            </a:r>
          </a:p>
        </p:txBody>
      </p:sp>
    </p:spTree>
    <p:extLst>
      <p:ext uri="{BB962C8B-B14F-4D97-AF65-F5344CB8AC3E}">
        <p14:creationId xmlns:p14="http://schemas.microsoft.com/office/powerpoint/2010/main" val="165902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1"/>
            <a:ext cx="8305800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Write the all the numbers between 1 and 5 inclusive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Without loop: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(1);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(2);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(3);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(4);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 err="1"/>
              <a:t>System.out.println</a:t>
            </a:r>
            <a:r>
              <a:rPr lang="en-IE" dirty="0"/>
              <a:t>(5);</a:t>
            </a:r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702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058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Write the all the numbers between 1 and 5 inclusive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 a loop:</a:t>
            </a:r>
          </a:p>
          <a:p>
            <a:pPr lvl="1">
              <a:lnSpc>
                <a:spcPct val="90000"/>
              </a:lnSpc>
            </a:pPr>
            <a:endParaRPr lang="en-US" altLang="en-US" sz="1400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do this 5 times </a:t>
            </a:r>
            <a:br>
              <a:rPr lang="en-US" altLang="en-US" dirty="0"/>
            </a:b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sz="1100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	</a:t>
            </a:r>
            <a:r>
              <a:rPr lang="en-IE" dirty="0" err="1"/>
              <a:t>System.out.println</a:t>
            </a:r>
            <a:r>
              <a:rPr lang="en-IE" dirty="0"/>
              <a:t>(</a:t>
            </a:r>
            <a:r>
              <a:rPr lang="en-IE" dirty="0" err="1"/>
              <a:t>i</a:t>
            </a:r>
            <a:r>
              <a:rPr lang="en-IE" dirty="0"/>
              <a:t>);</a:t>
            </a:r>
          </a:p>
          <a:p>
            <a:pPr lvl="1">
              <a:lnSpc>
                <a:spcPct val="90000"/>
              </a:lnSpc>
              <a:buNone/>
            </a:pPr>
            <a:endParaRPr lang="en-IE" dirty="0"/>
          </a:p>
          <a:p>
            <a:pPr lvl="1">
              <a:lnSpc>
                <a:spcPct val="90000"/>
              </a:lnSpc>
              <a:buNone/>
            </a:pPr>
            <a:r>
              <a:rPr lang="en-IE" b="1" i="1" dirty="0">
                <a:solidFill>
                  <a:srgbClr val="0070C0"/>
                </a:solidFill>
              </a:rPr>
              <a:t>With the value of </a:t>
            </a:r>
            <a:r>
              <a:rPr lang="en-IE" b="1" i="1" dirty="0" err="1">
                <a:solidFill>
                  <a:srgbClr val="0070C0"/>
                </a:solidFill>
              </a:rPr>
              <a:t>i</a:t>
            </a:r>
            <a:r>
              <a:rPr lang="en-IE" b="1" i="1" dirty="0">
                <a:solidFill>
                  <a:srgbClr val="0070C0"/>
                </a:solidFill>
              </a:rPr>
              <a:t> going from 1 to 5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8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Repetition in Programming – Intro to looping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Use of loops (while loops).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1143000" y="3962400"/>
            <a:ext cx="50292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715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Loops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There are three types of loop in (Java) programming:</a:t>
            </a:r>
          </a:p>
          <a:p>
            <a:endParaRPr lang="en-IE" dirty="0"/>
          </a:p>
          <a:p>
            <a:pPr lvl="1"/>
            <a:r>
              <a:rPr lang="en-IE" b="1" dirty="0"/>
              <a:t>while</a:t>
            </a:r>
            <a:r>
              <a:rPr lang="en-IE" dirty="0"/>
              <a:t> loops</a:t>
            </a:r>
          </a:p>
          <a:p>
            <a:pPr lvl="1"/>
            <a:r>
              <a:rPr lang="en-IE" b="1" dirty="0"/>
              <a:t>for</a:t>
            </a:r>
            <a:r>
              <a:rPr lang="en-IE" dirty="0"/>
              <a:t> loops</a:t>
            </a:r>
          </a:p>
          <a:p>
            <a:pPr lvl="1"/>
            <a:r>
              <a:rPr lang="en-IE" b="1" dirty="0"/>
              <a:t>do while</a:t>
            </a:r>
            <a:r>
              <a:rPr lang="en-IE" dirty="0"/>
              <a:t> loops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74484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 </a:t>
            </a:r>
            <a:r>
              <a:rPr lang="en-US" dirty="0"/>
              <a:t>pseudo code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038600" y="3124200"/>
            <a:ext cx="32004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dirty="0"/>
              <a:t>while(</a:t>
            </a:r>
            <a:r>
              <a:rPr lang="en-US" sz="1600" i="1" dirty="0"/>
              <a:t>loop condition</a:t>
            </a:r>
            <a:r>
              <a:rPr lang="en-US" sz="1600" dirty="0"/>
              <a:t>) {</a:t>
            </a:r>
          </a:p>
          <a:p>
            <a:r>
              <a:rPr lang="en-US" sz="1600" dirty="0"/>
              <a:t>    </a:t>
            </a:r>
            <a:r>
              <a:rPr lang="en-US" sz="1600" i="1" dirty="0"/>
              <a:t>loop body</a:t>
            </a:r>
            <a:endParaRPr lang="en-US" sz="1600" dirty="0"/>
          </a:p>
          <a:p>
            <a:r>
              <a:rPr lang="en-US" sz="1600" dirty="0"/>
              <a:t>} 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024189" y="5500688"/>
            <a:ext cx="6359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Trebuchet MS" pitchFamily="-32" charset="0"/>
              </a:rPr>
              <a:t>while we wish to continue, do the things in the loop body</a:t>
            </a: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6553200" y="2590800"/>
            <a:ext cx="21336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 err="1">
                <a:solidFill>
                  <a:srgbClr val="A57133"/>
                </a:solidFill>
                <a:latin typeface="Trebuchet MS" pitchFamily="-32" charset="0"/>
              </a:rPr>
              <a:t>boolean</a:t>
            </a:r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 condition</a:t>
            </a: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H="1">
            <a:off x="5638800" y="28194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2438400" y="2286000"/>
            <a:ext cx="19050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</a:rPr>
              <a:t>while</a:t>
            </a:r>
            <a:r>
              <a:rPr lang="en-US">
                <a:solidFill>
                  <a:srgbClr val="A57133"/>
                </a:solidFill>
                <a:latin typeface="Times New Roman" pitchFamily="-32" charset="0"/>
              </a:rPr>
              <a:t> </a:t>
            </a:r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keyword</a:t>
            </a:r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3352800" y="27432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7010400" y="3276600"/>
            <a:ext cx="29718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Statements to be repeated</a:t>
            </a: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6019800" y="3505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3862389" y="4495800"/>
            <a:ext cx="4467225" cy="71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>
                <a:solidFill>
                  <a:srgbClr val="A57133"/>
                </a:solidFill>
                <a:latin typeface="Trebuchet MS" pitchFamily="-32" charset="0"/>
              </a:rPr>
              <a:t>Pseudo-code expression of the actions of a while loop</a:t>
            </a:r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4419600" y="1828800"/>
            <a:ext cx="3200400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  <a:latin typeface="Trebuchet MS" pitchFamily="-32" charset="0"/>
              </a:rPr>
              <a:t>General form of a while loop</a:t>
            </a:r>
          </a:p>
        </p:txBody>
      </p:sp>
      <p:sp>
        <p:nvSpPr>
          <p:cNvPr id="18457" name="AutoShape 25"/>
          <p:cNvSpPr>
            <a:spLocks noChangeArrowheads="1"/>
          </p:cNvSpPr>
          <p:nvPr/>
        </p:nvSpPr>
        <p:spPr bwMode="auto">
          <a:xfrm flipH="1" flipV="1">
            <a:off x="2895600" y="3331370"/>
            <a:ext cx="990600" cy="369332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477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 animBg="1"/>
      <p:bldP spid="18440" grpId="0" animBg="1"/>
      <p:bldP spid="18442" grpId="0" animBg="1"/>
      <p:bldP spid="18443" grpId="0" animBg="1"/>
      <p:bldP spid="18445" grpId="0" animBg="1"/>
      <p:bldP spid="18446" grpId="0" animBg="1"/>
      <p:bldP spid="184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Construction of while loop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82000" cy="37338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Declare and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while(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r>
              <a:rPr lang="en-US" altLang="en-US" dirty="0">
                <a:solidFill>
                  <a:schemeClr val="tx1"/>
                </a:solidFill>
                <a:ea typeface="MS PGothic" pitchFamily="34" charset="-128"/>
              </a:rPr>
              <a:t>is true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)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{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</a:t>
            </a:r>
            <a:r>
              <a:rPr lang="en-US" altLang="ja-JP" dirty="0">
                <a:solidFill>
                  <a:srgbClr val="000000"/>
                </a:solidFill>
              </a:rPr>
              <a:t>do the job to be repeated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“update the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}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0639426" y="5885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0" y="5638800"/>
            <a:ext cx="7772400" cy="584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/>
              <a:t>This structure should </a:t>
            </a:r>
            <a:r>
              <a:rPr lang="en-US" sz="3200" u="sng" dirty="0"/>
              <a:t>always</a:t>
            </a:r>
            <a:r>
              <a:rPr lang="en-US" sz="3200" dirty="0"/>
              <a:t> be used</a:t>
            </a:r>
          </a:p>
        </p:txBody>
      </p:sp>
    </p:spTree>
    <p:extLst>
      <p:ext uri="{BB962C8B-B14F-4D97-AF65-F5344CB8AC3E}">
        <p14:creationId xmlns:p14="http://schemas.microsoft.com/office/powerpoint/2010/main" val="1544170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28" charset="0"/>
              </a:rPr>
              <a:t>while</a:t>
            </a:r>
            <a:r>
              <a:rPr lang="en-US" dirty="0"/>
              <a:t> loop Flowchart</a:t>
            </a:r>
          </a:p>
        </p:txBody>
      </p:sp>
      <p:grpSp>
        <p:nvGrpSpPr>
          <p:cNvPr id="159747" name="Group 3"/>
          <p:cNvGrpSpPr>
            <a:grpSpLocks/>
          </p:cNvGrpSpPr>
          <p:nvPr/>
        </p:nvGrpSpPr>
        <p:grpSpPr bwMode="auto">
          <a:xfrm>
            <a:off x="2057400" y="1595440"/>
            <a:ext cx="3810000" cy="3967163"/>
            <a:chOff x="1968" y="1005"/>
            <a:chExt cx="2400" cy="2499"/>
          </a:xfrm>
        </p:grpSpPr>
        <p:sp>
          <p:nvSpPr>
            <p:cNvPr id="159748" name="Rectangle 4"/>
            <p:cNvSpPr>
              <a:spLocks noChangeArrowheads="1"/>
            </p:cNvSpPr>
            <p:nvPr/>
          </p:nvSpPr>
          <p:spPr bwMode="auto">
            <a:xfrm rot="2701371">
              <a:off x="2016" y="1728"/>
              <a:ext cx="720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eaLnBrk="1" hangingPunct="1"/>
              <a:endParaRPr lang="en-US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59749" name="Rectangle 5"/>
            <p:cNvSpPr>
              <a:spLocks noChangeArrowheads="1"/>
            </p:cNvSpPr>
            <p:nvPr/>
          </p:nvSpPr>
          <p:spPr bwMode="auto">
            <a:xfrm>
              <a:off x="3552" y="1968"/>
              <a:ext cx="816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159750" name="Text Box 6"/>
            <p:cNvSpPr txBox="1">
              <a:spLocks noChangeArrowheads="1"/>
            </p:cNvSpPr>
            <p:nvPr/>
          </p:nvSpPr>
          <p:spPr bwMode="auto">
            <a:xfrm>
              <a:off x="3024" y="1776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159751" name="Line 7"/>
            <p:cNvSpPr>
              <a:spLocks noChangeShapeType="1"/>
            </p:cNvSpPr>
            <p:nvPr/>
          </p:nvSpPr>
          <p:spPr bwMode="auto">
            <a:xfrm>
              <a:off x="2376" y="259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159752" name="AutoShape 8"/>
            <p:cNvCxnSpPr>
              <a:cxnSpLocks noChangeShapeType="1"/>
            </p:cNvCxnSpPr>
            <p:nvPr/>
          </p:nvCxnSpPr>
          <p:spPr bwMode="auto">
            <a:xfrm rot="10800000">
              <a:off x="2352" y="1005"/>
              <a:ext cx="1704" cy="960"/>
            </a:xfrm>
            <a:prstGeom prst="bentConnector3">
              <a:avLst>
                <a:gd name="adj1" fmla="val 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159753" name="Line 9"/>
            <p:cNvSpPr>
              <a:spLocks noChangeShapeType="1"/>
            </p:cNvSpPr>
            <p:nvPr/>
          </p:nvSpPr>
          <p:spPr bwMode="auto">
            <a:xfrm>
              <a:off x="2366" y="1008"/>
              <a:ext cx="0" cy="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754" name="Text Box 10"/>
            <p:cNvSpPr txBox="1">
              <a:spLocks noChangeArrowheads="1"/>
            </p:cNvSpPr>
            <p:nvPr/>
          </p:nvSpPr>
          <p:spPr bwMode="auto">
            <a:xfrm>
              <a:off x="1968" y="1884"/>
              <a:ext cx="72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dirty="0" err="1">
                  <a:latin typeface="Courier New" pitchFamily="28" charset="0"/>
                </a:rPr>
                <a:t>boolean</a:t>
              </a:r>
              <a:endParaRPr lang="en-US" dirty="0">
                <a:latin typeface="Courier New" pitchFamily="28" charset="0"/>
              </a:endParaRPr>
            </a:p>
            <a:p>
              <a:pPr eaLnBrk="1" hangingPunct="1"/>
              <a:r>
                <a:rPr lang="en-US" dirty="0"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159755" name="Text Box 11"/>
            <p:cNvSpPr txBox="1">
              <a:spLocks noChangeArrowheads="1"/>
            </p:cNvSpPr>
            <p:nvPr/>
          </p:nvSpPr>
          <p:spPr bwMode="auto">
            <a:xfrm>
              <a:off x="2448" y="2880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159756" name="Line 12"/>
            <p:cNvSpPr>
              <a:spLocks noChangeShapeType="1"/>
            </p:cNvSpPr>
            <p:nvPr/>
          </p:nvSpPr>
          <p:spPr bwMode="auto">
            <a:xfrm flipV="1">
              <a:off x="2928" y="21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019800" y="2807732"/>
            <a:ext cx="4495800" cy="267765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endParaRPr lang="en-IE" sz="2400" dirty="0"/>
          </a:p>
          <a:p>
            <a:r>
              <a:rPr lang="en-IE" sz="2400" b="1" dirty="0">
                <a:solidFill>
                  <a:srgbClr val="FF0000"/>
                </a:solidFill>
              </a:rPr>
              <a:t>int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= 1;    	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IE" sz="24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is the LCV</a:t>
            </a:r>
          </a:p>
          <a:p>
            <a:r>
              <a:rPr lang="en-IE" sz="2400" dirty="0"/>
              <a:t>while(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&lt;=5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System.out.println</a:t>
            </a:r>
            <a:r>
              <a:rPr lang="en-IE" sz="2400" dirty="0"/>
              <a:t>(</a:t>
            </a:r>
            <a:r>
              <a:rPr lang="en-IE" sz="2400" dirty="0" err="1"/>
              <a:t>i</a:t>
            </a:r>
            <a:r>
              <a:rPr lang="en-IE" sz="2400" dirty="0"/>
              <a:t>);</a:t>
            </a:r>
          </a:p>
          <a:p>
            <a:r>
              <a:rPr lang="en-IE" sz="2400" b="1" dirty="0">
                <a:solidFill>
                  <a:srgbClr val="FF0000"/>
                </a:solidFill>
              </a:rPr>
              <a:t>    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++</a:t>
            </a:r>
            <a:r>
              <a:rPr lang="en-IE" sz="2400" dirty="0"/>
              <a:t>;</a:t>
            </a:r>
          </a:p>
          <a:p>
            <a:r>
              <a:rPr lang="en-IE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608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340A5-AF2E-2842-BC7F-6AECDA075A66}"/>
              </a:ext>
            </a:extLst>
          </p:cNvPr>
          <p:cNvSpPr txBox="1"/>
          <p:nvPr/>
        </p:nvSpPr>
        <p:spPr>
          <a:xfrm>
            <a:off x="1752600" y="2209800"/>
            <a:ext cx="2743200" cy="17543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/>
              <a:t>int </a:t>
            </a:r>
            <a:r>
              <a:rPr lang="en-IE" dirty="0" err="1"/>
              <a:t>i</a:t>
            </a:r>
            <a:r>
              <a:rPr lang="en-IE" dirty="0"/>
              <a:t> = 1;      </a:t>
            </a:r>
            <a:r>
              <a:rPr lang="en-IE" i="1" dirty="0"/>
              <a:t>//</a:t>
            </a:r>
            <a:r>
              <a:rPr lang="en-IE" i="1" dirty="0" err="1"/>
              <a:t>i</a:t>
            </a:r>
            <a:r>
              <a:rPr lang="en-IE" i="1" dirty="0"/>
              <a:t> is the LCV</a:t>
            </a:r>
            <a:br>
              <a:rPr lang="en-IE" i="1" dirty="0"/>
            </a:br>
            <a:r>
              <a:rPr lang="en-IE" dirty="0"/>
              <a:t>while(</a:t>
            </a:r>
            <a:r>
              <a:rPr lang="en-IE" dirty="0" err="1"/>
              <a:t>i</a:t>
            </a:r>
            <a:r>
              <a:rPr lang="en-IE" dirty="0"/>
              <a:t> &lt;=5)</a:t>
            </a:r>
            <a:br>
              <a:rPr lang="en-IE" dirty="0"/>
            </a:b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i="1" dirty="0" err="1"/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dirty="0" err="1"/>
              <a:t>i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i</a:t>
            </a:r>
            <a:r>
              <a:rPr lang="en-IE" dirty="0"/>
              <a:t>++;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4D64D-4326-0C42-A7E7-B91C4B06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181600"/>
            <a:ext cx="977900" cy="1460500"/>
          </a:xfrm>
          <a:prstGeom prst="rect">
            <a:avLst/>
          </a:prstGeom>
          <a:gradFill flip="none" rotWithShape="1">
            <a:gsLst>
              <a:gs pos="72002">
                <a:srgbClr val="B2C7E2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0108D2-451E-B648-8A11-EFA09CFFAD14}"/>
              </a:ext>
            </a:extLst>
          </p:cNvPr>
          <p:cNvCxnSpPr>
            <a:cxnSpLocks/>
          </p:cNvCxnSpPr>
          <p:nvPr/>
        </p:nvCxnSpPr>
        <p:spPr>
          <a:xfrm>
            <a:off x="3124200" y="3733800"/>
            <a:ext cx="0" cy="1828800"/>
          </a:xfrm>
          <a:prstGeom prst="straightConnector1">
            <a:avLst/>
          </a:prstGeom>
          <a:ln w="53975"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3">
            <a:extLst>
              <a:ext uri="{FF2B5EF4-FFF2-40B4-BE49-F238E27FC236}">
                <a16:creationId xmlns:a16="http://schemas.microsoft.com/office/drawing/2014/main" id="{D10C4780-5F86-884B-908B-C71EE4E07D49}"/>
              </a:ext>
            </a:extLst>
          </p:cNvPr>
          <p:cNvSpPr txBox="1">
            <a:spLocks noChangeArrowheads="1"/>
          </p:cNvSpPr>
          <p:nvPr/>
        </p:nvSpPr>
        <p:spPr>
          <a:xfrm>
            <a:off x="5486400" y="2057400"/>
            <a:ext cx="4953000" cy="2286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Declare and </a:t>
            </a:r>
            <a:r>
              <a:rPr lang="en-US" altLang="en-US" sz="1800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sz="1800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while(</a:t>
            </a:r>
            <a:r>
              <a:rPr lang="en-US" altLang="en-US" sz="1800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sz="1800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r>
              <a:rPr lang="en-US" altLang="en-US" sz="1800" dirty="0">
                <a:solidFill>
                  <a:schemeClr val="tx1"/>
                </a:solidFill>
                <a:ea typeface="MS PGothic" pitchFamily="34" charset="-128"/>
              </a:rPr>
              <a:t>is true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)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{</a:t>
            </a: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       “</a:t>
            </a:r>
            <a:r>
              <a:rPr lang="en-US" altLang="ja-JP" sz="1800" dirty="0">
                <a:solidFill>
                  <a:srgbClr val="000000"/>
                </a:solidFill>
              </a:rPr>
              <a:t>do the job to be repeated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       “update the </a:t>
            </a:r>
            <a:r>
              <a:rPr lang="en-US" altLang="en-US" sz="1800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1800" dirty="0">
                <a:solidFill>
                  <a:srgbClr val="000000"/>
                </a:solidFill>
                <a:ea typeface="MS PGothic" pitchFamily="34" charset="-128"/>
              </a:rPr>
              <a:t>  }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943A22-C741-104E-9354-EC6ACC06B9EE}"/>
              </a:ext>
            </a:extLst>
          </p:cNvPr>
          <p:cNvCxnSpPr/>
          <p:nvPr/>
        </p:nvCxnSpPr>
        <p:spPr>
          <a:xfrm flipH="1">
            <a:off x="2743200" y="2362200"/>
            <a:ext cx="281940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C73813-14BA-2645-8D9F-D230A21687DC}"/>
              </a:ext>
            </a:extLst>
          </p:cNvPr>
          <p:cNvCxnSpPr/>
          <p:nvPr/>
        </p:nvCxnSpPr>
        <p:spPr>
          <a:xfrm flipH="1">
            <a:off x="2895600" y="2743200"/>
            <a:ext cx="281940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36E783-2BE9-B148-8617-149026B76F4E}"/>
              </a:ext>
            </a:extLst>
          </p:cNvPr>
          <p:cNvCxnSpPr>
            <a:cxnSpLocks/>
          </p:cNvCxnSpPr>
          <p:nvPr/>
        </p:nvCxnSpPr>
        <p:spPr>
          <a:xfrm flipH="1" flipV="1">
            <a:off x="4038600" y="3200400"/>
            <a:ext cx="19812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CFB227-B8A3-484E-8B53-18E747A9A78F}"/>
              </a:ext>
            </a:extLst>
          </p:cNvPr>
          <p:cNvCxnSpPr>
            <a:cxnSpLocks/>
          </p:cNvCxnSpPr>
          <p:nvPr/>
        </p:nvCxnSpPr>
        <p:spPr>
          <a:xfrm flipH="1" flipV="1">
            <a:off x="2438400" y="3505200"/>
            <a:ext cx="35052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517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340A5-AF2E-2842-BC7F-6AECDA075A66}"/>
              </a:ext>
            </a:extLst>
          </p:cNvPr>
          <p:cNvSpPr txBox="1"/>
          <p:nvPr/>
        </p:nvSpPr>
        <p:spPr>
          <a:xfrm>
            <a:off x="2209800" y="2209800"/>
            <a:ext cx="4191000" cy="17543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/>
              <a:t>int </a:t>
            </a:r>
            <a:r>
              <a:rPr lang="en-IE" dirty="0" err="1"/>
              <a:t>i</a:t>
            </a:r>
            <a:r>
              <a:rPr lang="en-IE" dirty="0"/>
              <a:t> = 1;      </a:t>
            </a:r>
            <a:r>
              <a:rPr lang="en-IE" i="1" dirty="0"/>
              <a:t>//</a:t>
            </a:r>
            <a:r>
              <a:rPr lang="en-IE" i="1" dirty="0" err="1"/>
              <a:t>i</a:t>
            </a:r>
            <a:r>
              <a:rPr lang="en-IE" i="1" dirty="0"/>
              <a:t> is the LCV</a:t>
            </a:r>
            <a:br>
              <a:rPr lang="en-IE" i="1" dirty="0"/>
            </a:br>
            <a:r>
              <a:rPr lang="en-IE" dirty="0"/>
              <a:t>while(</a:t>
            </a:r>
            <a:r>
              <a:rPr lang="en-IE" dirty="0" err="1"/>
              <a:t>i</a:t>
            </a:r>
            <a:r>
              <a:rPr lang="en-IE" dirty="0"/>
              <a:t> &lt;=5)</a:t>
            </a:r>
            <a:br>
              <a:rPr lang="en-IE" dirty="0"/>
            </a:b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System.</a:t>
            </a:r>
            <a:r>
              <a:rPr lang="en-IE" i="1" dirty="0" err="1"/>
              <a:t>out</a:t>
            </a:r>
            <a:r>
              <a:rPr lang="en-IE" dirty="0" err="1"/>
              <a:t>.println</a:t>
            </a:r>
            <a:r>
              <a:rPr lang="en-IE" dirty="0"/>
              <a:t>(</a:t>
            </a:r>
            <a:r>
              <a:rPr lang="en-IE" dirty="0" err="1"/>
              <a:t>i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</a:t>
            </a:r>
            <a:r>
              <a:rPr lang="en-IE" dirty="0" err="1"/>
              <a:t>i</a:t>
            </a:r>
            <a:r>
              <a:rPr lang="en-IE" dirty="0"/>
              <a:t>++;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4D64D-4326-0C42-A7E7-B91C4B06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91000"/>
            <a:ext cx="977900" cy="1460500"/>
          </a:xfrm>
          <a:prstGeom prst="rect">
            <a:avLst/>
          </a:prstGeom>
          <a:gradFill flip="none" rotWithShape="1">
            <a:gsLst>
              <a:gs pos="72002">
                <a:srgbClr val="B2C7E2"/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0108D2-451E-B648-8A11-EFA09CFFAD14}"/>
              </a:ext>
            </a:extLst>
          </p:cNvPr>
          <p:cNvCxnSpPr>
            <a:cxnSpLocks/>
          </p:cNvCxnSpPr>
          <p:nvPr/>
        </p:nvCxnSpPr>
        <p:spPr>
          <a:xfrm>
            <a:off x="5715000" y="3429000"/>
            <a:ext cx="2667000" cy="990600"/>
          </a:xfrm>
          <a:prstGeom prst="straightConnector1">
            <a:avLst/>
          </a:prstGeom>
          <a:ln w="53975"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961D76B-8931-5A45-9649-BBEA9E3B56E5}"/>
              </a:ext>
            </a:extLst>
          </p:cNvPr>
          <p:cNvSpPr/>
          <p:nvPr/>
        </p:nvSpPr>
        <p:spPr>
          <a:xfrm>
            <a:off x="5257800" y="1524000"/>
            <a:ext cx="495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1. Declare and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AF0D6F-A138-754B-B07D-6D232D6DF39B}"/>
              </a:ext>
            </a:extLst>
          </p:cNvPr>
          <p:cNvCxnSpPr/>
          <p:nvPr/>
        </p:nvCxnSpPr>
        <p:spPr>
          <a:xfrm flipH="1">
            <a:off x="3124200" y="1828800"/>
            <a:ext cx="2819400" cy="3810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48D691B-CFDD-A54D-A6A6-0C77D7D51BF7}"/>
              </a:ext>
            </a:extLst>
          </p:cNvPr>
          <p:cNvSpPr/>
          <p:nvPr/>
        </p:nvSpPr>
        <p:spPr>
          <a:xfrm>
            <a:off x="6934201" y="2362200"/>
            <a:ext cx="34840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2.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A1B866-99BE-8C4E-9581-F6CF2B60168F}"/>
              </a:ext>
            </a:extLst>
          </p:cNvPr>
          <p:cNvCxnSpPr>
            <a:cxnSpLocks/>
          </p:cNvCxnSpPr>
          <p:nvPr/>
        </p:nvCxnSpPr>
        <p:spPr>
          <a:xfrm flipH="1">
            <a:off x="3581400" y="2514600"/>
            <a:ext cx="3276600" cy="19633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B0DDE64-6AD0-5C4C-B95E-CBADECEB6D38}"/>
              </a:ext>
            </a:extLst>
          </p:cNvPr>
          <p:cNvSpPr/>
          <p:nvPr/>
        </p:nvSpPr>
        <p:spPr>
          <a:xfrm>
            <a:off x="4724401" y="5105400"/>
            <a:ext cx="2770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“</a:t>
            </a:r>
            <a:r>
              <a:rPr lang="en-US" altLang="ja-JP" dirty="0">
                <a:solidFill>
                  <a:srgbClr val="000000"/>
                </a:solidFill>
              </a:rPr>
              <a:t>do the job to be repeated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3F7441-5AF3-7A49-A165-9332CCCEA732}"/>
              </a:ext>
            </a:extLst>
          </p:cNvPr>
          <p:cNvCxnSpPr>
            <a:cxnSpLocks/>
          </p:cNvCxnSpPr>
          <p:nvPr/>
        </p:nvCxnSpPr>
        <p:spPr>
          <a:xfrm flipH="1" flipV="1">
            <a:off x="3352800" y="3396734"/>
            <a:ext cx="1752600" cy="170866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EF7CE9-407C-5143-B92D-91A31270B682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3733800"/>
            <a:ext cx="990600" cy="2438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7DEA6A0-2B94-5444-BF61-29134C1B1776}"/>
              </a:ext>
            </a:extLst>
          </p:cNvPr>
          <p:cNvSpPr/>
          <p:nvPr/>
        </p:nvSpPr>
        <p:spPr>
          <a:xfrm>
            <a:off x="2590801" y="6172200"/>
            <a:ext cx="1869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“update the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44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Some Study Exercises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48CC93-7B76-4C16-BDEF-42550E0894EE}"/>
              </a:ext>
            </a:extLst>
          </p:cNvPr>
          <p:cNvSpPr txBox="1">
            <a:spLocks/>
          </p:cNvSpPr>
          <p:nvPr/>
        </p:nvSpPr>
        <p:spPr>
          <a:xfrm>
            <a:off x="4471015" y="1633143"/>
            <a:ext cx="45720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This basic while loop, produces this output.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1DED4-B41A-4E2B-9131-DE340047536C}"/>
              </a:ext>
            </a:extLst>
          </p:cNvPr>
          <p:cNvSpPr/>
          <p:nvPr/>
        </p:nvSpPr>
        <p:spPr>
          <a:xfrm>
            <a:off x="152400" y="3030885"/>
            <a:ext cx="6324600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IE" sz="2800" dirty="0" err="1"/>
              <a:t>int</a:t>
            </a:r>
            <a:r>
              <a:rPr lang="en-IE" sz="2800" dirty="0"/>
              <a:t> </a:t>
            </a:r>
            <a:r>
              <a:rPr lang="en-IE" sz="2800" dirty="0" err="1"/>
              <a:t>i</a:t>
            </a:r>
            <a:r>
              <a:rPr lang="en-IE" sz="2800" dirty="0"/>
              <a:t> = 1;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while (</a:t>
            </a:r>
            <a:r>
              <a:rPr lang="en-IE" sz="2800" dirty="0" err="1"/>
              <a:t>i</a:t>
            </a:r>
            <a:r>
              <a:rPr lang="en-IE" sz="2800" dirty="0"/>
              <a:t> &lt;=5)</a:t>
            </a:r>
          </a:p>
          <a:p>
            <a:pPr lvl="1"/>
            <a:r>
              <a:rPr lang="en-IE" sz="2800" dirty="0"/>
              <a:t>  {</a:t>
            </a:r>
          </a:p>
          <a:p>
            <a:pPr lvl="1"/>
            <a:r>
              <a:rPr lang="en-IE" sz="2800" dirty="0"/>
              <a:t>    </a:t>
            </a:r>
            <a:r>
              <a:rPr lang="en-IE" sz="2800" dirty="0" err="1"/>
              <a:t>System.out.println</a:t>
            </a:r>
            <a:r>
              <a:rPr lang="en-IE" sz="2800" dirty="0"/>
              <a:t>("Hello World");</a:t>
            </a:r>
          </a:p>
          <a:p>
            <a:pPr lvl="1"/>
            <a:r>
              <a:rPr lang="en-IE" sz="2800" dirty="0"/>
              <a:t>    </a:t>
            </a:r>
            <a:r>
              <a:rPr lang="en-IE" sz="2800" dirty="0" err="1"/>
              <a:t>i</a:t>
            </a:r>
            <a:r>
              <a:rPr lang="en-IE" sz="2800" dirty="0"/>
              <a:t>++;</a:t>
            </a:r>
          </a:p>
          <a:p>
            <a:pPr lvl="1"/>
            <a:r>
              <a:rPr lang="en-IE" sz="2800" dirty="0"/>
              <a:t> 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0A57B-33E4-4A35-92CE-914468E733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75555" r="75887" b="5556"/>
          <a:stretch/>
        </p:blipFill>
        <p:spPr>
          <a:xfrm>
            <a:off x="7620001" y="3838838"/>
            <a:ext cx="2846031" cy="192352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718ADE5-6291-4684-8C1F-1B57D1E1A5F4}"/>
              </a:ext>
            </a:extLst>
          </p:cNvPr>
          <p:cNvSpPr/>
          <p:nvPr/>
        </p:nvSpPr>
        <p:spPr>
          <a:xfrm>
            <a:off x="6477000" y="4419600"/>
            <a:ext cx="1143000" cy="6858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7428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Some Study Exercises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51038"/>
            <a:ext cx="82296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“Hello World” is printed out 10 times.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the numbers from 1 to 10 (inclusive) are printed out, one line at a time.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the numbers from 10 to 1 are printed out. 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18944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911</Words>
  <Application>Microsoft Macintosh PowerPoint</Application>
  <PresentationFormat>Widescreen</PresentationFormat>
  <Paragraphs>172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 Unicode MS</vt:lpstr>
      <vt:lpstr>Arial</vt:lpstr>
      <vt:lpstr>Calibri</vt:lpstr>
      <vt:lpstr>Courier New</vt:lpstr>
      <vt:lpstr>Times New Roman</vt:lpstr>
      <vt:lpstr>Trebuchet MS</vt:lpstr>
      <vt:lpstr>Office Theme</vt:lpstr>
      <vt:lpstr>Iteration in Programming</vt:lpstr>
      <vt:lpstr>Topics list</vt:lpstr>
      <vt:lpstr>Recap: Boolean conditions</vt:lpstr>
      <vt:lpstr>Repetition in Programming</vt:lpstr>
      <vt:lpstr>Form of loop</vt:lpstr>
      <vt:lpstr>Form of loop</vt:lpstr>
      <vt:lpstr>Topics list</vt:lpstr>
      <vt:lpstr>Loops in Programming</vt:lpstr>
      <vt:lpstr>while loop pseudo code</vt:lpstr>
      <vt:lpstr>Construction of while loop</vt:lpstr>
      <vt:lpstr>while loop Flowchart</vt:lpstr>
      <vt:lpstr>Processing Example 4.5</vt:lpstr>
      <vt:lpstr>Processing Example 4.5</vt:lpstr>
      <vt:lpstr>Some Study Exercises </vt:lpstr>
      <vt:lpstr>Some Study Exercises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Iteration with the While loop</dc:title>
  <dc:creator>Siobhan Drohan</dc:creator>
  <cp:lastModifiedBy>Mairead Meagher</cp:lastModifiedBy>
  <cp:revision>142</cp:revision>
  <dcterms:created xsi:type="dcterms:W3CDTF">2006-08-16T00:00:00Z</dcterms:created>
  <dcterms:modified xsi:type="dcterms:W3CDTF">2024-11-21T12:38:57Z</dcterms:modified>
</cp:coreProperties>
</file>