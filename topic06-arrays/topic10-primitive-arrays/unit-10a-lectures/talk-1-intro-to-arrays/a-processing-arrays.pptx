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325" r:id="rId2"/>
    <p:sldId id="514" r:id="rId3"/>
    <p:sldId id="583" r:id="rId4"/>
    <p:sldId id="560" r:id="rId5"/>
    <p:sldId id="585" r:id="rId6"/>
    <p:sldId id="586" r:id="rId7"/>
    <p:sldId id="619" r:id="rId8"/>
    <p:sldId id="565" r:id="rId9"/>
    <p:sldId id="632" r:id="rId10"/>
    <p:sldId id="598" r:id="rId11"/>
    <p:sldId id="602" r:id="rId12"/>
    <p:sldId id="570" r:id="rId13"/>
    <p:sldId id="606" r:id="rId14"/>
    <p:sldId id="605" r:id="rId15"/>
    <p:sldId id="612" r:id="rId16"/>
    <p:sldId id="608" r:id="rId17"/>
    <p:sldId id="609" r:id="rId18"/>
    <p:sldId id="610" r:id="rId19"/>
    <p:sldId id="611" r:id="rId20"/>
    <p:sldId id="614" r:id="rId21"/>
    <p:sldId id="616" r:id="rId22"/>
    <p:sldId id="613" r:id="rId23"/>
    <p:sldId id="575" r:id="rId24"/>
    <p:sldId id="631" r:id="rId25"/>
    <p:sldId id="576" r:id="rId26"/>
    <p:sldId id="618" r:id="rId27"/>
    <p:sldId id="620" r:id="rId28"/>
    <p:sldId id="621" r:id="rId29"/>
    <p:sldId id="578" r:id="rId30"/>
    <p:sldId id="622" r:id="rId31"/>
    <p:sldId id="623" r:id="rId32"/>
    <p:sldId id="624" r:id="rId33"/>
    <p:sldId id="625" r:id="rId34"/>
    <p:sldId id="626" r:id="rId35"/>
    <p:sldId id="627" r:id="rId36"/>
    <p:sldId id="581" r:id="rId37"/>
    <p:sldId id="630" r:id="rId38"/>
    <p:sldId id="347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89244" autoAdjust="0"/>
  </p:normalViewPr>
  <p:slideViewPr>
    <p:cSldViewPr>
      <p:cViewPr varScale="1">
        <p:scale>
          <a:sx n="127" d="100"/>
          <a:sy n="127" d="100"/>
        </p:scale>
        <p:origin x="119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7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20/11/2024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063FA5-C65E-4720-B6D7-EFAAA6FFD1D5}" type="slidenum">
              <a:rPr lang="en-GB"/>
              <a:pPr/>
              <a:t>10</a:t>
            </a:fld>
            <a:endParaRPr lang="en-GB"/>
          </a:p>
        </p:txBody>
      </p:sp>
      <p:sp>
        <p:nvSpPr>
          <p:cNvPr id="157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575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11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14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13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83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14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59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15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616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16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700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17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766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18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75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19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07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20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14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21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054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Objects First with Java</a:t>
            </a:r>
          </a:p>
        </p:txBody>
      </p:sp>
      <p:sp>
        <p:nvSpPr>
          <p:cNvPr id="102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r>
              <a:rPr lang="en-GB" sz="1200" b="0">
                <a:latin typeface="Times New Roman" pitchFamily="-32" charset="0"/>
              </a:rPr>
              <a:t>© David J. Barnes and Michael Kölling</a:t>
            </a:r>
          </a:p>
        </p:txBody>
      </p:sp>
      <p:sp>
        <p:nvSpPr>
          <p:cNvPr id="102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fld id="{F27CABD1-01BD-4148-8592-4B26A6C0FEC4}" type="slidenum">
              <a:rPr lang="en-GB" sz="1200" b="0" smtClean="0">
                <a:latin typeface="Times New Roman" pitchFamily="-32" charset="0"/>
              </a:rPr>
              <a:pPr/>
              <a:t>22</a:t>
            </a:fld>
            <a:endParaRPr lang="en-GB" sz="1200" b="0">
              <a:latin typeface="Times New Roman" pitchFamily="-32" charset="0"/>
            </a:endParaRPr>
          </a:p>
        </p:txBody>
      </p:sp>
      <p:sp>
        <p:nvSpPr>
          <p:cNvPr id="102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068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tutorial/java/nutsandbolts/arrays.html" TargetMode="External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1841" y="1501776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Primitive Arrays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0869C-9D20-CB38-35C3-802A99BF997F}"/>
              </a:ext>
            </a:extLst>
          </p:cNvPr>
          <p:cNvSpPr txBox="1"/>
          <p:nvPr/>
        </p:nvSpPr>
        <p:spPr>
          <a:xfrm>
            <a:off x="76962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C7EE4083-D158-8AD0-5967-0CD8D44BF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641" y="5501441"/>
            <a:ext cx="2286000" cy="12815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A816CD-6F4F-7DBB-6743-AC6C563FA9F1}"/>
              </a:ext>
            </a:extLst>
          </p:cNvPr>
          <p:cNvSpPr txBox="1"/>
          <p:nvPr/>
        </p:nvSpPr>
        <p:spPr>
          <a:xfrm>
            <a:off x="3657600" y="3810000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Drohan,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</p:spTree>
    <p:extLst>
      <p:ext uri="{BB962C8B-B14F-4D97-AF65-F5344CB8AC3E}">
        <p14:creationId xmlns:p14="http://schemas.microsoft.com/office/powerpoint/2010/main" val="110643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570038"/>
            <a:ext cx="8382000" cy="4525963"/>
          </a:xfr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IE" dirty="0"/>
          </a:p>
          <a:p>
            <a:r>
              <a:rPr lang="en-IE" dirty="0"/>
              <a:t>Why arrays?</a:t>
            </a:r>
          </a:p>
          <a:p>
            <a:endParaRPr lang="en-IE" dirty="0"/>
          </a:p>
          <a:p>
            <a:r>
              <a:rPr lang="en-IE" dirty="0"/>
              <a:t>Primitive Arrays</a:t>
            </a:r>
          </a:p>
          <a:p>
            <a:endParaRPr lang="en-IE" dirty="0"/>
          </a:p>
          <a:p>
            <a:r>
              <a:rPr lang="en-IE" dirty="0"/>
              <a:t>Array Syntax </a:t>
            </a:r>
          </a:p>
          <a:p>
            <a:pPr marL="0" indent="0">
              <a:buNone/>
            </a:pP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1260203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arrays?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980801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IE" dirty="0"/>
          </a:p>
          <a:p>
            <a:r>
              <a:rPr lang="en-IE" dirty="0"/>
              <a:t>We look at different pieces of code to explain the concept.</a:t>
            </a:r>
          </a:p>
          <a:p>
            <a:endParaRPr lang="en-IE" dirty="0"/>
          </a:p>
          <a:p>
            <a:r>
              <a:rPr lang="en-IE" dirty="0"/>
              <a:t>In each piece of code, we:</a:t>
            </a:r>
          </a:p>
          <a:p>
            <a:pPr lvl="1"/>
            <a:r>
              <a:rPr lang="en-IE" dirty="0"/>
              <a:t>read in 10 numbers from the keyboard</a:t>
            </a:r>
          </a:p>
          <a:p>
            <a:pPr lvl="1"/>
            <a:r>
              <a:rPr lang="en-IE" dirty="0"/>
              <a:t>add the numbers</a:t>
            </a:r>
          </a:p>
          <a:p>
            <a:pPr lvl="1"/>
            <a:r>
              <a:rPr lang="en-IE" dirty="0"/>
              <a:t>print the sum of all the numbers.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</p:spTree>
    <p:extLst>
      <p:ext uri="{BB962C8B-B14F-4D97-AF65-F5344CB8AC3E}">
        <p14:creationId xmlns:p14="http://schemas.microsoft.com/office/powerpoint/2010/main" val="187480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7474DF-C5F2-49DC-8A85-0384697CC4D7}"/>
              </a:ext>
            </a:extLst>
          </p:cNvPr>
          <p:cNvSpPr txBox="1"/>
          <p:nvPr/>
        </p:nvSpPr>
        <p:spPr>
          <a:xfrm>
            <a:off x="1752600" y="1676401"/>
            <a:ext cx="8382000" cy="526297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>
                <a:solidFill>
                  <a:srgbClr val="000080"/>
                </a:solidFill>
                <a:effectLst/>
              </a:rPr>
              <a:t>import </a:t>
            </a:r>
            <a:r>
              <a:rPr lang="en-IE" sz="2400"/>
              <a:t>java.util.Scanner;</a:t>
            </a:r>
            <a:br>
              <a:rPr lang="en-IE" sz="2400"/>
            </a:br>
            <a:r>
              <a:rPr lang="en-IE" sz="2400"/>
              <a:t> :</a:t>
            </a:r>
          </a:p>
          <a:p>
            <a:r>
              <a:rPr lang="en-IE" sz="2400"/>
              <a:t>Scanner </a:t>
            </a:r>
            <a:r>
              <a:rPr lang="en-IE" sz="2400" i="1">
                <a:solidFill>
                  <a:srgbClr val="660E7A"/>
                </a:solidFill>
                <a:effectLst/>
              </a:rPr>
              <a:t>input </a:t>
            </a:r>
            <a:r>
              <a:rPr lang="en-IE" sz="2400"/>
              <a:t>= </a:t>
            </a:r>
            <a:r>
              <a:rPr lang="en-IE" sz="2400" b="1">
                <a:solidFill>
                  <a:srgbClr val="000080"/>
                </a:solidFill>
                <a:effectLst/>
              </a:rPr>
              <a:t>new </a:t>
            </a:r>
            <a:r>
              <a:rPr lang="en-IE" sz="2400"/>
              <a:t>Scanner(System.</a:t>
            </a:r>
            <a:r>
              <a:rPr lang="en-IE" sz="2400" b="1" i="1">
                <a:solidFill>
                  <a:srgbClr val="660E7A"/>
                </a:solidFill>
                <a:effectLst/>
              </a:rPr>
              <a:t>in</a:t>
            </a:r>
            <a:r>
              <a:rPr lang="en-IE" sz="2400"/>
              <a:t>);</a:t>
            </a:r>
          </a:p>
          <a:p>
            <a:r>
              <a:rPr lang="en-IE" sz="2400"/>
              <a:t> :</a:t>
            </a:r>
            <a:br>
              <a:rPr lang="en-IE" sz="2400"/>
            </a:br>
            <a:r>
              <a:rPr lang="en-IE" sz="2400" b="1">
                <a:solidFill>
                  <a:srgbClr val="000080"/>
                </a:solidFill>
                <a:effectLst/>
              </a:rPr>
              <a:t>int </a:t>
            </a:r>
            <a:r>
              <a:rPr lang="en-IE" sz="2400"/>
              <a:t>n;</a:t>
            </a:r>
            <a:br>
              <a:rPr lang="en-IE" sz="2400"/>
            </a:br>
            <a:r>
              <a:rPr lang="en-IE" sz="2400" b="1">
                <a:solidFill>
                  <a:srgbClr val="000080"/>
                </a:solidFill>
                <a:effectLst/>
              </a:rPr>
              <a:t>int </a:t>
            </a:r>
            <a:r>
              <a:rPr lang="en-IE" sz="2400"/>
              <a:t>sum = </a:t>
            </a:r>
            <a:r>
              <a:rPr lang="en-IE" sz="2400">
                <a:solidFill>
                  <a:srgbClr val="0000FF"/>
                </a:solidFill>
                <a:effectLst/>
              </a:rPr>
              <a:t>0</a:t>
            </a:r>
            <a:r>
              <a:rPr lang="en-IE" sz="2400"/>
              <a:t>;</a:t>
            </a:r>
            <a:br>
              <a:rPr lang="en-IE" sz="2400"/>
            </a:br>
            <a:br>
              <a:rPr lang="en-IE" sz="2400"/>
            </a:br>
            <a:r>
              <a:rPr lang="en-IE" sz="2400" b="1">
                <a:solidFill>
                  <a:srgbClr val="000080"/>
                </a:solidFill>
                <a:effectLst/>
              </a:rPr>
              <a:t>for </a:t>
            </a:r>
            <a:r>
              <a:rPr lang="en-IE" sz="2400"/>
              <a:t>(</a:t>
            </a:r>
            <a:r>
              <a:rPr lang="en-IE" sz="2400" b="1">
                <a:solidFill>
                  <a:srgbClr val="000080"/>
                </a:solidFill>
                <a:effectLst/>
              </a:rPr>
              <a:t>int </a:t>
            </a:r>
            <a:r>
              <a:rPr lang="en-IE" sz="2400"/>
              <a:t>i = </a:t>
            </a:r>
            <a:r>
              <a:rPr lang="en-IE" sz="2400">
                <a:solidFill>
                  <a:srgbClr val="0000FF"/>
                </a:solidFill>
                <a:effectLst/>
              </a:rPr>
              <a:t>0</a:t>
            </a:r>
            <a:r>
              <a:rPr lang="en-IE" sz="2400"/>
              <a:t>; i&lt;</a:t>
            </a:r>
            <a:r>
              <a:rPr lang="en-IE" sz="2400">
                <a:solidFill>
                  <a:srgbClr val="0000FF"/>
                </a:solidFill>
                <a:effectLst/>
              </a:rPr>
              <a:t>10</a:t>
            </a:r>
            <a:r>
              <a:rPr lang="en-IE" sz="2400"/>
              <a:t>; i++)  {</a:t>
            </a:r>
            <a:br>
              <a:rPr lang="en-IE" sz="2400"/>
            </a:br>
            <a:r>
              <a:rPr lang="en-IE" sz="2400"/>
              <a:t>    n = </a:t>
            </a:r>
            <a:r>
              <a:rPr lang="en-IE" sz="2400" i="1">
                <a:solidFill>
                  <a:srgbClr val="660E7A"/>
                </a:solidFill>
                <a:effectLst/>
              </a:rPr>
              <a:t>input</a:t>
            </a:r>
            <a:r>
              <a:rPr lang="en-IE" sz="2400"/>
              <a:t>.nextInt();</a:t>
            </a:r>
            <a:br>
              <a:rPr lang="en-IE" sz="2400"/>
            </a:br>
            <a:r>
              <a:rPr lang="en-IE" sz="2400"/>
              <a:t>    sum += n;</a:t>
            </a:r>
            <a:br>
              <a:rPr lang="en-IE" sz="2400"/>
            </a:br>
            <a:r>
              <a:rPr lang="en-IE" sz="2400"/>
              <a:t>}</a:t>
            </a:r>
            <a:br>
              <a:rPr lang="en-IE" sz="2400"/>
            </a:br>
            <a:br>
              <a:rPr lang="en-IE" sz="2400"/>
            </a:br>
            <a:r>
              <a:rPr lang="en-IE" sz="2400"/>
              <a:t>System.</a:t>
            </a:r>
            <a:r>
              <a:rPr lang="en-IE" sz="2400" b="1" i="1">
                <a:solidFill>
                  <a:srgbClr val="660E7A"/>
                </a:solidFill>
                <a:effectLst/>
              </a:rPr>
              <a:t>out</a:t>
            </a:r>
            <a:r>
              <a:rPr lang="en-IE" sz="2400"/>
              <a:t>.println(</a:t>
            </a:r>
            <a:r>
              <a:rPr lang="en-IE" sz="2400" b="1">
                <a:solidFill>
                  <a:srgbClr val="008000"/>
                </a:solidFill>
                <a:effectLst/>
              </a:rPr>
              <a:t>"The sum of the values you typed in is : " </a:t>
            </a:r>
            <a:r>
              <a:rPr lang="en-IE" sz="2400"/>
              <a:t>+ sum);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Adding 10 numbers </a:t>
            </a:r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0" y="3962400"/>
            <a:ext cx="3200400" cy="954107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Reads in 10 numbers from the keyboard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9ABE52-4043-4518-AF2B-B1B8FB953F6A}"/>
              </a:ext>
            </a:extLst>
          </p:cNvPr>
          <p:cNvSpPr/>
          <p:nvPr/>
        </p:nvSpPr>
        <p:spPr>
          <a:xfrm>
            <a:off x="1714500" y="3881855"/>
            <a:ext cx="4076700" cy="16002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98248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3CF81A-8CE0-45C5-905D-A0E17474FCCD}"/>
              </a:ext>
            </a:extLst>
          </p:cNvPr>
          <p:cNvSpPr txBox="1"/>
          <p:nvPr/>
        </p:nvSpPr>
        <p:spPr>
          <a:xfrm>
            <a:off x="1752600" y="1676401"/>
            <a:ext cx="8763000" cy="4893647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>
                <a:solidFill>
                  <a:srgbClr val="000080"/>
                </a:solidFill>
                <a:effectLst/>
              </a:rPr>
              <a:t>import </a:t>
            </a:r>
            <a:r>
              <a:rPr lang="en-IE" sz="2400"/>
              <a:t>java.util.Scanner;</a:t>
            </a:r>
            <a:br>
              <a:rPr lang="en-IE" sz="2400"/>
            </a:br>
            <a:r>
              <a:rPr lang="en-IE" sz="2400"/>
              <a:t> :</a:t>
            </a:r>
          </a:p>
          <a:p>
            <a:r>
              <a:rPr lang="en-IE" sz="2400"/>
              <a:t>Scanner </a:t>
            </a:r>
            <a:r>
              <a:rPr lang="en-IE" sz="2400" i="1">
                <a:solidFill>
                  <a:srgbClr val="660E7A"/>
                </a:solidFill>
                <a:effectLst/>
              </a:rPr>
              <a:t>input </a:t>
            </a:r>
            <a:r>
              <a:rPr lang="en-IE" sz="2400"/>
              <a:t>= </a:t>
            </a:r>
            <a:r>
              <a:rPr lang="en-IE" sz="2400" b="1">
                <a:solidFill>
                  <a:srgbClr val="000080"/>
                </a:solidFill>
                <a:effectLst/>
              </a:rPr>
              <a:t>new </a:t>
            </a:r>
            <a:r>
              <a:rPr lang="en-IE" sz="2400"/>
              <a:t>Scanner(System.</a:t>
            </a:r>
            <a:r>
              <a:rPr lang="en-IE" sz="2400" b="1" i="1">
                <a:solidFill>
                  <a:srgbClr val="660E7A"/>
                </a:solidFill>
                <a:effectLst/>
              </a:rPr>
              <a:t>in</a:t>
            </a:r>
            <a:r>
              <a:rPr lang="en-IE" sz="2400"/>
              <a:t>);</a:t>
            </a:r>
          </a:p>
          <a:p>
            <a:r>
              <a:rPr lang="en-IE" sz="2400"/>
              <a:t> :</a:t>
            </a:r>
            <a:br>
              <a:rPr lang="en-IE" sz="2400"/>
            </a:br>
            <a:r>
              <a:rPr lang="en-IE" sz="2400" b="1">
                <a:solidFill>
                  <a:srgbClr val="000080"/>
                </a:solidFill>
                <a:effectLst/>
              </a:rPr>
              <a:t>int </a:t>
            </a:r>
            <a:r>
              <a:rPr lang="en-IE" sz="2400"/>
              <a:t>n;</a:t>
            </a:r>
            <a:br>
              <a:rPr lang="en-IE" sz="2400"/>
            </a:br>
            <a:r>
              <a:rPr lang="en-IE" sz="2400" b="1">
                <a:solidFill>
                  <a:srgbClr val="000080"/>
                </a:solidFill>
                <a:effectLst/>
              </a:rPr>
              <a:t>int </a:t>
            </a:r>
            <a:r>
              <a:rPr lang="en-IE" sz="2400"/>
              <a:t>sum = </a:t>
            </a:r>
            <a:r>
              <a:rPr lang="en-IE" sz="2400">
                <a:solidFill>
                  <a:srgbClr val="0000FF"/>
                </a:solidFill>
                <a:effectLst/>
              </a:rPr>
              <a:t>0</a:t>
            </a:r>
            <a:r>
              <a:rPr lang="en-IE" sz="2400"/>
              <a:t>;</a:t>
            </a:r>
            <a:br>
              <a:rPr lang="en-IE" sz="2400"/>
            </a:br>
            <a:br>
              <a:rPr lang="en-IE" sz="2400"/>
            </a:br>
            <a:r>
              <a:rPr lang="en-IE" sz="2400" b="1">
                <a:solidFill>
                  <a:srgbClr val="000080"/>
                </a:solidFill>
                <a:effectLst/>
              </a:rPr>
              <a:t>for </a:t>
            </a:r>
            <a:r>
              <a:rPr lang="en-IE" sz="2400"/>
              <a:t>(</a:t>
            </a:r>
            <a:r>
              <a:rPr lang="en-IE" sz="2400" b="1">
                <a:solidFill>
                  <a:srgbClr val="000080"/>
                </a:solidFill>
                <a:effectLst/>
              </a:rPr>
              <a:t>int </a:t>
            </a:r>
            <a:r>
              <a:rPr lang="en-IE" sz="2400"/>
              <a:t>i = </a:t>
            </a:r>
            <a:r>
              <a:rPr lang="en-IE" sz="2400">
                <a:solidFill>
                  <a:srgbClr val="0000FF"/>
                </a:solidFill>
                <a:effectLst/>
              </a:rPr>
              <a:t>0</a:t>
            </a:r>
            <a:r>
              <a:rPr lang="en-IE" sz="2400"/>
              <a:t>; i&lt;</a:t>
            </a:r>
            <a:r>
              <a:rPr lang="en-IE" sz="2400">
                <a:solidFill>
                  <a:srgbClr val="0000FF"/>
                </a:solidFill>
                <a:effectLst/>
              </a:rPr>
              <a:t>10</a:t>
            </a:r>
            <a:r>
              <a:rPr lang="en-IE" sz="2400"/>
              <a:t>; i++)  {</a:t>
            </a:r>
            <a:br>
              <a:rPr lang="en-IE" sz="2400"/>
            </a:br>
            <a:r>
              <a:rPr lang="en-IE" sz="2400"/>
              <a:t>    n = </a:t>
            </a:r>
            <a:r>
              <a:rPr lang="en-IE" sz="2400" i="1">
                <a:solidFill>
                  <a:srgbClr val="660E7A"/>
                </a:solidFill>
                <a:effectLst/>
              </a:rPr>
              <a:t>input</a:t>
            </a:r>
            <a:r>
              <a:rPr lang="en-IE" sz="2400"/>
              <a:t>.nextInt();</a:t>
            </a:r>
            <a:br>
              <a:rPr lang="en-IE" sz="2400"/>
            </a:br>
            <a:r>
              <a:rPr lang="en-IE" sz="2400"/>
              <a:t>    sum += n;</a:t>
            </a:r>
            <a:br>
              <a:rPr lang="en-IE" sz="2400"/>
            </a:br>
            <a:r>
              <a:rPr lang="en-IE" sz="2400"/>
              <a:t>}</a:t>
            </a:r>
            <a:br>
              <a:rPr lang="en-IE" sz="2400"/>
            </a:br>
            <a:br>
              <a:rPr lang="en-IE" sz="2400"/>
            </a:br>
            <a:r>
              <a:rPr lang="en-IE" sz="2400"/>
              <a:t>System.</a:t>
            </a:r>
            <a:r>
              <a:rPr lang="en-IE" sz="2400" b="1" i="1">
                <a:solidFill>
                  <a:srgbClr val="660E7A"/>
                </a:solidFill>
                <a:effectLst/>
              </a:rPr>
              <a:t>out</a:t>
            </a:r>
            <a:r>
              <a:rPr lang="en-IE" sz="2400"/>
              <a:t>.println(</a:t>
            </a:r>
            <a:r>
              <a:rPr lang="en-IE" sz="2400" b="1">
                <a:solidFill>
                  <a:srgbClr val="008000"/>
                </a:solidFill>
                <a:effectLst/>
              </a:rPr>
              <a:t>"The sum of the values you typed in is : " </a:t>
            </a:r>
            <a:r>
              <a:rPr lang="en-IE" sz="2400"/>
              <a:t>+ sum);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Adding 10 numbers </a:t>
            </a:r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2971800"/>
            <a:ext cx="4191000" cy="138499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As each number is entered, it is added to the value currently stored in </a:t>
            </a:r>
            <a:r>
              <a:rPr lang="en-US" sz="2800" b="1" dirty="0"/>
              <a:t>sum</a:t>
            </a:r>
            <a:r>
              <a:rPr lang="en-US" sz="2800" dirty="0"/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9ABE52-4043-4518-AF2B-B1B8FB953F6A}"/>
              </a:ext>
            </a:extLst>
          </p:cNvPr>
          <p:cNvSpPr/>
          <p:nvPr/>
        </p:nvSpPr>
        <p:spPr>
          <a:xfrm flipV="1">
            <a:off x="1828800" y="5029200"/>
            <a:ext cx="3505200" cy="3810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90680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F9E1ED-B0C9-449A-AB28-502470330349}"/>
              </a:ext>
            </a:extLst>
          </p:cNvPr>
          <p:cNvSpPr txBox="1"/>
          <p:nvPr/>
        </p:nvSpPr>
        <p:spPr>
          <a:xfrm>
            <a:off x="1752600" y="1676401"/>
            <a:ext cx="9144000" cy="4893647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>
                <a:solidFill>
                  <a:srgbClr val="000080"/>
                </a:solidFill>
                <a:effectLst/>
              </a:rPr>
              <a:t>import </a:t>
            </a:r>
            <a:r>
              <a:rPr lang="en-IE" sz="2400"/>
              <a:t>java.util.Scanner;</a:t>
            </a:r>
            <a:br>
              <a:rPr lang="en-IE" sz="2400"/>
            </a:br>
            <a:r>
              <a:rPr lang="en-IE" sz="2400"/>
              <a:t> :</a:t>
            </a:r>
          </a:p>
          <a:p>
            <a:r>
              <a:rPr lang="en-IE" sz="2400"/>
              <a:t>Scanner </a:t>
            </a:r>
            <a:r>
              <a:rPr lang="en-IE" sz="2400" i="1">
                <a:solidFill>
                  <a:srgbClr val="660E7A"/>
                </a:solidFill>
                <a:effectLst/>
              </a:rPr>
              <a:t>input </a:t>
            </a:r>
            <a:r>
              <a:rPr lang="en-IE" sz="2400"/>
              <a:t>= </a:t>
            </a:r>
            <a:r>
              <a:rPr lang="en-IE" sz="2400" b="1">
                <a:solidFill>
                  <a:srgbClr val="000080"/>
                </a:solidFill>
                <a:effectLst/>
              </a:rPr>
              <a:t>new </a:t>
            </a:r>
            <a:r>
              <a:rPr lang="en-IE" sz="2400"/>
              <a:t>Scanner(System.</a:t>
            </a:r>
            <a:r>
              <a:rPr lang="en-IE" sz="2400" b="1" i="1">
                <a:solidFill>
                  <a:srgbClr val="660E7A"/>
                </a:solidFill>
                <a:effectLst/>
              </a:rPr>
              <a:t>in</a:t>
            </a:r>
            <a:r>
              <a:rPr lang="en-IE" sz="2400"/>
              <a:t>);</a:t>
            </a:r>
          </a:p>
          <a:p>
            <a:r>
              <a:rPr lang="en-IE" sz="2400"/>
              <a:t> :</a:t>
            </a:r>
            <a:br>
              <a:rPr lang="en-IE" sz="2400"/>
            </a:br>
            <a:r>
              <a:rPr lang="en-IE" sz="2400" b="1">
                <a:solidFill>
                  <a:srgbClr val="000080"/>
                </a:solidFill>
                <a:effectLst/>
              </a:rPr>
              <a:t>int </a:t>
            </a:r>
            <a:r>
              <a:rPr lang="en-IE" sz="2400"/>
              <a:t>n;</a:t>
            </a:r>
            <a:br>
              <a:rPr lang="en-IE" sz="2400"/>
            </a:br>
            <a:r>
              <a:rPr lang="en-IE" sz="2400" b="1">
                <a:solidFill>
                  <a:srgbClr val="000080"/>
                </a:solidFill>
                <a:effectLst/>
              </a:rPr>
              <a:t>int </a:t>
            </a:r>
            <a:r>
              <a:rPr lang="en-IE" sz="2400"/>
              <a:t>sum = </a:t>
            </a:r>
            <a:r>
              <a:rPr lang="en-IE" sz="2400">
                <a:solidFill>
                  <a:srgbClr val="0000FF"/>
                </a:solidFill>
                <a:effectLst/>
              </a:rPr>
              <a:t>0</a:t>
            </a:r>
            <a:r>
              <a:rPr lang="en-IE" sz="2400"/>
              <a:t>;</a:t>
            </a:r>
            <a:br>
              <a:rPr lang="en-IE" sz="2400"/>
            </a:br>
            <a:br>
              <a:rPr lang="en-IE" sz="2400"/>
            </a:br>
            <a:r>
              <a:rPr lang="en-IE" sz="2400" b="1">
                <a:solidFill>
                  <a:srgbClr val="000080"/>
                </a:solidFill>
                <a:effectLst/>
              </a:rPr>
              <a:t>for </a:t>
            </a:r>
            <a:r>
              <a:rPr lang="en-IE" sz="2400"/>
              <a:t>(</a:t>
            </a:r>
            <a:r>
              <a:rPr lang="en-IE" sz="2400" b="1">
                <a:solidFill>
                  <a:srgbClr val="000080"/>
                </a:solidFill>
                <a:effectLst/>
              </a:rPr>
              <a:t>int </a:t>
            </a:r>
            <a:r>
              <a:rPr lang="en-IE" sz="2400"/>
              <a:t>i = </a:t>
            </a:r>
            <a:r>
              <a:rPr lang="en-IE" sz="2400">
                <a:solidFill>
                  <a:srgbClr val="0000FF"/>
                </a:solidFill>
                <a:effectLst/>
              </a:rPr>
              <a:t>0</a:t>
            </a:r>
            <a:r>
              <a:rPr lang="en-IE" sz="2400"/>
              <a:t>; i&lt;</a:t>
            </a:r>
            <a:r>
              <a:rPr lang="en-IE" sz="2400">
                <a:solidFill>
                  <a:srgbClr val="0000FF"/>
                </a:solidFill>
                <a:effectLst/>
              </a:rPr>
              <a:t>10</a:t>
            </a:r>
            <a:r>
              <a:rPr lang="en-IE" sz="2400"/>
              <a:t>; i++)  {</a:t>
            </a:r>
            <a:br>
              <a:rPr lang="en-IE" sz="2400"/>
            </a:br>
            <a:r>
              <a:rPr lang="en-IE" sz="2400"/>
              <a:t>    n = </a:t>
            </a:r>
            <a:r>
              <a:rPr lang="en-IE" sz="2400" i="1">
                <a:solidFill>
                  <a:srgbClr val="660E7A"/>
                </a:solidFill>
                <a:effectLst/>
              </a:rPr>
              <a:t>input</a:t>
            </a:r>
            <a:r>
              <a:rPr lang="en-IE" sz="2400"/>
              <a:t>.nextInt();</a:t>
            </a:r>
            <a:br>
              <a:rPr lang="en-IE" sz="2400"/>
            </a:br>
            <a:r>
              <a:rPr lang="en-IE" sz="2400"/>
              <a:t>    sum += n;</a:t>
            </a:r>
            <a:br>
              <a:rPr lang="en-IE" sz="2400"/>
            </a:br>
            <a:r>
              <a:rPr lang="en-IE" sz="2400"/>
              <a:t>}</a:t>
            </a:r>
            <a:br>
              <a:rPr lang="en-IE" sz="2400"/>
            </a:br>
            <a:br>
              <a:rPr lang="en-IE" sz="2400"/>
            </a:br>
            <a:r>
              <a:rPr lang="en-IE" sz="2400"/>
              <a:t>System.</a:t>
            </a:r>
            <a:r>
              <a:rPr lang="en-IE" sz="2400" b="1" i="1">
                <a:solidFill>
                  <a:srgbClr val="660E7A"/>
                </a:solidFill>
                <a:effectLst/>
              </a:rPr>
              <a:t>out</a:t>
            </a:r>
            <a:r>
              <a:rPr lang="en-IE" sz="2400"/>
              <a:t>.println(</a:t>
            </a:r>
            <a:r>
              <a:rPr lang="en-IE" sz="2400" b="1">
                <a:solidFill>
                  <a:srgbClr val="008000"/>
                </a:solidFill>
                <a:effectLst/>
              </a:rPr>
              <a:t>"The sum of the values you typed in is : " </a:t>
            </a:r>
            <a:r>
              <a:rPr lang="en-IE" sz="2400"/>
              <a:t>+ sum);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Adding 10 numbers </a:t>
            </a:r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0508" y="3344178"/>
            <a:ext cx="4618892" cy="1831559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When the 10 numbers have been read in</a:t>
            </a:r>
            <a:r>
              <a:rPr lang="en-US" sz="2800"/>
              <a:t>, </a:t>
            </a:r>
          </a:p>
          <a:p>
            <a:pPr algn="ctr"/>
            <a:r>
              <a:rPr lang="en-US" sz="2800" dirty="0"/>
              <a:t>the </a:t>
            </a:r>
            <a:r>
              <a:rPr lang="en-US" sz="2800" b="1" dirty="0"/>
              <a:t>sum</a:t>
            </a:r>
            <a:r>
              <a:rPr lang="en-US" sz="2800" dirty="0"/>
              <a:t> of the 10 numbers is printed to the console.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9ABE52-4043-4518-AF2B-B1B8FB953F6A}"/>
              </a:ext>
            </a:extLst>
          </p:cNvPr>
          <p:cNvSpPr/>
          <p:nvPr/>
        </p:nvSpPr>
        <p:spPr>
          <a:xfrm flipV="1">
            <a:off x="1758462" y="6047602"/>
            <a:ext cx="8680938" cy="52244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376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Adding 10 numbers </a:t>
            </a:r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2600" y="1676401"/>
            <a:ext cx="8763000" cy="526297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>
                <a:solidFill>
                  <a:srgbClr val="000080"/>
                </a:solidFill>
                <a:effectLst/>
              </a:rPr>
              <a:t>import </a:t>
            </a:r>
            <a:r>
              <a:rPr lang="en-IE" sz="2400"/>
              <a:t>java.util.Scanner;</a:t>
            </a:r>
            <a:br>
              <a:rPr lang="en-IE" sz="2400"/>
            </a:br>
            <a:r>
              <a:rPr lang="en-IE" sz="2400"/>
              <a:t> :</a:t>
            </a:r>
          </a:p>
          <a:p>
            <a:r>
              <a:rPr lang="en-IE" sz="2400"/>
              <a:t>Scanner </a:t>
            </a:r>
            <a:r>
              <a:rPr lang="en-IE" sz="2400" i="1">
                <a:solidFill>
                  <a:srgbClr val="660E7A"/>
                </a:solidFill>
                <a:effectLst/>
              </a:rPr>
              <a:t>input </a:t>
            </a:r>
            <a:r>
              <a:rPr lang="en-IE" sz="2400"/>
              <a:t>= </a:t>
            </a:r>
            <a:r>
              <a:rPr lang="en-IE" sz="2400" b="1">
                <a:solidFill>
                  <a:srgbClr val="000080"/>
                </a:solidFill>
                <a:effectLst/>
              </a:rPr>
              <a:t>new </a:t>
            </a:r>
            <a:r>
              <a:rPr lang="en-IE" sz="2400"/>
              <a:t>Scanner(System.</a:t>
            </a:r>
            <a:r>
              <a:rPr lang="en-IE" sz="2400" b="1" i="1">
                <a:solidFill>
                  <a:srgbClr val="660E7A"/>
                </a:solidFill>
                <a:effectLst/>
              </a:rPr>
              <a:t>in</a:t>
            </a:r>
            <a:r>
              <a:rPr lang="en-IE" sz="2400"/>
              <a:t>);</a:t>
            </a:r>
          </a:p>
          <a:p>
            <a:r>
              <a:rPr lang="en-IE" sz="2400"/>
              <a:t> :</a:t>
            </a:r>
            <a:br>
              <a:rPr lang="en-IE" sz="2400"/>
            </a:br>
            <a:r>
              <a:rPr lang="en-IE" sz="2400" b="1">
                <a:solidFill>
                  <a:srgbClr val="000080"/>
                </a:solidFill>
                <a:effectLst/>
              </a:rPr>
              <a:t>int </a:t>
            </a:r>
            <a:r>
              <a:rPr lang="en-IE" sz="2400"/>
              <a:t>n;</a:t>
            </a:r>
            <a:br>
              <a:rPr lang="en-IE" sz="2400"/>
            </a:br>
            <a:r>
              <a:rPr lang="en-IE" sz="2400" b="1">
                <a:solidFill>
                  <a:srgbClr val="000080"/>
                </a:solidFill>
                <a:effectLst/>
              </a:rPr>
              <a:t>int </a:t>
            </a:r>
            <a:r>
              <a:rPr lang="en-IE" sz="2400"/>
              <a:t>sum = </a:t>
            </a:r>
            <a:r>
              <a:rPr lang="en-IE" sz="2400">
                <a:solidFill>
                  <a:srgbClr val="0000FF"/>
                </a:solidFill>
                <a:effectLst/>
              </a:rPr>
              <a:t>0</a:t>
            </a:r>
            <a:r>
              <a:rPr lang="en-IE" sz="2400"/>
              <a:t>;</a:t>
            </a:r>
            <a:br>
              <a:rPr lang="en-IE" sz="2400"/>
            </a:br>
            <a:br>
              <a:rPr lang="en-IE" sz="2400"/>
            </a:br>
            <a:r>
              <a:rPr lang="en-IE" sz="2400" b="1">
                <a:solidFill>
                  <a:srgbClr val="000080"/>
                </a:solidFill>
                <a:effectLst/>
              </a:rPr>
              <a:t>for </a:t>
            </a:r>
            <a:r>
              <a:rPr lang="en-IE" sz="2400"/>
              <a:t>(</a:t>
            </a:r>
            <a:r>
              <a:rPr lang="en-IE" sz="2400" b="1">
                <a:solidFill>
                  <a:srgbClr val="000080"/>
                </a:solidFill>
                <a:effectLst/>
              </a:rPr>
              <a:t>int </a:t>
            </a:r>
            <a:r>
              <a:rPr lang="en-IE" sz="2400"/>
              <a:t>i = </a:t>
            </a:r>
            <a:r>
              <a:rPr lang="en-IE" sz="2400">
                <a:solidFill>
                  <a:srgbClr val="0000FF"/>
                </a:solidFill>
                <a:effectLst/>
              </a:rPr>
              <a:t>0</a:t>
            </a:r>
            <a:r>
              <a:rPr lang="en-IE" sz="2400"/>
              <a:t>; i&lt;</a:t>
            </a:r>
            <a:r>
              <a:rPr lang="en-IE" sz="2400">
                <a:solidFill>
                  <a:srgbClr val="0000FF"/>
                </a:solidFill>
                <a:effectLst/>
              </a:rPr>
              <a:t>10</a:t>
            </a:r>
            <a:r>
              <a:rPr lang="en-IE" sz="2400"/>
              <a:t>; i++)  {</a:t>
            </a:r>
            <a:br>
              <a:rPr lang="en-IE" sz="2400"/>
            </a:br>
            <a:r>
              <a:rPr lang="en-IE" sz="2400"/>
              <a:t>    n = </a:t>
            </a:r>
            <a:r>
              <a:rPr lang="en-IE" sz="2400" i="1">
                <a:solidFill>
                  <a:srgbClr val="660E7A"/>
                </a:solidFill>
                <a:effectLst/>
              </a:rPr>
              <a:t>input</a:t>
            </a:r>
            <a:r>
              <a:rPr lang="en-IE" sz="2400"/>
              <a:t>.nextInt();</a:t>
            </a:r>
            <a:br>
              <a:rPr lang="en-IE" sz="2400"/>
            </a:br>
            <a:r>
              <a:rPr lang="en-IE" sz="2400"/>
              <a:t>    sum += n;</a:t>
            </a:r>
            <a:br>
              <a:rPr lang="en-IE" sz="2400"/>
            </a:br>
            <a:r>
              <a:rPr lang="en-IE" sz="2400"/>
              <a:t>}</a:t>
            </a:r>
            <a:br>
              <a:rPr lang="en-IE" sz="2400"/>
            </a:br>
            <a:br>
              <a:rPr lang="en-IE" sz="2400"/>
            </a:br>
            <a:r>
              <a:rPr lang="en-IE" sz="2400"/>
              <a:t>System.</a:t>
            </a:r>
            <a:r>
              <a:rPr lang="en-IE" sz="2400" b="1" i="1">
                <a:solidFill>
                  <a:srgbClr val="660E7A"/>
                </a:solidFill>
                <a:effectLst/>
              </a:rPr>
              <a:t>out</a:t>
            </a:r>
            <a:r>
              <a:rPr lang="en-IE" sz="2400"/>
              <a:t>.println(</a:t>
            </a:r>
            <a:r>
              <a:rPr lang="en-IE" sz="2400" b="1">
                <a:solidFill>
                  <a:srgbClr val="008000"/>
                </a:solidFill>
                <a:effectLst/>
              </a:rPr>
              <a:t>"The sum of the values you typed in is : " </a:t>
            </a:r>
            <a:r>
              <a:rPr lang="en-IE" sz="2400"/>
              <a:t>+ sum);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9ABE52-4043-4518-AF2B-B1B8FB953F6A}"/>
              </a:ext>
            </a:extLst>
          </p:cNvPr>
          <p:cNvSpPr/>
          <p:nvPr/>
        </p:nvSpPr>
        <p:spPr>
          <a:xfrm flipV="1">
            <a:off x="1606062" y="4191000"/>
            <a:ext cx="4032738" cy="16002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TextBox 12"/>
          <p:cNvSpPr txBox="1"/>
          <p:nvPr/>
        </p:nvSpPr>
        <p:spPr>
          <a:xfrm>
            <a:off x="6019800" y="2057401"/>
            <a:ext cx="4457700" cy="221599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Notice that, </a:t>
            </a:r>
          </a:p>
          <a:p>
            <a:pPr algn="ctr"/>
            <a:r>
              <a:rPr lang="en-US" sz="2400" dirty="0"/>
              <a:t>each time a number is read in, </a:t>
            </a:r>
          </a:p>
          <a:p>
            <a:pPr algn="ctr"/>
            <a:r>
              <a:rPr lang="en-US" sz="2400" dirty="0"/>
              <a:t>it overwrites the value stored in </a:t>
            </a:r>
            <a:r>
              <a:rPr lang="en-US" sz="2400" b="1" dirty="0">
                <a:solidFill>
                  <a:srgbClr val="0070C0"/>
                </a:solidFill>
              </a:rPr>
              <a:t>n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  </a:t>
            </a:r>
            <a:endParaRPr lang="en-US" sz="2400" dirty="0">
              <a:solidFill>
                <a:schemeClr val="tx1"/>
              </a:solidFill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It doesn’t remember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the individual numbers typed in.</a:t>
            </a:r>
          </a:p>
        </p:txBody>
      </p:sp>
    </p:spTree>
    <p:extLst>
      <p:ext uri="{BB962C8B-B14F-4D97-AF65-F5344CB8AC3E}">
        <p14:creationId xmlns:p14="http://schemas.microsoft.com/office/powerpoint/2010/main" val="258472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Rule</a:t>
            </a:r>
            <a:r>
              <a:rPr lang="en-US" dirty="0"/>
              <a:t> – </a:t>
            </a:r>
            <a:r>
              <a:rPr lang="en-US" b="1" dirty="0"/>
              <a:t>Never lose input data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Always try to </a:t>
            </a:r>
            <a:r>
              <a:rPr lang="en-GB" b="1" dirty="0"/>
              <a:t>store</a:t>
            </a:r>
            <a:r>
              <a:rPr lang="en-GB" dirty="0"/>
              <a:t> input data for later use </a:t>
            </a:r>
            <a:br>
              <a:rPr lang="en-GB" dirty="0"/>
            </a:br>
            <a:endParaRPr lang="en-GB" dirty="0"/>
          </a:p>
          <a:p>
            <a:r>
              <a:rPr lang="en-GB" dirty="0"/>
              <a:t>In real-life systems, </a:t>
            </a:r>
            <a:br>
              <a:rPr lang="en-GB" dirty="0"/>
            </a:br>
            <a:r>
              <a:rPr lang="en-GB" dirty="0"/>
              <a:t>you nearly always need to use it again. </a:t>
            </a:r>
            <a:br>
              <a:rPr lang="en-GB" dirty="0"/>
            </a:br>
            <a:endParaRPr lang="en-GB" dirty="0"/>
          </a:p>
          <a:p>
            <a:r>
              <a:rPr lang="en-GB" dirty="0"/>
              <a:t>The previous code has NOT done this.</a:t>
            </a:r>
          </a:p>
          <a:p>
            <a:pPr lvl="1"/>
            <a:r>
              <a:rPr lang="en-GB" dirty="0"/>
              <a:t>Let’s try another way ... </a:t>
            </a:r>
            <a:endParaRPr lang="en-IE" dirty="0"/>
          </a:p>
          <a:p>
            <a:endParaRPr lang="en-US" dirty="0"/>
          </a:p>
        </p:txBody>
      </p:sp>
      <p:sp>
        <p:nvSpPr>
          <p:cNvPr id="4" name="5-Point Star 3"/>
          <p:cNvSpPr/>
          <p:nvPr/>
        </p:nvSpPr>
        <p:spPr>
          <a:xfrm>
            <a:off x="8915400" y="274638"/>
            <a:ext cx="990600" cy="9906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789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Remembering the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2072820"/>
            <a:ext cx="8915400" cy="40934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err="1"/>
              <a:t>int</a:t>
            </a:r>
            <a:r>
              <a:rPr lang="en-US" sz="2000" dirty="0"/>
              <a:t> n0,n1, n2, n3, n4, n5, n6, n7, n8, n9;</a:t>
            </a:r>
          </a:p>
          <a:p>
            <a:r>
              <a:rPr lang="en-US" sz="2000" dirty="0" err="1"/>
              <a:t>int</a:t>
            </a:r>
            <a:r>
              <a:rPr lang="en-US" sz="2000" dirty="0"/>
              <a:t> sum = 0;</a:t>
            </a:r>
          </a:p>
          <a:p>
            <a:endParaRPr lang="en-US" sz="2000" dirty="0"/>
          </a:p>
          <a:p>
            <a:r>
              <a:rPr lang="en-US" sz="2000" dirty="0"/>
              <a:t>n0 = </a:t>
            </a:r>
            <a:r>
              <a:rPr lang="en-US" sz="2000" dirty="0" err="1"/>
              <a:t>input.nextInt();</a:t>
            </a:r>
            <a:endParaRPr lang="en-US" sz="2000" dirty="0"/>
          </a:p>
          <a:p>
            <a:r>
              <a:rPr lang="en-US" sz="2000" dirty="0"/>
              <a:t>sum += n0;</a:t>
            </a:r>
          </a:p>
          <a:p>
            <a:endParaRPr lang="en-US" sz="2000" dirty="0"/>
          </a:p>
          <a:p>
            <a:r>
              <a:rPr lang="en-US" sz="2000" dirty="0"/>
              <a:t>n1 = </a:t>
            </a:r>
            <a:r>
              <a:rPr lang="en-US" sz="2000" dirty="0" err="1"/>
              <a:t>input.nextInt();</a:t>
            </a:r>
            <a:endParaRPr lang="en-US" sz="2000" dirty="0"/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//rest of code for n2 to n8</a:t>
            </a:r>
          </a:p>
          <a:p>
            <a:endParaRPr lang="en-US" sz="2000" dirty="0"/>
          </a:p>
          <a:p>
            <a:r>
              <a:rPr lang="en-US" sz="2000" dirty="0"/>
              <a:t>n9= </a:t>
            </a:r>
            <a:r>
              <a:rPr lang="en-US" sz="2000" dirty="0" err="1"/>
              <a:t>input.nextInt(); </a:t>
            </a:r>
          </a:p>
          <a:p>
            <a:r>
              <a:rPr lang="en-US" sz="2000" dirty="0"/>
              <a:t>sum += n9;</a:t>
            </a:r>
          </a:p>
          <a:p>
            <a:endParaRPr lang="en-US" sz="2000" dirty="0"/>
          </a:p>
          <a:p>
            <a:r>
              <a:rPr lang="en-US" sz="2000" dirty="0" err="1"/>
              <a:t>println</a:t>
            </a:r>
            <a:r>
              <a:rPr lang="en-US" sz="2000" dirty="0"/>
              <a:t>("The sum of the values you typed in is : " + sum);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549C18-A1D4-4E22-9C2C-130F5C88F7D2}"/>
              </a:ext>
            </a:extLst>
          </p:cNvPr>
          <p:cNvSpPr/>
          <p:nvPr/>
        </p:nvSpPr>
        <p:spPr>
          <a:xfrm>
            <a:off x="5867400" y="1524001"/>
            <a:ext cx="4724400" cy="95410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800" dirty="0"/>
              <a:t>This works in the sense that we have retained the input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549C18-A1D4-4E22-9C2C-130F5C88F7D2}"/>
              </a:ext>
            </a:extLst>
          </p:cNvPr>
          <p:cNvSpPr/>
          <p:nvPr/>
        </p:nvSpPr>
        <p:spPr>
          <a:xfrm>
            <a:off x="5881687" y="2418826"/>
            <a:ext cx="4724400" cy="138499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800" dirty="0"/>
              <a:t>BUT…we no longer use loops.</a:t>
            </a:r>
          </a:p>
          <a:p>
            <a:pPr algn="ctr"/>
            <a:endParaRPr lang="en-GB" sz="2800" dirty="0"/>
          </a:p>
          <a:p>
            <a:pPr algn="ctr"/>
            <a:endParaRPr lang="en-GB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549C18-A1D4-4E22-9C2C-130F5C88F7D2}"/>
              </a:ext>
            </a:extLst>
          </p:cNvPr>
          <p:cNvSpPr/>
          <p:nvPr/>
        </p:nvSpPr>
        <p:spPr>
          <a:xfrm>
            <a:off x="5881687" y="2824114"/>
            <a:ext cx="4724400" cy="138499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800" dirty="0"/>
              <a:t>Imagine the code if we had to read in 1,000 numbers?</a:t>
            </a:r>
          </a:p>
          <a:p>
            <a:pPr algn="ctr"/>
            <a:endParaRPr lang="en-GB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549C18-A1D4-4E22-9C2C-130F5C88F7D2}"/>
              </a:ext>
            </a:extLst>
          </p:cNvPr>
          <p:cNvSpPr/>
          <p:nvPr/>
        </p:nvSpPr>
        <p:spPr>
          <a:xfrm>
            <a:off x="5867400" y="4104144"/>
            <a:ext cx="4724400" cy="267765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sz="2800" dirty="0"/>
              <a:t>We need a new approach…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This is where </a:t>
            </a:r>
            <a:r>
              <a:rPr lang="en-GB" sz="2800" b="1" dirty="0"/>
              <a:t>data structures</a:t>
            </a:r>
            <a:r>
              <a:rPr lang="en-GB" sz="2800" dirty="0"/>
              <a:t> come in! 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/>
              <a:t>We will now look at </a:t>
            </a:r>
            <a:r>
              <a:rPr lang="en-GB" sz="2800" b="1" dirty="0"/>
              <a:t>arrays</a:t>
            </a:r>
            <a:r>
              <a:rPr lang="en-GB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098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Arrays</a:t>
            </a:r>
            <a:r>
              <a:rPr lang="en-US" dirty="0"/>
              <a:t> (fixed-size collections)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76400"/>
            <a:ext cx="8229600" cy="5105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Arrays are a way to collect associated values. 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Programming languages usually offer a special </a:t>
            </a:r>
            <a:r>
              <a:rPr lang="en-US" dirty="0">
                <a:solidFill>
                  <a:srgbClr val="FF0000"/>
                </a:solidFill>
              </a:rPr>
              <a:t>fixed-size collection </a:t>
            </a:r>
            <a:r>
              <a:rPr lang="en-US" dirty="0"/>
              <a:t>type: an </a:t>
            </a:r>
            <a:r>
              <a:rPr lang="en-US" i="1" dirty="0"/>
              <a:t>array</a:t>
            </a:r>
            <a:r>
              <a:rPr lang="en-US" dirty="0"/>
              <a:t>.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Java arrays can store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objects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primitive-type values.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Arrays use a special syntax.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412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Primitive types</a:t>
            </a: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2835663" y="5410200"/>
            <a:ext cx="7620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1" hangingPunct="1"/>
            <a:r>
              <a:rPr lang="en-GB" sz="4000" dirty="0">
                <a:latin typeface="Trebuchet MS" pitchFamily="-32" charset="0"/>
              </a:rPr>
              <a:t>17</a:t>
            </a:r>
          </a:p>
        </p:txBody>
      </p:sp>
      <p:sp>
        <p:nvSpPr>
          <p:cNvPr id="3081" name="Text Box 10"/>
          <p:cNvSpPr txBox="1">
            <a:spLocks noChangeArrowheads="1"/>
          </p:cNvSpPr>
          <p:nvPr/>
        </p:nvSpPr>
        <p:spPr bwMode="auto">
          <a:xfrm>
            <a:off x="2147776" y="1828800"/>
            <a:ext cx="2470053" cy="5232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b="0" dirty="0">
                <a:solidFill>
                  <a:srgbClr val="C00000"/>
                </a:solidFill>
                <a:latin typeface="Trebuchet MS" pitchFamily="-32" charset="0"/>
              </a:rPr>
              <a:t>Primitive type</a:t>
            </a:r>
          </a:p>
        </p:txBody>
      </p:sp>
      <p:sp>
        <p:nvSpPr>
          <p:cNvPr id="3083" name="Text Box 12"/>
          <p:cNvSpPr txBox="1">
            <a:spLocks noChangeArrowheads="1"/>
          </p:cNvSpPr>
          <p:nvPr/>
        </p:nvSpPr>
        <p:spPr bwMode="auto">
          <a:xfrm>
            <a:off x="2112641" y="2617113"/>
            <a:ext cx="29927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 err="1">
                <a:latin typeface="Courier New" pitchFamily="-32" charset="0"/>
              </a:rPr>
              <a:t>int</a:t>
            </a:r>
            <a:r>
              <a:rPr lang="en-GB" sz="2800" dirty="0">
                <a:latin typeface="Courier New" pitchFamily="-32" charset="0"/>
              </a:rPr>
              <a:t> </a:t>
            </a:r>
            <a:r>
              <a:rPr lang="en-GB" sz="2800" dirty="0" err="1">
                <a:latin typeface="Courier New" pitchFamily="-32" charset="0"/>
              </a:rPr>
              <a:t>num</a:t>
            </a:r>
            <a:r>
              <a:rPr lang="en-GB" sz="2800" dirty="0">
                <a:latin typeface="Courier New" pitchFamily="-32" charset="0"/>
              </a:rPr>
              <a:t> = 17;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F515F851-7DF3-40AD-B332-C0B11289F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0342" y="4191001"/>
            <a:ext cx="2940259" cy="95410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algn="ctr" eaLnBrk="1" hangingPunct="1"/>
            <a:r>
              <a:rPr lang="en-GB" sz="2800" b="0" dirty="0">
                <a:solidFill>
                  <a:srgbClr val="C00000"/>
                </a:solidFill>
                <a:latin typeface="Trebuchet MS" pitchFamily="-32" charset="0"/>
              </a:rPr>
              <a:t>Directly stored in memory…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98445D4-7CF0-4AAD-9CD0-4C7572FD768F}"/>
              </a:ext>
            </a:extLst>
          </p:cNvPr>
          <p:cNvSpPr/>
          <p:nvPr/>
        </p:nvSpPr>
        <p:spPr>
          <a:xfrm>
            <a:off x="6096000" y="1676401"/>
            <a:ext cx="4191000" cy="470296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We are now going to look at a </a:t>
            </a:r>
            <a:r>
              <a:rPr lang="en-GB" sz="2400" b="1" dirty="0"/>
              <a:t>structure</a:t>
            </a:r>
            <a:r>
              <a:rPr lang="en-GB" sz="2400" dirty="0"/>
              <a:t> that can </a:t>
            </a:r>
            <a:r>
              <a:rPr lang="en-GB" sz="2400" b="1" dirty="0"/>
              <a:t>store many values </a:t>
            </a:r>
            <a:r>
              <a:rPr lang="en-GB" sz="2400" dirty="0"/>
              <a:t>of the </a:t>
            </a:r>
            <a:r>
              <a:rPr lang="en-GB" sz="2400" b="1" dirty="0"/>
              <a:t>same type</a:t>
            </a:r>
            <a:r>
              <a:rPr lang="en-GB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Imagine a structure made up of sub-divisions or sections</a:t>
            </a:r>
            <a:r>
              <a:rPr lang="mr-IN" sz="2400" dirty="0"/>
              <a:t>…</a:t>
            </a:r>
            <a:br>
              <a:rPr lang="en-IE" sz="2400" dirty="0"/>
            </a:b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Such a structure is called an </a:t>
            </a:r>
            <a:r>
              <a:rPr lang="en-GB" sz="2400" b="1" dirty="0"/>
              <a:t>array</a:t>
            </a:r>
            <a:r>
              <a:rPr lang="en-GB" sz="2400" dirty="0"/>
              <a:t> and would look like: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42373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animBg="1"/>
      <p:bldP spid="3081" grpId="0" animBg="1"/>
      <p:bldP spid="3083" grpId="0"/>
      <p:bldP spid="12" grpId="0" animBg="1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Structure of a primitive array</a:t>
            </a:r>
          </a:p>
        </p:txBody>
      </p:sp>
      <p:pic>
        <p:nvPicPr>
          <p:cNvPr id="4098" name="Picture 2" descr="Illustration of an array as 10 boxes numbered 0 through 9; an index of 0 indicates the first element in the arra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2209800"/>
            <a:ext cx="7616921" cy="28194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89160" y="6488668"/>
            <a:ext cx="861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dirty="0">
                <a:hlinkClick r:id="rId3"/>
              </a:rPr>
              <a:t>http://docs.oracle.com/javase/tutorial/java/nutsandbolts/arrays.html</a:t>
            </a:r>
            <a:r>
              <a:rPr lang="en-I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4717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1" y="1713934"/>
            <a:ext cx="240033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 err="1"/>
              <a:t>int</a:t>
            </a:r>
            <a:r>
              <a:rPr lang="en-GB" sz="2800" b="1" dirty="0"/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A2803B-E7A2-4954-9E5C-37FD263AA316}"/>
              </a:ext>
            </a:extLst>
          </p:cNvPr>
          <p:cNvSpPr txBox="1"/>
          <p:nvPr/>
        </p:nvSpPr>
        <p:spPr>
          <a:xfrm>
            <a:off x="6739006" y="235844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null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438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169205"/>
              </p:ext>
            </p:extLst>
          </p:nvPr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EEE004B-0225-472D-BF88-0869C903969C}"/>
              </a:ext>
            </a:extLst>
          </p:cNvPr>
          <p:cNvSpPr/>
          <p:nvPr/>
        </p:nvSpPr>
        <p:spPr>
          <a:xfrm>
            <a:off x="1600201" y="2667000"/>
            <a:ext cx="3483839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 = new </a:t>
            </a:r>
            <a:r>
              <a:rPr lang="en-GB" sz="2800" b="1" dirty="0" err="1"/>
              <a:t>int</a:t>
            </a:r>
            <a:r>
              <a:rPr lang="en-GB" sz="2800" b="1" dirty="0"/>
              <a:t>[4];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130050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1890A5C-0042-41EC-A97E-63251CA16A2B}"/>
              </a:ext>
            </a:extLst>
          </p:cNvPr>
          <p:cNvSpPr/>
          <p:nvPr/>
        </p:nvSpPr>
        <p:spPr>
          <a:xfrm>
            <a:off x="1600201" y="2667000"/>
            <a:ext cx="3483839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 = new </a:t>
            </a:r>
            <a:r>
              <a:rPr lang="en-GB" sz="2800" b="1" dirty="0" err="1"/>
              <a:t>int</a:t>
            </a:r>
            <a:r>
              <a:rPr lang="en-GB" sz="2800" b="1" dirty="0"/>
              <a:t>[4];</a:t>
            </a:r>
            <a:endParaRPr lang="en-IE" sz="28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C1F11D-8D3D-4478-B415-16F739E51BCF}"/>
              </a:ext>
            </a:extLst>
          </p:cNvPr>
          <p:cNvSpPr/>
          <p:nvPr/>
        </p:nvSpPr>
        <p:spPr>
          <a:xfrm>
            <a:off x="1600201" y="3620066"/>
            <a:ext cx="3483838" cy="285693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000" dirty="0"/>
              <a:t>We have declared an array of </a:t>
            </a:r>
            <a:r>
              <a:rPr lang="en-IE" sz="2000" dirty="0" err="1"/>
              <a:t>int</a:t>
            </a:r>
            <a:r>
              <a:rPr lang="en-IE" sz="2000" dirty="0"/>
              <a:t>, with a capacity of four. </a:t>
            </a:r>
          </a:p>
          <a:p>
            <a:pPr algn="ctr"/>
            <a:endParaRPr lang="en-IE" sz="2000" dirty="0"/>
          </a:p>
          <a:p>
            <a:pPr algn="ctr"/>
            <a:r>
              <a:rPr lang="en-IE" sz="2000" dirty="0"/>
              <a:t>Each element is of type </a:t>
            </a:r>
            <a:r>
              <a:rPr lang="en-IE" sz="2000" b="1" dirty="0"/>
              <a:t>int</a:t>
            </a:r>
            <a:r>
              <a:rPr lang="en-IE" sz="2000" dirty="0"/>
              <a:t>.</a:t>
            </a:r>
          </a:p>
          <a:p>
            <a:pPr algn="ctr"/>
            <a:endParaRPr lang="en-IE" sz="2000" dirty="0"/>
          </a:p>
          <a:p>
            <a:pPr algn="ctr"/>
            <a:r>
              <a:rPr lang="en-IE" sz="2000" dirty="0"/>
              <a:t>The array is called </a:t>
            </a:r>
            <a:r>
              <a:rPr lang="en-IE" sz="2000" b="1" dirty="0"/>
              <a:t>numbers</a:t>
            </a:r>
            <a:r>
              <a:rPr lang="en-IE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2018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8B2E9D6B-CAED-4A70-BB33-7EEDCB9DCA73}"/>
              </a:ext>
            </a:extLst>
          </p:cNvPr>
          <p:cNvSpPr/>
          <p:nvPr/>
        </p:nvSpPr>
        <p:spPr>
          <a:xfrm>
            <a:off x="6934200" y="3505200"/>
            <a:ext cx="1066800" cy="2286000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5BC3C9-2ED5-4BCD-8FEE-7FDB53BA9C6E}"/>
              </a:ext>
            </a:extLst>
          </p:cNvPr>
          <p:cNvSpPr/>
          <p:nvPr/>
        </p:nvSpPr>
        <p:spPr>
          <a:xfrm>
            <a:off x="5943600" y="5867400"/>
            <a:ext cx="2971800" cy="762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Index of each element in the array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AC4C9A-5A77-4D71-8DE6-19E3861EB56E}"/>
              </a:ext>
            </a:extLst>
          </p:cNvPr>
          <p:cNvSpPr/>
          <p:nvPr/>
        </p:nvSpPr>
        <p:spPr>
          <a:xfrm>
            <a:off x="1600201" y="2667000"/>
            <a:ext cx="3483839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 = new </a:t>
            </a:r>
            <a:r>
              <a:rPr lang="en-GB" sz="2800" b="1" dirty="0" err="1"/>
              <a:t>int</a:t>
            </a:r>
            <a:r>
              <a:rPr lang="en-GB" sz="2800" b="1" dirty="0"/>
              <a:t>[4];</a:t>
            </a:r>
            <a:endParaRPr lang="en-IE" sz="2800" b="1" dirty="0"/>
          </a:p>
        </p:txBody>
      </p:sp>
    </p:spTree>
    <p:extLst>
      <p:ext uri="{BB962C8B-B14F-4D97-AF65-F5344CB8AC3E}">
        <p14:creationId xmlns:p14="http://schemas.microsoft.com/office/powerpoint/2010/main" val="2909188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5BC3C9-2ED5-4BCD-8FEE-7FDB53BA9C6E}"/>
              </a:ext>
            </a:extLst>
          </p:cNvPr>
          <p:cNvSpPr/>
          <p:nvPr/>
        </p:nvSpPr>
        <p:spPr>
          <a:xfrm>
            <a:off x="6858000" y="5867400"/>
            <a:ext cx="3352800" cy="88589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Default value for each element of type </a:t>
            </a:r>
            <a:r>
              <a:rPr lang="en-IE" sz="2400" b="1" dirty="0"/>
              <a:t>int</a:t>
            </a:r>
            <a:r>
              <a:rPr lang="en-IE" sz="2400" dirty="0"/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4E820C-7FD4-4EDA-BCCA-847FF738165D}"/>
              </a:ext>
            </a:extLst>
          </p:cNvPr>
          <p:cNvSpPr/>
          <p:nvPr/>
        </p:nvSpPr>
        <p:spPr>
          <a:xfrm>
            <a:off x="1600201" y="2667000"/>
            <a:ext cx="3483839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 = new </a:t>
            </a:r>
            <a:r>
              <a:rPr lang="en-GB" sz="2800" b="1" dirty="0" err="1"/>
              <a:t>int</a:t>
            </a:r>
            <a:r>
              <a:rPr lang="en-GB" sz="2800" b="1" dirty="0"/>
              <a:t>[4];</a:t>
            </a:r>
            <a:endParaRPr lang="en-IE" sz="2800" b="1" dirty="0"/>
          </a:p>
        </p:txBody>
      </p:sp>
      <p:sp>
        <p:nvSpPr>
          <p:cNvPr id="12" name="Donut 11"/>
          <p:cNvSpPr/>
          <p:nvPr/>
        </p:nvSpPr>
        <p:spPr>
          <a:xfrm>
            <a:off x="8141926" y="3380443"/>
            <a:ext cx="849675" cy="2316162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44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549756"/>
              </p:ext>
            </p:extLst>
          </p:nvPr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BAC8DC-59DC-4BD5-9310-47CFC5E3D4C8}"/>
              </a:ext>
            </a:extLst>
          </p:cNvPr>
          <p:cNvSpPr/>
          <p:nvPr/>
        </p:nvSpPr>
        <p:spPr>
          <a:xfrm>
            <a:off x="1933797" y="3657600"/>
            <a:ext cx="272587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numbers[2] = 18;</a:t>
            </a:r>
            <a:endParaRPr lang="en-IE" sz="28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294C33-B37D-4AD0-8F43-3767EAC60CE5}"/>
              </a:ext>
            </a:extLst>
          </p:cNvPr>
          <p:cNvSpPr/>
          <p:nvPr/>
        </p:nvSpPr>
        <p:spPr>
          <a:xfrm>
            <a:off x="1676401" y="2667000"/>
            <a:ext cx="3411511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53B81F-ABB3-4085-B8E6-93B2CCABBBDA}"/>
              </a:ext>
            </a:extLst>
          </p:cNvPr>
          <p:cNvSpPr/>
          <p:nvPr/>
        </p:nvSpPr>
        <p:spPr>
          <a:xfrm>
            <a:off x="1981200" y="4495800"/>
            <a:ext cx="2921794" cy="1981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directly accessing the element at index </a:t>
            </a:r>
            <a:r>
              <a:rPr lang="en-IE" sz="2400" b="1" dirty="0"/>
              <a:t>2</a:t>
            </a:r>
            <a:r>
              <a:rPr lang="en-IE" sz="2400" dirty="0"/>
              <a:t> and setting it to a value of </a:t>
            </a:r>
            <a:r>
              <a:rPr lang="en-IE" sz="2400" b="1" dirty="0"/>
              <a:t>18</a:t>
            </a:r>
            <a:r>
              <a:rPr lang="en-IE" sz="2400" dirty="0"/>
              <a:t>.</a:t>
            </a:r>
          </a:p>
        </p:txBody>
      </p:sp>
      <p:sp>
        <p:nvSpPr>
          <p:cNvPr id="16" name="Donut 15"/>
          <p:cNvSpPr/>
          <p:nvPr/>
        </p:nvSpPr>
        <p:spPr>
          <a:xfrm>
            <a:off x="6781800" y="4616448"/>
            <a:ext cx="2819400" cy="509521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87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221398"/>
              </p:ext>
            </p:extLst>
          </p:nvPr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F374B64-6BC7-42EC-8C09-493550023041}"/>
              </a:ext>
            </a:extLst>
          </p:cNvPr>
          <p:cNvSpPr/>
          <p:nvPr/>
        </p:nvSpPr>
        <p:spPr>
          <a:xfrm>
            <a:off x="1905000" y="4658380"/>
            <a:ext cx="272587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numbers[0] = 12;</a:t>
            </a:r>
            <a:endParaRPr lang="en-IE" sz="28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F5FC9E-82FB-4509-9783-9F3D9B5246D3}"/>
              </a:ext>
            </a:extLst>
          </p:cNvPr>
          <p:cNvSpPr/>
          <p:nvPr/>
        </p:nvSpPr>
        <p:spPr>
          <a:xfrm>
            <a:off x="1676401" y="2667000"/>
            <a:ext cx="3411511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084A7C-13AA-4193-880D-38973F9A4D1B}"/>
              </a:ext>
            </a:extLst>
          </p:cNvPr>
          <p:cNvSpPr/>
          <p:nvPr/>
        </p:nvSpPr>
        <p:spPr>
          <a:xfrm>
            <a:off x="1933798" y="3657600"/>
            <a:ext cx="268560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numbers[2] = 18;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FEE5B-B7DB-4364-8031-BB5CD89E9089}"/>
              </a:ext>
            </a:extLst>
          </p:cNvPr>
          <p:cNvSpPr/>
          <p:nvPr/>
        </p:nvSpPr>
        <p:spPr>
          <a:xfrm>
            <a:off x="1878806" y="5410200"/>
            <a:ext cx="2921794" cy="114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We are setting the element at index </a:t>
            </a:r>
            <a:r>
              <a:rPr lang="en-IE" sz="2400" b="1" dirty="0"/>
              <a:t>0</a:t>
            </a:r>
            <a:r>
              <a:rPr lang="en-IE" sz="2400" dirty="0"/>
              <a:t> and to a value of </a:t>
            </a:r>
            <a:r>
              <a:rPr lang="en-IE" sz="2400" b="1" dirty="0"/>
              <a:t>12</a:t>
            </a:r>
            <a:r>
              <a:rPr lang="en-IE" sz="2400" dirty="0"/>
              <a:t>.</a:t>
            </a:r>
          </a:p>
        </p:txBody>
      </p:sp>
      <p:sp>
        <p:nvSpPr>
          <p:cNvPr id="21" name="Donut 20"/>
          <p:cNvSpPr/>
          <p:nvPr/>
        </p:nvSpPr>
        <p:spPr>
          <a:xfrm>
            <a:off x="6858000" y="3733802"/>
            <a:ext cx="2590800" cy="447019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62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Structure of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057400" y="1713934"/>
            <a:ext cx="2345642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[]  numbers;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066" y="2276406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925" y="1731755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5181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7086601" y="3733800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7006066" y="2543106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7F374B64-6BC7-42EC-8C09-493550023041}"/>
              </a:ext>
            </a:extLst>
          </p:cNvPr>
          <p:cNvSpPr/>
          <p:nvPr/>
        </p:nvSpPr>
        <p:spPr>
          <a:xfrm>
            <a:off x="1905001" y="4658380"/>
            <a:ext cx="268560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numbers[0] = 12;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F5FC9E-82FB-4509-9783-9F3D9B5246D3}"/>
              </a:ext>
            </a:extLst>
          </p:cNvPr>
          <p:cNvSpPr/>
          <p:nvPr/>
        </p:nvSpPr>
        <p:spPr>
          <a:xfrm>
            <a:off x="1676401" y="2667000"/>
            <a:ext cx="3411511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 = new </a:t>
            </a:r>
            <a:r>
              <a:rPr lang="en-GB" sz="2800" dirty="0" err="1">
                <a:solidFill>
                  <a:schemeClr val="bg1">
                    <a:lumMod val="6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[4];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084A7C-13AA-4193-880D-38973F9A4D1B}"/>
              </a:ext>
            </a:extLst>
          </p:cNvPr>
          <p:cNvSpPr/>
          <p:nvPr/>
        </p:nvSpPr>
        <p:spPr>
          <a:xfrm>
            <a:off x="1933798" y="3657600"/>
            <a:ext cx="2685607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dirty="0">
                <a:solidFill>
                  <a:schemeClr val="bg1">
                    <a:lumMod val="65000"/>
                  </a:schemeClr>
                </a:solidFill>
              </a:rPr>
              <a:t>numbers[2] = 18;</a:t>
            </a:r>
            <a:endParaRPr lang="en-I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FEE5B-B7DB-4364-8031-BB5CD89E9089}"/>
              </a:ext>
            </a:extLst>
          </p:cNvPr>
          <p:cNvSpPr/>
          <p:nvPr/>
        </p:nvSpPr>
        <p:spPr>
          <a:xfrm>
            <a:off x="5503695" y="5638869"/>
            <a:ext cx="4859505" cy="114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400" dirty="0"/>
              <a:t>Here we are printing the contents of index location 2 </a:t>
            </a:r>
            <a:br>
              <a:rPr lang="en-IE" sz="2400" dirty="0"/>
            </a:br>
            <a:r>
              <a:rPr lang="en-IE" sz="2400" dirty="0"/>
              <a:t>i.e. 18 will be printed to the console.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A44A42-7850-424F-8580-12BEFA62B01D}"/>
              </a:ext>
            </a:extLst>
          </p:cNvPr>
          <p:cNvSpPr/>
          <p:nvPr/>
        </p:nvSpPr>
        <p:spPr>
          <a:xfrm>
            <a:off x="1828062" y="5682972"/>
            <a:ext cx="2964594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2800" b="1" dirty="0"/>
              <a:t>print(numbers[2]);</a:t>
            </a:r>
            <a:endParaRPr lang="en-IE" sz="2800" b="1" dirty="0"/>
          </a:p>
        </p:txBody>
      </p:sp>
      <p:sp>
        <p:nvSpPr>
          <p:cNvPr id="19" name="Donut 18"/>
          <p:cNvSpPr/>
          <p:nvPr/>
        </p:nvSpPr>
        <p:spPr>
          <a:xfrm>
            <a:off x="6858000" y="4616448"/>
            <a:ext cx="2667001" cy="509521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751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Declaring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514600" y="1676400"/>
            <a:ext cx="3581400" cy="173893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 err="1">
                <a:solidFill>
                  <a:schemeClr val="tx1"/>
                </a:solidFill>
              </a:rPr>
              <a:t>int</a:t>
            </a:r>
            <a:r>
              <a:rPr lang="en-GB" sz="2800" b="1" dirty="0">
                <a:solidFill>
                  <a:schemeClr val="tx1"/>
                </a:solidFill>
              </a:rPr>
              <a:t>[]  numbers;</a:t>
            </a:r>
          </a:p>
          <a:p>
            <a:endParaRPr lang="en-GB" sz="11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//</a:t>
            </a:r>
            <a:r>
              <a:rPr lang="en-GB" sz="2800" dirty="0" err="1">
                <a:solidFill>
                  <a:schemeClr val="bg1">
                    <a:lumMod val="50000"/>
                  </a:schemeClr>
                </a:solidFill>
              </a:rPr>
              <a:t>somecode</a:t>
            </a:r>
            <a:endParaRPr lang="en-GB" sz="280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GB" sz="1050" b="1" dirty="0">
              <a:solidFill>
                <a:schemeClr val="tx1"/>
              </a:solidFill>
            </a:endParaRPr>
          </a:p>
          <a:p>
            <a:r>
              <a:rPr lang="en-GB" sz="2800" b="1" dirty="0">
                <a:solidFill>
                  <a:schemeClr val="tx1"/>
                </a:solidFill>
              </a:rPr>
              <a:t>numbers = new </a:t>
            </a:r>
            <a:r>
              <a:rPr lang="en-GB" sz="2800" b="1" dirty="0" err="1">
                <a:solidFill>
                  <a:schemeClr val="tx1"/>
                </a:solidFill>
              </a:rPr>
              <a:t>int</a:t>
            </a:r>
            <a:r>
              <a:rPr lang="en-GB" sz="2800" b="1" dirty="0">
                <a:solidFill>
                  <a:schemeClr val="tx1"/>
                </a:solidFill>
              </a:rPr>
              <a:t>[4];</a:t>
            </a:r>
            <a:endParaRPr lang="en-IE" sz="2800" b="1" dirty="0">
              <a:solidFill>
                <a:schemeClr val="tx1"/>
              </a:solidFill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1865" y="2678251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3724" y="2133600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7086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/>
        </p:nvGraphicFramePr>
        <p:xfrm>
          <a:off x="8153400" y="413564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8072865" y="2944951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row: Up 9">
            <a:extLst>
              <a:ext uri="{FF2B5EF4-FFF2-40B4-BE49-F238E27FC236}">
                <a16:creationId xmlns:a16="http://schemas.microsoft.com/office/drawing/2014/main" id="{014EE337-DB19-4609-ABB7-FB0AEFB3224B}"/>
              </a:ext>
            </a:extLst>
          </p:cNvPr>
          <p:cNvSpPr/>
          <p:nvPr/>
        </p:nvSpPr>
        <p:spPr>
          <a:xfrm>
            <a:off x="1618821" y="3674101"/>
            <a:ext cx="5257800" cy="2971799"/>
          </a:xfrm>
          <a:prstGeom prst="upArrow">
            <a:avLst>
              <a:gd name="adj1" fmla="val 50000"/>
              <a:gd name="adj2" fmla="val 4758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This is how we previously declared our array of four</a:t>
            </a:r>
            <a:r>
              <a:rPr lang="en-IE" sz="2800" b="1" dirty="0"/>
              <a:t> </a:t>
            </a:r>
            <a:r>
              <a:rPr lang="en-IE" sz="2800" b="1" dirty="0" err="1"/>
              <a:t>int</a:t>
            </a:r>
            <a:r>
              <a:rPr lang="en-IE" sz="2800" dirty="0"/>
              <a:t>, called </a:t>
            </a:r>
            <a:r>
              <a:rPr lang="en-IE" sz="2800" b="1" dirty="0"/>
              <a:t>numbers</a:t>
            </a:r>
            <a:r>
              <a:rPr lang="en-IE" sz="2800" dirty="0"/>
              <a:t>.</a:t>
            </a:r>
          </a:p>
        </p:txBody>
      </p:sp>
      <p:sp>
        <p:nvSpPr>
          <p:cNvPr id="11" name="Donut 10"/>
          <p:cNvSpPr/>
          <p:nvPr/>
        </p:nvSpPr>
        <p:spPr>
          <a:xfrm>
            <a:off x="1612195" y="1417638"/>
            <a:ext cx="5224670" cy="2256462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5-Point Star 12"/>
          <p:cNvSpPr/>
          <p:nvPr/>
        </p:nvSpPr>
        <p:spPr>
          <a:xfrm>
            <a:off x="1612196" y="609600"/>
            <a:ext cx="1138665" cy="1066800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838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Declaring a primitive array</a:t>
            </a:r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F7EA93-B44B-4A4E-9E6B-B94903E49E4C}"/>
              </a:ext>
            </a:extLst>
          </p:cNvPr>
          <p:cNvSpPr/>
          <p:nvPr/>
        </p:nvSpPr>
        <p:spPr>
          <a:xfrm>
            <a:off x="2514600" y="1676400"/>
            <a:ext cx="3581400" cy="173893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dirty="0" err="1">
                <a:solidFill>
                  <a:schemeClr val="bg1">
                    <a:lumMod val="7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75000"/>
                  </a:schemeClr>
                </a:solidFill>
              </a:rPr>
              <a:t>[]  numbers;</a:t>
            </a:r>
          </a:p>
          <a:p>
            <a:endParaRPr lang="en-GB" sz="11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GB" sz="2800" dirty="0">
                <a:solidFill>
                  <a:schemeClr val="bg1">
                    <a:lumMod val="75000"/>
                  </a:schemeClr>
                </a:solidFill>
              </a:rPr>
              <a:t>//</a:t>
            </a:r>
            <a:r>
              <a:rPr lang="en-GB" sz="2800" dirty="0" err="1">
                <a:solidFill>
                  <a:schemeClr val="bg1">
                    <a:lumMod val="75000"/>
                  </a:schemeClr>
                </a:solidFill>
              </a:rPr>
              <a:t>somecode</a:t>
            </a:r>
            <a:endParaRPr lang="en-GB" sz="2800" dirty="0">
              <a:solidFill>
                <a:schemeClr val="bg1">
                  <a:lumMod val="75000"/>
                </a:schemeClr>
              </a:solidFill>
            </a:endParaRPr>
          </a:p>
          <a:p>
            <a:endParaRPr lang="en-GB" sz="105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GB" sz="2800" dirty="0">
                <a:solidFill>
                  <a:schemeClr val="bg1">
                    <a:lumMod val="75000"/>
                  </a:schemeClr>
                </a:solidFill>
              </a:rPr>
              <a:t>numbers = new </a:t>
            </a:r>
            <a:r>
              <a:rPr lang="en-GB" sz="2800" dirty="0" err="1">
                <a:solidFill>
                  <a:schemeClr val="bg1">
                    <a:lumMod val="75000"/>
                  </a:schemeClr>
                </a:solidFill>
              </a:rPr>
              <a:t>int</a:t>
            </a:r>
            <a:r>
              <a:rPr lang="en-GB" sz="2800" dirty="0">
                <a:solidFill>
                  <a:schemeClr val="bg1">
                    <a:lumMod val="75000"/>
                  </a:schemeClr>
                </a:solidFill>
              </a:rPr>
              <a:t>[4];</a:t>
            </a:r>
            <a:endParaRPr lang="en-IE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FBFD3A2D-FE4D-4B00-B298-A720C5FC1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1865" y="2678251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A11F9141-ED94-4AF8-8E9C-6B257DD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3724" y="2133600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numbers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A041949-519F-45B3-B942-2E85729C0E5B}"/>
              </a:ext>
            </a:extLst>
          </p:cNvPr>
          <p:cNvCxnSpPr/>
          <p:nvPr/>
        </p:nvCxnSpPr>
        <p:spPr>
          <a:xfrm>
            <a:off x="7086600" y="1447800"/>
            <a:ext cx="0" cy="5516562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ECF9212-2D61-43FF-9314-EB9950086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899291"/>
              </p:ext>
            </p:extLst>
          </p:nvPr>
        </p:nvGraphicFramePr>
        <p:xfrm>
          <a:off x="8153400" y="4135645"/>
          <a:ext cx="2209801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524001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74610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>
            <a:endCxn id="9" idx="0"/>
          </p:cNvCxnSpPr>
          <p:nvPr/>
        </p:nvCxnSpPr>
        <p:spPr>
          <a:xfrm>
            <a:off x="8072865" y="2944951"/>
            <a:ext cx="1185434" cy="1190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row: Down 9">
            <a:extLst>
              <a:ext uri="{FF2B5EF4-FFF2-40B4-BE49-F238E27FC236}">
                <a16:creationId xmlns:a16="http://schemas.microsoft.com/office/drawing/2014/main" id="{014EE337-DB19-4609-ABB7-FB0AEFB3224B}"/>
              </a:ext>
            </a:extLst>
          </p:cNvPr>
          <p:cNvSpPr/>
          <p:nvPr/>
        </p:nvSpPr>
        <p:spPr>
          <a:xfrm>
            <a:off x="1828800" y="3733800"/>
            <a:ext cx="5105400" cy="1828800"/>
          </a:xfrm>
          <a:prstGeom prst="down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dirty="0"/>
              <a:t>We can also declare it like this…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92A0DC-5E11-47CF-8C0F-DE8C4AFFE743}"/>
              </a:ext>
            </a:extLst>
          </p:cNvPr>
          <p:cNvSpPr/>
          <p:nvPr/>
        </p:nvSpPr>
        <p:spPr>
          <a:xfrm>
            <a:off x="2133600" y="5801380"/>
            <a:ext cx="4419600" cy="52322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800" b="1" dirty="0" err="1">
                <a:solidFill>
                  <a:schemeClr val="tx1"/>
                </a:solidFill>
              </a:rPr>
              <a:t>int</a:t>
            </a:r>
            <a:r>
              <a:rPr lang="en-GB" sz="2800" b="1" dirty="0">
                <a:solidFill>
                  <a:schemeClr val="tx1"/>
                </a:solidFill>
              </a:rPr>
              <a:t>[]  numbers = new </a:t>
            </a:r>
            <a:r>
              <a:rPr lang="en-GB" sz="2800" b="1" dirty="0" err="1">
                <a:solidFill>
                  <a:schemeClr val="tx1"/>
                </a:solidFill>
              </a:rPr>
              <a:t>int</a:t>
            </a:r>
            <a:r>
              <a:rPr lang="en-GB" sz="2800" b="1" dirty="0">
                <a:solidFill>
                  <a:schemeClr val="tx1"/>
                </a:solidFill>
              </a:rPr>
              <a:t>[4];</a:t>
            </a:r>
            <a:endParaRPr lang="en-IE" sz="2800" b="1" dirty="0">
              <a:solidFill>
                <a:schemeClr val="tx1"/>
              </a:solidFill>
            </a:endParaRPr>
          </a:p>
        </p:txBody>
      </p:sp>
      <p:sp>
        <p:nvSpPr>
          <p:cNvPr id="12" name="Donut 11"/>
          <p:cNvSpPr/>
          <p:nvPr/>
        </p:nvSpPr>
        <p:spPr>
          <a:xfrm>
            <a:off x="1709530" y="5562600"/>
            <a:ext cx="5224670" cy="10668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5-Point Star 2"/>
          <p:cNvSpPr/>
          <p:nvPr/>
        </p:nvSpPr>
        <p:spPr>
          <a:xfrm>
            <a:off x="6788938" y="5347662"/>
            <a:ext cx="1138665" cy="1066800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96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09800" y="241617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IE" dirty="0">
                <a:solidFill>
                  <a:srgbClr val="C00000"/>
                </a:solidFill>
              </a:rPr>
              <a:t>Returning to our method </a:t>
            </a:r>
            <a:br>
              <a:rPr lang="en-IE" dirty="0">
                <a:solidFill>
                  <a:srgbClr val="C00000"/>
                </a:solidFill>
              </a:rPr>
            </a:br>
            <a:r>
              <a:rPr lang="en-IE" dirty="0">
                <a:solidFill>
                  <a:srgbClr val="C00000"/>
                </a:solidFill>
              </a:rPr>
              <a:t>that reads in, and sums, 10 numbers (typed in from the keyboard)…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2667000" y="4495800"/>
            <a:ext cx="7162800" cy="1219200"/>
          </a:xfrm>
        </p:spPr>
        <p:txBody>
          <a:bodyPr/>
          <a:lstStyle/>
          <a:p>
            <a:r>
              <a:rPr lang="en-IE" dirty="0">
                <a:solidFill>
                  <a:srgbClr val="0070C0"/>
                </a:solidFill>
              </a:rPr>
              <a:t>and converting it to use primitive arrays…</a:t>
            </a:r>
          </a:p>
        </p:txBody>
      </p:sp>
    </p:spTree>
    <p:extLst>
      <p:ext uri="{BB962C8B-B14F-4D97-AF65-F5344CB8AC3E}">
        <p14:creationId xmlns:p14="http://schemas.microsoft.com/office/powerpoint/2010/main" val="681360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Version that doesn’t save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2600" y="1676401"/>
            <a:ext cx="8839200" cy="5262979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>
                <a:solidFill>
                  <a:srgbClr val="000080"/>
                </a:solidFill>
                <a:effectLst/>
              </a:rPr>
              <a:t>import </a:t>
            </a:r>
            <a:r>
              <a:rPr lang="en-IE" sz="2400"/>
              <a:t>java.util.Scanner;</a:t>
            </a:r>
            <a:br>
              <a:rPr lang="en-IE" sz="2400"/>
            </a:br>
            <a:r>
              <a:rPr lang="en-IE" sz="2400"/>
              <a:t> :</a:t>
            </a:r>
          </a:p>
          <a:p>
            <a:r>
              <a:rPr lang="en-IE" sz="2400"/>
              <a:t>Scanner </a:t>
            </a:r>
            <a:r>
              <a:rPr lang="en-IE" sz="2400" i="1">
                <a:solidFill>
                  <a:srgbClr val="660E7A"/>
                </a:solidFill>
                <a:effectLst/>
              </a:rPr>
              <a:t>input </a:t>
            </a:r>
            <a:r>
              <a:rPr lang="en-IE" sz="2400"/>
              <a:t>= </a:t>
            </a:r>
            <a:r>
              <a:rPr lang="en-IE" sz="2400" b="1">
                <a:solidFill>
                  <a:srgbClr val="000080"/>
                </a:solidFill>
                <a:effectLst/>
              </a:rPr>
              <a:t>new </a:t>
            </a:r>
            <a:r>
              <a:rPr lang="en-IE" sz="2400"/>
              <a:t>Scanner(System.</a:t>
            </a:r>
            <a:r>
              <a:rPr lang="en-IE" sz="2400" b="1" i="1">
                <a:solidFill>
                  <a:srgbClr val="660E7A"/>
                </a:solidFill>
                <a:effectLst/>
              </a:rPr>
              <a:t>in</a:t>
            </a:r>
            <a:r>
              <a:rPr lang="en-IE" sz="2400"/>
              <a:t>);</a:t>
            </a:r>
          </a:p>
          <a:p>
            <a:r>
              <a:rPr lang="en-IE" sz="2400"/>
              <a:t> :</a:t>
            </a:r>
            <a:br>
              <a:rPr lang="en-IE" sz="2400"/>
            </a:br>
            <a:r>
              <a:rPr lang="en-IE" sz="2400" b="1">
                <a:solidFill>
                  <a:srgbClr val="000080"/>
                </a:solidFill>
                <a:effectLst/>
              </a:rPr>
              <a:t>int </a:t>
            </a:r>
            <a:r>
              <a:rPr lang="en-IE" sz="2400"/>
              <a:t>n;</a:t>
            </a:r>
            <a:br>
              <a:rPr lang="en-IE" sz="2400"/>
            </a:br>
            <a:r>
              <a:rPr lang="en-IE" sz="2400" b="1">
                <a:solidFill>
                  <a:srgbClr val="000080"/>
                </a:solidFill>
                <a:effectLst/>
              </a:rPr>
              <a:t>int </a:t>
            </a:r>
            <a:r>
              <a:rPr lang="en-IE" sz="2400"/>
              <a:t>sum = </a:t>
            </a:r>
            <a:r>
              <a:rPr lang="en-IE" sz="2400">
                <a:solidFill>
                  <a:srgbClr val="0000FF"/>
                </a:solidFill>
                <a:effectLst/>
              </a:rPr>
              <a:t>0</a:t>
            </a:r>
            <a:r>
              <a:rPr lang="en-IE" sz="2400"/>
              <a:t>;</a:t>
            </a:r>
            <a:br>
              <a:rPr lang="en-IE" sz="2400"/>
            </a:br>
            <a:br>
              <a:rPr lang="en-IE" sz="2400"/>
            </a:br>
            <a:r>
              <a:rPr lang="en-IE" sz="2400" b="1">
                <a:solidFill>
                  <a:srgbClr val="000080"/>
                </a:solidFill>
                <a:effectLst/>
              </a:rPr>
              <a:t>for </a:t>
            </a:r>
            <a:r>
              <a:rPr lang="en-IE" sz="2400"/>
              <a:t>(</a:t>
            </a:r>
            <a:r>
              <a:rPr lang="en-IE" sz="2400" b="1">
                <a:solidFill>
                  <a:srgbClr val="000080"/>
                </a:solidFill>
                <a:effectLst/>
              </a:rPr>
              <a:t>int </a:t>
            </a:r>
            <a:r>
              <a:rPr lang="en-IE" sz="2400"/>
              <a:t>i = </a:t>
            </a:r>
            <a:r>
              <a:rPr lang="en-IE" sz="2400">
                <a:solidFill>
                  <a:srgbClr val="0000FF"/>
                </a:solidFill>
                <a:effectLst/>
              </a:rPr>
              <a:t>0</a:t>
            </a:r>
            <a:r>
              <a:rPr lang="en-IE" sz="2400"/>
              <a:t>; i&lt;</a:t>
            </a:r>
            <a:r>
              <a:rPr lang="en-IE" sz="2400">
                <a:solidFill>
                  <a:srgbClr val="0000FF"/>
                </a:solidFill>
                <a:effectLst/>
              </a:rPr>
              <a:t>10</a:t>
            </a:r>
            <a:r>
              <a:rPr lang="en-IE" sz="2400"/>
              <a:t>; i++)  {</a:t>
            </a:r>
            <a:br>
              <a:rPr lang="en-IE" sz="2400"/>
            </a:br>
            <a:r>
              <a:rPr lang="en-IE" sz="2400"/>
              <a:t>    n = </a:t>
            </a:r>
            <a:r>
              <a:rPr lang="en-IE" sz="2400" i="1">
                <a:solidFill>
                  <a:srgbClr val="660E7A"/>
                </a:solidFill>
                <a:effectLst/>
              </a:rPr>
              <a:t>input</a:t>
            </a:r>
            <a:r>
              <a:rPr lang="en-IE" sz="2400"/>
              <a:t>.nextInt();</a:t>
            </a:r>
            <a:br>
              <a:rPr lang="en-IE" sz="2400"/>
            </a:br>
            <a:r>
              <a:rPr lang="en-IE" sz="2400"/>
              <a:t>    sum += n;</a:t>
            </a:r>
            <a:br>
              <a:rPr lang="en-IE" sz="2400"/>
            </a:br>
            <a:r>
              <a:rPr lang="en-IE" sz="2400"/>
              <a:t>}</a:t>
            </a:r>
            <a:br>
              <a:rPr lang="en-IE" sz="2400"/>
            </a:br>
            <a:br>
              <a:rPr lang="en-IE" sz="2400"/>
            </a:br>
            <a:r>
              <a:rPr lang="en-IE" sz="2400"/>
              <a:t>System.</a:t>
            </a:r>
            <a:r>
              <a:rPr lang="en-IE" sz="2400" b="1" i="1">
                <a:solidFill>
                  <a:srgbClr val="660E7A"/>
                </a:solidFill>
                <a:effectLst/>
              </a:rPr>
              <a:t>out</a:t>
            </a:r>
            <a:r>
              <a:rPr lang="en-IE" sz="2400"/>
              <a:t>.println(</a:t>
            </a:r>
            <a:r>
              <a:rPr lang="en-IE" sz="2400" b="1">
                <a:solidFill>
                  <a:srgbClr val="008000"/>
                </a:solidFill>
                <a:effectLst/>
              </a:rPr>
              <a:t>"The sum of the values you typed in is : " </a:t>
            </a:r>
            <a:r>
              <a:rPr lang="en-IE" sz="2400"/>
              <a:t>+ sum);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9ABE52-4043-4518-AF2B-B1B8FB953F6A}"/>
              </a:ext>
            </a:extLst>
          </p:cNvPr>
          <p:cNvSpPr/>
          <p:nvPr/>
        </p:nvSpPr>
        <p:spPr>
          <a:xfrm flipV="1">
            <a:off x="1600200" y="4221376"/>
            <a:ext cx="3733800" cy="16002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3" name="TextBox 12"/>
          <p:cNvSpPr txBox="1"/>
          <p:nvPr/>
        </p:nvSpPr>
        <p:spPr>
          <a:xfrm>
            <a:off x="5981700" y="2040554"/>
            <a:ext cx="4495800" cy="2215991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Notice that, </a:t>
            </a:r>
          </a:p>
          <a:p>
            <a:pPr algn="ctr"/>
            <a:r>
              <a:rPr lang="en-US" sz="2400" dirty="0"/>
              <a:t>each time a number is read in, </a:t>
            </a:r>
          </a:p>
          <a:p>
            <a:pPr algn="ctr"/>
            <a:r>
              <a:rPr lang="en-US" sz="2400" dirty="0"/>
              <a:t>it overwrites the value stored in </a:t>
            </a:r>
            <a:r>
              <a:rPr lang="en-US" sz="2400" b="1" dirty="0">
                <a:solidFill>
                  <a:srgbClr val="0070C0"/>
                </a:solidFill>
              </a:rPr>
              <a:t>n</a:t>
            </a:r>
            <a:r>
              <a:rPr lang="en-US" sz="2400" dirty="0">
                <a:solidFill>
                  <a:schemeClr val="tx1"/>
                </a:solidFill>
              </a:rPr>
              <a:t>.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  </a:t>
            </a:r>
            <a:endParaRPr lang="en-US" sz="2400" dirty="0">
              <a:solidFill>
                <a:schemeClr val="tx1"/>
              </a:solidFill>
            </a:endParaRPr>
          </a:p>
          <a:p>
            <a:pPr algn="ctr"/>
            <a:r>
              <a:rPr lang="en-US" sz="2400" dirty="0">
                <a:solidFill>
                  <a:schemeClr val="tx1"/>
                </a:solidFill>
              </a:rPr>
              <a:t>It doesn’t remember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the individual numbers typed in.</a:t>
            </a:r>
          </a:p>
        </p:txBody>
      </p:sp>
    </p:spTree>
    <p:extLst>
      <p:ext uri="{BB962C8B-B14F-4D97-AF65-F5344CB8AC3E}">
        <p14:creationId xmlns:p14="http://schemas.microsoft.com/office/powerpoint/2010/main" val="1082392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2793F25-26D5-4490-978E-7C8BA5931115}"/>
              </a:ext>
            </a:extLst>
          </p:cNvPr>
          <p:cNvSpPr txBox="1"/>
          <p:nvPr/>
        </p:nvSpPr>
        <p:spPr>
          <a:xfrm>
            <a:off x="1952625" y="1295401"/>
            <a:ext cx="8410575" cy="563231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>
                <a:solidFill>
                  <a:srgbClr val="000080"/>
                </a:solidFill>
                <a:effectLst/>
              </a:rPr>
              <a:t>import </a:t>
            </a:r>
            <a:r>
              <a:rPr lang="en-IE" sz="2000"/>
              <a:t>java.util.Scanner;</a:t>
            </a:r>
            <a:br>
              <a:rPr lang="en-IE" sz="2000"/>
            </a:br>
            <a:r>
              <a:rPr lang="en-IE" sz="2000"/>
              <a:t> :</a:t>
            </a:r>
          </a:p>
          <a:p>
            <a:r>
              <a:rPr lang="en-IE" sz="2000"/>
              <a:t>Scanner </a:t>
            </a:r>
            <a:r>
              <a:rPr lang="en-IE" sz="2000" i="1">
                <a:solidFill>
                  <a:srgbClr val="660E7A"/>
                </a:solidFill>
                <a:effectLst/>
              </a:rPr>
              <a:t>input </a:t>
            </a:r>
            <a:r>
              <a:rPr lang="en-IE" sz="2000"/>
              <a:t>= </a:t>
            </a:r>
            <a:r>
              <a:rPr lang="en-IE" sz="2000" b="1">
                <a:solidFill>
                  <a:srgbClr val="000080"/>
                </a:solidFill>
                <a:effectLst/>
              </a:rPr>
              <a:t>new </a:t>
            </a:r>
            <a:r>
              <a:rPr lang="en-IE" sz="2000"/>
              <a:t>Scanner(System.</a:t>
            </a:r>
            <a:r>
              <a:rPr lang="en-IE" sz="2000" b="1" i="1">
                <a:solidFill>
                  <a:srgbClr val="660E7A"/>
                </a:solidFill>
                <a:effectLst/>
              </a:rPr>
              <a:t>in</a:t>
            </a:r>
            <a:r>
              <a:rPr lang="en-IE" sz="2000"/>
              <a:t>);</a:t>
            </a:r>
          </a:p>
          <a:p>
            <a:r>
              <a:rPr lang="en-IE" sz="2000"/>
              <a:t> 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numbers[] = new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[10];           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sum = 0;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//read in the data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 10 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++)  {   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numbers[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input.readInt();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     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now we sum the values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 10 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++)   {  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sum += numbers[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]; 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println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("The sum of the values you typed in is : " + sum);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Using arrays to remember numbers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11231-9EA1-43F6-BEDB-9B8EBF6CCC47}"/>
              </a:ext>
            </a:extLst>
          </p:cNvPr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4ECE76-B38B-4C6A-B487-C423E55B0B91}"/>
              </a:ext>
            </a:extLst>
          </p:cNvPr>
          <p:cNvSpPr txBox="1"/>
          <p:nvPr/>
        </p:nvSpPr>
        <p:spPr>
          <a:xfrm>
            <a:off x="7239000" y="1447801"/>
            <a:ext cx="2971800" cy="1384995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Using an array </a:t>
            </a:r>
          </a:p>
          <a:p>
            <a:pPr algn="ctr"/>
            <a:r>
              <a:rPr lang="en-US" sz="2800" dirty="0"/>
              <a:t>to store each value </a:t>
            </a:r>
          </a:p>
          <a:p>
            <a:pPr algn="ctr"/>
            <a:r>
              <a:rPr lang="en-US" sz="2800" dirty="0"/>
              <a:t>that was entered.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9" name="Donut 8"/>
          <p:cNvSpPr/>
          <p:nvPr/>
        </p:nvSpPr>
        <p:spPr>
          <a:xfrm>
            <a:off x="1342818" y="2430998"/>
            <a:ext cx="5224670" cy="5334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Donut 9"/>
          <p:cNvSpPr/>
          <p:nvPr/>
        </p:nvSpPr>
        <p:spPr>
          <a:xfrm>
            <a:off x="1325233" y="3682168"/>
            <a:ext cx="5685167" cy="11430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Donut 10"/>
          <p:cNvSpPr/>
          <p:nvPr/>
        </p:nvSpPr>
        <p:spPr>
          <a:xfrm>
            <a:off x="2286000" y="5165844"/>
            <a:ext cx="2971800" cy="125718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333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Using arrays to remember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2625" y="1295401"/>
            <a:ext cx="8410575" cy="563231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>
                <a:solidFill>
                  <a:srgbClr val="000080"/>
                </a:solidFill>
                <a:effectLst/>
              </a:rPr>
              <a:t>import </a:t>
            </a:r>
            <a:r>
              <a:rPr lang="en-IE" sz="2000"/>
              <a:t>java.util.Scanner;</a:t>
            </a:r>
            <a:br>
              <a:rPr lang="en-IE" sz="2000"/>
            </a:br>
            <a:r>
              <a:rPr lang="en-IE" sz="2000"/>
              <a:t> :</a:t>
            </a:r>
          </a:p>
          <a:p>
            <a:r>
              <a:rPr lang="en-IE" sz="2000"/>
              <a:t>Scanner </a:t>
            </a:r>
            <a:r>
              <a:rPr lang="en-IE" sz="2000" i="1">
                <a:solidFill>
                  <a:srgbClr val="660E7A"/>
                </a:solidFill>
                <a:effectLst/>
              </a:rPr>
              <a:t>input </a:t>
            </a:r>
            <a:r>
              <a:rPr lang="en-IE" sz="2000"/>
              <a:t>= </a:t>
            </a:r>
            <a:r>
              <a:rPr lang="en-IE" sz="2000" b="1">
                <a:solidFill>
                  <a:srgbClr val="000080"/>
                </a:solidFill>
                <a:effectLst/>
              </a:rPr>
              <a:t>new </a:t>
            </a:r>
            <a:r>
              <a:rPr lang="en-IE" sz="2000"/>
              <a:t>Scanner(System.</a:t>
            </a:r>
            <a:r>
              <a:rPr lang="en-IE" sz="2000" b="1" i="1">
                <a:solidFill>
                  <a:srgbClr val="660E7A"/>
                </a:solidFill>
                <a:effectLst/>
              </a:rPr>
              <a:t>in</a:t>
            </a:r>
            <a:r>
              <a:rPr lang="en-IE" sz="2000"/>
              <a:t>);</a:t>
            </a:r>
          </a:p>
          <a:p>
            <a:r>
              <a:rPr lang="en-IE" sz="2000"/>
              <a:t> 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numbers[] = new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[10];           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sum = 0;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//read in the data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 10 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++)  {   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numbers[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input.readInt();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     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now we sum the values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 10 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++)   {  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sum += numbers[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]; 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println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("The sum of the values you typed in is : " + sum);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11231-9EA1-43F6-BEDB-9B8EBF6CCC47}"/>
              </a:ext>
            </a:extLst>
          </p:cNvPr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4ECE76-B38B-4C6A-B487-C423E55B0B91}"/>
              </a:ext>
            </a:extLst>
          </p:cNvPr>
          <p:cNvSpPr txBox="1"/>
          <p:nvPr/>
        </p:nvSpPr>
        <p:spPr>
          <a:xfrm>
            <a:off x="6324602" y="1178660"/>
            <a:ext cx="4190998" cy="224676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Q: </a:t>
            </a:r>
            <a:r>
              <a:rPr lang="en-US" sz="2800" dirty="0"/>
              <a:t>Can we reduce the code to only have </a:t>
            </a:r>
            <a:r>
              <a:rPr lang="en-US" sz="2800" b="1" dirty="0"/>
              <a:t>one loop?</a:t>
            </a:r>
          </a:p>
          <a:p>
            <a:pPr algn="ctr"/>
            <a:endParaRPr lang="en-US" sz="2800" b="1" dirty="0"/>
          </a:p>
          <a:p>
            <a:pPr algn="ctr"/>
            <a:r>
              <a:rPr lang="en-US" sz="2800" dirty="0"/>
              <a:t>Could we move the “sum” code into the first loop?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17365" y="2858870"/>
            <a:ext cx="817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Loop 1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53001" y="467376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Loop 2</a:t>
            </a:r>
          </a:p>
        </p:txBody>
      </p:sp>
    </p:spTree>
    <p:extLst>
      <p:ext uri="{BB962C8B-B14F-4D97-AF65-F5344CB8AC3E}">
        <p14:creationId xmlns:p14="http://schemas.microsoft.com/office/powerpoint/2010/main" val="316799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/>
              <a:t>Using arrays to remember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0712" y="1594377"/>
            <a:ext cx="8410575" cy="4401205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b="1">
                <a:solidFill>
                  <a:srgbClr val="000080"/>
                </a:solidFill>
                <a:effectLst/>
              </a:rPr>
              <a:t>import </a:t>
            </a:r>
            <a:r>
              <a:rPr lang="en-IE" sz="2000"/>
              <a:t>java.util.Scanner;</a:t>
            </a:r>
            <a:br>
              <a:rPr lang="en-IE" sz="2000"/>
            </a:br>
            <a:r>
              <a:rPr lang="en-IE" sz="2000"/>
              <a:t> :</a:t>
            </a:r>
          </a:p>
          <a:p>
            <a:r>
              <a:rPr lang="en-IE" sz="2000"/>
              <a:t>Scanner </a:t>
            </a:r>
            <a:r>
              <a:rPr lang="en-IE" sz="2000" i="1">
                <a:solidFill>
                  <a:srgbClr val="660E7A"/>
                </a:solidFill>
                <a:effectLst/>
              </a:rPr>
              <a:t>input </a:t>
            </a:r>
            <a:r>
              <a:rPr lang="en-IE" sz="2000"/>
              <a:t>= </a:t>
            </a:r>
            <a:r>
              <a:rPr lang="en-IE" sz="2000" b="1">
                <a:solidFill>
                  <a:srgbClr val="000080"/>
                </a:solidFill>
                <a:effectLst/>
              </a:rPr>
              <a:t>new </a:t>
            </a:r>
            <a:r>
              <a:rPr lang="en-IE" sz="2000"/>
              <a:t>Scanner(System.</a:t>
            </a:r>
            <a:r>
              <a:rPr lang="en-IE" sz="2000" b="1" i="1">
                <a:solidFill>
                  <a:srgbClr val="660E7A"/>
                </a:solidFill>
                <a:effectLst/>
              </a:rPr>
              <a:t>in</a:t>
            </a:r>
            <a:r>
              <a:rPr lang="en-IE" sz="2000"/>
              <a:t>);</a:t>
            </a:r>
          </a:p>
          <a:p>
            <a:r>
              <a:rPr lang="en-IE" sz="2000"/>
              <a:t> 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numbers[] = new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[10];           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sum = 0;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//read in the data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&lt; 10 ;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++)  {   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numbers[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]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input.readInt();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sum += numbers[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]; 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}      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println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("The sum of the values you typed in is : " + sum);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611231-9EA1-43F6-BEDB-9B8EBF6CCC47}"/>
              </a:ext>
            </a:extLst>
          </p:cNvPr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4ECE76-B38B-4C6A-B487-C423E55B0B91}"/>
              </a:ext>
            </a:extLst>
          </p:cNvPr>
          <p:cNvSpPr txBox="1"/>
          <p:nvPr/>
        </p:nvSpPr>
        <p:spPr>
          <a:xfrm>
            <a:off x="6553200" y="1182231"/>
            <a:ext cx="4724401" cy="2246769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B050"/>
                </a:solidFill>
              </a:rPr>
              <a:t>A: </a:t>
            </a:r>
            <a:r>
              <a:rPr lang="en-US" sz="2800" dirty="0"/>
              <a:t>Yes.  </a:t>
            </a:r>
          </a:p>
          <a:p>
            <a:pPr algn="ctr"/>
            <a:endParaRPr lang="en-US" sz="2800" dirty="0"/>
          </a:p>
          <a:p>
            <a:pPr algn="ctr"/>
            <a:r>
              <a:rPr lang="en-US" sz="2800" b="1" dirty="0"/>
              <a:t>Move the “sum” code into the first loop</a:t>
            </a:r>
            <a:r>
              <a:rPr lang="en-US" sz="2800" dirty="0"/>
              <a:t>.</a:t>
            </a:r>
          </a:p>
          <a:p>
            <a:pPr algn="ctr"/>
            <a:r>
              <a:rPr lang="en-US" sz="2800" dirty="0"/>
              <a:t>-&gt; functionality doesn’t change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24601" y="3465970"/>
            <a:ext cx="817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Loop 1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324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09800" y="279717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IE" dirty="0">
                <a:solidFill>
                  <a:srgbClr val="C00000"/>
                </a:solidFill>
              </a:rPr>
              <a:t>What if we wanted the user </a:t>
            </a:r>
            <a:br>
              <a:rPr lang="en-IE" dirty="0">
                <a:solidFill>
                  <a:srgbClr val="C00000"/>
                </a:solidFill>
              </a:rPr>
            </a:br>
            <a:r>
              <a:rPr lang="en-IE" dirty="0">
                <a:solidFill>
                  <a:srgbClr val="C00000"/>
                </a:solidFill>
              </a:rPr>
              <a:t>to decide how many numbers </a:t>
            </a:r>
            <a:br>
              <a:rPr lang="en-IE" dirty="0">
                <a:solidFill>
                  <a:srgbClr val="C00000"/>
                </a:solidFill>
              </a:rPr>
            </a:br>
            <a:r>
              <a:rPr lang="en-IE" dirty="0">
                <a:solidFill>
                  <a:srgbClr val="C00000"/>
                </a:solidFill>
              </a:rPr>
              <a:t>they wanted to sum?</a:t>
            </a:r>
            <a:br>
              <a:rPr lang="en-IE" dirty="0">
                <a:solidFill>
                  <a:srgbClr val="C00000"/>
                </a:solidFill>
              </a:rPr>
            </a:br>
            <a:endParaRPr lang="en-IE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469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105400" y="6581002"/>
            <a:ext cx="55626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200" dirty="0"/>
              <a:t>Source:  </a:t>
            </a:r>
            <a:r>
              <a:rPr lang="en-IE" sz="1200" dirty="0" err="1"/>
              <a:t>Reas</a:t>
            </a:r>
            <a:r>
              <a:rPr lang="en-IE" sz="1200" dirty="0"/>
              <a:t> &amp; Fry (2014)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240804"/>
            <a:ext cx="8763000" cy="6617196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b="1">
                <a:solidFill>
                  <a:srgbClr val="000080"/>
                </a:solidFill>
                <a:effectLst/>
              </a:rPr>
              <a:t>import </a:t>
            </a:r>
            <a:r>
              <a:rPr lang="en-IE" sz="2400"/>
              <a:t>java.util.Scanner;</a:t>
            </a:r>
            <a:br>
              <a:rPr lang="en-IE" sz="2400"/>
            </a:br>
            <a:r>
              <a:rPr lang="en-IE" sz="2400"/>
              <a:t> :</a:t>
            </a:r>
          </a:p>
          <a:p>
            <a:r>
              <a:rPr lang="en-IE" sz="2400"/>
              <a:t>Scanner </a:t>
            </a:r>
            <a:r>
              <a:rPr lang="en-IE" sz="2400" i="1">
                <a:solidFill>
                  <a:srgbClr val="660E7A"/>
                </a:solidFill>
                <a:effectLst/>
              </a:rPr>
              <a:t>input </a:t>
            </a:r>
            <a:r>
              <a:rPr lang="en-IE" sz="2400"/>
              <a:t>= </a:t>
            </a:r>
            <a:r>
              <a:rPr lang="en-IE" sz="2400" b="1">
                <a:solidFill>
                  <a:srgbClr val="000080"/>
                </a:solidFill>
                <a:effectLst/>
              </a:rPr>
              <a:t>new </a:t>
            </a:r>
            <a:r>
              <a:rPr lang="en-IE" sz="2400"/>
              <a:t>Scanner(System.</a:t>
            </a:r>
            <a:r>
              <a:rPr lang="en-IE" sz="2400" b="1" i="1">
                <a:solidFill>
                  <a:srgbClr val="660E7A"/>
                </a:solidFill>
                <a:effectLst/>
              </a:rPr>
              <a:t>in</a:t>
            </a:r>
            <a:r>
              <a:rPr lang="en-IE" sz="2400"/>
              <a:t>);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sum = 0;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//Using the </a:t>
            </a:r>
            <a:r>
              <a:rPr lang="en-US" sz="22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numData</a:t>
            </a:r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value to set the size of the array</a:t>
            </a:r>
          </a:p>
          <a:p>
            <a:r>
              <a:rPr lang="en-US" sz="2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numbers[];</a:t>
            </a:r>
          </a:p>
          <a:p>
            <a:r>
              <a:rPr lang="en-US" sz="2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System.out.println(”How many numbers do you need?”);</a:t>
            </a:r>
          </a:p>
          <a:p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numData</a:t>
            </a:r>
            <a:r>
              <a:rPr lang="en-US" sz="2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input.nextInt();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numbers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= new </a:t>
            </a:r>
            <a:r>
              <a:rPr lang="en-US" sz="22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[</a:t>
            </a:r>
            <a:r>
              <a:rPr lang="en-US" sz="22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numData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];             </a:t>
            </a:r>
          </a:p>
          <a:p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//read in the data and sum the values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(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= 0;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&lt;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numData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;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++)  {  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 numbers[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] =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input.nextInt();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          sum += numbers[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];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}   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println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("The sum of the values you typed in is : " + sum);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E0691DA-9F50-43E8-A565-BD56F9D71203}"/>
              </a:ext>
            </a:extLst>
          </p:cNvPr>
          <p:cNvCxnSpPr/>
          <p:nvPr/>
        </p:nvCxnSpPr>
        <p:spPr>
          <a:xfrm>
            <a:off x="2737338" y="3330892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onut 5"/>
          <p:cNvSpPr/>
          <p:nvPr/>
        </p:nvSpPr>
        <p:spPr>
          <a:xfrm>
            <a:off x="222738" y="3056096"/>
            <a:ext cx="2139462" cy="3810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7" name="Donut 6"/>
          <p:cNvSpPr/>
          <p:nvPr/>
        </p:nvSpPr>
        <p:spPr>
          <a:xfrm>
            <a:off x="304800" y="3733800"/>
            <a:ext cx="5486400" cy="381000"/>
          </a:xfrm>
          <a:prstGeom prst="donut">
            <a:avLst>
              <a:gd name="adj" fmla="val 261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ECE76-B38B-4C6A-B487-C423E55B0B91}"/>
              </a:ext>
            </a:extLst>
          </p:cNvPr>
          <p:cNvSpPr txBox="1"/>
          <p:nvPr/>
        </p:nvSpPr>
        <p:spPr>
          <a:xfrm>
            <a:off x="5981700" y="118408"/>
            <a:ext cx="5791200" cy="1938992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Delcare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dirty="0">
                <a:solidFill>
                  <a:schemeClr val="tx1"/>
                </a:solidFill>
              </a:rPr>
              <a:t>numbers</a:t>
            </a:r>
            <a:r>
              <a:rPr lang="en-US" sz="2400" dirty="0">
                <a:solidFill>
                  <a:schemeClr val="tx1"/>
                </a:solidFill>
              </a:rPr>
              <a:t> to be an array of type integer.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>
                <a:solidFill>
                  <a:schemeClr val="tx1"/>
                </a:solidFill>
              </a:rPr>
              <a:t>numData</a:t>
            </a:r>
            <a:r>
              <a:rPr lang="en-US" sz="2400" dirty="0">
                <a:solidFill>
                  <a:schemeClr val="tx1"/>
                </a:solidFill>
              </a:rPr>
              <a:t> takes in the size.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Use </a:t>
            </a:r>
            <a:r>
              <a:rPr lang="en-US" sz="2400" dirty="0" err="1">
                <a:solidFill>
                  <a:schemeClr val="tx1"/>
                </a:solidFill>
              </a:rPr>
              <a:t>numData</a:t>
            </a:r>
            <a:r>
              <a:rPr lang="en-US" sz="2400" dirty="0">
                <a:solidFill>
                  <a:schemeClr val="tx1"/>
                </a:solidFill>
              </a:rPr>
              <a:t> to initialize the array with </a:t>
            </a:r>
            <a:r>
              <a:rPr lang="en-US" sz="2400" b="1" dirty="0">
                <a:solidFill>
                  <a:schemeClr val="tx1"/>
                </a:solidFill>
              </a:rPr>
              <a:t>new </a:t>
            </a:r>
            <a:r>
              <a:rPr lang="en-US" sz="2400" dirty="0">
                <a:solidFill>
                  <a:schemeClr val="tx1"/>
                </a:solidFill>
              </a:rPr>
              <a:t>specifying the size.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233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09800" y="279717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IE" dirty="0">
                <a:solidFill>
                  <a:srgbClr val="C00000"/>
                </a:solidFill>
              </a:rPr>
              <a:t>What type of data </a:t>
            </a:r>
            <a:br>
              <a:rPr lang="en-IE" dirty="0">
                <a:solidFill>
                  <a:srgbClr val="C00000"/>
                </a:solidFill>
              </a:rPr>
            </a:br>
            <a:r>
              <a:rPr lang="en-IE" dirty="0">
                <a:solidFill>
                  <a:srgbClr val="C00000"/>
                </a:solidFill>
              </a:rPr>
              <a:t>can be stored </a:t>
            </a:r>
            <a:br>
              <a:rPr lang="en-IE" dirty="0">
                <a:solidFill>
                  <a:srgbClr val="C00000"/>
                </a:solidFill>
              </a:rPr>
            </a:br>
            <a:r>
              <a:rPr lang="en-IE" dirty="0">
                <a:solidFill>
                  <a:srgbClr val="C00000"/>
                </a:solidFill>
              </a:rPr>
              <a:t>in a primitive array?</a:t>
            </a:r>
            <a:br>
              <a:rPr lang="en-IE" dirty="0">
                <a:solidFill>
                  <a:srgbClr val="C00000"/>
                </a:solidFill>
              </a:rPr>
            </a:br>
            <a:endParaRPr lang="en-IE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958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209489" y="685800"/>
            <a:ext cx="6248400" cy="57888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An array can store ANY TYPE of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2582" y="5130464"/>
            <a:ext cx="4587731" cy="138499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/>
              <a:t>String words = new String[30];</a:t>
            </a:r>
          </a:p>
          <a:p>
            <a:endParaRPr lang="en-US" sz="2800" dirty="0"/>
          </a:p>
          <a:p>
            <a:r>
              <a:rPr lang="en-US" sz="2800" dirty="0"/>
              <a:t>Spot spots[] = new Spot[20];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B14CF8-BDA0-46CC-A9A3-72FD88067618}"/>
              </a:ext>
            </a:extLst>
          </p:cNvPr>
          <p:cNvSpPr/>
          <p:nvPr/>
        </p:nvSpPr>
        <p:spPr>
          <a:xfrm>
            <a:off x="2085584" y="2057401"/>
            <a:ext cx="5423729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800" dirty="0" err="1"/>
              <a:t>int</a:t>
            </a:r>
            <a:r>
              <a:rPr lang="en-US" sz="2800" dirty="0"/>
              <a:t> numbers[] = new </a:t>
            </a:r>
            <a:r>
              <a:rPr lang="en-US" sz="2800" dirty="0" err="1"/>
              <a:t>int</a:t>
            </a:r>
            <a:r>
              <a:rPr lang="en-US" sz="2800" dirty="0"/>
              <a:t>[10];</a:t>
            </a:r>
          </a:p>
          <a:p>
            <a:endParaRPr lang="en-US" sz="2800" dirty="0"/>
          </a:p>
          <a:p>
            <a:r>
              <a:rPr lang="en-US" sz="2800" dirty="0"/>
              <a:t>byte </a:t>
            </a:r>
            <a:r>
              <a:rPr lang="en-US" sz="2800" dirty="0" err="1"/>
              <a:t>smallNumbers</a:t>
            </a:r>
            <a:r>
              <a:rPr lang="en-US" sz="2800" dirty="0"/>
              <a:t>[] = new byte[4];</a:t>
            </a:r>
          </a:p>
          <a:p>
            <a:endParaRPr lang="en-US" sz="2800" dirty="0"/>
          </a:p>
          <a:p>
            <a:r>
              <a:rPr lang="en-US" sz="2800" dirty="0"/>
              <a:t>char characters[] = new char[26];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3D87C-EBDD-45A7-943D-BC024FEAE26F}"/>
              </a:ext>
            </a:extLst>
          </p:cNvPr>
          <p:cNvSpPr/>
          <p:nvPr/>
        </p:nvSpPr>
        <p:spPr>
          <a:xfrm>
            <a:off x="1978047" y="1612106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b="1" dirty="0"/>
              <a:t>Primitive</a:t>
            </a:r>
            <a:r>
              <a:rPr lang="en-IE" sz="2800" dirty="0"/>
              <a:t> Types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7D804F-0AD2-44D3-A1FF-C88BBC72567A}"/>
              </a:ext>
            </a:extLst>
          </p:cNvPr>
          <p:cNvSpPr/>
          <p:nvPr/>
        </p:nvSpPr>
        <p:spPr>
          <a:xfrm>
            <a:off x="1978047" y="4749463"/>
            <a:ext cx="2819400" cy="4572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E" sz="2800" b="1" dirty="0"/>
              <a:t>Object</a:t>
            </a:r>
            <a:r>
              <a:rPr lang="en-IE" sz="2800" dirty="0"/>
              <a:t> Types</a:t>
            </a:r>
          </a:p>
        </p:txBody>
      </p:sp>
    </p:spTree>
    <p:extLst>
      <p:ext uri="{BB962C8B-B14F-4D97-AF65-F5344CB8AC3E}">
        <p14:creationId xmlns:p14="http://schemas.microsoft.com/office/powerpoint/2010/main" val="344884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4" grpId="0" animBg="1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09800" y="2797176"/>
            <a:ext cx="7772400" cy="1470025"/>
          </a:xfrm>
        </p:spPr>
        <p:txBody>
          <a:bodyPr>
            <a:normAutofit/>
          </a:bodyPr>
          <a:lstStyle/>
          <a:p>
            <a:r>
              <a:rPr lang="en-IE" dirty="0">
                <a:solidFill>
                  <a:srgbClr val="C00000"/>
                </a:solidFill>
              </a:rPr>
              <a:t>Do we have to use </a:t>
            </a:r>
            <a:br>
              <a:rPr lang="en-IE" dirty="0">
                <a:solidFill>
                  <a:srgbClr val="C00000"/>
                </a:solidFill>
              </a:rPr>
            </a:br>
            <a:r>
              <a:rPr lang="en-IE" b="1" dirty="0">
                <a:solidFill>
                  <a:srgbClr val="C00000"/>
                </a:solidFill>
              </a:rPr>
              <a:t>all</a:t>
            </a:r>
            <a:r>
              <a:rPr lang="en-IE" dirty="0">
                <a:solidFill>
                  <a:srgbClr val="C00000"/>
                </a:solidFill>
              </a:rPr>
              <a:t> the elements in the array?</a:t>
            </a:r>
          </a:p>
        </p:txBody>
      </p:sp>
    </p:spTree>
    <p:extLst>
      <p:ext uri="{BB962C8B-B14F-4D97-AF65-F5344CB8AC3E}">
        <p14:creationId xmlns:p14="http://schemas.microsoft.com/office/powerpoint/2010/main" val="31917686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200" dirty="0"/>
              <a:t>Do we have to use all elements in the array?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No.  </a:t>
            </a:r>
          </a:p>
          <a:p>
            <a:endParaRPr lang="en-IE" dirty="0"/>
          </a:p>
          <a:p>
            <a:r>
              <a:rPr lang="en-IE" dirty="0">
                <a:solidFill>
                  <a:srgbClr val="FF0000"/>
                </a:solidFill>
              </a:rPr>
              <a:t>But</a:t>
            </a:r>
            <a:r>
              <a:rPr lang="en-IE" dirty="0"/>
              <a:t>…this might cause logic errors, </a:t>
            </a:r>
            <a:br>
              <a:rPr lang="en-IE" dirty="0"/>
            </a:br>
            <a:r>
              <a:rPr lang="en-IE" dirty="0"/>
              <a:t>if we don’t take this into consideration </a:t>
            </a:r>
            <a:br>
              <a:rPr lang="en-IE" dirty="0"/>
            </a:br>
            <a:r>
              <a:rPr lang="en-IE" dirty="0"/>
              <a:t>in our coding.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Consider this scenario…</a:t>
            </a:r>
          </a:p>
        </p:txBody>
      </p:sp>
    </p:spTree>
    <p:extLst>
      <p:ext uri="{BB962C8B-B14F-4D97-AF65-F5344CB8AC3E}">
        <p14:creationId xmlns:p14="http://schemas.microsoft.com/office/powerpoint/2010/main" val="32138668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IE" sz="3200" dirty="0"/>
              <a:t>Scenario – exam results and </a:t>
            </a:r>
            <a:r>
              <a:rPr lang="en-IE" sz="3200" b="1" dirty="0"/>
              <a:t>average grade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856580"/>
            <a:ext cx="4267200" cy="4925220"/>
          </a:xfrm>
        </p:spPr>
        <p:txBody>
          <a:bodyPr>
            <a:normAutofit lnSpcReduction="10000"/>
          </a:bodyPr>
          <a:lstStyle/>
          <a:p>
            <a:r>
              <a:rPr lang="en-IE" dirty="0"/>
              <a:t>We have a class of 15 students.</a:t>
            </a:r>
            <a:br>
              <a:rPr lang="en-IE" dirty="0"/>
            </a:br>
            <a:endParaRPr lang="en-IE" dirty="0"/>
          </a:p>
          <a:p>
            <a:r>
              <a:rPr lang="en-IE" dirty="0"/>
              <a:t>They have a test coming up.</a:t>
            </a:r>
            <a:br>
              <a:rPr lang="en-IE" dirty="0"/>
            </a:br>
            <a:endParaRPr lang="en-IE" dirty="0"/>
          </a:p>
          <a:p>
            <a:r>
              <a:rPr lang="en-IE" dirty="0"/>
              <a:t>We want to store the results in an array and then find the average result.</a:t>
            </a:r>
          </a:p>
          <a:p>
            <a:pPr marL="0" indent="0">
              <a:buNone/>
            </a:pPr>
            <a:endParaRPr lang="en-IE" dirty="0"/>
          </a:p>
        </p:txBody>
      </p:sp>
      <p:pic>
        <p:nvPicPr>
          <p:cNvPr id="1026" name="Picture 2" descr="Related image">
            <a:extLst>
              <a:ext uri="{FF2B5EF4-FFF2-40B4-BE49-F238E27FC236}">
                <a16:creationId xmlns:a16="http://schemas.microsoft.com/office/drawing/2014/main" id="{04D6137A-0BED-4046-ABC0-A5EEC3175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557" y="2209801"/>
            <a:ext cx="3819525" cy="38195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523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739951" y="1396271"/>
            <a:ext cx="4572000" cy="1143000"/>
          </a:xfrm>
        </p:spPr>
        <p:txBody>
          <a:bodyPr>
            <a:noAutofit/>
          </a:bodyPr>
          <a:lstStyle/>
          <a:p>
            <a:r>
              <a:rPr lang="en-IE" sz="2800" dirty="0"/>
              <a:t>We create an array of </a:t>
            </a:r>
            <a:r>
              <a:rPr lang="en-IE" sz="2800" dirty="0" err="1"/>
              <a:t>int</a:t>
            </a:r>
            <a:r>
              <a:rPr lang="en-IE" sz="2800" dirty="0"/>
              <a:t> </a:t>
            </a:r>
            <a:br>
              <a:rPr lang="en-IE" sz="2800" dirty="0"/>
            </a:br>
            <a:r>
              <a:rPr lang="en-IE" sz="2800" dirty="0"/>
              <a:t>with a capacity of 15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F69F49A-85F9-44AB-8417-58A8C7FF9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3147" y="2144851"/>
            <a:ext cx="762000" cy="5334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AE55D36B-7D79-441F-B1E7-ED4A4F79C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1647" y="2678251"/>
            <a:ext cx="1905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-32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-32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-32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-32" charset="0"/>
              </a:defRPr>
            </a:lvl9pPr>
          </a:lstStyle>
          <a:p>
            <a:pPr eaLnBrk="1" hangingPunct="1"/>
            <a:r>
              <a:rPr lang="en-GB" sz="2800" dirty="0">
                <a:latin typeface="Courier New" pitchFamily="-32" charset="0"/>
              </a:rPr>
              <a:t>results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9F74E75-6C8C-4A38-95DD-1354E3C83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516108"/>
              </p:ext>
            </p:extLst>
          </p:nvPr>
        </p:nvGraphicFramePr>
        <p:xfrm>
          <a:off x="3860007" y="1523993"/>
          <a:ext cx="1688303" cy="492919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23956">
                  <a:extLst>
                    <a:ext uri="{9D8B030D-6E8A-4147-A177-3AD203B41FA5}">
                      <a16:colId xmlns:a16="http://schemas.microsoft.com/office/drawing/2014/main" val="3029030374"/>
                    </a:ext>
                  </a:extLst>
                </a:gridCol>
                <a:gridCol w="1164347">
                  <a:extLst>
                    <a:ext uri="{9D8B030D-6E8A-4147-A177-3AD203B41FA5}">
                      <a16:colId xmlns:a16="http://schemas.microsoft.com/office/drawing/2014/main" val="4245855580"/>
                    </a:ext>
                  </a:extLst>
                </a:gridCol>
              </a:tblGrid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123948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675138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79718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3453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7825658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169025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542535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411702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547582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04458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580778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640888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067944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958092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>
                          <a:solidFill>
                            <a:srgbClr val="0070C0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275053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A9DFA3A-C276-46AB-8804-551C1618BE14}"/>
              </a:ext>
            </a:extLst>
          </p:cNvPr>
          <p:cNvCxnSpPr>
            <a:cxnSpLocks/>
          </p:cNvCxnSpPr>
          <p:nvPr/>
        </p:nvCxnSpPr>
        <p:spPr>
          <a:xfrm flipV="1">
            <a:off x="2724148" y="1523993"/>
            <a:ext cx="1135859" cy="8875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3"/>
          <p:cNvSpPr txBox="1">
            <a:spLocks/>
          </p:cNvSpPr>
          <p:nvPr/>
        </p:nvSpPr>
        <p:spPr>
          <a:xfrm>
            <a:off x="5739952" y="2714356"/>
            <a:ext cx="4775649" cy="18349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2800" dirty="0"/>
              <a:t>Only 12 students sat the exam. </a:t>
            </a:r>
            <a:br>
              <a:rPr lang="en-IE" sz="2800" dirty="0"/>
            </a:br>
            <a:r>
              <a:rPr lang="en-IE" sz="2800" dirty="0"/>
              <a:t>Their results were recorded in the first 12 elements</a:t>
            </a:r>
          </a:p>
        </p:txBody>
      </p:sp>
      <p:sp>
        <p:nvSpPr>
          <p:cNvPr id="12" name="Title 3"/>
          <p:cNvSpPr txBox="1">
            <a:spLocks/>
          </p:cNvSpPr>
          <p:nvPr/>
        </p:nvSpPr>
        <p:spPr>
          <a:xfrm>
            <a:off x="5731668" y="4724401"/>
            <a:ext cx="4903592" cy="1828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2800" dirty="0"/>
              <a:t>To calculate the average result, </a:t>
            </a:r>
            <a:br>
              <a:rPr lang="en-IE" sz="2800" dirty="0"/>
            </a:br>
            <a:r>
              <a:rPr lang="en-IE" sz="2800" dirty="0"/>
              <a:t>divide by the number of </a:t>
            </a:r>
            <a:r>
              <a:rPr lang="en-IE" sz="2800" b="1" dirty="0"/>
              <a:t>populated elements </a:t>
            </a:r>
            <a:br>
              <a:rPr lang="en-IE" sz="2800" dirty="0"/>
            </a:br>
            <a:r>
              <a:rPr lang="en-IE" sz="2800" b="1" dirty="0"/>
              <a:t>NOT</a:t>
            </a:r>
            <a:r>
              <a:rPr lang="en-IE" sz="2800" dirty="0"/>
              <a:t> the array capacity.</a:t>
            </a:r>
          </a:p>
        </p:txBody>
      </p:sp>
      <p:pic>
        <p:nvPicPr>
          <p:cNvPr id="13" name="Picture 2" descr="Related image">
            <a:extLst>
              <a:ext uri="{FF2B5EF4-FFF2-40B4-BE49-F238E27FC236}">
                <a16:creationId xmlns:a16="http://schemas.microsoft.com/office/drawing/2014/main" id="{04D6137A-0BED-4046-ABC0-A5EEC3175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53695"/>
            <a:ext cx="1178884" cy="117888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3"/>
          <p:cNvSpPr txBox="1">
            <a:spLocks/>
          </p:cNvSpPr>
          <p:nvPr/>
        </p:nvSpPr>
        <p:spPr>
          <a:xfrm>
            <a:off x="1981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dirty="0"/>
              <a:t>Average grade</a:t>
            </a:r>
          </a:p>
        </p:txBody>
      </p:sp>
    </p:spTree>
    <p:extLst>
      <p:ext uri="{BB962C8B-B14F-4D97-AF65-F5344CB8AC3E}">
        <p14:creationId xmlns:p14="http://schemas.microsoft.com/office/powerpoint/2010/main" val="312458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200" dirty="0"/>
              <a:t>Do we have to use all elements in the array?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81200" y="1600200"/>
            <a:ext cx="8458200" cy="4800600"/>
          </a:xfrm>
        </p:spPr>
        <p:txBody>
          <a:bodyPr>
            <a:normAutofit fontScale="92500" lnSpcReduction="20000"/>
          </a:bodyPr>
          <a:lstStyle/>
          <a:p>
            <a:r>
              <a:rPr lang="en-IE" dirty="0"/>
              <a:t>If all elements in an array are NOT populated, </a:t>
            </a:r>
            <a:br>
              <a:rPr lang="en-IE" dirty="0"/>
            </a:br>
            <a:r>
              <a:rPr lang="en-GB" dirty="0"/>
              <a:t>we need to:</a:t>
            </a:r>
          </a:p>
          <a:p>
            <a:pPr lvl="1"/>
            <a:r>
              <a:rPr lang="en-GB" dirty="0"/>
              <a:t>have another variable (e.g. </a:t>
            </a:r>
            <a:r>
              <a:rPr lang="en-GB" dirty="0" err="1"/>
              <a:t>int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size</a:t>
            </a:r>
            <a:r>
              <a:rPr lang="en-GB" dirty="0"/>
              <a:t>) </a:t>
            </a:r>
          </a:p>
          <a:p>
            <a:pPr lvl="2"/>
            <a:r>
              <a:rPr lang="en-GB" dirty="0"/>
              <a:t>containing the number of elements in the array </a:t>
            </a:r>
            <a:r>
              <a:rPr lang="en-GB" b="1" dirty="0"/>
              <a:t>actually used</a:t>
            </a:r>
            <a:r>
              <a:rPr lang="en-GB" dirty="0"/>
              <a:t>. </a:t>
            </a:r>
          </a:p>
          <a:p>
            <a:pPr lvl="1"/>
            <a:r>
              <a:rPr lang="en-GB" dirty="0"/>
              <a:t>ensure size is used when processing the array </a:t>
            </a:r>
          </a:p>
          <a:p>
            <a:pPr lvl="2"/>
            <a:r>
              <a:rPr lang="en-GB" dirty="0"/>
              <a:t>e.g.</a:t>
            </a:r>
          </a:p>
          <a:p>
            <a:pPr marL="1314450" lvl="3" indent="0">
              <a:buNone/>
            </a:pPr>
            <a:r>
              <a:rPr lang="en-GB" sz="2800" dirty="0"/>
              <a:t>for (</a:t>
            </a:r>
            <a:r>
              <a:rPr lang="en-GB" sz="2800" dirty="0" err="1"/>
              <a:t>int</a:t>
            </a:r>
            <a:r>
              <a:rPr lang="en-GB" sz="2800" dirty="0"/>
              <a:t> </a:t>
            </a:r>
            <a:r>
              <a:rPr lang="en-GB" sz="2800" dirty="0" err="1"/>
              <a:t>i</a:t>
            </a:r>
            <a:r>
              <a:rPr lang="en-GB" sz="2800" dirty="0"/>
              <a:t>= 0; </a:t>
            </a:r>
            <a:r>
              <a:rPr lang="en-GB" sz="2800" dirty="0" err="1"/>
              <a:t>i</a:t>
            </a:r>
            <a:r>
              <a:rPr lang="en-GB" sz="2800" dirty="0"/>
              <a:t> &lt; </a:t>
            </a:r>
            <a:r>
              <a:rPr lang="en-GB" sz="2800" dirty="0">
                <a:solidFill>
                  <a:srgbClr val="FF0000"/>
                </a:solidFill>
              </a:rPr>
              <a:t>size</a:t>
            </a:r>
            <a:r>
              <a:rPr lang="en-GB" sz="2800" dirty="0"/>
              <a:t>; </a:t>
            </a:r>
            <a:r>
              <a:rPr lang="en-GB" sz="2800" dirty="0" err="1"/>
              <a:t>i</a:t>
            </a:r>
            <a:r>
              <a:rPr lang="en-GB" sz="2800" dirty="0"/>
              <a:t>++)</a:t>
            </a:r>
          </a:p>
          <a:p>
            <a:pPr marL="57150" indent="0">
              <a:buNone/>
            </a:pPr>
            <a:endParaRPr lang="en-GB" dirty="0"/>
          </a:p>
          <a:p>
            <a:pPr marL="514350" indent="-457200"/>
            <a:r>
              <a:rPr lang="en-GB" dirty="0"/>
              <a:t>For now though, </a:t>
            </a:r>
            <a:br>
              <a:rPr lang="en-GB" dirty="0"/>
            </a:br>
            <a:r>
              <a:rPr lang="en-GB" dirty="0"/>
              <a:t>we assume that all elements of the array </a:t>
            </a:r>
            <a:br>
              <a:rPr lang="en-GB" dirty="0"/>
            </a:br>
            <a:r>
              <a:rPr lang="en-GB" dirty="0"/>
              <a:t>are populated and therefore ready to be processed.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342227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Summary - Arrays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3621644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Arrays are structures that can store many values of the same type</a:t>
            </a:r>
          </a:p>
          <a:p>
            <a:r>
              <a:rPr lang="en-US" dirty="0"/>
              <a:t>Rule – Never lose input data</a:t>
            </a:r>
          </a:p>
          <a:p>
            <a:pPr lvl="1"/>
            <a:r>
              <a:rPr lang="en-US" dirty="0"/>
              <a:t>Arrays enable us to store the data efficiently </a:t>
            </a:r>
          </a:p>
          <a:p>
            <a:pPr lvl="1"/>
            <a:r>
              <a:rPr lang="en-US" dirty="0"/>
              <a:t>We can use loops with arrays</a:t>
            </a:r>
          </a:p>
          <a:p>
            <a:r>
              <a:rPr lang="en-US" dirty="0"/>
              <a:t>Arrays can store ANY type</a:t>
            </a:r>
          </a:p>
          <a:p>
            <a:r>
              <a:rPr lang="en-US" dirty="0"/>
              <a:t>Declaring arrays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943823" y="5124272"/>
            <a:ext cx="2667000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 err="1"/>
              <a:t>int</a:t>
            </a:r>
            <a:r>
              <a:rPr lang="en-GB" b="1" dirty="0"/>
              <a:t>[]  </a:t>
            </a:r>
            <a:r>
              <a:rPr lang="en-GB" b="1" dirty="0" err="1"/>
              <a:t>arryName</a:t>
            </a:r>
            <a:r>
              <a:rPr lang="en-GB" b="1" dirty="0"/>
              <a:t>;</a:t>
            </a:r>
            <a:br>
              <a:rPr lang="en-GB" b="1" dirty="0"/>
            </a:br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//</a:t>
            </a:r>
            <a:r>
              <a:rPr lang="en-GB" b="1" dirty="0" err="1">
                <a:solidFill>
                  <a:schemeClr val="bg1">
                    <a:lumMod val="50000"/>
                  </a:schemeClr>
                </a:solidFill>
              </a:rPr>
              <a:t>somecode</a:t>
            </a:r>
            <a:br>
              <a:rPr lang="en-GB" b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GB" b="1" dirty="0" err="1"/>
              <a:t>arryName</a:t>
            </a:r>
            <a:r>
              <a:rPr lang="en-GB" b="1" dirty="0"/>
              <a:t>= new </a:t>
            </a:r>
            <a:r>
              <a:rPr lang="en-GB" b="1" dirty="0" err="1"/>
              <a:t>int</a:t>
            </a:r>
            <a:r>
              <a:rPr lang="en-GB" b="1" dirty="0"/>
              <a:t>[4];</a:t>
            </a:r>
            <a:endParaRPr lang="en-IE" b="1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099314" y="5124272"/>
            <a:ext cx="2875211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GB" dirty="0" err="1"/>
              <a:t>int</a:t>
            </a:r>
            <a:r>
              <a:rPr lang="en-GB" dirty="0"/>
              <a:t>[]  </a:t>
            </a:r>
            <a:r>
              <a:rPr lang="en-GB" dirty="0" err="1"/>
              <a:t>arryName</a:t>
            </a:r>
            <a:r>
              <a:rPr lang="en-GB" dirty="0"/>
              <a:t>= new </a:t>
            </a:r>
            <a:r>
              <a:rPr lang="en-GB" dirty="0" err="1"/>
              <a:t>int</a:t>
            </a:r>
            <a:r>
              <a:rPr lang="en-GB" dirty="0"/>
              <a:t>[4];</a:t>
            </a:r>
            <a:br>
              <a:rPr lang="en-GB" dirty="0"/>
            </a:br>
            <a:br>
              <a:rPr lang="en-GB" dirty="0"/>
            </a:br>
            <a:endParaRPr lang="en-IE" dirty="0"/>
          </a:p>
          <a:p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5634014" y="5539769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16251541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3096</TotalTime>
  <Words>2590</Words>
  <Application>Microsoft Macintosh PowerPoint</Application>
  <PresentationFormat>Widescreen</PresentationFormat>
  <Paragraphs>447</Paragraphs>
  <Slides>38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Courier New</vt:lpstr>
      <vt:lpstr>Times New Roman</vt:lpstr>
      <vt:lpstr>Trebuchet MS</vt:lpstr>
      <vt:lpstr>Office Theme</vt:lpstr>
      <vt:lpstr>Primitive Arrays</vt:lpstr>
      <vt:lpstr>Topics list</vt:lpstr>
      <vt:lpstr>Why arrays? </vt:lpstr>
      <vt:lpstr>Adding 10 numbers </vt:lpstr>
      <vt:lpstr>Adding 10 numbers </vt:lpstr>
      <vt:lpstr>Adding 10 numbers </vt:lpstr>
      <vt:lpstr>Adding 10 numbers </vt:lpstr>
      <vt:lpstr>Rule – Never lose input data </vt:lpstr>
      <vt:lpstr>Remembering the Numbers</vt:lpstr>
      <vt:lpstr>Arrays (fixed-size collections)</vt:lpstr>
      <vt:lpstr>Primitive types</vt:lpstr>
      <vt:lpstr>Structure of a primitive array</vt:lpstr>
      <vt:lpstr>Structure of a primitive array</vt:lpstr>
      <vt:lpstr>Structure of a primitive array</vt:lpstr>
      <vt:lpstr>Structure of a primitive array</vt:lpstr>
      <vt:lpstr>Structure of a primitive array</vt:lpstr>
      <vt:lpstr>Structure of a primitive array</vt:lpstr>
      <vt:lpstr>Structure of a primitive array</vt:lpstr>
      <vt:lpstr>Structure of a primitive array</vt:lpstr>
      <vt:lpstr>Structure of a primitive array</vt:lpstr>
      <vt:lpstr>Declaring a primitive array</vt:lpstr>
      <vt:lpstr>Declaring a primitive array</vt:lpstr>
      <vt:lpstr>Returning to our method  that reads in, and sums, 10 numbers (typed in from the keyboard)…</vt:lpstr>
      <vt:lpstr>Version that doesn’t save the numbers</vt:lpstr>
      <vt:lpstr>Using arrays to remember numbers</vt:lpstr>
      <vt:lpstr>Using arrays to remember numbers</vt:lpstr>
      <vt:lpstr>Using arrays to remember numbers</vt:lpstr>
      <vt:lpstr>What if we wanted the user  to decide how many numbers  they wanted to sum? </vt:lpstr>
      <vt:lpstr>PowerPoint Presentation</vt:lpstr>
      <vt:lpstr>What type of data  can be stored  in a primitive array? </vt:lpstr>
      <vt:lpstr>PowerPoint Presentation</vt:lpstr>
      <vt:lpstr>Do we have to use  all the elements in the array?</vt:lpstr>
      <vt:lpstr>Do we have to use all elements in the array?</vt:lpstr>
      <vt:lpstr>Scenario – exam results and average grade</vt:lpstr>
      <vt:lpstr>We create an array of int  with a capacity of 15</vt:lpstr>
      <vt:lpstr>Do we have to use all elements in the array?</vt:lpstr>
      <vt:lpstr>Summary - Arrays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Mairead Meagher</cp:lastModifiedBy>
  <cp:revision>356</cp:revision>
  <dcterms:created xsi:type="dcterms:W3CDTF">2006-08-16T00:00:00Z</dcterms:created>
  <dcterms:modified xsi:type="dcterms:W3CDTF">2024-11-20T12:29:53Z</dcterms:modified>
</cp:coreProperties>
</file>