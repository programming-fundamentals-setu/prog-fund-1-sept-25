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tiff" ContentType="image/tif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27"/>
  </p:notesMasterIdLst>
  <p:sldIdLst>
    <p:sldId id="325" r:id="rId2"/>
    <p:sldId id="488" r:id="rId3"/>
    <p:sldId id="435" r:id="rId4"/>
    <p:sldId id="436" r:id="rId5"/>
    <p:sldId id="437" r:id="rId6"/>
    <p:sldId id="438" r:id="rId7"/>
    <p:sldId id="486" r:id="rId8"/>
    <p:sldId id="433" r:id="rId9"/>
    <p:sldId id="439" r:id="rId10"/>
    <p:sldId id="440" r:id="rId11"/>
    <p:sldId id="496" r:id="rId12"/>
    <p:sldId id="444" r:id="rId13"/>
    <p:sldId id="497" r:id="rId14"/>
    <p:sldId id="445" r:id="rId15"/>
    <p:sldId id="492" r:id="rId16"/>
    <p:sldId id="461" r:id="rId17"/>
    <p:sldId id="462" r:id="rId18"/>
    <p:sldId id="493" r:id="rId19"/>
    <p:sldId id="460" r:id="rId20"/>
    <p:sldId id="491" r:id="rId21"/>
    <p:sldId id="463" r:id="rId22"/>
    <p:sldId id="466" r:id="rId23"/>
    <p:sldId id="467" r:id="rId24"/>
    <p:sldId id="347" r:id="rId25"/>
    <p:sldId id="354" r:id="rId2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browse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BDBED569-4797-4DF1-A0F4-6AAB3CD982D8}" styleName="Light Style 3 - Accent 5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912C8C85-51F0-491E-9774-3900AFEF0FD7}" styleName="Light Style 2 - Accent 6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</a:tcStyle>
    </a:band1H>
    <a:band1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1V>
    <a:band2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6"/>
        </a:fillRef>
      </a:tcStyle>
    </a:firstRow>
  </a:tblStyle>
  <a:tblStyle styleId="{1FECB4D8-DB02-4DC6-A0A2-4F2EBAE1DC90}" styleName="Medium Style 1 - Accent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3">
              <a:tint val="20000"/>
            </a:schemeClr>
          </a:solidFill>
        </a:fill>
      </a:tcStyle>
    </a:band1H>
    <a:band1V>
      <a:tcStyle>
        <a:tcBdr/>
        <a:fill>
          <a:solidFill>
            <a:schemeClr val="accent3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Row>
  </a:tblStyle>
  <a:tblStyle styleId="{10A1B5D5-9B99-4C35-A422-299274C87663}" styleName="Medium Style 1 - Accent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6">
              <a:tint val="20000"/>
            </a:schemeClr>
          </a:solidFill>
        </a:fill>
      </a:tcStyle>
    </a:band1H>
    <a:band1V>
      <a:tcStyle>
        <a:tcBdr/>
        <a:fill>
          <a:solidFill>
            <a:schemeClr val="accent6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D7AC3CCA-C797-4891-BE02-D94E43425B78}" styleName="Medium Style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 w="12700" cmpd="sng">
              <a:solidFill>
                <a:schemeClr val="dk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dk1">
              <a:tint val="20000"/>
            </a:schemeClr>
          </a:solidFill>
        </a:fill>
      </a:tcStyle>
    </a:firstRow>
  </a:tblStyle>
  <a:tblStyle styleId="{793D81CF-94F2-401A-BA57-92F5A7B2D0C5}" styleName="Medium Style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  <a:tblStyle styleId="{BC89EF96-8CEA-46FF-86C4-4CE0E7609802}" styleName="Light Style 3 - Accent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564" autoAdjust="0"/>
    <p:restoredTop sz="89116" autoAdjust="0"/>
  </p:normalViewPr>
  <p:slideViewPr>
    <p:cSldViewPr>
      <p:cViewPr>
        <p:scale>
          <a:sx n="101" d="100"/>
          <a:sy n="101" d="100"/>
        </p:scale>
        <p:origin x="560" y="-112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notesMaster" Target="notesMasters/notesMaster1.xml"/><Relationship Id="rId30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E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8C3D141-1E1C-433C-AD3A-CD56CBBB4F9F}" type="datetimeFigureOut">
              <a:rPr lang="en-IE" smtClean="0"/>
              <a:t>19/10/2025</a:t>
            </a:fld>
            <a:endParaRPr lang="en-IE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E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963DB36-5273-45A5-A77C-FE9BE0779D84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363454429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963DB36-5273-45A5-A77C-FE9BE0779D84}" type="slidenum">
              <a:rPr lang="en-IE" smtClean="0"/>
              <a:t>4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180221384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char letter = 'A';</a:t>
            </a:r>
          </a:p>
          <a:p>
            <a:r>
              <a:rPr lang="en-GB" dirty="0"/>
              <a:t>char </a:t>
            </a:r>
            <a:r>
              <a:rPr lang="en-GB" dirty="0" err="1"/>
              <a:t>letterLower</a:t>
            </a:r>
            <a:r>
              <a:rPr lang="en-GB" dirty="0"/>
              <a:t> = 'a';</a:t>
            </a:r>
          </a:p>
          <a:p>
            <a:r>
              <a:rPr lang="en-GB" dirty="0"/>
              <a:t>char </a:t>
            </a:r>
            <a:r>
              <a:rPr lang="en-GB" dirty="0" err="1"/>
              <a:t>uFada</a:t>
            </a:r>
            <a:r>
              <a:rPr lang="en-GB" dirty="0"/>
              <a:t> = 218;</a:t>
            </a:r>
          </a:p>
          <a:p>
            <a:endParaRPr lang="en-GB" dirty="0"/>
          </a:p>
          <a:p>
            <a:r>
              <a:rPr lang="en-GB" dirty="0"/>
              <a:t>for (int </a:t>
            </a:r>
            <a:r>
              <a:rPr lang="en-GB" dirty="0" err="1"/>
              <a:t>i</a:t>
            </a:r>
            <a:r>
              <a:rPr lang="en-GB" dirty="0"/>
              <a:t> = 0; </a:t>
            </a:r>
            <a:r>
              <a:rPr lang="en-GB" dirty="0" err="1"/>
              <a:t>i</a:t>
            </a:r>
            <a:r>
              <a:rPr lang="en-GB" dirty="0"/>
              <a:t> &lt; 26; </a:t>
            </a:r>
            <a:r>
              <a:rPr lang="en-GB" dirty="0" err="1"/>
              <a:t>i</a:t>
            </a:r>
            <a:r>
              <a:rPr lang="en-GB" dirty="0"/>
              <a:t>++)</a:t>
            </a:r>
          </a:p>
          <a:p>
            <a:r>
              <a:rPr lang="en-GB" dirty="0"/>
              <a:t>{</a:t>
            </a:r>
          </a:p>
          <a:p>
            <a:r>
              <a:rPr lang="en-GB" dirty="0"/>
              <a:t>  print(letter);</a:t>
            </a:r>
          </a:p>
          <a:p>
            <a:r>
              <a:rPr lang="en-GB" dirty="0"/>
              <a:t>  letter++;</a:t>
            </a:r>
          </a:p>
          <a:p>
            <a:r>
              <a:rPr lang="en-GB" dirty="0"/>
              <a:t>}</a:t>
            </a:r>
          </a:p>
          <a:p>
            <a:endParaRPr lang="en-GB" dirty="0"/>
          </a:p>
          <a:p>
            <a:r>
              <a:rPr lang="en-GB" dirty="0"/>
              <a:t>for (int </a:t>
            </a:r>
            <a:r>
              <a:rPr lang="en-GB" dirty="0" err="1"/>
              <a:t>i</a:t>
            </a:r>
            <a:r>
              <a:rPr lang="en-GB" dirty="0"/>
              <a:t> = 61; </a:t>
            </a:r>
            <a:r>
              <a:rPr lang="en-GB" dirty="0" err="1"/>
              <a:t>i</a:t>
            </a:r>
            <a:r>
              <a:rPr lang="en-GB" dirty="0"/>
              <a:t> &lt; 87; </a:t>
            </a:r>
            <a:r>
              <a:rPr lang="en-GB" dirty="0" err="1"/>
              <a:t>i</a:t>
            </a:r>
            <a:r>
              <a:rPr lang="en-GB" dirty="0"/>
              <a:t>++)</a:t>
            </a:r>
          </a:p>
          <a:p>
            <a:r>
              <a:rPr lang="en-GB" dirty="0"/>
              <a:t>{</a:t>
            </a:r>
          </a:p>
          <a:p>
            <a:r>
              <a:rPr lang="en-GB" dirty="0"/>
              <a:t>  print(</a:t>
            </a:r>
            <a:r>
              <a:rPr lang="en-GB" dirty="0" err="1"/>
              <a:t>letterLower</a:t>
            </a:r>
            <a:r>
              <a:rPr lang="en-GB" dirty="0"/>
              <a:t>);</a:t>
            </a:r>
          </a:p>
          <a:p>
            <a:r>
              <a:rPr lang="en-GB" dirty="0"/>
              <a:t>  </a:t>
            </a:r>
            <a:r>
              <a:rPr lang="en-GB" dirty="0" err="1"/>
              <a:t>letterLower</a:t>
            </a:r>
            <a:r>
              <a:rPr lang="en-GB" dirty="0"/>
              <a:t>++;</a:t>
            </a:r>
          </a:p>
          <a:p>
            <a:r>
              <a:rPr lang="en-GB" dirty="0"/>
              <a:t>}</a:t>
            </a:r>
          </a:p>
          <a:p>
            <a:endParaRPr lang="en-GB" dirty="0"/>
          </a:p>
          <a:p>
            <a:r>
              <a:rPr lang="en-GB" dirty="0"/>
              <a:t>// 218 U </a:t>
            </a:r>
            <a:r>
              <a:rPr lang="en-GB" dirty="0" err="1"/>
              <a:t>fada</a:t>
            </a:r>
            <a:endParaRPr lang="en-GB" dirty="0"/>
          </a:p>
          <a:p>
            <a:r>
              <a:rPr lang="en-GB" dirty="0" err="1"/>
              <a:t>println</a:t>
            </a:r>
            <a:r>
              <a:rPr lang="en-GB" dirty="0"/>
              <a:t>();</a:t>
            </a:r>
          </a:p>
          <a:p>
            <a:r>
              <a:rPr lang="en-GB" dirty="0" err="1"/>
              <a:t>println</a:t>
            </a:r>
            <a:r>
              <a:rPr lang="en-GB" dirty="0"/>
              <a:t>(</a:t>
            </a:r>
            <a:r>
              <a:rPr lang="en-GB" dirty="0" err="1"/>
              <a:t>uFada</a:t>
            </a:r>
            <a:r>
              <a:rPr lang="en-GB" dirty="0"/>
              <a:t>);</a:t>
            </a:r>
          </a:p>
          <a:p>
            <a:r>
              <a:rPr lang="en-GB" dirty="0" err="1"/>
              <a:t>println</a:t>
            </a:r>
            <a:r>
              <a:rPr lang="en-GB" dirty="0"/>
              <a:t> ('\u00DA');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963DB36-5273-45A5-A77C-FE9BE0779D84}" type="slidenum">
              <a:rPr lang="en-IE" smtClean="0"/>
              <a:t>5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311131876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IE" dirty="0"/>
              <a:t>char letter = 'A';</a:t>
            </a:r>
          </a:p>
          <a:p>
            <a:r>
              <a:rPr lang="en-IE" dirty="0"/>
              <a:t>char </a:t>
            </a:r>
            <a:r>
              <a:rPr lang="en-IE" dirty="0" err="1"/>
              <a:t>letterLower</a:t>
            </a:r>
            <a:r>
              <a:rPr lang="en-IE" dirty="0"/>
              <a:t> = 'a';</a:t>
            </a:r>
          </a:p>
          <a:p>
            <a:r>
              <a:rPr lang="en-IE" dirty="0"/>
              <a:t>char </a:t>
            </a:r>
            <a:r>
              <a:rPr lang="en-IE" dirty="0" err="1"/>
              <a:t>uFada</a:t>
            </a:r>
            <a:r>
              <a:rPr lang="en-IE" dirty="0"/>
              <a:t> = 218;</a:t>
            </a:r>
          </a:p>
          <a:p>
            <a:endParaRPr lang="en-IE" dirty="0"/>
          </a:p>
          <a:p>
            <a:r>
              <a:rPr lang="en-IE" dirty="0"/>
              <a:t>for (int </a:t>
            </a:r>
            <a:r>
              <a:rPr lang="en-IE" dirty="0" err="1"/>
              <a:t>i</a:t>
            </a:r>
            <a:r>
              <a:rPr lang="en-IE" dirty="0"/>
              <a:t> = 0; </a:t>
            </a:r>
            <a:r>
              <a:rPr lang="en-IE" dirty="0" err="1"/>
              <a:t>i</a:t>
            </a:r>
            <a:r>
              <a:rPr lang="en-IE" dirty="0"/>
              <a:t> &lt; 26; </a:t>
            </a:r>
            <a:r>
              <a:rPr lang="en-IE" dirty="0" err="1"/>
              <a:t>i</a:t>
            </a:r>
            <a:r>
              <a:rPr lang="en-IE" dirty="0"/>
              <a:t>++)</a:t>
            </a:r>
          </a:p>
          <a:p>
            <a:r>
              <a:rPr lang="en-IE" dirty="0"/>
              <a:t>{</a:t>
            </a:r>
          </a:p>
          <a:p>
            <a:r>
              <a:rPr lang="en-IE" dirty="0"/>
              <a:t>  print(letter);</a:t>
            </a:r>
          </a:p>
          <a:p>
            <a:r>
              <a:rPr lang="en-IE" dirty="0"/>
              <a:t>  letter++;</a:t>
            </a:r>
          </a:p>
          <a:p>
            <a:r>
              <a:rPr lang="en-IE" dirty="0"/>
              <a:t>}</a:t>
            </a:r>
          </a:p>
          <a:p>
            <a:endParaRPr lang="en-IE" dirty="0"/>
          </a:p>
          <a:p>
            <a:r>
              <a:rPr lang="en-IE" dirty="0"/>
              <a:t>for (int </a:t>
            </a:r>
            <a:r>
              <a:rPr lang="en-IE" dirty="0" err="1"/>
              <a:t>i</a:t>
            </a:r>
            <a:r>
              <a:rPr lang="en-IE" dirty="0"/>
              <a:t> = 61; </a:t>
            </a:r>
            <a:r>
              <a:rPr lang="en-IE" dirty="0" err="1"/>
              <a:t>i</a:t>
            </a:r>
            <a:r>
              <a:rPr lang="en-IE" dirty="0"/>
              <a:t> &lt; 87; </a:t>
            </a:r>
            <a:r>
              <a:rPr lang="en-IE" dirty="0" err="1"/>
              <a:t>i</a:t>
            </a:r>
            <a:r>
              <a:rPr lang="en-IE" dirty="0"/>
              <a:t>++)</a:t>
            </a:r>
          </a:p>
          <a:p>
            <a:r>
              <a:rPr lang="en-IE" dirty="0"/>
              <a:t>{</a:t>
            </a:r>
          </a:p>
          <a:p>
            <a:r>
              <a:rPr lang="en-IE" dirty="0"/>
              <a:t>  print(</a:t>
            </a:r>
            <a:r>
              <a:rPr lang="en-IE" dirty="0" err="1"/>
              <a:t>letterLower</a:t>
            </a:r>
            <a:r>
              <a:rPr lang="en-IE" dirty="0"/>
              <a:t>);</a:t>
            </a:r>
          </a:p>
          <a:p>
            <a:r>
              <a:rPr lang="en-IE" dirty="0"/>
              <a:t>  </a:t>
            </a:r>
            <a:r>
              <a:rPr lang="en-IE" dirty="0" err="1"/>
              <a:t>letterLower</a:t>
            </a:r>
            <a:r>
              <a:rPr lang="en-IE" dirty="0"/>
              <a:t>++;</a:t>
            </a:r>
          </a:p>
          <a:p>
            <a:r>
              <a:rPr lang="en-IE" dirty="0"/>
              <a:t>}</a:t>
            </a:r>
          </a:p>
          <a:p>
            <a:endParaRPr lang="en-IE" dirty="0"/>
          </a:p>
          <a:p>
            <a:r>
              <a:rPr lang="en-IE" dirty="0"/>
              <a:t>// 218 U </a:t>
            </a:r>
            <a:r>
              <a:rPr lang="en-IE" dirty="0" err="1"/>
              <a:t>fada</a:t>
            </a:r>
            <a:endParaRPr lang="en-IE" dirty="0"/>
          </a:p>
          <a:p>
            <a:r>
              <a:rPr lang="en-IE" dirty="0" err="1"/>
              <a:t>println</a:t>
            </a:r>
            <a:r>
              <a:rPr lang="en-IE" dirty="0"/>
              <a:t>();</a:t>
            </a:r>
          </a:p>
          <a:p>
            <a:r>
              <a:rPr lang="en-IE" dirty="0" err="1"/>
              <a:t>println</a:t>
            </a:r>
            <a:r>
              <a:rPr lang="en-IE" dirty="0"/>
              <a:t>(</a:t>
            </a:r>
            <a:r>
              <a:rPr lang="en-IE" dirty="0" err="1"/>
              <a:t>uFada</a:t>
            </a:r>
            <a:r>
              <a:rPr lang="en-IE" dirty="0"/>
              <a:t>);</a:t>
            </a:r>
          </a:p>
          <a:p>
            <a:r>
              <a:rPr lang="en-IE" dirty="0" err="1"/>
              <a:t>println</a:t>
            </a:r>
            <a:r>
              <a:rPr lang="en-IE"/>
              <a:t> ('\u00DA');</a:t>
            </a:r>
            <a:endParaRPr lang="en-I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963DB36-5273-45A5-A77C-FE9BE0779D84}" type="slidenum">
              <a:rPr lang="en-IE" smtClean="0"/>
              <a:t>6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351176950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963DB36-5273-45A5-A77C-FE9BE0779D84}" type="slidenum">
              <a:rPr lang="en-IE" smtClean="0"/>
              <a:t>9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180221384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963DB36-5273-45A5-A77C-FE9BE0779D84}" type="slidenum">
              <a:rPr lang="en-IE" smtClean="0"/>
              <a:t>12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281040893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IE" dirty="0"/>
              <a:t>String message = "I wonder how long this message is";</a:t>
            </a:r>
          </a:p>
          <a:p>
            <a:r>
              <a:rPr lang="en-IE" dirty="0"/>
              <a:t>print(</a:t>
            </a:r>
            <a:r>
              <a:rPr lang="en-IE" dirty="0" err="1"/>
              <a:t>message.length</a:t>
            </a:r>
            <a:r>
              <a:rPr lang="en-IE" dirty="0"/>
              <a:t>());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963DB36-5273-45A5-A77C-FE9BE0779D84}" type="slidenum">
              <a:rPr lang="en-IE" smtClean="0"/>
              <a:t>21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352374727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IE" dirty="0"/>
              <a:t>String message = "I wonder how long this message is";</a:t>
            </a:r>
          </a:p>
          <a:p>
            <a:r>
              <a:rPr lang="en-IE" dirty="0"/>
              <a:t>print("The String in Lowercase is: " + </a:t>
            </a:r>
            <a:r>
              <a:rPr lang="en-IE" dirty="0" err="1"/>
              <a:t>message.toLowerCase</a:t>
            </a:r>
            <a:r>
              <a:rPr lang="en-IE" dirty="0"/>
              <a:t>());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963DB36-5273-45A5-A77C-FE9BE0779D84}" type="slidenum">
              <a:rPr lang="en-IE" smtClean="0"/>
              <a:t>22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3523747273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IE" dirty="0"/>
              <a:t>String message = "    HTTP 404 Not Found Error     ";</a:t>
            </a:r>
          </a:p>
          <a:p>
            <a:r>
              <a:rPr lang="en-IE" dirty="0" err="1"/>
              <a:t>int</a:t>
            </a:r>
            <a:r>
              <a:rPr lang="en-IE" dirty="0"/>
              <a:t> </a:t>
            </a:r>
            <a:r>
              <a:rPr lang="en-IE" dirty="0" err="1"/>
              <a:t>originalLengthOfMsg</a:t>
            </a:r>
            <a:r>
              <a:rPr lang="en-IE" dirty="0"/>
              <a:t> = </a:t>
            </a:r>
            <a:r>
              <a:rPr lang="en-IE" dirty="0" err="1"/>
              <a:t>message.length</a:t>
            </a:r>
            <a:r>
              <a:rPr lang="en-IE" dirty="0"/>
              <a:t>();</a:t>
            </a:r>
          </a:p>
          <a:p>
            <a:endParaRPr lang="en-IE" dirty="0"/>
          </a:p>
          <a:p>
            <a:r>
              <a:rPr lang="en-IE" dirty="0"/>
              <a:t>String </a:t>
            </a:r>
            <a:r>
              <a:rPr lang="en-IE" dirty="0" err="1"/>
              <a:t>trimmedMessage</a:t>
            </a:r>
            <a:r>
              <a:rPr lang="en-IE" dirty="0"/>
              <a:t> = </a:t>
            </a:r>
            <a:r>
              <a:rPr lang="en-IE" dirty="0" err="1"/>
              <a:t>message.trim</a:t>
            </a:r>
            <a:r>
              <a:rPr lang="en-IE" dirty="0"/>
              <a:t>();</a:t>
            </a:r>
          </a:p>
          <a:p>
            <a:r>
              <a:rPr lang="en-IE" dirty="0" err="1"/>
              <a:t>int</a:t>
            </a:r>
            <a:r>
              <a:rPr lang="en-IE" dirty="0"/>
              <a:t> </a:t>
            </a:r>
            <a:r>
              <a:rPr lang="en-IE" dirty="0" err="1"/>
              <a:t>trimmedLengthOfMsg</a:t>
            </a:r>
            <a:r>
              <a:rPr lang="en-IE" dirty="0"/>
              <a:t> = </a:t>
            </a:r>
            <a:r>
              <a:rPr lang="en-IE" dirty="0" err="1"/>
              <a:t>trimmedMessage.length</a:t>
            </a:r>
            <a:r>
              <a:rPr lang="en-IE" dirty="0"/>
              <a:t>();</a:t>
            </a:r>
          </a:p>
          <a:p>
            <a:endParaRPr lang="en-IE" dirty="0"/>
          </a:p>
          <a:p>
            <a:r>
              <a:rPr lang="en-IE" dirty="0" err="1"/>
              <a:t>println</a:t>
            </a:r>
            <a:r>
              <a:rPr lang="en-IE" dirty="0"/>
              <a:t>("The original message " + message </a:t>
            </a:r>
          </a:p>
          <a:p>
            <a:r>
              <a:rPr lang="en-IE" dirty="0"/>
              <a:t>    + " is " + </a:t>
            </a:r>
            <a:r>
              <a:rPr lang="en-IE" dirty="0" err="1"/>
              <a:t>originalLengthOfMsg</a:t>
            </a:r>
            <a:r>
              <a:rPr lang="en-IE" dirty="0"/>
              <a:t> + " characters long");</a:t>
            </a:r>
          </a:p>
          <a:p>
            <a:endParaRPr lang="en-IE" dirty="0"/>
          </a:p>
          <a:p>
            <a:r>
              <a:rPr lang="en-IE" dirty="0" err="1"/>
              <a:t>println</a:t>
            </a:r>
            <a:r>
              <a:rPr lang="en-IE" dirty="0"/>
              <a:t>("The trimmed message " + </a:t>
            </a:r>
            <a:r>
              <a:rPr lang="en-IE" dirty="0" err="1"/>
              <a:t>trimmedMessage</a:t>
            </a:r>
            <a:r>
              <a:rPr lang="en-IE" dirty="0"/>
              <a:t> </a:t>
            </a:r>
          </a:p>
          <a:p>
            <a:r>
              <a:rPr lang="en-IE" dirty="0"/>
              <a:t>    + " is " + </a:t>
            </a:r>
            <a:r>
              <a:rPr lang="en-IE" dirty="0" err="1"/>
              <a:t>trimmedLengthOfMsg</a:t>
            </a:r>
            <a:r>
              <a:rPr lang="en-IE" dirty="0"/>
              <a:t> + " characters long");</a:t>
            </a:r>
          </a:p>
          <a:p>
            <a:endParaRPr lang="en-I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963DB36-5273-45A5-A77C-FE9BE0779D84}" type="slidenum">
              <a:rPr lang="en-IE" smtClean="0"/>
              <a:t>23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3523747273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963DB36-5273-45A5-A77C-FE9BE0779D84}" type="slidenum">
              <a:rPr lang="en-IE" smtClean="0"/>
              <a:t>24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276141817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6"/>
            <a:ext cx="10363200" cy="1470025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GB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10/19/25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9787259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l"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10/19/25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cxnSp>
        <p:nvCxnSpPr>
          <p:cNvPr id="7" name="Straight Connector 6"/>
          <p:cNvCxnSpPr/>
          <p:nvPr/>
        </p:nvCxnSpPr>
        <p:spPr>
          <a:xfrm>
            <a:off x="609600" y="1447800"/>
            <a:ext cx="11074400" cy="0"/>
          </a:xfrm>
          <a:prstGeom prst="line">
            <a:avLst/>
          </a:prstGeom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A54FA624-7CFC-3CFB-8384-E3FA99B20E94}"/>
              </a:ext>
            </a:extLst>
          </p:cNvPr>
          <p:cNvCxnSpPr/>
          <p:nvPr/>
        </p:nvCxnSpPr>
        <p:spPr>
          <a:xfrm>
            <a:off x="609600" y="1447800"/>
            <a:ext cx="11074400" cy="0"/>
          </a:xfrm>
          <a:prstGeom prst="line">
            <a:avLst/>
          </a:prstGeom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9C51F014-A304-3672-EB37-723E4843A104}"/>
              </a:ext>
            </a:extLst>
          </p:cNvPr>
          <p:cNvCxnSpPr/>
          <p:nvPr/>
        </p:nvCxnSpPr>
        <p:spPr>
          <a:xfrm>
            <a:off x="609600" y="1447800"/>
            <a:ext cx="11074400" cy="0"/>
          </a:xfrm>
          <a:prstGeom prst="line">
            <a:avLst/>
          </a:prstGeom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FDAB13D9-B7A5-0614-4651-2F9977D91910}"/>
              </a:ext>
            </a:extLst>
          </p:cNvPr>
          <p:cNvCxnSpPr/>
          <p:nvPr/>
        </p:nvCxnSpPr>
        <p:spPr>
          <a:xfrm>
            <a:off x="609600" y="1447800"/>
            <a:ext cx="11074400" cy="0"/>
          </a:xfrm>
          <a:prstGeom prst="line">
            <a:avLst/>
          </a:prstGeom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35B6F98E-998E-0C49-19D0-BD928FADEDE0}"/>
              </a:ext>
            </a:extLst>
          </p:cNvPr>
          <p:cNvCxnSpPr/>
          <p:nvPr userDrawn="1"/>
        </p:nvCxnSpPr>
        <p:spPr>
          <a:xfrm>
            <a:off x="609600" y="1447800"/>
            <a:ext cx="11074400" cy="0"/>
          </a:xfrm>
          <a:prstGeom prst="line">
            <a:avLst/>
          </a:prstGeom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5139050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10/19/25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9340556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l"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10/19/25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cxnSp>
        <p:nvCxnSpPr>
          <p:cNvPr id="8" name="Straight Connector 7"/>
          <p:cNvCxnSpPr/>
          <p:nvPr/>
        </p:nvCxnSpPr>
        <p:spPr>
          <a:xfrm>
            <a:off x="609600" y="1447800"/>
            <a:ext cx="110744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0F42A16B-6893-A143-E832-A99D7B6427B3}"/>
              </a:ext>
            </a:extLst>
          </p:cNvPr>
          <p:cNvCxnSpPr/>
          <p:nvPr/>
        </p:nvCxnSpPr>
        <p:spPr>
          <a:xfrm>
            <a:off x="609600" y="1447800"/>
            <a:ext cx="110744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9B64861E-C2E3-2C0F-0C43-CF6F042CC211}"/>
              </a:ext>
            </a:extLst>
          </p:cNvPr>
          <p:cNvCxnSpPr/>
          <p:nvPr/>
        </p:nvCxnSpPr>
        <p:spPr>
          <a:xfrm>
            <a:off x="609600" y="1447800"/>
            <a:ext cx="110744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2EE7CBAE-0172-1E89-E84D-992B77561804}"/>
              </a:ext>
            </a:extLst>
          </p:cNvPr>
          <p:cNvCxnSpPr/>
          <p:nvPr/>
        </p:nvCxnSpPr>
        <p:spPr>
          <a:xfrm>
            <a:off x="609600" y="1447800"/>
            <a:ext cx="110744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9C50A73E-1B0E-99B0-1273-3679BDBB1512}"/>
              </a:ext>
            </a:extLst>
          </p:cNvPr>
          <p:cNvCxnSpPr/>
          <p:nvPr userDrawn="1"/>
        </p:nvCxnSpPr>
        <p:spPr>
          <a:xfrm>
            <a:off x="609600" y="1447800"/>
            <a:ext cx="110744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5573580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l"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10/19/25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cxnSp>
        <p:nvCxnSpPr>
          <p:cNvPr id="10" name="Straight Connector 9"/>
          <p:cNvCxnSpPr/>
          <p:nvPr/>
        </p:nvCxnSpPr>
        <p:spPr>
          <a:xfrm>
            <a:off x="609600" y="1447800"/>
            <a:ext cx="110744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F3436290-11E2-F20B-966B-F18296CC48D7}"/>
              </a:ext>
            </a:extLst>
          </p:cNvPr>
          <p:cNvCxnSpPr/>
          <p:nvPr/>
        </p:nvCxnSpPr>
        <p:spPr>
          <a:xfrm>
            <a:off x="609600" y="1447800"/>
            <a:ext cx="110744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A92CD0C1-F3B9-C92E-D990-6E9A57623D5A}"/>
              </a:ext>
            </a:extLst>
          </p:cNvPr>
          <p:cNvCxnSpPr/>
          <p:nvPr/>
        </p:nvCxnSpPr>
        <p:spPr>
          <a:xfrm>
            <a:off x="609600" y="1447800"/>
            <a:ext cx="110744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CAB2DBB3-4EEF-3DFF-199A-BA6AB3793D3C}"/>
              </a:ext>
            </a:extLst>
          </p:cNvPr>
          <p:cNvCxnSpPr/>
          <p:nvPr userDrawn="1"/>
        </p:nvCxnSpPr>
        <p:spPr>
          <a:xfrm>
            <a:off x="609600" y="1447800"/>
            <a:ext cx="110744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3360322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l"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10/19/25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cxnSp>
        <p:nvCxnSpPr>
          <p:cNvPr id="6" name="Straight Connector 5"/>
          <p:cNvCxnSpPr/>
          <p:nvPr/>
        </p:nvCxnSpPr>
        <p:spPr>
          <a:xfrm>
            <a:off x="609600" y="1447800"/>
            <a:ext cx="110744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BDB4946F-2A50-46DF-D246-8E463A5B9E4E}"/>
              </a:ext>
            </a:extLst>
          </p:cNvPr>
          <p:cNvCxnSpPr/>
          <p:nvPr/>
        </p:nvCxnSpPr>
        <p:spPr>
          <a:xfrm>
            <a:off x="609600" y="1447800"/>
            <a:ext cx="110744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CCF61A43-37C0-D158-13BE-1753663F3BEC}"/>
              </a:ext>
            </a:extLst>
          </p:cNvPr>
          <p:cNvCxnSpPr/>
          <p:nvPr/>
        </p:nvCxnSpPr>
        <p:spPr>
          <a:xfrm>
            <a:off x="609600" y="1447800"/>
            <a:ext cx="110744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551A815F-BB18-F13C-32C4-8E79100BCF82}"/>
              </a:ext>
            </a:extLst>
          </p:cNvPr>
          <p:cNvCxnSpPr/>
          <p:nvPr/>
        </p:nvCxnSpPr>
        <p:spPr>
          <a:xfrm>
            <a:off x="609600" y="1447800"/>
            <a:ext cx="110744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1F0757EC-8007-C46D-7D50-F765C16D5B92}"/>
              </a:ext>
            </a:extLst>
          </p:cNvPr>
          <p:cNvCxnSpPr/>
          <p:nvPr userDrawn="1"/>
        </p:nvCxnSpPr>
        <p:spPr>
          <a:xfrm>
            <a:off x="609600" y="1447800"/>
            <a:ext cx="110744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0662750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10/19/25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7286591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10/19/25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0291290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GB"/>
              <a:t>Click icon to add picture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10/19/25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3779383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10/19/25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6388577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39"/>
            <a:ext cx="2743200" cy="5851525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39"/>
            <a:ext cx="8026400" cy="5851525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10/19/25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1328998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 &amp; Bulle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Shape 22"/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lang="en-GB"/>
              <a:t>Click to edit Master title style</a:t>
            </a:r>
            <a:endParaRPr/>
          </a:p>
        </p:txBody>
      </p:sp>
      <p:sp>
        <p:nvSpPr>
          <p:cNvPr id="23" name="Shape 23"/>
          <p:cNvSpPr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/>
          </a:p>
        </p:txBody>
      </p:sp>
      <p:sp>
        <p:nvSpPr>
          <p:cNvPr id="24" name="Shape 24"/>
          <p:cNvSpPr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2659367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Text"/>
          <p:cNvSpPr txBox="1">
            <a:spLocks noGrp="1"/>
          </p:cNvSpPr>
          <p:nvPr>
            <p:ph type="title"/>
          </p:nvPr>
        </p:nvSpPr>
        <p:spPr>
          <a:xfrm>
            <a:off x="863600" y="2286000"/>
            <a:ext cx="10464801" cy="1143001"/>
          </a:xfrm>
          <a:prstGeom prst="rect">
            <a:avLst/>
          </a:prstGeom>
        </p:spPr>
        <p:txBody>
          <a:bodyPr/>
          <a:lstStyle/>
          <a:p>
            <a:r>
              <a:rPr lang="en-GB"/>
              <a:t>Click to edit Master title style</a:t>
            </a:r>
            <a:endParaRPr dirty="0"/>
          </a:p>
        </p:txBody>
      </p:sp>
      <p:sp>
        <p:nvSpPr>
          <p:cNvPr id="16" name="Subtitle"/>
          <p:cNvSpPr txBox="1">
            <a:spLocks noGrp="1"/>
          </p:cNvSpPr>
          <p:nvPr>
            <p:ph type="body" sz="quarter" idx="22"/>
          </p:nvPr>
        </p:nvSpPr>
        <p:spPr>
          <a:xfrm>
            <a:off x="957115" y="3465604"/>
            <a:ext cx="10134430" cy="846384"/>
          </a:xfrm>
          <a:prstGeom prst="rect">
            <a:avLst/>
          </a:prstGeom>
        </p:spPr>
        <p:txBody>
          <a:bodyPr anchor="ctr">
            <a:spAutoFit/>
          </a:bodyPr>
          <a:lstStyle>
            <a:lvl1pPr marL="0" indent="0" algn="ctr">
              <a:spcBef>
                <a:spcPts val="0"/>
              </a:spcBef>
              <a:buClrTx/>
              <a:buSzTx/>
              <a:buFontTx/>
              <a:buNone/>
              <a:defRPr>
                <a:solidFill>
                  <a:srgbClr val="2F4468"/>
                </a:solidFill>
              </a:defRPr>
            </a:lvl1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17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11091544" y="6360984"/>
            <a:ext cx="495649" cy="492440"/>
          </a:xfrm>
          <a:prstGeom prst="rect">
            <a:avLst/>
          </a:prstGeom>
        </p:spPr>
        <p:txBody>
          <a:bodyPr/>
          <a:lstStyle>
            <a:lvl1pPr>
              <a:defRPr sz="2000"/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28298566"/>
      </p:ext>
    </p:extLst>
  </p:cSld>
  <p:clrMapOvr>
    <a:masterClrMapping/>
  </p:clrMapOvr>
  <p:transition spd="med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xAndChart">
  <p:cSld name="Title, Text and Ch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20800" y="381000"/>
            <a:ext cx="10363200" cy="1143000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1625600" y="1828800"/>
            <a:ext cx="4876800" cy="4267200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Chart Placeholder 3"/>
          <p:cNvSpPr>
            <a:spLocks noGrp="1"/>
          </p:cNvSpPr>
          <p:nvPr>
            <p:ph type="chart" sz="half" idx="2"/>
          </p:nvPr>
        </p:nvSpPr>
        <p:spPr>
          <a:xfrm>
            <a:off x="6705600" y="1828800"/>
            <a:ext cx="4876800" cy="4267200"/>
          </a:xfrm>
        </p:spPr>
        <p:txBody>
          <a:bodyPr/>
          <a:lstStyle/>
          <a:p>
            <a:pPr lvl="0"/>
            <a:r>
              <a:rPr lang="en-GB" noProof="0"/>
              <a:t>Click icon to add chart</a:t>
            </a:r>
            <a:endParaRPr lang="en-US" noProof="0"/>
          </a:p>
        </p:txBody>
      </p:sp>
      <p:sp>
        <p:nvSpPr>
          <p:cNvPr id="5" name="Rectangle 1028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5617984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8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600201"/>
            <a:ext cx="109728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10/19/25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5316197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hyperlink" Target="http://en.wikipedia.org/wiki/List_of_Unicode_characters" TargetMode="Externa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unicode-table.com/en/#control-character" TargetMode="External"/><Relationship Id="rId5" Type="http://schemas.openxmlformats.org/officeDocument/2006/relationships/image" Target="../media/image2.tiff"/><Relationship Id="rId4" Type="http://schemas.openxmlformats.org/officeDocument/2006/relationships/hyperlink" Target="https://en.wikipedia.org/wiki/List_of_Unicode_characters" TargetMode="Externa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hyperlink" Target="http://www.tutorialspoint.com/java/pdf/java_strings.pdf" TargetMode="Externa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hyperlink" Target="https://docs.oracle.com/javase/8/docs/api/index.html?overview-summary.html" TargetMode="Externa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docs.oracle.com/javase/8/docs/api/java/lang/String.html" TargetMode="Externa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hyperlink" Target="https://docs.oracle.com/javase/8/docs/api/java/lang/String.html" TargetMode="Externa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hyperlink" Target="https://docs.oracle.com/javase/8/docs/api/java/lang/String.html" TargetMode="Externa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175641" y="914401"/>
            <a:ext cx="7772400" cy="1470025"/>
          </a:xfrm>
        </p:spPr>
        <p:txBody>
          <a:bodyPr>
            <a:normAutofit/>
          </a:bodyPr>
          <a:lstStyle/>
          <a:p>
            <a:pPr algn="l"/>
            <a:r>
              <a:rPr lang="en-IE" sz="4000" dirty="0"/>
              <a:t>Strings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638300" y="3810000"/>
            <a:ext cx="1866900" cy="1066800"/>
          </a:xfrm>
        </p:spPr>
        <p:txBody>
          <a:bodyPr>
            <a:norm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</a:pPr>
            <a:r>
              <a:rPr lang="en-IE" sz="2400" dirty="0"/>
              <a:t>Produced </a:t>
            </a:r>
          </a:p>
          <a:p>
            <a:pPr algn="r">
              <a:lnSpc>
                <a:spcPct val="110000"/>
              </a:lnSpc>
              <a:spcBef>
                <a:spcPts val="0"/>
              </a:spcBef>
            </a:pPr>
            <a:r>
              <a:rPr lang="en-IE" sz="2400" dirty="0"/>
              <a:t>by:</a:t>
            </a:r>
          </a:p>
        </p:txBody>
      </p:sp>
      <p:cxnSp>
        <p:nvCxnSpPr>
          <p:cNvPr id="6" name="Straight Connector 5"/>
          <p:cNvCxnSpPr/>
          <p:nvPr/>
        </p:nvCxnSpPr>
        <p:spPr>
          <a:xfrm>
            <a:off x="2251841" y="3124200"/>
            <a:ext cx="76200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Title 1"/>
          <p:cNvSpPr txBox="1">
            <a:spLocks/>
          </p:cNvSpPr>
          <p:nvPr/>
        </p:nvSpPr>
        <p:spPr>
          <a:xfrm>
            <a:off x="2175640" y="2133601"/>
            <a:ext cx="9482959" cy="9366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IE" sz="32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Strings and their methods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4087C74C-F075-4B2F-8FEE-52D5B5C33C31}"/>
              </a:ext>
            </a:extLst>
          </p:cNvPr>
          <p:cNvSpPr txBox="1"/>
          <p:nvPr/>
        </p:nvSpPr>
        <p:spPr>
          <a:xfrm>
            <a:off x="3810000" y="3817204"/>
            <a:ext cx="358140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E" sz="24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Dr.</a:t>
            </a:r>
            <a:r>
              <a:rPr lang="en-IE" sz="2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</a:t>
            </a:r>
            <a:r>
              <a:rPr lang="en-IE" sz="24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Siobhán</a:t>
            </a:r>
            <a:r>
              <a:rPr lang="en-IE" sz="2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</a:t>
            </a:r>
            <a:r>
              <a:rPr lang="en-IE" sz="24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Drohan</a:t>
            </a:r>
            <a:endParaRPr lang="en-IE" sz="24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r>
              <a:rPr lang="en-IE" sz="2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Ms Mairead Meagher</a:t>
            </a:r>
          </a:p>
          <a:p>
            <a:r>
              <a:rPr lang="en-IE" sz="2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Ms Siobhan Roche</a:t>
            </a:r>
          </a:p>
        </p:txBody>
      </p:sp>
      <p:sp>
        <p:nvSpPr>
          <p:cNvPr id="9" name="TextBox 9">
            <a:extLst>
              <a:ext uri="{FF2B5EF4-FFF2-40B4-BE49-F238E27FC236}">
                <a16:creationId xmlns:a16="http://schemas.microsoft.com/office/drawing/2014/main" id="{E5EDBBD5-5206-0C49-BE0B-E2BB37DC7284}"/>
              </a:ext>
            </a:extLst>
          </p:cNvPr>
          <p:cNvSpPr txBox="1"/>
          <p:nvPr/>
        </p:nvSpPr>
        <p:spPr>
          <a:xfrm>
            <a:off x="4288221" y="6009985"/>
            <a:ext cx="620635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E" sz="1600" dirty="0">
                <a:solidFill>
                  <a:schemeClr val="tx2">
                    <a:lumMod val="75000"/>
                  </a:schemeClr>
                </a:solidFill>
              </a:rPr>
              <a:t>Department of Computing and Mathematics</a:t>
            </a:r>
          </a:p>
          <a:p>
            <a:r>
              <a:rPr lang="en-IE" sz="1600" dirty="0" err="1">
                <a:solidFill>
                  <a:schemeClr val="tx2">
                    <a:lumMod val="75000"/>
                  </a:schemeClr>
                </a:solidFill>
              </a:rPr>
              <a:t>setu.ie</a:t>
            </a:r>
            <a:endParaRPr lang="en-IE" sz="1600" dirty="0">
              <a:solidFill>
                <a:schemeClr val="tx2">
                  <a:lumMod val="75000"/>
                </a:schemeClr>
              </a:solidFill>
            </a:endParaRP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48F2109A-3EE6-855A-93B7-D09DF33BEF6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57400" y="5768129"/>
            <a:ext cx="1905954" cy="10684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064306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E" dirty="0"/>
              <a:t>Topics list - </a:t>
            </a:r>
            <a:r>
              <a:rPr lang="en-IE" b="1" dirty="0"/>
              <a:t>Strings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>
          <a:xfrm>
            <a:off x="1981200" y="1600200"/>
            <a:ext cx="8458200" cy="5105400"/>
          </a:xfrm>
        </p:spPr>
        <p:txBody>
          <a:bodyPr>
            <a:normAutofit/>
          </a:bodyPr>
          <a:lstStyle/>
          <a:p>
            <a:pPr marL="514350" indent="-514350">
              <a:buFont typeface="+mj-lt"/>
              <a:buAutoNum type="arabicPeriod"/>
            </a:pPr>
            <a:r>
              <a:rPr lang="en-IE" dirty="0"/>
              <a:t>Primitive Types: </a:t>
            </a:r>
            <a:r>
              <a:rPr lang="en-IE" b="1" dirty="0"/>
              <a:t>char</a:t>
            </a:r>
          </a:p>
          <a:p>
            <a:pPr marL="514350" indent="-514350">
              <a:buFont typeface="+mj-lt"/>
              <a:buAutoNum type="arabicPeriod"/>
            </a:pPr>
            <a:r>
              <a:rPr lang="en-IE" dirty="0"/>
              <a:t>Object Types: </a:t>
            </a:r>
            <a:r>
              <a:rPr lang="en-IE" b="1" dirty="0"/>
              <a:t>String</a:t>
            </a:r>
          </a:p>
          <a:p>
            <a:pPr marL="514350" indent="-514350">
              <a:buFont typeface="+mj-lt"/>
              <a:buAutoNum type="arabicPeriod"/>
            </a:pPr>
            <a:r>
              <a:rPr lang="en-IE" dirty="0"/>
              <a:t>Strings and </a:t>
            </a:r>
            <a:r>
              <a:rPr lang="en-IE" b="1" dirty="0"/>
              <a:t>Java API</a:t>
            </a:r>
          </a:p>
          <a:p>
            <a:pPr marL="514350" indent="-514350">
              <a:buFont typeface="+mj-lt"/>
              <a:buAutoNum type="arabicPeriod"/>
            </a:pPr>
            <a:r>
              <a:rPr lang="en-IE" dirty="0"/>
              <a:t>Strings – </a:t>
            </a:r>
            <a:r>
              <a:rPr lang="en-IE" b="1" dirty="0"/>
              <a:t>methods</a:t>
            </a:r>
          </a:p>
          <a:p>
            <a:pPr marL="514350" indent="-514350">
              <a:buFont typeface="+mj-lt"/>
              <a:buAutoNum type="arabicPeriod"/>
            </a:pPr>
            <a:r>
              <a:rPr lang="en-IE" b="1" dirty="0"/>
              <a:t>Method calls </a:t>
            </a:r>
          </a:p>
          <a:p>
            <a:pPr marL="914400" lvl="1" indent="-514350"/>
            <a:r>
              <a:rPr lang="en-IE" b="1" dirty="0"/>
              <a:t>Internal</a:t>
            </a:r>
          </a:p>
          <a:p>
            <a:pPr marL="914400" lvl="1" indent="-514350"/>
            <a:r>
              <a:rPr lang="en-IE" b="1" dirty="0"/>
              <a:t>External</a:t>
            </a:r>
          </a:p>
          <a:p>
            <a:pPr marL="914400" lvl="1" indent="-514350"/>
            <a:r>
              <a:rPr lang="en-IE" b="1" dirty="0"/>
              <a:t>Dot notation</a:t>
            </a:r>
          </a:p>
          <a:p>
            <a:pPr marL="514350" indent="-514350">
              <a:buFont typeface="+mj-lt"/>
              <a:buAutoNum type="arabicPeriod"/>
            </a:pPr>
            <a:r>
              <a:rPr lang="en-IE" dirty="0"/>
              <a:t>Using String methods:  some </a:t>
            </a:r>
            <a:r>
              <a:rPr lang="en-IE" b="1" dirty="0"/>
              <a:t>examples</a:t>
            </a:r>
          </a:p>
        </p:txBody>
      </p:sp>
      <p:sp>
        <p:nvSpPr>
          <p:cNvPr id="7" name="Rectangle 6"/>
          <p:cNvSpPr/>
          <p:nvPr/>
        </p:nvSpPr>
        <p:spPr>
          <a:xfrm>
            <a:off x="1905000" y="1619992"/>
            <a:ext cx="8382000" cy="533400"/>
          </a:xfrm>
          <a:prstGeom prst="rect">
            <a:avLst/>
          </a:prstGeom>
          <a:noFill/>
          <a:ln w="444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4928100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1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7" dur="2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E" dirty="0"/>
              <a:t>Recap: Primitive Types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600" y="1905001"/>
            <a:ext cx="5867400" cy="4952999"/>
          </a:xfrm>
        </p:spPr>
        <p:txBody>
          <a:bodyPr>
            <a:normAutofit lnSpcReduction="10000"/>
          </a:bodyPr>
          <a:lstStyle/>
          <a:p>
            <a:r>
              <a:rPr lang="en-US" dirty="0"/>
              <a:t>Java programming language supports </a:t>
            </a:r>
            <a:r>
              <a:rPr lang="en-US" b="1" u="sng" dirty="0"/>
              <a:t>eight</a:t>
            </a:r>
            <a:r>
              <a:rPr lang="en-US" dirty="0"/>
              <a:t>  primitive data types.</a:t>
            </a:r>
            <a:br>
              <a:rPr lang="en-US" dirty="0"/>
            </a:br>
            <a:r>
              <a:rPr lang="en-US" dirty="0"/>
              <a:t> </a:t>
            </a:r>
          </a:p>
          <a:p>
            <a:r>
              <a:rPr lang="en-US" dirty="0"/>
              <a:t>The </a:t>
            </a:r>
            <a:r>
              <a:rPr lang="en-US" b="1" dirty="0">
                <a:solidFill>
                  <a:srgbClr val="FF0000"/>
                </a:solidFill>
              </a:rPr>
              <a:t>char</a:t>
            </a:r>
            <a:r>
              <a:rPr lang="en-US" dirty="0"/>
              <a:t> data type stores </a:t>
            </a:r>
            <a:br>
              <a:rPr lang="en-US" dirty="0"/>
            </a:br>
            <a:r>
              <a:rPr lang="en-US" u="sng" dirty="0"/>
              <a:t>one</a:t>
            </a:r>
            <a:r>
              <a:rPr lang="en-US" dirty="0"/>
              <a:t> single character </a:t>
            </a:r>
            <a:br>
              <a:rPr lang="en-US" dirty="0"/>
            </a:br>
            <a:r>
              <a:rPr lang="en-US" dirty="0"/>
              <a:t>which is delimited by single quotes(‘) </a:t>
            </a:r>
            <a:br>
              <a:rPr lang="en-US" dirty="0"/>
            </a:br>
            <a:r>
              <a:rPr lang="en-US" dirty="0"/>
              <a:t>e.g.</a:t>
            </a:r>
          </a:p>
          <a:p>
            <a:pPr marL="0" indent="0">
              <a:buNone/>
            </a:pPr>
            <a:r>
              <a:rPr lang="en-US" dirty="0"/>
              <a:t>         char letter = ‘a’;</a:t>
            </a:r>
          </a:p>
        </p:txBody>
      </p:sp>
      <p:graphicFrame>
        <p:nvGraphicFramePr>
          <p:cNvPr id="4" name="Content Placeholder 3"/>
          <p:cNvGraphicFramePr>
            <a:graphicFrameLocks/>
          </p:cNvGraphicFramePr>
          <p:nvPr/>
        </p:nvGraphicFramePr>
        <p:xfrm>
          <a:off x="6629400" y="1905000"/>
          <a:ext cx="3657600" cy="4114982"/>
        </p:xfrm>
        <a:graphic>
          <a:graphicData uri="http://schemas.openxmlformats.org/drawingml/2006/table">
            <a:tbl>
              <a:tblPr>
                <a:tableStyleId>{BDBED569-4797-4DF1-A0F4-6AAB3CD982D8}</a:tableStyleId>
              </a:tblPr>
              <a:tblGrid>
                <a:gridCol w="151847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3912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57382">
                <a:tc>
                  <a:txBody>
                    <a:bodyPr/>
                    <a:lstStyle/>
                    <a:p>
                      <a:pPr algn="l"/>
                      <a:r>
                        <a:rPr lang="en-IE" sz="2400" dirty="0"/>
                        <a:t>Data Type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IE" sz="2400" dirty="0"/>
                        <a:t>Default Value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6318">
                <a:tc>
                  <a:txBody>
                    <a:bodyPr/>
                    <a:lstStyle/>
                    <a:p>
                      <a:r>
                        <a:rPr lang="en-IE" sz="2400" dirty="0"/>
                        <a:t>byte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E" sz="2400" dirty="0"/>
                        <a:t>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6318">
                <a:tc>
                  <a:txBody>
                    <a:bodyPr/>
                    <a:lstStyle/>
                    <a:p>
                      <a:r>
                        <a:rPr lang="en-IE" sz="2400" dirty="0"/>
                        <a:t>short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E" sz="2400"/>
                        <a:t>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6318">
                <a:tc>
                  <a:txBody>
                    <a:bodyPr/>
                    <a:lstStyle/>
                    <a:p>
                      <a:r>
                        <a:rPr lang="en-IE" sz="2400" dirty="0" err="1"/>
                        <a:t>int</a:t>
                      </a:r>
                      <a:endParaRPr lang="en-IE" sz="2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E" sz="2400"/>
                        <a:t>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6318">
                <a:tc>
                  <a:txBody>
                    <a:bodyPr/>
                    <a:lstStyle/>
                    <a:p>
                      <a:r>
                        <a:rPr lang="en-IE" sz="2400" dirty="0"/>
                        <a:t>long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E" sz="2400"/>
                        <a:t>0L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86318">
                <a:tc>
                  <a:txBody>
                    <a:bodyPr/>
                    <a:lstStyle/>
                    <a:p>
                      <a:r>
                        <a:rPr lang="en-IE" sz="2400" dirty="0"/>
                        <a:t>float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E" sz="2400"/>
                        <a:t>0.0f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86318">
                <a:tc>
                  <a:txBody>
                    <a:bodyPr/>
                    <a:lstStyle/>
                    <a:p>
                      <a:r>
                        <a:rPr lang="en-IE" sz="2400"/>
                        <a:t>double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E" sz="2400" dirty="0"/>
                        <a:t>0.0d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86318">
                <a:tc>
                  <a:txBody>
                    <a:bodyPr/>
                    <a:lstStyle/>
                    <a:p>
                      <a:r>
                        <a:rPr lang="en-IE" sz="2400"/>
                        <a:t>char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E" sz="2400" dirty="0"/>
                        <a:t>'\u0000'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86318">
                <a:tc>
                  <a:txBody>
                    <a:bodyPr/>
                    <a:lstStyle/>
                    <a:p>
                      <a:r>
                        <a:rPr lang="en-IE" sz="2400" dirty="0" err="1"/>
                        <a:t>boolean</a:t>
                      </a:r>
                      <a:endParaRPr lang="en-IE" sz="2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E" sz="2400" dirty="0"/>
                        <a:t>false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5" name="Donut 4"/>
          <p:cNvSpPr/>
          <p:nvPr/>
        </p:nvSpPr>
        <p:spPr>
          <a:xfrm>
            <a:off x="6400800" y="914400"/>
            <a:ext cx="1676400" cy="5943600"/>
          </a:xfrm>
          <a:prstGeom prst="donut">
            <a:avLst>
              <a:gd name="adj" fmla="val 2615"/>
            </a:avLst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5397307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1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7" dur="2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E" dirty="0"/>
              <a:t>Primitive Types: </a:t>
            </a:r>
            <a:r>
              <a:rPr lang="en-IE" b="1" dirty="0"/>
              <a:t>char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828800" y="1752600"/>
            <a:ext cx="8610600" cy="3886200"/>
          </a:xfr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>
            <a:normAutofit/>
          </a:bodyPr>
          <a:lstStyle/>
          <a:p>
            <a:pPr marL="0" indent="0">
              <a:buNone/>
            </a:pPr>
            <a:r>
              <a:rPr lang="en-IE" sz="2400" dirty="0">
                <a:solidFill>
                  <a:srgbClr val="FF0000"/>
                </a:solidFill>
              </a:rPr>
              <a:t>// VALID USE</a:t>
            </a:r>
          </a:p>
          <a:p>
            <a:pPr marL="0" indent="0">
              <a:buNone/>
            </a:pPr>
            <a:r>
              <a:rPr lang="en-IE" sz="2400" dirty="0"/>
              <a:t>char letter  = ‘n’;	//Assign ‘n’ to the letter variable</a:t>
            </a:r>
          </a:p>
          <a:p>
            <a:pPr marL="0" indent="0">
              <a:buNone/>
            </a:pPr>
            <a:r>
              <a:rPr lang="en-IE" sz="2400" dirty="0"/>
              <a:t>char letter = ‘N’;	//Assign ‘N’ to the letter variable</a:t>
            </a:r>
          </a:p>
          <a:p>
            <a:pPr marL="0" indent="0">
              <a:buNone/>
            </a:pPr>
            <a:endParaRPr lang="en-IE" sz="2400" dirty="0"/>
          </a:p>
          <a:p>
            <a:pPr marL="0" indent="0">
              <a:buNone/>
            </a:pPr>
            <a:r>
              <a:rPr lang="en-IE" sz="2400" dirty="0">
                <a:solidFill>
                  <a:srgbClr val="FF0000"/>
                </a:solidFill>
              </a:rPr>
              <a:t>// INVALID USE</a:t>
            </a:r>
          </a:p>
          <a:p>
            <a:pPr marL="0" indent="0">
              <a:buNone/>
            </a:pPr>
            <a:r>
              <a:rPr lang="en-IE" sz="2400" dirty="0"/>
              <a:t>char letter = n;		//ERROR – no single quotes around n.</a:t>
            </a:r>
          </a:p>
          <a:p>
            <a:pPr marL="0" indent="0">
              <a:buNone/>
            </a:pPr>
            <a:r>
              <a:rPr lang="en-IE" sz="2400" dirty="0"/>
              <a:t>char letter = “n”;	//ERROR – double quotes around n.</a:t>
            </a:r>
          </a:p>
          <a:p>
            <a:pPr marL="0" indent="0">
              <a:buNone/>
            </a:pPr>
            <a:r>
              <a:rPr lang="en-IE" sz="2400" dirty="0"/>
              <a:t>char letter = “not”;   	//ERROR – char can only hold one character.</a:t>
            </a:r>
          </a:p>
          <a:p>
            <a:pPr marL="0" indent="0">
              <a:buNone/>
            </a:pPr>
            <a:endParaRPr lang="en-IE" sz="2800" dirty="0"/>
          </a:p>
          <a:p>
            <a:pPr marL="0" indent="0">
              <a:buNone/>
            </a:pPr>
            <a:endParaRPr lang="en-IE" dirty="0"/>
          </a:p>
        </p:txBody>
      </p:sp>
      <p:sp>
        <p:nvSpPr>
          <p:cNvPr id="4" name="Rectangle 3"/>
          <p:cNvSpPr/>
          <p:nvPr/>
        </p:nvSpPr>
        <p:spPr>
          <a:xfrm>
            <a:off x="5105400" y="6581002"/>
            <a:ext cx="5562600" cy="2769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en-IE" sz="1200" dirty="0"/>
              <a:t>Source:  </a:t>
            </a:r>
            <a:r>
              <a:rPr lang="en-IE" sz="1200" dirty="0" err="1"/>
              <a:t>Reas</a:t>
            </a:r>
            <a:r>
              <a:rPr lang="en-IE" sz="1200" dirty="0"/>
              <a:t> &amp; Fry (2014)</a:t>
            </a:r>
          </a:p>
        </p:txBody>
      </p:sp>
    </p:spTree>
    <p:extLst>
      <p:ext uri="{BB962C8B-B14F-4D97-AF65-F5344CB8AC3E}">
        <p14:creationId xmlns:p14="http://schemas.microsoft.com/office/powerpoint/2010/main" val="215515935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E" dirty="0"/>
              <a:t>Primitive Types: char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fontAlgn="t"/>
            <a:r>
              <a:rPr lang="en-IE" dirty="0"/>
              <a:t>char is a 16-bit Unicode character. </a:t>
            </a:r>
            <a:br>
              <a:rPr lang="en-IE" dirty="0"/>
            </a:br>
            <a:r>
              <a:rPr lang="en-IE" dirty="0"/>
              <a:t> </a:t>
            </a:r>
          </a:p>
          <a:p>
            <a:pPr fontAlgn="t"/>
            <a:r>
              <a:rPr lang="en-IE" dirty="0"/>
              <a:t>It’s values range:</a:t>
            </a:r>
          </a:p>
          <a:p>
            <a:pPr lvl="1" fontAlgn="t"/>
            <a:r>
              <a:rPr lang="en-IE" dirty="0"/>
              <a:t>from '\u0000‘ (or 0) </a:t>
            </a:r>
          </a:p>
          <a:p>
            <a:pPr lvl="1" fontAlgn="t"/>
            <a:r>
              <a:rPr lang="en-IE" dirty="0"/>
              <a:t>to '\</a:t>
            </a:r>
            <a:r>
              <a:rPr lang="en-IE" dirty="0" err="1"/>
              <a:t>uffff</a:t>
            </a:r>
            <a:r>
              <a:rPr lang="en-IE" dirty="0"/>
              <a:t>' (or 65,535)</a:t>
            </a:r>
            <a:br>
              <a:rPr lang="en-IE" dirty="0"/>
            </a:br>
            <a:endParaRPr lang="en-IE" dirty="0"/>
          </a:p>
          <a:p>
            <a:r>
              <a:rPr lang="en-IE" dirty="0"/>
              <a:t>For example:  </a:t>
            </a:r>
          </a:p>
          <a:p>
            <a:pPr lvl="1"/>
            <a:r>
              <a:rPr lang="en-IE" dirty="0"/>
              <a:t>‘A’ is ‘\u0041’</a:t>
            </a:r>
          </a:p>
          <a:p>
            <a:pPr lvl="1"/>
            <a:r>
              <a:rPr lang="en-IE" dirty="0"/>
              <a:t>‘a’ is ‘\u0061’</a:t>
            </a:r>
          </a:p>
        </p:txBody>
      </p:sp>
      <p:sp>
        <p:nvSpPr>
          <p:cNvPr id="4" name="Rectangle 3"/>
          <p:cNvSpPr/>
          <p:nvPr/>
        </p:nvSpPr>
        <p:spPr>
          <a:xfrm>
            <a:off x="2819400" y="6296708"/>
            <a:ext cx="6400800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IE" dirty="0">
                <a:hlinkClick r:id="rId3"/>
              </a:rPr>
              <a:t>http://en.wikipedia.org/wiki/List_of_Unicode_characters</a:t>
            </a:r>
            <a:endParaRPr lang="en-IE" dirty="0"/>
          </a:p>
        </p:txBody>
      </p:sp>
      <p:pic>
        <p:nvPicPr>
          <p:cNvPr id="5" name="Picture 4">
            <a:hlinkClick r:id="rId4"/>
            <a:extLst>
              <a:ext uri="{FF2B5EF4-FFF2-40B4-BE49-F238E27FC236}">
                <a16:creationId xmlns:a16="http://schemas.microsoft.com/office/drawing/2014/main" id="{194177A9-DC55-3744-8775-A3F4CC29F65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272306" y="1552087"/>
            <a:ext cx="1437094" cy="1724513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41804129-89B7-0C4F-B4B8-BF12F928AC36}"/>
              </a:ext>
            </a:extLst>
          </p:cNvPr>
          <p:cNvSpPr/>
          <p:nvPr/>
        </p:nvSpPr>
        <p:spPr>
          <a:xfrm>
            <a:off x="7086600" y="4540779"/>
            <a:ext cx="481221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IE" dirty="0">
                <a:hlinkClick r:id="rId6"/>
              </a:rPr>
              <a:t>https://unicode-table.com/en/#control-character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01786112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D36BF3F1-F986-0F79-3042-32968C75E27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2763" y="1571685"/>
            <a:ext cx="4585011" cy="20320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accent4"/>
            </a:solidFill>
          </a:ln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E" b="1" dirty="0"/>
              <a:t>Example 3.18 </a:t>
            </a:r>
            <a:r>
              <a:rPr lang="en-IE" dirty="0"/>
              <a:t>– Alphabet 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72763" y="3654690"/>
            <a:ext cx="5943600" cy="3046988"/>
          </a:xfrm>
          <a:prstGeom prst="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marL="0" lvl="1"/>
            <a:r>
              <a:rPr lang="en-IE" sz="2400" dirty="0"/>
              <a:t>This code uses the underlying </a:t>
            </a:r>
            <a:r>
              <a:rPr lang="en-IE" sz="2400" b="1" dirty="0"/>
              <a:t>Unicode</a:t>
            </a:r>
            <a:r>
              <a:rPr lang="en-IE" sz="2400" dirty="0"/>
              <a:t> value for ‘A’ (i.e. ‘\u0041’) </a:t>
            </a:r>
            <a:br>
              <a:rPr lang="en-IE" sz="2400" dirty="0"/>
            </a:br>
            <a:r>
              <a:rPr lang="en-IE" sz="2400" dirty="0"/>
              <a:t>and adds one to it each time the for loop is iterated.</a:t>
            </a:r>
          </a:p>
          <a:p>
            <a:pPr marL="0" lvl="1"/>
            <a:endParaRPr lang="en-IE" sz="2400" dirty="0"/>
          </a:p>
          <a:p>
            <a:pPr marL="0" lvl="1"/>
            <a:r>
              <a:rPr lang="en-IE" sz="2400" dirty="0"/>
              <a:t>As the for loop is iterated 26 times, </a:t>
            </a:r>
            <a:br>
              <a:rPr lang="en-IE" sz="2400" dirty="0"/>
            </a:br>
            <a:r>
              <a:rPr lang="en-IE" sz="2400" dirty="0"/>
              <a:t>and the starting value is ‘A’, </a:t>
            </a:r>
            <a:br>
              <a:rPr lang="en-IE" sz="2400" dirty="0"/>
            </a:br>
            <a:r>
              <a:rPr lang="en-IE" sz="2400" dirty="0"/>
              <a:t>our loop will print the alphabet to the console.</a:t>
            </a:r>
          </a:p>
        </p:txBody>
      </p:sp>
      <p:sp>
        <p:nvSpPr>
          <p:cNvPr id="7" name="Rectangle 6"/>
          <p:cNvSpPr/>
          <p:nvPr/>
        </p:nvSpPr>
        <p:spPr>
          <a:xfrm>
            <a:off x="5105400" y="6581002"/>
            <a:ext cx="5562600" cy="2769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en-IE" sz="1200" dirty="0"/>
              <a:t>Source:  </a:t>
            </a:r>
            <a:r>
              <a:rPr lang="en-IE" sz="1200" dirty="0" err="1"/>
              <a:t>Reas</a:t>
            </a:r>
            <a:r>
              <a:rPr lang="en-IE" sz="1200" dirty="0"/>
              <a:t> &amp; Fry (2014)</a:t>
            </a:r>
          </a:p>
        </p:txBody>
      </p:sp>
      <p:sp>
        <p:nvSpPr>
          <p:cNvPr id="9" name="Donut 4">
            <a:extLst>
              <a:ext uri="{FF2B5EF4-FFF2-40B4-BE49-F238E27FC236}">
                <a16:creationId xmlns:a16="http://schemas.microsoft.com/office/drawing/2014/main" id="{ECEA88B8-3A6E-9BC3-0C29-BFEAA8BE04BC}"/>
              </a:ext>
            </a:extLst>
          </p:cNvPr>
          <p:cNvSpPr/>
          <p:nvPr/>
        </p:nvSpPr>
        <p:spPr>
          <a:xfrm>
            <a:off x="967425" y="2971799"/>
            <a:ext cx="1752600" cy="330573"/>
          </a:xfrm>
          <a:prstGeom prst="donut">
            <a:avLst>
              <a:gd name="adj" fmla="val 2615"/>
            </a:avLst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solidFill>
                <a:schemeClr val="tx1"/>
              </a:solidFill>
            </a:endParaRPr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B0D3C9D1-BEC1-3847-EC3C-832FF0F3085F}"/>
              </a:ext>
            </a:extLst>
          </p:cNvPr>
          <p:cNvCxnSpPr>
            <a:cxnSpLocks/>
          </p:cNvCxnSpPr>
          <p:nvPr/>
        </p:nvCxnSpPr>
        <p:spPr>
          <a:xfrm flipV="1">
            <a:off x="1241269" y="3353378"/>
            <a:ext cx="816131" cy="1081723"/>
          </a:xfrm>
          <a:prstGeom prst="straightConnector1">
            <a:avLst/>
          </a:prstGeom>
          <a:ln w="28575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1" name="Picture 10">
            <a:extLst>
              <a:ext uri="{FF2B5EF4-FFF2-40B4-BE49-F238E27FC236}">
                <a16:creationId xmlns:a16="http://schemas.microsoft.com/office/drawing/2014/main" id="{20B66113-4103-6263-AAE7-2412F6E3D4F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50302" y="1417637"/>
            <a:ext cx="2737135" cy="5454649"/>
          </a:xfrm>
          <a:prstGeom prst="rect">
            <a:avLst/>
          </a:prstGeom>
        </p:spPr>
      </p:pic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83BF3EEF-3500-0958-EAD6-9644A7B4200D}"/>
              </a:ext>
            </a:extLst>
          </p:cNvPr>
          <p:cNvCxnSpPr/>
          <p:nvPr/>
        </p:nvCxnSpPr>
        <p:spPr>
          <a:xfrm>
            <a:off x="5486400" y="2667000"/>
            <a:ext cx="2895600" cy="0"/>
          </a:xfrm>
          <a:prstGeom prst="straightConnector1">
            <a:avLst/>
          </a:prstGeom>
          <a:ln w="666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9283587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21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10" dur="2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9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E" dirty="0"/>
              <a:t>Topics list - </a:t>
            </a:r>
            <a:r>
              <a:rPr lang="en-IE" b="1" dirty="0"/>
              <a:t>Strings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>
          <a:xfrm>
            <a:off x="1981200" y="1600200"/>
            <a:ext cx="8458200" cy="5105400"/>
          </a:xfrm>
        </p:spPr>
        <p:txBody>
          <a:bodyPr>
            <a:normAutofit/>
          </a:bodyPr>
          <a:lstStyle/>
          <a:p>
            <a:pPr marL="514350" indent="-514350">
              <a:buFont typeface="+mj-lt"/>
              <a:buAutoNum type="arabicPeriod"/>
            </a:pPr>
            <a:r>
              <a:rPr lang="en-IE" dirty="0"/>
              <a:t>Primitive Types: </a:t>
            </a:r>
            <a:r>
              <a:rPr lang="en-IE" b="1" dirty="0"/>
              <a:t>char</a:t>
            </a:r>
          </a:p>
          <a:p>
            <a:pPr marL="514350" indent="-514350">
              <a:buFont typeface="+mj-lt"/>
              <a:buAutoNum type="arabicPeriod"/>
            </a:pPr>
            <a:r>
              <a:rPr lang="en-IE" dirty="0"/>
              <a:t>Object Types: </a:t>
            </a:r>
            <a:r>
              <a:rPr lang="en-IE" b="1" dirty="0"/>
              <a:t>String</a:t>
            </a:r>
          </a:p>
          <a:p>
            <a:pPr marL="514350" indent="-514350">
              <a:buFont typeface="+mj-lt"/>
              <a:buAutoNum type="arabicPeriod"/>
            </a:pPr>
            <a:r>
              <a:rPr lang="en-IE" dirty="0"/>
              <a:t>Strings and </a:t>
            </a:r>
            <a:r>
              <a:rPr lang="en-IE" b="1" dirty="0"/>
              <a:t>Java API</a:t>
            </a:r>
          </a:p>
          <a:p>
            <a:pPr marL="514350" indent="-514350">
              <a:buFont typeface="+mj-lt"/>
              <a:buAutoNum type="arabicPeriod"/>
            </a:pPr>
            <a:r>
              <a:rPr lang="en-IE" dirty="0"/>
              <a:t>Strings – </a:t>
            </a:r>
            <a:r>
              <a:rPr lang="en-IE" b="1" dirty="0"/>
              <a:t>methods</a:t>
            </a:r>
          </a:p>
          <a:p>
            <a:pPr marL="514350" indent="-514350">
              <a:buFont typeface="+mj-lt"/>
              <a:buAutoNum type="arabicPeriod"/>
            </a:pPr>
            <a:r>
              <a:rPr lang="en-IE" b="1" dirty="0"/>
              <a:t>Method calls </a:t>
            </a:r>
          </a:p>
          <a:p>
            <a:pPr marL="914400" lvl="1" indent="-514350"/>
            <a:r>
              <a:rPr lang="en-IE" b="1" dirty="0"/>
              <a:t>Internal</a:t>
            </a:r>
          </a:p>
          <a:p>
            <a:pPr marL="914400" lvl="1" indent="-514350"/>
            <a:r>
              <a:rPr lang="en-IE" b="1" dirty="0"/>
              <a:t>External</a:t>
            </a:r>
          </a:p>
          <a:p>
            <a:pPr marL="914400" lvl="1" indent="-514350"/>
            <a:r>
              <a:rPr lang="en-IE" b="1" dirty="0"/>
              <a:t>Dot notation</a:t>
            </a:r>
          </a:p>
          <a:p>
            <a:pPr marL="514350" indent="-514350">
              <a:buFont typeface="+mj-lt"/>
              <a:buAutoNum type="arabicPeriod"/>
            </a:pPr>
            <a:r>
              <a:rPr lang="en-IE" dirty="0"/>
              <a:t>Using String methods:  some </a:t>
            </a:r>
            <a:r>
              <a:rPr lang="en-IE" b="1" dirty="0"/>
              <a:t>examples</a:t>
            </a:r>
          </a:p>
        </p:txBody>
      </p:sp>
      <p:sp>
        <p:nvSpPr>
          <p:cNvPr id="7" name="Rectangle 6"/>
          <p:cNvSpPr/>
          <p:nvPr/>
        </p:nvSpPr>
        <p:spPr>
          <a:xfrm>
            <a:off x="1981200" y="2209800"/>
            <a:ext cx="8382000" cy="533400"/>
          </a:xfrm>
          <a:prstGeom prst="rect">
            <a:avLst/>
          </a:prstGeom>
          <a:noFill/>
          <a:ln w="444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170798772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1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7" dur="2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E" b="1" dirty="0"/>
              <a:t>Object</a:t>
            </a:r>
            <a:r>
              <a:rPr lang="en-IE" dirty="0"/>
              <a:t> types e.g. String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600" y="1600200"/>
            <a:ext cx="11049000" cy="4876800"/>
          </a:xfrm>
        </p:spPr>
        <p:txBody>
          <a:bodyPr>
            <a:normAutofit/>
          </a:bodyPr>
          <a:lstStyle/>
          <a:p>
            <a:r>
              <a:rPr lang="en-IE" dirty="0"/>
              <a:t>Strings, which are widely used in Java programming, are a </a:t>
            </a:r>
            <a:r>
              <a:rPr lang="en-IE" u="sng" dirty="0"/>
              <a:t>sequence of characters </a:t>
            </a:r>
            <a:r>
              <a:rPr lang="en-IE" dirty="0"/>
              <a:t>enclosed by double quotes (“”). </a:t>
            </a:r>
            <a:br>
              <a:rPr lang="en-IE" dirty="0"/>
            </a:br>
            <a:r>
              <a:rPr lang="en-IE" dirty="0"/>
              <a:t>e.g. </a:t>
            </a:r>
            <a:r>
              <a:rPr lang="en-IE" b="1" dirty="0">
                <a:solidFill>
                  <a:srgbClr val="FF0000"/>
                </a:solidFill>
              </a:rPr>
              <a:t>“</a:t>
            </a:r>
            <a:r>
              <a:rPr lang="en-IE" b="1" dirty="0" err="1">
                <a:solidFill>
                  <a:srgbClr val="FF0000"/>
                </a:solidFill>
              </a:rPr>
              <a:t>seq</a:t>
            </a:r>
            <a:r>
              <a:rPr lang="en-IE" b="1" dirty="0">
                <a:solidFill>
                  <a:srgbClr val="FF0000"/>
                </a:solidFill>
              </a:rPr>
              <a:t> of chars”</a:t>
            </a:r>
            <a:br>
              <a:rPr lang="en-IE" b="1" dirty="0">
                <a:solidFill>
                  <a:srgbClr val="FF0000"/>
                </a:solidFill>
              </a:rPr>
            </a:br>
            <a:endParaRPr lang="en-IE" b="1" dirty="0">
              <a:solidFill>
                <a:srgbClr val="FF0000"/>
              </a:solidFill>
            </a:endParaRPr>
          </a:p>
          <a:p>
            <a:r>
              <a:rPr lang="en-IE" dirty="0"/>
              <a:t>In Java, a </a:t>
            </a:r>
            <a:r>
              <a:rPr lang="en-IE" b="1" dirty="0"/>
              <a:t>String</a:t>
            </a:r>
            <a:r>
              <a:rPr lang="en-IE" dirty="0"/>
              <a:t> is an </a:t>
            </a:r>
            <a:r>
              <a:rPr lang="en-IE" b="1" dirty="0"/>
              <a:t>object type</a:t>
            </a:r>
            <a:r>
              <a:rPr lang="en-IE" dirty="0"/>
              <a:t>.</a:t>
            </a:r>
          </a:p>
          <a:p>
            <a:r>
              <a:rPr lang="en-IE" dirty="0"/>
              <a:t>The Java platform provides the </a:t>
            </a:r>
            <a:r>
              <a:rPr lang="en-IE" b="1" dirty="0"/>
              <a:t>String</a:t>
            </a:r>
            <a:r>
              <a:rPr lang="en-IE" dirty="0"/>
              <a:t> </a:t>
            </a:r>
            <a:r>
              <a:rPr lang="en-IE" b="1" dirty="0"/>
              <a:t>class</a:t>
            </a:r>
            <a:r>
              <a:rPr lang="en-IE" dirty="0"/>
              <a:t> to create and manipulate strings. </a:t>
            </a:r>
          </a:p>
          <a:p>
            <a:r>
              <a:rPr lang="en-IE" dirty="0"/>
              <a:t>The most direct way to create a </a:t>
            </a:r>
            <a:r>
              <a:rPr lang="en-IE" b="1" dirty="0"/>
              <a:t>String</a:t>
            </a:r>
            <a:r>
              <a:rPr lang="en-IE" dirty="0"/>
              <a:t> is to write: </a:t>
            </a:r>
          </a:p>
          <a:p>
            <a:pPr marL="800100" lvl="2" indent="0">
              <a:buNone/>
            </a:pPr>
            <a:r>
              <a:rPr lang="en-IE" sz="2800" b="1" dirty="0">
                <a:solidFill>
                  <a:srgbClr val="FF0000"/>
                </a:solidFill>
              </a:rPr>
              <a:t>String greeting = "Hello world!";</a:t>
            </a:r>
          </a:p>
        </p:txBody>
      </p:sp>
      <p:sp>
        <p:nvSpPr>
          <p:cNvPr id="4" name="Rectangle 3"/>
          <p:cNvSpPr/>
          <p:nvPr/>
        </p:nvSpPr>
        <p:spPr>
          <a:xfrm>
            <a:off x="5257800" y="6477000"/>
            <a:ext cx="5715000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IE" dirty="0">
                <a:hlinkClick r:id="rId2"/>
              </a:rPr>
              <a:t>http://www.tutorialspoint.com/java/pdf/java_strings.pdf</a:t>
            </a:r>
            <a:r>
              <a:rPr lang="en-IE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16339679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E" dirty="0"/>
              <a:t>Object types - </a:t>
            </a:r>
            <a:r>
              <a:rPr lang="en-IE" b="1" dirty="0"/>
              <a:t>String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828800" y="1752600"/>
            <a:ext cx="8610600" cy="3886200"/>
          </a:xfr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>
            <a:normAutofit fontScale="92500"/>
          </a:bodyPr>
          <a:lstStyle/>
          <a:p>
            <a:pPr marL="0" indent="0">
              <a:buNone/>
            </a:pPr>
            <a:r>
              <a:rPr lang="en-IE" sz="2400" dirty="0">
                <a:solidFill>
                  <a:srgbClr val="FF0000"/>
                </a:solidFill>
              </a:rPr>
              <a:t>// VALID USE</a:t>
            </a:r>
          </a:p>
          <a:p>
            <a:pPr marL="0" indent="0">
              <a:buNone/>
            </a:pPr>
            <a:r>
              <a:rPr lang="en-IE" sz="2400" dirty="0"/>
              <a:t>String </a:t>
            </a:r>
            <a:r>
              <a:rPr lang="en-IE" sz="2400" dirty="0" err="1"/>
              <a:t>str</a:t>
            </a:r>
            <a:r>
              <a:rPr lang="en-IE" sz="2400" dirty="0"/>
              <a:t> = “I am a sentence”;  //Assigns the full sentence to </a:t>
            </a:r>
            <a:r>
              <a:rPr lang="en-IE" sz="2400" dirty="0" err="1"/>
              <a:t>str</a:t>
            </a:r>
            <a:r>
              <a:rPr lang="en-IE" sz="2400" dirty="0"/>
              <a:t> variable.</a:t>
            </a:r>
          </a:p>
          <a:p>
            <a:pPr marL="0" indent="0">
              <a:buNone/>
            </a:pPr>
            <a:r>
              <a:rPr lang="en-IE" sz="2400" dirty="0"/>
              <a:t>String word = “dog”; 	//Assigns the word “dog” to the word variable.</a:t>
            </a:r>
          </a:p>
          <a:p>
            <a:pPr marL="0" indent="0">
              <a:buNone/>
            </a:pPr>
            <a:r>
              <a:rPr lang="en-IE" sz="2400" dirty="0"/>
              <a:t>String letter = “A”;	//Assigns the letter “A” to the letter variable.</a:t>
            </a:r>
          </a:p>
          <a:p>
            <a:pPr marL="0" indent="0">
              <a:buNone/>
            </a:pPr>
            <a:endParaRPr lang="en-IE" sz="2400" dirty="0"/>
          </a:p>
          <a:p>
            <a:pPr marL="0" indent="0">
              <a:buNone/>
            </a:pPr>
            <a:r>
              <a:rPr lang="en-IE" sz="2400" dirty="0">
                <a:solidFill>
                  <a:srgbClr val="FF0000"/>
                </a:solidFill>
              </a:rPr>
              <a:t>// INVALID USE</a:t>
            </a:r>
          </a:p>
          <a:p>
            <a:pPr marL="0" indent="0">
              <a:buNone/>
            </a:pPr>
            <a:r>
              <a:rPr lang="en-IE" sz="2400" dirty="0"/>
              <a:t>String letter = n;	//ERROR – no double quotes around n.</a:t>
            </a:r>
          </a:p>
          <a:p>
            <a:pPr marL="0" indent="0">
              <a:buNone/>
            </a:pPr>
            <a:r>
              <a:rPr lang="en-IE" sz="2400" dirty="0"/>
              <a:t>String letter = ‘n’;	//ERROR – single quotes around n; use double.</a:t>
            </a:r>
          </a:p>
          <a:p>
            <a:pPr marL="0" indent="0">
              <a:buNone/>
            </a:pPr>
            <a:r>
              <a:rPr lang="en-IE" sz="2400" dirty="0"/>
              <a:t>string letter = “n”;   	//ERROR – String should have a capital S.</a:t>
            </a:r>
          </a:p>
          <a:p>
            <a:pPr marL="0" indent="0">
              <a:buNone/>
            </a:pPr>
            <a:endParaRPr lang="en-IE" sz="2800" dirty="0"/>
          </a:p>
          <a:p>
            <a:pPr marL="0" indent="0">
              <a:buNone/>
            </a:pPr>
            <a:endParaRPr lang="en-IE" dirty="0"/>
          </a:p>
        </p:txBody>
      </p:sp>
      <p:sp>
        <p:nvSpPr>
          <p:cNvPr id="4" name="Rectangle 3"/>
          <p:cNvSpPr/>
          <p:nvPr/>
        </p:nvSpPr>
        <p:spPr>
          <a:xfrm>
            <a:off x="5105400" y="6581002"/>
            <a:ext cx="5562600" cy="2769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en-IE" sz="1200" dirty="0"/>
              <a:t>Source:  </a:t>
            </a:r>
            <a:r>
              <a:rPr lang="en-IE" sz="1200" dirty="0" err="1"/>
              <a:t>Reas</a:t>
            </a:r>
            <a:r>
              <a:rPr lang="en-IE" sz="1200" dirty="0"/>
              <a:t> &amp; Fry (2014)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1" y="5922874"/>
            <a:ext cx="452617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b="1" i="1" u="sng" dirty="0">
                <a:solidFill>
                  <a:srgbClr val="FF0000"/>
                </a:solidFill>
              </a:rPr>
              <a:t>Object</a:t>
            </a:r>
            <a:r>
              <a:rPr lang="en-GB" b="1" i="1" dirty="0">
                <a:solidFill>
                  <a:srgbClr val="FF0000"/>
                </a:solidFill>
              </a:rPr>
              <a:t> Data Types start with a Capital Letter </a:t>
            </a:r>
            <a:br>
              <a:rPr lang="en-GB" b="1" i="1" dirty="0">
                <a:solidFill>
                  <a:srgbClr val="FF0000"/>
                </a:solidFill>
              </a:rPr>
            </a:br>
            <a:r>
              <a:rPr lang="en-GB" b="1" i="1" dirty="0">
                <a:solidFill>
                  <a:srgbClr val="FF0000"/>
                </a:solidFill>
              </a:rPr>
              <a:t>to distinguish them from </a:t>
            </a:r>
            <a:r>
              <a:rPr lang="en-GB" b="1" i="1" u="sng" dirty="0">
                <a:solidFill>
                  <a:srgbClr val="FF0000"/>
                </a:solidFill>
              </a:rPr>
              <a:t>Primitive</a:t>
            </a:r>
            <a:r>
              <a:rPr lang="en-GB" b="1" i="1" dirty="0">
                <a:solidFill>
                  <a:srgbClr val="FF0000"/>
                </a:solidFill>
              </a:rPr>
              <a:t> data types</a:t>
            </a:r>
          </a:p>
        </p:txBody>
      </p:sp>
      <p:cxnSp>
        <p:nvCxnSpPr>
          <p:cNvPr id="6" name="Straight Arrow Connector 5"/>
          <p:cNvCxnSpPr/>
          <p:nvPr/>
        </p:nvCxnSpPr>
        <p:spPr>
          <a:xfrm flipH="1">
            <a:off x="5791200" y="5410436"/>
            <a:ext cx="2895600" cy="563327"/>
          </a:xfrm>
          <a:prstGeom prst="straightConnector1">
            <a:avLst/>
          </a:prstGeom>
          <a:ln w="28575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0131755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E" dirty="0"/>
              <a:t>Strings are objects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IE" dirty="0"/>
              <a:t>Variables created with the </a:t>
            </a:r>
            <a:r>
              <a:rPr lang="en-IE" b="1" dirty="0"/>
              <a:t>String</a:t>
            </a:r>
            <a:r>
              <a:rPr lang="en-IE" dirty="0"/>
              <a:t> data type are called </a:t>
            </a:r>
            <a:r>
              <a:rPr lang="en-IE" b="1" u="sng" dirty="0">
                <a:solidFill>
                  <a:srgbClr val="FF0000"/>
                </a:solidFill>
              </a:rPr>
              <a:t>objects</a:t>
            </a:r>
            <a:r>
              <a:rPr lang="en-IE" dirty="0"/>
              <a:t>.</a:t>
            </a:r>
          </a:p>
          <a:p>
            <a:endParaRPr lang="en-IE" dirty="0"/>
          </a:p>
          <a:p>
            <a:r>
              <a:rPr lang="en-IE" dirty="0"/>
              <a:t>Objects are </a:t>
            </a:r>
            <a:r>
              <a:rPr lang="en-IE" b="1" dirty="0"/>
              <a:t>software structures </a:t>
            </a:r>
            <a:r>
              <a:rPr lang="en-IE" dirty="0"/>
              <a:t>that combine</a:t>
            </a:r>
          </a:p>
          <a:p>
            <a:pPr lvl="1"/>
            <a:r>
              <a:rPr lang="en-IE" b="1" dirty="0">
                <a:solidFill>
                  <a:srgbClr val="FF0000"/>
                </a:solidFill>
              </a:rPr>
              <a:t>variables </a:t>
            </a:r>
          </a:p>
          <a:p>
            <a:pPr lvl="1"/>
            <a:r>
              <a:rPr lang="en-IE" dirty="0"/>
              <a:t>with </a:t>
            </a:r>
            <a:r>
              <a:rPr lang="en-IE" b="1" dirty="0">
                <a:solidFill>
                  <a:srgbClr val="FF0000"/>
                </a:solidFill>
              </a:rPr>
              <a:t>methods</a:t>
            </a:r>
            <a:r>
              <a:rPr lang="en-IE" dirty="0">
                <a:solidFill>
                  <a:srgbClr val="FF0000"/>
                </a:solidFill>
              </a:rPr>
              <a:t> </a:t>
            </a:r>
            <a:r>
              <a:rPr lang="en-IE" dirty="0"/>
              <a:t>that operate on those variables </a:t>
            </a:r>
            <a:br>
              <a:rPr lang="en-IE" dirty="0"/>
            </a:br>
            <a:r>
              <a:rPr lang="en-IE" dirty="0"/>
              <a:t>e.g. </a:t>
            </a:r>
          </a:p>
          <a:p>
            <a:pPr lvl="2"/>
            <a:r>
              <a:rPr lang="en-IE" dirty="0"/>
              <a:t>every String object has a built-in method that can capitalise its letters.</a:t>
            </a:r>
          </a:p>
        </p:txBody>
      </p:sp>
    </p:spTree>
    <p:extLst>
      <p:ext uri="{BB962C8B-B14F-4D97-AF65-F5344CB8AC3E}">
        <p14:creationId xmlns:p14="http://schemas.microsoft.com/office/powerpoint/2010/main" val="253693263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E" dirty="0"/>
              <a:t>Topics list - </a:t>
            </a:r>
            <a:r>
              <a:rPr lang="en-IE" b="1" dirty="0"/>
              <a:t>Strings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>
          <a:xfrm>
            <a:off x="1981200" y="1600200"/>
            <a:ext cx="8458200" cy="5105400"/>
          </a:xfrm>
        </p:spPr>
        <p:txBody>
          <a:bodyPr>
            <a:normAutofit/>
          </a:bodyPr>
          <a:lstStyle/>
          <a:p>
            <a:pPr marL="514350" indent="-514350">
              <a:buFont typeface="+mj-lt"/>
              <a:buAutoNum type="arabicPeriod"/>
            </a:pPr>
            <a:r>
              <a:rPr lang="en-IE" dirty="0"/>
              <a:t>Primitive Types: </a:t>
            </a:r>
            <a:r>
              <a:rPr lang="en-IE" b="1" dirty="0"/>
              <a:t>char</a:t>
            </a:r>
          </a:p>
          <a:p>
            <a:pPr marL="514350" indent="-514350">
              <a:buFont typeface="+mj-lt"/>
              <a:buAutoNum type="arabicPeriod"/>
            </a:pPr>
            <a:r>
              <a:rPr lang="en-IE" dirty="0"/>
              <a:t>Object Types: </a:t>
            </a:r>
            <a:r>
              <a:rPr lang="en-IE" b="1" dirty="0"/>
              <a:t>String</a:t>
            </a:r>
          </a:p>
          <a:p>
            <a:pPr marL="514350" indent="-514350">
              <a:buFont typeface="+mj-lt"/>
              <a:buAutoNum type="arabicPeriod"/>
            </a:pPr>
            <a:r>
              <a:rPr lang="en-IE" dirty="0"/>
              <a:t>Strings and </a:t>
            </a:r>
            <a:r>
              <a:rPr lang="en-IE" b="1" dirty="0"/>
              <a:t>Java API</a:t>
            </a:r>
          </a:p>
          <a:p>
            <a:pPr marL="514350" indent="-514350">
              <a:buFont typeface="+mj-lt"/>
              <a:buAutoNum type="arabicPeriod"/>
            </a:pPr>
            <a:r>
              <a:rPr lang="en-IE" dirty="0"/>
              <a:t>Strings – </a:t>
            </a:r>
            <a:r>
              <a:rPr lang="en-IE" b="1" dirty="0"/>
              <a:t>methods</a:t>
            </a:r>
          </a:p>
          <a:p>
            <a:pPr marL="514350" indent="-514350">
              <a:buFont typeface="+mj-lt"/>
              <a:buAutoNum type="arabicPeriod"/>
            </a:pPr>
            <a:r>
              <a:rPr lang="en-IE" b="1" dirty="0"/>
              <a:t>Method calls </a:t>
            </a:r>
          </a:p>
          <a:p>
            <a:pPr marL="914400" lvl="1" indent="-514350"/>
            <a:r>
              <a:rPr lang="en-IE" b="1" dirty="0"/>
              <a:t>Internal</a:t>
            </a:r>
          </a:p>
          <a:p>
            <a:pPr marL="914400" lvl="1" indent="-514350"/>
            <a:r>
              <a:rPr lang="en-IE" b="1" dirty="0"/>
              <a:t>External</a:t>
            </a:r>
          </a:p>
          <a:p>
            <a:pPr marL="914400" lvl="1" indent="-514350"/>
            <a:r>
              <a:rPr lang="en-IE" b="1" dirty="0"/>
              <a:t>Dot notation</a:t>
            </a:r>
          </a:p>
          <a:p>
            <a:pPr marL="514350" indent="-514350">
              <a:buFont typeface="+mj-lt"/>
              <a:buAutoNum type="arabicPeriod"/>
            </a:pPr>
            <a:r>
              <a:rPr lang="en-IE" dirty="0"/>
              <a:t>Using String methods:  some </a:t>
            </a:r>
            <a:r>
              <a:rPr lang="en-IE" b="1" dirty="0"/>
              <a:t>examples</a:t>
            </a:r>
          </a:p>
        </p:txBody>
      </p:sp>
      <p:sp>
        <p:nvSpPr>
          <p:cNvPr id="7" name="Rectangle 6"/>
          <p:cNvSpPr/>
          <p:nvPr/>
        </p:nvSpPr>
        <p:spPr>
          <a:xfrm>
            <a:off x="1905000" y="2895600"/>
            <a:ext cx="8382000" cy="533400"/>
          </a:xfrm>
          <a:prstGeom prst="rect">
            <a:avLst/>
          </a:prstGeom>
          <a:noFill/>
          <a:ln w="444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41334488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1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7" dur="2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E" dirty="0"/>
              <a:t>Strings and </a:t>
            </a:r>
            <a:r>
              <a:rPr lang="en-IE" b="1" dirty="0"/>
              <a:t>Java’s API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600" y="1828800"/>
            <a:ext cx="12268200" cy="4525963"/>
          </a:xfrm>
        </p:spPr>
        <p:txBody>
          <a:bodyPr>
            <a:normAutofit/>
          </a:bodyPr>
          <a:lstStyle/>
          <a:p>
            <a:r>
              <a:rPr lang="en-IE" sz="2800" dirty="0"/>
              <a:t>This link is to Java’s </a:t>
            </a:r>
            <a:r>
              <a:rPr lang="en-IE" sz="2800" b="1" dirty="0"/>
              <a:t>A</a:t>
            </a:r>
            <a:r>
              <a:rPr lang="en-IE" sz="2800" dirty="0"/>
              <a:t>pplication </a:t>
            </a:r>
            <a:r>
              <a:rPr lang="en-IE" sz="2800" b="1" dirty="0"/>
              <a:t>P</a:t>
            </a:r>
            <a:r>
              <a:rPr lang="en-IE" sz="2800" dirty="0"/>
              <a:t>rogramming </a:t>
            </a:r>
            <a:r>
              <a:rPr lang="en-IE" sz="2800" b="1" dirty="0"/>
              <a:t>I</a:t>
            </a:r>
            <a:r>
              <a:rPr lang="en-IE" sz="2800" dirty="0"/>
              <a:t>nterface (</a:t>
            </a:r>
            <a:r>
              <a:rPr lang="en-IE" sz="2800" b="1" dirty="0"/>
              <a:t>API</a:t>
            </a:r>
            <a:r>
              <a:rPr lang="en-IE" sz="2800" dirty="0"/>
              <a:t>), version 8. </a:t>
            </a:r>
          </a:p>
          <a:p>
            <a:pPr marL="400050" lvl="1" indent="0">
              <a:buNone/>
            </a:pPr>
            <a:r>
              <a:rPr lang="en-IE" sz="2400" dirty="0">
                <a:hlinkClick r:id="rId3"/>
              </a:rPr>
              <a:t>https://docs.oracle.com/javase/8/docs/api/index.html?overview-summary.html</a:t>
            </a:r>
            <a:endParaRPr lang="en-IE" sz="2400" dirty="0">
              <a:hlinkClick r:id="rId4"/>
            </a:endParaRPr>
          </a:p>
          <a:p>
            <a:pPr marL="0" indent="0">
              <a:buNone/>
            </a:pPr>
            <a:endParaRPr lang="en-IE" sz="2800" dirty="0"/>
          </a:p>
          <a:p>
            <a:pPr marL="0" indent="0">
              <a:buNone/>
            </a:pPr>
            <a:endParaRPr lang="en-IE" sz="2800" dirty="0"/>
          </a:p>
          <a:p>
            <a:r>
              <a:rPr lang="en-IE" sz="2800" dirty="0"/>
              <a:t>More information on the </a:t>
            </a:r>
            <a:r>
              <a:rPr lang="en-IE" sz="2800" b="1" dirty="0"/>
              <a:t>String</a:t>
            </a:r>
            <a:r>
              <a:rPr lang="en-IE" sz="2800" dirty="0"/>
              <a:t>’s </a:t>
            </a:r>
            <a:r>
              <a:rPr lang="en-IE" sz="2800" b="1" dirty="0"/>
              <a:t>methods</a:t>
            </a:r>
            <a:r>
              <a:rPr lang="en-IE" sz="2800" dirty="0"/>
              <a:t>:</a:t>
            </a:r>
          </a:p>
          <a:p>
            <a:pPr marL="400050" lvl="1" indent="0">
              <a:buNone/>
            </a:pPr>
            <a:r>
              <a:rPr lang="en-IE" sz="2400" dirty="0">
                <a:hlinkClick r:id="rId4"/>
              </a:rPr>
              <a:t>https://docs.oracle.com/javase/8/docs/api/java/lang/String.html</a:t>
            </a:r>
            <a:endParaRPr lang="en-IE" sz="2400" dirty="0"/>
          </a:p>
          <a:p>
            <a:pPr marL="400050" lvl="1" indent="0">
              <a:buNone/>
            </a:pPr>
            <a:endParaRPr lang="en-IE" sz="2400" dirty="0"/>
          </a:p>
          <a:p>
            <a:pPr marL="0" indent="0">
              <a:buNone/>
            </a:pPr>
            <a:endParaRPr lang="en-IE" sz="2800" dirty="0"/>
          </a:p>
        </p:txBody>
      </p:sp>
    </p:spTree>
    <p:extLst>
      <p:ext uri="{BB962C8B-B14F-4D97-AF65-F5344CB8AC3E}">
        <p14:creationId xmlns:p14="http://schemas.microsoft.com/office/powerpoint/2010/main" val="384099621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E" dirty="0"/>
              <a:t>Topics list - </a:t>
            </a:r>
            <a:r>
              <a:rPr lang="en-IE" b="1" dirty="0"/>
              <a:t>Strings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>
          <a:xfrm>
            <a:off x="1981200" y="1600200"/>
            <a:ext cx="8458200" cy="5105400"/>
          </a:xfrm>
        </p:spPr>
        <p:txBody>
          <a:bodyPr>
            <a:normAutofit/>
          </a:bodyPr>
          <a:lstStyle/>
          <a:p>
            <a:pPr marL="514350" indent="-514350">
              <a:buFont typeface="+mj-lt"/>
              <a:buAutoNum type="arabicPeriod"/>
            </a:pPr>
            <a:r>
              <a:rPr lang="en-IE" dirty="0"/>
              <a:t>Primitive Types: </a:t>
            </a:r>
            <a:r>
              <a:rPr lang="en-IE" b="1" dirty="0"/>
              <a:t>char</a:t>
            </a:r>
          </a:p>
          <a:p>
            <a:pPr marL="514350" indent="-514350">
              <a:buFont typeface="+mj-lt"/>
              <a:buAutoNum type="arabicPeriod"/>
            </a:pPr>
            <a:r>
              <a:rPr lang="en-IE" dirty="0"/>
              <a:t>Object Types: </a:t>
            </a:r>
            <a:r>
              <a:rPr lang="en-IE" b="1" dirty="0"/>
              <a:t>String</a:t>
            </a:r>
          </a:p>
          <a:p>
            <a:pPr marL="514350" indent="-514350">
              <a:buFont typeface="+mj-lt"/>
              <a:buAutoNum type="arabicPeriod"/>
            </a:pPr>
            <a:r>
              <a:rPr lang="en-IE" dirty="0"/>
              <a:t>Strings and </a:t>
            </a:r>
            <a:r>
              <a:rPr lang="en-IE" b="1" dirty="0"/>
              <a:t>Java API</a:t>
            </a:r>
          </a:p>
          <a:p>
            <a:pPr marL="514350" indent="-514350">
              <a:buFont typeface="+mj-lt"/>
              <a:buAutoNum type="arabicPeriod"/>
            </a:pPr>
            <a:r>
              <a:rPr lang="en-IE" dirty="0"/>
              <a:t>Strings – </a:t>
            </a:r>
            <a:r>
              <a:rPr lang="en-IE" b="1" dirty="0"/>
              <a:t>methods</a:t>
            </a:r>
          </a:p>
          <a:p>
            <a:pPr marL="514350" indent="-514350">
              <a:buFont typeface="+mj-lt"/>
              <a:buAutoNum type="arabicPeriod"/>
            </a:pPr>
            <a:r>
              <a:rPr lang="en-IE" b="1" dirty="0"/>
              <a:t>Method calls </a:t>
            </a:r>
          </a:p>
          <a:p>
            <a:pPr marL="914400" lvl="1" indent="-514350"/>
            <a:r>
              <a:rPr lang="en-IE" b="1" dirty="0"/>
              <a:t>Internal</a:t>
            </a:r>
          </a:p>
          <a:p>
            <a:pPr marL="914400" lvl="1" indent="-514350"/>
            <a:r>
              <a:rPr lang="en-IE" b="1" dirty="0"/>
              <a:t>External</a:t>
            </a:r>
          </a:p>
          <a:p>
            <a:pPr marL="914400" lvl="1" indent="-514350"/>
            <a:r>
              <a:rPr lang="en-IE" b="1" dirty="0"/>
              <a:t>Dot notation</a:t>
            </a:r>
          </a:p>
          <a:p>
            <a:pPr marL="514350" indent="-514350">
              <a:buFont typeface="+mj-lt"/>
              <a:buAutoNum type="arabicPeriod"/>
            </a:pPr>
            <a:r>
              <a:rPr lang="en-IE" dirty="0"/>
              <a:t>Using String methods:  some </a:t>
            </a:r>
            <a:r>
              <a:rPr lang="en-IE" b="1" dirty="0"/>
              <a:t>examples</a:t>
            </a:r>
          </a:p>
        </p:txBody>
      </p:sp>
      <p:sp>
        <p:nvSpPr>
          <p:cNvPr id="7" name="Rectangle 6"/>
          <p:cNvSpPr/>
          <p:nvPr/>
        </p:nvSpPr>
        <p:spPr>
          <a:xfrm>
            <a:off x="1804060" y="3429000"/>
            <a:ext cx="8382000" cy="533400"/>
          </a:xfrm>
          <a:prstGeom prst="rect">
            <a:avLst/>
          </a:prstGeom>
          <a:noFill/>
          <a:ln w="444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353899563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1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7" dur="2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E" b="1" dirty="0"/>
              <a:t>Strings</a:t>
            </a:r>
            <a:r>
              <a:rPr lang="en-IE" dirty="0"/>
              <a:t> - some API </a:t>
            </a:r>
            <a:r>
              <a:rPr lang="en-IE" b="1" dirty="0"/>
              <a:t>methods</a:t>
            </a:r>
          </a:p>
        </p:txBody>
      </p:sp>
      <p:sp>
        <p:nvSpPr>
          <p:cNvPr id="4" name="Rectangle 3"/>
          <p:cNvSpPr/>
          <p:nvPr/>
        </p:nvSpPr>
        <p:spPr>
          <a:xfrm>
            <a:off x="2819400" y="6174390"/>
            <a:ext cx="6934200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00050" lvl="1" algn="r"/>
            <a:r>
              <a:rPr lang="en-IE" dirty="0">
                <a:hlinkClick r:id="rId2"/>
              </a:rPr>
              <a:t>https://docs.oracle.com/javase/8/docs/api/java/lang/String.html</a:t>
            </a:r>
            <a:endParaRPr lang="en-IE" dirty="0"/>
          </a:p>
        </p:txBody>
      </p:sp>
      <p:graphicFrame>
        <p:nvGraphicFramePr>
          <p:cNvPr id="6" name="Table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35479619"/>
              </p:ext>
            </p:extLst>
          </p:nvPr>
        </p:nvGraphicFramePr>
        <p:xfrm>
          <a:off x="609600" y="1600200"/>
          <a:ext cx="11049000" cy="3833090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143227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58069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03602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84141">
                <a:tc>
                  <a:txBody>
                    <a:bodyPr/>
                    <a:lstStyle/>
                    <a:p>
                      <a:pPr algn="ctr" fontAlgn="t"/>
                      <a:r>
                        <a:rPr lang="en-IE" sz="2000" b="0" dirty="0">
                          <a:solidFill>
                            <a:schemeClr val="tx1"/>
                          </a:solidFill>
                          <a:effectLst/>
                          <a:latin typeface="+mj-lt"/>
                        </a:rPr>
                        <a:t>Return Type</a:t>
                      </a:r>
                    </a:p>
                  </a:txBody>
                  <a:tcPr marL="71392" marR="21418" marT="57114" marB="21418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IE" sz="2000" b="1" dirty="0">
                          <a:solidFill>
                            <a:schemeClr val="tx1"/>
                          </a:solidFill>
                          <a:effectLst/>
                          <a:latin typeface="+mj-lt"/>
                        </a:rPr>
                        <a:t>Method</a:t>
                      </a:r>
                      <a:r>
                        <a:rPr lang="en-IE" sz="2000" b="0" dirty="0">
                          <a:solidFill>
                            <a:schemeClr val="tx1"/>
                          </a:solidFill>
                          <a:effectLst/>
                          <a:latin typeface="+mj-lt"/>
                        </a:rPr>
                        <a:t> Name</a:t>
                      </a:r>
                    </a:p>
                  </a:txBody>
                  <a:tcPr marL="71392" marR="21418" marT="57114" marB="21418" anchor="ctr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IE" sz="2000" dirty="0">
                          <a:solidFill>
                            <a:schemeClr val="tx1"/>
                          </a:solidFill>
                          <a:effectLst/>
                          <a:latin typeface="+mj-lt"/>
                        </a:rPr>
                        <a:t>Description</a:t>
                      </a:r>
                    </a:p>
                  </a:txBody>
                  <a:tcPr marL="71392" marR="21418" marT="57114" marB="21418" anchor="ctr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84141">
                <a:tc>
                  <a:txBody>
                    <a:bodyPr/>
                    <a:lstStyle/>
                    <a:p>
                      <a:pPr algn="ctr" fontAlgn="t"/>
                      <a:r>
                        <a:rPr lang="en-IE" sz="1600" b="0" dirty="0" err="1">
                          <a:solidFill>
                            <a:schemeClr val="tx1"/>
                          </a:solidFill>
                          <a:effectLst/>
                        </a:rPr>
                        <a:t>int</a:t>
                      </a:r>
                      <a:endParaRPr lang="en-IE" sz="1600" b="0" dirty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L="71392" marR="21418" marT="57114" marB="21418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IE" sz="1600" b="1" u="none" strike="noStrike" dirty="0">
                          <a:solidFill>
                            <a:schemeClr val="tx1"/>
                          </a:solidFill>
                          <a:effectLst/>
                        </a:rPr>
                        <a:t>length</a:t>
                      </a:r>
                      <a:r>
                        <a:rPr lang="en-IE" sz="1600" b="0" dirty="0">
                          <a:solidFill>
                            <a:schemeClr val="tx1"/>
                          </a:solidFill>
                          <a:effectLst/>
                        </a:rPr>
                        <a:t>()</a:t>
                      </a:r>
                      <a:endParaRPr lang="en-IE" sz="1600" b="0" dirty="0">
                        <a:solidFill>
                          <a:schemeClr val="tx1"/>
                        </a:solidFill>
                        <a:effectLst/>
                        <a:latin typeface="DejaVu Serif"/>
                      </a:endParaRPr>
                    </a:p>
                  </a:txBody>
                  <a:tcPr marL="71392" marR="21418" marT="57114" marB="21418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IE" sz="1600" dirty="0">
                          <a:solidFill>
                            <a:schemeClr val="tx1"/>
                          </a:solidFill>
                          <a:effectLst/>
                        </a:rPr>
                        <a:t>Returns the length of this string.</a:t>
                      </a:r>
                      <a:br>
                        <a:rPr lang="en-IE" sz="1600" dirty="0">
                          <a:solidFill>
                            <a:schemeClr val="tx1"/>
                          </a:solidFill>
                          <a:effectLst/>
                        </a:rPr>
                      </a:br>
                      <a:endParaRPr lang="en-IE" sz="1600" dirty="0">
                        <a:solidFill>
                          <a:schemeClr val="tx1"/>
                        </a:solidFill>
                        <a:effectLst/>
                        <a:latin typeface="DejaVu Serif"/>
                      </a:endParaRPr>
                    </a:p>
                  </a:txBody>
                  <a:tcPr marL="71392" marR="21418" marT="57114" marB="21418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84141">
                <a:tc>
                  <a:txBody>
                    <a:bodyPr/>
                    <a:lstStyle/>
                    <a:p>
                      <a:pPr algn="ctr" fontAlgn="t"/>
                      <a:r>
                        <a:rPr lang="en-IE" sz="1600" b="0" u="none" strike="noStrike" dirty="0">
                          <a:solidFill>
                            <a:schemeClr val="tx1"/>
                          </a:solidFill>
                          <a:effectLst/>
                        </a:rPr>
                        <a:t>String</a:t>
                      </a:r>
                      <a:endParaRPr lang="en-IE" sz="1600" b="0" dirty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L="95250" marR="28575" marT="76200" marB="28575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IE" sz="1600" b="1" u="none" strike="noStrike" dirty="0">
                          <a:solidFill>
                            <a:schemeClr val="tx1"/>
                          </a:solidFill>
                          <a:effectLst/>
                        </a:rPr>
                        <a:t>toLowerCase</a:t>
                      </a:r>
                      <a:r>
                        <a:rPr lang="en-IE" sz="1600" b="0" dirty="0">
                          <a:solidFill>
                            <a:schemeClr val="tx1"/>
                          </a:solidFill>
                          <a:effectLst/>
                        </a:rPr>
                        <a:t>()</a:t>
                      </a:r>
                      <a:endParaRPr lang="en-IE" sz="1600" b="0" dirty="0">
                        <a:solidFill>
                          <a:schemeClr val="tx1"/>
                        </a:solidFill>
                        <a:effectLst/>
                        <a:latin typeface="DejaVu Serif"/>
                      </a:endParaRPr>
                    </a:p>
                  </a:txBody>
                  <a:tcPr marL="95250" marR="28575" marT="76200" marB="28575"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E" sz="16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Converts all of the characters in this String to lower case.</a:t>
                      </a:r>
                      <a:br>
                        <a:rPr lang="en-IE" sz="16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</a:br>
                      <a:endParaRPr lang="en-IE" sz="160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71392" marR="21418" marT="57114" marB="21418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84141">
                <a:tc>
                  <a:txBody>
                    <a:bodyPr/>
                    <a:lstStyle/>
                    <a:p>
                      <a:pPr algn="ctr" fontAlgn="t"/>
                      <a:r>
                        <a:rPr lang="en-IE" sz="1600" b="0" u="none" strike="noStrike" dirty="0">
                          <a:solidFill>
                            <a:schemeClr val="tx1"/>
                          </a:solidFill>
                          <a:effectLst/>
                        </a:rPr>
                        <a:t>String</a:t>
                      </a:r>
                      <a:endParaRPr lang="en-IE" sz="1600" b="0" dirty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L="95250" marR="28575" marT="76200" marB="28575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IE" sz="1600" b="1" u="none" strike="noStrike" dirty="0">
                          <a:solidFill>
                            <a:schemeClr val="tx1"/>
                          </a:solidFill>
                          <a:effectLst/>
                        </a:rPr>
                        <a:t>toUpperCase</a:t>
                      </a:r>
                      <a:r>
                        <a:rPr lang="en-IE" sz="1600" b="0" dirty="0">
                          <a:solidFill>
                            <a:schemeClr val="tx1"/>
                          </a:solidFill>
                          <a:effectLst/>
                        </a:rPr>
                        <a:t>()</a:t>
                      </a:r>
                      <a:endParaRPr lang="en-IE" sz="1600" b="0" dirty="0">
                        <a:solidFill>
                          <a:schemeClr val="tx1"/>
                        </a:solidFill>
                        <a:effectLst/>
                        <a:latin typeface="DejaVu Serif"/>
                      </a:endParaRPr>
                    </a:p>
                  </a:txBody>
                  <a:tcPr marL="95250" marR="28575" marT="76200" marB="28575"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E" sz="16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Converts all of the characters in this String to upper case.</a:t>
                      </a:r>
                      <a:br>
                        <a:rPr lang="en-IE" sz="16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</a:br>
                      <a:endParaRPr lang="en-IE" sz="160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71392" marR="21418" marT="57114" marB="21418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84141">
                <a:tc>
                  <a:txBody>
                    <a:bodyPr/>
                    <a:lstStyle/>
                    <a:p>
                      <a:pPr algn="ctr" fontAlgn="t"/>
                      <a:r>
                        <a:rPr lang="en-IE" sz="1600" b="0" u="none" strike="noStrike" dirty="0">
                          <a:solidFill>
                            <a:schemeClr val="tx1"/>
                          </a:solidFill>
                          <a:effectLst/>
                        </a:rPr>
                        <a:t>String</a:t>
                      </a:r>
                      <a:endParaRPr lang="en-IE" sz="1600" b="0" dirty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L="95250" marR="28575" marT="76200" marB="28575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IE" sz="1600" b="1" u="none" strike="noStrike" dirty="0">
                          <a:solidFill>
                            <a:schemeClr val="tx1"/>
                          </a:solidFill>
                          <a:effectLst/>
                        </a:rPr>
                        <a:t>trim</a:t>
                      </a:r>
                      <a:r>
                        <a:rPr lang="en-IE" sz="1600" b="0" dirty="0">
                          <a:solidFill>
                            <a:schemeClr val="tx1"/>
                          </a:solidFill>
                          <a:effectLst/>
                        </a:rPr>
                        <a:t>()</a:t>
                      </a:r>
                      <a:endParaRPr lang="en-IE" sz="1600" b="0" dirty="0">
                        <a:solidFill>
                          <a:schemeClr val="tx1"/>
                        </a:solidFill>
                        <a:effectLst/>
                        <a:latin typeface="DejaVu Serif"/>
                      </a:endParaRPr>
                    </a:p>
                  </a:txBody>
                  <a:tcPr marL="95250" marR="28575" marT="76200" marB="28575"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E" sz="16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Returns a string whose value is this string, with any </a:t>
                      </a:r>
                      <a:r>
                        <a:rPr lang="en-IE" sz="1600" i="1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leading and trailing </a:t>
                      </a:r>
                      <a:r>
                        <a:rPr lang="en-IE" sz="16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whitespace removed.</a:t>
                      </a:r>
                      <a:br>
                        <a:rPr lang="en-IE" sz="16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</a:br>
                      <a:endParaRPr lang="en-IE" sz="160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71392" marR="21418" marT="57114" marB="21418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84141">
                <a:tc>
                  <a:txBody>
                    <a:bodyPr/>
                    <a:lstStyle/>
                    <a:p>
                      <a:pPr algn="ctr" fontAlgn="t"/>
                      <a:r>
                        <a:rPr lang="en-IE" sz="1600" b="0" u="none" strike="noStrike" dirty="0">
                          <a:solidFill>
                            <a:schemeClr val="tx1"/>
                          </a:solidFill>
                          <a:effectLst/>
                        </a:rPr>
                        <a:t>String</a:t>
                      </a:r>
                      <a:endParaRPr lang="en-IE" sz="1600" b="0" dirty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L="95250" marR="28575" marT="76200" marB="28575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IE" sz="1600" b="1" u="none" strike="noStrike" dirty="0">
                          <a:solidFill>
                            <a:schemeClr val="tx1"/>
                          </a:solidFill>
                          <a:effectLst/>
                        </a:rPr>
                        <a:t>substring</a:t>
                      </a:r>
                      <a:r>
                        <a:rPr lang="en-IE" sz="1600" b="0" dirty="0">
                          <a:solidFill>
                            <a:schemeClr val="tx1"/>
                          </a:solidFill>
                          <a:effectLst/>
                        </a:rPr>
                        <a:t>(</a:t>
                      </a:r>
                      <a:r>
                        <a:rPr lang="en-IE" sz="1600" b="0" dirty="0" err="1">
                          <a:solidFill>
                            <a:schemeClr val="tx1"/>
                          </a:solidFill>
                          <a:effectLst/>
                        </a:rPr>
                        <a:t>int</a:t>
                      </a:r>
                      <a:r>
                        <a:rPr lang="en-IE" sz="1600" b="0" dirty="0">
                          <a:solidFill>
                            <a:schemeClr val="tx1"/>
                          </a:solidFill>
                          <a:effectLst/>
                        </a:rPr>
                        <a:t> </a:t>
                      </a:r>
                      <a:r>
                        <a:rPr lang="en-IE" sz="1600" b="0" dirty="0" err="1">
                          <a:solidFill>
                            <a:schemeClr val="tx1"/>
                          </a:solidFill>
                          <a:effectLst/>
                        </a:rPr>
                        <a:t>beginIndex</a:t>
                      </a:r>
                      <a:r>
                        <a:rPr lang="en-IE" sz="1600" b="0" dirty="0">
                          <a:solidFill>
                            <a:schemeClr val="tx1"/>
                          </a:solidFill>
                          <a:effectLst/>
                        </a:rPr>
                        <a:t>, </a:t>
                      </a:r>
                      <a:r>
                        <a:rPr lang="en-IE" sz="1600" b="0" dirty="0" err="1">
                          <a:solidFill>
                            <a:schemeClr val="tx1"/>
                          </a:solidFill>
                          <a:effectLst/>
                        </a:rPr>
                        <a:t>int</a:t>
                      </a:r>
                      <a:r>
                        <a:rPr lang="en-IE" sz="1600" b="0" dirty="0">
                          <a:solidFill>
                            <a:schemeClr val="tx1"/>
                          </a:solidFill>
                          <a:effectLst/>
                        </a:rPr>
                        <a:t> </a:t>
                      </a:r>
                      <a:r>
                        <a:rPr lang="en-IE" sz="1600" b="0" dirty="0" err="1">
                          <a:solidFill>
                            <a:schemeClr val="tx1"/>
                          </a:solidFill>
                          <a:effectLst/>
                        </a:rPr>
                        <a:t>endIndex</a:t>
                      </a:r>
                      <a:r>
                        <a:rPr lang="en-IE" sz="1600" b="0" dirty="0">
                          <a:solidFill>
                            <a:schemeClr val="tx1"/>
                          </a:solidFill>
                          <a:effectLst/>
                        </a:rPr>
                        <a:t>)</a:t>
                      </a:r>
                      <a:br>
                        <a:rPr lang="en-IE" sz="1600" b="0" dirty="0">
                          <a:solidFill>
                            <a:schemeClr val="tx1"/>
                          </a:solidFill>
                          <a:effectLst/>
                        </a:rPr>
                      </a:br>
                      <a:endParaRPr lang="en-IE" sz="1600" b="0" dirty="0">
                        <a:solidFill>
                          <a:schemeClr val="tx1"/>
                        </a:solidFill>
                        <a:effectLst/>
                        <a:latin typeface="DejaVu Serif"/>
                      </a:endParaRPr>
                    </a:p>
                  </a:txBody>
                  <a:tcPr marL="95250" marR="28575" marT="76200" marB="28575"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E" sz="16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Returns a string that is a substring of this string.</a:t>
                      </a:r>
                    </a:p>
                  </a:txBody>
                  <a:tcPr marL="71392" marR="21418" marT="57114" marB="21418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84141">
                <a:tc>
                  <a:txBody>
                    <a:bodyPr/>
                    <a:lstStyle/>
                    <a:p>
                      <a:pPr algn="ctr" fontAlgn="t"/>
                      <a:r>
                        <a:rPr lang="en-IE" sz="1600" b="0" dirty="0">
                          <a:solidFill>
                            <a:schemeClr val="tx1"/>
                          </a:solidFill>
                          <a:effectLst/>
                        </a:rPr>
                        <a:t>char</a:t>
                      </a:r>
                    </a:p>
                  </a:txBody>
                  <a:tcPr marL="95250" marR="28575" marT="76200" marB="28575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IE" sz="1600" b="1" u="none" strike="noStrike" dirty="0">
                          <a:solidFill>
                            <a:schemeClr val="tx1"/>
                          </a:solidFill>
                          <a:effectLst/>
                        </a:rPr>
                        <a:t>charAt</a:t>
                      </a:r>
                      <a:r>
                        <a:rPr lang="en-IE" sz="1600" b="0" dirty="0">
                          <a:solidFill>
                            <a:schemeClr val="tx1"/>
                          </a:solidFill>
                          <a:effectLst/>
                        </a:rPr>
                        <a:t>(</a:t>
                      </a:r>
                      <a:r>
                        <a:rPr lang="en-IE" sz="1600" b="0" dirty="0" err="1">
                          <a:solidFill>
                            <a:schemeClr val="tx1"/>
                          </a:solidFill>
                          <a:effectLst/>
                        </a:rPr>
                        <a:t>int</a:t>
                      </a:r>
                      <a:r>
                        <a:rPr lang="en-IE" sz="1600" b="0" dirty="0">
                          <a:solidFill>
                            <a:schemeClr val="tx1"/>
                          </a:solidFill>
                          <a:effectLst/>
                        </a:rPr>
                        <a:t> index)</a:t>
                      </a:r>
                      <a:endParaRPr lang="en-IE" sz="1600" b="0" dirty="0">
                        <a:solidFill>
                          <a:schemeClr val="tx1"/>
                        </a:solidFill>
                        <a:effectLst/>
                        <a:latin typeface="DejaVu Serif"/>
                      </a:endParaRPr>
                    </a:p>
                  </a:txBody>
                  <a:tcPr marL="95250" marR="28575" marT="76200" marB="28575"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E" sz="16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Returns the char value at the specified index.</a:t>
                      </a:r>
                    </a:p>
                  </a:txBody>
                  <a:tcPr marL="71392" marR="21418" marT="57114" marB="21418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3" name="Frame 2"/>
          <p:cNvSpPr/>
          <p:nvPr/>
        </p:nvSpPr>
        <p:spPr>
          <a:xfrm>
            <a:off x="1981200" y="1524000"/>
            <a:ext cx="3657600" cy="4038600"/>
          </a:xfrm>
          <a:prstGeom prst="frame">
            <a:avLst>
              <a:gd name="adj1" fmla="val 1951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solidFill>
                <a:schemeClr val="tx1"/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EEB7BD7-B328-2B49-844D-8DF113F237B9}"/>
              </a:ext>
            </a:extLst>
          </p:cNvPr>
          <p:cNvSpPr txBox="1"/>
          <p:nvPr/>
        </p:nvSpPr>
        <p:spPr>
          <a:xfrm>
            <a:off x="1066800" y="6174390"/>
            <a:ext cx="237372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Check for others here &gt;</a:t>
            </a:r>
          </a:p>
        </p:txBody>
      </p:sp>
    </p:spTree>
    <p:extLst>
      <p:ext uri="{BB962C8B-B14F-4D97-AF65-F5344CB8AC3E}">
        <p14:creationId xmlns:p14="http://schemas.microsoft.com/office/powerpoint/2010/main" val="254241408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E" dirty="0"/>
              <a:t>Topics list - </a:t>
            </a:r>
            <a:r>
              <a:rPr lang="en-IE" b="1" dirty="0"/>
              <a:t>Strings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>
          <a:xfrm>
            <a:off x="1981200" y="1600200"/>
            <a:ext cx="8458200" cy="5105400"/>
          </a:xfrm>
        </p:spPr>
        <p:txBody>
          <a:bodyPr>
            <a:normAutofit/>
          </a:bodyPr>
          <a:lstStyle/>
          <a:p>
            <a:pPr marL="514350" indent="-514350">
              <a:buFont typeface="+mj-lt"/>
              <a:buAutoNum type="arabicPeriod"/>
            </a:pPr>
            <a:r>
              <a:rPr lang="en-IE" dirty="0"/>
              <a:t>Strings and </a:t>
            </a:r>
            <a:r>
              <a:rPr lang="en-IE" b="1" dirty="0"/>
              <a:t>Java API</a:t>
            </a:r>
          </a:p>
          <a:p>
            <a:pPr marL="514350" indent="-514350">
              <a:buFont typeface="+mj-lt"/>
              <a:buAutoNum type="arabicPeriod"/>
            </a:pPr>
            <a:r>
              <a:rPr lang="en-IE" dirty="0"/>
              <a:t>Strings – </a:t>
            </a:r>
            <a:r>
              <a:rPr lang="en-IE" b="1" dirty="0"/>
              <a:t>methods</a:t>
            </a:r>
          </a:p>
          <a:p>
            <a:pPr marL="514350" indent="-514350">
              <a:buFont typeface="+mj-lt"/>
              <a:buAutoNum type="arabicPeriod"/>
            </a:pPr>
            <a:r>
              <a:rPr lang="en-IE" b="1" dirty="0"/>
              <a:t>Method calls </a:t>
            </a:r>
          </a:p>
          <a:p>
            <a:pPr marL="914400" lvl="1" indent="-514350"/>
            <a:r>
              <a:rPr lang="en-IE" b="1" dirty="0"/>
              <a:t>Internal</a:t>
            </a:r>
          </a:p>
          <a:p>
            <a:pPr marL="914400" lvl="1" indent="-514350"/>
            <a:r>
              <a:rPr lang="en-IE" b="1" dirty="0"/>
              <a:t>External</a:t>
            </a:r>
          </a:p>
          <a:p>
            <a:pPr marL="914400" lvl="1" indent="-514350"/>
            <a:r>
              <a:rPr lang="en-IE" b="1" dirty="0"/>
              <a:t>Dot notation</a:t>
            </a:r>
          </a:p>
          <a:p>
            <a:pPr marL="514350" indent="-514350">
              <a:buFont typeface="+mj-lt"/>
              <a:buAutoNum type="arabicPeriod"/>
            </a:pPr>
            <a:r>
              <a:rPr lang="en-IE" dirty="0"/>
              <a:t>Using String methods:  some </a:t>
            </a:r>
            <a:r>
              <a:rPr lang="en-IE" b="1" dirty="0"/>
              <a:t>examples</a:t>
            </a:r>
          </a:p>
        </p:txBody>
      </p:sp>
      <p:sp>
        <p:nvSpPr>
          <p:cNvPr id="7" name="Rectangle 6"/>
          <p:cNvSpPr/>
          <p:nvPr/>
        </p:nvSpPr>
        <p:spPr>
          <a:xfrm>
            <a:off x="1828800" y="2819400"/>
            <a:ext cx="8458200" cy="1970388"/>
          </a:xfrm>
          <a:prstGeom prst="rect">
            <a:avLst/>
          </a:prstGeom>
          <a:noFill/>
          <a:ln w="444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E"/>
          </a:p>
        </p:txBody>
      </p:sp>
      <p:sp>
        <p:nvSpPr>
          <p:cNvPr id="6" name="Right Arrow 5"/>
          <p:cNvSpPr/>
          <p:nvPr/>
        </p:nvSpPr>
        <p:spPr>
          <a:xfrm>
            <a:off x="1708484" y="3924300"/>
            <a:ext cx="304800" cy="228600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67368938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1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7" dur="2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6" grpId="0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E" b="1" dirty="0"/>
              <a:t>External</a:t>
            </a:r>
            <a:r>
              <a:rPr lang="en-IE" dirty="0"/>
              <a:t> method calls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981200" y="1600200"/>
            <a:ext cx="8458200" cy="5105400"/>
          </a:xfrm>
        </p:spPr>
        <p:txBody>
          <a:bodyPr>
            <a:normAutofit fontScale="92500" lnSpcReduction="10000"/>
          </a:bodyPr>
          <a:lstStyle/>
          <a:p>
            <a:r>
              <a:rPr lang="en-IE" dirty="0"/>
              <a:t>We want to check the </a:t>
            </a:r>
            <a:r>
              <a:rPr lang="en-IE" b="1" dirty="0"/>
              <a:t>length</a:t>
            </a:r>
            <a:r>
              <a:rPr lang="en-IE" dirty="0"/>
              <a:t> of this String:</a:t>
            </a:r>
          </a:p>
          <a:p>
            <a:pPr marL="400050" lvl="1" indent="0">
              <a:buNone/>
            </a:pPr>
            <a:r>
              <a:rPr lang="en-IE" sz="3200" dirty="0">
                <a:solidFill>
                  <a:srgbClr val="FF0000"/>
                </a:solidFill>
              </a:rPr>
              <a:t>String name = “Joe Soap”;</a:t>
            </a:r>
            <a:br>
              <a:rPr lang="en-IE" sz="3200" dirty="0">
                <a:solidFill>
                  <a:srgbClr val="FF0000"/>
                </a:solidFill>
              </a:rPr>
            </a:br>
            <a:endParaRPr lang="en-IE" sz="3200" dirty="0">
              <a:solidFill>
                <a:srgbClr val="FF0000"/>
              </a:solidFill>
            </a:endParaRPr>
          </a:p>
          <a:p>
            <a:pPr marL="457200" indent="-457200"/>
            <a:r>
              <a:rPr lang="en-IE" dirty="0"/>
              <a:t>Looking at the </a:t>
            </a:r>
            <a:r>
              <a:rPr lang="en-IE" b="1" dirty="0"/>
              <a:t>String API</a:t>
            </a:r>
            <a:r>
              <a:rPr lang="en-IE" dirty="0"/>
              <a:t>, we can see this method:</a:t>
            </a:r>
            <a:br>
              <a:rPr lang="en-IE" dirty="0"/>
            </a:br>
            <a:endParaRPr lang="en-IE" dirty="0"/>
          </a:p>
          <a:p>
            <a:pPr marL="457200" indent="-457200"/>
            <a:endParaRPr lang="en-IE" dirty="0"/>
          </a:p>
          <a:p>
            <a:pPr marL="457200" indent="-457200"/>
            <a:endParaRPr lang="en-IE" dirty="0"/>
          </a:p>
          <a:p>
            <a:pPr marL="457200" indent="-457200"/>
            <a:endParaRPr lang="en-IE" dirty="0"/>
          </a:p>
          <a:p>
            <a:pPr marL="457200" indent="-457200"/>
            <a:r>
              <a:rPr lang="en-IE" dirty="0"/>
              <a:t>A </a:t>
            </a:r>
            <a:r>
              <a:rPr lang="en-IE" b="1" dirty="0"/>
              <a:t>call to a method of another object </a:t>
            </a:r>
            <a:r>
              <a:rPr lang="en-IE" dirty="0"/>
              <a:t>is called an </a:t>
            </a:r>
            <a:r>
              <a:rPr lang="en-IE" b="1" i="1" dirty="0">
                <a:solidFill>
                  <a:srgbClr val="92D050"/>
                </a:solidFill>
              </a:rPr>
              <a:t>external</a:t>
            </a:r>
            <a:r>
              <a:rPr lang="en-IE" dirty="0">
                <a:solidFill>
                  <a:srgbClr val="92D050"/>
                </a:solidFill>
              </a:rPr>
              <a:t> method call</a:t>
            </a:r>
            <a:r>
              <a:rPr lang="en-IE" dirty="0"/>
              <a:t>. </a:t>
            </a:r>
            <a:br>
              <a:rPr lang="en-IE" dirty="0"/>
            </a:br>
            <a:r>
              <a:rPr lang="en-IE" sz="2200" i="1" dirty="0"/>
              <a:t>(objects {</a:t>
            </a:r>
            <a:r>
              <a:rPr lang="en-IE" sz="2200" i="1" dirty="0" err="1"/>
              <a:t>e.g.String</a:t>
            </a:r>
            <a:r>
              <a:rPr lang="en-IE" sz="2200" i="1" dirty="0"/>
              <a:t>} are usually defined in their own separate files)</a:t>
            </a:r>
            <a:endParaRPr lang="en-IE" sz="2200" i="1" dirty="0">
              <a:solidFill>
                <a:srgbClr val="FF0000"/>
              </a:solidFill>
            </a:endParaRPr>
          </a:p>
          <a:p>
            <a:pPr marL="400050" lvl="1" indent="0">
              <a:buNone/>
            </a:pPr>
            <a:endParaRPr lang="en-IE" sz="3200" dirty="0">
              <a:solidFill>
                <a:srgbClr val="FF0000"/>
              </a:solidFill>
            </a:endParaRPr>
          </a:p>
          <a:p>
            <a:pPr marL="0" indent="0">
              <a:buNone/>
            </a:pPr>
            <a:endParaRPr lang="en-IE" sz="3600" dirty="0">
              <a:solidFill>
                <a:srgbClr val="FF0000"/>
              </a:solidFill>
            </a:endParaRPr>
          </a:p>
        </p:txBody>
      </p:sp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61410922"/>
              </p:ext>
            </p:extLst>
          </p:nvPr>
        </p:nvGraphicFramePr>
        <p:xfrm>
          <a:off x="2479875" y="3976511"/>
          <a:ext cx="7927695" cy="1010504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186973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7142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78653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84141">
                <a:tc>
                  <a:txBody>
                    <a:bodyPr/>
                    <a:lstStyle/>
                    <a:p>
                      <a:pPr algn="l" fontAlgn="t"/>
                      <a:r>
                        <a:rPr lang="en-IE" sz="2800" b="0" dirty="0">
                          <a:solidFill>
                            <a:schemeClr val="tx1"/>
                          </a:solidFill>
                          <a:effectLst/>
                          <a:latin typeface="+mj-lt"/>
                        </a:rPr>
                        <a:t>Return Type</a:t>
                      </a:r>
                    </a:p>
                  </a:txBody>
                  <a:tcPr marL="71392" marR="21418" marT="57114" marB="21418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IE" sz="2800" b="0" dirty="0">
                          <a:solidFill>
                            <a:schemeClr val="tx1"/>
                          </a:solidFill>
                          <a:effectLst/>
                          <a:latin typeface="+mj-lt"/>
                        </a:rPr>
                        <a:t>Method</a:t>
                      </a:r>
                    </a:p>
                  </a:txBody>
                  <a:tcPr marL="71392" marR="21418" marT="57114" marB="21418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IE" sz="2800" dirty="0">
                          <a:solidFill>
                            <a:schemeClr val="tx1"/>
                          </a:solidFill>
                          <a:effectLst/>
                          <a:latin typeface="+mj-lt"/>
                        </a:rPr>
                        <a:t>Description</a:t>
                      </a:r>
                    </a:p>
                  </a:txBody>
                  <a:tcPr marL="71392" marR="21418" marT="57114" marB="21418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84141">
                <a:tc>
                  <a:txBody>
                    <a:bodyPr/>
                    <a:lstStyle/>
                    <a:p>
                      <a:pPr algn="l" fontAlgn="t"/>
                      <a:r>
                        <a:rPr lang="en-IE" sz="2800" b="0" dirty="0" err="1">
                          <a:solidFill>
                            <a:schemeClr val="tx1"/>
                          </a:solidFill>
                          <a:effectLst/>
                        </a:rPr>
                        <a:t>int</a:t>
                      </a:r>
                      <a:endParaRPr lang="en-IE" sz="2800" b="0" dirty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L="71392" marR="21418" marT="57114" marB="21418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IE" sz="2800" b="1" u="none" strike="noStrike" dirty="0">
                          <a:solidFill>
                            <a:schemeClr val="tx1"/>
                          </a:solidFill>
                          <a:effectLst/>
                        </a:rPr>
                        <a:t>length</a:t>
                      </a:r>
                      <a:r>
                        <a:rPr lang="en-IE" sz="2800" b="0" dirty="0">
                          <a:solidFill>
                            <a:schemeClr val="tx1"/>
                          </a:solidFill>
                          <a:effectLst/>
                        </a:rPr>
                        <a:t>()</a:t>
                      </a:r>
                      <a:endParaRPr lang="en-IE" sz="2800" b="0" dirty="0">
                        <a:solidFill>
                          <a:schemeClr val="tx1"/>
                        </a:solidFill>
                        <a:effectLst/>
                        <a:latin typeface="DejaVu Serif"/>
                      </a:endParaRPr>
                    </a:p>
                  </a:txBody>
                  <a:tcPr marL="71392" marR="21418" marT="57114" marB="21418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IE" sz="2800" dirty="0">
                          <a:solidFill>
                            <a:schemeClr val="tx1"/>
                          </a:solidFill>
                          <a:effectLst/>
                        </a:rPr>
                        <a:t>Returns the length of this string.</a:t>
                      </a:r>
                      <a:endParaRPr lang="en-IE" sz="2800" dirty="0">
                        <a:solidFill>
                          <a:schemeClr val="tx1"/>
                        </a:solidFill>
                        <a:effectLst/>
                        <a:latin typeface="DejaVu Serif"/>
                      </a:endParaRPr>
                    </a:p>
                  </a:txBody>
                  <a:tcPr marL="71392" marR="21418" marT="57114" marB="21418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5" name="Rectangle 4">
            <a:extLst>
              <a:ext uri="{FF2B5EF4-FFF2-40B4-BE49-F238E27FC236}">
                <a16:creationId xmlns:a16="http://schemas.microsoft.com/office/drawing/2014/main" id="{64D689B8-9028-E746-A873-ED299A09281D}"/>
              </a:ext>
            </a:extLst>
          </p:cNvPr>
          <p:cNvSpPr/>
          <p:nvPr/>
        </p:nvSpPr>
        <p:spPr>
          <a:xfrm>
            <a:off x="1981200" y="3514846"/>
            <a:ext cx="9677400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00050" lvl="1" indent="0">
              <a:buNone/>
            </a:pPr>
            <a:r>
              <a:rPr lang="en-IE" sz="2400" dirty="0">
                <a:hlinkClick r:id="rId2"/>
              </a:rPr>
              <a:t>https://docs.oracle.com/javase/8/docs/api/java/lang/String.html</a:t>
            </a:r>
            <a:endParaRPr lang="en-IE" sz="2400" dirty="0"/>
          </a:p>
        </p:txBody>
      </p:sp>
    </p:spTree>
    <p:extLst>
      <p:ext uri="{BB962C8B-B14F-4D97-AF65-F5344CB8AC3E}">
        <p14:creationId xmlns:p14="http://schemas.microsoft.com/office/powerpoint/2010/main" val="5824722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  <p:bldP spid="5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E" b="1" dirty="0"/>
              <a:t>External</a:t>
            </a:r>
            <a:r>
              <a:rPr lang="en-IE" dirty="0"/>
              <a:t> method calls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981200" y="1600200"/>
            <a:ext cx="8229600" cy="5105400"/>
          </a:xfrm>
        </p:spPr>
        <p:txBody>
          <a:bodyPr>
            <a:normAutofit/>
          </a:bodyPr>
          <a:lstStyle/>
          <a:p>
            <a:pPr>
              <a:lnSpc>
                <a:spcPts val="3600"/>
              </a:lnSpc>
            </a:pPr>
            <a:r>
              <a:rPr lang="en-IE" dirty="0"/>
              <a:t>External method calls have the syntax:</a:t>
            </a:r>
          </a:p>
          <a:p>
            <a:pPr marL="0" indent="0">
              <a:lnSpc>
                <a:spcPts val="3600"/>
              </a:lnSpc>
              <a:buNone/>
            </a:pPr>
            <a:r>
              <a:rPr lang="en-IE" dirty="0"/>
              <a:t>	</a:t>
            </a:r>
            <a:r>
              <a:rPr lang="en-IE" b="1" i="1" dirty="0" err="1"/>
              <a:t>object.methodname</a:t>
            </a:r>
            <a:r>
              <a:rPr lang="en-IE" b="1" i="1" dirty="0"/>
              <a:t> ( parameter-list)</a:t>
            </a:r>
          </a:p>
          <a:p>
            <a:pPr marL="0" indent="0">
              <a:lnSpc>
                <a:spcPts val="3600"/>
              </a:lnSpc>
              <a:buNone/>
            </a:pPr>
            <a:endParaRPr lang="en-IE" i="1" dirty="0"/>
          </a:p>
          <a:p>
            <a:pPr>
              <a:lnSpc>
                <a:spcPts val="3600"/>
              </a:lnSpc>
            </a:pPr>
            <a:r>
              <a:rPr lang="en-IE" dirty="0"/>
              <a:t>To find out the length of this String:</a:t>
            </a:r>
          </a:p>
          <a:p>
            <a:pPr>
              <a:lnSpc>
                <a:spcPts val="3600"/>
              </a:lnSpc>
            </a:pPr>
            <a:endParaRPr lang="en-IE" dirty="0"/>
          </a:p>
          <a:p>
            <a:pPr>
              <a:lnSpc>
                <a:spcPts val="3600"/>
              </a:lnSpc>
            </a:pPr>
            <a:endParaRPr lang="en-IE" dirty="0"/>
          </a:p>
          <a:p>
            <a:pPr>
              <a:lnSpc>
                <a:spcPts val="3600"/>
              </a:lnSpc>
            </a:pPr>
            <a:r>
              <a:rPr lang="en-IE" dirty="0"/>
              <a:t>We make the following external method call:</a:t>
            </a:r>
          </a:p>
          <a:p>
            <a:pPr marL="0" indent="0">
              <a:lnSpc>
                <a:spcPts val="3600"/>
              </a:lnSpc>
              <a:buNone/>
            </a:pPr>
            <a:endParaRPr lang="en-IE" i="1" dirty="0"/>
          </a:p>
          <a:p>
            <a:endParaRPr lang="en-IE" dirty="0"/>
          </a:p>
          <a:p>
            <a:endParaRPr lang="en-IE" dirty="0"/>
          </a:p>
        </p:txBody>
      </p:sp>
      <p:sp>
        <p:nvSpPr>
          <p:cNvPr id="4" name="Rectangle 3"/>
          <p:cNvSpPr/>
          <p:nvPr/>
        </p:nvSpPr>
        <p:spPr>
          <a:xfrm>
            <a:off x="3810001" y="3911026"/>
            <a:ext cx="4488345" cy="584775"/>
          </a:xfrm>
          <a:prstGeom prst="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wrap="none">
            <a:spAutoFit/>
          </a:bodyPr>
          <a:lstStyle/>
          <a:p>
            <a:pPr marL="0" lvl="1"/>
            <a:r>
              <a:rPr lang="en-IE" sz="3200" dirty="0">
                <a:solidFill>
                  <a:schemeClr val="tx1"/>
                </a:solidFill>
              </a:rPr>
              <a:t>String name = “Joe Soap”;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0" y="5587426"/>
            <a:ext cx="2651880" cy="584775"/>
          </a:xfrm>
          <a:prstGeom prst="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wrap="none">
            <a:spAutoFit/>
          </a:bodyPr>
          <a:lstStyle/>
          <a:p>
            <a:pPr marL="0" lvl="1"/>
            <a:r>
              <a:rPr lang="en-IE" sz="3200" dirty="0" err="1">
                <a:solidFill>
                  <a:schemeClr val="tx1"/>
                </a:solidFill>
              </a:rPr>
              <a:t>name.length</a:t>
            </a:r>
            <a:r>
              <a:rPr lang="en-IE" sz="3200" dirty="0">
                <a:solidFill>
                  <a:schemeClr val="tx1"/>
                </a:solidFill>
              </a:rPr>
              <a:t>();</a:t>
            </a:r>
          </a:p>
        </p:txBody>
      </p:sp>
      <p:cxnSp>
        <p:nvCxnSpPr>
          <p:cNvPr id="6" name="Straight Arrow Connector 5"/>
          <p:cNvCxnSpPr/>
          <p:nvPr/>
        </p:nvCxnSpPr>
        <p:spPr>
          <a:xfrm>
            <a:off x="3657600" y="2667000"/>
            <a:ext cx="1447800" cy="3124200"/>
          </a:xfrm>
          <a:prstGeom prst="straightConnector1">
            <a:avLst/>
          </a:prstGeom>
          <a:ln w="28575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Arrow Connector 8"/>
          <p:cNvCxnSpPr/>
          <p:nvPr/>
        </p:nvCxnSpPr>
        <p:spPr>
          <a:xfrm>
            <a:off x="4038600" y="2628900"/>
            <a:ext cx="1636436" cy="3314700"/>
          </a:xfrm>
          <a:prstGeom prst="straightConnector1">
            <a:avLst/>
          </a:prstGeom>
          <a:ln w="28575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Arrow Connector 10"/>
          <p:cNvCxnSpPr/>
          <p:nvPr/>
        </p:nvCxnSpPr>
        <p:spPr>
          <a:xfrm>
            <a:off x="5766955" y="2590800"/>
            <a:ext cx="370872" cy="3200400"/>
          </a:xfrm>
          <a:prstGeom prst="straightConnector1">
            <a:avLst/>
          </a:prstGeom>
          <a:ln w="28575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Arrow Connector 11"/>
          <p:cNvCxnSpPr/>
          <p:nvPr/>
        </p:nvCxnSpPr>
        <p:spPr>
          <a:xfrm flipH="1">
            <a:off x="6874658" y="2628900"/>
            <a:ext cx="592943" cy="3162300"/>
          </a:xfrm>
          <a:prstGeom prst="straightConnector1">
            <a:avLst/>
          </a:prstGeom>
          <a:ln w="28575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6509732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  <p:bldP spid="4" grpId="0" animBg="1"/>
      <p:bldP spid="7" grpId="0" animBg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E" dirty="0"/>
              <a:t>Topics list - </a:t>
            </a:r>
            <a:r>
              <a:rPr lang="en-IE" b="1" dirty="0"/>
              <a:t>Strings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>
          <a:xfrm>
            <a:off x="1981200" y="1600200"/>
            <a:ext cx="8458200" cy="5105400"/>
          </a:xfrm>
        </p:spPr>
        <p:txBody>
          <a:bodyPr>
            <a:normAutofit fontScale="92500" lnSpcReduction="10000"/>
          </a:bodyPr>
          <a:lstStyle/>
          <a:p>
            <a:pPr marL="514350" indent="-514350">
              <a:buFont typeface="+mj-lt"/>
              <a:buAutoNum type="arabicPeriod"/>
            </a:pPr>
            <a:r>
              <a:rPr lang="en-IE" dirty="0"/>
              <a:t>Primitive Types: </a:t>
            </a:r>
            <a:r>
              <a:rPr lang="en-IE" b="1" dirty="0"/>
              <a:t>char</a:t>
            </a:r>
          </a:p>
          <a:p>
            <a:pPr marL="514350" indent="-514350">
              <a:buFont typeface="+mj-lt"/>
              <a:buAutoNum type="arabicPeriod"/>
            </a:pPr>
            <a:r>
              <a:rPr lang="en-IE" dirty="0"/>
              <a:t>Object Types: </a:t>
            </a:r>
            <a:r>
              <a:rPr lang="en-IE" b="1" dirty="0"/>
              <a:t>String</a:t>
            </a:r>
          </a:p>
          <a:p>
            <a:pPr marL="514350" indent="-514350">
              <a:buFont typeface="+mj-lt"/>
              <a:buAutoNum type="arabicPeriod"/>
            </a:pPr>
            <a:r>
              <a:rPr lang="en-IE" b="1" dirty="0"/>
              <a:t>Primitive</a:t>
            </a:r>
            <a:r>
              <a:rPr lang="en-IE" dirty="0"/>
              <a:t> Types </a:t>
            </a:r>
            <a:r>
              <a:rPr lang="en-IE" b="1" dirty="0"/>
              <a:t>versus</a:t>
            </a:r>
            <a:r>
              <a:rPr lang="en-IE" dirty="0"/>
              <a:t> </a:t>
            </a:r>
            <a:r>
              <a:rPr lang="en-IE" b="1" dirty="0"/>
              <a:t>Object</a:t>
            </a:r>
            <a:r>
              <a:rPr lang="en-IE" dirty="0"/>
              <a:t> Types</a:t>
            </a:r>
          </a:p>
          <a:p>
            <a:pPr marL="514350" indent="-514350">
              <a:buFont typeface="+mj-lt"/>
              <a:buAutoNum type="arabicPeriod"/>
            </a:pPr>
            <a:r>
              <a:rPr lang="en-IE" dirty="0"/>
              <a:t>Strings and </a:t>
            </a:r>
            <a:r>
              <a:rPr lang="en-IE" b="1" dirty="0"/>
              <a:t>Java API</a:t>
            </a:r>
          </a:p>
          <a:p>
            <a:pPr marL="514350" indent="-514350">
              <a:buFont typeface="+mj-lt"/>
              <a:buAutoNum type="arabicPeriod"/>
            </a:pPr>
            <a:r>
              <a:rPr lang="en-IE" dirty="0"/>
              <a:t>Strings - </a:t>
            </a:r>
            <a:r>
              <a:rPr lang="en-IE" b="1" dirty="0"/>
              <a:t>methods</a:t>
            </a:r>
          </a:p>
          <a:p>
            <a:pPr marL="514350" indent="-514350">
              <a:buFont typeface="+mj-lt"/>
              <a:buAutoNum type="arabicPeriod"/>
            </a:pPr>
            <a:r>
              <a:rPr lang="en-IE" b="1" dirty="0"/>
              <a:t>Method calls </a:t>
            </a:r>
          </a:p>
          <a:p>
            <a:pPr marL="914400" lvl="1" indent="-514350"/>
            <a:r>
              <a:rPr lang="en-IE" b="1" dirty="0"/>
              <a:t>Internal</a:t>
            </a:r>
          </a:p>
          <a:p>
            <a:pPr marL="914400" lvl="1" indent="-514350"/>
            <a:r>
              <a:rPr lang="en-IE" b="1" dirty="0"/>
              <a:t>External</a:t>
            </a:r>
          </a:p>
          <a:p>
            <a:pPr marL="914400" lvl="1" indent="-514350"/>
            <a:r>
              <a:rPr lang="en-IE" b="1" dirty="0"/>
              <a:t>Dot notation</a:t>
            </a:r>
          </a:p>
          <a:p>
            <a:pPr marL="514350" indent="-514350">
              <a:buFont typeface="+mj-lt"/>
              <a:buAutoNum type="arabicPeriod"/>
            </a:pPr>
            <a:r>
              <a:rPr lang="en-IE" dirty="0"/>
              <a:t>Using String methods:  some </a:t>
            </a:r>
            <a:r>
              <a:rPr lang="en-IE" b="1" dirty="0"/>
              <a:t>examples</a:t>
            </a:r>
          </a:p>
        </p:txBody>
      </p:sp>
      <p:sp>
        <p:nvSpPr>
          <p:cNvPr id="7" name="Rectangle 6"/>
          <p:cNvSpPr/>
          <p:nvPr/>
        </p:nvSpPr>
        <p:spPr>
          <a:xfrm>
            <a:off x="1981200" y="4136424"/>
            <a:ext cx="8382000" cy="1807176"/>
          </a:xfrm>
          <a:prstGeom prst="rect">
            <a:avLst/>
          </a:prstGeom>
          <a:noFill/>
          <a:ln w="444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E"/>
          </a:p>
        </p:txBody>
      </p:sp>
      <p:sp>
        <p:nvSpPr>
          <p:cNvPr id="6" name="Right Arrow 5"/>
          <p:cNvSpPr/>
          <p:nvPr/>
        </p:nvSpPr>
        <p:spPr>
          <a:xfrm>
            <a:off x="1981200" y="5638800"/>
            <a:ext cx="304800" cy="228600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798033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1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7" dur="2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6" grpId="0" animBg="1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E" b="1" dirty="0"/>
              <a:t>Dot Notation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33400" y="1600200"/>
            <a:ext cx="10287000" cy="4876800"/>
          </a:xfrm>
        </p:spPr>
        <p:txBody>
          <a:bodyPr>
            <a:normAutofit fontScale="92500"/>
          </a:bodyPr>
          <a:lstStyle/>
          <a:p>
            <a:r>
              <a:rPr lang="en-IE" dirty="0"/>
              <a:t>Java code can call methods of other objects using dot notation.  </a:t>
            </a:r>
            <a:br>
              <a:rPr lang="en-IE" dirty="0"/>
            </a:br>
            <a:endParaRPr lang="en-IE" dirty="0"/>
          </a:p>
          <a:p>
            <a:r>
              <a:rPr lang="en-IE" dirty="0"/>
              <a:t>The syntax is:</a:t>
            </a:r>
          </a:p>
          <a:p>
            <a:pPr marL="800100" lvl="2" indent="0">
              <a:buNone/>
            </a:pPr>
            <a:r>
              <a:rPr lang="en-IE" sz="2800" b="1" i="1" dirty="0" err="1"/>
              <a:t>object.methodname</a:t>
            </a:r>
            <a:r>
              <a:rPr lang="en-IE" sz="2800" b="1" i="1" dirty="0"/>
              <a:t> ( parameter-list)</a:t>
            </a:r>
            <a:br>
              <a:rPr lang="en-IE" sz="2800" i="1" dirty="0"/>
            </a:br>
            <a:endParaRPr lang="en-IE" sz="2800" i="1" dirty="0"/>
          </a:p>
          <a:p>
            <a:r>
              <a:rPr lang="en-IE" dirty="0"/>
              <a:t>It consists of:</a:t>
            </a:r>
          </a:p>
          <a:p>
            <a:pPr lvl="1"/>
            <a:r>
              <a:rPr lang="en-IE" dirty="0"/>
              <a:t>An </a:t>
            </a:r>
            <a:r>
              <a:rPr lang="en-IE" dirty="0">
                <a:solidFill>
                  <a:srgbClr val="FF0000"/>
                </a:solidFill>
              </a:rPr>
              <a:t>object</a:t>
            </a:r>
          </a:p>
          <a:p>
            <a:pPr lvl="1"/>
            <a:r>
              <a:rPr lang="en-IE" dirty="0"/>
              <a:t>A dot</a:t>
            </a:r>
          </a:p>
          <a:p>
            <a:pPr lvl="1"/>
            <a:r>
              <a:rPr lang="en-IE" dirty="0"/>
              <a:t>A method name</a:t>
            </a:r>
          </a:p>
          <a:p>
            <a:pPr lvl="1"/>
            <a:r>
              <a:rPr lang="en-IE" dirty="0"/>
              <a:t>The parameter(s) for the method</a:t>
            </a:r>
          </a:p>
        </p:txBody>
      </p:sp>
      <p:sp>
        <p:nvSpPr>
          <p:cNvPr id="4" name="Rectangle 3"/>
          <p:cNvSpPr/>
          <p:nvPr/>
        </p:nvSpPr>
        <p:spPr>
          <a:xfrm>
            <a:off x="6222879" y="4178134"/>
            <a:ext cx="1146468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lvl="1"/>
            <a:r>
              <a:rPr lang="en-IE" sz="3200" b="1" dirty="0"/>
              <a:t>name</a:t>
            </a:r>
          </a:p>
        </p:txBody>
      </p:sp>
      <p:sp>
        <p:nvSpPr>
          <p:cNvPr id="5" name="Rectangle 4"/>
          <p:cNvSpPr/>
          <p:nvPr/>
        </p:nvSpPr>
        <p:spPr>
          <a:xfrm>
            <a:off x="7222512" y="4178134"/>
            <a:ext cx="293670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lvl="1"/>
            <a:r>
              <a:rPr lang="en-IE" sz="3200" b="1" dirty="0"/>
              <a:t>.</a:t>
            </a:r>
          </a:p>
        </p:txBody>
      </p:sp>
      <p:sp>
        <p:nvSpPr>
          <p:cNvPr id="6" name="Rectangle 5"/>
          <p:cNvSpPr/>
          <p:nvPr/>
        </p:nvSpPr>
        <p:spPr>
          <a:xfrm>
            <a:off x="7391401" y="4191001"/>
            <a:ext cx="1265411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lvl="1"/>
            <a:r>
              <a:rPr lang="en-IE" sz="3200" b="1" dirty="0"/>
              <a:t>length</a:t>
            </a:r>
          </a:p>
        </p:txBody>
      </p:sp>
      <p:sp>
        <p:nvSpPr>
          <p:cNvPr id="7" name="Rectangle 6"/>
          <p:cNvSpPr/>
          <p:nvPr/>
        </p:nvSpPr>
        <p:spPr>
          <a:xfrm>
            <a:off x="8515815" y="4160772"/>
            <a:ext cx="554960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lvl="1"/>
            <a:r>
              <a:rPr lang="en-IE" sz="3200" b="1" dirty="0"/>
              <a:t>();</a:t>
            </a:r>
          </a:p>
        </p:txBody>
      </p:sp>
      <p:sp>
        <p:nvSpPr>
          <p:cNvPr id="9" name="Frame 8"/>
          <p:cNvSpPr/>
          <p:nvPr/>
        </p:nvSpPr>
        <p:spPr>
          <a:xfrm>
            <a:off x="6019800" y="4038600"/>
            <a:ext cx="3200400" cy="914400"/>
          </a:xfrm>
          <a:prstGeom prst="fram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solidFill>
                <a:schemeClr val="tx1"/>
              </a:solidFill>
            </a:endParaRPr>
          </a:p>
        </p:txBody>
      </p:sp>
      <p:cxnSp>
        <p:nvCxnSpPr>
          <p:cNvPr id="10" name="Straight Arrow Connector 9"/>
          <p:cNvCxnSpPr/>
          <p:nvPr/>
        </p:nvCxnSpPr>
        <p:spPr>
          <a:xfrm flipV="1">
            <a:off x="2819400" y="4648200"/>
            <a:ext cx="3505200" cy="304800"/>
          </a:xfrm>
          <a:prstGeom prst="straightConnector1">
            <a:avLst/>
          </a:prstGeom>
          <a:ln w="28575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Arrow Connector 12"/>
          <p:cNvCxnSpPr/>
          <p:nvPr/>
        </p:nvCxnSpPr>
        <p:spPr>
          <a:xfrm flipV="1">
            <a:off x="2286001" y="4648200"/>
            <a:ext cx="5083347" cy="762000"/>
          </a:xfrm>
          <a:prstGeom prst="straightConnector1">
            <a:avLst/>
          </a:prstGeom>
          <a:ln w="28575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Arrow Connector 14"/>
          <p:cNvCxnSpPr/>
          <p:nvPr/>
        </p:nvCxnSpPr>
        <p:spPr>
          <a:xfrm flipV="1">
            <a:off x="3755854" y="4648200"/>
            <a:ext cx="4016547" cy="1143000"/>
          </a:xfrm>
          <a:prstGeom prst="straightConnector1">
            <a:avLst/>
          </a:prstGeom>
          <a:ln w="28575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Arrow Connector 16"/>
          <p:cNvCxnSpPr/>
          <p:nvPr/>
        </p:nvCxnSpPr>
        <p:spPr>
          <a:xfrm flipV="1">
            <a:off x="5867401" y="4648200"/>
            <a:ext cx="2789411" cy="1502854"/>
          </a:xfrm>
          <a:prstGeom prst="straightConnector1">
            <a:avLst/>
          </a:prstGeom>
          <a:ln w="28575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2398248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E" dirty="0"/>
              <a:t>Topics list - </a:t>
            </a:r>
            <a:r>
              <a:rPr lang="en-IE" b="1" dirty="0"/>
              <a:t>Strings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>
          <a:xfrm>
            <a:off x="1981200" y="1600200"/>
            <a:ext cx="8458200" cy="5105400"/>
          </a:xfrm>
        </p:spPr>
        <p:txBody>
          <a:bodyPr>
            <a:normAutofit fontScale="92500" lnSpcReduction="10000"/>
          </a:bodyPr>
          <a:lstStyle/>
          <a:p>
            <a:pPr marL="514350" indent="-514350">
              <a:buFont typeface="+mj-lt"/>
              <a:buAutoNum type="arabicPeriod"/>
            </a:pPr>
            <a:r>
              <a:rPr lang="en-IE" dirty="0"/>
              <a:t>Primitive Types: </a:t>
            </a:r>
            <a:r>
              <a:rPr lang="en-IE" b="1" dirty="0"/>
              <a:t>char</a:t>
            </a:r>
          </a:p>
          <a:p>
            <a:pPr marL="514350" indent="-514350">
              <a:buFont typeface="+mj-lt"/>
              <a:buAutoNum type="arabicPeriod"/>
            </a:pPr>
            <a:r>
              <a:rPr lang="en-IE" dirty="0"/>
              <a:t>Object Types: </a:t>
            </a:r>
            <a:r>
              <a:rPr lang="en-IE" b="1" dirty="0"/>
              <a:t>String</a:t>
            </a:r>
          </a:p>
          <a:p>
            <a:pPr marL="514350" indent="-514350">
              <a:buFont typeface="+mj-lt"/>
              <a:buAutoNum type="arabicPeriod"/>
            </a:pPr>
            <a:r>
              <a:rPr lang="en-IE" b="1" dirty="0"/>
              <a:t>Primitive</a:t>
            </a:r>
            <a:r>
              <a:rPr lang="en-IE" dirty="0"/>
              <a:t> Types </a:t>
            </a:r>
            <a:r>
              <a:rPr lang="en-IE" b="1" dirty="0"/>
              <a:t>versus</a:t>
            </a:r>
            <a:r>
              <a:rPr lang="en-IE" dirty="0"/>
              <a:t> </a:t>
            </a:r>
            <a:r>
              <a:rPr lang="en-IE" b="1" dirty="0"/>
              <a:t>Object</a:t>
            </a:r>
            <a:r>
              <a:rPr lang="en-IE" dirty="0"/>
              <a:t> Types</a:t>
            </a:r>
          </a:p>
          <a:p>
            <a:pPr marL="514350" indent="-514350">
              <a:buFont typeface="+mj-lt"/>
              <a:buAutoNum type="arabicPeriod"/>
            </a:pPr>
            <a:r>
              <a:rPr lang="en-IE" dirty="0"/>
              <a:t>Strings and </a:t>
            </a:r>
            <a:r>
              <a:rPr lang="en-IE" b="1" dirty="0"/>
              <a:t>Java API</a:t>
            </a:r>
          </a:p>
          <a:p>
            <a:pPr marL="514350" indent="-514350">
              <a:buFont typeface="+mj-lt"/>
              <a:buAutoNum type="arabicPeriod"/>
            </a:pPr>
            <a:r>
              <a:rPr lang="en-IE" dirty="0"/>
              <a:t>Strings - </a:t>
            </a:r>
            <a:r>
              <a:rPr lang="en-IE" b="1" dirty="0"/>
              <a:t>methods</a:t>
            </a:r>
          </a:p>
          <a:p>
            <a:pPr marL="514350" indent="-514350">
              <a:buFont typeface="+mj-lt"/>
              <a:buAutoNum type="arabicPeriod"/>
            </a:pPr>
            <a:r>
              <a:rPr lang="en-IE" b="1" dirty="0"/>
              <a:t>Method calls </a:t>
            </a:r>
          </a:p>
          <a:p>
            <a:pPr marL="914400" lvl="1" indent="-514350"/>
            <a:r>
              <a:rPr lang="en-IE" b="1" dirty="0"/>
              <a:t>Internal</a:t>
            </a:r>
          </a:p>
          <a:p>
            <a:pPr marL="914400" lvl="1" indent="-514350"/>
            <a:r>
              <a:rPr lang="en-IE" b="1" dirty="0"/>
              <a:t>External</a:t>
            </a:r>
          </a:p>
          <a:p>
            <a:pPr marL="914400" lvl="1" indent="-514350"/>
            <a:r>
              <a:rPr lang="en-IE" b="1" dirty="0"/>
              <a:t>Dot notation</a:t>
            </a:r>
          </a:p>
          <a:p>
            <a:pPr marL="514350" indent="-514350">
              <a:buFont typeface="+mj-lt"/>
              <a:buAutoNum type="arabicPeriod"/>
            </a:pPr>
            <a:r>
              <a:rPr lang="en-IE" dirty="0"/>
              <a:t>Using String methods:  some </a:t>
            </a:r>
            <a:r>
              <a:rPr lang="en-IE" b="1" dirty="0"/>
              <a:t>examples</a:t>
            </a:r>
          </a:p>
        </p:txBody>
      </p:sp>
      <p:sp>
        <p:nvSpPr>
          <p:cNvPr id="7" name="Rectangle 6"/>
          <p:cNvSpPr/>
          <p:nvPr/>
        </p:nvSpPr>
        <p:spPr>
          <a:xfrm>
            <a:off x="1981200" y="5867400"/>
            <a:ext cx="8382000" cy="533400"/>
          </a:xfrm>
          <a:prstGeom prst="rect">
            <a:avLst/>
          </a:prstGeom>
          <a:noFill/>
          <a:ln w="444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139673944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1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7" dur="2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>
            <a:extLst>
              <a:ext uri="{FF2B5EF4-FFF2-40B4-BE49-F238E27FC236}">
                <a16:creationId xmlns:a16="http://schemas.microsoft.com/office/drawing/2014/main" id="{31E52E49-78AF-C25D-E4A6-76B1D439329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56347" y="2164539"/>
            <a:ext cx="7772400" cy="1379843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E" b="1" dirty="0"/>
              <a:t>Example 1</a:t>
            </a:r>
            <a:endParaRPr lang="en-IE" dirty="0"/>
          </a:p>
        </p:txBody>
      </p:sp>
      <p:sp>
        <p:nvSpPr>
          <p:cNvPr id="4" name="TextBox 3"/>
          <p:cNvSpPr txBox="1"/>
          <p:nvPr/>
        </p:nvSpPr>
        <p:spPr>
          <a:xfrm>
            <a:off x="6553200" y="1312151"/>
            <a:ext cx="5791200" cy="461665"/>
          </a:xfrm>
          <a:prstGeom prst="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IE" sz="2400" dirty="0"/>
              <a:t>Printing the length of a String to the console. </a:t>
            </a:r>
          </a:p>
        </p:txBody>
      </p:sp>
      <p:cxnSp>
        <p:nvCxnSpPr>
          <p:cNvPr id="9" name="Straight Arrow Connector 8"/>
          <p:cNvCxnSpPr>
            <a:cxnSpLocks/>
          </p:cNvCxnSpPr>
          <p:nvPr/>
        </p:nvCxnSpPr>
        <p:spPr>
          <a:xfrm flipH="1">
            <a:off x="4267200" y="3227440"/>
            <a:ext cx="1104900" cy="1360570"/>
          </a:xfrm>
          <a:prstGeom prst="straightConnector1">
            <a:avLst/>
          </a:prstGeom>
          <a:ln w="4445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Donut 9"/>
          <p:cNvSpPr/>
          <p:nvPr/>
        </p:nvSpPr>
        <p:spPr>
          <a:xfrm>
            <a:off x="4016542" y="2854461"/>
            <a:ext cx="4343400" cy="381000"/>
          </a:xfrm>
          <a:prstGeom prst="donut">
            <a:avLst>
              <a:gd name="adj" fmla="val 7374"/>
            </a:avLst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solidFill>
                <a:schemeClr val="tx1"/>
              </a:solidFill>
            </a:endParaRP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57350920-5DA7-A67E-B7E2-E5239782992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641600" y="4675239"/>
            <a:ext cx="3251200" cy="571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9925446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1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7" dur="2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2000"/>
                            </p:stCondLst>
                            <p:childTnLst>
                              <p:par>
                                <p:cTn id="9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89A6A658-E8C7-2728-C34B-D96089FCE70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09348" y="2286220"/>
            <a:ext cx="7772400" cy="984959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E" b="1" dirty="0"/>
              <a:t>Example 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096000" y="381000"/>
            <a:ext cx="4191000" cy="830997"/>
          </a:xfrm>
          <a:prstGeom prst="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IE" sz="2400" dirty="0"/>
              <a:t>Converting a String to lowercase and printing it to the console. </a:t>
            </a:r>
          </a:p>
        </p:txBody>
      </p:sp>
      <p:cxnSp>
        <p:nvCxnSpPr>
          <p:cNvPr id="9" name="Straight Arrow Connector 8"/>
          <p:cNvCxnSpPr>
            <a:cxnSpLocks/>
          </p:cNvCxnSpPr>
          <p:nvPr/>
        </p:nvCxnSpPr>
        <p:spPr>
          <a:xfrm flipH="1">
            <a:off x="8077200" y="3063930"/>
            <a:ext cx="762000" cy="1889071"/>
          </a:xfrm>
          <a:prstGeom prst="straightConnector1">
            <a:avLst/>
          </a:prstGeom>
          <a:ln w="4445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Donut 9"/>
          <p:cNvSpPr/>
          <p:nvPr/>
        </p:nvSpPr>
        <p:spPr>
          <a:xfrm>
            <a:off x="6248400" y="2639416"/>
            <a:ext cx="3657600" cy="424514"/>
          </a:xfrm>
          <a:prstGeom prst="donut">
            <a:avLst>
              <a:gd name="adj" fmla="val 7374"/>
            </a:avLst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solidFill>
                <a:schemeClr val="tx1"/>
              </a:solidFill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7965DDA-C915-E75A-2E7C-179C5BF43AA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09348" y="4953001"/>
            <a:ext cx="7772400" cy="6466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849136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1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7" dur="2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2000"/>
                            </p:stCondLst>
                            <p:childTnLst>
                              <p:par>
                                <p:cTn id="9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56C349A3-64D7-A3DF-44EF-9C6D3DF3222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09800" y="2119801"/>
            <a:ext cx="7772400" cy="2618398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8C5B41B1-E9D2-3943-996D-DEEDF4F0473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905000" y="6011862"/>
            <a:ext cx="9923595" cy="610335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E" b="1" dirty="0"/>
              <a:t>Example 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724400" y="235803"/>
            <a:ext cx="7239000" cy="830997"/>
          </a:xfrm>
          <a:prstGeom prst="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IE" sz="2400" b="1" dirty="0"/>
              <a:t>Trim</a:t>
            </a:r>
            <a:r>
              <a:rPr lang="en-IE" sz="2400" dirty="0"/>
              <a:t> - Removing all the </a:t>
            </a:r>
            <a:r>
              <a:rPr lang="en-IE" sz="2400" b="1" dirty="0"/>
              <a:t>leading and trailing spaces </a:t>
            </a:r>
            <a:r>
              <a:rPr lang="en-IE" sz="2400" dirty="0"/>
              <a:t>in a String and printing it to the console. </a:t>
            </a:r>
          </a:p>
        </p:txBody>
      </p:sp>
      <p:cxnSp>
        <p:nvCxnSpPr>
          <p:cNvPr id="7" name="Straight Arrow Connector 6"/>
          <p:cNvCxnSpPr>
            <a:cxnSpLocks/>
          </p:cNvCxnSpPr>
          <p:nvPr/>
        </p:nvCxnSpPr>
        <p:spPr>
          <a:xfrm>
            <a:off x="7543800" y="3717681"/>
            <a:ext cx="228600" cy="2294181"/>
          </a:xfrm>
          <a:prstGeom prst="straightConnector1">
            <a:avLst/>
          </a:prstGeom>
          <a:ln w="4445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Arrow Connector 13"/>
          <p:cNvCxnSpPr>
            <a:cxnSpLocks/>
          </p:cNvCxnSpPr>
          <p:nvPr/>
        </p:nvCxnSpPr>
        <p:spPr>
          <a:xfrm flipH="1">
            <a:off x="4620455" y="4191000"/>
            <a:ext cx="1018345" cy="2171700"/>
          </a:xfrm>
          <a:prstGeom prst="straightConnector1">
            <a:avLst/>
          </a:prstGeom>
          <a:ln w="4445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4880515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0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E" dirty="0"/>
              <a:t>Questions?</a:t>
            </a:r>
          </a:p>
        </p:txBody>
      </p:sp>
      <p:pic>
        <p:nvPicPr>
          <p:cNvPr id="3" name="Picture 2" descr="A green question mark in a circle&#10;&#10;AI-generated content may be incorrect.">
            <a:extLst>
              <a:ext uri="{FF2B5EF4-FFF2-40B4-BE49-F238E27FC236}">
                <a16:creationId xmlns:a16="http://schemas.microsoft.com/office/drawing/2014/main" id="{B40F5F4E-5755-59B2-38B9-16859D1AA0A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71800" y="1325562"/>
            <a:ext cx="5257800" cy="5257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15503280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E" dirty="0"/>
              <a:t>References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E" dirty="0" err="1"/>
              <a:t>Reas</a:t>
            </a:r>
            <a:r>
              <a:rPr lang="en-IE" dirty="0"/>
              <a:t>, C. &amp; Fry, B. (2014) Processing – A Programming Handbook for Visual Designers and Artists, 2</a:t>
            </a:r>
            <a:r>
              <a:rPr lang="en-IE" baseline="30000" dirty="0"/>
              <a:t>nd</a:t>
            </a:r>
            <a:r>
              <a:rPr lang="en-IE" dirty="0"/>
              <a:t> Edition, MIT Press, London.</a:t>
            </a:r>
          </a:p>
          <a:p>
            <a:endParaRPr lang="en-IE" dirty="0"/>
          </a:p>
        </p:txBody>
      </p:sp>
    </p:spTree>
    <p:extLst>
      <p:ext uri="{BB962C8B-B14F-4D97-AF65-F5344CB8AC3E}">
        <p14:creationId xmlns:p14="http://schemas.microsoft.com/office/powerpoint/2010/main" val="535183659"/>
      </p:ext>
    </p:extLst>
  </p:cSld>
  <p:clrMapOvr>
    <a:masterClrMapping/>
  </p:clrMapOvr>
</p:sld>
</file>

<file path=ppt/theme/theme1.xml><?xml version="1.0" encoding="utf-8"?>
<a:theme xmlns:a="http://schemas.openxmlformats.org/drawingml/2006/main" name="a-processing-mouse-event-methods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a-arrays</Template>
  <TotalTime>2609</TotalTime>
  <Words>1606</Words>
  <Application>Microsoft Macintosh PowerPoint</Application>
  <PresentationFormat>Widescreen</PresentationFormat>
  <Paragraphs>295</Paragraphs>
  <Slides>25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25</vt:i4>
      </vt:variant>
    </vt:vector>
  </HeadingPairs>
  <TitlesOfParts>
    <vt:vector size="29" baseType="lpstr">
      <vt:lpstr>Arial</vt:lpstr>
      <vt:lpstr>Calibri</vt:lpstr>
      <vt:lpstr>DejaVu Serif</vt:lpstr>
      <vt:lpstr>a-processing-mouse-event-methods</vt:lpstr>
      <vt:lpstr>Strings</vt:lpstr>
      <vt:lpstr>Topics list - Strings</vt:lpstr>
      <vt:lpstr>Recap: Primitive Types</vt:lpstr>
      <vt:lpstr>Primitive Types: char</vt:lpstr>
      <vt:lpstr>Primitive Types: char</vt:lpstr>
      <vt:lpstr>Example 3.18 – Alphabet </vt:lpstr>
      <vt:lpstr>Topics list - Strings</vt:lpstr>
      <vt:lpstr>Object types e.g. String</vt:lpstr>
      <vt:lpstr>Object types - String</vt:lpstr>
      <vt:lpstr>Strings are objects</vt:lpstr>
      <vt:lpstr>Topics list - Strings</vt:lpstr>
      <vt:lpstr>Strings and Java’s API</vt:lpstr>
      <vt:lpstr>Topics list - Strings</vt:lpstr>
      <vt:lpstr>Strings - some API methods</vt:lpstr>
      <vt:lpstr>Topics list - Strings</vt:lpstr>
      <vt:lpstr>External method calls</vt:lpstr>
      <vt:lpstr>External method calls</vt:lpstr>
      <vt:lpstr>Topics list - Strings</vt:lpstr>
      <vt:lpstr>Dot Notation</vt:lpstr>
      <vt:lpstr>Topics list - Strings</vt:lpstr>
      <vt:lpstr>Example 1</vt:lpstr>
      <vt:lpstr>Example 2</vt:lpstr>
      <vt:lpstr>Example 3</vt:lpstr>
      <vt:lpstr>Questions?</vt:lpstr>
      <vt:lpstr>References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Strings</dc:title>
  <dc:creator>Siobhan Drohan</dc:creator>
  <cp:lastModifiedBy>Mairead Meagher</cp:lastModifiedBy>
  <cp:revision>306</cp:revision>
  <cp:lastPrinted>2019-01-26T00:53:41Z</cp:lastPrinted>
  <dcterms:created xsi:type="dcterms:W3CDTF">2006-08-16T00:00:00Z</dcterms:created>
  <dcterms:modified xsi:type="dcterms:W3CDTF">2025-10-19T19:53:11Z</dcterms:modified>
</cp:coreProperties>
</file>