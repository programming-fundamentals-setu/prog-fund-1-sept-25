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heme/themeOverride1.xml" ContentType="application/vnd.openxmlformats-officedocument.themeOverr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0"/>
  </p:notesMasterIdLst>
  <p:sldIdLst>
    <p:sldId id="325" r:id="rId2"/>
    <p:sldId id="257" r:id="rId3"/>
    <p:sldId id="649" r:id="rId4"/>
    <p:sldId id="616" r:id="rId5"/>
    <p:sldId id="654" r:id="rId6"/>
    <p:sldId id="606" r:id="rId7"/>
    <p:sldId id="605" r:id="rId8"/>
    <p:sldId id="610" r:id="rId9"/>
    <p:sldId id="611" r:id="rId10"/>
    <p:sldId id="614" r:id="rId11"/>
    <p:sldId id="655" r:id="rId12"/>
    <p:sldId id="652" r:id="rId13"/>
    <p:sldId id="618" r:id="rId14"/>
    <p:sldId id="619" r:id="rId15"/>
    <p:sldId id="620" r:id="rId16"/>
    <p:sldId id="623" r:id="rId17"/>
    <p:sldId id="621" r:id="rId18"/>
    <p:sldId id="624" r:id="rId19"/>
    <p:sldId id="622" r:id="rId20"/>
    <p:sldId id="656" r:id="rId21"/>
    <p:sldId id="653" r:id="rId22"/>
    <p:sldId id="638" r:id="rId23"/>
    <p:sldId id="628" r:id="rId24"/>
    <p:sldId id="641" r:id="rId25"/>
    <p:sldId id="642" r:id="rId26"/>
    <p:sldId id="634" r:id="rId27"/>
    <p:sldId id="657" r:id="rId28"/>
    <p:sldId id="347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D7AC3CCA-C797-4891-BE02-D94E43425B78}" styleName="Medium Style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9437" autoAdjust="0"/>
    <p:restoredTop sz="89103" autoAdjust="0"/>
  </p:normalViewPr>
  <p:slideViewPr>
    <p:cSldViewPr>
      <p:cViewPr varScale="1">
        <p:scale>
          <a:sx n="52" d="100"/>
          <a:sy n="52" d="100"/>
        </p:scale>
        <p:origin x="296" y="1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272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C3D141-1E1C-433C-AD3A-CD56CBBB4F9F}" type="datetimeFigureOut">
              <a:rPr lang="en-IE" smtClean="0"/>
              <a:t>21/10/2025</a:t>
            </a:fld>
            <a:endParaRPr lang="en-I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963DB36-5273-45A5-A77C-FE9BE0779D84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6345442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59836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59590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607548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9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490730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10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911449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603778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85551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7699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16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849436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17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204490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18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742395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Should this be string </a:t>
            </a:r>
            <a:r>
              <a:rPr lang="en-GB"/>
              <a:t>object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963DB36-5273-45A5-A77C-FE9BE0779D84}" type="slidenum">
              <a:rPr lang="en-IE" smtClean="0"/>
              <a:t>19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5127915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23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2605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24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481494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Rectangle 2"/>
          <p:cNvSpPr>
            <a:spLocks noGrp="1" noChangeArrowheads="1"/>
          </p:cNvSpPr>
          <p:nvPr>
            <p:ph type="hdr" sz="quarter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Objects First with Java</a:t>
            </a:r>
          </a:p>
        </p:txBody>
      </p:sp>
      <p:sp>
        <p:nvSpPr>
          <p:cNvPr id="10243" name="Rectangle 6"/>
          <p:cNvSpPr>
            <a:spLocks noGrp="1" noChangeArrowheads="1"/>
          </p:cNvSpPr>
          <p:nvPr>
            <p:ph type="ftr" sz="quarter" idx="4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r>
              <a:rPr lang="en-GB" sz="1200" b="0">
                <a:latin typeface="Times New Roman" pitchFamily="-32" charset="0"/>
              </a:rPr>
              <a:t>© David J. Barnes and Michael Kölling</a:t>
            </a:r>
          </a:p>
        </p:txBody>
      </p:sp>
      <p:sp>
        <p:nvSpPr>
          <p:cNvPr id="10244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fld id="{F27CABD1-01BD-4148-8592-4B26A6C0FEC4}" type="slidenum">
              <a:rPr lang="en-GB" sz="1200" b="0" smtClean="0">
                <a:latin typeface="Times New Roman" pitchFamily="-32" charset="0"/>
              </a:rPr>
              <a:pPr/>
              <a:t>25</a:t>
            </a:fld>
            <a:endParaRPr lang="en-GB" sz="1200" b="0">
              <a:latin typeface="Times New Roman" pitchFamily="-32" charset="0"/>
            </a:endParaRPr>
          </a:p>
        </p:txBody>
      </p:sp>
      <p:sp>
        <p:nvSpPr>
          <p:cNvPr id="10245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ln/>
        </p:spPr>
      </p:sp>
      <p:sp>
        <p:nvSpPr>
          <p:cNvPr id="10246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41011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56600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7" name="Straight Connector 6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A54FA624-7CFC-3CFB-8384-E3FA99B20E9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C51F014-A304-3672-EB37-723E4843A104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577319E-D913-0186-1403-29DAAB90998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1E79F1-A6BC-9BFA-D91F-EDE58012F586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27577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191175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8" name="Straight Connector 7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0F42A16B-6893-A143-E832-A99D7B6427B3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B64861E-C2E3-2C0F-0C43-CF6F042CC21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3DE2AD0E-60F6-798F-5218-679762744249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46373DF-09B0-AAD0-9A0F-77BAB32A9FC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163052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3436290-11E2-F20B-966B-F18296CC48D7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669D825-370C-D932-7B44-4C1EE0EB0E21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B1F2B53-681A-1F9B-D38D-923C8065AAE2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6910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6" name="Straight Connector 5"/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DB4946F-2A50-46DF-D246-8E463A5B9E4E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CCF61A43-37C0-D158-13BE-1753663F3BEC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D85FD0A-2A17-4E36-7ACE-8DDECE72BE20}"/>
              </a:ext>
            </a:extLst>
          </p:cNvPr>
          <p:cNvCxnSpPr/>
          <p:nvPr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37180BA-0CE4-6687-797D-9C4100B1A0B8}"/>
              </a:ext>
            </a:extLst>
          </p:cNvPr>
          <p:cNvCxnSpPr/>
          <p:nvPr userDrawn="1"/>
        </p:nvCxnSpPr>
        <p:spPr>
          <a:xfrm>
            <a:off x="609600" y="1447800"/>
            <a:ext cx="110744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09978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32301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4790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99755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974602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739866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22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  <p:sp>
        <p:nvSpPr>
          <p:cNvPr id="23" name="Shape 23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/>
          </a:p>
        </p:txBody>
      </p:sp>
      <p:sp>
        <p:nvSpPr>
          <p:cNvPr id="24" name="Shape 24"/>
          <p:cNvSpPr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51909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Text"/>
          <p:cNvSpPr txBox="1">
            <a:spLocks noGrp="1"/>
          </p:cNvSpPr>
          <p:nvPr>
            <p:ph type="title"/>
          </p:nvPr>
        </p:nvSpPr>
        <p:spPr>
          <a:xfrm>
            <a:off x="863600" y="2286000"/>
            <a:ext cx="10464801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 dirty="0"/>
          </a:p>
        </p:txBody>
      </p:sp>
      <p:sp>
        <p:nvSpPr>
          <p:cNvPr id="16" name="Subtitle"/>
          <p:cNvSpPr txBox="1">
            <a:spLocks noGrp="1"/>
          </p:cNvSpPr>
          <p:nvPr>
            <p:ph type="body" sz="quarter" idx="22"/>
          </p:nvPr>
        </p:nvSpPr>
        <p:spPr>
          <a:xfrm>
            <a:off x="957115" y="3465604"/>
            <a:ext cx="10134430" cy="846384"/>
          </a:xfrm>
          <a:prstGeom prst="rect">
            <a:avLst/>
          </a:prstGeom>
        </p:spPr>
        <p:txBody>
          <a:bodyPr anchor="ctr">
            <a:spAutoFit/>
          </a:bodyPr>
          <a:lstStyle>
            <a:lvl1pPr marL="0" indent="0" algn="ctr">
              <a:spcBef>
                <a:spcPts val="0"/>
              </a:spcBef>
              <a:buClrTx/>
              <a:buSzTx/>
              <a:buFontTx/>
              <a:buNone/>
              <a:defRPr>
                <a:solidFill>
                  <a:srgbClr val="2F4468"/>
                </a:solidFill>
              </a:defRPr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7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091544" y="6360984"/>
            <a:ext cx="495649" cy="492440"/>
          </a:xfrm>
          <a:prstGeom prst="rect">
            <a:avLst/>
          </a:prstGeom>
        </p:spPr>
        <p:txBody>
          <a:bodyPr/>
          <a:lstStyle>
            <a:lvl1pPr>
              <a:defRPr sz="2000"/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382407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and Bo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lide Number"/>
          <p:cNvSpPr txBox="1">
            <a:spLocks noGrp="1"/>
          </p:cNvSpPr>
          <p:nvPr>
            <p:ph type="sldNum" sz="quarter" idx="2"/>
          </p:nvPr>
        </p:nvSpPr>
        <p:spPr>
          <a:xfrm>
            <a:off x="11691066" y="6493542"/>
            <a:ext cx="434734" cy="430885"/>
          </a:xfrm>
          <a:prstGeom prst="rect">
            <a:avLst/>
          </a:prstGeom>
        </p:spPr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4" name="Title Text"/>
          <p:cNvSpPr txBox="1">
            <a:spLocks noGrp="1"/>
          </p:cNvSpPr>
          <p:nvPr>
            <p:ph type="title"/>
          </p:nvPr>
        </p:nvSpPr>
        <p:spPr>
          <a:xfrm>
            <a:off x="729736" y="395556"/>
            <a:ext cx="10747254" cy="1143001"/>
          </a:xfrm>
          <a:prstGeom prst="rect">
            <a:avLst/>
          </a:prstGeom>
        </p:spPr>
        <p:txBody>
          <a:bodyPr/>
          <a:lstStyle/>
          <a:p>
            <a:r>
              <a:rPr lang="en-GB"/>
              <a:t>Click to edit Master title style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66855867"/>
      </p:ext>
    </p:extLst>
  </p:cSld>
  <p:clrMapOvr>
    <a:masterClrMapping/>
  </p:clrMapOvr>
  <p:transition spd="med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hart">
  <p:cSld name="Title, Text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20800" y="381000"/>
            <a:ext cx="10363200" cy="1143000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1625600" y="1828800"/>
            <a:ext cx="4876800" cy="426720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hart Placeholder 3"/>
          <p:cNvSpPr>
            <a:spLocks noGrp="1"/>
          </p:cNvSpPr>
          <p:nvPr>
            <p:ph type="chart" sz="half" idx="2"/>
          </p:nvPr>
        </p:nvSpPr>
        <p:spPr>
          <a:xfrm>
            <a:off x="6705600" y="1828800"/>
            <a:ext cx="4876800" cy="4267200"/>
          </a:xfrm>
        </p:spPr>
        <p:txBody>
          <a:bodyPr/>
          <a:lstStyle/>
          <a:p>
            <a:pPr lvl="0"/>
            <a:r>
              <a:rPr lang="en-GB" noProof="0"/>
              <a:t>Click icon to add chart</a:t>
            </a:r>
            <a:endParaRPr lang="en-US" noProof="0"/>
          </a:p>
        </p:txBody>
      </p:sp>
      <p:sp>
        <p:nvSpPr>
          <p:cNvPr id="5" name="Rectangle 1028"/>
          <p:cNvSpPr>
            <a:spLocks noGrp="1" noChangeArrowheads="1"/>
          </p:cNvSpPr>
          <p:nvPr>
            <p:ph type="ftr" sz="quarter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78618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10/21/25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1215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175641" y="1495958"/>
            <a:ext cx="7772400" cy="1470025"/>
          </a:xfrm>
        </p:spPr>
        <p:txBody>
          <a:bodyPr>
            <a:normAutofit/>
          </a:bodyPr>
          <a:lstStyle/>
          <a:p>
            <a:r>
              <a:rPr lang="en-IE" sz="4000" dirty="0"/>
              <a:t>Arrays and Classes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38300" y="3810000"/>
            <a:ext cx="1866900" cy="1066800"/>
          </a:xfrm>
        </p:spPr>
        <p:txBody>
          <a:bodyPr>
            <a:normAutofit/>
          </a:bodyPr>
          <a:lstStyle/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Produced </a:t>
            </a:r>
          </a:p>
          <a:p>
            <a:pPr algn="r">
              <a:lnSpc>
                <a:spcPct val="110000"/>
              </a:lnSpc>
              <a:spcBef>
                <a:spcPts val="0"/>
              </a:spcBef>
            </a:pPr>
            <a:r>
              <a:rPr lang="en-IE" sz="2400" dirty="0"/>
              <a:t>by:</a:t>
            </a:r>
          </a:p>
        </p:txBody>
      </p:sp>
      <p:cxnSp>
        <p:nvCxnSpPr>
          <p:cNvPr id="6" name="Straight Connector 5"/>
          <p:cNvCxnSpPr/>
          <p:nvPr/>
        </p:nvCxnSpPr>
        <p:spPr>
          <a:xfrm>
            <a:off x="2251841" y="3124200"/>
            <a:ext cx="762000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itle 1"/>
          <p:cNvSpPr txBox="1">
            <a:spLocks/>
          </p:cNvSpPr>
          <p:nvPr/>
        </p:nvSpPr>
        <p:spPr>
          <a:xfrm>
            <a:off x="2175641" y="2133601"/>
            <a:ext cx="7772400" cy="9366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endParaRPr lang="en-IE" sz="32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CC4AED-F0A1-0320-79D7-9CE5D8221C21}"/>
              </a:ext>
            </a:extLst>
          </p:cNvPr>
          <p:cNvSpPr txBox="1"/>
          <p:nvPr/>
        </p:nvSpPr>
        <p:spPr>
          <a:xfrm>
            <a:off x="7445567" y="5849826"/>
            <a:ext cx="40727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1600" dirty="0"/>
              <a:t>Department of Computing and Mathematics</a:t>
            </a:r>
          </a:p>
          <a:p>
            <a:r>
              <a:rPr lang="en-IE" sz="1600" dirty="0"/>
              <a:t>http://www.setu.ie/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0BCF36-982C-F204-7447-03BA8AB5D257}"/>
              </a:ext>
            </a:extLst>
          </p:cNvPr>
          <p:cNvSpPr txBox="1"/>
          <p:nvPr/>
        </p:nvSpPr>
        <p:spPr>
          <a:xfrm>
            <a:off x="3925972" y="3676471"/>
            <a:ext cx="5562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Dr.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Siobhán</a:t>
            </a:r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</a:t>
            </a:r>
            <a:r>
              <a:rPr lang="en-IE" sz="2400" dirty="0" err="1">
                <a:solidFill>
                  <a:schemeClr val="tx1">
                    <a:lumMod val="75000"/>
                    <a:lumOff val="25000"/>
                  </a:schemeClr>
                </a:solidFill>
              </a:rPr>
              <a:t>Drohan,</a:t>
            </a:r>
            <a:endParaRPr lang="en-IE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Mairead Meagher,</a:t>
            </a:r>
          </a:p>
          <a:p>
            <a:r>
              <a:rPr lang="en-IE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Ms. Siobhán Roche.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6E96DC9-3CD1-62A3-07F6-E302E465DD5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9242" y="5565517"/>
            <a:ext cx="2057400" cy="11533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6430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/>
          <p:cNvSpPr/>
          <p:nvPr/>
        </p:nvSpPr>
        <p:spPr>
          <a:xfrm>
            <a:off x="609600" y="17526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635913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Let’s Look at arrays of different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Arrays can store any type of data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some examples:</a:t>
            </a:r>
          </a:p>
          <a:p>
            <a:pPr marL="0" indent="0">
              <a:buNone/>
            </a:pPr>
            <a:endParaRPr lang="en-GB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primitives - </a:t>
            </a:r>
            <a:r>
              <a:rPr lang="en-GB" b="1" dirty="0" err="1"/>
              <a:t>int</a:t>
            </a:r>
            <a:endParaRPr lang="en-GB" b="1" dirty="0"/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</a:t>
            </a:r>
            <a:r>
              <a:rPr lang="mr-IN" dirty="0"/>
              <a:t>–</a:t>
            </a:r>
            <a:r>
              <a:rPr lang="en-GB" dirty="0"/>
              <a:t> </a:t>
            </a:r>
            <a:r>
              <a:rPr lang="en-GB" b="1" dirty="0"/>
              <a:t>String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Array of objects - </a:t>
            </a:r>
            <a:r>
              <a:rPr lang="en-GB" b="1" dirty="0"/>
              <a:t>Product</a:t>
            </a:r>
          </a:p>
        </p:txBody>
      </p:sp>
    </p:spTree>
    <p:extLst>
      <p:ext uri="{BB962C8B-B14F-4D97-AF65-F5344CB8AC3E}">
        <p14:creationId xmlns:p14="http://schemas.microsoft.com/office/powerpoint/2010/main" val="1139030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49534" y="5249288"/>
            <a:ext cx="5301901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Person[]  friends = new Person[4];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524000" y="1493282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454522" y="213360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1341857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2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6CFBF0-9159-185D-8A3F-0536331422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CD7B3-6E38-BE81-5F27-1F41C691CA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CCFB6C7-3653-2B17-9FC1-FFB0924D04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4BFC76E-0021-F6F2-9E6F-2BB7C516970B}"/>
              </a:ext>
            </a:extLst>
          </p:cNvPr>
          <p:cNvSpPr/>
          <p:nvPr/>
        </p:nvSpPr>
        <p:spPr>
          <a:xfrm>
            <a:off x="609600" y="24384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156319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4003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 err="1"/>
              <a:t>int</a:t>
            </a:r>
            <a:r>
              <a:rPr lang="en-GB" sz="2800" b="1" dirty="0"/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34385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19169205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FEEE004B-0225-472D-BF88-0869C903969C}"/>
              </a:ext>
            </a:extLst>
          </p:cNvPr>
          <p:cNvSpPr/>
          <p:nvPr/>
        </p:nvSpPr>
        <p:spPr>
          <a:xfrm>
            <a:off x="1600201" y="2667000"/>
            <a:ext cx="3483839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 = new </a:t>
            </a:r>
            <a:r>
              <a:rPr lang="en-GB" sz="2800" b="1" dirty="0" err="1"/>
              <a:t>int</a:t>
            </a:r>
            <a:r>
              <a:rPr lang="en-GB" sz="2800" b="1" dirty="0"/>
              <a:t>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1300503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549756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Oval 3">
            <a:extLst>
              <a:ext uri="{FF2B5EF4-FFF2-40B4-BE49-F238E27FC236}">
                <a16:creationId xmlns:a16="http://schemas.microsoft.com/office/drawing/2014/main" id="{8B2E9D6B-CAED-4A70-BB33-7EEDCB9DCA73}"/>
              </a:ext>
            </a:extLst>
          </p:cNvPr>
          <p:cNvSpPr/>
          <p:nvPr/>
        </p:nvSpPr>
        <p:spPr>
          <a:xfrm>
            <a:off x="8191500" y="46482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7" y="365760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numbers[2] = 18;</a:t>
            </a:r>
            <a:endParaRPr lang="en-IE" sz="2800" b="1" dirty="0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0B294C33-B37D-4AD0-8F43-3767EAC60CE5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2</a:t>
            </a:r>
            <a:r>
              <a:rPr lang="en-IE" sz="2400" dirty="0"/>
              <a:t> and setting it to a value of </a:t>
            </a:r>
            <a:r>
              <a:rPr lang="en-IE" sz="2400" b="1" dirty="0"/>
              <a:t>18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6288770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221398"/>
              </p:ext>
            </p:extLst>
          </p:nvPr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0" y="4658380"/>
            <a:ext cx="272587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numbers[0] = 12;</a:t>
            </a:r>
            <a:endParaRPr lang="en-IE" sz="2800" b="1" dirty="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6E40A51-34F3-463B-A7BD-15C06077E7A1}"/>
              </a:ext>
            </a:extLst>
          </p:cNvPr>
          <p:cNvSpPr/>
          <p:nvPr/>
        </p:nvSpPr>
        <p:spPr>
          <a:xfrm>
            <a:off x="8153400" y="3733800"/>
            <a:ext cx="7239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1878806" y="5410200"/>
            <a:ext cx="2921794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setting the element at index </a:t>
            </a:r>
            <a:r>
              <a:rPr lang="en-IE" sz="2400" b="1" dirty="0"/>
              <a:t>0</a:t>
            </a:r>
            <a:r>
              <a:rPr lang="en-IE" sz="2400" dirty="0"/>
              <a:t> to a value of </a:t>
            </a:r>
            <a:r>
              <a:rPr lang="en-IE" sz="2400" b="1" dirty="0"/>
              <a:t>12</a:t>
            </a:r>
            <a:r>
              <a:rPr lang="en-IE" sz="24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096231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an </a:t>
            </a:r>
            <a:r>
              <a:rPr lang="en-IE" b="1" dirty="0">
                <a:solidFill>
                  <a:srgbClr val="FF0000"/>
                </a:solidFill>
              </a:rPr>
              <a:t>int</a:t>
            </a:r>
            <a:r>
              <a:rPr lang="en-IE" dirty="0"/>
              <a:t> primitive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345642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[]  numbers;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numbers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1ECF9212-2D61-43FF-9314-EB995008633C}"/>
              </a:ext>
            </a:extLst>
          </p:cNvPr>
          <p:cNvGraphicFramePr>
            <a:graphicFrameLocks noGrp="1"/>
          </p:cNvGraphicFramePr>
          <p:nvPr/>
        </p:nvGraphicFramePr>
        <p:xfrm>
          <a:off x="7086601" y="3733800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18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2E0691DA-9F50-43E8-A565-BD56F9D71203}"/>
              </a:ext>
            </a:extLst>
          </p:cNvPr>
          <p:cNvCxnSpPr>
            <a:endCxn id="9" idx="0"/>
          </p:cNvCxnSpPr>
          <p:nvPr/>
        </p:nvCxnSpPr>
        <p:spPr>
          <a:xfrm>
            <a:off x="7006066" y="2543106"/>
            <a:ext cx="1185434" cy="11906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7F374B64-6BC7-42EC-8C09-493550023041}"/>
              </a:ext>
            </a:extLst>
          </p:cNvPr>
          <p:cNvSpPr/>
          <p:nvPr/>
        </p:nvSpPr>
        <p:spPr>
          <a:xfrm>
            <a:off x="1905001" y="465838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numbers[0] = 12;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9AF5FC9E-82FB-4509-9783-9F3D9B5246D3}"/>
              </a:ext>
            </a:extLst>
          </p:cNvPr>
          <p:cNvSpPr/>
          <p:nvPr/>
        </p:nvSpPr>
        <p:spPr>
          <a:xfrm>
            <a:off x="1676401" y="2667000"/>
            <a:ext cx="3411511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 = new </a:t>
            </a:r>
            <a:r>
              <a:rPr lang="en-GB" sz="2800" dirty="0" err="1">
                <a:solidFill>
                  <a:schemeClr val="bg1">
                    <a:lumMod val="65000"/>
                  </a:schemeClr>
                </a:solidFill>
              </a:rPr>
              <a:t>int</a:t>
            </a:r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[4];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D084A7C-13AA-4193-880D-38973F9A4D1B}"/>
              </a:ext>
            </a:extLst>
          </p:cNvPr>
          <p:cNvSpPr/>
          <p:nvPr/>
        </p:nvSpPr>
        <p:spPr>
          <a:xfrm>
            <a:off x="1933798" y="3657600"/>
            <a:ext cx="268560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dirty="0">
                <a:solidFill>
                  <a:schemeClr val="bg1">
                    <a:lumMod val="65000"/>
                  </a:schemeClr>
                </a:solidFill>
              </a:rPr>
              <a:t>numbers[2] = 18;</a:t>
            </a:r>
            <a:endParaRPr lang="en-IE" sz="2800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287FEE5B-B7DB-4364-8031-BB5CD89E9089}"/>
              </a:ext>
            </a:extLst>
          </p:cNvPr>
          <p:cNvSpPr/>
          <p:nvPr/>
        </p:nvSpPr>
        <p:spPr>
          <a:xfrm>
            <a:off x="5503695" y="5638869"/>
            <a:ext cx="4859505" cy="11430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Here we are printing the contents of index location 2 </a:t>
            </a:r>
            <a:br>
              <a:rPr lang="en-IE" sz="2400" dirty="0"/>
            </a:br>
            <a:r>
              <a:rPr lang="en-IE" sz="2400" dirty="0"/>
              <a:t>i.e. 18 will be printed to the console.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75A44A42-7850-424F-8580-12BEFA62B01D}"/>
              </a:ext>
            </a:extLst>
          </p:cNvPr>
          <p:cNvSpPr/>
          <p:nvPr/>
        </p:nvSpPr>
        <p:spPr>
          <a:xfrm>
            <a:off x="1828062" y="5682972"/>
            <a:ext cx="296459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print(numbers[2]);</a:t>
            </a:r>
            <a:endParaRPr lang="en-IE" sz="2800" b="1" dirty="0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D5DF7F76-128F-4003-87B4-11F6C4CEE431}"/>
              </a:ext>
            </a:extLst>
          </p:cNvPr>
          <p:cNvSpPr/>
          <p:nvPr/>
        </p:nvSpPr>
        <p:spPr>
          <a:xfrm>
            <a:off x="6781800" y="4597365"/>
            <a:ext cx="2971800" cy="523806"/>
          </a:xfrm>
          <a:prstGeom prst="ellipse">
            <a:avLst/>
          </a:prstGeom>
          <a:noFill/>
          <a:ln w="76200"/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775116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7F2EFD-A820-381C-0CA8-7645E85A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9DA616-D2A2-5805-0197-64D9BD24B7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00EEC30-8C09-CBA4-12A2-EEEE445B2A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828E23-FA13-B0C2-68DE-5FCC7AD2D33B}"/>
              </a:ext>
            </a:extLst>
          </p:cNvPr>
          <p:cNvSpPr/>
          <p:nvPr/>
        </p:nvSpPr>
        <p:spPr>
          <a:xfrm>
            <a:off x="599661" y="31623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Arrow: Right 1">
            <a:extLst>
              <a:ext uri="{FF2B5EF4-FFF2-40B4-BE49-F238E27FC236}">
                <a16:creationId xmlns:a16="http://schemas.microsoft.com/office/drawing/2014/main" id="{A20DB7A9-8799-91D3-F68C-6398877D8DB2}"/>
              </a:ext>
            </a:extLst>
          </p:cNvPr>
          <p:cNvSpPr/>
          <p:nvPr/>
        </p:nvSpPr>
        <p:spPr>
          <a:xfrm flipH="1">
            <a:off x="2971800" y="403860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08125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E5CDF64-02E3-55CC-5BFD-1223CED49EC9}"/>
              </a:ext>
            </a:extLst>
          </p:cNvPr>
          <p:cNvSpPr txBox="1"/>
          <p:nvPr/>
        </p:nvSpPr>
        <p:spPr>
          <a:xfrm>
            <a:off x="2079722" y="5361522"/>
            <a:ext cx="5220147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r>
              <a:rPr lang="en-US" sz="2800" dirty="0"/>
              <a:t>Person[] friends = new Person[4];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6760930" y="5325488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514774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973772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</a:t>
            </a:r>
            <a:r>
              <a:rPr lang="en-IE" dirty="0"/>
              <a:t> object array</a:t>
            </a:r>
            <a:endParaRPr lang="en-GB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EE58AEEF-1D90-435B-8AAA-3C77AE95E59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1B024A7-891F-471A-AE86-7C9072B48A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950678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91AE63D-0C46-41DC-9511-3C84E8262E47}"/>
              </a:ext>
            </a:extLst>
          </p:cNvPr>
          <p:cNvCxnSpPr>
            <a:cxnSpLocks/>
            <a:endCxn id="12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13">
            <a:extLst>
              <a:ext uri="{FF2B5EF4-FFF2-40B4-BE49-F238E27FC236}">
                <a16:creationId xmlns:a16="http://schemas.microsoft.com/office/drawing/2014/main" id="{DA222CAC-4172-4D78-BE9B-A6AEA8BD943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 = new String[4];</a:t>
            </a:r>
            <a:endParaRPr lang="en-IE" sz="2800" b="1" dirty="0"/>
          </a:p>
        </p:txBody>
      </p:sp>
    </p:spTree>
    <p:extLst>
      <p:ext uri="{BB962C8B-B14F-4D97-AF65-F5344CB8AC3E}">
        <p14:creationId xmlns:p14="http://schemas.microsoft.com/office/powerpoint/2010/main" val="73510348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829103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0405017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words[1] = “Dog”;</a:t>
            </a:r>
            <a:endParaRPr lang="en-IE" sz="2800" b="1" dirty="0"/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4495800"/>
            <a:ext cx="2921794" cy="19812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We are directly accessing the element at index </a:t>
            </a:r>
            <a:r>
              <a:rPr lang="en-IE" sz="2400" b="1" dirty="0"/>
              <a:t>1</a:t>
            </a:r>
            <a:r>
              <a:rPr lang="en-IE" sz="2400" dirty="0"/>
              <a:t> and setting it to a value of </a:t>
            </a:r>
            <a:r>
              <a:rPr lang="en-IE" sz="2400" b="1" dirty="0"/>
              <a:t>“Dog”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937780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29373832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22234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GB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Rectangle 12">
            <a:extLst>
              <a:ext uri="{FF2B5EF4-FFF2-40B4-BE49-F238E27FC236}">
                <a16:creationId xmlns:a16="http://schemas.microsoft.com/office/drawing/2014/main" id="{C3BAC8DC-59DC-4BD5-9310-47CFC5E3D4C8}"/>
              </a:ext>
            </a:extLst>
          </p:cNvPr>
          <p:cNvSpPr/>
          <p:nvPr/>
        </p:nvSpPr>
        <p:spPr>
          <a:xfrm>
            <a:off x="1933798" y="3657600"/>
            <a:ext cx="287142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words[1] = “Dog”;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1553B81F-ABB3-4085-B8E6-93B2CCABBBDA}"/>
              </a:ext>
            </a:extLst>
          </p:cNvPr>
          <p:cNvSpPr/>
          <p:nvPr/>
        </p:nvSpPr>
        <p:spPr>
          <a:xfrm>
            <a:off x="1981200" y="5410200"/>
            <a:ext cx="2921794" cy="1066800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The element at index </a:t>
            </a:r>
            <a:r>
              <a:rPr lang="en-IE" sz="2400" b="1" dirty="0"/>
              <a:t>3 </a:t>
            </a:r>
            <a:r>
              <a:rPr lang="en-IE" sz="2400" dirty="0"/>
              <a:t>is set to </a:t>
            </a:r>
            <a:r>
              <a:rPr lang="en-IE" sz="2400" b="1" dirty="0"/>
              <a:t>“Cat”</a:t>
            </a:r>
            <a:r>
              <a:rPr lang="en-IE" sz="2400" dirty="0"/>
              <a:t>.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1862D96-5059-43C3-948F-21CCA36CCEBD}"/>
              </a:ext>
            </a:extLst>
          </p:cNvPr>
          <p:cNvSpPr/>
          <p:nvPr/>
        </p:nvSpPr>
        <p:spPr>
          <a:xfrm>
            <a:off x="2057400" y="1713934"/>
            <a:ext cx="2471254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String[]  words;</a:t>
            </a:r>
          </a:p>
        </p:txBody>
      </p:sp>
      <p:sp>
        <p:nvSpPr>
          <p:cNvPr id="19" name="Rectangle 5">
            <a:extLst>
              <a:ext uri="{FF2B5EF4-FFF2-40B4-BE49-F238E27FC236}">
                <a16:creationId xmlns:a16="http://schemas.microsoft.com/office/drawing/2014/main" id="{C1E1BB62-6F06-4D35-94B2-E3776B86E8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0" name="Text Box 11">
            <a:extLst>
              <a:ext uri="{FF2B5EF4-FFF2-40B4-BE49-F238E27FC236}">
                <a16:creationId xmlns:a16="http://schemas.microsoft.com/office/drawing/2014/main" id="{B8E0D2B7-B388-4F97-894F-975AC9CDEB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words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4F3F4E2-B98E-4824-8898-2FE413B78E7B}"/>
              </a:ext>
            </a:extLst>
          </p:cNvPr>
          <p:cNvCxnSpPr/>
          <p:nvPr/>
        </p:nvCxnSpPr>
        <p:spPr>
          <a:xfrm>
            <a:off x="5181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2" name="Rectangle 5">
            <a:extLst>
              <a:ext uri="{FF2B5EF4-FFF2-40B4-BE49-F238E27FC236}">
                <a16:creationId xmlns:a16="http://schemas.microsoft.com/office/drawing/2014/main" id="{2E9FE0F6-E9CF-4620-A351-A31E333BCD5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6DB9F77-CB76-41CE-B64F-0C424EFD3881}"/>
              </a:ext>
            </a:extLst>
          </p:cNvPr>
          <p:cNvSpPr/>
          <p:nvPr/>
        </p:nvSpPr>
        <p:spPr>
          <a:xfrm>
            <a:off x="1600200" y="2667000"/>
            <a:ext cx="3554756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words = new String[4];</a:t>
            </a:r>
            <a:endParaRPr lang="en-IE" sz="2800" b="1" dirty="0">
              <a:solidFill>
                <a:schemeClr val="bg1">
                  <a:lumMod val="65000"/>
                </a:schemeClr>
              </a:solidFill>
            </a:endParaRPr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50EC56E-09B6-4B94-82C5-4E05BD63335D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EC7D23A6-939D-476A-9929-8DA1544254D2}"/>
              </a:ext>
            </a:extLst>
          </p:cNvPr>
          <p:cNvCxnSpPr>
            <a:cxnSpLocks/>
            <a:endCxn id="26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D1538433-DE46-4B77-A1A6-AA9740438E22}"/>
              </a:ext>
            </a:extLst>
          </p:cNvPr>
          <p:cNvSpPr/>
          <p:nvPr/>
        </p:nvSpPr>
        <p:spPr>
          <a:xfrm>
            <a:off x="8997554" y="3983435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“Dog”</a:t>
            </a: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79F8EFA1-488F-45ED-B6B9-4CF5D585D002}"/>
              </a:ext>
            </a:extLst>
          </p:cNvPr>
          <p:cNvCxnSpPr>
            <a:cxnSpLocks/>
            <a:endCxn id="28" idx="1"/>
          </p:cNvCxnSpPr>
          <p:nvPr/>
        </p:nvCxnSpPr>
        <p:spPr>
          <a:xfrm>
            <a:off x="7162801" y="4114801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tangle 16">
            <a:extLst>
              <a:ext uri="{FF2B5EF4-FFF2-40B4-BE49-F238E27FC236}">
                <a16:creationId xmlns:a16="http://schemas.microsoft.com/office/drawing/2014/main" id="{55855738-CB5F-4BE9-A931-A6FAFD6C3095}"/>
              </a:ext>
            </a:extLst>
          </p:cNvPr>
          <p:cNvSpPr/>
          <p:nvPr/>
        </p:nvSpPr>
        <p:spPr>
          <a:xfrm>
            <a:off x="1943323" y="4498905"/>
            <a:ext cx="277088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words[3] = “Cat”;</a:t>
            </a:r>
            <a:endParaRPr lang="en-IE" sz="2800" b="1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7937ED7B-87B8-477D-A072-D77A87AB3940}"/>
              </a:ext>
            </a:extLst>
          </p:cNvPr>
          <p:cNvSpPr/>
          <p:nvPr/>
        </p:nvSpPr>
        <p:spPr>
          <a:xfrm>
            <a:off x="8997554" y="4953001"/>
            <a:ext cx="1232297" cy="777081"/>
          </a:xfrm>
          <a:prstGeom prst="round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400" dirty="0"/>
              <a:t>“Cat”</a:t>
            </a:r>
          </a:p>
        </p:txBody>
      </p: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22D1BFE1-5776-4AD4-91A3-C7811BBE3DDD}"/>
              </a:ext>
            </a:extLst>
          </p:cNvPr>
          <p:cNvCxnSpPr>
            <a:cxnSpLocks/>
            <a:endCxn id="18" idx="1"/>
          </p:cNvCxnSpPr>
          <p:nvPr/>
        </p:nvCxnSpPr>
        <p:spPr>
          <a:xfrm>
            <a:off x="7162801" y="5084367"/>
            <a:ext cx="1834753" cy="257175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83763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String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3FC6EEC-0018-44F9-94E2-EC04875A3D13}"/>
              </a:ext>
            </a:extLst>
          </p:cNvPr>
          <p:cNvSpPr/>
          <p:nvPr/>
        </p:nvSpPr>
        <p:spPr>
          <a:xfrm>
            <a:off x="1962150" y="1905000"/>
            <a:ext cx="4572000" cy="4154984"/>
          </a:xfrm>
          <a:prstGeom prst="rect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r>
              <a:rPr lang="en-IE" sz="2400" dirty="0"/>
              <a:t>String words[];</a:t>
            </a:r>
          </a:p>
          <a:p>
            <a:endParaRPr lang="en-IE" sz="2400" dirty="0"/>
          </a:p>
          <a:p>
            <a:r>
              <a:rPr lang="en-IE" sz="2400" dirty="0"/>
              <a:t>words = new String[4];</a:t>
            </a:r>
          </a:p>
          <a:p>
            <a:endParaRPr lang="en-IE" sz="2400" dirty="0"/>
          </a:p>
          <a:p>
            <a:r>
              <a:rPr lang="en-IE" sz="2400" dirty="0"/>
              <a:t>words[1] = "Dog";</a:t>
            </a:r>
          </a:p>
          <a:p>
            <a:r>
              <a:rPr lang="en-IE" sz="2400" dirty="0"/>
              <a:t>words[3] = "Cat";</a:t>
            </a:r>
          </a:p>
          <a:p>
            <a:endParaRPr lang="en-IE" sz="2400" dirty="0"/>
          </a:p>
          <a:p>
            <a:r>
              <a:rPr lang="en-IE" sz="2400" dirty="0"/>
              <a:t>for (int </a:t>
            </a:r>
            <a:r>
              <a:rPr lang="en-IE" sz="2400" dirty="0" err="1"/>
              <a:t>i</a:t>
            </a:r>
            <a:r>
              <a:rPr lang="en-IE" sz="2400" dirty="0"/>
              <a:t>=0; </a:t>
            </a:r>
            <a:r>
              <a:rPr lang="en-IE" sz="2400" dirty="0" err="1"/>
              <a:t>i</a:t>
            </a:r>
            <a:r>
              <a:rPr lang="en-IE" sz="2400" dirty="0"/>
              <a:t> &lt; </a:t>
            </a:r>
            <a:r>
              <a:rPr lang="en-IE" sz="2400" dirty="0" err="1"/>
              <a:t>words.length</a:t>
            </a:r>
            <a:r>
              <a:rPr lang="en-IE" sz="2400" dirty="0"/>
              <a:t>; </a:t>
            </a:r>
            <a:r>
              <a:rPr lang="en-IE" sz="2400" dirty="0" err="1"/>
              <a:t>i</a:t>
            </a:r>
            <a:r>
              <a:rPr lang="en-IE" sz="2400" dirty="0"/>
              <a:t>++)</a:t>
            </a:r>
          </a:p>
          <a:p>
            <a:r>
              <a:rPr lang="en-IE" sz="2400" dirty="0"/>
              <a:t>{</a:t>
            </a:r>
          </a:p>
          <a:p>
            <a:r>
              <a:rPr lang="en-IE" sz="2400" dirty="0"/>
              <a:t>    </a:t>
            </a:r>
            <a:r>
              <a:rPr lang="en-IE" sz="2400" dirty="0" err="1"/>
              <a:t>System.out.println</a:t>
            </a:r>
            <a:r>
              <a:rPr lang="en-IE" sz="2400" dirty="0"/>
              <a:t>(words[</a:t>
            </a:r>
            <a:r>
              <a:rPr lang="en-IE" sz="2400" dirty="0" err="1"/>
              <a:t>i</a:t>
            </a:r>
            <a:r>
              <a:rPr lang="en-IE" sz="2400" dirty="0"/>
              <a:t>]);</a:t>
            </a:r>
          </a:p>
          <a:p>
            <a:r>
              <a:rPr lang="en-IE" sz="2400" dirty="0"/>
              <a:t>}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9AF522C-324C-4244-BC08-38B2D6434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0" y="2743201"/>
            <a:ext cx="1600200" cy="2163233"/>
          </a:xfrm>
          <a:prstGeom prst="rect">
            <a:avLst/>
          </a:prstGeom>
        </p:spPr>
      </p:pic>
      <p:sp>
        <p:nvSpPr>
          <p:cNvPr id="6" name="Arrow: Right 5">
            <a:extLst>
              <a:ext uri="{FF2B5EF4-FFF2-40B4-BE49-F238E27FC236}">
                <a16:creationId xmlns:a16="http://schemas.microsoft.com/office/drawing/2014/main" id="{306F276C-9020-447B-8C45-23F4BE50216C}"/>
              </a:ext>
            </a:extLst>
          </p:cNvPr>
          <p:cNvSpPr/>
          <p:nvPr/>
        </p:nvSpPr>
        <p:spPr>
          <a:xfrm>
            <a:off x="6781800" y="3429000"/>
            <a:ext cx="1447800" cy="990600"/>
          </a:xfrm>
          <a:prstGeom prst="rightArrow">
            <a:avLst/>
          </a:prstGeom>
        </p:spPr>
        <p:style>
          <a:lnRef idx="1">
            <a:schemeClr val="accent4"/>
          </a:lnRef>
          <a:fillRef idx="2">
            <a:schemeClr val="accent4"/>
          </a:fillRef>
          <a:effectRef idx="1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795753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58D121-02B7-10E5-CBFB-465B44BF4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DE9E5F-C1C3-C1BC-5F2B-787BC9F3FF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Topics list</a:t>
            </a:r>
            <a:endParaRPr lang="en-IE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B9A9016-6981-8879-A958-E9CCE18804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IE" dirty="0"/>
              <a:t>1.  </a:t>
            </a:r>
            <a:r>
              <a:rPr lang="en-IE" sz="4000" dirty="0"/>
              <a:t>Arrays of different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primitive types</a:t>
            </a:r>
          </a:p>
          <a:p>
            <a:pPr marL="514350" indent="-514350">
              <a:buFont typeface="+mj-lt"/>
              <a:buAutoNum type="arabicPeriod" startAt="2"/>
            </a:pPr>
            <a:r>
              <a:rPr lang="en-IE" sz="4000" dirty="0"/>
              <a:t>Arrays of objects</a:t>
            </a:r>
          </a:p>
          <a:p>
            <a:pPr marL="914400" lvl="1" indent="-514350"/>
            <a:r>
              <a:rPr lang="en-IE" sz="4000" dirty="0"/>
              <a:t>String</a:t>
            </a:r>
          </a:p>
          <a:p>
            <a:pPr marL="914400" lvl="1" indent="-514350"/>
            <a:r>
              <a:rPr lang="en-IE" sz="4000" dirty="0"/>
              <a:t>Person</a:t>
            </a:r>
          </a:p>
          <a:p>
            <a:pPr marL="0" indent="0">
              <a:buNone/>
            </a:pPr>
            <a:endParaRPr lang="en-IE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F5FC9B4-14B7-B074-BF31-B6C6F26B45EA}"/>
              </a:ext>
            </a:extLst>
          </p:cNvPr>
          <p:cNvSpPr/>
          <p:nvPr/>
        </p:nvSpPr>
        <p:spPr>
          <a:xfrm>
            <a:off x="599661" y="3162300"/>
            <a:ext cx="6172200" cy="533400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3" name="Arrow: Right 1">
            <a:extLst>
              <a:ext uri="{FF2B5EF4-FFF2-40B4-BE49-F238E27FC236}">
                <a16:creationId xmlns:a16="http://schemas.microsoft.com/office/drawing/2014/main" id="{5CEE071B-133E-B104-99E0-0E8578E754EC}"/>
              </a:ext>
            </a:extLst>
          </p:cNvPr>
          <p:cNvSpPr/>
          <p:nvPr/>
        </p:nvSpPr>
        <p:spPr>
          <a:xfrm flipH="1">
            <a:off x="3124200" y="4697240"/>
            <a:ext cx="3984878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512825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8846073-99CF-890A-3447-4B451D0EFD04}"/>
              </a:ext>
            </a:extLst>
          </p:cNvPr>
          <p:cNvSpPr txBox="1"/>
          <p:nvPr/>
        </p:nvSpPr>
        <p:spPr>
          <a:xfrm>
            <a:off x="2079722" y="5361522"/>
            <a:ext cx="5220147" cy="1384995"/>
          </a:xfrm>
          <a:prstGeom prst="rect">
            <a:avLst/>
          </a:prstGeom>
          <a:ln/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US" sz="2800" dirty="0"/>
              <a:t>String[] words = new String[4];</a:t>
            </a:r>
          </a:p>
          <a:p>
            <a:endParaRPr lang="en-US" sz="2800" dirty="0"/>
          </a:p>
          <a:p>
            <a:pPr algn="r"/>
            <a:r>
              <a:rPr lang="en-US" sz="2800" dirty="0"/>
              <a:t>Person[] friends = new Person[4];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09489" y="685800"/>
            <a:ext cx="6248400" cy="578882"/>
          </a:xfrm>
          <a:prstGeom prst="roundRect">
            <a:avLst/>
          </a:prstGeom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An array can store any type of data.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4B14CF8-BDA0-46CC-A9A3-72FD88067618}"/>
              </a:ext>
            </a:extLst>
          </p:cNvPr>
          <p:cNvSpPr/>
          <p:nvPr/>
        </p:nvSpPr>
        <p:spPr>
          <a:xfrm>
            <a:off x="2085584" y="2057401"/>
            <a:ext cx="5423729" cy="224676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US" sz="2800" dirty="0" err="1"/>
              <a:t>int</a:t>
            </a:r>
            <a:r>
              <a:rPr lang="en-US" sz="2800" dirty="0"/>
              <a:t> numbers[] = new </a:t>
            </a:r>
            <a:r>
              <a:rPr lang="en-US" sz="2800" dirty="0" err="1"/>
              <a:t>int</a:t>
            </a:r>
            <a:r>
              <a:rPr lang="en-US" sz="2800" dirty="0"/>
              <a:t>[10];</a:t>
            </a:r>
          </a:p>
          <a:p>
            <a:endParaRPr lang="en-US" sz="2800" dirty="0"/>
          </a:p>
          <a:p>
            <a:r>
              <a:rPr lang="en-US" sz="2800" dirty="0"/>
              <a:t>byte </a:t>
            </a:r>
            <a:r>
              <a:rPr lang="en-US" sz="2800" dirty="0" err="1"/>
              <a:t>smallNumbers</a:t>
            </a:r>
            <a:r>
              <a:rPr lang="en-US" sz="2800" dirty="0"/>
              <a:t>[] = new byte[4];</a:t>
            </a:r>
          </a:p>
          <a:p>
            <a:endParaRPr lang="en-US" sz="2800" dirty="0"/>
          </a:p>
          <a:p>
            <a:r>
              <a:rPr lang="en-US" sz="2800" dirty="0"/>
              <a:t>char characters[] = new char[26];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C373D87C-EBDD-45A7-943D-BC024FEAE26F}"/>
              </a:ext>
            </a:extLst>
          </p:cNvPr>
          <p:cNvSpPr/>
          <p:nvPr/>
        </p:nvSpPr>
        <p:spPr>
          <a:xfrm>
            <a:off x="1978047" y="1612106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Primitive Types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257D804F-0AD2-44D3-A1FF-C88BBC72567A}"/>
              </a:ext>
            </a:extLst>
          </p:cNvPr>
          <p:cNvSpPr/>
          <p:nvPr/>
        </p:nvSpPr>
        <p:spPr>
          <a:xfrm>
            <a:off x="1905000" y="4868287"/>
            <a:ext cx="2819400" cy="457200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IE" sz="2800" dirty="0"/>
              <a:t>Object Types</a:t>
            </a:r>
          </a:p>
        </p:txBody>
      </p:sp>
      <p:sp>
        <p:nvSpPr>
          <p:cNvPr id="7" name="Donut 6"/>
          <p:cNvSpPr/>
          <p:nvPr/>
        </p:nvSpPr>
        <p:spPr>
          <a:xfrm>
            <a:off x="1409700" y="4808875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8" name="Arrow: Right 1">
            <a:extLst>
              <a:ext uri="{FF2B5EF4-FFF2-40B4-BE49-F238E27FC236}">
                <a16:creationId xmlns:a16="http://schemas.microsoft.com/office/drawing/2014/main" id="{39E3F9F0-B711-48DB-80B2-30160FBEC1C1}"/>
              </a:ext>
            </a:extLst>
          </p:cNvPr>
          <p:cNvSpPr/>
          <p:nvPr/>
        </p:nvSpPr>
        <p:spPr>
          <a:xfrm flipH="1">
            <a:off x="7293243" y="6329073"/>
            <a:ext cx="1849671" cy="381001"/>
          </a:xfrm>
          <a:prstGeom prst="rightArrow">
            <a:avLst/>
          </a:prstGeom>
        </p:spPr>
        <p:style>
          <a:lnRef idx="2">
            <a:schemeClr val="accent2">
              <a:shade val="50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813156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20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12" grpId="0" animBg="1"/>
      <p:bldP spid="14" grpId="0" animBg="1"/>
      <p:bldP spid="15" grpId="0" animBg="1"/>
      <p:bldP spid="7" grpId="0" animBg="1"/>
      <p:bldP spid="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F55B6CE-98BC-4863-A435-E8D7EA6BEC92}"/>
              </a:ext>
            </a:extLst>
          </p:cNvPr>
          <p:cNvSpPr txBox="1"/>
          <p:nvPr/>
        </p:nvSpPr>
        <p:spPr>
          <a:xfrm>
            <a:off x="4457700" y="43705"/>
            <a:ext cx="2209800" cy="830997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IE" sz="2400" b="1" dirty="0"/>
              <a:t>Object</a:t>
            </a:r>
            <a:r>
              <a:rPr lang="en-IE" sz="2400" dirty="0"/>
              <a:t> Type/ </a:t>
            </a:r>
            <a:r>
              <a:rPr lang="en-IE" sz="2400" b="1" dirty="0"/>
              <a:t>Class</a:t>
            </a:r>
            <a:r>
              <a:rPr lang="en-IE" sz="2400" dirty="0"/>
              <a:t> Name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58B3F-4693-4F5F-8CA0-902626A3E2B9}"/>
              </a:ext>
            </a:extLst>
          </p:cNvPr>
          <p:cNvSpPr txBox="1"/>
          <p:nvPr/>
        </p:nvSpPr>
        <p:spPr>
          <a:xfrm>
            <a:off x="2340919" y="2228671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Fields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attributes of the class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A28F948-94CE-4F6C-A8F5-087C6D29DD24}"/>
              </a:ext>
            </a:extLst>
          </p:cNvPr>
          <p:cNvSpPr txBox="1"/>
          <p:nvPr/>
        </p:nvSpPr>
        <p:spPr>
          <a:xfrm>
            <a:off x="2205037" y="4444447"/>
            <a:ext cx="2895600" cy="120032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en-IE" sz="2400" b="1" dirty="0"/>
              <a:t>Methods</a:t>
            </a:r>
            <a:r>
              <a:rPr lang="en-IE" sz="2400" dirty="0"/>
              <a:t> </a:t>
            </a:r>
            <a:br>
              <a:rPr lang="en-IE" sz="2400" dirty="0"/>
            </a:br>
            <a:r>
              <a:rPr lang="en-IE" sz="2400" dirty="0"/>
              <a:t>i.e. the behaviours of the class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76E7FE7-3161-8A42-9637-FA0E4CA160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62600" y="1033027"/>
            <a:ext cx="12503888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IE" sz="3600" dirty="0"/>
              <a:t>Person Class </a:t>
            </a:r>
          </a:p>
        </p:txBody>
      </p:sp>
      <p:sp>
        <p:nvSpPr>
          <p:cNvPr id="16" name="Left Brace 15">
            <a:extLst>
              <a:ext uri="{FF2B5EF4-FFF2-40B4-BE49-F238E27FC236}">
                <a16:creationId xmlns:a16="http://schemas.microsoft.com/office/drawing/2014/main" id="{3AA25F20-2097-4621-9CA3-6717EA579AC4}"/>
              </a:ext>
            </a:extLst>
          </p:cNvPr>
          <p:cNvSpPr/>
          <p:nvPr/>
        </p:nvSpPr>
        <p:spPr>
          <a:xfrm>
            <a:off x="5100637" y="3294580"/>
            <a:ext cx="990600" cy="2971799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sp>
        <p:nvSpPr>
          <p:cNvPr id="17" name="Left Brace 16">
            <a:extLst>
              <a:ext uri="{FF2B5EF4-FFF2-40B4-BE49-F238E27FC236}">
                <a16:creationId xmlns:a16="http://schemas.microsoft.com/office/drawing/2014/main" id="{636477FE-7B3F-4ADE-9E51-FD56C296A799}"/>
              </a:ext>
            </a:extLst>
          </p:cNvPr>
          <p:cNvSpPr/>
          <p:nvPr/>
        </p:nvSpPr>
        <p:spPr>
          <a:xfrm>
            <a:off x="5273589" y="2265031"/>
            <a:ext cx="830992" cy="859170"/>
          </a:xfrm>
          <a:prstGeom prst="leftBrac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VI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A288E3A-0485-A15B-D8F7-8972FDDA99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8307" y="1391473"/>
            <a:ext cx="5422900" cy="5080000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4B579DCA-FE64-4FC1-AAA9-ADDA0D7F2487}"/>
              </a:ext>
            </a:extLst>
          </p:cNvPr>
          <p:cNvCxnSpPr>
            <a:cxnSpLocks/>
          </p:cNvCxnSpPr>
          <p:nvPr/>
        </p:nvCxnSpPr>
        <p:spPr>
          <a:xfrm>
            <a:off x="6672262" y="488239"/>
            <a:ext cx="1557338" cy="1696323"/>
          </a:xfrm>
          <a:prstGeom prst="straightConnector1">
            <a:avLst/>
          </a:prstGeom>
          <a:ln w="28575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1165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  <p:bldP spid="6" grpId="0" animBg="1"/>
      <p:bldP spid="9" grpId="0" animBg="1"/>
      <p:bldP spid="16" grpId="0" animBg="1"/>
      <p:bldP spid="1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 </a:t>
            </a:r>
            <a:r>
              <a:rPr lang="en-IE" dirty="0"/>
              <a:t>primitive array of </a:t>
            </a:r>
            <a:r>
              <a:rPr lang="en-IE" b="1" dirty="0">
                <a:solidFill>
                  <a:srgbClr val="FF0000"/>
                </a:solidFill>
              </a:rPr>
              <a:t>Person</a:t>
            </a:r>
            <a:endParaRPr lang="en-GB" b="1" dirty="0">
              <a:solidFill>
                <a:srgbClr val="FF0000"/>
              </a:solidFill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5F7EA93-B44B-4A4E-9E6B-B94903E49E4C}"/>
              </a:ext>
            </a:extLst>
          </p:cNvPr>
          <p:cNvSpPr/>
          <p:nvPr/>
        </p:nvSpPr>
        <p:spPr>
          <a:xfrm>
            <a:off x="2057401" y="1713934"/>
            <a:ext cx="2737737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Person[]  friends;</a:t>
            </a:r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friends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FA2803B-E7A2-4954-9E5C-37FD263AA316}"/>
              </a:ext>
            </a:extLst>
          </p:cNvPr>
          <p:cNvSpPr txBox="1"/>
          <p:nvPr/>
        </p:nvSpPr>
        <p:spPr>
          <a:xfrm>
            <a:off x="6739006" y="2358440"/>
            <a:ext cx="5341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E" dirty="0"/>
              <a:t>null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Donut 9"/>
          <p:cNvSpPr/>
          <p:nvPr/>
        </p:nvSpPr>
        <p:spPr>
          <a:xfrm>
            <a:off x="1752600" y="1705353"/>
            <a:ext cx="3810000" cy="576024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056650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8" name="Text Box 11">
            <a:extLst>
              <a:ext uri="{FF2B5EF4-FFF2-40B4-BE49-F238E27FC236}">
                <a16:creationId xmlns:a16="http://schemas.microsoft.com/office/drawing/2014/main" id="{A11F9141-ED94-4AF8-8E9C-6B257DD50E8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friends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/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/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3B38FEB8-4014-4315-901A-71E6B73850EC}"/>
              </a:ext>
            </a:extLst>
          </p:cNvPr>
          <p:cNvSpPr/>
          <p:nvPr/>
        </p:nvSpPr>
        <p:spPr>
          <a:xfrm>
            <a:off x="1862692" y="2667001"/>
            <a:ext cx="3297121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/>
              <a:t>friends = new Person[4];</a:t>
            </a:r>
            <a:endParaRPr lang="en-IE" sz="2400" b="1" dirty="0"/>
          </a:p>
        </p:txBody>
      </p:sp>
      <p:sp>
        <p:nvSpPr>
          <p:cNvPr id="16" name="Donut 15"/>
          <p:cNvSpPr/>
          <p:nvPr/>
        </p:nvSpPr>
        <p:spPr>
          <a:xfrm>
            <a:off x="1731320" y="2590800"/>
            <a:ext cx="3810000" cy="666780"/>
          </a:xfrm>
          <a:prstGeom prst="donut">
            <a:avLst>
              <a:gd name="adj" fmla="val 2615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C93BE65-F045-FAA3-84B2-6B53E3585656}"/>
              </a:ext>
            </a:extLst>
          </p:cNvPr>
          <p:cNvSpPr/>
          <p:nvPr/>
        </p:nvSpPr>
        <p:spPr>
          <a:xfrm>
            <a:off x="2057400" y="1713934"/>
            <a:ext cx="2655983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Person[] friends;</a:t>
            </a:r>
          </a:p>
        </p:txBody>
      </p:sp>
    </p:spTree>
    <p:extLst>
      <p:ext uri="{BB962C8B-B14F-4D97-AF65-F5344CB8AC3E}">
        <p14:creationId xmlns:p14="http://schemas.microsoft.com/office/powerpoint/2010/main" val="10808556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8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5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Structure of a </a:t>
            </a:r>
            <a:r>
              <a:rPr lang="en-IE" b="1" dirty="0">
                <a:solidFill>
                  <a:srgbClr val="FF0000"/>
                </a:solidFill>
              </a:rPr>
              <a:t>Product </a:t>
            </a:r>
            <a:r>
              <a:rPr lang="en-IE" dirty="0"/>
              <a:t>primitive array</a:t>
            </a:r>
            <a:endParaRPr lang="en-GB" dirty="0"/>
          </a:p>
        </p:txBody>
      </p:sp>
      <p:sp>
        <p:nvSpPr>
          <p:cNvPr id="17" name="Rectangle 5">
            <a:extLst>
              <a:ext uri="{FF2B5EF4-FFF2-40B4-BE49-F238E27FC236}">
                <a16:creationId xmlns:a16="http://schemas.microsoft.com/office/drawing/2014/main" id="{FBFD3A2D-FE4D-4B00-B298-A720C5FC1B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2A041949-519F-45B3-B942-2E85729C0E5B}"/>
              </a:ext>
            </a:extLst>
          </p:cNvPr>
          <p:cNvCxnSpPr>
            <a:cxnSpLocks/>
          </p:cNvCxnSpPr>
          <p:nvPr/>
        </p:nvCxnSpPr>
        <p:spPr>
          <a:xfrm>
            <a:off x="5562600" y="1447800"/>
            <a:ext cx="0" cy="5516562"/>
          </a:xfrm>
          <a:prstGeom prst="line">
            <a:avLst/>
          </a:prstGeom>
          <a:ln w="127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Rectangle 5">
            <a:extLst>
              <a:ext uri="{FF2B5EF4-FFF2-40B4-BE49-F238E27FC236}">
                <a16:creationId xmlns:a16="http://schemas.microsoft.com/office/drawing/2014/main" id="{82C9026F-8C21-40EF-BA75-F2B97FEA66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A448E6C-2F98-405E-81FF-A05427B59D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25066" y="2276406"/>
            <a:ext cx="762000" cy="533400"/>
          </a:xfrm>
          <a:prstGeom prst="rect">
            <a:avLst/>
          </a:prstGeom>
          <a:noFill/>
          <a:ln w="19050">
            <a:solidFill>
              <a:schemeClr val="tx1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 anchor="ctr"/>
          <a:lstStyle/>
          <a:p>
            <a:endParaRPr lang="en-IE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15A81E7B-2042-4A9F-9945-29A3312BC8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74612650"/>
              </p:ext>
            </p:extLst>
          </p:nvPr>
        </p:nvGraphicFramePr>
        <p:xfrm>
          <a:off x="5715001" y="3457575"/>
          <a:ext cx="2209801" cy="1828800"/>
        </p:xfrm>
        <a:graphic>
          <a:graphicData uri="http://schemas.openxmlformats.org/drawingml/2006/table">
            <a:tbl>
              <a:tblPr>
                <a:tableStyleId>{3C2FFA5D-87B4-456A-9821-1D502468CF0F}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3029030374"/>
                    </a:ext>
                  </a:extLst>
                </a:gridCol>
                <a:gridCol w="1524001">
                  <a:extLst>
                    <a:ext uri="{9D8B030D-6E8A-4147-A177-3AD203B41FA5}">
                      <a16:colId xmlns:a16="http://schemas.microsoft.com/office/drawing/2014/main" val="4245855580"/>
                    </a:ext>
                  </a:extLst>
                </a:gridCol>
              </a:tblGrid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12394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IE" sz="2400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667513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5079718"/>
                  </a:ext>
                </a:extLst>
              </a:tr>
              <a:tr h="374610"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>
                          <a:solidFill>
                            <a:srgbClr val="0070C0"/>
                          </a:solidFill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IE" sz="2400" b="1" dirty="0"/>
                        <a:t>null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423453"/>
                  </a:ext>
                </a:extLst>
              </a:tr>
            </a:tbl>
          </a:graphicData>
        </a:graphic>
      </p:graphicFrame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90666244-D9B2-4D23-AC04-D02373568089}"/>
              </a:ext>
            </a:extLst>
          </p:cNvPr>
          <p:cNvCxnSpPr>
            <a:cxnSpLocks/>
            <a:endCxn id="13" idx="0"/>
          </p:cNvCxnSpPr>
          <p:nvPr/>
        </p:nvCxnSpPr>
        <p:spPr>
          <a:xfrm flipH="1">
            <a:off x="6819900" y="2569093"/>
            <a:ext cx="190500" cy="88848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0CF4F11-4968-4890-835E-30B3F0FE4BE3}"/>
              </a:ext>
            </a:extLst>
          </p:cNvPr>
          <p:cNvCxnSpPr>
            <a:cxnSpLocks/>
          </p:cNvCxnSpPr>
          <p:nvPr/>
        </p:nvCxnSpPr>
        <p:spPr>
          <a:xfrm flipV="1">
            <a:off x="7239001" y="2846102"/>
            <a:ext cx="876300" cy="133350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1E54C041-19A9-4B3E-8A1D-236E192CAFDB}"/>
              </a:ext>
            </a:extLst>
          </p:cNvPr>
          <p:cNvSpPr/>
          <p:nvPr/>
        </p:nvSpPr>
        <p:spPr>
          <a:xfrm>
            <a:off x="1752601" y="5562600"/>
            <a:ext cx="7468776" cy="523220"/>
          </a:xfrm>
          <a:prstGeom prst="rect">
            <a:avLst/>
          </a:prstGeom>
          <a:gradFill>
            <a:gsLst>
              <a:gs pos="0">
                <a:schemeClr val="accent6">
                  <a:tint val="50000"/>
                  <a:satMod val="300000"/>
                </a:schemeClr>
              </a:gs>
              <a:gs pos="35000">
                <a:schemeClr val="accent6">
                  <a:tint val="37000"/>
                  <a:satMod val="300000"/>
                </a:schemeClr>
              </a:gs>
              <a:gs pos="100000">
                <a:schemeClr val="accent6">
                  <a:tint val="15000"/>
                  <a:satMod val="350000"/>
                </a:schemeClr>
              </a:gs>
            </a:gsLst>
            <a:lin ang="16200000" scaled="1"/>
          </a:gradFill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/>
              <a:t>friends[1] =  new Person(“Joey”, “</a:t>
            </a:r>
            <a:r>
              <a:rPr lang="en-GB" sz="2800" b="1" dirty="0" err="1"/>
              <a:t>Tribbiani</a:t>
            </a:r>
            <a:r>
              <a:rPr lang="en-GB" sz="2800" b="1" dirty="0"/>
              <a:t>”, 25,);</a:t>
            </a:r>
            <a:endParaRPr lang="en-IE" sz="2800" b="1" dirty="0"/>
          </a:p>
        </p:txBody>
      </p:sp>
      <p:sp>
        <p:nvSpPr>
          <p:cNvPr id="24" name="Donut 23"/>
          <p:cNvSpPr/>
          <p:nvPr/>
        </p:nvSpPr>
        <p:spPr>
          <a:xfrm>
            <a:off x="1523999" y="5467350"/>
            <a:ext cx="7697363" cy="823586"/>
          </a:xfrm>
          <a:prstGeom prst="donut">
            <a:avLst>
              <a:gd name="adj" fmla="val 0"/>
            </a:avLst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4353C58B-3B28-4CDE-BC83-8FAF66892E15}"/>
              </a:ext>
            </a:extLst>
          </p:cNvPr>
          <p:cNvSpPr/>
          <p:nvPr/>
        </p:nvSpPr>
        <p:spPr>
          <a:xfrm>
            <a:off x="2057400" y="1713934"/>
            <a:ext cx="2655983" cy="523220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800" b="1" dirty="0">
                <a:solidFill>
                  <a:schemeClr val="bg1">
                    <a:lumMod val="65000"/>
                  </a:schemeClr>
                </a:solidFill>
              </a:rPr>
              <a:t>Person[] friends;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5DC2202A-AFB8-4223-B669-A5CBBA31F965}"/>
              </a:ext>
            </a:extLst>
          </p:cNvPr>
          <p:cNvSpPr/>
          <p:nvPr/>
        </p:nvSpPr>
        <p:spPr>
          <a:xfrm>
            <a:off x="1862692" y="2667001"/>
            <a:ext cx="3297121" cy="461665"/>
          </a:xfrm>
          <a:prstGeom prst="rect">
            <a:avLst/>
          </a:prstGeom>
        </p:spPr>
        <p:style>
          <a:lnRef idx="1">
            <a:schemeClr val="accent6"/>
          </a:lnRef>
          <a:fillRef idx="2">
            <a:schemeClr val="accent6"/>
          </a:fillRef>
          <a:effectRef idx="1">
            <a:schemeClr val="accent6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r>
              <a:rPr lang="en-GB" sz="2400" b="1" dirty="0">
                <a:solidFill>
                  <a:schemeClr val="bg1">
                    <a:lumMod val="65000"/>
                  </a:schemeClr>
                </a:solidFill>
              </a:rPr>
              <a:t>friends = new Person[4];</a:t>
            </a:r>
            <a:endParaRPr lang="en-IE" sz="2400" b="1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9" name="Text Box 11">
            <a:extLst>
              <a:ext uri="{FF2B5EF4-FFF2-40B4-BE49-F238E27FC236}">
                <a16:creationId xmlns:a16="http://schemas.microsoft.com/office/drawing/2014/main" id="{DB3672BC-219A-4853-9ECF-A60DD09902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36925" y="1731755"/>
            <a:ext cx="1905000" cy="52322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sz="2400" b="1">
                <a:solidFill>
                  <a:schemeClr val="tx1"/>
                </a:solidFill>
                <a:latin typeface="Times" pitchFamily="-32" charset="0"/>
              </a:defRPr>
            </a:lvl1pPr>
            <a:lvl2pPr marL="742950" indent="-285750">
              <a:defRPr sz="2400" b="1">
                <a:solidFill>
                  <a:schemeClr val="tx1"/>
                </a:solidFill>
                <a:latin typeface="Times" pitchFamily="-32" charset="0"/>
              </a:defRPr>
            </a:lvl2pPr>
            <a:lvl3pPr marL="11430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3pPr>
            <a:lvl4pPr marL="16002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4pPr>
            <a:lvl5pPr marL="2057400" indent="-228600">
              <a:defRPr sz="2400" b="1">
                <a:solidFill>
                  <a:schemeClr val="tx1"/>
                </a:solidFill>
                <a:latin typeface="Times" pitchFamily="-32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400" b="1">
                <a:solidFill>
                  <a:schemeClr val="tx1"/>
                </a:solidFill>
                <a:latin typeface="Times" pitchFamily="-32" charset="0"/>
              </a:defRPr>
            </a:lvl9pPr>
          </a:lstStyle>
          <a:p>
            <a:pPr eaLnBrk="1" hangingPunct="1"/>
            <a:r>
              <a:rPr lang="en-GB" sz="2800" dirty="0">
                <a:latin typeface="Courier New" pitchFamily="-32" charset="0"/>
              </a:rPr>
              <a:t>products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94130A1-57F5-2F06-2E5B-8C57BA32C4F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5984" y="1581434"/>
            <a:ext cx="3554766" cy="2247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849706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2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2BC73A-96E2-4D45-94FF-93801CF96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Example using a </a:t>
            </a:r>
            <a:r>
              <a:rPr lang="en-IE" b="1" dirty="0">
                <a:solidFill>
                  <a:srgbClr val="FF0000"/>
                </a:solidFill>
              </a:rPr>
              <a:t>Person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674DC3D5-32D7-4A02-9286-6E8FA6E058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57473" y="1857526"/>
            <a:ext cx="8001000" cy="3785652"/>
          </a:xfrm>
          <a:prstGeom prst="rect">
            <a:avLst/>
          </a:prstGeom>
          <a:gradFill>
            <a:gsLst>
              <a:gs pos="0">
                <a:schemeClr val="accent1">
                  <a:tint val="50000"/>
                  <a:satMod val="300000"/>
                </a:schemeClr>
              </a:gs>
              <a:gs pos="35000">
                <a:schemeClr val="accent1">
                  <a:tint val="37000"/>
                  <a:satMod val="300000"/>
                </a:schemeClr>
              </a:gs>
              <a:gs pos="100000">
                <a:schemeClr val="accent1">
                  <a:tint val="15000"/>
                  <a:satMod val="350000"/>
                </a:schemeClr>
              </a:gs>
            </a:gsLst>
            <a:lin ang="16200000" scaled="1"/>
          </a:gra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public </a:t>
            </a:r>
            <a:r>
              <a:rPr lang="en-029" altLang="en-VI" sz="2400" dirty="0">
                <a:solidFill>
                  <a:srgbClr val="000000"/>
                </a:solidFill>
                <a:latin typeface="JetBrains Mono"/>
              </a:rPr>
              <a:t>void</a:t>
            </a:r>
            <a:r>
              <a:rPr lang="en-VI" altLang="en-VI" sz="2400" dirty="0">
                <a:solidFill>
                  <a:srgbClr val="000000"/>
                </a:solidFill>
                <a:latin typeface="JetBrains Mono"/>
              </a:rPr>
              <a:t> </a:t>
            </a:r>
            <a:r>
              <a:rPr lang="en-029" altLang="en-VI" sz="2400" dirty="0" err="1">
                <a:solidFill>
                  <a:srgbClr val="00627A"/>
                </a:solidFill>
                <a:latin typeface="JetBrains Mono"/>
              </a:rPr>
              <a:t>printFriends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() {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029" altLang="en-VI" sz="2400" dirty="0">
                <a:solidFill>
                  <a:srgbClr val="0033B3"/>
                </a:solidFill>
                <a:latin typeface="JetBrains Mono"/>
              </a:rPr>
              <a:t>        if  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(size == 0 ) </a:t>
            </a:r>
            <a:r>
              <a:rPr lang="en-029" altLang="en-VI" sz="2400" dirty="0">
                <a:solidFill>
                  <a:srgbClr val="0033B3"/>
                </a:solidFill>
                <a:latin typeface="JetBrains Mono"/>
              </a:rPr>
              <a:t>return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“Sorry no Friends”;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 </a:t>
            </a:r>
            <a:r>
              <a:rPr lang="en-029" altLang="en-VI" sz="2400" dirty="0">
                <a:solidFill>
                  <a:srgbClr val="0033B3"/>
                </a:solidFill>
                <a:latin typeface="JetBrains Mono"/>
              </a:rPr>
              <a:t>else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{ 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for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&lt; </a:t>
            </a:r>
            <a:r>
              <a:rPr lang="en-GB" altLang="en-VI" sz="2400" dirty="0" err="1">
                <a:solidFill>
                  <a:srgbClr val="871094"/>
                </a:solidFill>
                <a:latin typeface="JetBrains Mono"/>
              </a:rPr>
              <a:t>friends.length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++) {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	        friends[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]. 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printFirstName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();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rgbClr val="080808"/>
                </a:solidFill>
                <a:latin typeface="JetBrains Mono"/>
              </a:rPr>
              <a:t> 	        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friends[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]. </a:t>
            </a:r>
            <a:r>
              <a:rPr lang="en-029" altLang="en-VI" sz="2400" dirty="0" err="1">
                <a:solidFill>
                  <a:srgbClr val="080808"/>
                </a:solidFill>
                <a:latin typeface="JetBrains Mono"/>
              </a:rPr>
              <a:t>printSecondName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();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       </a:t>
            </a: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endParaRPr lang="en-GB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 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}</a:t>
            </a:r>
            <a:endParaRPr lang="en-VI" altLang="en-VI" sz="5400" dirty="0">
              <a:solidFill>
                <a:schemeClr val="tx1"/>
              </a:solidFill>
              <a:latin typeface="Arial" panose="020B060402020202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BAFEA61-A42F-42C7-AC5F-4B454560AF74}"/>
              </a:ext>
            </a:extLst>
          </p:cNvPr>
          <p:cNvSpPr txBox="1"/>
          <p:nvPr/>
        </p:nvSpPr>
        <p:spPr>
          <a:xfrm>
            <a:off x="1984651" y="6178754"/>
            <a:ext cx="7971798" cy="4001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sz="2000" dirty="0"/>
              <a:t>Prints first  and second names of all friends  stored in the primitive array.  </a:t>
            </a:r>
            <a:endParaRPr lang="en-VI" sz="2000" dirty="0"/>
          </a:p>
        </p:txBody>
      </p:sp>
    </p:spTree>
    <p:extLst>
      <p:ext uri="{BB962C8B-B14F-4D97-AF65-F5344CB8AC3E}">
        <p14:creationId xmlns:p14="http://schemas.microsoft.com/office/powerpoint/2010/main" val="8257454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ACA62A-DFEC-AD9C-433F-C97129F48B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F206BE-C046-EEDE-1365-A804FDB37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en-IE" dirty="0"/>
              <a:t>Example using a </a:t>
            </a:r>
            <a:r>
              <a:rPr lang="en-IE" b="1" dirty="0">
                <a:solidFill>
                  <a:srgbClr val="FF0000"/>
                </a:solidFill>
              </a:rPr>
              <a:t>Person </a:t>
            </a:r>
            <a:r>
              <a:rPr lang="en-IE" dirty="0"/>
              <a:t>object array</a:t>
            </a:r>
            <a:endParaRPr lang="en-IE" b="1" dirty="0"/>
          </a:p>
        </p:txBody>
      </p:sp>
      <p:sp>
        <p:nvSpPr>
          <p:cNvPr id="3" name="Rectangle 1">
            <a:extLst>
              <a:ext uri="{FF2B5EF4-FFF2-40B4-BE49-F238E27FC236}">
                <a16:creationId xmlns:a16="http://schemas.microsoft.com/office/drawing/2014/main" id="{51316B3F-D829-3B85-008F-FE603F7CC0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95500" y="1574048"/>
            <a:ext cx="8001000" cy="4893647"/>
          </a:xfrm>
          <a:prstGeom prst="rect">
            <a:avLst/>
          </a:prstGeom>
          <a:gradFill>
            <a:gsLst>
              <a:gs pos="0">
                <a:schemeClr val="accent1">
                  <a:tint val="50000"/>
                  <a:satMod val="300000"/>
                </a:schemeClr>
              </a:gs>
              <a:gs pos="35000">
                <a:schemeClr val="accent1">
                  <a:tint val="37000"/>
                  <a:satMod val="300000"/>
                </a:schemeClr>
              </a:gs>
              <a:gs pos="100000">
                <a:schemeClr val="accent1">
                  <a:tint val="15000"/>
                  <a:satMod val="350000"/>
                </a:schemeClr>
              </a:gs>
            </a:gsLst>
            <a:lin ang="16200000" scaled="1"/>
          </a:gradFill>
          <a:ln/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rgbClr val="0033B3"/>
                </a:solidFill>
                <a:latin typeface="JetBrains Mono"/>
              </a:rPr>
              <a:t> public 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String</a:t>
            </a:r>
            <a:r>
              <a:rPr lang="en-IE" altLang="en-VI" sz="2400" dirty="0">
                <a:solidFill>
                  <a:srgbClr val="0033B3"/>
                </a:solidFill>
                <a:latin typeface="JetBrains Mono"/>
              </a:rPr>
              <a:t> </a:t>
            </a:r>
            <a:r>
              <a:rPr lang="en-IE" altLang="en-VI" sz="2400" dirty="0" err="1">
                <a:solidFill>
                  <a:srgbClr val="0033B3"/>
                </a:solidFill>
                <a:latin typeface="JetBrains Mono"/>
              </a:rPr>
              <a:t>l</a:t>
            </a:r>
            <a:r>
              <a:rPr lang="en-IE" altLang="en-VI" sz="2400" dirty="0" err="1">
                <a:solidFill>
                  <a:srgbClr val="00627A"/>
                </a:solidFill>
                <a:latin typeface="JetBrains Mono"/>
              </a:rPr>
              <a:t>istOfFriends</a:t>
            </a:r>
            <a:r>
              <a:rPr lang="en-IE" altLang="en-VI" sz="2400" dirty="0">
                <a:solidFill>
                  <a:srgbClr val="00627A"/>
                </a:solidFill>
                <a:latin typeface="JetBrains Mono"/>
              </a:rPr>
              <a:t>(</a:t>
            </a:r>
            <a:r>
              <a:rPr lang="en-IE" altLang="en-VI" sz="2400" dirty="0">
                <a:solidFill>
                  <a:srgbClr val="0033B3"/>
                </a:solidFill>
                <a:latin typeface="JetBrains Mono"/>
              </a:rPr>
              <a:t>){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IE" altLang="en-VI" sz="2400" dirty="0">
              <a:solidFill>
                <a:schemeClr val="tx1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   String 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listOfStudents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= "List of friends \n";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lang="en-IE" altLang="en-VI" sz="2400" dirty="0">
              <a:solidFill>
                <a:schemeClr val="tx1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029" altLang="en-VI" sz="2400" dirty="0">
                <a:solidFill>
                  <a:srgbClr val="080808"/>
                </a:solidFill>
                <a:latin typeface="JetBrains Mono"/>
              </a:rPr>
              <a:t>         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for 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(</a:t>
            </a:r>
            <a:r>
              <a:rPr lang="en-VI" altLang="en-VI" sz="2400" dirty="0">
                <a:solidFill>
                  <a:srgbClr val="0033B3"/>
                </a:solidFill>
                <a:latin typeface="JetBrains Mono"/>
              </a:rPr>
              <a:t>int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= </a:t>
            </a:r>
            <a:r>
              <a:rPr lang="en-VI" altLang="en-VI" sz="2400" dirty="0">
                <a:solidFill>
                  <a:srgbClr val="1750EB"/>
                </a:solidFill>
                <a:latin typeface="JetBrains Mono"/>
              </a:rPr>
              <a:t>0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 &lt; </a:t>
            </a:r>
            <a:r>
              <a:rPr lang="en-GB" altLang="en-VI" sz="2400" dirty="0" err="1">
                <a:solidFill>
                  <a:srgbClr val="871094"/>
                </a:solidFill>
                <a:latin typeface="JetBrains Mono"/>
              </a:rPr>
              <a:t>friends.length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; </a:t>
            </a:r>
            <a:r>
              <a:rPr lang="en-VI" altLang="en-VI" sz="2400" dirty="0" err="1">
                <a:solidFill>
                  <a:srgbClr val="080808"/>
                </a:solidFill>
                <a:latin typeface="JetBrains Mono"/>
              </a:rPr>
              <a:t>i</a:t>
            </a:r>
            <a:r>
              <a:rPr lang="en-VI" altLang="en-VI" sz="2400" dirty="0">
                <a:solidFill>
                  <a:srgbClr val="080808"/>
                </a:solidFill>
                <a:latin typeface="JetBrains Mono"/>
              </a:rPr>
              <a:t>++) {</a:t>
            </a:r>
            <a:endParaRPr lang="en-029" altLang="en-VI" sz="2400" dirty="0">
              <a:solidFill>
                <a:srgbClr val="080808"/>
              </a:solidFill>
              <a:latin typeface="JetBrains Mono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br>
              <a:rPr lang="en-VI" altLang="en-VI" sz="2400" dirty="0">
                <a:solidFill>
                  <a:srgbClr val="080808"/>
                </a:solidFill>
                <a:latin typeface="JetBrains Mono"/>
              </a:rPr>
            </a:b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              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listOfStudents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+= friends[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i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].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getFirstName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() + "  "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		                     + friends[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i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].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getSecondName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() + "\n";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  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        </a:t>
            </a:r>
            <a:r>
              <a:rPr lang="en-IE" altLang="en-VI" sz="2400" dirty="0">
                <a:solidFill>
                  <a:srgbClr val="0033B3"/>
                </a:solidFill>
                <a:latin typeface="JetBrains Mono"/>
              </a:rPr>
              <a:t>return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</a:t>
            </a:r>
            <a:r>
              <a:rPr lang="en-IE" altLang="en-VI" sz="2400" dirty="0" err="1">
                <a:solidFill>
                  <a:schemeClr val="tx1"/>
                </a:solidFill>
                <a:latin typeface="JetBrains Mono"/>
              </a:rPr>
              <a:t>listOfStudents</a:t>
            </a: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;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 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IE" altLang="en-VI" sz="2400" dirty="0">
                <a:solidFill>
                  <a:schemeClr val="tx1"/>
                </a:solidFill>
                <a:latin typeface="JetBrains Mono"/>
              </a:rPr>
              <a:t>   }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VI" altLang="en-VI" sz="2400" dirty="0">
                <a:solidFill>
                  <a:schemeClr val="tx1"/>
                </a:solidFill>
                <a:latin typeface="JetBrains Mono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5B75913-F634-8664-2524-0E44604C45EB}"/>
              </a:ext>
            </a:extLst>
          </p:cNvPr>
          <p:cNvSpPr txBox="1"/>
          <p:nvPr/>
        </p:nvSpPr>
        <p:spPr>
          <a:xfrm>
            <a:off x="1984651" y="6457890"/>
            <a:ext cx="8346644" cy="400110"/>
          </a:xfrm>
          <a:prstGeom prst="rect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wrap="none" rtlCol="0">
            <a:spAutoFit/>
          </a:bodyPr>
          <a:lstStyle/>
          <a:p>
            <a:r>
              <a:rPr lang="en-GB" sz="2000" dirty="0"/>
              <a:t>Returns the first and second names of all friends  stored in the primitive array.  </a:t>
            </a:r>
            <a:endParaRPr lang="en-VI" sz="2000" dirty="0"/>
          </a:p>
        </p:txBody>
      </p:sp>
    </p:spTree>
    <p:extLst>
      <p:ext uri="{BB962C8B-B14F-4D97-AF65-F5344CB8AC3E}">
        <p14:creationId xmlns:p14="http://schemas.microsoft.com/office/powerpoint/2010/main" val="30755076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IE" dirty="0"/>
              <a:t>Questions?</a:t>
            </a:r>
          </a:p>
        </p:txBody>
      </p:sp>
      <p:pic>
        <p:nvPicPr>
          <p:cNvPr id="3" name="Picture 2" descr="A green question mark in a circle&#10;&#10;AI-generated content may be incorrect.">
            <a:extLst>
              <a:ext uri="{FF2B5EF4-FFF2-40B4-BE49-F238E27FC236}">
                <a16:creationId xmlns:a16="http://schemas.microsoft.com/office/drawing/2014/main" id="{96FBC672-E48E-496B-848D-976EC1B6DE7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67100" y="1626704"/>
            <a:ext cx="5257800" cy="525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5503280"/>
      </p:ext>
    </p:extLst>
  </p:cSld>
  <p:clrMapOvr>
    <a:masterClrMapping/>
  </p:clrMapOvr>
</p:sld>
</file>

<file path=ppt/theme/theme1.xml><?xml version="1.0" encoding="utf-8"?>
<a:theme xmlns:a="http://schemas.openxmlformats.org/drawingml/2006/main" name="a-processing-mouse-event-methods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4568</TotalTime>
  <Words>1291</Words>
  <Application>Microsoft Macintosh PowerPoint</Application>
  <PresentationFormat>Widescreen</PresentationFormat>
  <Paragraphs>316</Paragraphs>
  <Slides>28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4" baseType="lpstr">
      <vt:lpstr>Arial</vt:lpstr>
      <vt:lpstr>Calibri</vt:lpstr>
      <vt:lpstr>Courier New</vt:lpstr>
      <vt:lpstr>JetBrains Mono</vt:lpstr>
      <vt:lpstr>Times New Roman</vt:lpstr>
      <vt:lpstr>a-processing-mouse-event-methods</vt:lpstr>
      <vt:lpstr>Arrays and Classes</vt:lpstr>
      <vt:lpstr>Topics list</vt:lpstr>
      <vt:lpstr>Let’s Look at arrays of different types</vt:lpstr>
      <vt:lpstr>PowerPoint Presentation</vt:lpstr>
      <vt:lpstr>Topics list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Structure of an int primitive array</vt:lpstr>
      <vt:lpstr>Topics list</vt:lpstr>
      <vt:lpstr>PowerPoint Presentation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Structure of a String object array</vt:lpstr>
      <vt:lpstr>Topics list</vt:lpstr>
      <vt:lpstr>PowerPoint Presentation</vt:lpstr>
      <vt:lpstr>Person Class </vt:lpstr>
      <vt:lpstr>Structure of a  primitive array of Person</vt:lpstr>
      <vt:lpstr>Structure of a Product primitive array</vt:lpstr>
      <vt:lpstr>Structure of a Product primitive array</vt:lpstr>
      <vt:lpstr>Example using a Person object array</vt:lpstr>
      <vt:lpstr>Example using a Person object array</vt:lpstr>
      <vt:lpstr>Questions?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Recap on Arrays</dc:title>
  <dc:creator>Siobhan Drohan</dc:creator>
  <cp:lastModifiedBy>Mairead Meagher</cp:lastModifiedBy>
  <cp:revision>359</cp:revision>
  <cp:lastPrinted>2018-02-19T00:13:51Z</cp:lastPrinted>
  <dcterms:created xsi:type="dcterms:W3CDTF">2006-08-16T00:00:00Z</dcterms:created>
  <dcterms:modified xsi:type="dcterms:W3CDTF">2025-10-21T11:42:25Z</dcterms:modified>
</cp:coreProperties>
</file>