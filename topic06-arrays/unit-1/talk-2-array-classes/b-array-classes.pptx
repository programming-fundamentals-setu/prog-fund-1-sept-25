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0"/>
  </p:notesMasterIdLst>
  <p:sldIdLst>
    <p:sldId id="325" r:id="rId2"/>
    <p:sldId id="257" r:id="rId3"/>
    <p:sldId id="649" r:id="rId4"/>
    <p:sldId id="616" r:id="rId5"/>
    <p:sldId id="654" r:id="rId6"/>
    <p:sldId id="606" r:id="rId7"/>
    <p:sldId id="605" r:id="rId8"/>
    <p:sldId id="610" r:id="rId9"/>
    <p:sldId id="611" r:id="rId10"/>
    <p:sldId id="614" r:id="rId11"/>
    <p:sldId id="655" r:id="rId12"/>
    <p:sldId id="652" r:id="rId13"/>
    <p:sldId id="618" r:id="rId14"/>
    <p:sldId id="619" r:id="rId15"/>
    <p:sldId id="620" r:id="rId16"/>
    <p:sldId id="623" r:id="rId17"/>
    <p:sldId id="621" r:id="rId18"/>
    <p:sldId id="624" r:id="rId19"/>
    <p:sldId id="622" r:id="rId20"/>
    <p:sldId id="656" r:id="rId21"/>
    <p:sldId id="653" r:id="rId22"/>
    <p:sldId id="638" r:id="rId23"/>
    <p:sldId id="628" r:id="rId24"/>
    <p:sldId id="641" r:id="rId25"/>
    <p:sldId id="642" r:id="rId26"/>
    <p:sldId id="634" r:id="rId27"/>
    <p:sldId id="657" r:id="rId28"/>
    <p:sldId id="347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203" autoAdjust="0"/>
    <p:restoredTop sz="89103" autoAdjust="0"/>
  </p:normalViewPr>
  <p:slideViewPr>
    <p:cSldViewPr>
      <p:cViewPr varScale="1">
        <p:scale>
          <a:sx n="52" d="100"/>
          <a:sy n="52" d="100"/>
        </p:scale>
        <p:origin x="1080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21/10/2025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983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590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075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9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9073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10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4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37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8555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99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943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2044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4239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Should this be string </a:t>
            </a:r>
            <a:r>
              <a:rPr lang="en-GB"/>
              <a:t>object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12791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2605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149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01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66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757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911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6305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910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997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323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790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975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746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3986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519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8240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855867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861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21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1495958"/>
            <a:ext cx="7772400" cy="1470025"/>
          </a:xfrm>
        </p:spPr>
        <p:txBody>
          <a:bodyPr>
            <a:normAutofit/>
          </a:bodyPr>
          <a:lstStyle/>
          <a:p>
            <a:r>
              <a:rPr lang="en-IE" sz="4000" dirty="0"/>
              <a:t>Arrays and Classes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CC4AED-F0A1-0320-79D7-9CE5D8221C21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BCF36-982C-F204-7447-03BA8AB5D257}"/>
              </a:ext>
            </a:extLst>
          </p:cNvPr>
          <p:cNvSpPr txBox="1"/>
          <p:nvPr/>
        </p:nvSpPr>
        <p:spPr>
          <a:xfrm>
            <a:off x="3925972" y="3676471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E96DC9-3CD1-62A3-07F6-E302E465DD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609600" y="17526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Let’s Look at arrays of different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Arrays can store any type of data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some examples:</a:t>
            </a:r>
          </a:p>
          <a:p>
            <a:pPr marL="0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primitives - </a:t>
            </a:r>
            <a:r>
              <a:rPr lang="en-GB" b="1" dirty="0" err="1"/>
              <a:t>int</a:t>
            </a:r>
            <a:endParaRPr lang="en-GB" b="1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objects </a:t>
            </a:r>
            <a:r>
              <a:rPr lang="mr-IN" dirty="0"/>
              <a:t>–</a:t>
            </a:r>
            <a:r>
              <a:rPr lang="en-GB" dirty="0"/>
              <a:t> </a:t>
            </a:r>
            <a:r>
              <a:rPr lang="en-GB" b="1" dirty="0"/>
              <a:t>String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objects - </a:t>
            </a:r>
            <a:r>
              <a:rPr lang="en-GB" b="1" dirty="0"/>
              <a:t>Product</a:t>
            </a:r>
          </a:p>
        </p:txBody>
      </p:sp>
    </p:spTree>
    <p:extLst>
      <p:ext uri="{BB962C8B-B14F-4D97-AF65-F5344CB8AC3E}">
        <p14:creationId xmlns:p14="http://schemas.microsoft.com/office/powerpoint/2010/main" val="1139030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9534" y="5249288"/>
            <a:ext cx="5301901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Person[]  friends = new Person[4];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524000" y="1493282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6454522" y="213360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34185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CFBF0-9159-185D-8A3F-053633142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CD7B3-6E38-BE81-5F27-1F41C691C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CFB6C7-3653-2B17-9FC1-FFB0924D0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BFC76E-0021-F6F2-9E6F-2BB7C516970B}"/>
              </a:ext>
            </a:extLst>
          </p:cNvPr>
          <p:cNvSpPr/>
          <p:nvPr/>
        </p:nvSpPr>
        <p:spPr>
          <a:xfrm>
            <a:off x="609600" y="24384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15631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24003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 err="1"/>
              <a:t>int</a:t>
            </a:r>
            <a:r>
              <a:rPr lang="en-GB" sz="2800" b="1" dirty="0"/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438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169205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EEE004B-0225-472D-BF88-0869C903969C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130050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549756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8B2E9D6B-CAED-4A70-BB33-7EEDCB9DCA73}"/>
              </a:ext>
            </a:extLst>
          </p:cNvPr>
          <p:cNvSpPr/>
          <p:nvPr/>
        </p:nvSpPr>
        <p:spPr>
          <a:xfrm>
            <a:off x="8191500" y="4648200"/>
            <a:ext cx="7239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7" y="365760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numbers[2] = 18;</a:t>
            </a:r>
            <a:endParaRPr lang="en-IE" sz="28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294C33-B37D-4AD0-8F43-3767EAC60CE5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2</a:t>
            </a:r>
            <a:r>
              <a:rPr lang="en-IE" sz="2400" dirty="0"/>
              <a:t> and setting it to a value of </a:t>
            </a:r>
            <a:r>
              <a:rPr lang="en-IE" sz="2400" b="1" dirty="0"/>
              <a:t>18</a:t>
            </a:r>
            <a:r>
              <a:rPr lang="en-I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8877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21398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0" y="465838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numbers[0] = 12;</a:t>
            </a:r>
            <a:endParaRPr lang="en-IE" sz="28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6E40A51-34F3-463B-A7BD-15C06077E7A1}"/>
              </a:ext>
            </a:extLst>
          </p:cNvPr>
          <p:cNvSpPr/>
          <p:nvPr/>
        </p:nvSpPr>
        <p:spPr>
          <a:xfrm>
            <a:off x="8153400" y="3733800"/>
            <a:ext cx="7239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1878806" y="5410200"/>
            <a:ext cx="2921794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setting the element at index </a:t>
            </a:r>
            <a:r>
              <a:rPr lang="en-IE" sz="2400" b="1" dirty="0"/>
              <a:t>0</a:t>
            </a:r>
            <a:r>
              <a:rPr lang="en-IE" sz="2400" dirty="0"/>
              <a:t> to a value of </a:t>
            </a:r>
            <a:r>
              <a:rPr lang="en-IE" sz="2400" b="1" dirty="0"/>
              <a:t>12</a:t>
            </a:r>
            <a:r>
              <a:rPr lang="en-I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623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1" y="465838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numbers[0] = 12;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5503695" y="5638869"/>
            <a:ext cx="4859505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Here we are printing the contents of index location 2 </a:t>
            </a:r>
            <a:br>
              <a:rPr lang="en-IE" sz="2400" dirty="0"/>
            </a:br>
            <a:r>
              <a:rPr lang="en-IE" sz="2400" dirty="0"/>
              <a:t>i.e. 18 will be printed to the console.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A44A42-7850-424F-8580-12BEFA62B01D}"/>
              </a:ext>
            </a:extLst>
          </p:cNvPr>
          <p:cNvSpPr/>
          <p:nvPr/>
        </p:nvSpPr>
        <p:spPr>
          <a:xfrm>
            <a:off x="1828062" y="5682972"/>
            <a:ext cx="296459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print(numbers[2]);</a:t>
            </a:r>
            <a:endParaRPr lang="en-IE" sz="2800" b="1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5DF7F76-128F-4003-87B4-11F6C4CEE431}"/>
              </a:ext>
            </a:extLst>
          </p:cNvPr>
          <p:cNvSpPr/>
          <p:nvPr/>
        </p:nvSpPr>
        <p:spPr>
          <a:xfrm>
            <a:off x="6781800" y="4597365"/>
            <a:ext cx="29718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7511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F2EFD-A820-381C-0CA8-7645E85A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A616-D2A2-5805-0197-64D9BD24B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0EEC30-8C09-CBA4-12A2-EEEE445B2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828E23-FA13-B0C2-68DE-5FCC7AD2D33B}"/>
              </a:ext>
            </a:extLst>
          </p:cNvPr>
          <p:cNvSpPr/>
          <p:nvPr/>
        </p:nvSpPr>
        <p:spPr>
          <a:xfrm>
            <a:off x="599661" y="31623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Arrow: Right 1">
            <a:extLst>
              <a:ext uri="{FF2B5EF4-FFF2-40B4-BE49-F238E27FC236}">
                <a16:creationId xmlns:a16="http://schemas.microsoft.com/office/drawing/2014/main" id="{A20DB7A9-8799-91D3-F68C-6398877D8DB2}"/>
              </a:ext>
            </a:extLst>
          </p:cNvPr>
          <p:cNvSpPr/>
          <p:nvPr/>
        </p:nvSpPr>
        <p:spPr>
          <a:xfrm flipH="1">
            <a:off x="2971800" y="403860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08125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5CDF64-02E3-55CC-5BFD-1223CED49EC9}"/>
              </a:ext>
            </a:extLst>
          </p:cNvPr>
          <p:cNvSpPr txBox="1"/>
          <p:nvPr/>
        </p:nvSpPr>
        <p:spPr>
          <a:xfrm>
            <a:off x="2079722" y="5361522"/>
            <a:ext cx="5220147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Person[] friends = new Person[4];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409700" y="4808875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6760930" y="5325488"/>
            <a:ext cx="1849671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4774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</a:t>
            </a:r>
            <a:r>
              <a:rPr lang="en-IE" dirty="0"/>
              <a:t> object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String[]  words;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737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</a:t>
            </a:r>
            <a:r>
              <a:rPr lang="en-IE" dirty="0"/>
              <a:t> object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EE58AEEF-1D90-435B-8AAA-3C77AE95E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1B024A7-891F-471A-AE86-7C9072B48A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506783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1AE63D-0C46-41DC-9511-3C84E8262E47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DA222CAC-4172-4D78-BE9B-A6AEA8BD943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 = new String[4];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735103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words[1] = “Dog”;</a:t>
            </a:r>
            <a:endParaRPr lang="en-IE" sz="28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29103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4050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words[1] = “Dog”;</a:t>
            </a:r>
            <a:endParaRPr lang="en-IE" sz="2800" b="1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1</a:t>
            </a:r>
            <a:r>
              <a:rPr lang="en-IE" sz="2400" dirty="0"/>
              <a:t> and setting it to a value of </a:t>
            </a:r>
            <a:r>
              <a:rPr lang="en-IE" sz="2400" b="1" dirty="0"/>
              <a:t>“Dog”</a:t>
            </a:r>
            <a:r>
              <a:rPr lang="en-IE" sz="2400" dirty="0"/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377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words[1] = “Dog”;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373832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5855738-CB5F-4BE9-A931-A6FAFD6C3095}"/>
              </a:ext>
            </a:extLst>
          </p:cNvPr>
          <p:cNvSpPr/>
          <p:nvPr/>
        </p:nvSpPr>
        <p:spPr>
          <a:xfrm>
            <a:off x="1943323" y="4498905"/>
            <a:ext cx="277088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words[3] = “Cat”;</a:t>
            </a:r>
            <a:endParaRPr lang="en-IE" sz="28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7ED7B-87B8-477D-A072-D77A87AB3940}"/>
              </a:ext>
            </a:extLst>
          </p:cNvPr>
          <p:cNvSpPr/>
          <p:nvPr/>
        </p:nvSpPr>
        <p:spPr>
          <a:xfrm>
            <a:off x="8997554" y="4953001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D1BFE1-5776-4AD4-91A3-C7811BBE3DDD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162801" y="5084367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2223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words[1] = “Dog”;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5410200"/>
            <a:ext cx="2921794" cy="10668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The element at index </a:t>
            </a:r>
            <a:r>
              <a:rPr lang="en-IE" sz="2400" b="1" dirty="0"/>
              <a:t>3 </a:t>
            </a:r>
            <a:r>
              <a:rPr lang="en-IE" sz="2400" dirty="0"/>
              <a:t>is set to </a:t>
            </a:r>
            <a:r>
              <a:rPr lang="en-IE" sz="2400" b="1" dirty="0"/>
              <a:t>“Cat”</a:t>
            </a:r>
            <a:r>
              <a:rPr lang="en-IE" sz="2400" dirty="0"/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5855738-CB5F-4BE9-A931-A6FAFD6C3095}"/>
              </a:ext>
            </a:extLst>
          </p:cNvPr>
          <p:cNvSpPr/>
          <p:nvPr/>
        </p:nvSpPr>
        <p:spPr>
          <a:xfrm>
            <a:off x="1943323" y="4498905"/>
            <a:ext cx="277088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words[3] = “Cat”;</a:t>
            </a:r>
            <a:endParaRPr lang="en-IE" sz="28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7ED7B-87B8-477D-A072-D77A87AB3940}"/>
              </a:ext>
            </a:extLst>
          </p:cNvPr>
          <p:cNvSpPr/>
          <p:nvPr/>
        </p:nvSpPr>
        <p:spPr>
          <a:xfrm>
            <a:off x="8997554" y="4953001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D1BFE1-5776-4AD4-91A3-C7811BBE3DDD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162801" y="5084367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376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C73A-96E2-4D45-94FF-93801CF9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FC6EEC-0018-44F9-94E2-EC04875A3D13}"/>
              </a:ext>
            </a:extLst>
          </p:cNvPr>
          <p:cNvSpPr/>
          <p:nvPr/>
        </p:nvSpPr>
        <p:spPr>
          <a:xfrm>
            <a:off x="1962150" y="1905000"/>
            <a:ext cx="4572000" cy="41549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sz="2400" dirty="0"/>
              <a:t>String words[];</a:t>
            </a:r>
          </a:p>
          <a:p>
            <a:endParaRPr lang="en-IE" sz="2400" dirty="0"/>
          </a:p>
          <a:p>
            <a:r>
              <a:rPr lang="en-IE" sz="2400" dirty="0"/>
              <a:t>words = new String[4];</a:t>
            </a:r>
          </a:p>
          <a:p>
            <a:endParaRPr lang="en-IE" sz="2400" dirty="0"/>
          </a:p>
          <a:p>
            <a:r>
              <a:rPr lang="en-IE" sz="2400" dirty="0"/>
              <a:t>words[1] = "Dog";</a:t>
            </a:r>
          </a:p>
          <a:p>
            <a:r>
              <a:rPr lang="en-IE" sz="2400" dirty="0"/>
              <a:t>words[3] = "Cat";</a:t>
            </a:r>
          </a:p>
          <a:p>
            <a:endParaRPr lang="en-IE" sz="2400" dirty="0"/>
          </a:p>
          <a:p>
            <a:r>
              <a:rPr lang="en-IE" sz="2400" dirty="0"/>
              <a:t>for (int </a:t>
            </a:r>
            <a:r>
              <a:rPr lang="en-IE" sz="2400" dirty="0" err="1"/>
              <a:t>i</a:t>
            </a:r>
            <a:r>
              <a:rPr lang="en-IE" sz="2400" dirty="0"/>
              <a:t>=0; </a:t>
            </a:r>
            <a:r>
              <a:rPr lang="en-IE" sz="2400" dirty="0" err="1"/>
              <a:t>i</a:t>
            </a:r>
            <a:r>
              <a:rPr lang="en-IE" sz="2400" dirty="0"/>
              <a:t> &lt; </a:t>
            </a:r>
            <a:r>
              <a:rPr lang="en-IE" sz="2400" dirty="0" err="1"/>
              <a:t>words.length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(words[</a:t>
            </a:r>
            <a:r>
              <a:rPr lang="en-IE" sz="2400" dirty="0" err="1"/>
              <a:t>i</a:t>
            </a:r>
            <a:r>
              <a:rPr lang="en-IE" sz="2400" dirty="0"/>
              <a:t>]);</a:t>
            </a:r>
          </a:p>
          <a:p>
            <a:r>
              <a:rPr lang="en-IE" sz="2400" dirty="0"/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AF522C-324C-4244-BC08-38B2D6434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2743201"/>
            <a:ext cx="1600200" cy="2163233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306F276C-9020-447B-8C45-23F4BE50216C}"/>
              </a:ext>
            </a:extLst>
          </p:cNvPr>
          <p:cNvSpPr/>
          <p:nvPr/>
        </p:nvSpPr>
        <p:spPr>
          <a:xfrm>
            <a:off x="6781800" y="3429000"/>
            <a:ext cx="1447800" cy="99060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795753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8D121-02B7-10E5-CBFB-465B44BF4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E9E5F-C1C3-C1BC-5F2B-787BC9F3F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9A9016-6981-8879-A958-E9CCE1880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5FC9B4-14B7-B074-BF31-B6C6F26B45EA}"/>
              </a:ext>
            </a:extLst>
          </p:cNvPr>
          <p:cNvSpPr/>
          <p:nvPr/>
        </p:nvSpPr>
        <p:spPr>
          <a:xfrm>
            <a:off x="599661" y="31623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Arrow: Right 1">
            <a:extLst>
              <a:ext uri="{FF2B5EF4-FFF2-40B4-BE49-F238E27FC236}">
                <a16:creationId xmlns:a16="http://schemas.microsoft.com/office/drawing/2014/main" id="{5CEE071B-133E-B104-99E0-0E8578E754EC}"/>
              </a:ext>
            </a:extLst>
          </p:cNvPr>
          <p:cNvSpPr/>
          <p:nvPr/>
        </p:nvSpPr>
        <p:spPr>
          <a:xfrm flipH="1">
            <a:off x="3124200" y="469724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1282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846073-99CF-890A-3447-4B451D0EFD04}"/>
              </a:ext>
            </a:extLst>
          </p:cNvPr>
          <p:cNvSpPr txBox="1"/>
          <p:nvPr/>
        </p:nvSpPr>
        <p:spPr>
          <a:xfrm>
            <a:off x="2079722" y="5361522"/>
            <a:ext cx="5220147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pPr algn="r"/>
            <a:r>
              <a:rPr lang="en-US" sz="2800" dirty="0"/>
              <a:t>Person[] friends = new Person[4];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409700" y="4808875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7293243" y="6329073"/>
            <a:ext cx="1849671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8131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55B6CE-98BC-4863-A435-E8D7EA6BEC92}"/>
              </a:ext>
            </a:extLst>
          </p:cNvPr>
          <p:cNvSpPr txBox="1"/>
          <p:nvPr/>
        </p:nvSpPr>
        <p:spPr>
          <a:xfrm>
            <a:off x="4457700" y="43705"/>
            <a:ext cx="2209800" cy="83099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b="1" dirty="0"/>
              <a:t>Object</a:t>
            </a:r>
            <a:r>
              <a:rPr lang="en-IE" sz="2400" dirty="0"/>
              <a:t>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58B3F-4693-4F5F-8CA0-902626A3E2B9}"/>
              </a:ext>
            </a:extLst>
          </p:cNvPr>
          <p:cNvSpPr txBox="1"/>
          <p:nvPr/>
        </p:nvSpPr>
        <p:spPr>
          <a:xfrm>
            <a:off x="2340919" y="2228671"/>
            <a:ext cx="2895600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Fields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the attributes of the class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28F948-94CE-4F6C-A8F5-087C6D29DD24}"/>
              </a:ext>
            </a:extLst>
          </p:cNvPr>
          <p:cNvSpPr txBox="1"/>
          <p:nvPr/>
        </p:nvSpPr>
        <p:spPr>
          <a:xfrm>
            <a:off x="2205037" y="4444447"/>
            <a:ext cx="2895600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Methods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the behaviours of the class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6E7FE7-3161-8A42-9637-FA0E4CA160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1033027"/>
            <a:ext cx="1250388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Person Class </a:t>
            </a:r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3AA25F20-2097-4621-9CA3-6717EA579AC4}"/>
              </a:ext>
            </a:extLst>
          </p:cNvPr>
          <p:cNvSpPr/>
          <p:nvPr/>
        </p:nvSpPr>
        <p:spPr>
          <a:xfrm>
            <a:off x="5100637" y="3294580"/>
            <a:ext cx="990600" cy="2971799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636477FE-7B3F-4ADE-9E51-FD56C296A799}"/>
              </a:ext>
            </a:extLst>
          </p:cNvPr>
          <p:cNvSpPr/>
          <p:nvPr/>
        </p:nvSpPr>
        <p:spPr>
          <a:xfrm>
            <a:off x="5273589" y="2265031"/>
            <a:ext cx="830992" cy="859170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CD5B0A-E36A-F080-A79F-67276BF92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705054"/>
            <a:ext cx="4203700" cy="47498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579DCA-FE64-4FC1-AAA9-ADDA0D7F2487}"/>
              </a:ext>
            </a:extLst>
          </p:cNvPr>
          <p:cNvCxnSpPr>
            <a:cxnSpLocks/>
          </p:cNvCxnSpPr>
          <p:nvPr/>
        </p:nvCxnSpPr>
        <p:spPr>
          <a:xfrm>
            <a:off x="6672262" y="488239"/>
            <a:ext cx="1557338" cy="16963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116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0" animBg="1"/>
      <p:bldP spid="16" grpId="0" animBg="1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 </a:t>
            </a:r>
            <a:r>
              <a:rPr lang="en-IE" dirty="0"/>
              <a:t>primitive array of </a:t>
            </a:r>
            <a:r>
              <a:rPr lang="en-IE" b="1" dirty="0">
                <a:solidFill>
                  <a:srgbClr val="FF0000"/>
                </a:solidFill>
              </a:rPr>
              <a:t>Person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27377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Person[]  friends;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friends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Donut 9"/>
          <p:cNvSpPr/>
          <p:nvPr/>
        </p:nvSpPr>
        <p:spPr>
          <a:xfrm>
            <a:off x="1752600" y="1705353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665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friends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2C9026F-8C21-40EF-BA75-F2B97FEA6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A448E6C-2F98-405E-81FF-A05427B59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A81E7B-2042-4A9F-9945-29A3312BC850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666244-D9B2-4D23-AC04-D02373568089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B38FEB8-4014-4315-901A-71E6B73850EC}"/>
              </a:ext>
            </a:extLst>
          </p:cNvPr>
          <p:cNvSpPr/>
          <p:nvPr/>
        </p:nvSpPr>
        <p:spPr>
          <a:xfrm>
            <a:off x="1862692" y="2667001"/>
            <a:ext cx="3297121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b="1" dirty="0"/>
              <a:t>friends = new Person[4];</a:t>
            </a:r>
            <a:endParaRPr lang="en-IE" sz="2400" b="1" dirty="0"/>
          </a:p>
        </p:txBody>
      </p:sp>
      <p:sp>
        <p:nvSpPr>
          <p:cNvPr id="16" name="Donut 15"/>
          <p:cNvSpPr/>
          <p:nvPr/>
        </p:nvSpPr>
        <p:spPr>
          <a:xfrm>
            <a:off x="1731320" y="2590800"/>
            <a:ext cx="3810000" cy="66678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93BE65-F045-FAA3-84B2-6B53E3585656}"/>
              </a:ext>
            </a:extLst>
          </p:cNvPr>
          <p:cNvSpPr/>
          <p:nvPr/>
        </p:nvSpPr>
        <p:spPr>
          <a:xfrm>
            <a:off x="2057400" y="1713934"/>
            <a:ext cx="2655983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Person[] friends;</a:t>
            </a:r>
          </a:p>
        </p:txBody>
      </p:sp>
    </p:spTree>
    <p:extLst>
      <p:ext uri="{BB962C8B-B14F-4D97-AF65-F5344CB8AC3E}">
        <p14:creationId xmlns:p14="http://schemas.microsoft.com/office/powerpoint/2010/main" val="108085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>
            <a:cxnSpLocks/>
          </p:cNvCxnSpPr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2C9026F-8C21-40EF-BA75-F2B97FEA6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A448E6C-2F98-405E-81FF-A05427B59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A81E7B-2042-4A9F-9945-29A3312BC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612650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666244-D9B2-4D23-AC04-D02373568089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CF4F11-4968-4890-835E-30B3F0FE4BE3}"/>
              </a:ext>
            </a:extLst>
          </p:cNvPr>
          <p:cNvCxnSpPr>
            <a:cxnSpLocks/>
          </p:cNvCxnSpPr>
          <p:nvPr/>
        </p:nvCxnSpPr>
        <p:spPr>
          <a:xfrm flipV="1">
            <a:off x="7239001" y="2846102"/>
            <a:ext cx="876300" cy="133350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1E54C041-19A9-4B3E-8A1D-236E192CAFDB}"/>
              </a:ext>
            </a:extLst>
          </p:cNvPr>
          <p:cNvSpPr/>
          <p:nvPr/>
        </p:nvSpPr>
        <p:spPr>
          <a:xfrm>
            <a:off x="1752601" y="5562600"/>
            <a:ext cx="7468776" cy="523220"/>
          </a:xfrm>
          <a:prstGeom prst="rect">
            <a:avLst/>
          </a:prstGeom>
          <a:gradFill>
            <a:gsLst>
              <a:gs pos="0">
                <a:schemeClr val="accent6">
                  <a:tint val="50000"/>
                  <a:satMod val="300000"/>
                </a:schemeClr>
              </a:gs>
              <a:gs pos="35000">
                <a:schemeClr val="accent6">
                  <a:tint val="37000"/>
                  <a:satMod val="300000"/>
                </a:schemeClr>
              </a:gs>
              <a:gs pos="100000">
                <a:schemeClr val="accent6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friends[1] =  new Person(“Joey”, “</a:t>
            </a:r>
            <a:r>
              <a:rPr lang="en-GB" sz="2800" b="1" dirty="0" err="1"/>
              <a:t>Tribbiani</a:t>
            </a:r>
            <a:r>
              <a:rPr lang="en-GB" sz="2800" b="1" dirty="0"/>
              <a:t>”, 25,);</a:t>
            </a:r>
            <a:endParaRPr lang="en-IE" sz="2800" b="1" dirty="0"/>
          </a:p>
        </p:txBody>
      </p:sp>
      <p:sp>
        <p:nvSpPr>
          <p:cNvPr id="24" name="Donut 23"/>
          <p:cNvSpPr/>
          <p:nvPr/>
        </p:nvSpPr>
        <p:spPr>
          <a:xfrm>
            <a:off x="1523999" y="5467350"/>
            <a:ext cx="7697363" cy="823586"/>
          </a:xfrm>
          <a:prstGeom prst="donut">
            <a:avLst>
              <a:gd name="adj" fmla="val 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353C58B-3B28-4CDE-BC83-8FAF66892E15}"/>
              </a:ext>
            </a:extLst>
          </p:cNvPr>
          <p:cNvSpPr/>
          <p:nvPr/>
        </p:nvSpPr>
        <p:spPr>
          <a:xfrm>
            <a:off x="2057400" y="1713934"/>
            <a:ext cx="2655983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Person[] friends;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C2202A-AFB8-4223-B669-A5CBBA31F965}"/>
              </a:ext>
            </a:extLst>
          </p:cNvPr>
          <p:cNvSpPr/>
          <p:nvPr/>
        </p:nvSpPr>
        <p:spPr>
          <a:xfrm>
            <a:off x="1862692" y="2667001"/>
            <a:ext cx="3297121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b="1" dirty="0">
                <a:solidFill>
                  <a:schemeClr val="bg1">
                    <a:lumMod val="65000"/>
                  </a:schemeClr>
                </a:solidFill>
              </a:rPr>
              <a:t>friends = new Person[4];</a:t>
            </a:r>
            <a:endParaRPr lang="en-IE" sz="24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9" name="Text Box 11">
            <a:extLst>
              <a:ext uri="{FF2B5EF4-FFF2-40B4-BE49-F238E27FC236}">
                <a16:creationId xmlns:a16="http://schemas.microsoft.com/office/drawing/2014/main" id="{DB3672BC-219A-4853-9ECF-A60DD09902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products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4130A1-57F5-2F06-2E5B-8C57BA32C4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5984" y="1581434"/>
            <a:ext cx="3554766" cy="22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4970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C73A-96E2-4D45-94FF-93801CF9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Example using a </a:t>
            </a:r>
            <a:r>
              <a:rPr lang="en-IE" b="1" dirty="0">
                <a:solidFill>
                  <a:srgbClr val="FF0000"/>
                </a:solidFill>
              </a:rPr>
              <a:t>Person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74DC3D5-32D7-4A02-9286-6E8FA6E05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7473" y="1857526"/>
            <a:ext cx="8001000" cy="3785652"/>
          </a:xfrm>
          <a:prstGeom prst="rect">
            <a:avLst/>
          </a:prstGeom>
          <a:gradFill>
            <a:gsLst>
              <a:gs pos="0">
                <a:schemeClr val="accent1">
                  <a:tint val="50000"/>
                  <a:satMod val="300000"/>
                </a:schemeClr>
              </a:gs>
              <a:gs pos="35000">
                <a:schemeClr val="accent1">
                  <a:tint val="37000"/>
                  <a:satMod val="300000"/>
                </a:schemeClr>
              </a:gs>
              <a:gs pos="100000">
                <a:schemeClr val="accent1">
                  <a:tint val="15000"/>
                  <a:satMod val="350000"/>
                </a:schemeClr>
              </a:gs>
            </a:gsLst>
            <a:lin ang="16200000" scaled="1"/>
          </a:gradFill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public </a:t>
            </a:r>
            <a:r>
              <a:rPr lang="en-029" altLang="en-VI" sz="2400" dirty="0">
                <a:solidFill>
                  <a:srgbClr val="000000"/>
                </a:solidFill>
                <a:latin typeface="JetBrains Mono"/>
              </a:rPr>
              <a:t>void</a:t>
            </a:r>
            <a:r>
              <a:rPr lang="en-VI" altLang="en-VI" sz="24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029" altLang="en-VI" sz="2400" dirty="0" err="1">
                <a:solidFill>
                  <a:srgbClr val="00627A"/>
                </a:solidFill>
                <a:latin typeface="JetBrains Mono"/>
              </a:rPr>
              <a:t>printFriends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() {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029" altLang="en-VI" sz="2400" dirty="0">
                <a:solidFill>
                  <a:srgbClr val="0033B3"/>
                </a:solidFill>
                <a:latin typeface="JetBrains Mono"/>
              </a:rPr>
              <a:t>        if  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(size == 0 ) </a:t>
            </a:r>
            <a:r>
              <a:rPr lang="en-029" altLang="en-VI" sz="2400" dirty="0">
                <a:solidFill>
                  <a:srgbClr val="0033B3"/>
                </a:solidFill>
                <a:latin typeface="JetBrains Mono"/>
              </a:rPr>
              <a:t>return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“Sorry no Friends”;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  </a:t>
            </a:r>
            <a:r>
              <a:rPr lang="en-029" altLang="en-VI" sz="24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{ 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for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24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&lt; </a:t>
            </a:r>
            <a:r>
              <a:rPr lang="en-GB" altLang="en-VI" sz="2400" dirty="0" err="1">
                <a:solidFill>
                  <a:srgbClr val="871094"/>
                </a:solidFill>
                <a:latin typeface="JetBrains Mono"/>
              </a:rPr>
              <a:t>friends.length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++) {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	        friends[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]. 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printFirstName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();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rgbClr val="080808"/>
                </a:solidFill>
                <a:latin typeface="JetBrains Mono"/>
              </a:rPr>
              <a:t> 	        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friends[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]. 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printSecondName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}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  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}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54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AFEA61-A42F-42C7-AC5F-4B454560AF74}"/>
              </a:ext>
            </a:extLst>
          </p:cNvPr>
          <p:cNvSpPr txBox="1"/>
          <p:nvPr/>
        </p:nvSpPr>
        <p:spPr>
          <a:xfrm>
            <a:off x="1984651" y="6178754"/>
            <a:ext cx="7971798" cy="4001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sz="2000" dirty="0"/>
              <a:t>Prints first  and second names of all friends  stored in the primitive array.  </a:t>
            </a:r>
            <a:endParaRPr lang="en-VI" sz="2000" dirty="0"/>
          </a:p>
        </p:txBody>
      </p:sp>
    </p:spTree>
    <p:extLst>
      <p:ext uri="{BB962C8B-B14F-4D97-AF65-F5344CB8AC3E}">
        <p14:creationId xmlns:p14="http://schemas.microsoft.com/office/powerpoint/2010/main" val="8257454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CA62A-DFEC-AD9C-433F-C97129F4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206BE-C046-EEDE-1365-A804FDB37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Example using a </a:t>
            </a:r>
            <a:r>
              <a:rPr lang="en-IE" b="1" dirty="0">
                <a:solidFill>
                  <a:srgbClr val="FF0000"/>
                </a:solidFill>
              </a:rPr>
              <a:t>Person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1316B3F-D829-3B85-008F-FE603F7CC0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0" y="1574048"/>
            <a:ext cx="8001000" cy="4893647"/>
          </a:xfrm>
          <a:prstGeom prst="rect">
            <a:avLst/>
          </a:prstGeom>
          <a:gradFill>
            <a:gsLst>
              <a:gs pos="0">
                <a:schemeClr val="accent1">
                  <a:tint val="50000"/>
                  <a:satMod val="300000"/>
                </a:schemeClr>
              </a:gs>
              <a:gs pos="35000">
                <a:schemeClr val="accent1">
                  <a:tint val="37000"/>
                  <a:satMod val="300000"/>
                </a:schemeClr>
              </a:gs>
              <a:gs pos="100000">
                <a:schemeClr val="accent1">
                  <a:tint val="15000"/>
                  <a:satMod val="350000"/>
                </a:schemeClr>
              </a:gs>
            </a:gsLst>
            <a:lin ang="16200000" scaled="1"/>
          </a:gradFill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rgbClr val="0033B3"/>
                </a:solidFill>
                <a:latin typeface="JetBrains Mono"/>
              </a:rPr>
              <a:t> public 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String</a:t>
            </a:r>
            <a:r>
              <a:rPr lang="en-IE" altLang="en-VI" sz="24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IE" altLang="en-VI" sz="2400" dirty="0" err="1">
                <a:solidFill>
                  <a:srgbClr val="0033B3"/>
                </a:solidFill>
                <a:latin typeface="JetBrains Mono"/>
              </a:rPr>
              <a:t>l</a:t>
            </a:r>
            <a:r>
              <a:rPr lang="en-IE" altLang="en-VI" sz="2400" dirty="0" err="1">
                <a:solidFill>
                  <a:srgbClr val="00627A"/>
                </a:solidFill>
                <a:latin typeface="JetBrains Mono"/>
              </a:rPr>
              <a:t>istOfFriends</a:t>
            </a:r>
            <a:r>
              <a:rPr lang="en-IE" altLang="en-VI" sz="2400" dirty="0">
                <a:solidFill>
                  <a:srgbClr val="00627A"/>
                </a:solidFill>
                <a:latin typeface="JetBrains Mono"/>
              </a:rPr>
              <a:t>(</a:t>
            </a:r>
            <a:r>
              <a:rPr lang="en-IE" altLang="en-VI" sz="2400" dirty="0">
                <a:solidFill>
                  <a:srgbClr val="0033B3"/>
                </a:solidFill>
                <a:latin typeface="JetBrains Mono"/>
              </a:rPr>
              <a:t>){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IE" altLang="en-VI" sz="2400" dirty="0">
              <a:solidFill>
                <a:schemeClr val="tx1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       String 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listOfStudents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= "List of friends \n";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IE" altLang="en-VI" sz="2400" dirty="0">
              <a:solidFill>
                <a:schemeClr val="tx1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  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for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24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&lt; </a:t>
            </a:r>
            <a:r>
              <a:rPr lang="en-GB" altLang="en-VI" sz="2400" dirty="0" err="1">
                <a:solidFill>
                  <a:srgbClr val="871094"/>
                </a:solidFill>
                <a:latin typeface="JetBrains Mono"/>
              </a:rPr>
              <a:t>friends.length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++) {</a:t>
            </a:r>
            <a:endParaRPr lang="en-029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                  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listOfStudents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+= friends[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i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].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getFirstName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() + "  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		                     + friends[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i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].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getSecondName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() + "\n";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    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            </a:t>
            </a:r>
            <a:r>
              <a:rPr lang="en-IE" altLang="en-VI" sz="2400" dirty="0">
                <a:solidFill>
                  <a:srgbClr val="0033B3"/>
                </a:solidFill>
                <a:latin typeface="JetBrains Mono"/>
              </a:rPr>
              <a:t>return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listOfStudents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    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2400" dirty="0">
                <a:solidFill>
                  <a:schemeClr val="tx1"/>
                </a:solidFill>
                <a:latin typeface="JetBrains Mono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B75913-F634-8664-2524-0E44604C45EB}"/>
              </a:ext>
            </a:extLst>
          </p:cNvPr>
          <p:cNvSpPr txBox="1"/>
          <p:nvPr/>
        </p:nvSpPr>
        <p:spPr>
          <a:xfrm>
            <a:off x="1984651" y="6457890"/>
            <a:ext cx="8346644" cy="4001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sz="2000" dirty="0"/>
              <a:t>Returns the first and second names of all friends  stored in the primitive array.  </a:t>
            </a:r>
            <a:endParaRPr lang="en-VI" sz="2000" dirty="0"/>
          </a:p>
        </p:txBody>
      </p:sp>
    </p:spTree>
    <p:extLst>
      <p:ext uri="{BB962C8B-B14F-4D97-AF65-F5344CB8AC3E}">
        <p14:creationId xmlns:p14="http://schemas.microsoft.com/office/powerpoint/2010/main" val="30755076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96FBC672-E48E-496B-848D-976EC1B6DE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7100" y="1626704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4571</TotalTime>
  <Words>1291</Words>
  <Application>Microsoft Macintosh PowerPoint</Application>
  <PresentationFormat>Widescreen</PresentationFormat>
  <Paragraphs>316</Paragraphs>
  <Slides>28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Courier New</vt:lpstr>
      <vt:lpstr>JetBrains Mono</vt:lpstr>
      <vt:lpstr>Times New Roman</vt:lpstr>
      <vt:lpstr>a-processing-mouse-event-methods</vt:lpstr>
      <vt:lpstr>Arrays and Classes</vt:lpstr>
      <vt:lpstr>Topics list</vt:lpstr>
      <vt:lpstr>Let’s Look at arrays of different types</vt:lpstr>
      <vt:lpstr>PowerPoint Presentation</vt:lpstr>
      <vt:lpstr>Topics list</vt:lpstr>
      <vt:lpstr>Structure of an int primitive array</vt:lpstr>
      <vt:lpstr>Structure of an int primitive array</vt:lpstr>
      <vt:lpstr>Structure of an int primitive array</vt:lpstr>
      <vt:lpstr>Structure of an int primitive array</vt:lpstr>
      <vt:lpstr>Structure of an int primitive array</vt:lpstr>
      <vt:lpstr>Topics list</vt:lpstr>
      <vt:lpstr>PowerPoint Presentation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Topics list</vt:lpstr>
      <vt:lpstr>PowerPoint Presentation</vt:lpstr>
      <vt:lpstr>Person Class </vt:lpstr>
      <vt:lpstr>Structure of a  primitive array of Person</vt:lpstr>
      <vt:lpstr>Structure of a Product primitive array</vt:lpstr>
      <vt:lpstr>Structure of a Product primitive array</vt:lpstr>
      <vt:lpstr>Example using a Person object array</vt:lpstr>
      <vt:lpstr>Example using a Person object array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on Arrays</dc:title>
  <dc:creator>Siobhan Drohan</dc:creator>
  <cp:lastModifiedBy>Mairead Meagher</cp:lastModifiedBy>
  <cp:revision>360</cp:revision>
  <cp:lastPrinted>2018-02-19T00:13:51Z</cp:lastPrinted>
  <dcterms:created xsi:type="dcterms:W3CDTF">2006-08-16T00:00:00Z</dcterms:created>
  <dcterms:modified xsi:type="dcterms:W3CDTF">2025-10-21T12:14:38Z</dcterms:modified>
</cp:coreProperties>
</file>