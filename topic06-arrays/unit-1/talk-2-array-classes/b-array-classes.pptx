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325" r:id="rId2"/>
    <p:sldId id="257" r:id="rId3"/>
    <p:sldId id="649" r:id="rId4"/>
    <p:sldId id="616" r:id="rId5"/>
    <p:sldId id="654" r:id="rId6"/>
    <p:sldId id="606" r:id="rId7"/>
    <p:sldId id="605" r:id="rId8"/>
    <p:sldId id="610" r:id="rId9"/>
    <p:sldId id="611" r:id="rId10"/>
    <p:sldId id="614" r:id="rId11"/>
    <p:sldId id="655" r:id="rId12"/>
    <p:sldId id="652" r:id="rId13"/>
    <p:sldId id="618" r:id="rId14"/>
    <p:sldId id="619" r:id="rId15"/>
    <p:sldId id="620" r:id="rId16"/>
    <p:sldId id="623" r:id="rId17"/>
    <p:sldId id="621" r:id="rId18"/>
    <p:sldId id="624" r:id="rId19"/>
    <p:sldId id="622" r:id="rId20"/>
    <p:sldId id="656" r:id="rId21"/>
    <p:sldId id="653" r:id="rId22"/>
    <p:sldId id="638" r:id="rId23"/>
    <p:sldId id="628" r:id="rId24"/>
    <p:sldId id="641" r:id="rId25"/>
    <p:sldId id="642" r:id="rId26"/>
    <p:sldId id="634" r:id="rId27"/>
    <p:sldId id="347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5086" autoAdjust="0"/>
    <p:restoredTop sz="89085" autoAdjust="0"/>
  </p:normalViewPr>
  <p:slideViewPr>
    <p:cSldViewPr>
      <p:cViewPr varScale="1">
        <p:scale>
          <a:sx n="64" d="100"/>
          <a:sy n="64" d="100"/>
        </p:scale>
        <p:origin x="168" y="7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72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3D141-1E1C-433C-AD3A-CD56CBBB4F9F}" type="datetimeFigureOut">
              <a:rPr lang="en-IE" smtClean="0"/>
              <a:t>18/10/2025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3DB36-5273-45A5-A77C-FE9BE0779D8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34544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6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9836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7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959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8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0754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9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9073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10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1144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13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0377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14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8555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15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6995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16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4943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17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2044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18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4239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Should this be string </a:t>
            </a:r>
            <a:r>
              <a:rPr lang="en-GB"/>
              <a:t>object array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512791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23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2605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24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8149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25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101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566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4FA624-7CFC-3CFB-8384-E3FA99B20E9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51F014-A304-3672-EB37-723E4843A10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77319E-D913-0186-1403-29DAAB909981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1E79F1-A6BC-9BFA-D91F-EDE58012F586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757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911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2A16B-6893-A143-E832-A99D7B6427B3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64861E-C2E3-2C0F-0C43-CF6F042CC211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DE2AD0E-60F6-798F-5218-679762744249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46373DF-09B0-AAD0-9A0F-77BAB32A9FC2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305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436290-11E2-F20B-966B-F18296CC48D7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669D825-370C-D932-7B44-4C1EE0EB0E21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1F2B53-681A-1F9B-D38D-923C8065AAE2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9109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B4946F-2A50-46DF-D246-8E463A5B9E4E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F61A43-37C0-D158-13BE-1753663F3BEC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85FD0A-2A17-4E36-7ACE-8DDECE72BE20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37180BA-0CE4-6687-797D-9C4100B1A0B8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0997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323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790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975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746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3986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5190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863600" y="2286000"/>
            <a:ext cx="10464801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16" name="Subtitle"/>
          <p:cNvSpPr txBox="1">
            <a:spLocks noGrp="1"/>
          </p:cNvSpPr>
          <p:nvPr>
            <p:ph type="body" sz="quarter" idx="22"/>
          </p:nvPr>
        </p:nvSpPr>
        <p:spPr>
          <a:xfrm>
            <a:off x="957115" y="3465604"/>
            <a:ext cx="10134430" cy="846384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F4468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1544" y="6360984"/>
            <a:ext cx="495649" cy="49244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38240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691066" y="6493542"/>
            <a:ext cx="434734" cy="43088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4" name="Title Text"/>
          <p:cNvSpPr txBox="1">
            <a:spLocks noGrp="1"/>
          </p:cNvSpPr>
          <p:nvPr>
            <p:ph type="title"/>
          </p:nvPr>
        </p:nvSpPr>
        <p:spPr>
          <a:xfrm>
            <a:off x="729736" y="395556"/>
            <a:ext cx="10747254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6855867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381000"/>
            <a:ext cx="103632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625600" y="1828800"/>
            <a:ext cx="4876800" cy="4267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6705600" y="1828800"/>
            <a:ext cx="4876800" cy="4267200"/>
          </a:xfrm>
        </p:spPr>
        <p:txBody>
          <a:bodyPr/>
          <a:lstStyle/>
          <a:p>
            <a:pPr lvl="0"/>
            <a:r>
              <a:rPr lang="en-GB" noProof="0"/>
              <a:t>Click icon to add chart</a:t>
            </a:r>
            <a:endParaRPr lang="en-US" noProof="0"/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861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121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1495958"/>
            <a:ext cx="7772400" cy="1470025"/>
          </a:xfrm>
        </p:spPr>
        <p:txBody>
          <a:bodyPr>
            <a:normAutofit/>
          </a:bodyPr>
          <a:lstStyle/>
          <a:p>
            <a:r>
              <a:rPr lang="en-IE" sz="4000" dirty="0"/>
              <a:t>Arrays and Classes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E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CC4AED-F0A1-0320-79D7-9CE5D8221C21}"/>
              </a:ext>
            </a:extLst>
          </p:cNvPr>
          <p:cNvSpPr txBox="1"/>
          <p:nvPr/>
        </p:nvSpPr>
        <p:spPr>
          <a:xfrm>
            <a:off x="7445567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0BCF36-982C-F204-7447-03BA8AB5D257}"/>
              </a:ext>
            </a:extLst>
          </p:cNvPr>
          <p:cNvSpPr txBox="1"/>
          <p:nvPr/>
        </p:nvSpPr>
        <p:spPr>
          <a:xfrm>
            <a:off x="3925972" y="3676471"/>
            <a:ext cx="5562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Drohan,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Mairead Meagher,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Siobhán Roche.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E96DC9-3CD1-62A3-07F6-E302E465DD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242" y="5565517"/>
            <a:ext cx="2057400" cy="1153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43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E" dirty="0"/>
              <a:t>1.  </a:t>
            </a:r>
            <a:r>
              <a:rPr lang="en-IE" sz="4000" dirty="0"/>
              <a:t>Arrays of different types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IE" sz="4000" dirty="0"/>
              <a:t>Arrays of primitive types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IE" sz="4000" dirty="0"/>
              <a:t>Arrays of objects</a:t>
            </a:r>
          </a:p>
          <a:p>
            <a:pPr marL="914400" lvl="1" indent="-514350"/>
            <a:r>
              <a:rPr lang="en-IE" sz="4000" dirty="0"/>
              <a:t>String</a:t>
            </a:r>
          </a:p>
          <a:p>
            <a:pPr marL="914400" lvl="1" indent="-514350"/>
            <a:r>
              <a:rPr lang="en-IE" sz="4000" dirty="0"/>
              <a:t>Person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6" name="Rectangle 5"/>
          <p:cNvSpPr/>
          <p:nvPr/>
        </p:nvSpPr>
        <p:spPr>
          <a:xfrm>
            <a:off x="609600" y="1752600"/>
            <a:ext cx="6172200" cy="5334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35913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Let’s Look at arrays of different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Arrays can store any type of data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Let’s look at some examples:</a:t>
            </a:r>
          </a:p>
          <a:p>
            <a:pPr marL="0" indent="0">
              <a:buNone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Array of primitives - </a:t>
            </a:r>
            <a:r>
              <a:rPr lang="en-GB" b="1" dirty="0" err="1"/>
              <a:t>int</a:t>
            </a:r>
            <a:endParaRPr lang="en-GB" b="1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Array of objects </a:t>
            </a:r>
            <a:r>
              <a:rPr lang="mr-IN" dirty="0"/>
              <a:t>–</a:t>
            </a:r>
            <a:r>
              <a:rPr lang="en-GB" dirty="0"/>
              <a:t> </a:t>
            </a:r>
            <a:r>
              <a:rPr lang="en-GB" b="1" dirty="0"/>
              <a:t>String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Array of objects - </a:t>
            </a:r>
            <a:r>
              <a:rPr lang="en-GB" b="1" dirty="0"/>
              <a:t>Product</a:t>
            </a:r>
          </a:p>
        </p:txBody>
      </p:sp>
    </p:spTree>
    <p:extLst>
      <p:ext uri="{BB962C8B-B14F-4D97-AF65-F5344CB8AC3E}">
        <p14:creationId xmlns:p14="http://schemas.microsoft.com/office/powerpoint/2010/main" val="1139030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209489" y="685800"/>
            <a:ext cx="6248400" cy="57888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An array can store any type of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9534" y="5249288"/>
            <a:ext cx="5301901" cy="1384995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String[] words = new String[4];</a:t>
            </a:r>
          </a:p>
          <a:p>
            <a:endParaRPr lang="en-US" sz="2800" dirty="0"/>
          </a:p>
          <a:p>
            <a:r>
              <a:rPr lang="en-US" sz="2800" dirty="0"/>
              <a:t>Person[]  friends = new Person[4];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B14CF8-BDA0-46CC-A9A3-72FD88067618}"/>
              </a:ext>
            </a:extLst>
          </p:cNvPr>
          <p:cNvSpPr/>
          <p:nvPr/>
        </p:nvSpPr>
        <p:spPr>
          <a:xfrm>
            <a:off x="2085584" y="2057401"/>
            <a:ext cx="5423729" cy="2246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800" dirty="0" err="1"/>
              <a:t>int</a:t>
            </a:r>
            <a:r>
              <a:rPr lang="en-US" sz="2800" dirty="0"/>
              <a:t> numbers[] = new </a:t>
            </a:r>
            <a:r>
              <a:rPr lang="en-US" sz="2800" dirty="0" err="1"/>
              <a:t>int</a:t>
            </a:r>
            <a:r>
              <a:rPr lang="en-US" sz="2800" dirty="0"/>
              <a:t>[10];</a:t>
            </a:r>
          </a:p>
          <a:p>
            <a:endParaRPr lang="en-US" sz="2800" dirty="0"/>
          </a:p>
          <a:p>
            <a:r>
              <a:rPr lang="en-US" sz="2800" dirty="0"/>
              <a:t>byte </a:t>
            </a:r>
            <a:r>
              <a:rPr lang="en-US" sz="2800" dirty="0" err="1"/>
              <a:t>smallNumbers</a:t>
            </a:r>
            <a:r>
              <a:rPr lang="en-US" sz="2800" dirty="0"/>
              <a:t>[] = new byte[4];</a:t>
            </a:r>
          </a:p>
          <a:p>
            <a:endParaRPr lang="en-US" sz="2800" dirty="0"/>
          </a:p>
          <a:p>
            <a:r>
              <a:rPr lang="en-US" sz="2800" dirty="0"/>
              <a:t>char characters[] = new char[26];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73D87C-EBDD-45A7-943D-BC024FEAE26F}"/>
              </a:ext>
            </a:extLst>
          </p:cNvPr>
          <p:cNvSpPr/>
          <p:nvPr/>
        </p:nvSpPr>
        <p:spPr>
          <a:xfrm>
            <a:off x="1978047" y="1612106"/>
            <a:ext cx="2819400" cy="457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800" dirty="0"/>
              <a:t>Primitive Types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7D804F-0AD2-44D3-A1FF-C88BBC72567A}"/>
              </a:ext>
            </a:extLst>
          </p:cNvPr>
          <p:cNvSpPr/>
          <p:nvPr/>
        </p:nvSpPr>
        <p:spPr>
          <a:xfrm>
            <a:off x="1905000" y="4868287"/>
            <a:ext cx="2819400" cy="457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800" dirty="0"/>
              <a:t>Object Types</a:t>
            </a:r>
          </a:p>
        </p:txBody>
      </p:sp>
      <p:sp>
        <p:nvSpPr>
          <p:cNvPr id="7" name="Donut 6"/>
          <p:cNvSpPr/>
          <p:nvPr/>
        </p:nvSpPr>
        <p:spPr>
          <a:xfrm>
            <a:off x="1524000" y="1493282"/>
            <a:ext cx="3810000" cy="576024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Arrow: Right 1">
            <a:extLst>
              <a:ext uri="{FF2B5EF4-FFF2-40B4-BE49-F238E27FC236}">
                <a16:creationId xmlns:a16="http://schemas.microsoft.com/office/drawing/2014/main" id="{39E3F9F0-B711-48DB-80B2-30160FBEC1C1}"/>
              </a:ext>
            </a:extLst>
          </p:cNvPr>
          <p:cNvSpPr/>
          <p:nvPr/>
        </p:nvSpPr>
        <p:spPr>
          <a:xfrm flipH="1">
            <a:off x="6454522" y="2133600"/>
            <a:ext cx="3984878" cy="38100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34185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  <p:bldP spid="14" grpId="0" animBg="1"/>
      <p:bldP spid="15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CFBF0-9159-185D-8A3F-053633142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CD7B3-6E38-BE81-5F27-1F41C691C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CCFB6C7-3653-2B17-9FC1-FFB0924D0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E" dirty="0"/>
              <a:t>1.  </a:t>
            </a:r>
            <a:r>
              <a:rPr lang="en-IE" sz="4000" dirty="0"/>
              <a:t>Arrays of different types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IE" sz="4000" dirty="0"/>
              <a:t>Arrays of primitive types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IE" sz="4000" dirty="0"/>
              <a:t>Arrays of objects</a:t>
            </a:r>
          </a:p>
          <a:p>
            <a:pPr marL="914400" lvl="1" indent="-514350"/>
            <a:r>
              <a:rPr lang="en-IE" sz="4000" dirty="0"/>
              <a:t>String</a:t>
            </a:r>
          </a:p>
          <a:p>
            <a:pPr marL="914400" lvl="1" indent="-514350"/>
            <a:r>
              <a:rPr lang="en-IE" sz="4000" dirty="0"/>
              <a:t>Person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BFC76E-0021-F6F2-9E6F-2BB7C516970B}"/>
              </a:ext>
            </a:extLst>
          </p:cNvPr>
          <p:cNvSpPr/>
          <p:nvPr/>
        </p:nvSpPr>
        <p:spPr>
          <a:xfrm>
            <a:off x="609600" y="2438400"/>
            <a:ext cx="6172200" cy="5334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15631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an </a:t>
            </a:r>
            <a:r>
              <a:rPr lang="en-IE" b="1" dirty="0">
                <a:solidFill>
                  <a:srgbClr val="FF0000"/>
                </a:solidFill>
              </a:rPr>
              <a:t>int</a:t>
            </a:r>
            <a:r>
              <a:rPr lang="en-IE" dirty="0"/>
              <a:t> 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2057401" y="1713934"/>
            <a:ext cx="2400337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 err="1"/>
              <a:t>int</a:t>
            </a:r>
            <a:r>
              <a:rPr lang="en-GB" sz="2800" b="1" dirty="0"/>
              <a:t>[]  numbers;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numbers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A2803B-E7A2-4954-9E5C-37FD263AA316}"/>
              </a:ext>
            </a:extLst>
          </p:cNvPr>
          <p:cNvSpPr txBox="1"/>
          <p:nvPr/>
        </p:nvSpPr>
        <p:spPr>
          <a:xfrm>
            <a:off x="6739006" y="2358440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null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3438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an </a:t>
            </a:r>
            <a:r>
              <a:rPr lang="en-IE" b="1" dirty="0">
                <a:solidFill>
                  <a:srgbClr val="FF0000"/>
                </a:solidFill>
              </a:rPr>
              <a:t>int</a:t>
            </a:r>
            <a:r>
              <a:rPr lang="en-IE" dirty="0"/>
              <a:t> 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2057400" y="1713934"/>
            <a:ext cx="2345642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[]  numbers;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numbers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ECF9212-2D61-43FF-9314-EB99500863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169205"/>
              </p:ext>
            </p:extLst>
          </p:nvPr>
        </p:nvGraphicFramePr>
        <p:xfrm>
          <a:off x="7086601" y="3733800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0691DA-9F50-43E8-A565-BD56F9D71203}"/>
              </a:ext>
            </a:extLst>
          </p:cNvPr>
          <p:cNvCxnSpPr>
            <a:endCxn id="9" idx="0"/>
          </p:cNvCxnSpPr>
          <p:nvPr/>
        </p:nvCxnSpPr>
        <p:spPr>
          <a:xfrm>
            <a:off x="7006066" y="2543106"/>
            <a:ext cx="1185434" cy="11906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FEEE004B-0225-472D-BF88-0869C903969C}"/>
              </a:ext>
            </a:extLst>
          </p:cNvPr>
          <p:cNvSpPr/>
          <p:nvPr/>
        </p:nvSpPr>
        <p:spPr>
          <a:xfrm>
            <a:off x="1600201" y="2667000"/>
            <a:ext cx="3483839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numbers = new </a:t>
            </a:r>
            <a:r>
              <a:rPr lang="en-GB" sz="2800" b="1" dirty="0" err="1"/>
              <a:t>int</a:t>
            </a:r>
            <a:r>
              <a:rPr lang="en-GB" sz="2800" b="1" dirty="0"/>
              <a:t>[4];</a:t>
            </a:r>
            <a:endParaRPr lang="en-IE" sz="2800" b="1" dirty="0"/>
          </a:p>
        </p:txBody>
      </p:sp>
    </p:spTree>
    <p:extLst>
      <p:ext uri="{BB962C8B-B14F-4D97-AF65-F5344CB8AC3E}">
        <p14:creationId xmlns:p14="http://schemas.microsoft.com/office/powerpoint/2010/main" val="130050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an </a:t>
            </a:r>
            <a:r>
              <a:rPr lang="en-IE" b="1" dirty="0">
                <a:solidFill>
                  <a:srgbClr val="FF0000"/>
                </a:solidFill>
              </a:rPr>
              <a:t>int</a:t>
            </a:r>
            <a:r>
              <a:rPr lang="en-IE" dirty="0"/>
              <a:t> 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2057400" y="1713934"/>
            <a:ext cx="2345642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[]  numbers;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numbers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ECF9212-2D61-43FF-9314-EB99500863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549756"/>
              </p:ext>
            </p:extLst>
          </p:nvPr>
        </p:nvGraphicFramePr>
        <p:xfrm>
          <a:off x="7086601" y="3733800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0691DA-9F50-43E8-A565-BD56F9D71203}"/>
              </a:ext>
            </a:extLst>
          </p:cNvPr>
          <p:cNvCxnSpPr>
            <a:endCxn id="9" idx="0"/>
          </p:cNvCxnSpPr>
          <p:nvPr/>
        </p:nvCxnSpPr>
        <p:spPr>
          <a:xfrm>
            <a:off x="7006066" y="2543106"/>
            <a:ext cx="1185434" cy="11906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8B2E9D6B-CAED-4A70-BB33-7EEDCB9DCA73}"/>
              </a:ext>
            </a:extLst>
          </p:cNvPr>
          <p:cNvSpPr/>
          <p:nvPr/>
        </p:nvSpPr>
        <p:spPr>
          <a:xfrm>
            <a:off x="8191500" y="4648200"/>
            <a:ext cx="723900" cy="523806"/>
          </a:xfrm>
          <a:prstGeom prst="ellipse">
            <a:avLst/>
          </a:prstGeom>
          <a:noFill/>
          <a:ln w="762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BAC8DC-59DC-4BD5-9310-47CFC5E3D4C8}"/>
              </a:ext>
            </a:extLst>
          </p:cNvPr>
          <p:cNvSpPr/>
          <p:nvPr/>
        </p:nvSpPr>
        <p:spPr>
          <a:xfrm>
            <a:off x="1933797" y="3657600"/>
            <a:ext cx="2725874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numbers[2] = 18;</a:t>
            </a:r>
            <a:endParaRPr lang="en-IE" sz="28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294C33-B37D-4AD0-8F43-3767EAC60CE5}"/>
              </a:ext>
            </a:extLst>
          </p:cNvPr>
          <p:cNvSpPr/>
          <p:nvPr/>
        </p:nvSpPr>
        <p:spPr>
          <a:xfrm>
            <a:off x="1676401" y="2667000"/>
            <a:ext cx="3411511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numbers = new </a:t>
            </a:r>
            <a:r>
              <a:rPr lang="en-GB" sz="28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[4];</a:t>
            </a:r>
            <a:endParaRPr lang="en-IE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553B81F-ABB3-4085-B8E6-93B2CCABBBDA}"/>
              </a:ext>
            </a:extLst>
          </p:cNvPr>
          <p:cNvSpPr/>
          <p:nvPr/>
        </p:nvSpPr>
        <p:spPr>
          <a:xfrm>
            <a:off x="1981200" y="4495800"/>
            <a:ext cx="2921794" cy="1981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400" dirty="0"/>
              <a:t>We are directly accessing the element at index </a:t>
            </a:r>
            <a:r>
              <a:rPr lang="en-IE" sz="2400" b="1" dirty="0"/>
              <a:t>2</a:t>
            </a:r>
            <a:r>
              <a:rPr lang="en-IE" sz="2400" dirty="0"/>
              <a:t> and setting it to a value of </a:t>
            </a:r>
            <a:r>
              <a:rPr lang="en-IE" sz="2400" b="1" dirty="0"/>
              <a:t>18</a:t>
            </a:r>
            <a:r>
              <a:rPr lang="en-IE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28877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an </a:t>
            </a:r>
            <a:r>
              <a:rPr lang="en-IE" b="1" dirty="0">
                <a:solidFill>
                  <a:srgbClr val="FF0000"/>
                </a:solidFill>
              </a:rPr>
              <a:t>int</a:t>
            </a:r>
            <a:r>
              <a:rPr lang="en-IE" dirty="0"/>
              <a:t> 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2057400" y="1713934"/>
            <a:ext cx="2345642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[]  numbers;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numbers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ECF9212-2D61-43FF-9314-EB99500863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221398"/>
              </p:ext>
            </p:extLst>
          </p:nvPr>
        </p:nvGraphicFramePr>
        <p:xfrm>
          <a:off x="7086601" y="3733800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0691DA-9F50-43E8-A565-BD56F9D71203}"/>
              </a:ext>
            </a:extLst>
          </p:cNvPr>
          <p:cNvCxnSpPr>
            <a:endCxn id="9" idx="0"/>
          </p:cNvCxnSpPr>
          <p:nvPr/>
        </p:nvCxnSpPr>
        <p:spPr>
          <a:xfrm>
            <a:off x="7006066" y="2543106"/>
            <a:ext cx="1185434" cy="11906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7F374B64-6BC7-42EC-8C09-493550023041}"/>
              </a:ext>
            </a:extLst>
          </p:cNvPr>
          <p:cNvSpPr/>
          <p:nvPr/>
        </p:nvSpPr>
        <p:spPr>
          <a:xfrm>
            <a:off x="1905000" y="4658380"/>
            <a:ext cx="2725874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numbers[0] = 12;</a:t>
            </a:r>
            <a:endParaRPr lang="en-IE" sz="28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F5FC9E-82FB-4509-9783-9F3D9B5246D3}"/>
              </a:ext>
            </a:extLst>
          </p:cNvPr>
          <p:cNvSpPr/>
          <p:nvPr/>
        </p:nvSpPr>
        <p:spPr>
          <a:xfrm>
            <a:off x="1676401" y="2667000"/>
            <a:ext cx="3411511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numbers = new </a:t>
            </a:r>
            <a:r>
              <a:rPr lang="en-GB" sz="28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[4];</a:t>
            </a:r>
            <a:endParaRPr lang="en-IE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084A7C-13AA-4193-880D-38973F9A4D1B}"/>
              </a:ext>
            </a:extLst>
          </p:cNvPr>
          <p:cNvSpPr/>
          <p:nvPr/>
        </p:nvSpPr>
        <p:spPr>
          <a:xfrm>
            <a:off x="1933798" y="3657600"/>
            <a:ext cx="2685607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numbers[2] = 18;</a:t>
            </a:r>
            <a:endParaRPr lang="en-IE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6E40A51-34F3-463B-A7BD-15C06077E7A1}"/>
              </a:ext>
            </a:extLst>
          </p:cNvPr>
          <p:cNvSpPr/>
          <p:nvPr/>
        </p:nvSpPr>
        <p:spPr>
          <a:xfrm>
            <a:off x="8153400" y="3733800"/>
            <a:ext cx="723900" cy="523806"/>
          </a:xfrm>
          <a:prstGeom prst="ellipse">
            <a:avLst/>
          </a:prstGeom>
          <a:noFill/>
          <a:ln w="762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87FEE5B-B7DB-4364-8031-BB5CD89E9089}"/>
              </a:ext>
            </a:extLst>
          </p:cNvPr>
          <p:cNvSpPr/>
          <p:nvPr/>
        </p:nvSpPr>
        <p:spPr>
          <a:xfrm>
            <a:off x="1878806" y="5410200"/>
            <a:ext cx="2921794" cy="1143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400" dirty="0"/>
              <a:t>We are setting the element at index </a:t>
            </a:r>
            <a:r>
              <a:rPr lang="en-IE" sz="2400" b="1" dirty="0"/>
              <a:t>0</a:t>
            </a:r>
            <a:r>
              <a:rPr lang="en-IE" sz="2400" dirty="0"/>
              <a:t> to a value of </a:t>
            </a:r>
            <a:r>
              <a:rPr lang="en-IE" sz="2400" b="1" dirty="0"/>
              <a:t>12</a:t>
            </a:r>
            <a:r>
              <a:rPr lang="en-IE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9623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an </a:t>
            </a:r>
            <a:r>
              <a:rPr lang="en-IE" b="1" dirty="0">
                <a:solidFill>
                  <a:srgbClr val="FF0000"/>
                </a:solidFill>
              </a:rPr>
              <a:t>int</a:t>
            </a:r>
            <a:r>
              <a:rPr lang="en-IE" dirty="0"/>
              <a:t> 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2057400" y="1713934"/>
            <a:ext cx="2345642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[]  numbers;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numbers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ECF9212-2D61-43FF-9314-EB995008633C}"/>
              </a:ext>
            </a:extLst>
          </p:cNvPr>
          <p:cNvGraphicFramePr>
            <a:graphicFrameLocks noGrp="1"/>
          </p:cNvGraphicFramePr>
          <p:nvPr/>
        </p:nvGraphicFramePr>
        <p:xfrm>
          <a:off x="7086601" y="3733800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0691DA-9F50-43E8-A565-BD56F9D71203}"/>
              </a:ext>
            </a:extLst>
          </p:cNvPr>
          <p:cNvCxnSpPr>
            <a:endCxn id="9" idx="0"/>
          </p:cNvCxnSpPr>
          <p:nvPr/>
        </p:nvCxnSpPr>
        <p:spPr>
          <a:xfrm>
            <a:off x="7006066" y="2543106"/>
            <a:ext cx="1185434" cy="11906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7F374B64-6BC7-42EC-8C09-493550023041}"/>
              </a:ext>
            </a:extLst>
          </p:cNvPr>
          <p:cNvSpPr/>
          <p:nvPr/>
        </p:nvSpPr>
        <p:spPr>
          <a:xfrm>
            <a:off x="1905001" y="4658380"/>
            <a:ext cx="2685607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numbers[0] = 12;</a:t>
            </a:r>
            <a:endParaRPr lang="en-IE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F5FC9E-82FB-4509-9783-9F3D9B5246D3}"/>
              </a:ext>
            </a:extLst>
          </p:cNvPr>
          <p:cNvSpPr/>
          <p:nvPr/>
        </p:nvSpPr>
        <p:spPr>
          <a:xfrm>
            <a:off x="1676401" y="2667000"/>
            <a:ext cx="3411511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numbers = new </a:t>
            </a:r>
            <a:r>
              <a:rPr lang="en-GB" sz="28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[4];</a:t>
            </a:r>
            <a:endParaRPr lang="en-IE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084A7C-13AA-4193-880D-38973F9A4D1B}"/>
              </a:ext>
            </a:extLst>
          </p:cNvPr>
          <p:cNvSpPr/>
          <p:nvPr/>
        </p:nvSpPr>
        <p:spPr>
          <a:xfrm>
            <a:off x="1933798" y="3657600"/>
            <a:ext cx="2685607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numbers[2] = 18;</a:t>
            </a:r>
            <a:endParaRPr lang="en-IE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87FEE5B-B7DB-4364-8031-BB5CD89E9089}"/>
              </a:ext>
            </a:extLst>
          </p:cNvPr>
          <p:cNvSpPr/>
          <p:nvPr/>
        </p:nvSpPr>
        <p:spPr>
          <a:xfrm>
            <a:off x="5503695" y="5638869"/>
            <a:ext cx="4859505" cy="1143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400" dirty="0"/>
              <a:t>Here we are printing the contents of index location 2 </a:t>
            </a:r>
            <a:br>
              <a:rPr lang="en-IE" sz="2400" dirty="0"/>
            </a:br>
            <a:r>
              <a:rPr lang="en-IE" sz="2400" dirty="0"/>
              <a:t>i.e. 18 will be printed to the console.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A44A42-7850-424F-8580-12BEFA62B01D}"/>
              </a:ext>
            </a:extLst>
          </p:cNvPr>
          <p:cNvSpPr/>
          <p:nvPr/>
        </p:nvSpPr>
        <p:spPr>
          <a:xfrm>
            <a:off x="1828062" y="5682972"/>
            <a:ext cx="2964594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print(numbers[2]);</a:t>
            </a:r>
            <a:endParaRPr lang="en-IE" sz="2800" b="1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5DF7F76-128F-4003-87B4-11F6C4CEE431}"/>
              </a:ext>
            </a:extLst>
          </p:cNvPr>
          <p:cNvSpPr/>
          <p:nvPr/>
        </p:nvSpPr>
        <p:spPr>
          <a:xfrm>
            <a:off x="6781800" y="4597365"/>
            <a:ext cx="2971800" cy="523806"/>
          </a:xfrm>
          <a:prstGeom prst="ellipse">
            <a:avLst/>
          </a:prstGeom>
          <a:noFill/>
          <a:ln w="762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77511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F2EFD-A820-381C-0CA8-7645E85AE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DA616-D2A2-5805-0197-64D9BD24B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0EEC30-8C09-CBA4-12A2-EEEE445B2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E" dirty="0"/>
              <a:t>1.  </a:t>
            </a:r>
            <a:r>
              <a:rPr lang="en-IE" sz="4000" dirty="0"/>
              <a:t>Arrays of different types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IE" sz="4000" dirty="0"/>
              <a:t>Arrays of primitive types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IE" sz="4000" dirty="0"/>
              <a:t>Arrays of objects</a:t>
            </a:r>
          </a:p>
          <a:p>
            <a:pPr marL="914400" lvl="1" indent="-514350"/>
            <a:r>
              <a:rPr lang="en-IE" sz="4000" dirty="0"/>
              <a:t>String</a:t>
            </a:r>
          </a:p>
          <a:p>
            <a:pPr marL="914400" lvl="1" indent="-514350"/>
            <a:r>
              <a:rPr lang="en-IE" sz="4000" dirty="0"/>
              <a:t>Person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828E23-FA13-B0C2-68DE-5FCC7AD2D33B}"/>
              </a:ext>
            </a:extLst>
          </p:cNvPr>
          <p:cNvSpPr/>
          <p:nvPr/>
        </p:nvSpPr>
        <p:spPr>
          <a:xfrm>
            <a:off x="599661" y="3162300"/>
            <a:ext cx="6172200" cy="5334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" name="Arrow: Right 1">
            <a:extLst>
              <a:ext uri="{FF2B5EF4-FFF2-40B4-BE49-F238E27FC236}">
                <a16:creationId xmlns:a16="http://schemas.microsoft.com/office/drawing/2014/main" id="{A20DB7A9-8799-91D3-F68C-6398877D8DB2}"/>
              </a:ext>
            </a:extLst>
          </p:cNvPr>
          <p:cNvSpPr/>
          <p:nvPr/>
        </p:nvSpPr>
        <p:spPr>
          <a:xfrm flipH="1">
            <a:off x="2971800" y="4038600"/>
            <a:ext cx="3984878" cy="38100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08125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5CDF64-02E3-55CC-5BFD-1223CED49EC9}"/>
              </a:ext>
            </a:extLst>
          </p:cNvPr>
          <p:cNvSpPr txBox="1"/>
          <p:nvPr/>
        </p:nvSpPr>
        <p:spPr>
          <a:xfrm>
            <a:off x="2079722" y="5361522"/>
            <a:ext cx="5220147" cy="1384995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String[] words = new String[4];</a:t>
            </a:r>
          </a:p>
          <a:p>
            <a:endParaRPr lang="en-US" sz="2800" dirty="0"/>
          </a:p>
          <a:p>
            <a:r>
              <a:rPr lang="en-US" sz="2800" dirty="0"/>
              <a:t>Person[] friends = new Person[4];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9489" y="685800"/>
            <a:ext cx="6248400" cy="57888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An array can store any type of data.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B14CF8-BDA0-46CC-A9A3-72FD88067618}"/>
              </a:ext>
            </a:extLst>
          </p:cNvPr>
          <p:cNvSpPr/>
          <p:nvPr/>
        </p:nvSpPr>
        <p:spPr>
          <a:xfrm>
            <a:off x="2085584" y="2057401"/>
            <a:ext cx="5423729" cy="2246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800" dirty="0" err="1"/>
              <a:t>int</a:t>
            </a:r>
            <a:r>
              <a:rPr lang="en-US" sz="2800" dirty="0"/>
              <a:t> numbers[] = new </a:t>
            </a:r>
            <a:r>
              <a:rPr lang="en-US" sz="2800" dirty="0" err="1"/>
              <a:t>int</a:t>
            </a:r>
            <a:r>
              <a:rPr lang="en-US" sz="2800" dirty="0"/>
              <a:t>[10];</a:t>
            </a:r>
          </a:p>
          <a:p>
            <a:endParaRPr lang="en-US" sz="2800" dirty="0"/>
          </a:p>
          <a:p>
            <a:r>
              <a:rPr lang="en-US" sz="2800" dirty="0"/>
              <a:t>byte </a:t>
            </a:r>
            <a:r>
              <a:rPr lang="en-US" sz="2800" dirty="0" err="1"/>
              <a:t>smallNumbers</a:t>
            </a:r>
            <a:r>
              <a:rPr lang="en-US" sz="2800" dirty="0"/>
              <a:t>[] = new byte[4];</a:t>
            </a:r>
          </a:p>
          <a:p>
            <a:endParaRPr lang="en-US" sz="2800" dirty="0"/>
          </a:p>
          <a:p>
            <a:r>
              <a:rPr lang="en-US" sz="2800" dirty="0"/>
              <a:t>char characters[] = new char[26];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73D87C-EBDD-45A7-943D-BC024FEAE26F}"/>
              </a:ext>
            </a:extLst>
          </p:cNvPr>
          <p:cNvSpPr/>
          <p:nvPr/>
        </p:nvSpPr>
        <p:spPr>
          <a:xfrm>
            <a:off x="1978047" y="1612106"/>
            <a:ext cx="2819400" cy="457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800" dirty="0"/>
              <a:t>Primitive Types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7D804F-0AD2-44D3-A1FF-C88BBC72567A}"/>
              </a:ext>
            </a:extLst>
          </p:cNvPr>
          <p:cNvSpPr/>
          <p:nvPr/>
        </p:nvSpPr>
        <p:spPr>
          <a:xfrm>
            <a:off x="1905000" y="4868287"/>
            <a:ext cx="2819400" cy="457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800" dirty="0"/>
              <a:t>Object Types</a:t>
            </a:r>
          </a:p>
        </p:txBody>
      </p:sp>
      <p:sp>
        <p:nvSpPr>
          <p:cNvPr id="7" name="Donut 6"/>
          <p:cNvSpPr/>
          <p:nvPr/>
        </p:nvSpPr>
        <p:spPr>
          <a:xfrm>
            <a:off x="1409700" y="4808875"/>
            <a:ext cx="3810000" cy="576024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Arrow: Right 1">
            <a:extLst>
              <a:ext uri="{FF2B5EF4-FFF2-40B4-BE49-F238E27FC236}">
                <a16:creationId xmlns:a16="http://schemas.microsoft.com/office/drawing/2014/main" id="{39E3F9F0-B711-48DB-80B2-30160FBEC1C1}"/>
              </a:ext>
            </a:extLst>
          </p:cNvPr>
          <p:cNvSpPr/>
          <p:nvPr/>
        </p:nvSpPr>
        <p:spPr>
          <a:xfrm flipH="1">
            <a:off x="6760930" y="5325488"/>
            <a:ext cx="1849671" cy="38100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14774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2" grpId="0" animBg="1"/>
      <p:bldP spid="14" grpId="0" animBg="1"/>
      <p:bldP spid="15" grpId="0" animBg="1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</a:t>
            </a:r>
            <a:r>
              <a:rPr lang="en-IE" b="1" dirty="0">
                <a:solidFill>
                  <a:srgbClr val="FF0000"/>
                </a:solidFill>
              </a:rPr>
              <a:t>String</a:t>
            </a:r>
            <a:r>
              <a:rPr lang="en-IE" dirty="0"/>
              <a:t> object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2057400" y="1713934"/>
            <a:ext cx="2471254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String[]  words;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words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A2803B-E7A2-4954-9E5C-37FD263AA316}"/>
              </a:ext>
            </a:extLst>
          </p:cNvPr>
          <p:cNvSpPr txBox="1"/>
          <p:nvPr/>
        </p:nvSpPr>
        <p:spPr>
          <a:xfrm>
            <a:off x="6739006" y="2358440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null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97377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</a:t>
            </a:r>
            <a:r>
              <a:rPr lang="en-IE" b="1" dirty="0">
                <a:solidFill>
                  <a:srgbClr val="FF0000"/>
                </a:solidFill>
              </a:rPr>
              <a:t>String</a:t>
            </a:r>
            <a:r>
              <a:rPr lang="en-IE" dirty="0"/>
              <a:t> object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2057400" y="1713934"/>
            <a:ext cx="2471254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>
                <a:solidFill>
                  <a:schemeClr val="bg1">
                    <a:lumMod val="65000"/>
                  </a:schemeClr>
                </a:solidFill>
              </a:rPr>
              <a:t>String[]  words;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words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5">
            <a:extLst>
              <a:ext uri="{FF2B5EF4-FFF2-40B4-BE49-F238E27FC236}">
                <a16:creationId xmlns:a16="http://schemas.microsoft.com/office/drawing/2014/main" id="{EE58AEEF-1D90-435B-8AAA-3C77AE95E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1B024A7-891F-471A-AE86-7C9072B48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9506783"/>
              </p:ext>
            </p:extLst>
          </p:nvPr>
        </p:nvGraphicFramePr>
        <p:xfrm>
          <a:off x="5715001" y="3457575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91AE63D-0C46-41DC-9511-3C84E8262E47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6819900" y="2569093"/>
            <a:ext cx="190500" cy="8884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DA222CAC-4172-4D78-BE9B-A6AEA8BD9431}"/>
              </a:ext>
            </a:extLst>
          </p:cNvPr>
          <p:cNvSpPr/>
          <p:nvPr/>
        </p:nvSpPr>
        <p:spPr>
          <a:xfrm>
            <a:off x="1600200" y="2667000"/>
            <a:ext cx="3554756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words = new String[4];</a:t>
            </a:r>
            <a:endParaRPr lang="en-IE" sz="2800" b="1" dirty="0"/>
          </a:p>
        </p:txBody>
      </p:sp>
    </p:spTree>
    <p:extLst>
      <p:ext uri="{BB962C8B-B14F-4D97-AF65-F5344CB8AC3E}">
        <p14:creationId xmlns:p14="http://schemas.microsoft.com/office/powerpoint/2010/main" val="735103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</a:t>
            </a:r>
            <a:r>
              <a:rPr lang="en-IE" b="1" dirty="0">
                <a:solidFill>
                  <a:srgbClr val="FF0000"/>
                </a:solidFill>
              </a:rPr>
              <a:t>String </a:t>
            </a:r>
            <a:r>
              <a:rPr lang="en-IE" dirty="0"/>
              <a:t>object array</a:t>
            </a:r>
            <a:endParaRPr lang="en-GB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3BAC8DC-59DC-4BD5-9310-47CFC5E3D4C8}"/>
              </a:ext>
            </a:extLst>
          </p:cNvPr>
          <p:cNvSpPr/>
          <p:nvPr/>
        </p:nvSpPr>
        <p:spPr>
          <a:xfrm>
            <a:off x="1933798" y="3657600"/>
            <a:ext cx="2871427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words[1] = “Dog”;</a:t>
            </a:r>
            <a:endParaRPr lang="en-IE" sz="2800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862D96-5059-43C3-948F-21CCA36CCEBD}"/>
              </a:ext>
            </a:extLst>
          </p:cNvPr>
          <p:cNvSpPr/>
          <p:nvPr/>
        </p:nvSpPr>
        <p:spPr>
          <a:xfrm>
            <a:off x="2057400" y="1713934"/>
            <a:ext cx="2471254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>
                <a:solidFill>
                  <a:schemeClr val="bg1">
                    <a:lumMod val="65000"/>
                  </a:schemeClr>
                </a:solidFill>
              </a:rPr>
              <a:t>String[]  words;</a:t>
            </a:r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C1E1BB62-6F06-4D35-94B2-E3776B86E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0" name="Text Box 11">
            <a:extLst>
              <a:ext uri="{FF2B5EF4-FFF2-40B4-BE49-F238E27FC236}">
                <a16:creationId xmlns:a16="http://schemas.microsoft.com/office/drawing/2014/main" id="{B8E0D2B7-B388-4F97-894F-975AC9CDE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words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4F3F4E2-B98E-4824-8898-2FE413B78E7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 5">
            <a:extLst>
              <a:ext uri="{FF2B5EF4-FFF2-40B4-BE49-F238E27FC236}">
                <a16:creationId xmlns:a16="http://schemas.microsoft.com/office/drawing/2014/main" id="{2E9FE0F6-E9CF-4620-A351-A31E333BC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6DB9F77-CB76-41CE-B64F-0C424EFD3881}"/>
              </a:ext>
            </a:extLst>
          </p:cNvPr>
          <p:cNvSpPr/>
          <p:nvPr/>
        </p:nvSpPr>
        <p:spPr>
          <a:xfrm>
            <a:off x="1600200" y="2667000"/>
            <a:ext cx="3554756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>
                <a:solidFill>
                  <a:schemeClr val="bg1">
                    <a:lumMod val="65000"/>
                  </a:schemeClr>
                </a:solidFill>
              </a:rPr>
              <a:t>words = new String[4];</a:t>
            </a:r>
            <a:endParaRPr lang="en-IE" sz="2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B50EC56E-09B6-4B94-82C5-4E05BD633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29103"/>
              </p:ext>
            </p:extLst>
          </p:nvPr>
        </p:nvGraphicFramePr>
        <p:xfrm>
          <a:off x="5715001" y="3457575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C7D23A6-939D-476A-9929-8DA1544254D2}"/>
              </a:ext>
            </a:extLst>
          </p:cNvPr>
          <p:cNvCxnSpPr>
            <a:cxnSpLocks/>
            <a:endCxn id="26" idx="0"/>
          </p:cNvCxnSpPr>
          <p:nvPr/>
        </p:nvCxnSpPr>
        <p:spPr>
          <a:xfrm flipH="1">
            <a:off x="6819900" y="2569093"/>
            <a:ext cx="190500" cy="8884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1538433-DE46-4B77-A1A6-AA9740438E22}"/>
              </a:ext>
            </a:extLst>
          </p:cNvPr>
          <p:cNvSpPr/>
          <p:nvPr/>
        </p:nvSpPr>
        <p:spPr>
          <a:xfrm>
            <a:off x="8997554" y="3983435"/>
            <a:ext cx="1232297" cy="77708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400" dirty="0"/>
              <a:t>“Dog”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9F8EFA1-488F-45ED-B6B9-4CF5D585D002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7162801" y="4114801"/>
            <a:ext cx="1834753" cy="2571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40501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</a:t>
            </a:r>
            <a:r>
              <a:rPr lang="en-IE" b="1" dirty="0">
                <a:solidFill>
                  <a:srgbClr val="FF0000"/>
                </a:solidFill>
              </a:rPr>
              <a:t>String </a:t>
            </a:r>
            <a:r>
              <a:rPr lang="en-IE" dirty="0"/>
              <a:t>object array</a:t>
            </a:r>
            <a:endParaRPr lang="en-GB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3BAC8DC-59DC-4BD5-9310-47CFC5E3D4C8}"/>
              </a:ext>
            </a:extLst>
          </p:cNvPr>
          <p:cNvSpPr/>
          <p:nvPr/>
        </p:nvSpPr>
        <p:spPr>
          <a:xfrm>
            <a:off x="1933798" y="3657600"/>
            <a:ext cx="2871427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words[1] = “Dog”;</a:t>
            </a:r>
            <a:endParaRPr lang="en-IE" sz="2800" b="1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553B81F-ABB3-4085-B8E6-93B2CCABBBDA}"/>
              </a:ext>
            </a:extLst>
          </p:cNvPr>
          <p:cNvSpPr/>
          <p:nvPr/>
        </p:nvSpPr>
        <p:spPr>
          <a:xfrm>
            <a:off x="1981200" y="4495800"/>
            <a:ext cx="2921794" cy="1981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400" dirty="0"/>
              <a:t>We are directly accessing the element at index </a:t>
            </a:r>
            <a:r>
              <a:rPr lang="en-IE" sz="2400" b="1" dirty="0"/>
              <a:t>1</a:t>
            </a:r>
            <a:r>
              <a:rPr lang="en-IE" sz="2400" dirty="0"/>
              <a:t> and setting it to a value of </a:t>
            </a:r>
            <a:r>
              <a:rPr lang="en-IE" sz="2400" b="1" dirty="0"/>
              <a:t>“Dog”</a:t>
            </a:r>
            <a:r>
              <a:rPr lang="en-IE" sz="2400" dirty="0"/>
              <a:t>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862D96-5059-43C3-948F-21CCA36CCEBD}"/>
              </a:ext>
            </a:extLst>
          </p:cNvPr>
          <p:cNvSpPr/>
          <p:nvPr/>
        </p:nvSpPr>
        <p:spPr>
          <a:xfrm>
            <a:off x="2057400" y="1713934"/>
            <a:ext cx="2471254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>
                <a:solidFill>
                  <a:schemeClr val="bg1">
                    <a:lumMod val="65000"/>
                  </a:schemeClr>
                </a:solidFill>
              </a:rPr>
              <a:t>String[]  words;</a:t>
            </a:r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C1E1BB62-6F06-4D35-94B2-E3776B86E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0" name="Text Box 11">
            <a:extLst>
              <a:ext uri="{FF2B5EF4-FFF2-40B4-BE49-F238E27FC236}">
                <a16:creationId xmlns:a16="http://schemas.microsoft.com/office/drawing/2014/main" id="{B8E0D2B7-B388-4F97-894F-975AC9CDE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words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4F3F4E2-B98E-4824-8898-2FE413B78E7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 5">
            <a:extLst>
              <a:ext uri="{FF2B5EF4-FFF2-40B4-BE49-F238E27FC236}">
                <a16:creationId xmlns:a16="http://schemas.microsoft.com/office/drawing/2014/main" id="{2E9FE0F6-E9CF-4620-A351-A31E333BC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6DB9F77-CB76-41CE-B64F-0C424EFD3881}"/>
              </a:ext>
            </a:extLst>
          </p:cNvPr>
          <p:cNvSpPr/>
          <p:nvPr/>
        </p:nvSpPr>
        <p:spPr>
          <a:xfrm>
            <a:off x="1600200" y="2667000"/>
            <a:ext cx="3554756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>
                <a:solidFill>
                  <a:schemeClr val="bg1">
                    <a:lumMod val="65000"/>
                  </a:schemeClr>
                </a:solidFill>
              </a:rPr>
              <a:t>words = new String[4];</a:t>
            </a:r>
            <a:endParaRPr lang="en-IE" sz="2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B50EC56E-09B6-4B94-82C5-4E05BD63335D}"/>
              </a:ext>
            </a:extLst>
          </p:cNvPr>
          <p:cNvGraphicFramePr>
            <a:graphicFrameLocks noGrp="1"/>
          </p:cNvGraphicFramePr>
          <p:nvPr/>
        </p:nvGraphicFramePr>
        <p:xfrm>
          <a:off x="5715001" y="3457575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C7D23A6-939D-476A-9929-8DA1544254D2}"/>
              </a:ext>
            </a:extLst>
          </p:cNvPr>
          <p:cNvCxnSpPr>
            <a:cxnSpLocks/>
            <a:endCxn id="26" idx="0"/>
          </p:cNvCxnSpPr>
          <p:nvPr/>
        </p:nvCxnSpPr>
        <p:spPr>
          <a:xfrm flipH="1">
            <a:off x="6819900" y="2569093"/>
            <a:ext cx="190500" cy="8884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1538433-DE46-4B77-A1A6-AA9740438E22}"/>
              </a:ext>
            </a:extLst>
          </p:cNvPr>
          <p:cNvSpPr/>
          <p:nvPr/>
        </p:nvSpPr>
        <p:spPr>
          <a:xfrm>
            <a:off x="8997554" y="3983435"/>
            <a:ext cx="1232297" cy="77708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400" dirty="0"/>
              <a:t>“Dog”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9F8EFA1-488F-45ED-B6B9-4CF5D585D002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7162801" y="4114801"/>
            <a:ext cx="1834753" cy="2571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9377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</a:t>
            </a:r>
            <a:r>
              <a:rPr lang="en-IE" b="1" dirty="0">
                <a:solidFill>
                  <a:srgbClr val="FF0000"/>
                </a:solidFill>
              </a:rPr>
              <a:t>String </a:t>
            </a:r>
            <a:r>
              <a:rPr lang="en-IE" dirty="0"/>
              <a:t>object array</a:t>
            </a:r>
            <a:endParaRPr lang="en-GB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3BAC8DC-59DC-4BD5-9310-47CFC5E3D4C8}"/>
              </a:ext>
            </a:extLst>
          </p:cNvPr>
          <p:cNvSpPr/>
          <p:nvPr/>
        </p:nvSpPr>
        <p:spPr>
          <a:xfrm>
            <a:off x="1933798" y="3657600"/>
            <a:ext cx="2871427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>
                <a:solidFill>
                  <a:schemeClr val="bg1">
                    <a:lumMod val="65000"/>
                  </a:schemeClr>
                </a:solidFill>
              </a:rPr>
              <a:t>words[1] = “Dog”;</a:t>
            </a:r>
            <a:endParaRPr lang="en-IE" sz="2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862D96-5059-43C3-948F-21CCA36CCEBD}"/>
              </a:ext>
            </a:extLst>
          </p:cNvPr>
          <p:cNvSpPr/>
          <p:nvPr/>
        </p:nvSpPr>
        <p:spPr>
          <a:xfrm>
            <a:off x="2057400" y="1713934"/>
            <a:ext cx="2471254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>
                <a:solidFill>
                  <a:schemeClr val="bg1">
                    <a:lumMod val="65000"/>
                  </a:schemeClr>
                </a:solidFill>
              </a:rPr>
              <a:t>String[]  words;</a:t>
            </a:r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C1E1BB62-6F06-4D35-94B2-E3776B86E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0" name="Text Box 11">
            <a:extLst>
              <a:ext uri="{FF2B5EF4-FFF2-40B4-BE49-F238E27FC236}">
                <a16:creationId xmlns:a16="http://schemas.microsoft.com/office/drawing/2014/main" id="{B8E0D2B7-B388-4F97-894F-975AC9CDE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words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4F3F4E2-B98E-4824-8898-2FE413B78E7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 5">
            <a:extLst>
              <a:ext uri="{FF2B5EF4-FFF2-40B4-BE49-F238E27FC236}">
                <a16:creationId xmlns:a16="http://schemas.microsoft.com/office/drawing/2014/main" id="{2E9FE0F6-E9CF-4620-A351-A31E333BC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6DB9F77-CB76-41CE-B64F-0C424EFD3881}"/>
              </a:ext>
            </a:extLst>
          </p:cNvPr>
          <p:cNvSpPr/>
          <p:nvPr/>
        </p:nvSpPr>
        <p:spPr>
          <a:xfrm>
            <a:off x="1600200" y="2667000"/>
            <a:ext cx="3554756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>
                <a:solidFill>
                  <a:schemeClr val="bg1">
                    <a:lumMod val="65000"/>
                  </a:schemeClr>
                </a:solidFill>
              </a:rPr>
              <a:t>words = new String[4];</a:t>
            </a:r>
            <a:endParaRPr lang="en-IE" sz="2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B50EC56E-09B6-4B94-82C5-4E05BD633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9373832"/>
              </p:ext>
            </p:extLst>
          </p:nvPr>
        </p:nvGraphicFramePr>
        <p:xfrm>
          <a:off x="5715001" y="3457575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C7D23A6-939D-476A-9929-8DA1544254D2}"/>
              </a:ext>
            </a:extLst>
          </p:cNvPr>
          <p:cNvCxnSpPr>
            <a:cxnSpLocks/>
            <a:endCxn id="26" idx="0"/>
          </p:cNvCxnSpPr>
          <p:nvPr/>
        </p:nvCxnSpPr>
        <p:spPr>
          <a:xfrm flipH="1">
            <a:off x="6819900" y="2569093"/>
            <a:ext cx="190500" cy="8884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1538433-DE46-4B77-A1A6-AA9740438E22}"/>
              </a:ext>
            </a:extLst>
          </p:cNvPr>
          <p:cNvSpPr/>
          <p:nvPr/>
        </p:nvSpPr>
        <p:spPr>
          <a:xfrm>
            <a:off x="8997554" y="3983435"/>
            <a:ext cx="1232297" cy="77708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400" dirty="0"/>
              <a:t>“Dog”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9F8EFA1-488F-45ED-B6B9-4CF5D585D002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7162801" y="4114801"/>
            <a:ext cx="1834753" cy="2571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55855738-CB5F-4BE9-A931-A6FAFD6C3095}"/>
              </a:ext>
            </a:extLst>
          </p:cNvPr>
          <p:cNvSpPr/>
          <p:nvPr/>
        </p:nvSpPr>
        <p:spPr>
          <a:xfrm>
            <a:off x="1943323" y="4498905"/>
            <a:ext cx="2770887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words[3] = “Cat”;</a:t>
            </a:r>
            <a:endParaRPr lang="en-IE" sz="2800" b="1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937ED7B-87B8-477D-A072-D77A87AB3940}"/>
              </a:ext>
            </a:extLst>
          </p:cNvPr>
          <p:cNvSpPr/>
          <p:nvPr/>
        </p:nvSpPr>
        <p:spPr>
          <a:xfrm>
            <a:off x="8997554" y="4953001"/>
            <a:ext cx="1232297" cy="77708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400" dirty="0"/>
              <a:t>“Cat”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2D1BFE1-5776-4AD4-91A3-C7811BBE3DDD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7162801" y="5084367"/>
            <a:ext cx="1834753" cy="2571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22234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</a:t>
            </a:r>
            <a:r>
              <a:rPr lang="en-IE" b="1" dirty="0">
                <a:solidFill>
                  <a:srgbClr val="FF0000"/>
                </a:solidFill>
              </a:rPr>
              <a:t>String </a:t>
            </a:r>
            <a:r>
              <a:rPr lang="en-IE" dirty="0"/>
              <a:t>object array</a:t>
            </a:r>
            <a:endParaRPr lang="en-GB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3BAC8DC-59DC-4BD5-9310-47CFC5E3D4C8}"/>
              </a:ext>
            </a:extLst>
          </p:cNvPr>
          <p:cNvSpPr/>
          <p:nvPr/>
        </p:nvSpPr>
        <p:spPr>
          <a:xfrm>
            <a:off x="1933798" y="3657600"/>
            <a:ext cx="2871427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>
                <a:solidFill>
                  <a:schemeClr val="bg1">
                    <a:lumMod val="65000"/>
                  </a:schemeClr>
                </a:solidFill>
              </a:rPr>
              <a:t>words[1] = “Dog”;</a:t>
            </a:r>
            <a:endParaRPr lang="en-IE" sz="2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553B81F-ABB3-4085-B8E6-93B2CCABBBDA}"/>
              </a:ext>
            </a:extLst>
          </p:cNvPr>
          <p:cNvSpPr/>
          <p:nvPr/>
        </p:nvSpPr>
        <p:spPr>
          <a:xfrm>
            <a:off x="1981200" y="5410200"/>
            <a:ext cx="2921794" cy="10668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400" dirty="0"/>
              <a:t>The element at index </a:t>
            </a:r>
            <a:r>
              <a:rPr lang="en-IE" sz="2400" b="1" dirty="0"/>
              <a:t>3 </a:t>
            </a:r>
            <a:r>
              <a:rPr lang="en-IE" sz="2400" dirty="0"/>
              <a:t>is set to </a:t>
            </a:r>
            <a:r>
              <a:rPr lang="en-IE" sz="2400" b="1" dirty="0"/>
              <a:t>“Cat”</a:t>
            </a:r>
            <a:r>
              <a:rPr lang="en-IE" sz="2400" dirty="0"/>
              <a:t>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862D96-5059-43C3-948F-21CCA36CCEBD}"/>
              </a:ext>
            </a:extLst>
          </p:cNvPr>
          <p:cNvSpPr/>
          <p:nvPr/>
        </p:nvSpPr>
        <p:spPr>
          <a:xfrm>
            <a:off x="2057400" y="1713934"/>
            <a:ext cx="2471254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>
                <a:solidFill>
                  <a:schemeClr val="bg1">
                    <a:lumMod val="65000"/>
                  </a:schemeClr>
                </a:solidFill>
              </a:rPr>
              <a:t>String[]  words;</a:t>
            </a:r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C1E1BB62-6F06-4D35-94B2-E3776B86E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0" name="Text Box 11">
            <a:extLst>
              <a:ext uri="{FF2B5EF4-FFF2-40B4-BE49-F238E27FC236}">
                <a16:creationId xmlns:a16="http://schemas.microsoft.com/office/drawing/2014/main" id="{B8E0D2B7-B388-4F97-894F-975AC9CDE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words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4F3F4E2-B98E-4824-8898-2FE413B78E7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 5">
            <a:extLst>
              <a:ext uri="{FF2B5EF4-FFF2-40B4-BE49-F238E27FC236}">
                <a16:creationId xmlns:a16="http://schemas.microsoft.com/office/drawing/2014/main" id="{2E9FE0F6-E9CF-4620-A351-A31E333BC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6DB9F77-CB76-41CE-B64F-0C424EFD3881}"/>
              </a:ext>
            </a:extLst>
          </p:cNvPr>
          <p:cNvSpPr/>
          <p:nvPr/>
        </p:nvSpPr>
        <p:spPr>
          <a:xfrm>
            <a:off x="1600200" y="2667000"/>
            <a:ext cx="3554756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>
                <a:solidFill>
                  <a:schemeClr val="bg1">
                    <a:lumMod val="65000"/>
                  </a:schemeClr>
                </a:solidFill>
              </a:rPr>
              <a:t>words = new String[4];</a:t>
            </a:r>
            <a:endParaRPr lang="en-IE" sz="2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B50EC56E-09B6-4B94-82C5-4E05BD63335D}"/>
              </a:ext>
            </a:extLst>
          </p:cNvPr>
          <p:cNvGraphicFramePr>
            <a:graphicFrameLocks noGrp="1"/>
          </p:cNvGraphicFramePr>
          <p:nvPr/>
        </p:nvGraphicFramePr>
        <p:xfrm>
          <a:off x="5715001" y="3457575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C7D23A6-939D-476A-9929-8DA1544254D2}"/>
              </a:ext>
            </a:extLst>
          </p:cNvPr>
          <p:cNvCxnSpPr>
            <a:cxnSpLocks/>
            <a:endCxn id="26" idx="0"/>
          </p:cNvCxnSpPr>
          <p:nvPr/>
        </p:nvCxnSpPr>
        <p:spPr>
          <a:xfrm flipH="1">
            <a:off x="6819900" y="2569093"/>
            <a:ext cx="190500" cy="8884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1538433-DE46-4B77-A1A6-AA9740438E22}"/>
              </a:ext>
            </a:extLst>
          </p:cNvPr>
          <p:cNvSpPr/>
          <p:nvPr/>
        </p:nvSpPr>
        <p:spPr>
          <a:xfrm>
            <a:off x="8997554" y="3983435"/>
            <a:ext cx="1232297" cy="77708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400" dirty="0"/>
              <a:t>“Dog”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9F8EFA1-488F-45ED-B6B9-4CF5D585D002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7162801" y="4114801"/>
            <a:ext cx="1834753" cy="2571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55855738-CB5F-4BE9-A931-A6FAFD6C3095}"/>
              </a:ext>
            </a:extLst>
          </p:cNvPr>
          <p:cNvSpPr/>
          <p:nvPr/>
        </p:nvSpPr>
        <p:spPr>
          <a:xfrm>
            <a:off x="1943323" y="4498905"/>
            <a:ext cx="2770887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words[3] = “Cat”;</a:t>
            </a:r>
            <a:endParaRPr lang="en-IE" sz="2800" b="1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937ED7B-87B8-477D-A072-D77A87AB3940}"/>
              </a:ext>
            </a:extLst>
          </p:cNvPr>
          <p:cNvSpPr/>
          <p:nvPr/>
        </p:nvSpPr>
        <p:spPr>
          <a:xfrm>
            <a:off x="8997554" y="4953001"/>
            <a:ext cx="1232297" cy="77708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400" dirty="0"/>
              <a:t>“Cat”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2D1BFE1-5776-4AD4-91A3-C7811BBE3DDD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7162801" y="5084367"/>
            <a:ext cx="1834753" cy="2571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83763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BC73A-96E2-4D45-94FF-93801CF96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</a:t>
            </a:r>
            <a:r>
              <a:rPr lang="en-IE" b="1" dirty="0">
                <a:solidFill>
                  <a:srgbClr val="FF0000"/>
                </a:solidFill>
              </a:rPr>
              <a:t>String </a:t>
            </a:r>
            <a:r>
              <a:rPr lang="en-IE" dirty="0"/>
              <a:t>object array</a:t>
            </a:r>
            <a:endParaRPr lang="en-IE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FC6EEC-0018-44F9-94E2-EC04875A3D13}"/>
              </a:ext>
            </a:extLst>
          </p:cNvPr>
          <p:cNvSpPr/>
          <p:nvPr/>
        </p:nvSpPr>
        <p:spPr>
          <a:xfrm>
            <a:off x="1962150" y="1905000"/>
            <a:ext cx="4572000" cy="415498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IE" sz="2400" dirty="0"/>
              <a:t>String words[];</a:t>
            </a:r>
          </a:p>
          <a:p>
            <a:endParaRPr lang="en-IE" sz="2400" dirty="0"/>
          </a:p>
          <a:p>
            <a:r>
              <a:rPr lang="en-IE" sz="2400" dirty="0"/>
              <a:t>words = new String[4];</a:t>
            </a:r>
          </a:p>
          <a:p>
            <a:endParaRPr lang="en-IE" sz="2400" dirty="0"/>
          </a:p>
          <a:p>
            <a:r>
              <a:rPr lang="en-IE" sz="2400" dirty="0"/>
              <a:t>words[1] = "Dog";</a:t>
            </a:r>
          </a:p>
          <a:p>
            <a:r>
              <a:rPr lang="en-IE" sz="2400" dirty="0"/>
              <a:t>words[3] = "Cat";</a:t>
            </a:r>
          </a:p>
          <a:p>
            <a:endParaRPr lang="en-IE" sz="2400" dirty="0"/>
          </a:p>
          <a:p>
            <a:r>
              <a:rPr lang="en-IE" sz="2400" dirty="0"/>
              <a:t>for (int </a:t>
            </a:r>
            <a:r>
              <a:rPr lang="en-IE" sz="2400" dirty="0" err="1"/>
              <a:t>i</a:t>
            </a:r>
            <a:r>
              <a:rPr lang="en-IE" sz="2400" dirty="0"/>
              <a:t>=0; </a:t>
            </a:r>
            <a:r>
              <a:rPr lang="en-IE" sz="2400" dirty="0" err="1"/>
              <a:t>i</a:t>
            </a:r>
            <a:r>
              <a:rPr lang="en-IE" sz="2400" dirty="0"/>
              <a:t> &lt; </a:t>
            </a:r>
            <a:r>
              <a:rPr lang="en-IE" sz="2400" dirty="0" err="1"/>
              <a:t>words.length</a:t>
            </a:r>
            <a:r>
              <a:rPr lang="en-IE" sz="2400" dirty="0"/>
              <a:t>; </a:t>
            </a:r>
            <a:r>
              <a:rPr lang="en-IE" sz="2400" dirty="0" err="1"/>
              <a:t>i</a:t>
            </a:r>
            <a:r>
              <a:rPr lang="en-IE" sz="2400" dirty="0"/>
              <a:t>++)</a:t>
            </a:r>
          </a:p>
          <a:p>
            <a:r>
              <a:rPr lang="en-IE" sz="2400" dirty="0"/>
              <a:t>{</a:t>
            </a:r>
          </a:p>
          <a:p>
            <a:r>
              <a:rPr lang="en-IE" sz="2400" dirty="0"/>
              <a:t>    </a:t>
            </a:r>
            <a:r>
              <a:rPr lang="en-IE" sz="2400" dirty="0" err="1"/>
              <a:t>System.out.println</a:t>
            </a:r>
            <a:r>
              <a:rPr lang="en-IE" sz="2400" dirty="0"/>
              <a:t>(words[</a:t>
            </a:r>
            <a:r>
              <a:rPr lang="en-IE" sz="2400" dirty="0" err="1"/>
              <a:t>i</a:t>
            </a:r>
            <a:r>
              <a:rPr lang="en-IE" sz="2400" dirty="0"/>
              <a:t>]);</a:t>
            </a:r>
          </a:p>
          <a:p>
            <a:r>
              <a:rPr lang="en-IE" sz="2400" dirty="0"/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AF522C-324C-4244-BC08-38B2D6434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2743201"/>
            <a:ext cx="1600200" cy="2163233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306F276C-9020-447B-8C45-23F4BE50216C}"/>
              </a:ext>
            </a:extLst>
          </p:cNvPr>
          <p:cNvSpPr/>
          <p:nvPr/>
        </p:nvSpPr>
        <p:spPr>
          <a:xfrm>
            <a:off x="6781800" y="3429000"/>
            <a:ext cx="1447800" cy="990600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795753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8D121-02B7-10E5-CBFB-465B44BF4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E9E5F-C1C3-C1BC-5F2B-787BC9F3F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B9A9016-6981-8879-A958-E9CCE1880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E" dirty="0"/>
              <a:t>1.  </a:t>
            </a:r>
            <a:r>
              <a:rPr lang="en-IE" sz="4000" dirty="0"/>
              <a:t>Arrays of different types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IE" sz="4000" dirty="0"/>
              <a:t>Arrays of primitive types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IE" sz="4000" dirty="0"/>
              <a:t>Arrays of objects</a:t>
            </a:r>
          </a:p>
          <a:p>
            <a:pPr marL="914400" lvl="1" indent="-514350"/>
            <a:r>
              <a:rPr lang="en-IE" sz="4000" dirty="0"/>
              <a:t>String</a:t>
            </a:r>
          </a:p>
          <a:p>
            <a:pPr marL="914400" lvl="1" indent="-514350"/>
            <a:r>
              <a:rPr lang="en-IE" sz="4000" dirty="0"/>
              <a:t>Person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5FC9B4-14B7-B074-BF31-B6C6F26B45EA}"/>
              </a:ext>
            </a:extLst>
          </p:cNvPr>
          <p:cNvSpPr/>
          <p:nvPr/>
        </p:nvSpPr>
        <p:spPr>
          <a:xfrm>
            <a:off x="599661" y="3162300"/>
            <a:ext cx="6172200" cy="5334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" name="Arrow: Right 1">
            <a:extLst>
              <a:ext uri="{FF2B5EF4-FFF2-40B4-BE49-F238E27FC236}">
                <a16:creationId xmlns:a16="http://schemas.microsoft.com/office/drawing/2014/main" id="{5CEE071B-133E-B104-99E0-0E8578E754EC}"/>
              </a:ext>
            </a:extLst>
          </p:cNvPr>
          <p:cNvSpPr/>
          <p:nvPr/>
        </p:nvSpPr>
        <p:spPr>
          <a:xfrm flipH="1">
            <a:off x="3124200" y="4697240"/>
            <a:ext cx="3984878" cy="38100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12825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846073-99CF-890A-3447-4B451D0EFD04}"/>
              </a:ext>
            </a:extLst>
          </p:cNvPr>
          <p:cNvSpPr txBox="1"/>
          <p:nvPr/>
        </p:nvSpPr>
        <p:spPr>
          <a:xfrm>
            <a:off x="2079722" y="5361522"/>
            <a:ext cx="5220147" cy="1384995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String[] words = new String[4];</a:t>
            </a:r>
          </a:p>
          <a:p>
            <a:endParaRPr lang="en-US" sz="2800" dirty="0"/>
          </a:p>
          <a:p>
            <a:pPr algn="r"/>
            <a:r>
              <a:rPr lang="en-US" sz="2800" dirty="0"/>
              <a:t>Person[] friends = new Person[4];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9489" y="685800"/>
            <a:ext cx="6248400" cy="57888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An array can store any type of data.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B14CF8-BDA0-46CC-A9A3-72FD88067618}"/>
              </a:ext>
            </a:extLst>
          </p:cNvPr>
          <p:cNvSpPr/>
          <p:nvPr/>
        </p:nvSpPr>
        <p:spPr>
          <a:xfrm>
            <a:off x="2085584" y="2057401"/>
            <a:ext cx="5423729" cy="2246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800" dirty="0" err="1"/>
              <a:t>int</a:t>
            </a:r>
            <a:r>
              <a:rPr lang="en-US" sz="2800" dirty="0"/>
              <a:t> numbers[] = new </a:t>
            </a:r>
            <a:r>
              <a:rPr lang="en-US" sz="2800" dirty="0" err="1"/>
              <a:t>int</a:t>
            </a:r>
            <a:r>
              <a:rPr lang="en-US" sz="2800" dirty="0"/>
              <a:t>[10];</a:t>
            </a:r>
          </a:p>
          <a:p>
            <a:endParaRPr lang="en-US" sz="2800" dirty="0"/>
          </a:p>
          <a:p>
            <a:r>
              <a:rPr lang="en-US" sz="2800" dirty="0"/>
              <a:t>byte </a:t>
            </a:r>
            <a:r>
              <a:rPr lang="en-US" sz="2800" dirty="0" err="1"/>
              <a:t>smallNumbers</a:t>
            </a:r>
            <a:r>
              <a:rPr lang="en-US" sz="2800" dirty="0"/>
              <a:t>[] = new byte[4];</a:t>
            </a:r>
          </a:p>
          <a:p>
            <a:endParaRPr lang="en-US" sz="2800" dirty="0"/>
          </a:p>
          <a:p>
            <a:r>
              <a:rPr lang="en-US" sz="2800" dirty="0"/>
              <a:t>char characters[] = new char[26];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73D87C-EBDD-45A7-943D-BC024FEAE26F}"/>
              </a:ext>
            </a:extLst>
          </p:cNvPr>
          <p:cNvSpPr/>
          <p:nvPr/>
        </p:nvSpPr>
        <p:spPr>
          <a:xfrm>
            <a:off x="1978047" y="1612106"/>
            <a:ext cx="2819400" cy="457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800" dirty="0"/>
              <a:t>Primitive Types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7D804F-0AD2-44D3-A1FF-C88BBC72567A}"/>
              </a:ext>
            </a:extLst>
          </p:cNvPr>
          <p:cNvSpPr/>
          <p:nvPr/>
        </p:nvSpPr>
        <p:spPr>
          <a:xfrm>
            <a:off x="1905000" y="4868287"/>
            <a:ext cx="2819400" cy="457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800" dirty="0"/>
              <a:t>Object Types</a:t>
            </a:r>
          </a:p>
        </p:txBody>
      </p:sp>
      <p:sp>
        <p:nvSpPr>
          <p:cNvPr id="7" name="Donut 6"/>
          <p:cNvSpPr/>
          <p:nvPr/>
        </p:nvSpPr>
        <p:spPr>
          <a:xfrm>
            <a:off x="1409700" y="4808875"/>
            <a:ext cx="3810000" cy="576024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Arrow: Right 1">
            <a:extLst>
              <a:ext uri="{FF2B5EF4-FFF2-40B4-BE49-F238E27FC236}">
                <a16:creationId xmlns:a16="http://schemas.microsoft.com/office/drawing/2014/main" id="{39E3F9F0-B711-48DB-80B2-30160FBEC1C1}"/>
              </a:ext>
            </a:extLst>
          </p:cNvPr>
          <p:cNvSpPr/>
          <p:nvPr/>
        </p:nvSpPr>
        <p:spPr>
          <a:xfrm flipH="1">
            <a:off x="7293243" y="6329073"/>
            <a:ext cx="1849671" cy="38100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8131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  <p:bldP spid="14" grpId="0" animBg="1"/>
      <p:bldP spid="15" grpId="0" animBg="1"/>
      <p:bldP spid="7" grpId="0" animBg="1"/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55B6CE-98BC-4863-A435-E8D7EA6BEC92}"/>
              </a:ext>
            </a:extLst>
          </p:cNvPr>
          <p:cNvSpPr txBox="1"/>
          <p:nvPr/>
        </p:nvSpPr>
        <p:spPr>
          <a:xfrm>
            <a:off x="4457700" y="43705"/>
            <a:ext cx="2209800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b="1" dirty="0"/>
              <a:t>Object</a:t>
            </a:r>
            <a:r>
              <a:rPr lang="en-IE" sz="2400" dirty="0"/>
              <a:t> Type/ </a:t>
            </a:r>
            <a:r>
              <a:rPr lang="en-IE" sz="2400" b="1" dirty="0"/>
              <a:t>Class</a:t>
            </a:r>
            <a:r>
              <a:rPr lang="en-IE" sz="2400" dirty="0"/>
              <a:t> Name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058B3F-4693-4F5F-8CA0-902626A3E2B9}"/>
              </a:ext>
            </a:extLst>
          </p:cNvPr>
          <p:cNvSpPr txBox="1"/>
          <p:nvPr/>
        </p:nvSpPr>
        <p:spPr>
          <a:xfrm>
            <a:off x="2340919" y="2228671"/>
            <a:ext cx="2895600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b="1" dirty="0"/>
              <a:t>Fields</a:t>
            </a:r>
            <a:r>
              <a:rPr lang="en-IE" sz="2400" dirty="0"/>
              <a:t> </a:t>
            </a:r>
            <a:br>
              <a:rPr lang="en-IE" sz="2400" dirty="0"/>
            </a:br>
            <a:r>
              <a:rPr lang="en-IE" sz="2400" dirty="0"/>
              <a:t>i.e. the attributes of the class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28F948-94CE-4F6C-A8F5-087C6D29DD24}"/>
              </a:ext>
            </a:extLst>
          </p:cNvPr>
          <p:cNvSpPr txBox="1"/>
          <p:nvPr/>
        </p:nvSpPr>
        <p:spPr>
          <a:xfrm>
            <a:off x="2205037" y="4444447"/>
            <a:ext cx="2895600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b="1" dirty="0"/>
              <a:t>Methods</a:t>
            </a:r>
            <a:r>
              <a:rPr lang="en-IE" sz="2400" dirty="0"/>
              <a:t> </a:t>
            </a:r>
            <a:br>
              <a:rPr lang="en-IE" sz="2400" dirty="0"/>
            </a:br>
            <a:r>
              <a:rPr lang="en-IE" sz="2400" dirty="0"/>
              <a:t>i.e. the behaviours of the class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6E7FE7-3161-8A42-9637-FA0E4CA16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1033027"/>
            <a:ext cx="125038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Person Class </a:t>
            </a: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3AA25F20-2097-4621-9CA3-6717EA579AC4}"/>
              </a:ext>
            </a:extLst>
          </p:cNvPr>
          <p:cNvSpPr/>
          <p:nvPr/>
        </p:nvSpPr>
        <p:spPr>
          <a:xfrm>
            <a:off x="5100637" y="3294580"/>
            <a:ext cx="990600" cy="2971799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636477FE-7B3F-4ADE-9E51-FD56C296A799}"/>
              </a:ext>
            </a:extLst>
          </p:cNvPr>
          <p:cNvSpPr/>
          <p:nvPr/>
        </p:nvSpPr>
        <p:spPr>
          <a:xfrm>
            <a:off x="5273589" y="2265031"/>
            <a:ext cx="830992" cy="859170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288E3A-0485-A15B-D8F7-8972FDDA9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8307" y="1391473"/>
            <a:ext cx="5422900" cy="508000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B579DCA-FE64-4FC1-AAA9-ADDA0D7F2487}"/>
              </a:ext>
            </a:extLst>
          </p:cNvPr>
          <p:cNvCxnSpPr>
            <a:cxnSpLocks/>
          </p:cNvCxnSpPr>
          <p:nvPr/>
        </p:nvCxnSpPr>
        <p:spPr>
          <a:xfrm>
            <a:off x="6672262" y="488239"/>
            <a:ext cx="1557338" cy="1696323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9116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9" grpId="0" animBg="1"/>
      <p:bldP spid="16" grpId="0" animBg="1"/>
      <p:bldP spid="1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</a:t>
            </a:r>
            <a:r>
              <a:rPr lang="en-IE" b="1" dirty="0">
                <a:solidFill>
                  <a:srgbClr val="FF0000"/>
                </a:solidFill>
              </a:rPr>
              <a:t> </a:t>
            </a:r>
            <a:r>
              <a:rPr lang="en-IE" dirty="0"/>
              <a:t>primitive array of </a:t>
            </a:r>
            <a:r>
              <a:rPr lang="en-IE" b="1" dirty="0">
                <a:solidFill>
                  <a:srgbClr val="FF0000"/>
                </a:solidFill>
              </a:rPr>
              <a:t>Person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2057401" y="1713934"/>
            <a:ext cx="2737737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Person[]  friends;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friends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A2803B-E7A2-4954-9E5C-37FD263AA316}"/>
              </a:ext>
            </a:extLst>
          </p:cNvPr>
          <p:cNvSpPr txBox="1"/>
          <p:nvPr/>
        </p:nvSpPr>
        <p:spPr>
          <a:xfrm>
            <a:off x="6739006" y="2358440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null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562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Donut 9"/>
          <p:cNvSpPr/>
          <p:nvPr/>
        </p:nvSpPr>
        <p:spPr>
          <a:xfrm>
            <a:off x="1752600" y="1705353"/>
            <a:ext cx="3810000" cy="576024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5665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</a:t>
            </a:r>
            <a:r>
              <a:rPr lang="en-IE" b="1" dirty="0">
                <a:solidFill>
                  <a:srgbClr val="FF0000"/>
                </a:solidFill>
              </a:rPr>
              <a:t>Product </a:t>
            </a:r>
            <a:r>
              <a:rPr lang="en-IE" dirty="0"/>
              <a:t>primitive array</a:t>
            </a:r>
            <a:endParaRPr lang="en-GB" dirty="0"/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friends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562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5">
            <a:extLst>
              <a:ext uri="{FF2B5EF4-FFF2-40B4-BE49-F238E27FC236}">
                <a16:creationId xmlns:a16="http://schemas.microsoft.com/office/drawing/2014/main" id="{82C9026F-8C21-40EF-BA75-F2B97FEA6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6A448E6C-2F98-405E-81FF-A05427B59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5A81E7B-2042-4A9F-9945-29A3312BC850}"/>
              </a:ext>
            </a:extLst>
          </p:cNvPr>
          <p:cNvGraphicFramePr>
            <a:graphicFrameLocks noGrp="1"/>
          </p:cNvGraphicFramePr>
          <p:nvPr/>
        </p:nvGraphicFramePr>
        <p:xfrm>
          <a:off x="5715001" y="3457575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0666244-D9B2-4D23-AC04-D02373568089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6819900" y="2569093"/>
            <a:ext cx="190500" cy="8884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3B38FEB8-4014-4315-901A-71E6B73850EC}"/>
              </a:ext>
            </a:extLst>
          </p:cNvPr>
          <p:cNvSpPr/>
          <p:nvPr/>
        </p:nvSpPr>
        <p:spPr>
          <a:xfrm>
            <a:off x="1862692" y="2667001"/>
            <a:ext cx="3297121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400" b="1" dirty="0"/>
              <a:t>friends = new Person[4];</a:t>
            </a:r>
            <a:endParaRPr lang="en-IE" sz="2400" b="1" dirty="0"/>
          </a:p>
        </p:txBody>
      </p:sp>
      <p:sp>
        <p:nvSpPr>
          <p:cNvPr id="16" name="Donut 15"/>
          <p:cNvSpPr/>
          <p:nvPr/>
        </p:nvSpPr>
        <p:spPr>
          <a:xfrm>
            <a:off x="1731320" y="2590800"/>
            <a:ext cx="3810000" cy="666780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93BE65-F045-FAA3-84B2-6B53E3585656}"/>
              </a:ext>
            </a:extLst>
          </p:cNvPr>
          <p:cNvSpPr/>
          <p:nvPr/>
        </p:nvSpPr>
        <p:spPr>
          <a:xfrm>
            <a:off x="2057400" y="1713934"/>
            <a:ext cx="2655983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>
                <a:solidFill>
                  <a:schemeClr val="bg1">
                    <a:lumMod val="65000"/>
                  </a:schemeClr>
                </a:solidFill>
              </a:rPr>
              <a:t>Person[] friends;</a:t>
            </a:r>
          </a:p>
        </p:txBody>
      </p:sp>
    </p:spTree>
    <p:extLst>
      <p:ext uri="{BB962C8B-B14F-4D97-AF65-F5344CB8AC3E}">
        <p14:creationId xmlns:p14="http://schemas.microsoft.com/office/powerpoint/2010/main" val="1080855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</a:t>
            </a:r>
            <a:r>
              <a:rPr lang="en-IE" b="1" dirty="0">
                <a:solidFill>
                  <a:srgbClr val="FF0000"/>
                </a:solidFill>
              </a:rPr>
              <a:t>Product </a:t>
            </a:r>
            <a:r>
              <a:rPr lang="en-IE" dirty="0"/>
              <a:t>primitive array</a:t>
            </a:r>
            <a:endParaRPr lang="en-GB" dirty="0"/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>
            <a:cxnSpLocks/>
          </p:cNvCxnSpPr>
          <p:nvPr/>
        </p:nvCxnSpPr>
        <p:spPr>
          <a:xfrm>
            <a:off x="5562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5">
            <a:extLst>
              <a:ext uri="{FF2B5EF4-FFF2-40B4-BE49-F238E27FC236}">
                <a16:creationId xmlns:a16="http://schemas.microsoft.com/office/drawing/2014/main" id="{82C9026F-8C21-40EF-BA75-F2B97FEA6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6A448E6C-2F98-405E-81FF-A05427B59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5A81E7B-2042-4A9F-9945-29A3312BC8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612650"/>
              </p:ext>
            </p:extLst>
          </p:nvPr>
        </p:nvGraphicFramePr>
        <p:xfrm>
          <a:off x="5715001" y="3457575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0666244-D9B2-4D23-AC04-D02373568089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6819900" y="2569093"/>
            <a:ext cx="190500" cy="8884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0CF4F11-4968-4890-835E-30B3F0FE4BE3}"/>
              </a:ext>
            </a:extLst>
          </p:cNvPr>
          <p:cNvCxnSpPr>
            <a:cxnSpLocks/>
          </p:cNvCxnSpPr>
          <p:nvPr/>
        </p:nvCxnSpPr>
        <p:spPr>
          <a:xfrm flipV="1">
            <a:off x="7239001" y="2846102"/>
            <a:ext cx="876300" cy="133350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1E54C041-19A9-4B3E-8A1D-236E192CAFDB}"/>
              </a:ext>
            </a:extLst>
          </p:cNvPr>
          <p:cNvSpPr/>
          <p:nvPr/>
        </p:nvSpPr>
        <p:spPr>
          <a:xfrm>
            <a:off x="1752601" y="5562600"/>
            <a:ext cx="7468776" cy="523220"/>
          </a:xfrm>
          <a:prstGeom prst="rect">
            <a:avLst/>
          </a:prstGeom>
          <a:gradFill>
            <a:gsLst>
              <a:gs pos="0">
                <a:schemeClr val="accent6">
                  <a:tint val="50000"/>
                  <a:satMod val="300000"/>
                </a:schemeClr>
              </a:gs>
              <a:gs pos="35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  <a:lin ang="16200000" scaled="1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friends[1] =  new Person(“Joey”, “</a:t>
            </a:r>
            <a:r>
              <a:rPr lang="en-GB" sz="2800" b="1" dirty="0" err="1"/>
              <a:t>Tribbiani</a:t>
            </a:r>
            <a:r>
              <a:rPr lang="en-GB" sz="2800" b="1" dirty="0"/>
              <a:t>”, 25,);</a:t>
            </a:r>
            <a:endParaRPr lang="en-IE" sz="2800" b="1" dirty="0"/>
          </a:p>
        </p:txBody>
      </p:sp>
      <p:sp>
        <p:nvSpPr>
          <p:cNvPr id="24" name="Donut 23"/>
          <p:cNvSpPr/>
          <p:nvPr/>
        </p:nvSpPr>
        <p:spPr>
          <a:xfrm>
            <a:off x="1523999" y="5467350"/>
            <a:ext cx="7697363" cy="823586"/>
          </a:xfrm>
          <a:prstGeom prst="donut">
            <a:avLst>
              <a:gd name="adj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353C58B-3B28-4CDE-BC83-8FAF66892E15}"/>
              </a:ext>
            </a:extLst>
          </p:cNvPr>
          <p:cNvSpPr/>
          <p:nvPr/>
        </p:nvSpPr>
        <p:spPr>
          <a:xfrm>
            <a:off x="2057400" y="1713934"/>
            <a:ext cx="2655983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>
                <a:solidFill>
                  <a:schemeClr val="bg1">
                    <a:lumMod val="65000"/>
                  </a:schemeClr>
                </a:solidFill>
              </a:rPr>
              <a:t>Person[] friends;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DC2202A-AFB8-4223-B669-A5CBBA31F965}"/>
              </a:ext>
            </a:extLst>
          </p:cNvPr>
          <p:cNvSpPr/>
          <p:nvPr/>
        </p:nvSpPr>
        <p:spPr>
          <a:xfrm>
            <a:off x="1862692" y="2667001"/>
            <a:ext cx="3297121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400" b="1" dirty="0">
                <a:solidFill>
                  <a:schemeClr val="bg1">
                    <a:lumMod val="65000"/>
                  </a:schemeClr>
                </a:solidFill>
              </a:rPr>
              <a:t>friends = new Person[4];</a:t>
            </a:r>
            <a:endParaRPr lang="en-IE" sz="2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9" name="Text Box 11">
            <a:extLst>
              <a:ext uri="{FF2B5EF4-FFF2-40B4-BE49-F238E27FC236}">
                <a16:creationId xmlns:a16="http://schemas.microsoft.com/office/drawing/2014/main" id="{DB3672BC-219A-4853-9ECF-A60DD09902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products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4130A1-57F5-2F06-2E5B-8C57BA32C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5984" y="1581434"/>
            <a:ext cx="3554766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497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BC73A-96E2-4D45-94FF-93801CF96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Example using a </a:t>
            </a:r>
            <a:r>
              <a:rPr lang="en-IE" b="1" dirty="0">
                <a:solidFill>
                  <a:srgbClr val="FF0000"/>
                </a:solidFill>
              </a:rPr>
              <a:t>Person </a:t>
            </a:r>
            <a:r>
              <a:rPr lang="en-IE" dirty="0"/>
              <a:t>object array</a:t>
            </a:r>
            <a:endParaRPr lang="en-IE" b="1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74DC3D5-32D7-4A02-9286-6E8FA6E05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7473" y="1488195"/>
            <a:ext cx="8001000" cy="4524315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VI" altLang="en-VI" sz="2400" dirty="0">
                <a:solidFill>
                  <a:srgbClr val="0033B3"/>
                </a:solidFill>
                <a:latin typeface="JetBrains Mono"/>
              </a:rPr>
              <a:t>public </a:t>
            </a:r>
            <a:r>
              <a:rPr lang="en-VI" altLang="en-VI" sz="2400" dirty="0">
                <a:solidFill>
                  <a:srgbClr val="000000"/>
                </a:solidFill>
                <a:latin typeface="JetBrains Mono"/>
              </a:rPr>
              <a:t>String </a:t>
            </a:r>
            <a:r>
              <a:rPr lang="en-VI" altLang="en-VI" sz="2400" dirty="0" err="1">
                <a:solidFill>
                  <a:srgbClr val="00627A"/>
                </a:solidFill>
                <a:latin typeface="JetBrains Mono"/>
              </a:rPr>
              <a:t>list</a:t>
            </a:r>
            <a:r>
              <a:rPr lang="en-029" altLang="en-VI" sz="2400" dirty="0" err="1">
                <a:solidFill>
                  <a:srgbClr val="00627A"/>
                </a:solidFill>
                <a:latin typeface="JetBrains Mono"/>
              </a:rPr>
              <a:t>Friends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() {</a:t>
            </a:r>
            <a:endParaRPr lang="en-GB" altLang="en-VI" sz="2400" dirty="0">
              <a:solidFill>
                <a:srgbClr val="080808"/>
              </a:solidFill>
              <a:latin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VI" altLang="en-VI" sz="24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2400" dirty="0">
                <a:solidFill>
                  <a:srgbClr val="000000"/>
                </a:solidFill>
                <a:latin typeface="JetBrains Mono"/>
              </a:rPr>
              <a:t>String </a:t>
            </a:r>
            <a:r>
              <a:rPr lang="en-VI" altLang="en-VI" sz="2400" dirty="0" err="1">
                <a:solidFill>
                  <a:srgbClr val="080808"/>
                </a:solidFill>
                <a:latin typeface="JetBrains Mono"/>
              </a:rPr>
              <a:t>listOf</a:t>
            </a:r>
            <a:r>
              <a:rPr lang="en-029" altLang="en-VI" sz="2400" dirty="0" err="1">
                <a:solidFill>
                  <a:srgbClr val="080808"/>
                </a:solidFill>
                <a:latin typeface="JetBrains Mono"/>
              </a:rPr>
              <a:t>Friends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VI" altLang="en-VI" sz="2400" dirty="0">
                <a:solidFill>
                  <a:srgbClr val="067D17"/>
                </a:solidFill>
                <a:latin typeface="JetBrains Mono"/>
              </a:rPr>
              <a:t>""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;</a:t>
            </a:r>
            <a:endParaRPr lang="en-GB" altLang="en-VI" sz="2400" dirty="0">
              <a:solidFill>
                <a:srgbClr val="080808"/>
              </a:solidFill>
              <a:latin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VI" altLang="en-VI" sz="24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2400" dirty="0">
                <a:solidFill>
                  <a:srgbClr val="0033B3"/>
                </a:solidFill>
                <a:latin typeface="JetBrains Mono"/>
              </a:rPr>
              <a:t>for 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2400" dirty="0">
                <a:solidFill>
                  <a:srgbClr val="0033B3"/>
                </a:solidFill>
                <a:latin typeface="JetBrains Mono"/>
              </a:rPr>
              <a:t>int </a:t>
            </a:r>
            <a:r>
              <a:rPr lang="en-VI" altLang="en-VI" sz="2400" dirty="0" err="1">
                <a:solidFill>
                  <a:srgbClr val="080808"/>
                </a:solidFill>
                <a:latin typeface="JetBrains Mono"/>
              </a:rPr>
              <a:t>i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VI" altLang="en-VI" sz="24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; </a:t>
            </a:r>
            <a:r>
              <a:rPr lang="en-VI" altLang="en-VI" sz="2400" dirty="0" err="1">
                <a:solidFill>
                  <a:srgbClr val="080808"/>
                </a:solidFill>
                <a:latin typeface="JetBrains Mono"/>
              </a:rPr>
              <a:t>i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&lt; </a:t>
            </a:r>
            <a:r>
              <a:rPr lang="en-GB" altLang="en-VI" sz="2400" dirty="0" err="1">
                <a:solidFill>
                  <a:srgbClr val="871094"/>
                </a:solidFill>
                <a:latin typeface="JetBrains Mono"/>
              </a:rPr>
              <a:t>friends.length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; </a:t>
            </a:r>
            <a:r>
              <a:rPr lang="en-VI" altLang="en-VI" sz="2400" dirty="0" err="1">
                <a:solidFill>
                  <a:srgbClr val="080808"/>
                </a:solidFill>
                <a:latin typeface="JetBrains Mono"/>
              </a:rPr>
              <a:t>i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++) {</a:t>
            </a:r>
            <a:br>
              <a:rPr lang="en-VI" altLang="en-VI" sz="2400" dirty="0">
                <a:solidFill>
                  <a:srgbClr val="080808"/>
                </a:solidFill>
                <a:latin typeface="JetBrains Mono"/>
              </a:rPr>
            </a:br>
            <a:r>
              <a:rPr lang="en-029" altLang="en-VI" sz="2400" dirty="0">
                <a:solidFill>
                  <a:srgbClr val="080808"/>
                </a:solidFill>
                <a:latin typeface="JetBrains Mono"/>
              </a:rPr>
              <a:t>	friends[</a:t>
            </a:r>
            <a:r>
              <a:rPr lang="en-029" altLang="en-VI" sz="2400" dirty="0" err="1">
                <a:solidFill>
                  <a:srgbClr val="080808"/>
                </a:solidFill>
                <a:latin typeface="JetBrains Mono"/>
              </a:rPr>
              <a:t>i</a:t>
            </a:r>
            <a:r>
              <a:rPr lang="en-029" altLang="en-VI" sz="2400" dirty="0">
                <a:solidFill>
                  <a:srgbClr val="080808"/>
                </a:solidFill>
                <a:latin typeface="JetBrains Mono"/>
              </a:rPr>
              <a:t>]. </a:t>
            </a:r>
            <a:r>
              <a:rPr lang="en-029" altLang="en-VI" sz="2400" dirty="0" err="1">
                <a:solidFill>
                  <a:srgbClr val="080808"/>
                </a:solidFill>
                <a:latin typeface="JetBrains Mono"/>
              </a:rPr>
              <a:t>printFirstName</a:t>
            </a:r>
            <a:r>
              <a:rPr lang="en-029" altLang="en-VI" sz="2400" dirty="0">
                <a:solidFill>
                  <a:srgbClr val="080808"/>
                </a:solidFill>
                <a:latin typeface="JetBrains Mono"/>
              </a:rPr>
              <a:t>();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E" altLang="en-VI" sz="2400" dirty="0">
                <a:solidFill>
                  <a:srgbClr val="080808"/>
                </a:solidFill>
                <a:latin typeface="JetBrains Mono"/>
              </a:rPr>
              <a:t> 	</a:t>
            </a:r>
            <a:r>
              <a:rPr lang="en-029" altLang="en-VI" sz="2400" dirty="0">
                <a:solidFill>
                  <a:srgbClr val="080808"/>
                </a:solidFill>
                <a:latin typeface="JetBrains Mono"/>
              </a:rPr>
              <a:t>friends[</a:t>
            </a:r>
            <a:r>
              <a:rPr lang="en-029" altLang="en-VI" sz="2400" dirty="0" err="1">
                <a:solidFill>
                  <a:srgbClr val="080808"/>
                </a:solidFill>
                <a:latin typeface="JetBrains Mono"/>
              </a:rPr>
              <a:t>i</a:t>
            </a:r>
            <a:r>
              <a:rPr lang="en-029" altLang="en-VI" sz="2400" dirty="0">
                <a:solidFill>
                  <a:srgbClr val="080808"/>
                </a:solidFill>
                <a:latin typeface="JetBrains Mono"/>
              </a:rPr>
              <a:t>]. </a:t>
            </a:r>
            <a:r>
              <a:rPr lang="en-029" altLang="en-VI" sz="2400" dirty="0" err="1">
                <a:solidFill>
                  <a:srgbClr val="080808"/>
                </a:solidFill>
                <a:latin typeface="JetBrains Mono"/>
              </a:rPr>
              <a:t>printSecondName</a:t>
            </a:r>
            <a:r>
              <a:rPr lang="en-029" altLang="en-VI" sz="24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24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       }</a:t>
            </a:r>
            <a:endParaRPr lang="en-GB" altLang="en-VI" sz="2400" dirty="0">
              <a:solidFill>
                <a:srgbClr val="080808"/>
              </a:solidFill>
              <a:latin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VI" altLang="en-VI" sz="24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2400" dirty="0">
                <a:solidFill>
                  <a:srgbClr val="0033B3"/>
                </a:solidFill>
                <a:latin typeface="JetBrains Mono"/>
              </a:rPr>
              <a:t>return </a:t>
            </a:r>
            <a:r>
              <a:rPr lang="en-VI" altLang="en-VI" sz="2400" dirty="0" err="1">
                <a:solidFill>
                  <a:srgbClr val="080808"/>
                </a:solidFill>
                <a:latin typeface="JetBrains Mono"/>
              </a:rPr>
              <a:t>listOfProducts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;</a:t>
            </a:r>
            <a:br>
              <a:rPr lang="en-VI" altLang="en-VI" sz="24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   }</a:t>
            </a:r>
            <a:br>
              <a:rPr lang="en-VI" altLang="en-VI" sz="24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}</a:t>
            </a:r>
            <a:endParaRPr lang="en-VI" altLang="en-VI" sz="5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AFEA61-A42F-42C7-AC5F-4B454560AF74}"/>
              </a:ext>
            </a:extLst>
          </p:cNvPr>
          <p:cNvSpPr txBox="1"/>
          <p:nvPr/>
        </p:nvSpPr>
        <p:spPr>
          <a:xfrm>
            <a:off x="1984651" y="6178754"/>
            <a:ext cx="8346644" cy="40011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sz="2000" dirty="0"/>
              <a:t>Returns the first and second names of all friends  stored in the primitive array.  </a:t>
            </a:r>
            <a:endParaRPr lang="en-VI" sz="2000" dirty="0"/>
          </a:p>
        </p:txBody>
      </p:sp>
    </p:spTree>
    <p:extLst>
      <p:ext uri="{BB962C8B-B14F-4D97-AF65-F5344CB8AC3E}">
        <p14:creationId xmlns:p14="http://schemas.microsoft.com/office/powerpoint/2010/main" val="8257454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dirty="0"/>
              <a:t>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96FBC672-E48E-496B-848D-976EC1B6DE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00" y="1626704"/>
            <a:ext cx="52578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503280"/>
      </p:ext>
    </p:extLst>
  </p:cSld>
  <p:clrMapOvr>
    <a:masterClrMapping/>
  </p:clrMapOvr>
</p:sld>
</file>

<file path=ppt/theme/theme1.xml><?xml version="1.0" encoding="utf-8"?>
<a:theme xmlns:a="http://schemas.openxmlformats.org/drawingml/2006/main" name="a-processing-mouse-event-metho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a-misc</Template>
  <TotalTime>4523</TotalTime>
  <Words>1193</Words>
  <Application>Microsoft Macintosh PowerPoint</Application>
  <PresentationFormat>Widescreen</PresentationFormat>
  <Paragraphs>302</Paragraphs>
  <Slides>27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Courier New</vt:lpstr>
      <vt:lpstr>JetBrains Mono</vt:lpstr>
      <vt:lpstr>Times New Roman</vt:lpstr>
      <vt:lpstr>a-processing-mouse-event-methods</vt:lpstr>
      <vt:lpstr>Arrays and Classes</vt:lpstr>
      <vt:lpstr>Topics list</vt:lpstr>
      <vt:lpstr>Let’s Look at arrays of different types</vt:lpstr>
      <vt:lpstr>PowerPoint Presentation</vt:lpstr>
      <vt:lpstr>Topics list</vt:lpstr>
      <vt:lpstr>Structure of an int primitive array</vt:lpstr>
      <vt:lpstr>Structure of an int primitive array</vt:lpstr>
      <vt:lpstr>Structure of an int primitive array</vt:lpstr>
      <vt:lpstr>Structure of an int primitive array</vt:lpstr>
      <vt:lpstr>Structure of an int primitive array</vt:lpstr>
      <vt:lpstr>Topics list</vt:lpstr>
      <vt:lpstr>PowerPoint Presentation</vt:lpstr>
      <vt:lpstr>Structure of a String object array</vt:lpstr>
      <vt:lpstr>Structure of a String object array</vt:lpstr>
      <vt:lpstr>Structure of a String object array</vt:lpstr>
      <vt:lpstr>Structure of a String object array</vt:lpstr>
      <vt:lpstr>Structure of a String object array</vt:lpstr>
      <vt:lpstr>Structure of a String object array</vt:lpstr>
      <vt:lpstr>Structure of a String object array</vt:lpstr>
      <vt:lpstr>Topics list</vt:lpstr>
      <vt:lpstr>PowerPoint Presentation</vt:lpstr>
      <vt:lpstr>Person Class </vt:lpstr>
      <vt:lpstr>Structure of a  primitive array of Person</vt:lpstr>
      <vt:lpstr>Structure of a Product primitive array</vt:lpstr>
      <vt:lpstr>Structure of a Product primitive array</vt:lpstr>
      <vt:lpstr>Example using a Person object array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Recap on Arrays</dc:title>
  <dc:creator>Siobhan Drohan</dc:creator>
  <cp:lastModifiedBy>Mairead Meagher</cp:lastModifiedBy>
  <cp:revision>356</cp:revision>
  <cp:lastPrinted>2018-02-19T00:13:51Z</cp:lastPrinted>
  <dcterms:created xsi:type="dcterms:W3CDTF">2006-08-16T00:00:00Z</dcterms:created>
  <dcterms:modified xsi:type="dcterms:W3CDTF">2025-10-18T02:38:45Z</dcterms:modified>
</cp:coreProperties>
</file>