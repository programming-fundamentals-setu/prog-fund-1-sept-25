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325" r:id="rId2"/>
    <p:sldId id="514" r:id="rId3"/>
    <p:sldId id="583" r:id="rId4"/>
    <p:sldId id="560" r:id="rId5"/>
    <p:sldId id="585" r:id="rId6"/>
    <p:sldId id="586" r:id="rId7"/>
    <p:sldId id="619" r:id="rId8"/>
    <p:sldId id="565" r:id="rId9"/>
    <p:sldId id="632" r:id="rId10"/>
    <p:sldId id="638" r:id="rId11"/>
    <p:sldId id="598" r:id="rId12"/>
    <p:sldId id="639" r:id="rId13"/>
    <p:sldId id="602" r:id="rId14"/>
    <p:sldId id="570" r:id="rId15"/>
    <p:sldId id="606" r:id="rId16"/>
    <p:sldId id="605" r:id="rId17"/>
    <p:sldId id="612" r:id="rId18"/>
    <p:sldId id="608" r:id="rId19"/>
    <p:sldId id="609" r:id="rId20"/>
    <p:sldId id="610" r:id="rId21"/>
    <p:sldId id="611" r:id="rId22"/>
    <p:sldId id="614" r:id="rId23"/>
    <p:sldId id="616" r:id="rId24"/>
    <p:sldId id="613" r:id="rId25"/>
    <p:sldId id="643" r:id="rId26"/>
    <p:sldId id="575" r:id="rId27"/>
    <p:sldId id="631" r:id="rId28"/>
    <p:sldId id="640" r:id="rId29"/>
    <p:sldId id="576" r:id="rId30"/>
    <p:sldId id="618" r:id="rId31"/>
    <p:sldId id="620" r:id="rId32"/>
    <p:sldId id="621" r:id="rId33"/>
    <p:sldId id="578" r:id="rId34"/>
    <p:sldId id="641" r:id="rId35"/>
    <p:sldId id="622" r:id="rId36"/>
    <p:sldId id="623" r:id="rId37"/>
    <p:sldId id="642" r:id="rId38"/>
    <p:sldId id="624" r:id="rId39"/>
    <p:sldId id="625" r:id="rId40"/>
    <p:sldId id="626" r:id="rId41"/>
    <p:sldId id="627" r:id="rId42"/>
    <p:sldId id="581" r:id="rId43"/>
    <p:sldId id="630" r:id="rId44"/>
    <p:sldId id="34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18" autoAdjust="0"/>
    <p:restoredTop sz="89246" autoAdjust="0"/>
  </p:normalViewPr>
  <p:slideViewPr>
    <p:cSldViewPr>
      <p:cViewPr varScale="1">
        <p:scale>
          <a:sx n="91" d="100"/>
          <a:sy n="91" d="100"/>
        </p:scale>
        <p:origin x="40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18/10/2025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063FA5-C65E-4720-B6D7-EFAAA6FFD1D5}" type="slidenum">
              <a:rPr lang="en-GB"/>
              <a:pPr/>
              <a:t>11</a:t>
            </a:fld>
            <a:endParaRPr lang="en-GB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75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1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16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0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66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20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21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05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68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7FD2-2004-0F1A-66F2-FF299AB7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972C323-8597-8885-0E3A-9E83B85D46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625DD2EA-9C88-5384-DA18-D854E93339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>
            <a:extLst>
              <a:ext uri="{FF2B5EF4-FFF2-40B4-BE49-F238E27FC236}">
                <a16:creationId xmlns:a16="http://schemas.microsoft.com/office/drawing/2014/main" id="{47C10434-3C5E-0904-BA4B-3DA63A9306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A9BF46B6-062D-502A-7457-42AACEB098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71CD12A1-8B34-2798-18FB-D4CA267B4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140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068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88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5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28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8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2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7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3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32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43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761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2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1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nutsandbolts/arrays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5017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Primitive Arrays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0869C-9D20-CB38-35C3-802A99BF997F}"/>
              </a:ext>
            </a:extLst>
          </p:cNvPr>
          <p:cNvSpPr txBox="1"/>
          <p:nvPr/>
        </p:nvSpPr>
        <p:spPr>
          <a:xfrm>
            <a:off x="76962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816CD-6F4F-7DBB-6743-AC6C563FA9F1}"/>
              </a:ext>
            </a:extLst>
          </p:cNvPr>
          <p:cNvSpPr txBox="1"/>
          <p:nvPr/>
        </p:nvSpPr>
        <p:spPr>
          <a:xfrm>
            <a:off x="3657600" y="381000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EC5FEA-5248-C05A-4F5F-696D257014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9109D-5CEE-27F6-07AA-BF91E36430C2}"/>
              </a:ext>
            </a:extLst>
          </p:cNvPr>
          <p:cNvSpPr txBox="1"/>
          <p:nvPr/>
        </p:nvSpPr>
        <p:spPr>
          <a:xfrm>
            <a:off x="609600" y="1417638"/>
            <a:ext cx="10972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Why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Primitive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Array Syntax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Loops and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What datatypes can be stored in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 Difference between fixed size and number of populated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7CD81-65E3-9514-A3AB-7ED9CB195BA1}"/>
              </a:ext>
            </a:extLst>
          </p:cNvPr>
          <p:cNvSpPr/>
          <p:nvPr/>
        </p:nvSpPr>
        <p:spPr>
          <a:xfrm>
            <a:off x="609601" y="1524000"/>
            <a:ext cx="2971800" cy="6096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020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arrays?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98080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We look at different pieces of code to explain the concept.</a:t>
            </a:r>
          </a:p>
          <a:p>
            <a:endParaRPr lang="en-IE" dirty="0"/>
          </a:p>
          <a:p>
            <a:r>
              <a:rPr lang="en-IE" dirty="0"/>
              <a:t>In each piece of code, we:</a:t>
            </a:r>
          </a:p>
          <a:p>
            <a:pPr lvl="1"/>
            <a:r>
              <a:rPr lang="en-IE" dirty="0"/>
              <a:t>read in 10 numbers from the keyboard</a:t>
            </a:r>
          </a:p>
          <a:p>
            <a:pPr lvl="1"/>
            <a:r>
              <a:rPr lang="en-IE" dirty="0"/>
              <a:t>add the numbers</a:t>
            </a:r>
          </a:p>
          <a:p>
            <a:pPr lvl="1"/>
            <a:r>
              <a:rPr lang="en-IE" dirty="0"/>
              <a:t>print the sum of all the numbers.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187480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7474DF-C5F2-49DC-8A85-0384697CC4D7}"/>
              </a:ext>
            </a:extLst>
          </p:cNvPr>
          <p:cNvSpPr txBox="1"/>
          <p:nvPr/>
        </p:nvSpPr>
        <p:spPr>
          <a:xfrm>
            <a:off x="1752600" y="1676401"/>
            <a:ext cx="8382000" cy="52629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400" dirty="0" err="1"/>
              <a:t>java.util.Scanner</a:t>
            </a:r>
            <a:r>
              <a:rPr lang="en-IE" sz="2400" dirty="0"/>
              <a:t>;</a:t>
            </a:r>
            <a:br>
              <a:rPr lang="en-IE" sz="2400" dirty="0"/>
            </a:br>
            <a:r>
              <a:rPr lang="en-IE" sz="2400" dirty="0"/>
              <a:t> :</a:t>
            </a:r>
          </a:p>
          <a:p>
            <a:r>
              <a:rPr lang="en-IE" sz="2400" dirty="0"/>
              <a:t>Scanner </a:t>
            </a:r>
            <a:r>
              <a:rPr lang="en-IE" sz="24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400" dirty="0"/>
              <a:t>= 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400" dirty="0"/>
              <a:t>Scanner(</a:t>
            </a: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400" dirty="0"/>
              <a:t>);</a:t>
            </a:r>
          </a:p>
          <a:p>
            <a:r>
              <a:rPr lang="en-IE" sz="2400" dirty="0"/>
              <a:t> :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n;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sum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</a:t>
            </a:r>
            <a:br>
              <a:rPr lang="en-IE" sz="2400" dirty="0"/>
            </a:b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for 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 err="1"/>
              <a:t>i</a:t>
            </a:r>
            <a:r>
              <a:rPr lang="en-IE" sz="2400" dirty="0"/>
              <a:t>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&lt;</a:t>
            </a:r>
            <a:r>
              <a:rPr lang="en-IE" sz="2400" dirty="0">
                <a:solidFill>
                  <a:srgbClr val="0000FF"/>
                </a:solidFill>
                <a:effectLst/>
              </a:rPr>
              <a:t>10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  {</a:t>
            </a:r>
            <a:br>
              <a:rPr lang="en-IE" sz="2400" dirty="0"/>
            </a:br>
            <a:r>
              <a:rPr lang="en-IE" sz="2400" dirty="0"/>
              <a:t>    n = </a:t>
            </a:r>
            <a:r>
              <a:rPr lang="en-IE" sz="2400" i="1" dirty="0" err="1">
                <a:solidFill>
                  <a:srgbClr val="660E7A"/>
                </a:solidFill>
                <a:effectLst/>
              </a:rPr>
              <a:t>input</a:t>
            </a:r>
            <a:r>
              <a:rPr lang="en-IE" sz="2400" dirty="0" err="1"/>
              <a:t>.nextInt</a:t>
            </a:r>
            <a:r>
              <a:rPr lang="en-IE" sz="2400" dirty="0"/>
              <a:t>();</a:t>
            </a:r>
            <a:br>
              <a:rPr lang="en-IE" sz="2400" dirty="0"/>
            </a:br>
            <a:r>
              <a:rPr lang="en-IE" sz="2400" dirty="0"/>
              <a:t>    sum += n;</a:t>
            </a:r>
            <a:br>
              <a:rPr lang="en-IE" sz="2400" dirty="0"/>
            </a:br>
            <a:r>
              <a:rPr lang="en-IE" sz="2400" dirty="0"/>
              <a:t>}</a:t>
            </a:r>
            <a:br>
              <a:rPr lang="en-IE" sz="2400" dirty="0"/>
            </a:b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out</a:t>
            </a:r>
            <a:r>
              <a:rPr lang="en-IE" sz="2400" dirty="0" err="1"/>
              <a:t>.println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 dirty="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3962400"/>
            <a:ext cx="3200400" cy="95410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Reads in 10 numbers from the keyboard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>
            <a:off x="1714500" y="3881855"/>
            <a:ext cx="4076700" cy="1600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824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3CF81A-8CE0-45C5-905D-A0E17474FCCD}"/>
              </a:ext>
            </a:extLst>
          </p:cNvPr>
          <p:cNvSpPr txBox="1"/>
          <p:nvPr/>
        </p:nvSpPr>
        <p:spPr>
          <a:xfrm>
            <a:off x="1752600" y="1676401"/>
            <a:ext cx="8763000" cy="489364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400" dirty="0" err="1"/>
              <a:t>java.util.Scanner</a:t>
            </a:r>
            <a:r>
              <a:rPr lang="en-IE" sz="2400" dirty="0"/>
              <a:t>;</a:t>
            </a:r>
            <a:br>
              <a:rPr lang="en-IE" sz="2400" dirty="0"/>
            </a:br>
            <a:r>
              <a:rPr lang="en-IE" sz="2400" dirty="0"/>
              <a:t> :</a:t>
            </a:r>
          </a:p>
          <a:p>
            <a:r>
              <a:rPr lang="en-IE" sz="2400" dirty="0"/>
              <a:t>Scanner </a:t>
            </a:r>
            <a:r>
              <a:rPr lang="en-IE" sz="24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400" dirty="0"/>
              <a:t>= 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400" dirty="0"/>
              <a:t>Scanner(</a:t>
            </a: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400" dirty="0"/>
              <a:t>);</a:t>
            </a:r>
          </a:p>
          <a:p>
            <a:r>
              <a:rPr lang="en-IE" sz="2400" dirty="0"/>
              <a:t> :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n;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sum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</a:t>
            </a:r>
            <a:br>
              <a:rPr lang="en-IE" sz="2400" dirty="0"/>
            </a:b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for 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 err="1"/>
              <a:t>i</a:t>
            </a:r>
            <a:r>
              <a:rPr lang="en-IE" sz="2400" dirty="0"/>
              <a:t>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&lt;</a:t>
            </a:r>
            <a:r>
              <a:rPr lang="en-IE" sz="2400" dirty="0">
                <a:solidFill>
                  <a:srgbClr val="0000FF"/>
                </a:solidFill>
                <a:effectLst/>
              </a:rPr>
              <a:t>10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  {</a:t>
            </a:r>
            <a:br>
              <a:rPr lang="en-IE" sz="2400" dirty="0"/>
            </a:br>
            <a:r>
              <a:rPr lang="en-IE" sz="2400" dirty="0"/>
              <a:t>    n = </a:t>
            </a:r>
            <a:r>
              <a:rPr lang="en-IE" sz="2400" i="1" dirty="0" err="1">
                <a:solidFill>
                  <a:srgbClr val="660E7A"/>
                </a:solidFill>
                <a:effectLst/>
              </a:rPr>
              <a:t>input</a:t>
            </a:r>
            <a:r>
              <a:rPr lang="en-IE" sz="2400" dirty="0" err="1"/>
              <a:t>.nextInt</a:t>
            </a:r>
            <a:r>
              <a:rPr lang="en-IE" sz="2400" dirty="0"/>
              <a:t>();</a:t>
            </a:r>
            <a:br>
              <a:rPr lang="en-IE" sz="2400" dirty="0"/>
            </a:br>
            <a:r>
              <a:rPr lang="en-IE" sz="2400" dirty="0"/>
              <a:t>    sum += n;</a:t>
            </a:r>
            <a:br>
              <a:rPr lang="en-IE" sz="2400" dirty="0"/>
            </a:br>
            <a:r>
              <a:rPr lang="en-IE" sz="2400" dirty="0"/>
              <a:t>}</a:t>
            </a:r>
            <a:br>
              <a:rPr lang="en-IE" sz="2400" dirty="0"/>
            </a:b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out</a:t>
            </a:r>
            <a:r>
              <a:rPr lang="en-IE" sz="2400" dirty="0" err="1"/>
              <a:t>.println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 dirty="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2971800"/>
            <a:ext cx="4191000" cy="138499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As each number is entered, it is added to the value currently stored in </a:t>
            </a:r>
            <a:r>
              <a:rPr lang="en-US" sz="2800" b="1" dirty="0"/>
              <a:t>sum</a:t>
            </a:r>
            <a:r>
              <a:rPr lang="en-US" sz="2800" dirty="0"/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828800" y="5029200"/>
            <a:ext cx="3505200" cy="381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68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F9E1ED-B0C9-449A-AB28-502470330349}"/>
              </a:ext>
            </a:extLst>
          </p:cNvPr>
          <p:cNvSpPr txBox="1"/>
          <p:nvPr/>
        </p:nvSpPr>
        <p:spPr>
          <a:xfrm>
            <a:off x="1752600" y="1676401"/>
            <a:ext cx="9144000" cy="489364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400" dirty="0" err="1"/>
              <a:t>java.util.Scanner</a:t>
            </a:r>
            <a:r>
              <a:rPr lang="en-IE" sz="2400" dirty="0"/>
              <a:t>;</a:t>
            </a:r>
            <a:br>
              <a:rPr lang="en-IE" sz="2400" dirty="0"/>
            </a:br>
            <a:r>
              <a:rPr lang="en-IE" sz="2400" dirty="0"/>
              <a:t> :</a:t>
            </a:r>
          </a:p>
          <a:p>
            <a:r>
              <a:rPr lang="en-IE" sz="2400" dirty="0"/>
              <a:t>Scanner </a:t>
            </a:r>
            <a:r>
              <a:rPr lang="en-IE" sz="24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400" dirty="0"/>
              <a:t>= 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400" dirty="0"/>
              <a:t>Scanner(</a:t>
            </a: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400" dirty="0"/>
              <a:t>);</a:t>
            </a:r>
          </a:p>
          <a:p>
            <a:r>
              <a:rPr lang="en-IE" sz="2400" dirty="0"/>
              <a:t> :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n;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sum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</a:t>
            </a:r>
            <a:br>
              <a:rPr lang="en-IE" sz="2400" dirty="0"/>
            </a:b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for 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 err="1"/>
              <a:t>i</a:t>
            </a:r>
            <a:r>
              <a:rPr lang="en-IE" sz="2400" dirty="0"/>
              <a:t>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&lt;</a:t>
            </a:r>
            <a:r>
              <a:rPr lang="en-IE" sz="2400" dirty="0">
                <a:solidFill>
                  <a:srgbClr val="0000FF"/>
                </a:solidFill>
                <a:effectLst/>
              </a:rPr>
              <a:t>10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  {</a:t>
            </a:r>
            <a:br>
              <a:rPr lang="en-IE" sz="2400" dirty="0"/>
            </a:br>
            <a:r>
              <a:rPr lang="en-IE" sz="2400" dirty="0"/>
              <a:t>    n = </a:t>
            </a:r>
            <a:r>
              <a:rPr lang="en-IE" sz="2400" i="1" dirty="0" err="1">
                <a:solidFill>
                  <a:srgbClr val="660E7A"/>
                </a:solidFill>
                <a:effectLst/>
              </a:rPr>
              <a:t>input</a:t>
            </a:r>
            <a:r>
              <a:rPr lang="en-IE" sz="2400" dirty="0" err="1"/>
              <a:t>.nextInt</a:t>
            </a:r>
            <a:r>
              <a:rPr lang="en-IE" sz="2400" dirty="0"/>
              <a:t>();</a:t>
            </a:r>
            <a:br>
              <a:rPr lang="en-IE" sz="2400" dirty="0"/>
            </a:br>
            <a:r>
              <a:rPr lang="en-IE" sz="2400" dirty="0"/>
              <a:t>    sum += n;</a:t>
            </a:r>
            <a:br>
              <a:rPr lang="en-IE" sz="2400" dirty="0"/>
            </a:br>
            <a:r>
              <a:rPr lang="en-IE" sz="2400" dirty="0"/>
              <a:t>}</a:t>
            </a:r>
            <a:br>
              <a:rPr lang="en-IE" sz="2400" dirty="0"/>
            </a:b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out</a:t>
            </a:r>
            <a:r>
              <a:rPr lang="en-IE" sz="2400" dirty="0" err="1"/>
              <a:t>.println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 dirty="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0508" y="3344178"/>
            <a:ext cx="4618892" cy="183155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When the 10 numbers have been read in, </a:t>
            </a:r>
          </a:p>
          <a:p>
            <a:pPr algn="ctr"/>
            <a:r>
              <a:rPr lang="en-US" sz="2800" dirty="0"/>
              <a:t>the </a:t>
            </a:r>
            <a:r>
              <a:rPr lang="en-US" sz="2800" b="1" dirty="0"/>
              <a:t>sum</a:t>
            </a:r>
            <a:r>
              <a:rPr lang="en-US" sz="2800" dirty="0"/>
              <a:t> of the 10 numbers is printed to the console.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758462" y="6047602"/>
            <a:ext cx="8680938" cy="5224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376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1676401"/>
            <a:ext cx="8763000" cy="52629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400" dirty="0" err="1"/>
              <a:t>java.util.Scanner</a:t>
            </a:r>
            <a:r>
              <a:rPr lang="en-IE" sz="2400" dirty="0"/>
              <a:t>;</a:t>
            </a:r>
            <a:br>
              <a:rPr lang="en-IE" sz="2400" dirty="0"/>
            </a:br>
            <a:r>
              <a:rPr lang="en-IE" sz="2400" dirty="0"/>
              <a:t> :</a:t>
            </a:r>
          </a:p>
          <a:p>
            <a:r>
              <a:rPr lang="en-IE" sz="2400" dirty="0"/>
              <a:t>Scanner </a:t>
            </a:r>
            <a:r>
              <a:rPr lang="en-IE" sz="24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400" dirty="0"/>
              <a:t>= 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400" dirty="0"/>
              <a:t>Scanner(</a:t>
            </a: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400" dirty="0"/>
              <a:t>);</a:t>
            </a:r>
          </a:p>
          <a:p>
            <a:r>
              <a:rPr lang="en-IE" sz="2400" dirty="0"/>
              <a:t> :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n;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sum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</a:t>
            </a:r>
            <a:br>
              <a:rPr lang="en-IE" sz="2400" dirty="0"/>
            </a:b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for 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 err="1"/>
              <a:t>i</a:t>
            </a:r>
            <a:r>
              <a:rPr lang="en-IE" sz="2400" dirty="0"/>
              <a:t>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&lt;</a:t>
            </a:r>
            <a:r>
              <a:rPr lang="en-IE" sz="2400" dirty="0">
                <a:solidFill>
                  <a:srgbClr val="0000FF"/>
                </a:solidFill>
                <a:effectLst/>
              </a:rPr>
              <a:t>10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  {</a:t>
            </a:r>
            <a:br>
              <a:rPr lang="en-IE" sz="2400" dirty="0"/>
            </a:br>
            <a:r>
              <a:rPr lang="en-IE" sz="2400" dirty="0"/>
              <a:t>    n = </a:t>
            </a:r>
            <a:r>
              <a:rPr lang="en-IE" sz="2400" i="1" dirty="0" err="1">
                <a:solidFill>
                  <a:srgbClr val="660E7A"/>
                </a:solidFill>
                <a:effectLst/>
              </a:rPr>
              <a:t>input</a:t>
            </a:r>
            <a:r>
              <a:rPr lang="en-IE" sz="2400" dirty="0" err="1"/>
              <a:t>.nextInt</a:t>
            </a:r>
            <a:r>
              <a:rPr lang="en-IE" sz="2400" dirty="0"/>
              <a:t>();</a:t>
            </a:r>
            <a:br>
              <a:rPr lang="en-IE" sz="2400" dirty="0"/>
            </a:br>
            <a:r>
              <a:rPr lang="en-IE" sz="2400" dirty="0"/>
              <a:t>    sum += n;</a:t>
            </a:r>
            <a:br>
              <a:rPr lang="en-IE" sz="2400" dirty="0"/>
            </a:br>
            <a:r>
              <a:rPr lang="en-IE" sz="2400" dirty="0"/>
              <a:t>}</a:t>
            </a:r>
            <a:br>
              <a:rPr lang="en-IE" sz="2400" dirty="0"/>
            </a:b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out</a:t>
            </a:r>
            <a:r>
              <a:rPr lang="en-IE" sz="2400" dirty="0" err="1"/>
              <a:t>.println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 dirty="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606062" y="4191000"/>
            <a:ext cx="4032738" cy="1600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6019800" y="2057401"/>
            <a:ext cx="4457700" cy="221599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Notice that, </a:t>
            </a:r>
          </a:p>
          <a:p>
            <a:pPr algn="ctr"/>
            <a:r>
              <a:rPr lang="en-US" sz="2400" dirty="0"/>
              <a:t>each time a number is read in, </a:t>
            </a:r>
          </a:p>
          <a:p>
            <a:pPr algn="ctr"/>
            <a:r>
              <a:rPr lang="en-US" sz="2400" dirty="0"/>
              <a:t>it overwrites the value stored in 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 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It doesn’t remember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the individual numbers typed in.</a:t>
            </a:r>
          </a:p>
        </p:txBody>
      </p:sp>
    </p:spTree>
    <p:extLst>
      <p:ext uri="{BB962C8B-B14F-4D97-AF65-F5344CB8AC3E}">
        <p14:creationId xmlns:p14="http://schemas.microsoft.com/office/powerpoint/2010/main" val="258472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</a:t>
            </a:r>
            <a:r>
              <a:rPr lang="en-US" dirty="0"/>
              <a:t> – </a:t>
            </a:r>
            <a:r>
              <a:rPr lang="en-US" b="1" dirty="0"/>
              <a:t>Never lose input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try to </a:t>
            </a:r>
            <a:r>
              <a:rPr lang="en-GB" b="1" dirty="0"/>
              <a:t>store</a:t>
            </a:r>
            <a:r>
              <a:rPr lang="en-GB" dirty="0"/>
              <a:t> input data for later use </a:t>
            </a:r>
            <a:br>
              <a:rPr lang="en-GB" dirty="0"/>
            </a:br>
            <a:endParaRPr lang="en-GB" dirty="0"/>
          </a:p>
          <a:p>
            <a:r>
              <a:rPr lang="en-GB" dirty="0"/>
              <a:t>In real-life systems, </a:t>
            </a:r>
            <a:br>
              <a:rPr lang="en-GB" dirty="0"/>
            </a:br>
            <a:r>
              <a:rPr lang="en-GB" dirty="0"/>
              <a:t>you nearly always need to use it again.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previous code has NOT done this.</a:t>
            </a:r>
          </a:p>
          <a:p>
            <a:pPr lvl="1"/>
            <a:r>
              <a:rPr lang="en-GB" dirty="0"/>
              <a:t>Let’s try another way ... </a:t>
            </a:r>
            <a:endParaRPr lang="en-IE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8915400" y="274638"/>
            <a:ext cx="990600" cy="990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78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Remembering 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072820"/>
            <a:ext cx="8915400" cy="40934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n0,n1, n2, n3, n4, n5, n6, n7, n8, n9;</a:t>
            </a:r>
          </a:p>
          <a:p>
            <a:r>
              <a:rPr lang="en-US" sz="2000" dirty="0" err="1"/>
              <a:t>int</a:t>
            </a:r>
            <a:r>
              <a:rPr lang="en-US" sz="2000" dirty="0"/>
              <a:t> sum = 0;</a:t>
            </a:r>
          </a:p>
          <a:p>
            <a:endParaRPr lang="en-US" sz="2000" dirty="0"/>
          </a:p>
          <a:p>
            <a:r>
              <a:rPr lang="en-US" sz="2000" dirty="0"/>
              <a:t>n0 = </a:t>
            </a:r>
            <a:r>
              <a:rPr lang="en-US" sz="2000" dirty="0" err="1"/>
              <a:t>input.nextInt();</a:t>
            </a:r>
            <a:endParaRPr lang="en-US" sz="2000" dirty="0"/>
          </a:p>
          <a:p>
            <a:r>
              <a:rPr lang="en-US" sz="2000" dirty="0"/>
              <a:t>sum += n0;</a:t>
            </a:r>
          </a:p>
          <a:p>
            <a:endParaRPr lang="en-US" sz="2000" dirty="0"/>
          </a:p>
          <a:p>
            <a:r>
              <a:rPr lang="en-US" sz="2000" dirty="0"/>
              <a:t>n1 = </a:t>
            </a:r>
            <a:r>
              <a:rPr lang="en-US" sz="2000" dirty="0" err="1"/>
              <a:t>input.nextInt();</a:t>
            </a:r>
            <a:endParaRPr lang="en-US" sz="2000" dirty="0"/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//rest of code for n2 to n8</a:t>
            </a:r>
          </a:p>
          <a:p>
            <a:endParaRPr lang="en-US" sz="2000" dirty="0"/>
          </a:p>
          <a:p>
            <a:r>
              <a:rPr lang="en-US" sz="2000" dirty="0"/>
              <a:t>n9= </a:t>
            </a:r>
            <a:r>
              <a:rPr lang="en-US" sz="2000" dirty="0" err="1"/>
              <a:t>input.nextInt(); </a:t>
            </a:r>
          </a:p>
          <a:p>
            <a:r>
              <a:rPr lang="en-US" sz="2000" dirty="0"/>
              <a:t>sum += n9;</a:t>
            </a:r>
          </a:p>
          <a:p>
            <a:endParaRPr lang="en-US" sz="2000" dirty="0"/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000" dirty="0"/>
              <a:t>("The sum of the values you typed in is : " + sum);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67400" y="1524001"/>
            <a:ext cx="4724400" cy="954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This works in the sense that we have retained the input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81687" y="2418826"/>
            <a:ext cx="47244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BUT…we no longer use loops.</a:t>
            </a:r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81687" y="2824114"/>
            <a:ext cx="47244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Imagine the code if we had to read in 1,000 numbers?</a:t>
            </a:r>
          </a:p>
          <a:p>
            <a:pPr algn="ctr"/>
            <a:endParaRPr lang="en-GB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67400" y="4104144"/>
            <a:ext cx="4724400" cy="26776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We need a new approach…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This is where </a:t>
            </a:r>
            <a:r>
              <a:rPr lang="en-GB" sz="2800" b="1" dirty="0"/>
              <a:t>data structures</a:t>
            </a:r>
            <a:r>
              <a:rPr lang="en-GB" sz="2800" dirty="0"/>
              <a:t> come in! 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We will now look at </a:t>
            </a:r>
            <a:r>
              <a:rPr lang="en-GB" sz="2800" b="1" dirty="0"/>
              <a:t>arrays</a:t>
            </a:r>
            <a:r>
              <a:rPr lang="en-G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8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31CA-CC3A-47A3-0DFC-8B76DC40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F921-6D32-7387-2DDE-8EDA39F5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E36B7-4698-3687-BD78-D6F028D6925B}"/>
              </a:ext>
            </a:extLst>
          </p:cNvPr>
          <p:cNvSpPr txBox="1"/>
          <p:nvPr/>
        </p:nvSpPr>
        <p:spPr>
          <a:xfrm>
            <a:off x="621632" y="1417638"/>
            <a:ext cx="10972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Why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Primitive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Array Syntax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Loops and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What datatypes can be stored in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 Difference between fixed size and number of populated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05F54-A8A6-C9DD-9290-E76EB46C3B1A}"/>
              </a:ext>
            </a:extLst>
          </p:cNvPr>
          <p:cNvSpPr/>
          <p:nvPr/>
        </p:nvSpPr>
        <p:spPr>
          <a:xfrm>
            <a:off x="621632" y="2362200"/>
            <a:ext cx="3416968" cy="6096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38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Arrays</a:t>
            </a:r>
            <a:r>
              <a:rPr lang="en-US" dirty="0"/>
              <a:t> (fixed-size collections)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764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Arrays are a way to collect associated values.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Programming languages usually offer a special </a:t>
            </a:r>
            <a:r>
              <a:rPr lang="en-US" dirty="0">
                <a:solidFill>
                  <a:srgbClr val="FF0000"/>
                </a:solidFill>
              </a:rPr>
              <a:t>fixed-size collection </a:t>
            </a:r>
            <a:r>
              <a:rPr lang="en-US" dirty="0"/>
              <a:t>type: an </a:t>
            </a:r>
            <a:r>
              <a:rPr lang="en-US" i="1" dirty="0"/>
              <a:t>array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Java arrays can store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objects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primitive-type values.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Arrays use a special syntax.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1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EE88-46E7-65D1-1466-08A4DDCC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3D5E-F41F-15C2-E501-0DBF1601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6EE49-0AEB-144D-C792-0EECDDC6D8B3}"/>
              </a:ext>
            </a:extLst>
          </p:cNvPr>
          <p:cNvSpPr txBox="1"/>
          <p:nvPr/>
        </p:nvSpPr>
        <p:spPr>
          <a:xfrm>
            <a:off x="621632" y="1417638"/>
            <a:ext cx="10972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Why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Primitive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Array Syntax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Loops and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What datatypes can be stored in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 Difference between fixed size and number of populated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87FB14-95E7-38F8-F25A-FDE89D25AE50}"/>
              </a:ext>
            </a:extLst>
          </p:cNvPr>
          <p:cNvSpPr/>
          <p:nvPr/>
        </p:nvSpPr>
        <p:spPr>
          <a:xfrm>
            <a:off x="621632" y="3273880"/>
            <a:ext cx="2883568" cy="6096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832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Primitive types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835663" y="5410200"/>
            <a:ext cx="762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sz="4000" dirty="0">
                <a:latin typeface="Trebuchet MS" pitchFamily="-32" charset="0"/>
              </a:rPr>
              <a:t>17</a:t>
            </a:r>
          </a:p>
        </p:txBody>
      </p:sp>
      <p:sp>
        <p:nvSpPr>
          <p:cNvPr id="3081" name="Text Box 10"/>
          <p:cNvSpPr txBox="1">
            <a:spLocks noChangeArrowheads="1"/>
          </p:cNvSpPr>
          <p:nvPr/>
        </p:nvSpPr>
        <p:spPr bwMode="auto">
          <a:xfrm>
            <a:off x="2147776" y="1828800"/>
            <a:ext cx="2470053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b="0" dirty="0">
                <a:solidFill>
                  <a:srgbClr val="C00000"/>
                </a:solidFill>
                <a:latin typeface="Trebuchet MS" pitchFamily="-32" charset="0"/>
              </a:rPr>
              <a:t>Primitive type</a:t>
            </a:r>
          </a:p>
        </p:txBody>
      </p:sp>
      <p:sp>
        <p:nvSpPr>
          <p:cNvPr id="3083" name="Text Box 12"/>
          <p:cNvSpPr txBox="1">
            <a:spLocks noChangeArrowheads="1"/>
          </p:cNvSpPr>
          <p:nvPr/>
        </p:nvSpPr>
        <p:spPr bwMode="auto">
          <a:xfrm>
            <a:off x="2112641" y="2617113"/>
            <a:ext cx="29927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 err="1">
                <a:latin typeface="Courier New" pitchFamily="-32" charset="0"/>
              </a:rPr>
              <a:t>int</a:t>
            </a:r>
            <a:r>
              <a:rPr lang="en-GB" sz="2800" dirty="0">
                <a:latin typeface="Courier New" pitchFamily="-32" charset="0"/>
              </a:rPr>
              <a:t> </a:t>
            </a:r>
            <a:r>
              <a:rPr lang="en-GB" sz="2800" dirty="0" err="1">
                <a:latin typeface="Courier New" pitchFamily="-32" charset="0"/>
              </a:rPr>
              <a:t>num</a:t>
            </a:r>
            <a:r>
              <a:rPr lang="en-GB" sz="2800" dirty="0">
                <a:latin typeface="Courier New" pitchFamily="-32" charset="0"/>
              </a:rPr>
              <a:t> = 17;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515F851-7DF3-40AD-B332-C0B11289F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342" y="4191001"/>
            <a:ext cx="2940259" cy="95410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algn="ctr" eaLnBrk="1" hangingPunct="1"/>
            <a:r>
              <a:rPr lang="en-GB" sz="2800" b="0" dirty="0">
                <a:solidFill>
                  <a:srgbClr val="C00000"/>
                </a:solidFill>
                <a:latin typeface="Trebuchet MS" pitchFamily="-32" charset="0"/>
              </a:rPr>
              <a:t>Directly stored in memory…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8445D4-7CF0-4AAD-9CD0-4C7572FD768F}"/>
              </a:ext>
            </a:extLst>
          </p:cNvPr>
          <p:cNvSpPr/>
          <p:nvPr/>
        </p:nvSpPr>
        <p:spPr>
          <a:xfrm>
            <a:off x="6096000" y="1676401"/>
            <a:ext cx="4191000" cy="470296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are now going to look at a </a:t>
            </a:r>
            <a:r>
              <a:rPr lang="en-GB" sz="2400" b="1" dirty="0"/>
              <a:t>structure</a:t>
            </a:r>
            <a:r>
              <a:rPr lang="en-GB" sz="2400" dirty="0"/>
              <a:t> that can </a:t>
            </a:r>
            <a:r>
              <a:rPr lang="en-GB" sz="2400" b="1" dirty="0"/>
              <a:t>store many values </a:t>
            </a:r>
            <a:r>
              <a:rPr lang="en-GB" sz="2400" dirty="0"/>
              <a:t>of the </a:t>
            </a:r>
            <a:r>
              <a:rPr lang="en-GB" sz="2400" b="1" dirty="0"/>
              <a:t>same type</a:t>
            </a:r>
            <a:r>
              <a:rPr lang="en-GB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Imagine a structure made up of sub-divisions or sections</a:t>
            </a:r>
            <a:r>
              <a:rPr lang="mr-IN" sz="2400" dirty="0"/>
              <a:t>…</a:t>
            </a:r>
            <a:br>
              <a:rPr lang="en-IE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Such a structure is called an </a:t>
            </a:r>
            <a:r>
              <a:rPr lang="en-GB" sz="2400" b="1" dirty="0"/>
              <a:t>array</a:t>
            </a:r>
            <a:r>
              <a:rPr lang="en-GB" sz="2400" dirty="0"/>
              <a:t> and would look like: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42373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81" grpId="0" animBg="1"/>
      <p:bldP spid="3083" grpId="0"/>
      <p:bldP spid="12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Structure of a primitive array</a:t>
            </a:r>
          </a:p>
        </p:txBody>
      </p:sp>
      <p:pic>
        <p:nvPicPr>
          <p:cNvPr id="4098" name="Picture 2" descr="Illustration of an array as 10 boxes numbered 0 through 9; an index of 0 indicates the first element in the arr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209800"/>
            <a:ext cx="7616921" cy="2819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89160" y="6488668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dirty="0">
                <a:hlinkClick r:id="rId3"/>
              </a:rPr>
              <a:t>http://docs.oracle.com/javase/tutorial/java/nutsandbolts/arrays.html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717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24003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 err="1"/>
              <a:t>int</a:t>
            </a:r>
            <a:r>
              <a:rPr lang="en-GB" sz="2800" b="1" dirty="0"/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9205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1890A5C-0042-41EC-A97E-63251CA16A2B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C1F11D-8D3D-4478-B415-16F739E51BCF}"/>
              </a:ext>
            </a:extLst>
          </p:cNvPr>
          <p:cNvSpPr/>
          <p:nvPr/>
        </p:nvSpPr>
        <p:spPr>
          <a:xfrm>
            <a:off x="1600201" y="3620066"/>
            <a:ext cx="3483838" cy="285693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dirty="0"/>
              <a:t>We have declared an array of </a:t>
            </a:r>
            <a:r>
              <a:rPr lang="en-IE" sz="2000" dirty="0" err="1"/>
              <a:t>int</a:t>
            </a:r>
            <a:r>
              <a:rPr lang="en-IE" sz="2000" dirty="0"/>
              <a:t>, with a capacity of four. 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Each element is of type </a:t>
            </a:r>
            <a:r>
              <a:rPr lang="en-IE" sz="2000" b="1" dirty="0"/>
              <a:t>int</a:t>
            </a:r>
            <a:r>
              <a:rPr lang="en-IE" sz="2000" dirty="0"/>
              <a:t>.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The array is called </a:t>
            </a:r>
            <a:r>
              <a:rPr lang="en-IE" sz="2000" b="1" dirty="0"/>
              <a:t>numbers</a:t>
            </a:r>
            <a:r>
              <a:rPr lang="en-IE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018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6934200" y="3505200"/>
            <a:ext cx="1066800" cy="2286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BC3C9-2ED5-4BCD-8FEE-7FDB53BA9C6E}"/>
              </a:ext>
            </a:extLst>
          </p:cNvPr>
          <p:cNvSpPr/>
          <p:nvPr/>
        </p:nvSpPr>
        <p:spPr>
          <a:xfrm>
            <a:off x="5943600" y="5867400"/>
            <a:ext cx="29718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Index of each element in the array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AC4C9A-5A77-4D71-8DE6-19E3861EB56E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290918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BC3C9-2ED5-4BCD-8FEE-7FDB53BA9C6E}"/>
              </a:ext>
            </a:extLst>
          </p:cNvPr>
          <p:cNvSpPr/>
          <p:nvPr/>
        </p:nvSpPr>
        <p:spPr>
          <a:xfrm>
            <a:off x="6858000" y="5867400"/>
            <a:ext cx="3352800" cy="8858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Default value for each element of type </a:t>
            </a:r>
            <a:r>
              <a:rPr lang="en-IE" sz="2400" b="1" dirty="0"/>
              <a:t>int</a:t>
            </a:r>
            <a:r>
              <a:rPr lang="en-IE" sz="2400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4E820C-7FD4-4EDA-BCCA-847FF738165D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  <p:sp>
        <p:nvSpPr>
          <p:cNvPr id="12" name="Donut 11"/>
          <p:cNvSpPr/>
          <p:nvPr/>
        </p:nvSpPr>
        <p:spPr>
          <a:xfrm>
            <a:off x="8141926" y="3380443"/>
            <a:ext cx="849675" cy="2316162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44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49756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7" y="365760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numbers[2] = 18;</a:t>
            </a:r>
            <a:endParaRPr lang="en-IE" sz="2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94C33-B37D-4AD0-8F43-3767EAC60CE5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2</a:t>
            </a:r>
            <a:r>
              <a:rPr lang="en-IE" sz="2400" dirty="0"/>
              <a:t> and setting it to a value of </a:t>
            </a:r>
            <a:r>
              <a:rPr lang="en-IE" sz="2400" b="1" dirty="0"/>
              <a:t>18</a:t>
            </a:r>
            <a:r>
              <a:rPr lang="en-IE" sz="2400" dirty="0"/>
              <a:t>.</a:t>
            </a:r>
          </a:p>
        </p:txBody>
      </p:sp>
      <p:sp>
        <p:nvSpPr>
          <p:cNvPr id="16" name="Donut 15"/>
          <p:cNvSpPr/>
          <p:nvPr/>
        </p:nvSpPr>
        <p:spPr>
          <a:xfrm>
            <a:off x="6781800" y="4616448"/>
            <a:ext cx="2819400" cy="509521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21398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0" y="465838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numbers[0] = 12;</a:t>
            </a:r>
            <a:endParaRPr lang="en-IE" sz="28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878806" y="5410200"/>
            <a:ext cx="2921794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setting the element at index </a:t>
            </a:r>
            <a:r>
              <a:rPr lang="en-IE" sz="2400" b="1" dirty="0"/>
              <a:t>0</a:t>
            </a:r>
            <a:r>
              <a:rPr lang="en-IE" sz="2400" dirty="0"/>
              <a:t> and to a value of </a:t>
            </a:r>
            <a:r>
              <a:rPr lang="en-IE" sz="2400" b="1" dirty="0"/>
              <a:t>12</a:t>
            </a:r>
            <a:r>
              <a:rPr lang="en-IE" sz="2400" dirty="0"/>
              <a:t>.</a:t>
            </a:r>
          </a:p>
        </p:txBody>
      </p:sp>
      <p:sp>
        <p:nvSpPr>
          <p:cNvPr id="21" name="Donut 20"/>
          <p:cNvSpPr/>
          <p:nvPr/>
        </p:nvSpPr>
        <p:spPr>
          <a:xfrm>
            <a:off x="6858000" y="3733802"/>
            <a:ext cx="2590800" cy="447019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1" y="465838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numbers[0] = 12;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5503695" y="5638869"/>
            <a:ext cx="4859505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Here we are printing the contents of index location 2 </a:t>
            </a:r>
            <a:br>
              <a:rPr lang="en-IE" sz="2400" dirty="0"/>
            </a:br>
            <a:r>
              <a:rPr lang="en-IE" sz="24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-98605" y="5611456"/>
            <a:ext cx="5119158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GB" sz="2800" b="1" dirty="0"/>
              <a:t>(numbers[2]);</a:t>
            </a:r>
            <a:endParaRPr lang="en-IE" sz="2800" b="1" dirty="0"/>
          </a:p>
        </p:txBody>
      </p:sp>
      <p:sp>
        <p:nvSpPr>
          <p:cNvPr id="19" name="Donut 18"/>
          <p:cNvSpPr/>
          <p:nvPr/>
        </p:nvSpPr>
        <p:spPr>
          <a:xfrm>
            <a:off x="6858000" y="4616448"/>
            <a:ext cx="2667001" cy="509521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Declaring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514600" y="1676400"/>
            <a:ext cx="3581400" cy="173893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[]  numbers;</a:t>
            </a:r>
          </a:p>
          <a:p>
            <a:endParaRPr lang="en-GB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GB" sz="2800" dirty="0" err="1">
                <a:solidFill>
                  <a:schemeClr val="bg1">
                    <a:lumMod val="50000"/>
                  </a:schemeClr>
                </a:solidFill>
              </a:rPr>
              <a:t>somecode</a:t>
            </a: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sz="1050" b="1" dirty="0">
              <a:solidFill>
                <a:schemeClr val="tx1"/>
              </a:solidFill>
            </a:endParaRPr>
          </a:p>
          <a:p>
            <a:r>
              <a:rPr lang="en-GB" sz="2800" b="1" dirty="0">
                <a:solidFill>
                  <a:schemeClr val="tx1"/>
                </a:solidFill>
              </a:rPr>
              <a:t>numbers = new </a:t>
            </a:r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[4];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865" y="26782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3724" y="2133600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7086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413564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8072865" y="2944951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Up 9">
            <a:extLst>
              <a:ext uri="{FF2B5EF4-FFF2-40B4-BE49-F238E27FC236}">
                <a16:creationId xmlns:a16="http://schemas.microsoft.com/office/drawing/2014/main" id="{014EE337-DB19-4609-ABB7-FB0AEFB3224B}"/>
              </a:ext>
            </a:extLst>
          </p:cNvPr>
          <p:cNvSpPr/>
          <p:nvPr/>
        </p:nvSpPr>
        <p:spPr>
          <a:xfrm>
            <a:off x="1618821" y="3674101"/>
            <a:ext cx="5257800" cy="2971799"/>
          </a:xfrm>
          <a:prstGeom prst="upArrow">
            <a:avLst>
              <a:gd name="adj1" fmla="val 50000"/>
              <a:gd name="adj2" fmla="val 4758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This is how we previously declared our array of four</a:t>
            </a:r>
            <a:r>
              <a:rPr lang="en-IE" sz="2800" b="1" dirty="0"/>
              <a:t> </a:t>
            </a:r>
            <a:r>
              <a:rPr lang="en-IE" sz="2800" b="1" dirty="0" err="1"/>
              <a:t>int</a:t>
            </a:r>
            <a:r>
              <a:rPr lang="en-IE" sz="2800" dirty="0"/>
              <a:t>, called </a:t>
            </a:r>
            <a:r>
              <a:rPr lang="en-IE" sz="2800" b="1" dirty="0"/>
              <a:t>numbers</a:t>
            </a:r>
            <a:r>
              <a:rPr lang="en-IE" sz="2800" dirty="0"/>
              <a:t>.</a:t>
            </a:r>
          </a:p>
        </p:txBody>
      </p:sp>
      <p:sp>
        <p:nvSpPr>
          <p:cNvPr id="11" name="Donut 10"/>
          <p:cNvSpPr/>
          <p:nvPr/>
        </p:nvSpPr>
        <p:spPr>
          <a:xfrm>
            <a:off x="1612195" y="1417638"/>
            <a:ext cx="5224670" cy="2256462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5-Point Star 12"/>
          <p:cNvSpPr/>
          <p:nvPr/>
        </p:nvSpPr>
        <p:spPr>
          <a:xfrm>
            <a:off x="1612196" y="609600"/>
            <a:ext cx="1138665" cy="10668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8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Declaring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514600" y="1676400"/>
            <a:ext cx="3581400" cy="173893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[]  numbers;</a:t>
            </a:r>
          </a:p>
          <a:p>
            <a:endParaRPr lang="en-GB" sz="11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somecode</a:t>
            </a:r>
            <a:endParaRPr lang="en-GB" sz="28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GB" sz="105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865" y="26782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3724" y="2133600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7086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899291"/>
              </p:ext>
            </p:extLst>
          </p:nvPr>
        </p:nvGraphicFramePr>
        <p:xfrm>
          <a:off x="8153400" y="413564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8072865" y="2944951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014EE337-DB19-4609-ABB7-FB0AEFB3224B}"/>
              </a:ext>
            </a:extLst>
          </p:cNvPr>
          <p:cNvSpPr/>
          <p:nvPr/>
        </p:nvSpPr>
        <p:spPr>
          <a:xfrm>
            <a:off x="1828800" y="3733800"/>
            <a:ext cx="5105400" cy="18288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We can also declare it like this…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2A0DC-5E11-47CF-8C0F-DE8C4AFFE743}"/>
              </a:ext>
            </a:extLst>
          </p:cNvPr>
          <p:cNvSpPr/>
          <p:nvPr/>
        </p:nvSpPr>
        <p:spPr>
          <a:xfrm>
            <a:off x="2133600" y="5801380"/>
            <a:ext cx="44196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[]  numbers = new </a:t>
            </a:r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[4];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2" name="Donut 11"/>
          <p:cNvSpPr/>
          <p:nvPr/>
        </p:nvSpPr>
        <p:spPr>
          <a:xfrm>
            <a:off x="1709530" y="5562600"/>
            <a:ext cx="5224670" cy="1066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5-Point Star 2"/>
          <p:cNvSpPr/>
          <p:nvPr/>
        </p:nvSpPr>
        <p:spPr>
          <a:xfrm>
            <a:off x="6788938" y="5347662"/>
            <a:ext cx="1138665" cy="10668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96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3F16-CC2D-0BB0-130B-1C0BA0FF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4EB12C6B-D91E-AA70-1576-463AA9625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E" dirty="0"/>
              <a:t>Alternative way of declaring and initialising an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6EE45C58-488B-665D-2195-0E00C5129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865" y="26782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084EA03F-86A3-0B65-1DE2-EDAE9E3B3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3724" y="2133600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0B1258-DFB2-B38C-002D-717767BF3104}"/>
              </a:ext>
            </a:extLst>
          </p:cNvPr>
          <p:cNvCxnSpPr/>
          <p:nvPr/>
        </p:nvCxnSpPr>
        <p:spPr>
          <a:xfrm>
            <a:off x="7086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22F46A-EC14-E260-EB02-2C20791BF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089672"/>
              </p:ext>
            </p:extLst>
          </p:nvPr>
        </p:nvGraphicFramePr>
        <p:xfrm>
          <a:off x="8153400" y="413564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D62459-8841-DE16-6DD0-929A2E1BBFDA}"/>
              </a:ext>
            </a:extLst>
          </p:cNvPr>
          <p:cNvCxnSpPr>
            <a:endCxn id="9" idx="0"/>
          </p:cNvCxnSpPr>
          <p:nvPr/>
        </p:nvCxnSpPr>
        <p:spPr>
          <a:xfrm>
            <a:off x="8072865" y="2944951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EEFC8DC9-BF88-C704-B627-8DDBB5BF1E4E}"/>
              </a:ext>
            </a:extLst>
          </p:cNvPr>
          <p:cNvSpPr/>
          <p:nvPr/>
        </p:nvSpPr>
        <p:spPr>
          <a:xfrm>
            <a:off x="990600" y="1656418"/>
            <a:ext cx="5105400" cy="18288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We can also declare it like this…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61DD91-574B-37CD-249D-0DA0B1048F0E}"/>
              </a:ext>
            </a:extLst>
          </p:cNvPr>
          <p:cNvSpPr/>
          <p:nvPr/>
        </p:nvSpPr>
        <p:spPr>
          <a:xfrm>
            <a:off x="1333500" y="3495020"/>
            <a:ext cx="44196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1"/>
                </a:solidFill>
              </a:rPr>
              <a:t>int[]  numbers = {3,6,56,66}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2" name="Donut 11">
            <a:extLst>
              <a:ext uri="{FF2B5EF4-FFF2-40B4-BE49-F238E27FC236}">
                <a16:creationId xmlns:a16="http://schemas.microsoft.com/office/drawing/2014/main" id="{36B15477-2FB7-640A-1E1B-3EFF6D292E8C}"/>
              </a:ext>
            </a:extLst>
          </p:cNvPr>
          <p:cNvSpPr/>
          <p:nvPr/>
        </p:nvSpPr>
        <p:spPr>
          <a:xfrm>
            <a:off x="990600" y="3223230"/>
            <a:ext cx="5224670" cy="1066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1B2F2F98-9E68-585A-8A14-D8CA1D9F4992}"/>
              </a:ext>
            </a:extLst>
          </p:cNvPr>
          <p:cNvSpPr/>
          <p:nvPr/>
        </p:nvSpPr>
        <p:spPr>
          <a:xfrm>
            <a:off x="6788938" y="5347662"/>
            <a:ext cx="1138665" cy="10668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69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4161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C00000"/>
                </a:solidFill>
              </a:rPr>
              <a:t>Returning to our method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that reads in, and sums, 10 numbers (typed in from the keyboard)…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667000" y="4495800"/>
            <a:ext cx="7162800" cy="1219200"/>
          </a:xfrm>
        </p:spPr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and converting it to use primitive arrays…</a:t>
            </a:r>
          </a:p>
        </p:txBody>
      </p:sp>
    </p:spTree>
    <p:extLst>
      <p:ext uri="{BB962C8B-B14F-4D97-AF65-F5344CB8AC3E}">
        <p14:creationId xmlns:p14="http://schemas.microsoft.com/office/powerpoint/2010/main" val="681360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Version that doesn’t save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1676401"/>
            <a:ext cx="8839200" cy="52629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400" dirty="0" err="1"/>
              <a:t>java.util.Scanner</a:t>
            </a:r>
            <a:r>
              <a:rPr lang="en-IE" sz="2400" dirty="0"/>
              <a:t>;</a:t>
            </a:r>
            <a:br>
              <a:rPr lang="en-IE" sz="2400" dirty="0"/>
            </a:br>
            <a:r>
              <a:rPr lang="en-IE" sz="2400" dirty="0"/>
              <a:t> :</a:t>
            </a:r>
          </a:p>
          <a:p>
            <a:r>
              <a:rPr lang="en-IE" sz="2400" dirty="0"/>
              <a:t>Scanner </a:t>
            </a:r>
            <a:r>
              <a:rPr lang="en-IE" sz="24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400" dirty="0"/>
              <a:t>= 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400" dirty="0"/>
              <a:t>Scanner(</a:t>
            </a: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400" dirty="0"/>
              <a:t>);</a:t>
            </a:r>
          </a:p>
          <a:p>
            <a:r>
              <a:rPr lang="en-IE" sz="2400" dirty="0"/>
              <a:t> :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n;</a:t>
            </a: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/>
              <a:t>sum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</a:t>
            </a:r>
            <a:br>
              <a:rPr lang="en-IE" sz="2400" dirty="0"/>
            </a:br>
            <a:br>
              <a:rPr lang="en-IE" sz="2400" dirty="0"/>
            </a:br>
            <a:r>
              <a:rPr lang="en-IE" sz="2400" b="1" dirty="0">
                <a:solidFill>
                  <a:srgbClr val="000080"/>
                </a:solidFill>
                <a:effectLst/>
              </a:rPr>
              <a:t>for 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int </a:t>
            </a:r>
            <a:r>
              <a:rPr lang="en-IE" sz="2400" dirty="0" err="1"/>
              <a:t>i</a:t>
            </a:r>
            <a:r>
              <a:rPr lang="en-IE" sz="2400" dirty="0"/>
              <a:t> = </a:t>
            </a:r>
            <a:r>
              <a:rPr lang="en-IE" sz="2400" dirty="0">
                <a:solidFill>
                  <a:srgbClr val="0000FF"/>
                </a:solidFill>
                <a:effectLst/>
              </a:rPr>
              <a:t>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&lt;</a:t>
            </a:r>
            <a:r>
              <a:rPr lang="en-IE" sz="2400" dirty="0">
                <a:solidFill>
                  <a:srgbClr val="0000FF"/>
                </a:solidFill>
                <a:effectLst/>
              </a:rPr>
              <a:t>10</a:t>
            </a:r>
            <a:r>
              <a:rPr lang="en-IE" sz="2400" dirty="0"/>
              <a:t>; </a:t>
            </a:r>
            <a:r>
              <a:rPr lang="en-IE" sz="2400" dirty="0" err="1"/>
              <a:t>i</a:t>
            </a:r>
            <a:r>
              <a:rPr lang="en-IE" sz="2400" dirty="0"/>
              <a:t>++)  {</a:t>
            </a:r>
            <a:br>
              <a:rPr lang="en-IE" sz="2400" dirty="0"/>
            </a:br>
            <a:r>
              <a:rPr lang="en-IE" sz="2400" dirty="0"/>
              <a:t>    n = </a:t>
            </a:r>
            <a:r>
              <a:rPr lang="en-IE" sz="2400" i="1" dirty="0" err="1">
                <a:solidFill>
                  <a:srgbClr val="660E7A"/>
                </a:solidFill>
                <a:effectLst/>
              </a:rPr>
              <a:t>input</a:t>
            </a:r>
            <a:r>
              <a:rPr lang="en-IE" sz="2400" dirty="0" err="1"/>
              <a:t>.nextInt</a:t>
            </a:r>
            <a:r>
              <a:rPr lang="en-IE" sz="2400" dirty="0"/>
              <a:t>();</a:t>
            </a:r>
            <a:br>
              <a:rPr lang="en-IE" sz="2400" dirty="0"/>
            </a:br>
            <a:r>
              <a:rPr lang="en-IE" sz="2400" dirty="0"/>
              <a:t>    sum += n;</a:t>
            </a:r>
            <a:br>
              <a:rPr lang="en-IE" sz="2400" dirty="0"/>
            </a:br>
            <a:r>
              <a:rPr lang="en-IE" sz="2400" dirty="0"/>
              <a:t>}</a:t>
            </a:r>
            <a:br>
              <a:rPr lang="en-IE" sz="2400" dirty="0"/>
            </a:br>
            <a:br>
              <a:rPr lang="en-IE" sz="2400" dirty="0"/>
            </a:b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out</a:t>
            </a:r>
            <a:r>
              <a:rPr lang="en-IE" sz="2400" dirty="0" err="1"/>
              <a:t>.println</a:t>
            </a:r>
            <a:r>
              <a:rPr lang="en-IE" sz="2400" dirty="0"/>
              <a:t>(</a:t>
            </a:r>
            <a:r>
              <a:rPr lang="en-IE" sz="2400" b="1" dirty="0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 dirty="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600200" y="4221376"/>
            <a:ext cx="3733800" cy="1600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5981700" y="2040554"/>
            <a:ext cx="4495800" cy="221599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Notice that, </a:t>
            </a:r>
          </a:p>
          <a:p>
            <a:pPr algn="ctr"/>
            <a:r>
              <a:rPr lang="en-US" sz="2400" dirty="0"/>
              <a:t>each time a number is read in, </a:t>
            </a:r>
          </a:p>
          <a:p>
            <a:pPr algn="ctr"/>
            <a:r>
              <a:rPr lang="en-US" sz="2400" dirty="0"/>
              <a:t>it overwrites the value stored in 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 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It doesn’t remember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the individual numbers typed in.</a:t>
            </a:r>
          </a:p>
        </p:txBody>
      </p:sp>
    </p:spTree>
    <p:extLst>
      <p:ext uri="{BB962C8B-B14F-4D97-AF65-F5344CB8AC3E}">
        <p14:creationId xmlns:p14="http://schemas.microsoft.com/office/powerpoint/2010/main" val="1082392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FD0C-73C6-26D2-3B74-02E5F917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C5C6-9B95-1967-F7A6-B07A81F8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0DBE9-4E6B-ABEA-05F1-56860DA8F857}"/>
              </a:ext>
            </a:extLst>
          </p:cNvPr>
          <p:cNvSpPr txBox="1"/>
          <p:nvPr/>
        </p:nvSpPr>
        <p:spPr>
          <a:xfrm>
            <a:off x="621632" y="1417638"/>
            <a:ext cx="10972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Why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Primitive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Array Syntax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Loops and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What datatypes can be stored in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 Difference between fixed size and number of populated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3110A-9627-A270-684D-EA27F6D699C2}"/>
              </a:ext>
            </a:extLst>
          </p:cNvPr>
          <p:cNvSpPr/>
          <p:nvPr/>
        </p:nvSpPr>
        <p:spPr>
          <a:xfrm>
            <a:off x="633664" y="4343400"/>
            <a:ext cx="3557336" cy="6096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894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793F25-26D5-4490-978E-7C8BA5931115}"/>
              </a:ext>
            </a:extLst>
          </p:cNvPr>
          <p:cNvSpPr txBox="1"/>
          <p:nvPr/>
        </p:nvSpPr>
        <p:spPr>
          <a:xfrm>
            <a:off x="1952625" y="1295401"/>
            <a:ext cx="8410575" cy="563231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000" dirty="0" err="1"/>
              <a:t>java.util.Scanner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 :</a:t>
            </a:r>
          </a:p>
          <a:p>
            <a:r>
              <a:rPr lang="en-IE" sz="2000" dirty="0"/>
              <a:t>Scanner </a:t>
            </a:r>
            <a:r>
              <a:rPr lang="en-IE" sz="20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000" dirty="0"/>
              <a:t>= </a:t>
            </a:r>
            <a:r>
              <a:rPr lang="en-IE" sz="20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000" dirty="0"/>
              <a:t>Scanner(</a:t>
            </a:r>
            <a:r>
              <a:rPr lang="en-IE" sz="2000" dirty="0" err="1"/>
              <a:t>System.</a:t>
            </a:r>
            <a:r>
              <a:rPr lang="en-IE" sz="20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000" dirty="0"/>
              <a:t>);</a:t>
            </a:r>
          </a:p>
          <a:p>
            <a:r>
              <a:rPr lang="en-IE" sz="2000" dirty="0"/>
              <a:t> 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now we sum the values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 {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Using arrays to remember numbers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11231-9EA1-43F6-BEDB-9B8EBF6CCC47}"/>
              </a:ext>
            </a:extLst>
          </p:cNvPr>
          <p:cNvSpPr/>
          <p:nvPr/>
        </p:nvSpPr>
        <p:spPr>
          <a:xfrm>
            <a:off x="6548750" y="644486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7239000" y="1447801"/>
            <a:ext cx="2971800" cy="138499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Using an array </a:t>
            </a:r>
          </a:p>
          <a:p>
            <a:pPr algn="ctr"/>
            <a:r>
              <a:rPr lang="en-US" sz="2800" dirty="0"/>
              <a:t>to store each value </a:t>
            </a:r>
          </a:p>
          <a:p>
            <a:pPr algn="ctr"/>
            <a:r>
              <a:rPr lang="en-US" sz="2800" dirty="0"/>
              <a:t>that was entered.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9" name="Donut 8"/>
          <p:cNvSpPr/>
          <p:nvPr/>
        </p:nvSpPr>
        <p:spPr>
          <a:xfrm>
            <a:off x="1342818" y="2430998"/>
            <a:ext cx="5224670" cy="5334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1325233" y="3682168"/>
            <a:ext cx="5685167" cy="11430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>
            <a:off x="2286000" y="5165844"/>
            <a:ext cx="2971800" cy="12571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33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Using arrays to remember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1295401"/>
            <a:ext cx="8410575" cy="563231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000" dirty="0" err="1"/>
              <a:t>java.util.Scanner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 :</a:t>
            </a:r>
          </a:p>
          <a:p>
            <a:r>
              <a:rPr lang="en-IE" sz="2000" dirty="0"/>
              <a:t>Scanner </a:t>
            </a:r>
            <a:r>
              <a:rPr lang="en-IE" sz="20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000" dirty="0"/>
              <a:t>= </a:t>
            </a:r>
            <a:r>
              <a:rPr lang="en-IE" sz="20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000" dirty="0"/>
              <a:t>Scanner(</a:t>
            </a:r>
            <a:r>
              <a:rPr lang="en-IE" sz="2000" dirty="0" err="1"/>
              <a:t>System.</a:t>
            </a:r>
            <a:r>
              <a:rPr lang="en-IE" sz="20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000" dirty="0"/>
              <a:t>);</a:t>
            </a:r>
          </a:p>
          <a:p>
            <a:r>
              <a:rPr lang="en-IE" sz="2000" dirty="0"/>
              <a:t> 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now we sum the values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 {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11231-9EA1-43F6-BEDB-9B8EBF6CCC47}"/>
              </a:ext>
            </a:extLst>
          </p:cNvPr>
          <p:cNvSpPr/>
          <p:nvPr/>
        </p:nvSpPr>
        <p:spPr>
          <a:xfrm>
            <a:off x="6625652" y="644486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6324602" y="1178660"/>
            <a:ext cx="4190998" cy="224676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Q: </a:t>
            </a:r>
            <a:r>
              <a:rPr lang="en-US" sz="2800" dirty="0"/>
              <a:t>Can we reduce the code to only have </a:t>
            </a:r>
            <a:r>
              <a:rPr lang="en-US" sz="2800" b="1" dirty="0"/>
              <a:t>one loop?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dirty="0"/>
              <a:t>Could we move the “sum” code into the first loop?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7365" y="2858870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Loop 1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53001" y="467376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Loop 2</a:t>
            </a:r>
          </a:p>
        </p:txBody>
      </p:sp>
    </p:spTree>
    <p:extLst>
      <p:ext uri="{BB962C8B-B14F-4D97-AF65-F5344CB8AC3E}">
        <p14:creationId xmlns:p14="http://schemas.microsoft.com/office/powerpoint/2010/main" val="316799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Using arrays to remember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0712" y="1594377"/>
            <a:ext cx="8410575" cy="440120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000" dirty="0" err="1"/>
              <a:t>java.util.Scanner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 :</a:t>
            </a:r>
          </a:p>
          <a:p>
            <a:r>
              <a:rPr lang="en-IE" sz="2000" dirty="0"/>
              <a:t>Scanner </a:t>
            </a:r>
            <a:r>
              <a:rPr lang="en-IE" sz="20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000" dirty="0"/>
              <a:t>= </a:t>
            </a:r>
            <a:r>
              <a:rPr lang="en-IE" sz="20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000" dirty="0"/>
              <a:t>Scanner(</a:t>
            </a:r>
            <a:r>
              <a:rPr lang="en-IE" sz="2000" dirty="0" err="1"/>
              <a:t>System.</a:t>
            </a:r>
            <a:r>
              <a:rPr lang="en-IE" sz="20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000" dirty="0"/>
              <a:t>);</a:t>
            </a:r>
          </a:p>
          <a:p>
            <a:r>
              <a:rPr lang="en-IE" sz="2000" dirty="0"/>
              <a:t> 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11231-9EA1-43F6-BEDB-9B8EBF6CCC47}"/>
              </a:ext>
            </a:extLst>
          </p:cNvPr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6553200" y="1182231"/>
            <a:ext cx="4724401" cy="224676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A: </a:t>
            </a:r>
            <a:r>
              <a:rPr lang="en-US" sz="2800" dirty="0"/>
              <a:t>Yes. 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b="1" dirty="0"/>
              <a:t>Move the “sum” code into the first loop</a:t>
            </a:r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-&gt; functionality doesn’t change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4601" y="3465970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Loop 1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324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7971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C00000"/>
                </a:solidFill>
              </a:rPr>
              <a:t>What if we wanted the user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to decide how many numbers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they wanted to sum?</a:t>
            </a:r>
            <a:br>
              <a:rPr lang="en-IE" dirty="0">
                <a:solidFill>
                  <a:srgbClr val="C00000"/>
                </a:solidFill>
              </a:rPr>
            </a:br>
            <a:endParaRPr lang="en-I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469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10300" y="6581001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40804"/>
            <a:ext cx="8763000" cy="661719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IE" sz="2400" dirty="0" err="1"/>
              <a:t>java.util.Scanner</a:t>
            </a:r>
            <a:r>
              <a:rPr lang="en-IE" sz="2400" dirty="0"/>
              <a:t>;</a:t>
            </a:r>
            <a:br>
              <a:rPr lang="en-IE" sz="2400" dirty="0"/>
            </a:br>
            <a:r>
              <a:rPr lang="en-IE" sz="2400" dirty="0"/>
              <a:t> :</a:t>
            </a:r>
          </a:p>
          <a:p>
            <a:r>
              <a:rPr lang="en-IE" sz="2400" dirty="0"/>
              <a:t>Scanner </a:t>
            </a:r>
            <a:r>
              <a:rPr lang="en-IE" sz="2400" i="1" dirty="0">
                <a:solidFill>
                  <a:srgbClr val="660E7A"/>
                </a:solidFill>
                <a:effectLst/>
              </a:rPr>
              <a:t>input </a:t>
            </a:r>
            <a:r>
              <a:rPr lang="en-IE" sz="2400" dirty="0"/>
              <a:t>= </a:t>
            </a:r>
            <a:r>
              <a:rPr lang="en-IE" sz="2400" b="1" dirty="0">
                <a:solidFill>
                  <a:srgbClr val="000080"/>
                </a:solidFill>
                <a:effectLst/>
              </a:rPr>
              <a:t>new </a:t>
            </a:r>
            <a:r>
              <a:rPr lang="en-IE" sz="2400" dirty="0"/>
              <a:t>Scanner(</a:t>
            </a:r>
            <a:r>
              <a:rPr lang="en-IE" sz="2400" dirty="0" err="1"/>
              <a:t>System.</a:t>
            </a:r>
            <a:r>
              <a:rPr lang="en-IE" sz="2400" b="1" i="1" dirty="0" err="1">
                <a:solidFill>
                  <a:srgbClr val="660E7A"/>
                </a:solidFill>
                <a:effectLst/>
              </a:rPr>
              <a:t>in</a:t>
            </a:r>
            <a:r>
              <a:rPr lang="en-IE" sz="2400" dirty="0"/>
              <a:t>);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//Using the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 to set the size of the array</a:t>
            </a:r>
          </a:p>
          <a:p>
            <a:r>
              <a:rPr lang="en-US" sz="2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numbers[];</a:t>
            </a:r>
          </a:p>
          <a:p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System.out.println(”How many numbers do you need?”);</a:t>
            </a:r>
          </a:p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input.nextInt();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];            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 and sum the values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++)  { 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 numbers[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input.nextInt();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sum += numbers[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];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}  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/>
          <p:nvPr/>
        </p:nvCxnSpPr>
        <p:spPr>
          <a:xfrm>
            <a:off x="2737338" y="3330892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nut 5"/>
          <p:cNvSpPr/>
          <p:nvPr/>
        </p:nvSpPr>
        <p:spPr>
          <a:xfrm>
            <a:off x="222738" y="3056096"/>
            <a:ext cx="2139462" cy="3810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304800" y="3733800"/>
            <a:ext cx="5486400" cy="3810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5981700" y="118408"/>
            <a:ext cx="5791200" cy="193899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Delcare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numbers</a:t>
            </a:r>
            <a:r>
              <a:rPr lang="en-US" sz="2400" dirty="0">
                <a:solidFill>
                  <a:schemeClr val="tx1"/>
                </a:solidFill>
              </a:rPr>
              <a:t> to be an array of type integer.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numData</a:t>
            </a:r>
            <a:r>
              <a:rPr lang="en-US" sz="2400" dirty="0">
                <a:solidFill>
                  <a:schemeClr val="tx1"/>
                </a:solidFill>
              </a:rPr>
              <a:t> takes in the size.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Use </a:t>
            </a:r>
            <a:r>
              <a:rPr lang="en-US" sz="2400" dirty="0" err="1">
                <a:solidFill>
                  <a:schemeClr val="tx1"/>
                </a:solidFill>
              </a:rPr>
              <a:t>numData</a:t>
            </a:r>
            <a:r>
              <a:rPr lang="en-US" sz="2400" dirty="0">
                <a:solidFill>
                  <a:schemeClr val="tx1"/>
                </a:solidFill>
              </a:rPr>
              <a:t> to initialize the array with </a:t>
            </a:r>
            <a:r>
              <a:rPr lang="en-US" sz="2400" b="1" dirty="0">
                <a:solidFill>
                  <a:schemeClr val="tx1"/>
                </a:solidFill>
              </a:rPr>
              <a:t>new </a:t>
            </a:r>
            <a:r>
              <a:rPr lang="en-US" sz="2400" dirty="0">
                <a:solidFill>
                  <a:schemeClr val="tx1"/>
                </a:solidFill>
              </a:rPr>
              <a:t>specifying the size.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23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3480-0971-C93F-B1EE-444A209C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E45D-833E-0C28-11CE-BA903D3C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61561-327E-845B-1BA6-BECD3032BCDA}"/>
              </a:ext>
            </a:extLst>
          </p:cNvPr>
          <p:cNvSpPr txBox="1"/>
          <p:nvPr/>
        </p:nvSpPr>
        <p:spPr>
          <a:xfrm>
            <a:off x="621632" y="1417638"/>
            <a:ext cx="10972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Why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Primitive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Array Syntax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Loops and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What datatypes can be stored in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 Difference between fixed size and number of populated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3645B2-59F0-1A7B-5CD0-EFD973CC1603}"/>
              </a:ext>
            </a:extLst>
          </p:cNvPr>
          <p:cNvSpPr/>
          <p:nvPr/>
        </p:nvSpPr>
        <p:spPr>
          <a:xfrm>
            <a:off x="621632" y="5257800"/>
            <a:ext cx="7607968" cy="6096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238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7971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C00000"/>
                </a:solidFill>
              </a:rPr>
              <a:t>What type of data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can be stored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in a primitive array?</a:t>
            </a:r>
            <a:br>
              <a:rPr lang="en-IE" dirty="0">
                <a:solidFill>
                  <a:srgbClr val="C00000"/>
                </a:solidFill>
              </a:rPr>
            </a:br>
            <a:endParaRPr lang="en-I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58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2582" y="5130464"/>
            <a:ext cx="5353453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 words = new String[30];</a:t>
            </a:r>
          </a:p>
          <a:p>
            <a:endParaRPr lang="en-US" sz="2800" dirty="0"/>
          </a:p>
          <a:p>
            <a:r>
              <a:rPr lang="en-US" sz="2800" dirty="0"/>
              <a:t>Person persons[] = new Person[20];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b="1" dirty="0"/>
              <a:t>Primitive</a:t>
            </a:r>
            <a:r>
              <a:rPr lang="en-IE" sz="2800" dirty="0"/>
              <a:t>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78047" y="4749463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b="1" dirty="0"/>
              <a:t>Object</a:t>
            </a:r>
            <a:r>
              <a:rPr lang="en-IE" sz="2800" dirty="0"/>
              <a:t> Types</a:t>
            </a:r>
          </a:p>
        </p:txBody>
      </p:sp>
    </p:spTree>
    <p:extLst>
      <p:ext uri="{BB962C8B-B14F-4D97-AF65-F5344CB8AC3E}">
        <p14:creationId xmlns:p14="http://schemas.microsoft.com/office/powerpoint/2010/main" val="344884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E024-2486-0248-E198-A2D8F22D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3E7D-FCFF-E942-9C8C-CC603F11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CDA9F-A980-0B3D-9820-2F74C4B72AEE}"/>
              </a:ext>
            </a:extLst>
          </p:cNvPr>
          <p:cNvSpPr txBox="1"/>
          <p:nvPr/>
        </p:nvSpPr>
        <p:spPr>
          <a:xfrm>
            <a:off x="621632" y="1417638"/>
            <a:ext cx="10972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Why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Primitive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Array Syntax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Loops and Arrays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What datatypes can be stored in arrays?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E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3200" dirty="0"/>
              <a:t> Difference between fixed size and number of populated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FECE91-074B-2BD4-6972-DE85A85CD2DD}"/>
              </a:ext>
            </a:extLst>
          </p:cNvPr>
          <p:cNvSpPr/>
          <p:nvPr/>
        </p:nvSpPr>
        <p:spPr>
          <a:xfrm>
            <a:off x="569494" y="6172200"/>
            <a:ext cx="11012906" cy="6858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007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Difference between fixed size and number of populated data</a:t>
            </a:r>
            <a:endParaRPr lang="en-IE" dirty="0">
              <a:solidFill>
                <a:srgbClr val="C0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345BC2-F888-82C4-E2B0-EB1624995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4400" dirty="0"/>
          </a:p>
          <a:p>
            <a:pPr marL="0" indent="0">
              <a:buNone/>
            </a:pPr>
            <a:r>
              <a:rPr lang="en-IE" sz="4400" dirty="0"/>
              <a:t>Do we have to use  </a:t>
            </a:r>
            <a:r>
              <a:rPr lang="en-IE" sz="4400" b="1" dirty="0"/>
              <a:t>all</a:t>
            </a:r>
            <a:r>
              <a:rPr lang="en-IE" sz="4400" dirty="0"/>
              <a:t> the elements in the array?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191768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dirty="0"/>
              <a:t>Do we have to use all elements in the array?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No.  </a:t>
            </a:r>
          </a:p>
          <a:p>
            <a:endParaRPr lang="en-IE" dirty="0"/>
          </a:p>
          <a:p>
            <a:r>
              <a:rPr lang="en-IE" dirty="0">
                <a:solidFill>
                  <a:srgbClr val="FF0000"/>
                </a:solidFill>
              </a:rPr>
              <a:t>But</a:t>
            </a:r>
            <a:r>
              <a:rPr lang="en-IE" dirty="0"/>
              <a:t>…this might cause logic errors, </a:t>
            </a:r>
            <a:br>
              <a:rPr lang="en-IE" dirty="0"/>
            </a:br>
            <a:r>
              <a:rPr lang="en-IE" dirty="0"/>
              <a:t>if we don’t take this into consideration </a:t>
            </a:r>
            <a:br>
              <a:rPr lang="en-IE" dirty="0"/>
            </a:br>
            <a:r>
              <a:rPr lang="en-IE" dirty="0"/>
              <a:t>in our coding.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Consider this scenario…</a:t>
            </a:r>
          </a:p>
        </p:txBody>
      </p:sp>
    </p:spTree>
    <p:extLst>
      <p:ext uri="{BB962C8B-B14F-4D97-AF65-F5344CB8AC3E}">
        <p14:creationId xmlns:p14="http://schemas.microsoft.com/office/powerpoint/2010/main" val="3213866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E" sz="3200" dirty="0"/>
              <a:t>Scenario – exam results and </a:t>
            </a:r>
            <a:r>
              <a:rPr lang="en-IE" sz="3200" b="1" dirty="0"/>
              <a:t>average grade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856580"/>
            <a:ext cx="4267200" cy="4925220"/>
          </a:xfrm>
        </p:spPr>
        <p:txBody>
          <a:bodyPr>
            <a:normAutofit lnSpcReduction="10000"/>
          </a:bodyPr>
          <a:lstStyle/>
          <a:p>
            <a:r>
              <a:rPr lang="en-IE" dirty="0"/>
              <a:t>We have a class of 15 students.</a:t>
            </a:r>
            <a:br>
              <a:rPr lang="en-IE" dirty="0"/>
            </a:br>
            <a:endParaRPr lang="en-IE" dirty="0"/>
          </a:p>
          <a:p>
            <a:r>
              <a:rPr lang="en-IE" dirty="0"/>
              <a:t>They have a test coming up.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We want to store the results in an array and then find the average result.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04D6137A-0BED-4046-ABC0-A5EEC317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57" y="2209801"/>
            <a:ext cx="3819525" cy="3819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52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39951" y="1396271"/>
            <a:ext cx="4572000" cy="1143000"/>
          </a:xfrm>
        </p:spPr>
        <p:txBody>
          <a:bodyPr>
            <a:noAutofit/>
          </a:bodyPr>
          <a:lstStyle/>
          <a:p>
            <a:r>
              <a:rPr lang="en-IE" sz="2800" dirty="0"/>
              <a:t>We create an array of </a:t>
            </a:r>
            <a:r>
              <a:rPr lang="en-IE" sz="2800" dirty="0" err="1"/>
              <a:t>int</a:t>
            </a:r>
            <a:r>
              <a:rPr lang="en-IE" sz="2800" dirty="0"/>
              <a:t> </a:t>
            </a:r>
            <a:br>
              <a:rPr lang="en-IE" sz="2800" dirty="0"/>
            </a:br>
            <a:r>
              <a:rPr lang="en-IE" sz="2800" dirty="0"/>
              <a:t>with a capacity of 15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69F49A-85F9-44AB-8417-58A8C7FF9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47" y="21448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AE55D36B-7D79-441F-B1E7-ED4A4F79C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47" y="2678251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results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F74E75-6C8C-4A38-95DD-1354E3C83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16108"/>
              </p:ext>
            </p:extLst>
          </p:nvPr>
        </p:nvGraphicFramePr>
        <p:xfrm>
          <a:off x="3860007" y="1523993"/>
          <a:ext cx="1688303" cy="492919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3956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64347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82565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6902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54253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41170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54758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0445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8077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64088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67944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5809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27505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9DFA3A-C276-46AB-8804-551C1618BE14}"/>
              </a:ext>
            </a:extLst>
          </p:cNvPr>
          <p:cNvCxnSpPr>
            <a:cxnSpLocks/>
          </p:cNvCxnSpPr>
          <p:nvPr/>
        </p:nvCxnSpPr>
        <p:spPr>
          <a:xfrm flipV="1">
            <a:off x="2724148" y="1523993"/>
            <a:ext cx="1135859" cy="8875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3"/>
          <p:cNvSpPr txBox="1">
            <a:spLocks/>
          </p:cNvSpPr>
          <p:nvPr/>
        </p:nvSpPr>
        <p:spPr>
          <a:xfrm>
            <a:off x="5739952" y="2714356"/>
            <a:ext cx="4775649" cy="1834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800" dirty="0"/>
              <a:t>Only 12 students sat the exam. </a:t>
            </a:r>
            <a:br>
              <a:rPr lang="en-IE" sz="2800" dirty="0"/>
            </a:br>
            <a:r>
              <a:rPr lang="en-IE" sz="2800" dirty="0"/>
              <a:t>Their results were recorded in the first 12 elements</a:t>
            </a: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5731668" y="4724401"/>
            <a:ext cx="4903592" cy="1828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800" dirty="0"/>
              <a:t>To calculate the average result, </a:t>
            </a:r>
            <a:br>
              <a:rPr lang="en-IE" sz="2800" dirty="0"/>
            </a:br>
            <a:r>
              <a:rPr lang="en-IE" sz="2800" dirty="0"/>
              <a:t>divide by the number of </a:t>
            </a:r>
            <a:r>
              <a:rPr lang="en-IE" sz="2800" b="1" dirty="0"/>
              <a:t>populated elements </a:t>
            </a:r>
            <a:br>
              <a:rPr lang="en-IE" sz="2800" dirty="0"/>
            </a:br>
            <a:r>
              <a:rPr lang="en-IE" sz="2800" b="1" dirty="0"/>
              <a:t>NOT</a:t>
            </a:r>
            <a:r>
              <a:rPr lang="en-IE" sz="2800" dirty="0"/>
              <a:t> the array capacity.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4D6137A-0BED-4046-ABC0-A5EEC317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3695"/>
            <a:ext cx="1178884" cy="11788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3"/>
          <p:cNvSpPr txBox="1">
            <a:spLocks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Average grade</a:t>
            </a:r>
          </a:p>
        </p:txBody>
      </p:sp>
    </p:spTree>
    <p:extLst>
      <p:ext uri="{BB962C8B-B14F-4D97-AF65-F5344CB8AC3E}">
        <p14:creationId xmlns:p14="http://schemas.microsoft.com/office/powerpoint/2010/main" val="312458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dirty="0"/>
              <a:t>Do we have to use all elements in the array?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4800600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If all elements in an array are NOT populated, </a:t>
            </a:r>
            <a:br>
              <a:rPr lang="en-IE" dirty="0"/>
            </a:br>
            <a:r>
              <a:rPr lang="en-GB" dirty="0"/>
              <a:t>we need to:</a:t>
            </a:r>
          </a:p>
          <a:p>
            <a:pPr lvl="1"/>
            <a:r>
              <a:rPr lang="en-GB" dirty="0"/>
              <a:t>have another variable (e.g.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size</a:t>
            </a:r>
            <a:r>
              <a:rPr lang="en-GB" dirty="0"/>
              <a:t>) </a:t>
            </a:r>
          </a:p>
          <a:p>
            <a:pPr lvl="2"/>
            <a:r>
              <a:rPr lang="en-GB" dirty="0"/>
              <a:t>containing the number of elements in the array </a:t>
            </a:r>
            <a:r>
              <a:rPr lang="en-GB" b="1" dirty="0"/>
              <a:t>actually used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ensure size is used when processing the array </a:t>
            </a:r>
          </a:p>
          <a:p>
            <a:pPr lvl="2"/>
            <a:r>
              <a:rPr lang="en-GB" dirty="0"/>
              <a:t>e.g.</a:t>
            </a:r>
          </a:p>
          <a:p>
            <a:pPr marL="1314450" lvl="3" indent="0">
              <a:buNone/>
            </a:pPr>
            <a:r>
              <a:rPr lang="en-GB" sz="2800" dirty="0"/>
              <a:t>for (</a:t>
            </a:r>
            <a:r>
              <a:rPr lang="en-GB" sz="2800" dirty="0" err="1"/>
              <a:t>int</a:t>
            </a:r>
            <a:r>
              <a:rPr lang="en-GB" sz="2800" dirty="0"/>
              <a:t> </a:t>
            </a:r>
            <a:r>
              <a:rPr lang="en-GB" sz="2800" dirty="0" err="1"/>
              <a:t>i</a:t>
            </a:r>
            <a:r>
              <a:rPr lang="en-GB" sz="2800" dirty="0"/>
              <a:t>= 0; </a:t>
            </a:r>
            <a:r>
              <a:rPr lang="en-GB" sz="2800" dirty="0" err="1"/>
              <a:t>i</a:t>
            </a:r>
            <a:r>
              <a:rPr lang="en-GB" sz="2800" dirty="0"/>
              <a:t> &lt; </a:t>
            </a:r>
            <a:r>
              <a:rPr lang="en-GB" sz="2800" dirty="0">
                <a:solidFill>
                  <a:srgbClr val="FF0000"/>
                </a:solidFill>
              </a:rPr>
              <a:t>size</a:t>
            </a:r>
            <a:r>
              <a:rPr lang="en-GB" sz="2800" dirty="0"/>
              <a:t>; </a:t>
            </a:r>
            <a:r>
              <a:rPr lang="en-GB" sz="2800" dirty="0" err="1"/>
              <a:t>i</a:t>
            </a:r>
            <a:r>
              <a:rPr lang="en-GB" sz="2800" dirty="0"/>
              <a:t>++)</a:t>
            </a:r>
          </a:p>
          <a:p>
            <a:pPr marL="57150" indent="0">
              <a:buNone/>
            </a:pPr>
            <a:endParaRPr lang="en-GB" dirty="0"/>
          </a:p>
          <a:p>
            <a:pPr marL="514350" indent="-457200"/>
            <a:r>
              <a:rPr lang="en-GB" dirty="0"/>
              <a:t>For now though, </a:t>
            </a:r>
            <a:br>
              <a:rPr lang="en-GB" dirty="0"/>
            </a:br>
            <a:r>
              <a:rPr lang="en-GB" dirty="0"/>
              <a:t>we assume that all elements of the array </a:t>
            </a:r>
            <a:br>
              <a:rPr lang="en-GB" dirty="0"/>
            </a:br>
            <a:r>
              <a:rPr lang="en-GB" dirty="0"/>
              <a:t>are populated and therefore ready to be processed.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34222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 - Arrays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62164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Arrays are structures that can store many values of the same type</a:t>
            </a:r>
          </a:p>
          <a:p>
            <a:r>
              <a:rPr lang="en-US" dirty="0"/>
              <a:t>Rule – Never lose input data</a:t>
            </a:r>
          </a:p>
          <a:p>
            <a:pPr lvl="1"/>
            <a:r>
              <a:rPr lang="en-US" dirty="0"/>
              <a:t>Arrays enable us to store the data efficiently </a:t>
            </a:r>
          </a:p>
          <a:p>
            <a:pPr lvl="1"/>
            <a:r>
              <a:rPr lang="en-US" dirty="0"/>
              <a:t>We can use loops with arrays</a:t>
            </a:r>
          </a:p>
          <a:p>
            <a:r>
              <a:rPr lang="en-US" dirty="0"/>
              <a:t>Arrays can store ANY type</a:t>
            </a:r>
          </a:p>
          <a:p>
            <a:r>
              <a:rPr lang="en-US" dirty="0"/>
              <a:t>Declaring arrays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943823" y="5124272"/>
            <a:ext cx="2667000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/>
              <a:t>int</a:t>
            </a:r>
            <a:r>
              <a:rPr lang="en-GB" b="1" dirty="0"/>
              <a:t>[]  </a:t>
            </a:r>
            <a:r>
              <a:rPr lang="en-GB" b="1" dirty="0" err="1"/>
              <a:t>arryName</a:t>
            </a:r>
            <a:r>
              <a:rPr lang="en-GB" b="1" dirty="0"/>
              <a:t>;</a:t>
            </a:r>
            <a:br>
              <a:rPr lang="en-GB" b="1" dirty="0"/>
            </a:b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GB" b="1" dirty="0" err="1">
                <a:solidFill>
                  <a:schemeClr val="bg1">
                    <a:lumMod val="50000"/>
                  </a:schemeClr>
                </a:solidFill>
              </a:rPr>
              <a:t>somecode</a:t>
            </a:r>
            <a:br>
              <a:rPr lang="en-GB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b="1" dirty="0" err="1"/>
              <a:t>arryName</a:t>
            </a:r>
            <a:r>
              <a:rPr lang="en-GB" b="1" dirty="0"/>
              <a:t>= new </a:t>
            </a:r>
            <a:r>
              <a:rPr lang="en-GB" b="1" dirty="0" err="1"/>
              <a:t>int</a:t>
            </a:r>
            <a:r>
              <a:rPr lang="en-GB" b="1" dirty="0"/>
              <a:t>[4];</a:t>
            </a:r>
            <a:endParaRPr lang="en-IE" b="1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099314" y="5124272"/>
            <a:ext cx="2875211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 err="1"/>
              <a:t>int</a:t>
            </a:r>
            <a:r>
              <a:rPr lang="en-GB" dirty="0"/>
              <a:t>[]  </a:t>
            </a:r>
            <a:r>
              <a:rPr lang="en-GB" dirty="0" err="1"/>
              <a:t>arryName</a:t>
            </a:r>
            <a:r>
              <a:rPr lang="en-GB" dirty="0"/>
              <a:t>= new </a:t>
            </a:r>
            <a:r>
              <a:rPr lang="en-GB" dirty="0" err="1"/>
              <a:t>int</a:t>
            </a:r>
            <a:r>
              <a:rPr lang="en-GB" dirty="0"/>
              <a:t>[4];</a:t>
            </a:r>
            <a:br>
              <a:rPr lang="en-GB" dirty="0"/>
            </a:br>
            <a:br>
              <a:rPr lang="en-GB" dirty="0"/>
            </a:br>
            <a:endParaRPr lang="en-IE" dirty="0"/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634014" y="553976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625154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a-data-types</Template>
  <TotalTime>3209</TotalTime>
  <Words>2838</Words>
  <Application>Microsoft Macintosh PowerPoint</Application>
  <PresentationFormat>Widescreen</PresentationFormat>
  <Paragraphs>529</Paragraphs>
  <Slides>44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Courier New</vt:lpstr>
      <vt:lpstr>Times New Roman</vt:lpstr>
      <vt:lpstr>Trebuchet MS</vt:lpstr>
      <vt:lpstr>a-processing-mouse-event-methods</vt:lpstr>
      <vt:lpstr>Primitive Arrays</vt:lpstr>
      <vt:lpstr>Topics list</vt:lpstr>
      <vt:lpstr>Why arrays? </vt:lpstr>
      <vt:lpstr>Adding 10 numbers </vt:lpstr>
      <vt:lpstr>Adding 10 numbers </vt:lpstr>
      <vt:lpstr>Adding 10 numbers </vt:lpstr>
      <vt:lpstr>Adding 10 numbers </vt:lpstr>
      <vt:lpstr>Rule – Never lose input data </vt:lpstr>
      <vt:lpstr>Remembering the Numbers</vt:lpstr>
      <vt:lpstr>Topics list</vt:lpstr>
      <vt:lpstr>Arrays (fixed-size collections)</vt:lpstr>
      <vt:lpstr>Topics list</vt:lpstr>
      <vt:lpstr>Primitive types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Declaring a primitive array</vt:lpstr>
      <vt:lpstr>Declaring a primitive array</vt:lpstr>
      <vt:lpstr>Alternative way of declaring and initialising an array</vt:lpstr>
      <vt:lpstr>Returning to our method  that reads in, and sums, 10 numbers (typed in from the keyboard)…</vt:lpstr>
      <vt:lpstr>Version that doesn’t save the numbers</vt:lpstr>
      <vt:lpstr>Topics list</vt:lpstr>
      <vt:lpstr>Using arrays to remember numbers</vt:lpstr>
      <vt:lpstr>Using arrays to remember numbers</vt:lpstr>
      <vt:lpstr>Using arrays to remember numbers</vt:lpstr>
      <vt:lpstr>What if we wanted the user  to decide how many numbers  they wanted to sum? </vt:lpstr>
      <vt:lpstr>PowerPoint Presentation</vt:lpstr>
      <vt:lpstr>Topics list</vt:lpstr>
      <vt:lpstr>What type of data  can be stored  in a primitive array? </vt:lpstr>
      <vt:lpstr>PowerPoint Presentation</vt:lpstr>
      <vt:lpstr>Topics list</vt:lpstr>
      <vt:lpstr>Difference between fixed size and number of populated data</vt:lpstr>
      <vt:lpstr>Do we have to use all elements in the array?</vt:lpstr>
      <vt:lpstr>Scenario – exam results and average grade</vt:lpstr>
      <vt:lpstr>We create an array of int  with a capacity of 15</vt:lpstr>
      <vt:lpstr>Do we have to use all elements in the array?</vt:lpstr>
      <vt:lpstr>Summary - Arrays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361</cp:revision>
  <dcterms:created xsi:type="dcterms:W3CDTF">2006-08-16T00:00:00Z</dcterms:created>
  <dcterms:modified xsi:type="dcterms:W3CDTF">2025-10-18T04:31:08Z</dcterms:modified>
</cp:coreProperties>
</file>