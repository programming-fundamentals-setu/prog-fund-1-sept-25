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5"/>
  </p:notesMasterIdLst>
  <p:sldIdLst>
    <p:sldId id="325" r:id="rId2"/>
    <p:sldId id="514" r:id="rId3"/>
    <p:sldId id="583" r:id="rId4"/>
    <p:sldId id="560" r:id="rId5"/>
    <p:sldId id="585" r:id="rId6"/>
    <p:sldId id="586" r:id="rId7"/>
    <p:sldId id="619" r:id="rId8"/>
    <p:sldId id="565" r:id="rId9"/>
    <p:sldId id="632" r:id="rId10"/>
    <p:sldId id="638" r:id="rId11"/>
    <p:sldId id="598" r:id="rId12"/>
    <p:sldId id="639" r:id="rId13"/>
    <p:sldId id="602" r:id="rId14"/>
    <p:sldId id="570" r:id="rId15"/>
    <p:sldId id="606" r:id="rId16"/>
    <p:sldId id="605" r:id="rId17"/>
    <p:sldId id="612" r:id="rId18"/>
    <p:sldId id="608" r:id="rId19"/>
    <p:sldId id="609" r:id="rId20"/>
    <p:sldId id="610" r:id="rId21"/>
    <p:sldId id="611" r:id="rId22"/>
    <p:sldId id="614" r:id="rId23"/>
    <p:sldId id="616" r:id="rId24"/>
    <p:sldId id="613" r:id="rId25"/>
    <p:sldId id="575" r:id="rId26"/>
    <p:sldId id="631" r:id="rId27"/>
    <p:sldId id="640" r:id="rId28"/>
    <p:sldId id="576" r:id="rId29"/>
    <p:sldId id="618" r:id="rId30"/>
    <p:sldId id="620" r:id="rId31"/>
    <p:sldId id="621" r:id="rId32"/>
    <p:sldId id="578" r:id="rId33"/>
    <p:sldId id="641" r:id="rId34"/>
    <p:sldId id="622" r:id="rId35"/>
    <p:sldId id="623" r:id="rId36"/>
    <p:sldId id="642" r:id="rId37"/>
    <p:sldId id="624" r:id="rId38"/>
    <p:sldId id="625" r:id="rId39"/>
    <p:sldId id="626" r:id="rId40"/>
    <p:sldId id="627" r:id="rId41"/>
    <p:sldId id="581" r:id="rId42"/>
    <p:sldId id="630" r:id="rId43"/>
    <p:sldId id="347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230" autoAdjust="0"/>
    <p:restoredTop sz="89221" autoAdjust="0"/>
  </p:normalViewPr>
  <p:slideViewPr>
    <p:cSldViewPr>
      <p:cViewPr varScale="1">
        <p:scale>
          <a:sx n="106" d="100"/>
          <a:sy n="106" d="100"/>
        </p:scale>
        <p:origin x="544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272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3D141-1E1C-433C-AD3A-CD56CBBB4F9F}" type="datetimeFigureOut">
              <a:rPr lang="en-IE" smtClean="0"/>
              <a:t>16/10/2025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63DB36-5273-45A5-A77C-FE9BE0779D8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34544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E063FA5-C65E-4720-B6D7-EFAAA6FFD1D5}" type="slidenum">
              <a:rPr lang="en-GB"/>
              <a:pPr/>
              <a:t>11</a:t>
            </a:fld>
            <a:endParaRPr lang="en-GB"/>
          </a:p>
        </p:txBody>
      </p:sp>
      <p:sp>
        <p:nvSpPr>
          <p:cNvPr id="1576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76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4343400"/>
            <a:ext cx="1195388" cy="27463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5758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13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4145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15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983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16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9590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17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6160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18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7002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19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7660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20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0754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21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9073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22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1144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23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6054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24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40685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517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DAB13D9-B7A5-0614-4651-2F9977D91910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20688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29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E7CBAE-0172-1E89-E84D-992B77561804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78836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92CD0C1-F3B9-C92E-D990-6E9A57623D5A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5506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51A815F-BB18-F13C-32C4-8E79100BCF82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2840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2865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8210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676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3396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325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8438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576150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7218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3114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docs.oracle.com/javase/tutorial/java/nutsandbolts/arrays.html" TargetMode="External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1841" y="1501776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Primitive Arrays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IE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E0869C-9D20-CB38-35C3-802A99BF997F}"/>
              </a:ext>
            </a:extLst>
          </p:cNvPr>
          <p:cNvSpPr txBox="1"/>
          <p:nvPr/>
        </p:nvSpPr>
        <p:spPr>
          <a:xfrm>
            <a:off x="7696200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A816CD-6F4F-7DBB-6743-AC6C563FA9F1}"/>
              </a:ext>
            </a:extLst>
          </p:cNvPr>
          <p:cNvSpPr txBox="1"/>
          <p:nvPr/>
        </p:nvSpPr>
        <p:spPr>
          <a:xfrm>
            <a:off x="3657600" y="3810000"/>
            <a:ext cx="5562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Drohan,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EC5FEA-5248-C05A-4F5F-696D257014C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242" y="5565517"/>
            <a:ext cx="2057400" cy="1153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43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49109D-5CEE-27F6-07AA-BF91E36430C2}"/>
              </a:ext>
            </a:extLst>
          </p:cNvPr>
          <p:cNvSpPr txBox="1"/>
          <p:nvPr/>
        </p:nvSpPr>
        <p:spPr>
          <a:xfrm>
            <a:off x="609600" y="1417638"/>
            <a:ext cx="10972800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Why arrays?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Primitive Arrays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Array Syntax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Loops and Arrays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What datatypes can be stored in arrays?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 Difference between fixed size and number of populated 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07CD81-65E3-9514-A3AB-7ED9CB195BA1}"/>
              </a:ext>
            </a:extLst>
          </p:cNvPr>
          <p:cNvSpPr/>
          <p:nvPr/>
        </p:nvSpPr>
        <p:spPr>
          <a:xfrm>
            <a:off x="609601" y="1524000"/>
            <a:ext cx="2971800" cy="609600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60203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Why arrays?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4980801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endParaRPr lang="en-IE" dirty="0"/>
          </a:p>
          <a:p>
            <a:r>
              <a:rPr lang="en-IE" dirty="0"/>
              <a:t>We look at different pieces of code to explain the concept.</a:t>
            </a:r>
          </a:p>
          <a:p>
            <a:endParaRPr lang="en-IE" dirty="0"/>
          </a:p>
          <a:p>
            <a:r>
              <a:rPr lang="en-IE" dirty="0"/>
              <a:t>In each piece of code, we:</a:t>
            </a:r>
          </a:p>
          <a:p>
            <a:pPr lvl="1"/>
            <a:r>
              <a:rPr lang="en-IE" dirty="0"/>
              <a:t>read in 10 numbers from the keyboard</a:t>
            </a:r>
          </a:p>
          <a:p>
            <a:pPr lvl="1"/>
            <a:r>
              <a:rPr lang="en-IE" dirty="0"/>
              <a:t>add the numbers</a:t>
            </a:r>
          </a:p>
          <a:p>
            <a:pPr lvl="1"/>
            <a:r>
              <a:rPr lang="en-IE" dirty="0"/>
              <a:t>print the sum of all the numbers. </a:t>
            </a:r>
          </a:p>
        </p:txBody>
      </p:sp>
      <p:sp>
        <p:nvSpPr>
          <p:cNvPr id="4" name="Rectangle 3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</p:spTree>
    <p:extLst>
      <p:ext uri="{BB962C8B-B14F-4D97-AF65-F5344CB8AC3E}">
        <p14:creationId xmlns:p14="http://schemas.microsoft.com/office/powerpoint/2010/main" val="1874807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77474DF-C5F2-49DC-8A85-0384697CC4D7}"/>
              </a:ext>
            </a:extLst>
          </p:cNvPr>
          <p:cNvSpPr txBox="1"/>
          <p:nvPr/>
        </p:nvSpPr>
        <p:spPr>
          <a:xfrm>
            <a:off x="1752600" y="1676401"/>
            <a:ext cx="8382000" cy="5262979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>
                <a:solidFill>
                  <a:srgbClr val="000080"/>
                </a:solidFill>
                <a:effectLst/>
              </a:rPr>
              <a:t>import </a:t>
            </a:r>
            <a:r>
              <a:rPr lang="en-IE" sz="2400" dirty="0" err="1"/>
              <a:t>java.util.Scanner</a:t>
            </a:r>
            <a:r>
              <a:rPr lang="en-IE" sz="2400" dirty="0"/>
              <a:t>;</a:t>
            </a:r>
            <a:br>
              <a:rPr lang="en-IE" sz="2400" dirty="0"/>
            </a:br>
            <a:r>
              <a:rPr lang="en-IE" sz="2400" dirty="0"/>
              <a:t> :</a:t>
            </a:r>
          </a:p>
          <a:p>
            <a:r>
              <a:rPr lang="en-IE" sz="2400" dirty="0"/>
              <a:t>Scanner </a:t>
            </a:r>
            <a:r>
              <a:rPr lang="en-IE" sz="2400" i="1" dirty="0">
                <a:solidFill>
                  <a:srgbClr val="660E7A"/>
                </a:solidFill>
                <a:effectLst/>
              </a:rPr>
              <a:t>input </a:t>
            </a:r>
            <a:r>
              <a:rPr lang="en-IE" sz="2400" dirty="0"/>
              <a:t>= </a:t>
            </a:r>
            <a:r>
              <a:rPr lang="en-IE" sz="2400" b="1" dirty="0">
                <a:solidFill>
                  <a:srgbClr val="000080"/>
                </a:solidFill>
                <a:effectLst/>
              </a:rPr>
              <a:t>new </a:t>
            </a:r>
            <a:r>
              <a:rPr lang="en-IE" sz="2400" dirty="0"/>
              <a:t>Scanner(</a:t>
            </a:r>
            <a:r>
              <a:rPr lang="en-IE" sz="2400" dirty="0" err="1"/>
              <a:t>System.</a:t>
            </a:r>
            <a:r>
              <a:rPr lang="en-IE" sz="2400" b="1" i="1" dirty="0" err="1">
                <a:solidFill>
                  <a:srgbClr val="660E7A"/>
                </a:solidFill>
                <a:effectLst/>
              </a:rPr>
              <a:t>in</a:t>
            </a:r>
            <a:r>
              <a:rPr lang="en-IE" sz="2400" dirty="0"/>
              <a:t>);</a:t>
            </a:r>
          </a:p>
          <a:p>
            <a:r>
              <a:rPr lang="en-IE" sz="2400" dirty="0"/>
              <a:t> :</a:t>
            </a: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/>
              <a:t>n;</a:t>
            </a: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/>
              <a:t>sum = </a:t>
            </a:r>
            <a:r>
              <a:rPr lang="en-IE" sz="2400" dirty="0">
                <a:solidFill>
                  <a:srgbClr val="0000FF"/>
                </a:solidFill>
                <a:effectLst/>
              </a:rPr>
              <a:t>0</a:t>
            </a:r>
            <a:r>
              <a:rPr lang="en-IE" sz="2400" dirty="0"/>
              <a:t>;</a:t>
            </a:r>
            <a:br>
              <a:rPr lang="en-IE" sz="2400" dirty="0"/>
            </a:b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for </a:t>
            </a:r>
            <a:r>
              <a:rPr lang="en-IE" sz="2400" dirty="0"/>
              <a:t>(</a:t>
            </a: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 err="1"/>
              <a:t>i</a:t>
            </a:r>
            <a:r>
              <a:rPr lang="en-IE" sz="2400" dirty="0"/>
              <a:t> = </a:t>
            </a:r>
            <a:r>
              <a:rPr lang="en-IE" sz="2400" dirty="0">
                <a:solidFill>
                  <a:srgbClr val="0000FF"/>
                </a:solidFill>
                <a:effectLst/>
              </a:rPr>
              <a:t>0</a:t>
            </a:r>
            <a:r>
              <a:rPr lang="en-IE" sz="2400" dirty="0"/>
              <a:t>; </a:t>
            </a:r>
            <a:r>
              <a:rPr lang="en-IE" sz="2400" dirty="0" err="1"/>
              <a:t>i</a:t>
            </a:r>
            <a:r>
              <a:rPr lang="en-IE" sz="2400" dirty="0"/>
              <a:t>&lt;</a:t>
            </a:r>
            <a:r>
              <a:rPr lang="en-IE" sz="2400" dirty="0">
                <a:solidFill>
                  <a:srgbClr val="0000FF"/>
                </a:solidFill>
                <a:effectLst/>
              </a:rPr>
              <a:t>10</a:t>
            </a:r>
            <a:r>
              <a:rPr lang="en-IE" sz="2400" dirty="0"/>
              <a:t>; </a:t>
            </a:r>
            <a:r>
              <a:rPr lang="en-IE" sz="2400" dirty="0" err="1"/>
              <a:t>i</a:t>
            </a:r>
            <a:r>
              <a:rPr lang="en-IE" sz="2400" dirty="0"/>
              <a:t>++)  {</a:t>
            </a:r>
            <a:br>
              <a:rPr lang="en-IE" sz="2400" dirty="0"/>
            </a:br>
            <a:r>
              <a:rPr lang="en-IE" sz="2400" dirty="0"/>
              <a:t>    n = </a:t>
            </a:r>
            <a:r>
              <a:rPr lang="en-IE" sz="2400" i="1" dirty="0" err="1">
                <a:solidFill>
                  <a:srgbClr val="660E7A"/>
                </a:solidFill>
                <a:effectLst/>
              </a:rPr>
              <a:t>input</a:t>
            </a:r>
            <a:r>
              <a:rPr lang="en-IE" sz="2400" dirty="0" err="1"/>
              <a:t>.nextInt</a:t>
            </a:r>
            <a:r>
              <a:rPr lang="en-IE" sz="2400" dirty="0"/>
              <a:t>();</a:t>
            </a:r>
            <a:br>
              <a:rPr lang="en-IE" sz="2400" dirty="0"/>
            </a:br>
            <a:r>
              <a:rPr lang="en-IE" sz="2400" dirty="0"/>
              <a:t>    sum += n;</a:t>
            </a:r>
            <a:br>
              <a:rPr lang="en-IE" sz="2400" dirty="0"/>
            </a:br>
            <a:r>
              <a:rPr lang="en-IE" sz="2400" dirty="0"/>
              <a:t>}</a:t>
            </a:r>
            <a:br>
              <a:rPr lang="en-IE" sz="2400" dirty="0"/>
            </a:br>
            <a:br>
              <a:rPr lang="en-IE" sz="2400" dirty="0"/>
            </a:br>
            <a:r>
              <a:rPr lang="en-IE" sz="2400" dirty="0" err="1"/>
              <a:t>System.</a:t>
            </a:r>
            <a:r>
              <a:rPr lang="en-IE" sz="2400" b="1" i="1" dirty="0" err="1">
                <a:solidFill>
                  <a:srgbClr val="660E7A"/>
                </a:solidFill>
                <a:effectLst/>
              </a:rPr>
              <a:t>out</a:t>
            </a:r>
            <a:r>
              <a:rPr lang="en-IE" sz="2400" dirty="0" err="1"/>
              <a:t>.println</a:t>
            </a:r>
            <a:r>
              <a:rPr lang="en-IE" sz="2400" dirty="0"/>
              <a:t>(</a:t>
            </a:r>
            <a:r>
              <a:rPr lang="en-IE" sz="2400" b="1" dirty="0">
                <a:solidFill>
                  <a:srgbClr val="008000"/>
                </a:solidFill>
                <a:effectLst/>
              </a:rPr>
              <a:t>"The sum of the values you typed in is : " </a:t>
            </a:r>
            <a:r>
              <a:rPr lang="en-IE" sz="2400" dirty="0"/>
              <a:t>+ sum);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Adding 10 numbers </a:t>
            </a:r>
          </a:p>
        </p:txBody>
      </p:sp>
      <p:sp>
        <p:nvSpPr>
          <p:cNvPr id="4" name="Rectangle 3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3962400"/>
            <a:ext cx="3200400" cy="954107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Reads in 10 numbers from the keyboard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C9ABE52-4043-4518-AF2B-B1B8FB953F6A}"/>
              </a:ext>
            </a:extLst>
          </p:cNvPr>
          <p:cNvSpPr/>
          <p:nvPr/>
        </p:nvSpPr>
        <p:spPr>
          <a:xfrm>
            <a:off x="1714500" y="3881855"/>
            <a:ext cx="4076700" cy="1600200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98248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03CF81A-8CE0-45C5-905D-A0E17474FCCD}"/>
              </a:ext>
            </a:extLst>
          </p:cNvPr>
          <p:cNvSpPr txBox="1"/>
          <p:nvPr/>
        </p:nvSpPr>
        <p:spPr>
          <a:xfrm>
            <a:off x="1752600" y="1676401"/>
            <a:ext cx="8763000" cy="4893647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>
                <a:solidFill>
                  <a:srgbClr val="000080"/>
                </a:solidFill>
                <a:effectLst/>
              </a:rPr>
              <a:t>import </a:t>
            </a:r>
            <a:r>
              <a:rPr lang="en-IE" sz="2400" dirty="0" err="1"/>
              <a:t>java.util.Scanner</a:t>
            </a:r>
            <a:r>
              <a:rPr lang="en-IE" sz="2400" dirty="0"/>
              <a:t>;</a:t>
            </a:r>
            <a:br>
              <a:rPr lang="en-IE" sz="2400" dirty="0"/>
            </a:br>
            <a:r>
              <a:rPr lang="en-IE" sz="2400" dirty="0"/>
              <a:t> :</a:t>
            </a:r>
          </a:p>
          <a:p>
            <a:r>
              <a:rPr lang="en-IE" sz="2400" dirty="0"/>
              <a:t>Scanner </a:t>
            </a:r>
            <a:r>
              <a:rPr lang="en-IE" sz="2400" i="1" dirty="0">
                <a:solidFill>
                  <a:srgbClr val="660E7A"/>
                </a:solidFill>
                <a:effectLst/>
              </a:rPr>
              <a:t>input </a:t>
            </a:r>
            <a:r>
              <a:rPr lang="en-IE" sz="2400" dirty="0"/>
              <a:t>= </a:t>
            </a:r>
            <a:r>
              <a:rPr lang="en-IE" sz="2400" b="1" dirty="0">
                <a:solidFill>
                  <a:srgbClr val="000080"/>
                </a:solidFill>
                <a:effectLst/>
              </a:rPr>
              <a:t>new </a:t>
            </a:r>
            <a:r>
              <a:rPr lang="en-IE" sz="2400" dirty="0"/>
              <a:t>Scanner(</a:t>
            </a:r>
            <a:r>
              <a:rPr lang="en-IE" sz="2400" dirty="0" err="1"/>
              <a:t>System.</a:t>
            </a:r>
            <a:r>
              <a:rPr lang="en-IE" sz="2400" b="1" i="1" dirty="0" err="1">
                <a:solidFill>
                  <a:srgbClr val="660E7A"/>
                </a:solidFill>
                <a:effectLst/>
              </a:rPr>
              <a:t>in</a:t>
            </a:r>
            <a:r>
              <a:rPr lang="en-IE" sz="2400" dirty="0"/>
              <a:t>);</a:t>
            </a:r>
          </a:p>
          <a:p>
            <a:r>
              <a:rPr lang="en-IE" sz="2400" dirty="0"/>
              <a:t> :</a:t>
            </a: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/>
              <a:t>n;</a:t>
            </a: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/>
              <a:t>sum = </a:t>
            </a:r>
            <a:r>
              <a:rPr lang="en-IE" sz="2400" dirty="0">
                <a:solidFill>
                  <a:srgbClr val="0000FF"/>
                </a:solidFill>
                <a:effectLst/>
              </a:rPr>
              <a:t>0</a:t>
            </a:r>
            <a:r>
              <a:rPr lang="en-IE" sz="2400" dirty="0"/>
              <a:t>;</a:t>
            </a:r>
            <a:br>
              <a:rPr lang="en-IE" sz="2400" dirty="0"/>
            </a:b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for </a:t>
            </a:r>
            <a:r>
              <a:rPr lang="en-IE" sz="2400" dirty="0"/>
              <a:t>(</a:t>
            </a: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 err="1"/>
              <a:t>i</a:t>
            </a:r>
            <a:r>
              <a:rPr lang="en-IE" sz="2400" dirty="0"/>
              <a:t> = </a:t>
            </a:r>
            <a:r>
              <a:rPr lang="en-IE" sz="2400" dirty="0">
                <a:solidFill>
                  <a:srgbClr val="0000FF"/>
                </a:solidFill>
                <a:effectLst/>
              </a:rPr>
              <a:t>0</a:t>
            </a:r>
            <a:r>
              <a:rPr lang="en-IE" sz="2400" dirty="0"/>
              <a:t>; </a:t>
            </a:r>
            <a:r>
              <a:rPr lang="en-IE" sz="2400" dirty="0" err="1"/>
              <a:t>i</a:t>
            </a:r>
            <a:r>
              <a:rPr lang="en-IE" sz="2400" dirty="0"/>
              <a:t>&lt;</a:t>
            </a:r>
            <a:r>
              <a:rPr lang="en-IE" sz="2400" dirty="0">
                <a:solidFill>
                  <a:srgbClr val="0000FF"/>
                </a:solidFill>
                <a:effectLst/>
              </a:rPr>
              <a:t>10</a:t>
            </a:r>
            <a:r>
              <a:rPr lang="en-IE" sz="2400" dirty="0"/>
              <a:t>; </a:t>
            </a:r>
            <a:r>
              <a:rPr lang="en-IE" sz="2400" dirty="0" err="1"/>
              <a:t>i</a:t>
            </a:r>
            <a:r>
              <a:rPr lang="en-IE" sz="2400" dirty="0"/>
              <a:t>++)  {</a:t>
            </a:r>
            <a:br>
              <a:rPr lang="en-IE" sz="2400" dirty="0"/>
            </a:br>
            <a:r>
              <a:rPr lang="en-IE" sz="2400" dirty="0"/>
              <a:t>    n = </a:t>
            </a:r>
            <a:r>
              <a:rPr lang="en-IE" sz="2400" i="1" dirty="0" err="1">
                <a:solidFill>
                  <a:srgbClr val="660E7A"/>
                </a:solidFill>
                <a:effectLst/>
              </a:rPr>
              <a:t>input</a:t>
            </a:r>
            <a:r>
              <a:rPr lang="en-IE" sz="2400" dirty="0" err="1"/>
              <a:t>.nextInt</a:t>
            </a:r>
            <a:r>
              <a:rPr lang="en-IE" sz="2400" dirty="0"/>
              <a:t>();</a:t>
            </a:r>
            <a:br>
              <a:rPr lang="en-IE" sz="2400" dirty="0"/>
            </a:br>
            <a:r>
              <a:rPr lang="en-IE" sz="2400" dirty="0"/>
              <a:t>    sum += n;</a:t>
            </a:r>
            <a:br>
              <a:rPr lang="en-IE" sz="2400" dirty="0"/>
            </a:br>
            <a:r>
              <a:rPr lang="en-IE" sz="2400" dirty="0"/>
              <a:t>}</a:t>
            </a:r>
            <a:br>
              <a:rPr lang="en-IE" sz="2400" dirty="0"/>
            </a:br>
            <a:br>
              <a:rPr lang="en-IE" sz="2400" dirty="0"/>
            </a:br>
            <a:r>
              <a:rPr lang="en-IE" sz="2400" dirty="0" err="1"/>
              <a:t>System.</a:t>
            </a:r>
            <a:r>
              <a:rPr lang="en-IE" sz="2400" b="1" i="1" dirty="0" err="1">
                <a:solidFill>
                  <a:srgbClr val="660E7A"/>
                </a:solidFill>
                <a:effectLst/>
              </a:rPr>
              <a:t>out</a:t>
            </a:r>
            <a:r>
              <a:rPr lang="en-IE" sz="2400" dirty="0" err="1"/>
              <a:t>.println</a:t>
            </a:r>
            <a:r>
              <a:rPr lang="en-IE" sz="2400" dirty="0"/>
              <a:t>(</a:t>
            </a:r>
            <a:r>
              <a:rPr lang="en-IE" sz="2400" b="1" dirty="0">
                <a:solidFill>
                  <a:srgbClr val="008000"/>
                </a:solidFill>
                <a:effectLst/>
              </a:rPr>
              <a:t>"The sum of the values you typed in is : " </a:t>
            </a:r>
            <a:r>
              <a:rPr lang="en-IE" sz="2400" dirty="0"/>
              <a:t>+ sum);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Adding 10 numbers </a:t>
            </a:r>
          </a:p>
        </p:txBody>
      </p:sp>
      <p:sp>
        <p:nvSpPr>
          <p:cNvPr id="4" name="Rectangle 3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8400" y="2971800"/>
            <a:ext cx="4191000" cy="138499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As each number is entered, it is added to the value currently stored in </a:t>
            </a:r>
            <a:r>
              <a:rPr lang="en-US" sz="2800" b="1" dirty="0"/>
              <a:t>sum</a:t>
            </a:r>
            <a:r>
              <a:rPr lang="en-US" sz="2800" dirty="0"/>
              <a:t>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C9ABE52-4043-4518-AF2B-B1B8FB953F6A}"/>
              </a:ext>
            </a:extLst>
          </p:cNvPr>
          <p:cNvSpPr/>
          <p:nvPr/>
        </p:nvSpPr>
        <p:spPr>
          <a:xfrm flipV="1">
            <a:off x="1828800" y="5029200"/>
            <a:ext cx="3505200" cy="381000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0906804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FF9E1ED-B0C9-449A-AB28-502470330349}"/>
              </a:ext>
            </a:extLst>
          </p:cNvPr>
          <p:cNvSpPr txBox="1"/>
          <p:nvPr/>
        </p:nvSpPr>
        <p:spPr>
          <a:xfrm>
            <a:off x="1752600" y="1676401"/>
            <a:ext cx="9144000" cy="4893647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>
                <a:solidFill>
                  <a:srgbClr val="000080"/>
                </a:solidFill>
                <a:effectLst/>
              </a:rPr>
              <a:t>import </a:t>
            </a:r>
            <a:r>
              <a:rPr lang="en-IE" sz="2400" dirty="0" err="1"/>
              <a:t>java.util.Scanner</a:t>
            </a:r>
            <a:r>
              <a:rPr lang="en-IE" sz="2400" dirty="0"/>
              <a:t>;</a:t>
            </a:r>
            <a:br>
              <a:rPr lang="en-IE" sz="2400" dirty="0"/>
            </a:br>
            <a:r>
              <a:rPr lang="en-IE" sz="2400" dirty="0"/>
              <a:t> :</a:t>
            </a:r>
          </a:p>
          <a:p>
            <a:r>
              <a:rPr lang="en-IE" sz="2400" dirty="0"/>
              <a:t>Scanner </a:t>
            </a:r>
            <a:r>
              <a:rPr lang="en-IE" sz="2400" i="1" dirty="0">
                <a:solidFill>
                  <a:srgbClr val="660E7A"/>
                </a:solidFill>
                <a:effectLst/>
              </a:rPr>
              <a:t>input </a:t>
            </a:r>
            <a:r>
              <a:rPr lang="en-IE" sz="2400" dirty="0"/>
              <a:t>= </a:t>
            </a:r>
            <a:r>
              <a:rPr lang="en-IE" sz="2400" b="1" dirty="0">
                <a:solidFill>
                  <a:srgbClr val="000080"/>
                </a:solidFill>
                <a:effectLst/>
              </a:rPr>
              <a:t>new </a:t>
            </a:r>
            <a:r>
              <a:rPr lang="en-IE" sz="2400" dirty="0"/>
              <a:t>Scanner(</a:t>
            </a:r>
            <a:r>
              <a:rPr lang="en-IE" sz="2400" dirty="0" err="1"/>
              <a:t>System.</a:t>
            </a:r>
            <a:r>
              <a:rPr lang="en-IE" sz="2400" b="1" i="1" dirty="0" err="1">
                <a:solidFill>
                  <a:srgbClr val="660E7A"/>
                </a:solidFill>
                <a:effectLst/>
              </a:rPr>
              <a:t>in</a:t>
            </a:r>
            <a:r>
              <a:rPr lang="en-IE" sz="2400" dirty="0"/>
              <a:t>);</a:t>
            </a:r>
          </a:p>
          <a:p>
            <a:r>
              <a:rPr lang="en-IE" sz="2400" dirty="0"/>
              <a:t> :</a:t>
            </a: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/>
              <a:t>n;</a:t>
            </a: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/>
              <a:t>sum = </a:t>
            </a:r>
            <a:r>
              <a:rPr lang="en-IE" sz="2400" dirty="0">
                <a:solidFill>
                  <a:srgbClr val="0000FF"/>
                </a:solidFill>
                <a:effectLst/>
              </a:rPr>
              <a:t>0</a:t>
            </a:r>
            <a:r>
              <a:rPr lang="en-IE" sz="2400" dirty="0"/>
              <a:t>;</a:t>
            </a:r>
            <a:br>
              <a:rPr lang="en-IE" sz="2400" dirty="0"/>
            </a:b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for </a:t>
            </a:r>
            <a:r>
              <a:rPr lang="en-IE" sz="2400" dirty="0"/>
              <a:t>(</a:t>
            </a: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 err="1"/>
              <a:t>i</a:t>
            </a:r>
            <a:r>
              <a:rPr lang="en-IE" sz="2400" dirty="0"/>
              <a:t> = </a:t>
            </a:r>
            <a:r>
              <a:rPr lang="en-IE" sz="2400" dirty="0">
                <a:solidFill>
                  <a:srgbClr val="0000FF"/>
                </a:solidFill>
                <a:effectLst/>
              </a:rPr>
              <a:t>0</a:t>
            </a:r>
            <a:r>
              <a:rPr lang="en-IE" sz="2400" dirty="0"/>
              <a:t>; </a:t>
            </a:r>
            <a:r>
              <a:rPr lang="en-IE" sz="2400" dirty="0" err="1"/>
              <a:t>i</a:t>
            </a:r>
            <a:r>
              <a:rPr lang="en-IE" sz="2400" dirty="0"/>
              <a:t>&lt;</a:t>
            </a:r>
            <a:r>
              <a:rPr lang="en-IE" sz="2400" dirty="0">
                <a:solidFill>
                  <a:srgbClr val="0000FF"/>
                </a:solidFill>
                <a:effectLst/>
              </a:rPr>
              <a:t>10</a:t>
            </a:r>
            <a:r>
              <a:rPr lang="en-IE" sz="2400" dirty="0"/>
              <a:t>; </a:t>
            </a:r>
            <a:r>
              <a:rPr lang="en-IE" sz="2400" dirty="0" err="1"/>
              <a:t>i</a:t>
            </a:r>
            <a:r>
              <a:rPr lang="en-IE" sz="2400" dirty="0"/>
              <a:t>++)  {</a:t>
            </a:r>
            <a:br>
              <a:rPr lang="en-IE" sz="2400" dirty="0"/>
            </a:br>
            <a:r>
              <a:rPr lang="en-IE" sz="2400" dirty="0"/>
              <a:t>    n = </a:t>
            </a:r>
            <a:r>
              <a:rPr lang="en-IE" sz="2400" i="1" dirty="0" err="1">
                <a:solidFill>
                  <a:srgbClr val="660E7A"/>
                </a:solidFill>
                <a:effectLst/>
              </a:rPr>
              <a:t>input</a:t>
            </a:r>
            <a:r>
              <a:rPr lang="en-IE" sz="2400" dirty="0" err="1"/>
              <a:t>.nextInt</a:t>
            </a:r>
            <a:r>
              <a:rPr lang="en-IE" sz="2400" dirty="0"/>
              <a:t>();</a:t>
            </a:r>
            <a:br>
              <a:rPr lang="en-IE" sz="2400" dirty="0"/>
            </a:br>
            <a:r>
              <a:rPr lang="en-IE" sz="2400" dirty="0"/>
              <a:t>    sum += n;</a:t>
            </a:r>
            <a:br>
              <a:rPr lang="en-IE" sz="2400" dirty="0"/>
            </a:br>
            <a:r>
              <a:rPr lang="en-IE" sz="2400" dirty="0"/>
              <a:t>}</a:t>
            </a:r>
            <a:br>
              <a:rPr lang="en-IE" sz="2400" dirty="0"/>
            </a:br>
            <a:br>
              <a:rPr lang="en-IE" sz="2400" dirty="0"/>
            </a:br>
            <a:r>
              <a:rPr lang="en-IE" sz="2400" dirty="0" err="1"/>
              <a:t>System.</a:t>
            </a:r>
            <a:r>
              <a:rPr lang="en-IE" sz="2400" b="1" i="1" dirty="0" err="1">
                <a:solidFill>
                  <a:srgbClr val="660E7A"/>
                </a:solidFill>
                <a:effectLst/>
              </a:rPr>
              <a:t>out</a:t>
            </a:r>
            <a:r>
              <a:rPr lang="en-IE" sz="2400" dirty="0" err="1"/>
              <a:t>.println</a:t>
            </a:r>
            <a:r>
              <a:rPr lang="en-IE" sz="2400" dirty="0"/>
              <a:t>(</a:t>
            </a:r>
            <a:r>
              <a:rPr lang="en-IE" sz="2400" b="1" dirty="0">
                <a:solidFill>
                  <a:srgbClr val="008000"/>
                </a:solidFill>
                <a:effectLst/>
              </a:rPr>
              <a:t>"The sum of the values you typed in is : " </a:t>
            </a:r>
            <a:r>
              <a:rPr lang="en-IE" sz="2400" dirty="0"/>
              <a:t>+ sum);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Adding 10 numbers </a:t>
            </a:r>
          </a:p>
        </p:txBody>
      </p:sp>
      <p:sp>
        <p:nvSpPr>
          <p:cNvPr id="4" name="Rectangle 3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20508" y="3344178"/>
            <a:ext cx="4618892" cy="1831559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When the 10 numbers have been read in, </a:t>
            </a:r>
          </a:p>
          <a:p>
            <a:pPr algn="ctr"/>
            <a:r>
              <a:rPr lang="en-US" sz="2800" dirty="0"/>
              <a:t>the </a:t>
            </a:r>
            <a:r>
              <a:rPr lang="en-US" sz="2800" b="1" dirty="0"/>
              <a:t>sum</a:t>
            </a:r>
            <a:r>
              <a:rPr lang="en-US" sz="2800" dirty="0"/>
              <a:t> of the 10 numbers is printed to the console.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C9ABE52-4043-4518-AF2B-B1B8FB953F6A}"/>
              </a:ext>
            </a:extLst>
          </p:cNvPr>
          <p:cNvSpPr/>
          <p:nvPr/>
        </p:nvSpPr>
        <p:spPr>
          <a:xfrm flipV="1">
            <a:off x="1758462" y="6047602"/>
            <a:ext cx="8680938" cy="522446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3376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Adding 10 numbers </a:t>
            </a:r>
          </a:p>
        </p:txBody>
      </p:sp>
      <p:sp>
        <p:nvSpPr>
          <p:cNvPr id="4" name="Rectangle 3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2600" y="1676401"/>
            <a:ext cx="8763000" cy="5262979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>
                <a:solidFill>
                  <a:srgbClr val="000080"/>
                </a:solidFill>
                <a:effectLst/>
              </a:rPr>
              <a:t>import </a:t>
            </a:r>
            <a:r>
              <a:rPr lang="en-IE" sz="2400" dirty="0" err="1"/>
              <a:t>java.util.Scanner</a:t>
            </a:r>
            <a:r>
              <a:rPr lang="en-IE" sz="2400" dirty="0"/>
              <a:t>;</a:t>
            </a:r>
            <a:br>
              <a:rPr lang="en-IE" sz="2400" dirty="0"/>
            </a:br>
            <a:r>
              <a:rPr lang="en-IE" sz="2400" dirty="0"/>
              <a:t> :</a:t>
            </a:r>
          </a:p>
          <a:p>
            <a:r>
              <a:rPr lang="en-IE" sz="2400" dirty="0"/>
              <a:t>Scanner </a:t>
            </a:r>
            <a:r>
              <a:rPr lang="en-IE" sz="2400" i="1" dirty="0">
                <a:solidFill>
                  <a:srgbClr val="660E7A"/>
                </a:solidFill>
                <a:effectLst/>
              </a:rPr>
              <a:t>input </a:t>
            </a:r>
            <a:r>
              <a:rPr lang="en-IE" sz="2400" dirty="0"/>
              <a:t>= </a:t>
            </a:r>
            <a:r>
              <a:rPr lang="en-IE" sz="2400" b="1" dirty="0">
                <a:solidFill>
                  <a:srgbClr val="000080"/>
                </a:solidFill>
                <a:effectLst/>
              </a:rPr>
              <a:t>new </a:t>
            </a:r>
            <a:r>
              <a:rPr lang="en-IE" sz="2400" dirty="0"/>
              <a:t>Scanner(</a:t>
            </a:r>
            <a:r>
              <a:rPr lang="en-IE" sz="2400" dirty="0" err="1"/>
              <a:t>System.</a:t>
            </a:r>
            <a:r>
              <a:rPr lang="en-IE" sz="2400" b="1" i="1" dirty="0" err="1">
                <a:solidFill>
                  <a:srgbClr val="660E7A"/>
                </a:solidFill>
                <a:effectLst/>
              </a:rPr>
              <a:t>in</a:t>
            </a:r>
            <a:r>
              <a:rPr lang="en-IE" sz="2400" dirty="0"/>
              <a:t>);</a:t>
            </a:r>
          </a:p>
          <a:p>
            <a:r>
              <a:rPr lang="en-IE" sz="2400" dirty="0"/>
              <a:t> :</a:t>
            </a: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/>
              <a:t>n;</a:t>
            </a: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/>
              <a:t>sum = </a:t>
            </a:r>
            <a:r>
              <a:rPr lang="en-IE" sz="2400" dirty="0">
                <a:solidFill>
                  <a:srgbClr val="0000FF"/>
                </a:solidFill>
                <a:effectLst/>
              </a:rPr>
              <a:t>0</a:t>
            </a:r>
            <a:r>
              <a:rPr lang="en-IE" sz="2400" dirty="0"/>
              <a:t>;</a:t>
            </a:r>
            <a:br>
              <a:rPr lang="en-IE" sz="2400" dirty="0"/>
            </a:b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for </a:t>
            </a:r>
            <a:r>
              <a:rPr lang="en-IE" sz="2400" dirty="0"/>
              <a:t>(</a:t>
            </a: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 err="1"/>
              <a:t>i</a:t>
            </a:r>
            <a:r>
              <a:rPr lang="en-IE" sz="2400" dirty="0"/>
              <a:t> = </a:t>
            </a:r>
            <a:r>
              <a:rPr lang="en-IE" sz="2400" dirty="0">
                <a:solidFill>
                  <a:srgbClr val="0000FF"/>
                </a:solidFill>
                <a:effectLst/>
              </a:rPr>
              <a:t>0</a:t>
            </a:r>
            <a:r>
              <a:rPr lang="en-IE" sz="2400" dirty="0"/>
              <a:t>; </a:t>
            </a:r>
            <a:r>
              <a:rPr lang="en-IE" sz="2400" dirty="0" err="1"/>
              <a:t>i</a:t>
            </a:r>
            <a:r>
              <a:rPr lang="en-IE" sz="2400" dirty="0"/>
              <a:t>&lt;</a:t>
            </a:r>
            <a:r>
              <a:rPr lang="en-IE" sz="2400" dirty="0">
                <a:solidFill>
                  <a:srgbClr val="0000FF"/>
                </a:solidFill>
                <a:effectLst/>
              </a:rPr>
              <a:t>10</a:t>
            </a:r>
            <a:r>
              <a:rPr lang="en-IE" sz="2400" dirty="0"/>
              <a:t>; </a:t>
            </a:r>
            <a:r>
              <a:rPr lang="en-IE" sz="2400" dirty="0" err="1"/>
              <a:t>i</a:t>
            </a:r>
            <a:r>
              <a:rPr lang="en-IE" sz="2400" dirty="0"/>
              <a:t>++)  {</a:t>
            </a:r>
            <a:br>
              <a:rPr lang="en-IE" sz="2400" dirty="0"/>
            </a:br>
            <a:r>
              <a:rPr lang="en-IE" sz="2400" dirty="0"/>
              <a:t>    n = </a:t>
            </a:r>
            <a:r>
              <a:rPr lang="en-IE" sz="2400" i="1" dirty="0" err="1">
                <a:solidFill>
                  <a:srgbClr val="660E7A"/>
                </a:solidFill>
                <a:effectLst/>
              </a:rPr>
              <a:t>input</a:t>
            </a:r>
            <a:r>
              <a:rPr lang="en-IE" sz="2400" dirty="0" err="1"/>
              <a:t>.nextInt</a:t>
            </a:r>
            <a:r>
              <a:rPr lang="en-IE" sz="2400" dirty="0"/>
              <a:t>();</a:t>
            </a:r>
            <a:br>
              <a:rPr lang="en-IE" sz="2400" dirty="0"/>
            </a:br>
            <a:r>
              <a:rPr lang="en-IE" sz="2400" dirty="0"/>
              <a:t>    sum += n;</a:t>
            </a:r>
            <a:br>
              <a:rPr lang="en-IE" sz="2400" dirty="0"/>
            </a:br>
            <a:r>
              <a:rPr lang="en-IE" sz="2400" dirty="0"/>
              <a:t>}</a:t>
            </a:r>
            <a:br>
              <a:rPr lang="en-IE" sz="2400" dirty="0"/>
            </a:br>
            <a:br>
              <a:rPr lang="en-IE" sz="2400" dirty="0"/>
            </a:br>
            <a:r>
              <a:rPr lang="en-IE" sz="2400" dirty="0" err="1"/>
              <a:t>System.</a:t>
            </a:r>
            <a:r>
              <a:rPr lang="en-IE" sz="2400" b="1" i="1" dirty="0" err="1">
                <a:solidFill>
                  <a:srgbClr val="660E7A"/>
                </a:solidFill>
                <a:effectLst/>
              </a:rPr>
              <a:t>out</a:t>
            </a:r>
            <a:r>
              <a:rPr lang="en-IE" sz="2400" dirty="0" err="1"/>
              <a:t>.println</a:t>
            </a:r>
            <a:r>
              <a:rPr lang="en-IE" sz="2400" dirty="0"/>
              <a:t>(</a:t>
            </a:r>
            <a:r>
              <a:rPr lang="en-IE" sz="2400" b="1" dirty="0">
                <a:solidFill>
                  <a:srgbClr val="008000"/>
                </a:solidFill>
                <a:effectLst/>
              </a:rPr>
              <a:t>"The sum of the values you typed in is : " </a:t>
            </a:r>
            <a:r>
              <a:rPr lang="en-IE" sz="2400" dirty="0"/>
              <a:t>+ sum);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C9ABE52-4043-4518-AF2B-B1B8FB953F6A}"/>
              </a:ext>
            </a:extLst>
          </p:cNvPr>
          <p:cNvSpPr/>
          <p:nvPr/>
        </p:nvSpPr>
        <p:spPr>
          <a:xfrm flipV="1">
            <a:off x="1606062" y="4191000"/>
            <a:ext cx="4032738" cy="1600200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3" name="TextBox 12"/>
          <p:cNvSpPr txBox="1"/>
          <p:nvPr/>
        </p:nvSpPr>
        <p:spPr>
          <a:xfrm>
            <a:off x="6019800" y="2057401"/>
            <a:ext cx="4457700" cy="221599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Notice that, </a:t>
            </a:r>
          </a:p>
          <a:p>
            <a:pPr algn="ctr"/>
            <a:r>
              <a:rPr lang="en-US" sz="2400" dirty="0"/>
              <a:t>each time a number is read in, </a:t>
            </a:r>
          </a:p>
          <a:p>
            <a:pPr algn="ctr"/>
            <a:r>
              <a:rPr lang="en-US" sz="2400" dirty="0"/>
              <a:t>it overwrites the value stored in </a:t>
            </a:r>
            <a:r>
              <a:rPr lang="en-US" sz="2400" b="1" dirty="0">
                <a:solidFill>
                  <a:srgbClr val="0070C0"/>
                </a:solidFill>
              </a:rPr>
              <a:t>n</a:t>
            </a:r>
            <a:r>
              <a:rPr lang="en-US" sz="2400" dirty="0">
                <a:solidFill>
                  <a:schemeClr val="tx1"/>
                </a:solidFill>
              </a:rPr>
              <a:t>.</a:t>
            </a:r>
            <a:br>
              <a:rPr lang="en-US" sz="24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  </a:t>
            </a:r>
            <a:endParaRPr lang="en-US" sz="2400" dirty="0">
              <a:solidFill>
                <a:schemeClr val="tx1"/>
              </a:solidFill>
            </a:endParaRPr>
          </a:p>
          <a:p>
            <a:pPr algn="ctr"/>
            <a:r>
              <a:rPr lang="en-US" sz="2400" dirty="0">
                <a:solidFill>
                  <a:schemeClr val="tx1"/>
                </a:solidFill>
              </a:rPr>
              <a:t>It doesn’t remember </a:t>
            </a:r>
            <a:br>
              <a:rPr lang="en-US" sz="2400" dirty="0">
                <a:solidFill>
                  <a:schemeClr val="tx1"/>
                </a:solidFill>
              </a:rPr>
            </a:br>
            <a:r>
              <a:rPr lang="en-US" sz="2400" dirty="0">
                <a:solidFill>
                  <a:schemeClr val="tx1"/>
                </a:solidFill>
              </a:rPr>
              <a:t>the individual numbers typed in.</a:t>
            </a:r>
          </a:p>
        </p:txBody>
      </p:sp>
    </p:spTree>
    <p:extLst>
      <p:ext uri="{BB962C8B-B14F-4D97-AF65-F5344CB8AC3E}">
        <p14:creationId xmlns:p14="http://schemas.microsoft.com/office/powerpoint/2010/main" val="2584725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Rule</a:t>
            </a:r>
            <a:r>
              <a:rPr lang="en-US" dirty="0"/>
              <a:t> – </a:t>
            </a:r>
            <a:r>
              <a:rPr lang="en-US" b="1" dirty="0"/>
              <a:t>Never lose input data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Always try to </a:t>
            </a:r>
            <a:r>
              <a:rPr lang="en-GB" b="1" dirty="0"/>
              <a:t>store</a:t>
            </a:r>
            <a:r>
              <a:rPr lang="en-GB" dirty="0"/>
              <a:t> input data for later use </a:t>
            </a:r>
            <a:br>
              <a:rPr lang="en-GB" dirty="0"/>
            </a:br>
            <a:endParaRPr lang="en-GB" dirty="0"/>
          </a:p>
          <a:p>
            <a:r>
              <a:rPr lang="en-GB" dirty="0"/>
              <a:t>In real-life systems, </a:t>
            </a:r>
            <a:br>
              <a:rPr lang="en-GB" dirty="0"/>
            </a:br>
            <a:r>
              <a:rPr lang="en-GB" dirty="0"/>
              <a:t>you nearly always need to use it again. </a:t>
            </a:r>
            <a:br>
              <a:rPr lang="en-GB" dirty="0"/>
            </a:br>
            <a:endParaRPr lang="en-GB" dirty="0"/>
          </a:p>
          <a:p>
            <a:r>
              <a:rPr lang="en-GB" dirty="0"/>
              <a:t>The previous code has NOT done this.</a:t>
            </a:r>
          </a:p>
          <a:p>
            <a:pPr lvl="1"/>
            <a:r>
              <a:rPr lang="en-GB" dirty="0"/>
              <a:t>Let’s try another way ... </a:t>
            </a:r>
            <a:endParaRPr lang="en-IE" dirty="0"/>
          </a:p>
          <a:p>
            <a:endParaRPr lang="en-US" dirty="0"/>
          </a:p>
        </p:txBody>
      </p:sp>
      <p:sp>
        <p:nvSpPr>
          <p:cNvPr id="4" name="5-Point Star 3"/>
          <p:cNvSpPr/>
          <p:nvPr/>
        </p:nvSpPr>
        <p:spPr>
          <a:xfrm>
            <a:off x="8915400" y="274638"/>
            <a:ext cx="990600" cy="990600"/>
          </a:xfrm>
          <a:prstGeom prst="star5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7892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Remembering the Numbers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76400" y="2072820"/>
            <a:ext cx="8915400" cy="409342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 err="1"/>
              <a:t>int</a:t>
            </a:r>
            <a:r>
              <a:rPr lang="en-US" sz="2000" dirty="0"/>
              <a:t> n0,n1, n2, n3, n4, n5, n6, n7, n8, n9;</a:t>
            </a:r>
          </a:p>
          <a:p>
            <a:r>
              <a:rPr lang="en-US" sz="2000" dirty="0" err="1"/>
              <a:t>int</a:t>
            </a:r>
            <a:r>
              <a:rPr lang="en-US" sz="2000" dirty="0"/>
              <a:t> sum = 0;</a:t>
            </a:r>
          </a:p>
          <a:p>
            <a:endParaRPr lang="en-US" sz="2000" dirty="0"/>
          </a:p>
          <a:p>
            <a:r>
              <a:rPr lang="en-US" sz="2000" dirty="0"/>
              <a:t>n0 = </a:t>
            </a:r>
            <a:r>
              <a:rPr lang="en-US" sz="2000" dirty="0" err="1"/>
              <a:t>input.nextInt();</a:t>
            </a:r>
            <a:endParaRPr lang="en-US" sz="2000" dirty="0"/>
          </a:p>
          <a:p>
            <a:r>
              <a:rPr lang="en-US" sz="2000" dirty="0"/>
              <a:t>sum += n0;</a:t>
            </a:r>
          </a:p>
          <a:p>
            <a:endParaRPr lang="en-US" sz="2000" dirty="0"/>
          </a:p>
          <a:p>
            <a:r>
              <a:rPr lang="en-US" sz="2000" dirty="0"/>
              <a:t>n1 = </a:t>
            </a:r>
            <a:r>
              <a:rPr lang="en-US" sz="2000" dirty="0" err="1"/>
              <a:t>input.nextInt();</a:t>
            </a:r>
            <a:endParaRPr lang="en-US" sz="2000" dirty="0"/>
          </a:p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//rest of code for n2 to n8</a:t>
            </a:r>
          </a:p>
          <a:p>
            <a:endParaRPr lang="en-US" sz="2000" dirty="0"/>
          </a:p>
          <a:p>
            <a:r>
              <a:rPr lang="en-US" sz="2000" dirty="0"/>
              <a:t>n9= </a:t>
            </a:r>
            <a:r>
              <a:rPr lang="en-US" sz="2000" dirty="0" err="1"/>
              <a:t>input.nextInt(); </a:t>
            </a:r>
          </a:p>
          <a:p>
            <a:r>
              <a:rPr lang="en-US" sz="2000" dirty="0"/>
              <a:t>sum += n9;</a:t>
            </a:r>
          </a:p>
          <a:p>
            <a:endParaRPr lang="en-US" sz="2000" dirty="0"/>
          </a:p>
          <a:p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System.out.println</a:t>
            </a:r>
            <a:r>
              <a:rPr lang="en-US" sz="2000" dirty="0"/>
              <a:t>("The sum of the values you typed in is : " + sum);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7549C18-A1D4-4E22-9C2C-130F5C88F7D2}"/>
              </a:ext>
            </a:extLst>
          </p:cNvPr>
          <p:cNvSpPr/>
          <p:nvPr/>
        </p:nvSpPr>
        <p:spPr>
          <a:xfrm>
            <a:off x="5867400" y="1524001"/>
            <a:ext cx="4724400" cy="95410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GB" sz="2800" dirty="0"/>
              <a:t>This works in the sense that we have retained the input data.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549C18-A1D4-4E22-9C2C-130F5C88F7D2}"/>
              </a:ext>
            </a:extLst>
          </p:cNvPr>
          <p:cNvSpPr/>
          <p:nvPr/>
        </p:nvSpPr>
        <p:spPr>
          <a:xfrm>
            <a:off x="5881687" y="2418826"/>
            <a:ext cx="4724400" cy="138499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GB" sz="2800" dirty="0"/>
              <a:t>BUT…we no longer use loops.</a:t>
            </a:r>
          </a:p>
          <a:p>
            <a:pPr algn="ctr"/>
            <a:endParaRPr lang="en-GB" sz="2800" dirty="0"/>
          </a:p>
          <a:p>
            <a:pPr algn="ctr"/>
            <a:endParaRPr lang="en-GB" sz="28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549C18-A1D4-4E22-9C2C-130F5C88F7D2}"/>
              </a:ext>
            </a:extLst>
          </p:cNvPr>
          <p:cNvSpPr/>
          <p:nvPr/>
        </p:nvSpPr>
        <p:spPr>
          <a:xfrm>
            <a:off x="5881687" y="2824114"/>
            <a:ext cx="4724400" cy="138499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GB" sz="2800" dirty="0"/>
              <a:t>Imagine the code if we had to read in 1,000 numbers?</a:t>
            </a:r>
          </a:p>
          <a:p>
            <a:pPr algn="ctr"/>
            <a:endParaRPr lang="en-GB" sz="28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549C18-A1D4-4E22-9C2C-130F5C88F7D2}"/>
              </a:ext>
            </a:extLst>
          </p:cNvPr>
          <p:cNvSpPr/>
          <p:nvPr/>
        </p:nvSpPr>
        <p:spPr>
          <a:xfrm>
            <a:off x="5867400" y="4104144"/>
            <a:ext cx="4724400" cy="267765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GB" sz="2800" dirty="0"/>
              <a:t>We need a new approach…</a:t>
            </a:r>
            <a:br>
              <a:rPr lang="en-GB" sz="2800" dirty="0"/>
            </a:br>
            <a:br>
              <a:rPr lang="en-GB" sz="2800" dirty="0"/>
            </a:br>
            <a:r>
              <a:rPr lang="en-GB" sz="2800" dirty="0"/>
              <a:t>This is where </a:t>
            </a:r>
            <a:r>
              <a:rPr lang="en-GB" sz="2800" b="1" dirty="0"/>
              <a:t>data structures</a:t>
            </a:r>
            <a:r>
              <a:rPr lang="en-GB" sz="2800" dirty="0"/>
              <a:t> come in! </a:t>
            </a:r>
            <a:br>
              <a:rPr lang="en-GB" sz="2800" dirty="0"/>
            </a:br>
            <a:br>
              <a:rPr lang="en-GB" sz="2800" dirty="0"/>
            </a:br>
            <a:r>
              <a:rPr lang="en-GB" sz="2800" dirty="0"/>
              <a:t>We will now look at </a:t>
            </a:r>
            <a:r>
              <a:rPr lang="en-GB" sz="2800" b="1" dirty="0"/>
              <a:t>arrays</a:t>
            </a:r>
            <a:r>
              <a:rPr lang="en-GB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20981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431CA-CC3A-47A3-0DFC-8B76DC403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5F921-6D32-7387-2DDE-8EDA39F55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EE36B7-4698-3687-BD78-D6F028D6925B}"/>
              </a:ext>
            </a:extLst>
          </p:cNvPr>
          <p:cNvSpPr txBox="1"/>
          <p:nvPr/>
        </p:nvSpPr>
        <p:spPr>
          <a:xfrm>
            <a:off x="621632" y="1417638"/>
            <a:ext cx="10972800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Why arrays?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Primitive Arrays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Array Syntax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Loops and Arrays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What datatypes can be stored in arrays?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 Difference between fixed size and number of populated 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F405F54-A8A6-C9DD-9290-E76EB46C3B1A}"/>
              </a:ext>
            </a:extLst>
          </p:cNvPr>
          <p:cNvSpPr/>
          <p:nvPr/>
        </p:nvSpPr>
        <p:spPr>
          <a:xfrm>
            <a:off x="621632" y="2362200"/>
            <a:ext cx="3416968" cy="609600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83884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Arrays</a:t>
            </a:r>
            <a:r>
              <a:rPr lang="en-US" dirty="0"/>
              <a:t> (fixed-size collections)</a:t>
            </a:r>
          </a:p>
        </p:txBody>
      </p:sp>
      <p:sp>
        <p:nvSpPr>
          <p:cNvPr id="24579" name="Rectangle 3"/>
          <p:cNvSpPr>
            <a:spLocks noGrp="1" noChangeArrowheads="1"/>
          </p:cNvSpPr>
          <p:nvPr>
            <p:ph idx="1"/>
          </p:nvPr>
        </p:nvSpPr>
        <p:spPr>
          <a:xfrm>
            <a:off x="1981200" y="1676400"/>
            <a:ext cx="8229600" cy="5105400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dirty="0"/>
              <a:t>Arrays are a way to collect associated values. </a:t>
            </a:r>
          </a:p>
          <a:p>
            <a:pPr>
              <a:lnSpc>
                <a:spcPct val="90000"/>
              </a:lnSpc>
            </a:pPr>
            <a:endParaRPr lang="en-US" dirty="0"/>
          </a:p>
          <a:p>
            <a:pPr>
              <a:lnSpc>
                <a:spcPct val="90000"/>
              </a:lnSpc>
            </a:pPr>
            <a:r>
              <a:rPr lang="en-US" dirty="0"/>
              <a:t>Programming languages usually offer a special </a:t>
            </a:r>
            <a:r>
              <a:rPr lang="en-US" dirty="0">
                <a:solidFill>
                  <a:srgbClr val="FF0000"/>
                </a:solidFill>
              </a:rPr>
              <a:t>fixed-size collection </a:t>
            </a:r>
            <a:r>
              <a:rPr lang="en-US" dirty="0"/>
              <a:t>type: an </a:t>
            </a:r>
            <a:r>
              <a:rPr lang="en-US" i="1" dirty="0"/>
              <a:t>array</a:t>
            </a:r>
            <a:r>
              <a:rPr lang="en-US" dirty="0"/>
              <a:t>.</a:t>
            </a:r>
          </a:p>
          <a:p>
            <a:pPr>
              <a:lnSpc>
                <a:spcPct val="90000"/>
              </a:lnSpc>
            </a:pPr>
            <a:endParaRPr lang="en-US" dirty="0"/>
          </a:p>
          <a:p>
            <a:pPr>
              <a:lnSpc>
                <a:spcPct val="90000"/>
              </a:lnSpc>
            </a:pPr>
            <a:r>
              <a:rPr lang="en-US" dirty="0"/>
              <a:t>Java arrays can store 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objects 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primitive-type values.</a:t>
            </a:r>
          </a:p>
          <a:p>
            <a:pPr>
              <a:lnSpc>
                <a:spcPct val="90000"/>
              </a:lnSpc>
            </a:pPr>
            <a:endParaRPr lang="en-US" dirty="0"/>
          </a:p>
          <a:p>
            <a:pPr>
              <a:lnSpc>
                <a:spcPct val="90000"/>
              </a:lnSpc>
            </a:pPr>
            <a:r>
              <a:rPr lang="en-US" dirty="0"/>
              <a:t>Arrays use a special syntax.</a:t>
            </a:r>
          </a:p>
          <a:p>
            <a:pPr>
              <a:lnSpc>
                <a:spcPct val="9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0412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8EE88-46E7-65D1-1466-08A4DDCCB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83D5E-F41F-15C2-E501-0DBF16013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66EE49-0AEB-144D-C792-0EECDDC6D8B3}"/>
              </a:ext>
            </a:extLst>
          </p:cNvPr>
          <p:cNvSpPr txBox="1"/>
          <p:nvPr/>
        </p:nvSpPr>
        <p:spPr>
          <a:xfrm>
            <a:off x="621632" y="1417638"/>
            <a:ext cx="10972800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Why arrays?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Primitive Arrays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Array Syntax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Loops and Arrays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What datatypes can be stored in arrays?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 Difference between fixed size and number of populated 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87FB14-95E7-38F8-F25A-FDE89D25AE50}"/>
              </a:ext>
            </a:extLst>
          </p:cNvPr>
          <p:cNvSpPr/>
          <p:nvPr/>
        </p:nvSpPr>
        <p:spPr>
          <a:xfrm>
            <a:off x="621632" y="3273880"/>
            <a:ext cx="2883568" cy="609600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28323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Primitive types</a:t>
            </a:r>
          </a:p>
        </p:txBody>
      </p:sp>
      <p:sp>
        <p:nvSpPr>
          <p:cNvPr id="3076" name="Rectangle 4"/>
          <p:cNvSpPr>
            <a:spLocks noChangeArrowheads="1"/>
          </p:cNvSpPr>
          <p:nvPr/>
        </p:nvSpPr>
        <p:spPr bwMode="auto">
          <a:xfrm>
            <a:off x="2835663" y="5410200"/>
            <a:ext cx="762000" cy="533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 eaLnBrk="1" hangingPunct="1"/>
            <a:r>
              <a:rPr lang="en-GB" sz="4000" dirty="0">
                <a:latin typeface="Trebuchet MS" pitchFamily="-32" charset="0"/>
              </a:rPr>
              <a:t>17</a:t>
            </a:r>
          </a:p>
        </p:txBody>
      </p:sp>
      <p:sp>
        <p:nvSpPr>
          <p:cNvPr id="3081" name="Text Box 10"/>
          <p:cNvSpPr txBox="1">
            <a:spLocks noChangeArrowheads="1"/>
          </p:cNvSpPr>
          <p:nvPr/>
        </p:nvSpPr>
        <p:spPr bwMode="auto">
          <a:xfrm>
            <a:off x="2147776" y="1828800"/>
            <a:ext cx="2470053" cy="52322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b="0" dirty="0">
                <a:solidFill>
                  <a:srgbClr val="C00000"/>
                </a:solidFill>
                <a:latin typeface="Trebuchet MS" pitchFamily="-32" charset="0"/>
              </a:rPr>
              <a:t>Primitive type</a:t>
            </a:r>
          </a:p>
        </p:txBody>
      </p:sp>
      <p:sp>
        <p:nvSpPr>
          <p:cNvPr id="3083" name="Text Box 12"/>
          <p:cNvSpPr txBox="1">
            <a:spLocks noChangeArrowheads="1"/>
          </p:cNvSpPr>
          <p:nvPr/>
        </p:nvSpPr>
        <p:spPr bwMode="auto">
          <a:xfrm>
            <a:off x="2112641" y="2617113"/>
            <a:ext cx="2992759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 err="1">
                <a:latin typeface="Courier New" pitchFamily="-32" charset="0"/>
              </a:rPr>
              <a:t>int</a:t>
            </a:r>
            <a:r>
              <a:rPr lang="en-GB" sz="2800" dirty="0">
                <a:latin typeface="Courier New" pitchFamily="-32" charset="0"/>
              </a:rPr>
              <a:t> </a:t>
            </a:r>
            <a:r>
              <a:rPr lang="en-GB" sz="2800" dirty="0" err="1">
                <a:latin typeface="Courier New" pitchFamily="-32" charset="0"/>
              </a:rPr>
              <a:t>num</a:t>
            </a:r>
            <a:r>
              <a:rPr lang="en-GB" sz="2800" dirty="0">
                <a:latin typeface="Courier New" pitchFamily="-32" charset="0"/>
              </a:rPr>
              <a:t> = 17;</a:t>
            </a:r>
          </a:p>
        </p:txBody>
      </p:sp>
      <p:sp>
        <p:nvSpPr>
          <p:cNvPr id="12" name="Text Box 10">
            <a:extLst>
              <a:ext uri="{FF2B5EF4-FFF2-40B4-BE49-F238E27FC236}">
                <a16:creationId xmlns:a16="http://schemas.microsoft.com/office/drawing/2014/main" id="{F515F851-7DF3-40AD-B332-C0B11289F2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60342" y="4191001"/>
            <a:ext cx="2940259" cy="95410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algn="ctr" eaLnBrk="1" hangingPunct="1"/>
            <a:r>
              <a:rPr lang="en-GB" sz="2800" b="0" dirty="0">
                <a:solidFill>
                  <a:srgbClr val="C00000"/>
                </a:solidFill>
                <a:latin typeface="Trebuchet MS" pitchFamily="-32" charset="0"/>
              </a:rPr>
              <a:t>Directly stored in memory…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98445D4-7CF0-4AAD-9CD0-4C7572FD768F}"/>
              </a:ext>
            </a:extLst>
          </p:cNvPr>
          <p:cNvSpPr/>
          <p:nvPr/>
        </p:nvSpPr>
        <p:spPr>
          <a:xfrm>
            <a:off x="6096000" y="1676401"/>
            <a:ext cx="4191000" cy="4702969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are now going to look at a </a:t>
            </a:r>
            <a:r>
              <a:rPr lang="en-GB" sz="2400" b="1" dirty="0"/>
              <a:t>structure</a:t>
            </a:r>
            <a:r>
              <a:rPr lang="en-GB" sz="2400" dirty="0"/>
              <a:t> that can </a:t>
            </a:r>
            <a:r>
              <a:rPr lang="en-GB" sz="2400" b="1" dirty="0"/>
              <a:t>store many values </a:t>
            </a:r>
            <a:r>
              <a:rPr lang="en-GB" sz="2400" dirty="0"/>
              <a:t>of the </a:t>
            </a:r>
            <a:r>
              <a:rPr lang="en-GB" sz="2400" b="1" dirty="0"/>
              <a:t>same type</a:t>
            </a:r>
            <a:r>
              <a:rPr lang="en-GB" sz="24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Imagine a structure made up of sub-divisions or sections</a:t>
            </a:r>
            <a:r>
              <a:rPr lang="mr-IN" sz="2400" dirty="0"/>
              <a:t>…</a:t>
            </a:r>
            <a:br>
              <a:rPr lang="en-IE" sz="2400" dirty="0"/>
            </a:b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Such a structure is called an </a:t>
            </a:r>
            <a:r>
              <a:rPr lang="en-GB" sz="2400" b="1" dirty="0"/>
              <a:t>array</a:t>
            </a:r>
            <a:r>
              <a:rPr lang="en-GB" sz="2400" dirty="0"/>
              <a:t> and would look like:</a:t>
            </a:r>
            <a:endParaRPr lang="en-IE" sz="2400" dirty="0"/>
          </a:p>
        </p:txBody>
      </p:sp>
    </p:spTree>
    <p:extLst>
      <p:ext uri="{BB962C8B-B14F-4D97-AF65-F5344CB8AC3E}">
        <p14:creationId xmlns:p14="http://schemas.microsoft.com/office/powerpoint/2010/main" val="423737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6" grpId="0" animBg="1"/>
      <p:bldP spid="3081" grpId="0" animBg="1"/>
      <p:bldP spid="3083" grpId="0"/>
      <p:bldP spid="12" grpId="0" animBg="1"/>
      <p:bldP spid="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Structure of a primitive array</a:t>
            </a:r>
          </a:p>
        </p:txBody>
      </p:sp>
      <p:pic>
        <p:nvPicPr>
          <p:cNvPr id="4098" name="Picture 2" descr="Illustration of an array as 10 boxes numbered 0 through 9; an index of 0 indicates the first element in the array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1" y="2209800"/>
            <a:ext cx="7616921" cy="281940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1789160" y="6488668"/>
            <a:ext cx="86106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IE" dirty="0">
                <a:hlinkClick r:id="rId3"/>
              </a:rPr>
              <a:t>http://docs.oracle.com/javase/tutorial/java/nutsandbolts/arrays.html</a:t>
            </a:r>
            <a:r>
              <a:rPr lang="en-I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047172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1" y="1713934"/>
            <a:ext cx="240033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 err="1"/>
              <a:t>int</a:t>
            </a:r>
            <a:r>
              <a:rPr lang="en-GB" sz="2800" b="1" dirty="0"/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A2803B-E7A2-4954-9E5C-37FD263AA316}"/>
              </a:ext>
            </a:extLst>
          </p:cNvPr>
          <p:cNvSpPr txBox="1"/>
          <p:nvPr/>
        </p:nvSpPr>
        <p:spPr>
          <a:xfrm>
            <a:off x="6739006" y="2358440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null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34385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169205"/>
              </p:ext>
            </p:extLst>
          </p:nvPr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FEEE004B-0225-472D-BF88-0869C903969C}"/>
              </a:ext>
            </a:extLst>
          </p:cNvPr>
          <p:cNvSpPr/>
          <p:nvPr/>
        </p:nvSpPr>
        <p:spPr>
          <a:xfrm>
            <a:off x="1600201" y="2667000"/>
            <a:ext cx="3483839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numbers = new </a:t>
            </a:r>
            <a:r>
              <a:rPr lang="en-GB" sz="2800" b="1" dirty="0" err="1"/>
              <a:t>int</a:t>
            </a:r>
            <a:r>
              <a:rPr lang="en-GB" sz="2800" b="1" dirty="0"/>
              <a:t>[4];</a:t>
            </a:r>
            <a:endParaRPr lang="en-IE" sz="2800" b="1" dirty="0"/>
          </a:p>
        </p:txBody>
      </p:sp>
    </p:spTree>
    <p:extLst>
      <p:ext uri="{BB962C8B-B14F-4D97-AF65-F5344CB8AC3E}">
        <p14:creationId xmlns:p14="http://schemas.microsoft.com/office/powerpoint/2010/main" val="1300503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/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1890A5C-0042-41EC-A97E-63251CA16A2B}"/>
              </a:ext>
            </a:extLst>
          </p:cNvPr>
          <p:cNvSpPr/>
          <p:nvPr/>
        </p:nvSpPr>
        <p:spPr>
          <a:xfrm>
            <a:off x="1600201" y="2667000"/>
            <a:ext cx="3483839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numbers = new </a:t>
            </a:r>
            <a:r>
              <a:rPr lang="en-GB" sz="2800" b="1" dirty="0" err="1"/>
              <a:t>int</a:t>
            </a:r>
            <a:r>
              <a:rPr lang="en-GB" sz="2800" b="1" dirty="0"/>
              <a:t>[4];</a:t>
            </a:r>
            <a:endParaRPr lang="en-IE" sz="2800" b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5C1F11D-8D3D-4478-B415-16F739E51BCF}"/>
              </a:ext>
            </a:extLst>
          </p:cNvPr>
          <p:cNvSpPr/>
          <p:nvPr/>
        </p:nvSpPr>
        <p:spPr>
          <a:xfrm>
            <a:off x="1600201" y="3620066"/>
            <a:ext cx="3483838" cy="2856934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000" dirty="0"/>
              <a:t>We have declared an array of </a:t>
            </a:r>
            <a:r>
              <a:rPr lang="en-IE" sz="2000" dirty="0" err="1"/>
              <a:t>int</a:t>
            </a:r>
            <a:r>
              <a:rPr lang="en-IE" sz="2000" dirty="0"/>
              <a:t>, with a capacity of four. </a:t>
            </a:r>
          </a:p>
          <a:p>
            <a:pPr algn="ctr"/>
            <a:endParaRPr lang="en-IE" sz="2000" dirty="0"/>
          </a:p>
          <a:p>
            <a:pPr algn="ctr"/>
            <a:r>
              <a:rPr lang="en-IE" sz="2000" dirty="0"/>
              <a:t>Each element is of type </a:t>
            </a:r>
            <a:r>
              <a:rPr lang="en-IE" sz="2000" b="1" dirty="0"/>
              <a:t>int</a:t>
            </a:r>
            <a:r>
              <a:rPr lang="en-IE" sz="2000" dirty="0"/>
              <a:t>.</a:t>
            </a:r>
          </a:p>
          <a:p>
            <a:pPr algn="ctr"/>
            <a:endParaRPr lang="en-IE" sz="2000" dirty="0"/>
          </a:p>
          <a:p>
            <a:pPr algn="ctr"/>
            <a:r>
              <a:rPr lang="en-IE" sz="2000" dirty="0"/>
              <a:t>The array is called </a:t>
            </a:r>
            <a:r>
              <a:rPr lang="en-IE" sz="2000" b="1" dirty="0"/>
              <a:t>numbers</a:t>
            </a:r>
            <a:r>
              <a:rPr lang="en-IE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620186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/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8B2E9D6B-CAED-4A70-BB33-7EEDCB9DCA73}"/>
              </a:ext>
            </a:extLst>
          </p:cNvPr>
          <p:cNvSpPr/>
          <p:nvPr/>
        </p:nvSpPr>
        <p:spPr>
          <a:xfrm>
            <a:off x="6934200" y="3505200"/>
            <a:ext cx="1066800" cy="2286000"/>
          </a:xfrm>
          <a:prstGeom prst="ellipse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55BC3C9-2ED5-4BCD-8FEE-7FDB53BA9C6E}"/>
              </a:ext>
            </a:extLst>
          </p:cNvPr>
          <p:cNvSpPr/>
          <p:nvPr/>
        </p:nvSpPr>
        <p:spPr>
          <a:xfrm>
            <a:off x="5943600" y="5867400"/>
            <a:ext cx="2971800" cy="7620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Index of each element in the array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1AC4C9A-5A77-4D71-8DE6-19E3861EB56E}"/>
              </a:ext>
            </a:extLst>
          </p:cNvPr>
          <p:cNvSpPr/>
          <p:nvPr/>
        </p:nvSpPr>
        <p:spPr>
          <a:xfrm>
            <a:off x="1600201" y="2667000"/>
            <a:ext cx="3483839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numbers = new </a:t>
            </a:r>
            <a:r>
              <a:rPr lang="en-GB" sz="2800" b="1" dirty="0" err="1"/>
              <a:t>int</a:t>
            </a:r>
            <a:r>
              <a:rPr lang="en-GB" sz="2800" b="1" dirty="0"/>
              <a:t>[4];</a:t>
            </a:r>
            <a:endParaRPr lang="en-IE" sz="2800" b="1" dirty="0"/>
          </a:p>
        </p:txBody>
      </p:sp>
    </p:spTree>
    <p:extLst>
      <p:ext uri="{BB962C8B-B14F-4D97-AF65-F5344CB8AC3E}">
        <p14:creationId xmlns:p14="http://schemas.microsoft.com/office/powerpoint/2010/main" val="29091886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/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55BC3C9-2ED5-4BCD-8FEE-7FDB53BA9C6E}"/>
              </a:ext>
            </a:extLst>
          </p:cNvPr>
          <p:cNvSpPr/>
          <p:nvPr/>
        </p:nvSpPr>
        <p:spPr>
          <a:xfrm>
            <a:off x="6858000" y="5867400"/>
            <a:ext cx="3352800" cy="885894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Default value for each element of type </a:t>
            </a:r>
            <a:r>
              <a:rPr lang="en-IE" sz="2400" b="1" dirty="0"/>
              <a:t>int</a:t>
            </a:r>
            <a:r>
              <a:rPr lang="en-IE" sz="2400" dirty="0"/>
              <a:t>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94E820C-7FD4-4EDA-BCCA-847FF738165D}"/>
              </a:ext>
            </a:extLst>
          </p:cNvPr>
          <p:cNvSpPr/>
          <p:nvPr/>
        </p:nvSpPr>
        <p:spPr>
          <a:xfrm>
            <a:off x="1600201" y="2667000"/>
            <a:ext cx="3483839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numbers = new </a:t>
            </a:r>
            <a:r>
              <a:rPr lang="en-GB" sz="2800" b="1" dirty="0" err="1"/>
              <a:t>int</a:t>
            </a:r>
            <a:r>
              <a:rPr lang="en-GB" sz="2800" b="1" dirty="0"/>
              <a:t>[4];</a:t>
            </a:r>
            <a:endParaRPr lang="en-IE" sz="2800" b="1" dirty="0"/>
          </a:p>
        </p:txBody>
      </p:sp>
      <p:sp>
        <p:nvSpPr>
          <p:cNvPr id="12" name="Donut 11"/>
          <p:cNvSpPr/>
          <p:nvPr/>
        </p:nvSpPr>
        <p:spPr>
          <a:xfrm>
            <a:off x="8141926" y="3380443"/>
            <a:ext cx="849675" cy="2316162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9440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6549756"/>
              </p:ext>
            </p:extLst>
          </p:nvPr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C3BAC8DC-59DC-4BD5-9310-47CFC5E3D4C8}"/>
              </a:ext>
            </a:extLst>
          </p:cNvPr>
          <p:cNvSpPr/>
          <p:nvPr/>
        </p:nvSpPr>
        <p:spPr>
          <a:xfrm>
            <a:off x="1933797" y="3657600"/>
            <a:ext cx="272587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numbers[2] = 18;</a:t>
            </a:r>
            <a:endParaRPr lang="en-IE" sz="2800" b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294C33-B37D-4AD0-8F43-3767EAC60CE5}"/>
              </a:ext>
            </a:extLst>
          </p:cNvPr>
          <p:cNvSpPr/>
          <p:nvPr/>
        </p:nvSpPr>
        <p:spPr>
          <a:xfrm>
            <a:off x="1676401" y="2667000"/>
            <a:ext cx="3411511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 = new </a:t>
            </a:r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[4];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553B81F-ABB3-4085-B8E6-93B2CCABBBDA}"/>
              </a:ext>
            </a:extLst>
          </p:cNvPr>
          <p:cNvSpPr/>
          <p:nvPr/>
        </p:nvSpPr>
        <p:spPr>
          <a:xfrm>
            <a:off x="1981200" y="4495800"/>
            <a:ext cx="2921794" cy="19812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We are directly accessing the element at index </a:t>
            </a:r>
            <a:r>
              <a:rPr lang="en-IE" sz="2400" b="1" dirty="0"/>
              <a:t>2</a:t>
            </a:r>
            <a:r>
              <a:rPr lang="en-IE" sz="2400" dirty="0"/>
              <a:t> and setting it to a value of </a:t>
            </a:r>
            <a:r>
              <a:rPr lang="en-IE" sz="2400" b="1" dirty="0"/>
              <a:t>18</a:t>
            </a:r>
            <a:r>
              <a:rPr lang="en-IE" sz="2400" dirty="0"/>
              <a:t>.</a:t>
            </a:r>
          </a:p>
        </p:txBody>
      </p:sp>
      <p:sp>
        <p:nvSpPr>
          <p:cNvPr id="16" name="Donut 15"/>
          <p:cNvSpPr/>
          <p:nvPr/>
        </p:nvSpPr>
        <p:spPr>
          <a:xfrm>
            <a:off x="6781800" y="4616448"/>
            <a:ext cx="2819400" cy="509521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8877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221398"/>
              </p:ext>
            </p:extLst>
          </p:nvPr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F374B64-6BC7-42EC-8C09-493550023041}"/>
              </a:ext>
            </a:extLst>
          </p:cNvPr>
          <p:cNvSpPr/>
          <p:nvPr/>
        </p:nvSpPr>
        <p:spPr>
          <a:xfrm>
            <a:off x="1905000" y="4658380"/>
            <a:ext cx="272587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numbers[0] = 12;</a:t>
            </a:r>
            <a:endParaRPr lang="en-IE" sz="2800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F5FC9E-82FB-4509-9783-9F3D9B5246D3}"/>
              </a:ext>
            </a:extLst>
          </p:cNvPr>
          <p:cNvSpPr/>
          <p:nvPr/>
        </p:nvSpPr>
        <p:spPr>
          <a:xfrm>
            <a:off x="1676401" y="2667000"/>
            <a:ext cx="3411511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 = new </a:t>
            </a:r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[4];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084A7C-13AA-4193-880D-38973F9A4D1B}"/>
              </a:ext>
            </a:extLst>
          </p:cNvPr>
          <p:cNvSpPr/>
          <p:nvPr/>
        </p:nvSpPr>
        <p:spPr>
          <a:xfrm>
            <a:off x="1933798" y="3657600"/>
            <a:ext cx="268560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numbers[2] = 18;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87FEE5B-B7DB-4364-8031-BB5CD89E9089}"/>
              </a:ext>
            </a:extLst>
          </p:cNvPr>
          <p:cNvSpPr/>
          <p:nvPr/>
        </p:nvSpPr>
        <p:spPr>
          <a:xfrm>
            <a:off x="1878806" y="5410200"/>
            <a:ext cx="2921794" cy="11430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We are setting the element at index </a:t>
            </a:r>
            <a:r>
              <a:rPr lang="en-IE" sz="2400" b="1" dirty="0"/>
              <a:t>0</a:t>
            </a:r>
            <a:r>
              <a:rPr lang="en-IE" sz="2400" dirty="0"/>
              <a:t> and to a value of </a:t>
            </a:r>
            <a:r>
              <a:rPr lang="en-IE" sz="2400" b="1" dirty="0"/>
              <a:t>12</a:t>
            </a:r>
            <a:r>
              <a:rPr lang="en-IE" sz="2400" dirty="0"/>
              <a:t>.</a:t>
            </a:r>
          </a:p>
        </p:txBody>
      </p:sp>
      <p:sp>
        <p:nvSpPr>
          <p:cNvPr id="21" name="Donut 20"/>
          <p:cNvSpPr/>
          <p:nvPr/>
        </p:nvSpPr>
        <p:spPr>
          <a:xfrm>
            <a:off x="6858000" y="3733802"/>
            <a:ext cx="2590800" cy="447019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9623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/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F374B64-6BC7-42EC-8C09-493550023041}"/>
              </a:ext>
            </a:extLst>
          </p:cNvPr>
          <p:cNvSpPr/>
          <p:nvPr/>
        </p:nvSpPr>
        <p:spPr>
          <a:xfrm>
            <a:off x="1905001" y="4658380"/>
            <a:ext cx="268560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numbers[0] = 12;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F5FC9E-82FB-4509-9783-9F3D9B5246D3}"/>
              </a:ext>
            </a:extLst>
          </p:cNvPr>
          <p:cNvSpPr/>
          <p:nvPr/>
        </p:nvSpPr>
        <p:spPr>
          <a:xfrm>
            <a:off x="1676401" y="2667000"/>
            <a:ext cx="3411511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 = new </a:t>
            </a:r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[4];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084A7C-13AA-4193-880D-38973F9A4D1B}"/>
              </a:ext>
            </a:extLst>
          </p:cNvPr>
          <p:cNvSpPr/>
          <p:nvPr/>
        </p:nvSpPr>
        <p:spPr>
          <a:xfrm>
            <a:off x="1933798" y="3657600"/>
            <a:ext cx="268560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numbers[2] = 18;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87FEE5B-B7DB-4364-8031-BB5CD89E9089}"/>
              </a:ext>
            </a:extLst>
          </p:cNvPr>
          <p:cNvSpPr/>
          <p:nvPr/>
        </p:nvSpPr>
        <p:spPr>
          <a:xfrm>
            <a:off x="5503695" y="5638869"/>
            <a:ext cx="4859505" cy="11430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Here we are printing the contents of index location 2 </a:t>
            </a:r>
            <a:br>
              <a:rPr lang="en-IE" sz="2400" dirty="0"/>
            </a:br>
            <a:r>
              <a:rPr lang="en-IE" sz="2400" dirty="0"/>
              <a:t>i.e. 18 will be printed to the console.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5A44A42-7850-424F-8580-12BEFA62B01D}"/>
              </a:ext>
            </a:extLst>
          </p:cNvPr>
          <p:cNvSpPr/>
          <p:nvPr/>
        </p:nvSpPr>
        <p:spPr>
          <a:xfrm>
            <a:off x="-98605" y="5611456"/>
            <a:ext cx="5119158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800" dirty="0" err="1">
                <a:latin typeface="Arial" panose="020B0604020202020204" pitchFamily="34" charset="0"/>
                <a:cs typeface="Arial" panose="020B0604020202020204" pitchFamily="34" charset="0"/>
              </a:rPr>
              <a:t>System.out.println</a:t>
            </a:r>
            <a:r>
              <a:rPr lang="en-GB" sz="2800" b="1" dirty="0"/>
              <a:t>(numbers[2]);</a:t>
            </a:r>
            <a:endParaRPr lang="en-IE" sz="2800" b="1" dirty="0"/>
          </a:p>
        </p:txBody>
      </p:sp>
      <p:sp>
        <p:nvSpPr>
          <p:cNvPr id="19" name="Donut 18"/>
          <p:cNvSpPr/>
          <p:nvPr/>
        </p:nvSpPr>
        <p:spPr>
          <a:xfrm>
            <a:off x="6858000" y="4616448"/>
            <a:ext cx="2667001" cy="509521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7511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Declaring a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514600" y="1676400"/>
            <a:ext cx="3581400" cy="1738938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2800" b="1" dirty="0" err="1">
                <a:solidFill>
                  <a:schemeClr val="tx1"/>
                </a:solidFill>
              </a:rPr>
              <a:t>int</a:t>
            </a:r>
            <a:r>
              <a:rPr lang="en-GB" sz="2800" b="1" dirty="0">
                <a:solidFill>
                  <a:schemeClr val="tx1"/>
                </a:solidFill>
              </a:rPr>
              <a:t>[]  numbers;</a:t>
            </a:r>
          </a:p>
          <a:p>
            <a:endParaRPr lang="en-GB" sz="11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//</a:t>
            </a:r>
            <a:r>
              <a:rPr lang="en-GB" sz="2800" dirty="0" err="1">
                <a:solidFill>
                  <a:schemeClr val="bg1">
                    <a:lumMod val="50000"/>
                  </a:schemeClr>
                </a:solidFill>
              </a:rPr>
              <a:t>somecode</a:t>
            </a:r>
            <a:endParaRPr lang="en-GB" sz="2800" dirty="0">
              <a:solidFill>
                <a:schemeClr val="bg1">
                  <a:lumMod val="50000"/>
                </a:schemeClr>
              </a:solidFill>
            </a:endParaRPr>
          </a:p>
          <a:p>
            <a:endParaRPr lang="en-GB" sz="1050" b="1" dirty="0">
              <a:solidFill>
                <a:schemeClr val="tx1"/>
              </a:solidFill>
            </a:endParaRPr>
          </a:p>
          <a:p>
            <a:r>
              <a:rPr lang="en-GB" sz="2800" b="1" dirty="0">
                <a:solidFill>
                  <a:schemeClr val="tx1"/>
                </a:solidFill>
              </a:rPr>
              <a:t>numbers = new </a:t>
            </a:r>
            <a:r>
              <a:rPr lang="en-GB" sz="2800" b="1" dirty="0" err="1">
                <a:solidFill>
                  <a:schemeClr val="tx1"/>
                </a:solidFill>
              </a:rPr>
              <a:t>int</a:t>
            </a:r>
            <a:r>
              <a:rPr lang="en-GB" sz="2800" b="1" dirty="0">
                <a:solidFill>
                  <a:schemeClr val="tx1"/>
                </a:solidFill>
              </a:rPr>
              <a:t>[4];</a:t>
            </a:r>
            <a:endParaRPr lang="en-IE" sz="2800" b="1" dirty="0">
              <a:solidFill>
                <a:schemeClr val="tx1"/>
              </a:solidFill>
            </a:endParaRP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91865" y="2678251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3724" y="2133600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7086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/>
        </p:nvGraphicFramePr>
        <p:xfrm>
          <a:off x="8153400" y="413564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8072865" y="2944951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Arrow: Up 9">
            <a:extLst>
              <a:ext uri="{FF2B5EF4-FFF2-40B4-BE49-F238E27FC236}">
                <a16:creationId xmlns:a16="http://schemas.microsoft.com/office/drawing/2014/main" id="{014EE337-DB19-4609-ABB7-FB0AEFB3224B}"/>
              </a:ext>
            </a:extLst>
          </p:cNvPr>
          <p:cNvSpPr/>
          <p:nvPr/>
        </p:nvSpPr>
        <p:spPr>
          <a:xfrm>
            <a:off x="1618821" y="3674101"/>
            <a:ext cx="5257800" cy="2971799"/>
          </a:xfrm>
          <a:prstGeom prst="upArrow">
            <a:avLst>
              <a:gd name="adj1" fmla="val 50000"/>
              <a:gd name="adj2" fmla="val 47581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This is how we previously declared our array of four</a:t>
            </a:r>
            <a:r>
              <a:rPr lang="en-IE" sz="2800" b="1" dirty="0"/>
              <a:t> </a:t>
            </a:r>
            <a:r>
              <a:rPr lang="en-IE" sz="2800" b="1" dirty="0" err="1"/>
              <a:t>int</a:t>
            </a:r>
            <a:r>
              <a:rPr lang="en-IE" sz="2800" dirty="0"/>
              <a:t>, called </a:t>
            </a:r>
            <a:r>
              <a:rPr lang="en-IE" sz="2800" b="1" dirty="0"/>
              <a:t>numbers</a:t>
            </a:r>
            <a:r>
              <a:rPr lang="en-IE" sz="2800" dirty="0"/>
              <a:t>.</a:t>
            </a:r>
          </a:p>
        </p:txBody>
      </p:sp>
      <p:sp>
        <p:nvSpPr>
          <p:cNvPr id="11" name="Donut 10"/>
          <p:cNvSpPr/>
          <p:nvPr/>
        </p:nvSpPr>
        <p:spPr>
          <a:xfrm>
            <a:off x="1612195" y="1417638"/>
            <a:ext cx="5224670" cy="2256462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3" name="5-Point Star 12"/>
          <p:cNvSpPr/>
          <p:nvPr/>
        </p:nvSpPr>
        <p:spPr>
          <a:xfrm>
            <a:off x="1612196" y="609600"/>
            <a:ext cx="1138665" cy="1066800"/>
          </a:xfrm>
          <a:prstGeom prst="star5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4838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Declaring a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514600" y="1676400"/>
            <a:ext cx="3581400" cy="1738938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7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75000"/>
                  </a:schemeClr>
                </a:solidFill>
              </a:rPr>
              <a:t>[]  numbers;</a:t>
            </a:r>
          </a:p>
          <a:p>
            <a:endParaRPr lang="en-GB" sz="1100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</a:rPr>
              <a:t>//</a:t>
            </a:r>
            <a:r>
              <a:rPr lang="en-GB" sz="2800" dirty="0" err="1">
                <a:solidFill>
                  <a:schemeClr val="bg1">
                    <a:lumMod val="75000"/>
                  </a:schemeClr>
                </a:solidFill>
              </a:rPr>
              <a:t>somecode</a:t>
            </a:r>
            <a:endParaRPr lang="en-GB" sz="2800" dirty="0">
              <a:solidFill>
                <a:schemeClr val="bg1">
                  <a:lumMod val="75000"/>
                </a:schemeClr>
              </a:solidFill>
            </a:endParaRPr>
          </a:p>
          <a:p>
            <a:endParaRPr lang="en-GB" sz="1050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</a:rPr>
              <a:t>numbers = new </a:t>
            </a:r>
            <a:r>
              <a:rPr lang="en-GB" sz="2800" dirty="0" err="1">
                <a:solidFill>
                  <a:schemeClr val="bg1">
                    <a:lumMod val="7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75000"/>
                  </a:schemeClr>
                </a:solidFill>
              </a:rPr>
              <a:t>[4];</a:t>
            </a:r>
            <a:endParaRPr lang="en-IE" sz="2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91865" y="2678251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03724" y="2133600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7086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4899291"/>
              </p:ext>
            </p:extLst>
          </p:nvPr>
        </p:nvGraphicFramePr>
        <p:xfrm>
          <a:off x="8153400" y="413564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8072865" y="2944951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Arrow: Down 9">
            <a:extLst>
              <a:ext uri="{FF2B5EF4-FFF2-40B4-BE49-F238E27FC236}">
                <a16:creationId xmlns:a16="http://schemas.microsoft.com/office/drawing/2014/main" id="{014EE337-DB19-4609-ABB7-FB0AEFB3224B}"/>
              </a:ext>
            </a:extLst>
          </p:cNvPr>
          <p:cNvSpPr/>
          <p:nvPr/>
        </p:nvSpPr>
        <p:spPr>
          <a:xfrm>
            <a:off x="1828800" y="3733800"/>
            <a:ext cx="5105400" cy="1828800"/>
          </a:xfrm>
          <a:prstGeom prst="down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We can also declare it like this…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E92A0DC-5E11-47CF-8C0F-DE8C4AFFE743}"/>
              </a:ext>
            </a:extLst>
          </p:cNvPr>
          <p:cNvSpPr/>
          <p:nvPr/>
        </p:nvSpPr>
        <p:spPr>
          <a:xfrm>
            <a:off x="2133600" y="5801380"/>
            <a:ext cx="4419600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GB" sz="2800" b="1" dirty="0" err="1">
                <a:solidFill>
                  <a:schemeClr val="tx1"/>
                </a:solidFill>
              </a:rPr>
              <a:t>int</a:t>
            </a:r>
            <a:r>
              <a:rPr lang="en-GB" sz="2800" b="1" dirty="0">
                <a:solidFill>
                  <a:schemeClr val="tx1"/>
                </a:solidFill>
              </a:rPr>
              <a:t>[]  numbers = new </a:t>
            </a:r>
            <a:r>
              <a:rPr lang="en-GB" sz="2800" b="1" dirty="0" err="1">
                <a:solidFill>
                  <a:schemeClr val="tx1"/>
                </a:solidFill>
              </a:rPr>
              <a:t>int</a:t>
            </a:r>
            <a:r>
              <a:rPr lang="en-GB" sz="2800" b="1" dirty="0">
                <a:solidFill>
                  <a:schemeClr val="tx1"/>
                </a:solidFill>
              </a:rPr>
              <a:t>[4];</a:t>
            </a:r>
            <a:endParaRPr lang="en-IE" sz="2800" b="1" dirty="0">
              <a:solidFill>
                <a:schemeClr val="tx1"/>
              </a:solidFill>
            </a:endParaRPr>
          </a:p>
        </p:txBody>
      </p:sp>
      <p:sp>
        <p:nvSpPr>
          <p:cNvPr id="12" name="Donut 11"/>
          <p:cNvSpPr/>
          <p:nvPr/>
        </p:nvSpPr>
        <p:spPr>
          <a:xfrm>
            <a:off x="1709530" y="5562600"/>
            <a:ext cx="5224670" cy="1066800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" name="5-Point Star 2"/>
          <p:cNvSpPr/>
          <p:nvPr/>
        </p:nvSpPr>
        <p:spPr>
          <a:xfrm>
            <a:off x="6788938" y="5347662"/>
            <a:ext cx="1138665" cy="1066800"/>
          </a:xfrm>
          <a:prstGeom prst="star5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196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>
          <a:xfrm>
            <a:off x="2209800" y="2416176"/>
            <a:ext cx="7772400" cy="1470025"/>
          </a:xfrm>
        </p:spPr>
        <p:txBody>
          <a:bodyPr>
            <a:normAutofit fontScale="90000"/>
          </a:bodyPr>
          <a:lstStyle/>
          <a:p>
            <a:r>
              <a:rPr lang="en-IE" dirty="0">
                <a:solidFill>
                  <a:srgbClr val="C00000"/>
                </a:solidFill>
              </a:rPr>
              <a:t>Returning to our method </a:t>
            </a:r>
            <a:br>
              <a:rPr lang="en-IE" dirty="0">
                <a:solidFill>
                  <a:srgbClr val="C00000"/>
                </a:solidFill>
              </a:rPr>
            </a:br>
            <a:r>
              <a:rPr lang="en-IE" dirty="0">
                <a:solidFill>
                  <a:srgbClr val="C00000"/>
                </a:solidFill>
              </a:rPr>
              <a:t>that reads in, and sums, 10 numbers (typed in from the keyboard)…</a:t>
            </a:r>
          </a:p>
        </p:txBody>
      </p:sp>
      <p:sp>
        <p:nvSpPr>
          <p:cNvPr id="7" name="Subtitle 6"/>
          <p:cNvSpPr>
            <a:spLocks noGrp="1"/>
          </p:cNvSpPr>
          <p:nvPr>
            <p:ph type="subTitle" idx="1"/>
          </p:nvPr>
        </p:nvSpPr>
        <p:spPr>
          <a:xfrm>
            <a:off x="2667000" y="4495800"/>
            <a:ext cx="7162800" cy="1219200"/>
          </a:xfrm>
        </p:spPr>
        <p:txBody>
          <a:bodyPr/>
          <a:lstStyle/>
          <a:p>
            <a:r>
              <a:rPr lang="en-IE" dirty="0">
                <a:solidFill>
                  <a:srgbClr val="0070C0"/>
                </a:solidFill>
              </a:rPr>
              <a:t>and converting it to use primitive arrays…</a:t>
            </a:r>
          </a:p>
        </p:txBody>
      </p:sp>
    </p:spTree>
    <p:extLst>
      <p:ext uri="{BB962C8B-B14F-4D97-AF65-F5344CB8AC3E}">
        <p14:creationId xmlns:p14="http://schemas.microsoft.com/office/powerpoint/2010/main" val="6813609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Version that doesn’t save the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2600" y="1676401"/>
            <a:ext cx="8839200" cy="5262979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>
                <a:solidFill>
                  <a:srgbClr val="000080"/>
                </a:solidFill>
                <a:effectLst/>
              </a:rPr>
              <a:t>import </a:t>
            </a:r>
            <a:r>
              <a:rPr lang="en-IE" sz="2400" dirty="0" err="1"/>
              <a:t>java.util.Scanner</a:t>
            </a:r>
            <a:r>
              <a:rPr lang="en-IE" sz="2400" dirty="0"/>
              <a:t>;</a:t>
            </a:r>
            <a:br>
              <a:rPr lang="en-IE" sz="2400" dirty="0"/>
            </a:br>
            <a:r>
              <a:rPr lang="en-IE" sz="2400" dirty="0"/>
              <a:t> :</a:t>
            </a:r>
          </a:p>
          <a:p>
            <a:r>
              <a:rPr lang="en-IE" sz="2400" dirty="0"/>
              <a:t>Scanner </a:t>
            </a:r>
            <a:r>
              <a:rPr lang="en-IE" sz="2400" i="1" dirty="0">
                <a:solidFill>
                  <a:srgbClr val="660E7A"/>
                </a:solidFill>
                <a:effectLst/>
              </a:rPr>
              <a:t>input </a:t>
            </a:r>
            <a:r>
              <a:rPr lang="en-IE" sz="2400" dirty="0"/>
              <a:t>= </a:t>
            </a:r>
            <a:r>
              <a:rPr lang="en-IE" sz="2400" b="1" dirty="0">
                <a:solidFill>
                  <a:srgbClr val="000080"/>
                </a:solidFill>
                <a:effectLst/>
              </a:rPr>
              <a:t>new </a:t>
            </a:r>
            <a:r>
              <a:rPr lang="en-IE" sz="2400" dirty="0"/>
              <a:t>Scanner(</a:t>
            </a:r>
            <a:r>
              <a:rPr lang="en-IE" sz="2400" dirty="0" err="1"/>
              <a:t>System.</a:t>
            </a:r>
            <a:r>
              <a:rPr lang="en-IE" sz="2400" b="1" i="1" dirty="0" err="1">
                <a:solidFill>
                  <a:srgbClr val="660E7A"/>
                </a:solidFill>
                <a:effectLst/>
              </a:rPr>
              <a:t>in</a:t>
            </a:r>
            <a:r>
              <a:rPr lang="en-IE" sz="2400" dirty="0"/>
              <a:t>);</a:t>
            </a:r>
          </a:p>
          <a:p>
            <a:r>
              <a:rPr lang="en-IE" sz="2400" dirty="0"/>
              <a:t> :</a:t>
            </a: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/>
              <a:t>n;</a:t>
            </a: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/>
              <a:t>sum = </a:t>
            </a:r>
            <a:r>
              <a:rPr lang="en-IE" sz="2400" dirty="0">
                <a:solidFill>
                  <a:srgbClr val="0000FF"/>
                </a:solidFill>
                <a:effectLst/>
              </a:rPr>
              <a:t>0</a:t>
            </a:r>
            <a:r>
              <a:rPr lang="en-IE" sz="2400" dirty="0"/>
              <a:t>;</a:t>
            </a:r>
            <a:br>
              <a:rPr lang="en-IE" sz="2400" dirty="0"/>
            </a:br>
            <a:br>
              <a:rPr lang="en-IE" sz="2400" dirty="0"/>
            </a:br>
            <a:r>
              <a:rPr lang="en-IE" sz="2400" b="1" dirty="0">
                <a:solidFill>
                  <a:srgbClr val="000080"/>
                </a:solidFill>
                <a:effectLst/>
              </a:rPr>
              <a:t>for </a:t>
            </a:r>
            <a:r>
              <a:rPr lang="en-IE" sz="2400" dirty="0"/>
              <a:t>(</a:t>
            </a:r>
            <a:r>
              <a:rPr lang="en-IE" sz="2400" b="1" dirty="0">
                <a:solidFill>
                  <a:srgbClr val="000080"/>
                </a:solidFill>
                <a:effectLst/>
              </a:rPr>
              <a:t>int </a:t>
            </a:r>
            <a:r>
              <a:rPr lang="en-IE" sz="2400" dirty="0" err="1"/>
              <a:t>i</a:t>
            </a:r>
            <a:r>
              <a:rPr lang="en-IE" sz="2400" dirty="0"/>
              <a:t> = </a:t>
            </a:r>
            <a:r>
              <a:rPr lang="en-IE" sz="2400" dirty="0">
                <a:solidFill>
                  <a:srgbClr val="0000FF"/>
                </a:solidFill>
                <a:effectLst/>
              </a:rPr>
              <a:t>0</a:t>
            </a:r>
            <a:r>
              <a:rPr lang="en-IE" sz="2400" dirty="0"/>
              <a:t>; </a:t>
            </a:r>
            <a:r>
              <a:rPr lang="en-IE" sz="2400" dirty="0" err="1"/>
              <a:t>i</a:t>
            </a:r>
            <a:r>
              <a:rPr lang="en-IE" sz="2400" dirty="0"/>
              <a:t>&lt;</a:t>
            </a:r>
            <a:r>
              <a:rPr lang="en-IE" sz="2400" dirty="0">
                <a:solidFill>
                  <a:srgbClr val="0000FF"/>
                </a:solidFill>
                <a:effectLst/>
              </a:rPr>
              <a:t>10</a:t>
            </a:r>
            <a:r>
              <a:rPr lang="en-IE" sz="2400" dirty="0"/>
              <a:t>; </a:t>
            </a:r>
            <a:r>
              <a:rPr lang="en-IE" sz="2400" dirty="0" err="1"/>
              <a:t>i</a:t>
            </a:r>
            <a:r>
              <a:rPr lang="en-IE" sz="2400" dirty="0"/>
              <a:t>++)  {</a:t>
            </a:r>
            <a:br>
              <a:rPr lang="en-IE" sz="2400" dirty="0"/>
            </a:br>
            <a:r>
              <a:rPr lang="en-IE" sz="2400" dirty="0"/>
              <a:t>    n = </a:t>
            </a:r>
            <a:r>
              <a:rPr lang="en-IE" sz="2400" i="1" dirty="0" err="1">
                <a:solidFill>
                  <a:srgbClr val="660E7A"/>
                </a:solidFill>
                <a:effectLst/>
              </a:rPr>
              <a:t>input</a:t>
            </a:r>
            <a:r>
              <a:rPr lang="en-IE" sz="2400" dirty="0" err="1"/>
              <a:t>.nextInt</a:t>
            </a:r>
            <a:r>
              <a:rPr lang="en-IE" sz="2400" dirty="0"/>
              <a:t>();</a:t>
            </a:r>
            <a:br>
              <a:rPr lang="en-IE" sz="2400" dirty="0"/>
            </a:br>
            <a:r>
              <a:rPr lang="en-IE" sz="2400" dirty="0"/>
              <a:t>    sum += n;</a:t>
            </a:r>
            <a:br>
              <a:rPr lang="en-IE" sz="2400" dirty="0"/>
            </a:br>
            <a:r>
              <a:rPr lang="en-IE" sz="2400" dirty="0"/>
              <a:t>}</a:t>
            </a:r>
            <a:br>
              <a:rPr lang="en-IE" sz="2400" dirty="0"/>
            </a:br>
            <a:br>
              <a:rPr lang="en-IE" sz="2400" dirty="0"/>
            </a:br>
            <a:r>
              <a:rPr lang="en-IE" sz="2400" dirty="0" err="1"/>
              <a:t>System.</a:t>
            </a:r>
            <a:r>
              <a:rPr lang="en-IE" sz="2400" b="1" i="1" dirty="0" err="1">
                <a:solidFill>
                  <a:srgbClr val="660E7A"/>
                </a:solidFill>
                <a:effectLst/>
              </a:rPr>
              <a:t>out</a:t>
            </a:r>
            <a:r>
              <a:rPr lang="en-IE" sz="2400" dirty="0" err="1"/>
              <a:t>.println</a:t>
            </a:r>
            <a:r>
              <a:rPr lang="en-IE" sz="2400" dirty="0"/>
              <a:t>(</a:t>
            </a:r>
            <a:r>
              <a:rPr lang="en-IE" sz="2400" b="1" dirty="0">
                <a:solidFill>
                  <a:srgbClr val="008000"/>
                </a:solidFill>
                <a:effectLst/>
              </a:rPr>
              <a:t>"The sum of the values you typed in is : " </a:t>
            </a:r>
            <a:r>
              <a:rPr lang="en-IE" sz="2400" dirty="0"/>
              <a:t>+ sum);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C9ABE52-4043-4518-AF2B-B1B8FB953F6A}"/>
              </a:ext>
            </a:extLst>
          </p:cNvPr>
          <p:cNvSpPr/>
          <p:nvPr/>
        </p:nvSpPr>
        <p:spPr>
          <a:xfrm flipV="1">
            <a:off x="1600200" y="4221376"/>
            <a:ext cx="3733800" cy="1600200"/>
          </a:xfrm>
          <a:prstGeom prst="round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3" name="TextBox 12"/>
          <p:cNvSpPr txBox="1"/>
          <p:nvPr/>
        </p:nvSpPr>
        <p:spPr>
          <a:xfrm>
            <a:off x="5981700" y="2040554"/>
            <a:ext cx="4495800" cy="2215991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Notice that, </a:t>
            </a:r>
          </a:p>
          <a:p>
            <a:pPr algn="ctr"/>
            <a:r>
              <a:rPr lang="en-US" sz="2400" dirty="0"/>
              <a:t>each time a number is read in, </a:t>
            </a:r>
          </a:p>
          <a:p>
            <a:pPr algn="ctr"/>
            <a:r>
              <a:rPr lang="en-US" sz="2400" dirty="0"/>
              <a:t>it overwrites the value stored in </a:t>
            </a:r>
            <a:r>
              <a:rPr lang="en-US" sz="2400" b="1" dirty="0">
                <a:solidFill>
                  <a:srgbClr val="0070C0"/>
                </a:solidFill>
              </a:rPr>
              <a:t>n</a:t>
            </a:r>
            <a:r>
              <a:rPr lang="en-US" sz="2400" dirty="0">
                <a:solidFill>
                  <a:schemeClr val="tx1"/>
                </a:solidFill>
              </a:rPr>
              <a:t>.</a:t>
            </a:r>
            <a:br>
              <a:rPr lang="en-US" sz="24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  </a:t>
            </a:r>
            <a:endParaRPr lang="en-US" sz="2400" dirty="0">
              <a:solidFill>
                <a:schemeClr val="tx1"/>
              </a:solidFill>
            </a:endParaRPr>
          </a:p>
          <a:p>
            <a:pPr algn="ctr"/>
            <a:r>
              <a:rPr lang="en-US" sz="2400" dirty="0">
                <a:solidFill>
                  <a:schemeClr val="tx1"/>
                </a:solidFill>
              </a:rPr>
              <a:t>It doesn’t remember </a:t>
            </a:r>
            <a:br>
              <a:rPr lang="en-US" sz="2400" dirty="0">
                <a:solidFill>
                  <a:schemeClr val="tx1"/>
                </a:solidFill>
              </a:rPr>
            </a:br>
            <a:r>
              <a:rPr lang="en-US" sz="2400" dirty="0">
                <a:solidFill>
                  <a:schemeClr val="tx1"/>
                </a:solidFill>
              </a:rPr>
              <a:t>the individual numbers typed in.</a:t>
            </a:r>
          </a:p>
        </p:txBody>
      </p:sp>
    </p:spTree>
    <p:extLst>
      <p:ext uri="{BB962C8B-B14F-4D97-AF65-F5344CB8AC3E}">
        <p14:creationId xmlns:p14="http://schemas.microsoft.com/office/powerpoint/2010/main" val="10823924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4FD0C-73C6-26D2-3B74-02E5F917A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3C5C6-9B95-1967-F7A6-B07A81F81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D0DBE9-4E6B-ABEA-05F1-56860DA8F857}"/>
              </a:ext>
            </a:extLst>
          </p:cNvPr>
          <p:cNvSpPr txBox="1"/>
          <p:nvPr/>
        </p:nvSpPr>
        <p:spPr>
          <a:xfrm>
            <a:off x="621632" y="1417638"/>
            <a:ext cx="10972800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Why arrays?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Primitive Arrays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Array Syntax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Loops and Arrays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What datatypes can be stored in arrays?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 Difference between fixed size and number of populated 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E3110A-9627-A270-684D-EA27F6D699C2}"/>
              </a:ext>
            </a:extLst>
          </p:cNvPr>
          <p:cNvSpPr/>
          <p:nvPr/>
        </p:nvSpPr>
        <p:spPr>
          <a:xfrm>
            <a:off x="633664" y="4343400"/>
            <a:ext cx="3557336" cy="609600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08948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2793F25-26D5-4490-978E-7C8BA5931115}"/>
              </a:ext>
            </a:extLst>
          </p:cNvPr>
          <p:cNvSpPr txBox="1"/>
          <p:nvPr/>
        </p:nvSpPr>
        <p:spPr>
          <a:xfrm>
            <a:off x="1952625" y="1295401"/>
            <a:ext cx="8410575" cy="5632311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  <a:effectLst/>
              </a:rPr>
              <a:t>import </a:t>
            </a:r>
            <a:r>
              <a:rPr lang="en-IE" sz="2000" dirty="0" err="1"/>
              <a:t>java.util.Scanner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 :</a:t>
            </a:r>
          </a:p>
          <a:p>
            <a:r>
              <a:rPr lang="en-IE" sz="2000" dirty="0"/>
              <a:t>Scanner </a:t>
            </a:r>
            <a:r>
              <a:rPr lang="en-IE" sz="2000" i="1" dirty="0">
                <a:solidFill>
                  <a:srgbClr val="660E7A"/>
                </a:solidFill>
                <a:effectLst/>
              </a:rPr>
              <a:t>input </a:t>
            </a:r>
            <a:r>
              <a:rPr lang="en-IE" sz="2000" dirty="0"/>
              <a:t>= </a:t>
            </a:r>
            <a:r>
              <a:rPr lang="en-IE" sz="2000" b="1" dirty="0">
                <a:solidFill>
                  <a:srgbClr val="000080"/>
                </a:solidFill>
                <a:effectLst/>
              </a:rPr>
              <a:t>new </a:t>
            </a:r>
            <a:r>
              <a:rPr lang="en-IE" sz="2000" dirty="0"/>
              <a:t>Scanner(</a:t>
            </a:r>
            <a:r>
              <a:rPr lang="en-IE" sz="2000" dirty="0" err="1"/>
              <a:t>System.</a:t>
            </a:r>
            <a:r>
              <a:rPr lang="en-IE" sz="2000" b="1" i="1" dirty="0" err="1">
                <a:solidFill>
                  <a:srgbClr val="660E7A"/>
                </a:solidFill>
                <a:effectLst/>
              </a:rPr>
              <a:t>in</a:t>
            </a:r>
            <a:r>
              <a:rPr lang="en-IE" sz="2000" dirty="0"/>
              <a:t>);</a:t>
            </a:r>
          </a:p>
          <a:p>
            <a:r>
              <a:rPr lang="en-IE" sz="2000" dirty="0"/>
              <a:t> :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numbers[] = new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[10];           </a:t>
            </a:r>
          </a:p>
          <a:p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sum = 0;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//read in the data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for 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= 0;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&lt; 10 ;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++)  {    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numbers[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]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input.readInt();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}      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// now we sum the values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for 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= 0;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&lt; 10 ;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++)   {   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sum += numbers[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];  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} 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System.out.println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("The sum of the values you typed in is : " + sum);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Using arrays to remember numbers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611231-9EA1-43F6-BEDB-9B8EBF6CCC47}"/>
              </a:ext>
            </a:extLst>
          </p:cNvPr>
          <p:cNvSpPr/>
          <p:nvPr/>
        </p:nvSpPr>
        <p:spPr>
          <a:xfrm>
            <a:off x="6548750" y="644486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4ECE76-B38B-4C6A-B487-C423E55B0B91}"/>
              </a:ext>
            </a:extLst>
          </p:cNvPr>
          <p:cNvSpPr txBox="1"/>
          <p:nvPr/>
        </p:nvSpPr>
        <p:spPr>
          <a:xfrm>
            <a:off x="7239000" y="1447801"/>
            <a:ext cx="2971800" cy="138499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Using an array </a:t>
            </a:r>
          </a:p>
          <a:p>
            <a:pPr algn="ctr"/>
            <a:r>
              <a:rPr lang="en-US" sz="2800" dirty="0"/>
              <a:t>to store each value </a:t>
            </a:r>
          </a:p>
          <a:p>
            <a:pPr algn="ctr"/>
            <a:r>
              <a:rPr lang="en-US" sz="2800" dirty="0"/>
              <a:t>that was entered.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9" name="Donut 8"/>
          <p:cNvSpPr/>
          <p:nvPr/>
        </p:nvSpPr>
        <p:spPr>
          <a:xfrm>
            <a:off x="1342818" y="2430998"/>
            <a:ext cx="5224670" cy="533400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Donut 9"/>
          <p:cNvSpPr/>
          <p:nvPr/>
        </p:nvSpPr>
        <p:spPr>
          <a:xfrm>
            <a:off x="1325233" y="3682168"/>
            <a:ext cx="5685167" cy="1143000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Donut 10"/>
          <p:cNvSpPr/>
          <p:nvPr/>
        </p:nvSpPr>
        <p:spPr>
          <a:xfrm>
            <a:off x="2286000" y="5165844"/>
            <a:ext cx="2971800" cy="1257180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3338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000"/>
                            </p:stCondLst>
                            <p:childTnLst>
                              <p:par>
                                <p:cTn id="13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Using arrays to remember numbers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52625" y="1295401"/>
            <a:ext cx="8410575" cy="5632311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  <a:effectLst/>
              </a:rPr>
              <a:t>import </a:t>
            </a:r>
            <a:r>
              <a:rPr lang="en-IE" sz="2000" dirty="0" err="1"/>
              <a:t>java.util.Scanner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 :</a:t>
            </a:r>
          </a:p>
          <a:p>
            <a:r>
              <a:rPr lang="en-IE" sz="2000" dirty="0"/>
              <a:t>Scanner </a:t>
            </a:r>
            <a:r>
              <a:rPr lang="en-IE" sz="2000" i="1" dirty="0">
                <a:solidFill>
                  <a:srgbClr val="660E7A"/>
                </a:solidFill>
                <a:effectLst/>
              </a:rPr>
              <a:t>input </a:t>
            </a:r>
            <a:r>
              <a:rPr lang="en-IE" sz="2000" dirty="0"/>
              <a:t>= </a:t>
            </a:r>
            <a:r>
              <a:rPr lang="en-IE" sz="2000" b="1" dirty="0">
                <a:solidFill>
                  <a:srgbClr val="000080"/>
                </a:solidFill>
                <a:effectLst/>
              </a:rPr>
              <a:t>new </a:t>
            </a:r>
            <a:r>
              <a:rPr lang="en-IE" sz="2000" dirty="0"/>
              <a:t>Scanner(</a:t>
            </a:r>
            <a:r>
              <a:rPr lang="en-IE" sz="2000" dirty="0" err="1"/>
              <a:t>System.</a:t>
            </a:r>
            <a:r>
              <a:rPr lang="en-IE" sz="2000" b="1" i="1" dirty="0" err="1">
                <a:solidFill>
                  <a:srgbClr val="660E7A"/>
                </a:solidFill>
                <a:effectLst/>
              </a:rPr>
              <a:t>in</a:t>
            </a:r>
            <a:r>
              <a:rPr lang="en-IE" sz="2000" dirty="0"/>
              <a:t>);</a:t>
            </a:r>
          </a:p>
          <a:p>
            <a:r>
              <a:rPr lang="en-IE" sz="2000" dirty="0"/>
              <a:t> :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numbers[] = new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[10];           </a:t>
            </a:r>
          </a:p>
          <a:p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sum = 0;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//read in the data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for 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= 0;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&lt; 10 ;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++)  {    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numbers[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]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input.readInt();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}      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// now we sum the values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for 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= 0;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&lt; 10 ;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++)   {   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sum += numbers[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];  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} 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System.out.println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("The sum of the values you typed in is : " + sum);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611231-9EA1-43F6-BEDB-9B8EBF6CCC47}"/>
              </a:ext>
            </a:extLst>
          </p:cNvPr>
          <p:cNvSpPr/>
          <p:nvPr/>
        </p:nvSpPr>
        <p:spPr>
          <a:xfrm>
            <a:off x="6625652" y="644486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4ECE76-B38B-4C6A-B487-C423E55B0B91}"/>
              </a:ext>
            </a:extLst>
          </p:cNvPr>
          <p:cNvSpPr txBox="1"/>
          <p:nvPr/>
        </p:nvSpPr>
        <p:spPr>
          <a:xfrm>
            <a:off x="6324602" y="1178660"/>
            <a:ext cx="4190998" cy="224676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</a:rPr>
              <a:t>Q: </a:t>
            </a:r>
            <a:r>
              <a:rPr lang="en-US" sz="2800" dirty="0"/>
              <a:t>Can we reduce the code to only have </a:t>
            </a:r>
            <a:r>
              <a:rPr lang="en-US" sz="2800" b="1" dirty="0"/>
              <a:t>one loop?</a:t>
            </a:r>
          </a:p>
          <a:p>
            <a:pPr algn="ctr"/>
            <a:endParaRPr lang="en-US" sz="2800" b="1" dirty="0"/>
          </a:p>
          <a:p>
            <a:pPr algn="ctr"/>
            <a:r>
              <a:rPr lang="en-US" sz="2800" dirty="0"/>
              <a:t>Could we move the “sum” code into the first loop?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317365" y="2858870"/>
            <a:ext cx="8178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Loop 1</a:t>
            </a:r>
          </a:p>
          <a:p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953001" y="4673768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Loop 2</a:t>
            </a:r>
          </a:p>
        </p:txBody>
      </p:sp>
    </p:spTree>
    <p:extLst>
      <p:ext uri="{BB962C8B-B14F-4D97-AF65-F5344CB8AC3E}">
        <p14:creationId xmlns:p14="http://schemas.microsoft.com/office/powerpoint/2010/main" val="3167992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Using arrays to remember numbers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90712" y="1594377"/>
            <a:ext cx="8410575" cy="4401205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000" b="1" dirty="0">
                <a:solidFill>
                  <a:srgbClr val="000080"/>
                </a:solidFill>
                <a:effectLst/>
              </a:rPr>
              <a:t>import </a:t>
            </a:r>
            <a:r>
              <a:rPr lang="en-IE" sz="2000" dirty="0" err="1"/>
              <a:t>java.util.Scanner</a:t>
            </a:r>
            <a:r>
              <a:rPr lang="en-IE" sz="2000" dirty="0"/>
              <a:t>;</a:t>
            </a:r>
            <a:br>
              <a:rPr lang="en-IE" sz="2000" dirty="0"/>
            </a:br>
            <a:r>
              <a:rPr lang="en-IE" sz="2000" dirty="0"/>
              <a:t> :</a:t>
            </a:r>
          </a:p>
          <a:p>
            <a:r>
              <a:rPr lang="en-IE" sz="2000" dirty="0"/>
              <a:t>Scanner </a:t>
            </a:r>
            <a:r>
              <a:rPr lang="en-IE" sz="2000" i="1" dirty="0">
                <a:solidFill>
                  <a:srgbClr val="660E7A"/>
                </a:solidFill>
                <a:effectLst/>
              </a:rPr>
              <a:t>input </a:t>
            </a:r>
            <a:r>
              <a:rPr lang="en-IE" sz="2000" dirty="0"/>
              <a:t>= </a:t>
            </a:r>
            <a:r>
              <a:rPr lang="en-IE" sz="2000" b="1" dirty="0">
                <a:solidFill>
                  <a:srgbClr val="000080"/>
                </a:solidFill>
                <a:effectLst/>
              </a:rPr>
              <a:t>new </a:t>
            </a:r>
            <a:r>
              <a:rPr lang="en-IE" sz="2000" dirty="0"/>
              <a:t>Scanner(</a:t>
            </a:r>
            <a:r>
              <a:rPr lang="en-IE" sz="2000" dirty="0" err="1"/>
              <a:t>System.</a:t>
            </a:r>
            <a:r>
              <a:rPr lang="en-IE" sz="2000" b="1" i="1" dirty="0" err="1">
                <a:solidFill>
                  <a:srgbClr val="660E7A"/>
                </a:solidFill>
                <a:effectLst/>
              </a:rPr>
              <a:t>in</a:t>
            </a:r>
            <a:r>
              <a:rPr lang="en-IE" sz="2000" dirty="0"/>
              <a:t>);</a:t>
            </a:r>
          </a:p>
          <a:p>
            <a:r>
              <a:rPr lang="en-IE" sz="2000" dirty="0"/>
              <a:t> :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numbers[] = new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[10];           </a:t>
            </a:r>
          </a:p>
          <a:p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sum = 0;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//read in the data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for 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= 0;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&lt; 10 ;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++)  {    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numbers[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]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input.readInt();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sum += numbers[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];  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}      </a:t>
            </a: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System.out.println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("The sum of the values you typed in is : " + sum);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611231-9EA1-43F6-BEDB-9B8EBF6CCC47}"/>
              </a:ext>
            </a:extLst>
          </p:cNvPr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4ECE76-B38B-4C6A-B487-C423E55B0B91}"/>
              </a:ext>
            </a:extLst>
          </p:cNvPr>
          <p:cNvSpPr txBox="1"/>
          <p:nvPr/>
        </p:nvSpPr>
        <p:spPr>
          <a:xfrm>
            <a:off x="6553200" y="1182231"/>
            <a:ext cx="4724401" cy="224676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B050"/>
                </a:solidFill>
              </a:rPr>
              <a:t>A: </a:t>
            </a:r>
            <a:r>
              <a:rPr lang="en-US" sz="2800" dirty="0"/>
              <a:t>Yes.  </a:t>
            </a:r>
          </a:p>
          <a:p>
            <a:pPr algn="ctr"/>
            <a:endParaRPr lang="en-US" sz="2800" dirty="0"/>
          </a:p>
          <a:p>
            <a:pPr algn="ctr"/>
            <a:r>
              <a:rPr lang="en-US" sz="2800" b="1" dirty="0"/>
              <a:t>Move the “sum” code into the first loop</a:t>
            </a:r>
            <a:r>
              <a:rPr lang="en-US" sz="2800" dirty="0"/>
              <a:t>.</a:t>
            </a:r>
          </a:p>
          <a:p>
            <a:pPr algn="ctr"/>
            <a:r>
              <a:rPr lang="en-US" sz="2800" dirty="0"/>
              <a:t>-&gt; functionality doesn’t change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324601" y="3465970"/>
            <a:ext cx="8178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Loop 1</a:t>
            </a:r>
          </a:p>
          <a:p>
            <a:endParaRPr lang="en-GB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73244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>
          <a:xfrm>
            <a:off x="2209800" y="2797176"/>
            <a:ext cx="7772400" cy="1470025"/>
          </a:xfrm>
        </p:spPr>
        <p:txBody>
          <a:bodyPr>
            <a:normAutofit fontScale="90000"/>
          </a:bodyPr>
          <a:lstStyle/>
          <a:p>
            <a:r>
              <a:rPr lang="en-IE" dirty="0">
                <a:solidFill>
                  <a:srgbClr val="C00000"/>
                </a:solidFill>
              </a:rPr>
              <a:t>What if we wanted the user </a:t>
            </a:r>
            <a:br>
              <a:rPr lang="en-IE" dirty="0">
                <a:solidFill>
                  <a:srgbClr val="C00000"/>
                </a:solidFill>
              </a:rPr>
            </a:br>
            <a:r>
              <a:rPr lang="en-IE" dirty="0">
                <a:solidFill>
                  <a:srgbClr val="C00000"/>
                </a:solidFill>
              </a:rPr>
              <a:t>to decide how many numbers </a:t>
            </a:r>
            <a:br>
              <a:rPr lang="en-IE" dirty="0">
                <a:solidFill>
                  <a:srgbClr val="C00000"/>
                </a:solidFill>
              </a:rPr>
            </a:br>
            <a:r>
              <a:rPr lang="en-IE" dirty="0">
                <a:solidFill>
                  <a:srgbClr val="C00000"/>
                </a:solidFill>
              </a:rPr>
              <a:t>they wanted to sum?</a:t>
            </a:r>
            <a:br>
              <a:rPr lang="en-IE" dirty="0">
                <a:solidFill>
                  <a:srgbClr val="C00000"/>
                </a:solidFill>
              </a:rPr>
            </a:br>
            <a:endParaRPr lang="en-IE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74691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210300" y="6581001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240804"/>
            <a:ext cx="8763000" cy="6617196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>
                <a:solidFill>
                  <a:srgbClr val="000080"/>
                </a:solidFill>
                <a:effectLst/>
              </a:rPr>
              <a:t>import </a:t>
            </a:r>
            <a:r>
              <a:rPr lang="en-IE" sz="2400" dirty="0" err="1"/>
              <a:t>java.util.Scanner</a:t>
            </a:r>
            <a:r>
              <a:rPr lang="en-IE" sz="2400" dirty="0"/>
              <a:t>;</a:t>
            </a:r>
            <a:br>
              <a:rPr lang="en-IE" sz="2400" dirty="0"/>
            </a:br>
            <a:r>
              <a:rPr lang="en-IE" sz="2400" dirty="0"/>
              <a:t> :</a:t>
            </a:r>
          </a:p>
          <a:p>
            <a:r>
              <a:rPr lang="en-IE" sz="2400" dirty="0"/>
              <a:t>Scanner </a:t>
            </a:r>
            <a:r>
              <a:rPr lang="en-IE" sz="2400" i="1" dirty="0">
                <a:solidFill>
                  <a:srgbClr val="660E7A"/>
                </a:solidFill>
                <a:effectLst/>
              </a:rPr>
              <a:t>input </a:t>
            </a:r>
            <a:r>
              <a:rPr lang="en-IE" sz="2400" dirty="0"/>
              <a:t>= </a:t>
            </a:r>
            <a:r>
              <a:rPr lang="en-IE" sz="2400" b="1" dirty="0">
                <a:solidFill>
                  <a:srgbClr val="000080"/>
                </a:solidFill>
                <a:effectLst/>
              </a:rPr>
              <a:t>new </a:t>
            </a:r>
            <a:r>
              <a:rPr lang="en-IE" sz="2400" dirty="0"/>
              <a:t>Scanner(</a:t>
            </a:r>
            <a:r>
              <a:rPr lang="en-IE" sz="2400" dirty="0" err="1"/>
              <a:t>System.</a:t>
            </a:r>
            <a:r>
              <a:rPr lang="en-IE" sz="2400" b="1" i="1" dirty="0" err="1">
                <a:solidFill>
                  <a:srgbClr val="660E7A"/>
                </a:solidFill>
                <a:effectLst/>
              </a:rPr>
              <a:t>in</a:t>
            </a:r>
            <a:r>
              <a:rPr lang="en-IE" sz="2400" dirty="0"/>
              <a:t>);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sum = 0;</a:t>
            </a:r>
          </a:p>
          <a:p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//Using the </a:t>
            </a:r>
            <a:r>
              <a:rPr lang="en-US" sz="2200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numData</a:t>
            </a:r>
            <a:r>
              <a:rPr lang="en-US" sz="2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value to set the size of the array</a:t>
            </a:r>
          </a:p>
          <a:p>
            <a:r>
              <a:rPr lang="en-US" sz="2200" b="1" dirty="0" err="1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200" b="1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numbers[];</a:t>
            </a:r>
          </a:p>
          <a:p>
            <a:r>
              <a:rPr lang="en-US" sz="2200" b="1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System.out.println(”How many numbers do you need?”);</a:t>
            </a:r>
          </a:p>
          <a:p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b="1" dirty="0" err="1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numData</a:t>
            </a:r>
            <a:r>
              <a:rPr lang="en-US" sz="22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=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input.nextInt();</a:t>
            </a:r>
          </a:p>
          <a:p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 b="1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numbers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 = new </a:t>
            </a:r>
            <a:r>
              <a:rPr lang="en-US" sz="22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[</a:t>
            </a:r>
            <a:r>
              <a:rPr lang="en-US" sz="2200" b="1" dirty="0" err="1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numData</a:t>
            </a:r>
            <a:r>
              <a:rPr lang="en-US" sz="2200" b="1" dirty="0">
                <a:latin typeface="Arial" panose="020B0604020202020204" pitchFamily="34" charset="0"/>
                <a:cs typeface="Arial" panose="020B0604020202020204" pitchFamily="34" charset="0"/>
              </a:rPr>
              <a:t>];             </a:t>
            </a:r>
          </a:p>
          <a:p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//read in the data and sum the values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for (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= 0;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&lt;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numData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;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++)  {   </a:t>
            </a:r>
          </a:p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	 numbers[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] =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input.nextInt();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</a:p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           sum += numbers[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]; </a:t>
            </a:r>
          </a:p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}    </a:t>
            </a:r>
          </a:p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</a:p>
          <a:p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System.out.println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("The sum of the values you typed in is : " + sum);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/>
          <p:nvPr/>
        </p:nvCxnSpPr>
        <p:spPr>
          <a:xfrm>
            <a:off x="2737338" y="3330892"/>
            <a:ext cx="1371600" cy="45720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Donut 5"/>
          <p:cNvSpPr/>
          <p:nvPr/>
        </p:nvSpPr>
        <p:spPr>
          <a:xfrm>
            <a:off x="222738" y="3056096"/>
            <a:ext cx="2139462" cy="381000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" name="Donut 6"/>
          <p:cNvSpPr/>
          <p:nvPr/>
        </p:nvSpPr>
        <p:spPr>
          <a:xfrm>
            <a:off x="304800" y="3733800"/>
            <a:ext cx="5486400" cy="381000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4ECE76-B38B-4C6A-B487-C423E55B0B91}"/>
              </a:ext>
            </a:extLst>
          </p:cNvPr>
          <p:cNvSpPr txBox="1"/>
          <p:nvPr/>
        </p:nvSpPr>
        <p:spPr>
          <a:xfrm>
            <a:off x="5981700" y="118408"/>
            <a:ext cx="5791200" cy="1938992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 err="1">
                <a:solidFill>
                  <a:schemeClr val="tx1"/>
                </a:solidFill>
              </a:rPr>
              <a:t>Delcare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en-US" sz="2400" b="1" dirty="0">
                <a:solidFill>
                  <a:schemeClr val="tx1"/>
                </a:solidFill>
              </a:rPr>
              <a:t>numbers</a:t>
            </a:r>
            <a:r>
              <a:rPr lang="en-US" sz="2400" dirty="0">
                <a:solidFill>
                  <a:schemeClr val="tx1"/>
                </a:solidFill>
              </a:rPr>
              <a:t> to be an array of type integer.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b="1" dirty="0" err="1">
                <a:solidFill>
                  <a:schemeClr val="tx1"/>
                </a:solidFill>
              </a:rPr>
              <a:t>numData</a:t>
            </a:r>
            <a:r>
              <a:rPr lang="en-US" sz="2400" dirty="0">
                <a:solidFill>
                  <a:schemeClr val="tx1"/>
                </a:solidFill>
              </a:rPr>
              <a:t> takes in the size.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tx1"/>
                </a:solidFill>
              </a:rPr>
              <a:t>Use </a:t>
            </a:r>
            <a:r>
              <a:rPr lang="en-US" sz="2400" dirty="0" err="1">
                <a:solidFill>
                  <a:schemeClr val="tx1"/>
                </a:solidFill>
              </a:rPr>
              <a:t>numData</a:t>
            </a:r>
            <a:r>
              <a:rPr lang="en-US" sz="2400" dirty="0">
                <a:solidFill>
                  <a:schemeClr val="tx1"/>
                </a:solidFill>
              </a:rPr>
              <a:t> to initialize the array with </a:t>
            </a:r>
            <a:r>
              <a:rPr lang="en-US" sz="2400" b="1" dirty="0">
                <a:solidFill>
                  <a:schemeClr val="tx1"/>
                </a:solidFill>
              </a:rPr>
              <a:t>new </a:t>
            </a:r>
            <a:r>
              <a:rPr lang="en-US" sz="2400" dirty="0">
                <a:solidFill>
                  <a:schemeClr val="tx1"/>
                </a:solidFill>
              </a:rPr>
              <a:t>specifying the size.</a:t>
            </a:r>
            <a:endParaRPr lang="en-US" sz="2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5233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73480-0971-C93F-B1EE-444A209CE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EE45D-833E-0C28-11CE-BA903D3CA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A61561-327E-845B-1BA6-BECD3032BCDA}"/>
              </a:ext>
            </a:extLst>
          </p:cNvPr>
          <p:cNvSpPr txBox="1"/>
          <p:nvPr/>
        </p:nvSpPr>
        <p:spPr>
          <a:xfrm>
            <a:off x="621632" y="1417638"/>
            <a:ext cx="10972800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Why arrays?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Primitive Arrays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Array Syntax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Loops and Arrays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What datatypes can be stored in arrays?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 Difference between fixed size and number of populated 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3645B2-59F0-1A7B-5CD0-EFD973CC1603}"/>
              </a:ext>
            </a:extLst>
          </p:cNvPr>
          <p:cNvSpPr/>
          <p:nvPr/>
        </p:nvSpPr>
        <p:spPr>
          <a:xfrm>
            <a:off x="621632" y="5257800"/>
            <a:ext cx="7607968" cy="609600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02388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>
          <a:xfrm>
            <a:off x="2209800" y="2797176"/>
            <a:ext cx="7772400" cy="1470025"/>
          </a:xfrm>
        </p:spPr>
        <p:txBody>
          <a:bodyPr>
            <a:normAutofit fontScale="90000"/>
          </a:bodyPr>
          <a:lstStyle/>
          <a:p>
            <a:r>
              <a:rPr lang="en-IE" dirty="0">
                <a:solidFill>
                  <a:srgbClr val="C00000"/>
                </a:solidFill>
              </a:rPr>
              <a:t>What type of data </a:t>
            </a:r>
            <a:br>
              <a:rPr lang="en-IE" dirty="0">
                <a:solidFill>
                  <a:srgbClr val="C00000"/>
                </a:solidFill>
              </a:rPr>
            </a:br>
            <a:r>
              <a:rPr lang="en-IE" dirty="0">
                <a:solidFill>
                  <a:srgbClr val="C00000"/>
                </a:solidFill>
              </a:rPr>
              <a:t>can be stored </a:t>
            </a:r>
            <a:br>
              <a:rPr lang="en-IE" dirty="0">
                <a:solidFill>
                  <a:srgbClr val="C00000"/>
                </a:solidFill>
              </a:rPr>
            </a:br>
            <a:r>
              <a:rPr lang="en-IE" dirty="0">
                <a:solidFill>
                  <a:srgbClr val="C00000"/>
                </a:solidFill>
              </a:rPr>
              <a:t>in a primitive array?</a:t>
            </a:r>
            <a:br>
              <a:rPr lang="en-IE" dirty="0">
                <a:solidFill>
                  <a:srgbClr val="C00000"/>
                </a:solidFill>
              </a:rPr>
            </a:br>
            <a:endParaRPr lang="en-IE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39589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3209489" y="685800"/>
            <a:ext cx="6248400" cy="57888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An array can store ANY TYPE of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22582" y="5130464"/>
            <a:ext cx="5353453" cy="138499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String words = new String[30];</a:t>
            </a:r>
          </a:p>
          <a:p>
            <a:endParaRPr lang="en-US" sz="2800" dirty="0"/>
          </a:p>
          <a:p>
            <a:r>
              <a:rPr lang="en-US" sz="2800" dirty="0"/>
              <a:t>Person persons[] = new Person[20];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B14CF8-BDA0-46CC-A9A3-72FD88067618}"/>
              </a:ext>
            </a:extLst>
          </p:cNvPr>
          <p:cNvSpPr/>
          <p:nvPr/>
        </p:nvSpPr>
        <p:spPr>
          <a:xfrm>
            <a:off x="2085584" y="2057401"/>
            <a:ext cx="5423729" cy="22467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800" dirty="0" err="1"/>
              <a:t>int</a:t>
            </a:r>
            <a:r>
              <a:rPr lang="en-US" sz="2800" dirty="0"/>
              <a:t> numbers[] = new </a:t>
            </a:r>
            <a:r>
              <a:rPr lang="en-US" sz="2800" dirty="0" err="1"/>
              <a:t>int</a:t>
            </a:r>
            <a:r>
              <a:rPr lang="en-US" sz="2800" dirty="0"/>
              <a:t>[10];</a:t>
            </a:r>
          </a:p>
          <a:p>
            <a:endParaRPr lang="en-US" sz="2800" dirty="0"/>
          </a:p>
          <a:p>
            <a:r>
              <a:rPr lang="en-US" sz="2800" dirty="0"/>
              <a:t>byte </a:t>
            </a:r>
            <a:r>
              <a:rPr lang="en-US" sz="2800" dirty="0" err="1"/>
              <a:t>smallNumbers</a:t>
            </a:r>
            <a:r>
              <a:rPr lang="en-US" sz="2800" dirty="0"/>
              <a:t>[] = new byte[4];</a:t>
            </a:r>
          </a:p>
          <a:p>
            <a:endParaRPr lang="en-US" sz="2800" dirty="0"/>
          </a:p>
          <a:p>
            <a:r>
              <a:rPr lang="en-US" sz="2800" dirty="0"/>
              <a:t>char characters[] = new char[26];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73D87C-EBDD-45A7-943D-BC024FEAE26F}"/>
              </a:ext>
            </a:extLst>
          </p:cNvPr>
          <p:cNvSpPr/>
          <p:nvPr/>
        </p:nvSpPr>
        <p:spPr>
          <a:xfrm>
            <a:off x="1978047" y="1612106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Primitive</a:t>
            </a:r>
            <a:r>
              <a:rPr lang="en-IE" sz="2800" dirty="0"/>
              <a:t> Types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7D804F-0AD2-44D3-A1FF-C88BBC72567A}"/>
              </a:ext>
            </a:extLst>
          </p:cNvPr>
          <p:cNvSpPr/>
          <p:nvPr/>
        </p:nvSpPr>
        <p:spPr>
          <a:xfrm>
            <a:off x="1978047" y="4749463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Object</a:t>
            </a:r>
            <a:r>
              <a:rPr lang="en-IE" sz="2800" dirty="0"/>
              <a:t> Types</a:t>
            </a:r>
          </a:p>
        </p:txBody>
      </p:sp>
    </p:spTree>
    <p:extLst>
      <p:ext uri="{BB962C8B-B14F-4D97-AF65-F5344CB8AC3E}">
        <p14:creationId xmlns:p14="http://schemas.microsoft.com/office/powerpoint/2010/main" val="3448845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2" grpId="0" animBg="1"/>
      <p:bldP spid="14" grpId="0" animBg="1"/>
      <p:bldP spid="1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CE024-2486-0248-E198-A2D8F22D5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A3E7D-FCFF-E942-9C8C-CC603F117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0CDA9F-A980-0B3D-9820-2F74C4B72AEE}"/>
              </a:ext>
            </a:extLst>
          </p:cNvPr>
          <p:cNvSpPr txBox="1"/>
          <p:nvPr/>
        </p:nvSpPr>
        <p:spPr>
          <a:xfrm>
            <a:off x="621632" y="1417638"/>
            <a:ext cx="10972800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Why arrays?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Primitive Arrays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Array Syntax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Loops and Arrays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What datatypes can be stored in arrays?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IE" sz="32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IE" sz="3200" dirty="0"/>
              <a:t> Difference between fixed size and number of populated 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CFECE91-074B-2BD4-6972-DE85A85CD2DD}"/>
              </a:ext>
            </a:extLst>
          </p:cNvPr>
          <p:cNvSpPr/>
          <p:nvPr/>
        </p:nvSpPr>
        <p:spPr>
          <a:xfrm>
            <a:off x="569494" y="6172200"/>
            <a:ext cx="11012906" cy="685800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50071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E" dirty="0"/>
              <a:t>Difference between fixed size and number of populated data</a:t>
            </a:r>
            <a:endParaRPr lang="en-IE" dirty="0">
              <a:solidFill>
                <a:srgbClr val="C00000"/>
              </a:solidFill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2345BC2-F888-82C4-E2B0-EB16249950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IE" sz="4400" dirty="0"/>
          </a:p>
          <a:p>
            <a:pPr marL="0" indent="0">
              <a:buNone/>
            </a:pPr>
            <a:r>
              <a:rPr lang="en-IE" sz="4400" dirty="0"/>
              <a:t>Do we have to use  </a:t>
            </a:r>
            <a:r>
              <a:rPr lang="en-IE" sz="4400" b="1" dirty="0"/>
              <a:t>all</a:t>
            </a:r>
            <a:r>
              <a:rPr lang="en-IE" sz="4400" dirty="0"/>
              <a:t> the elements in the array?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31917686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E" sz="3200" dirty="0"/>
              <a:t>Do we have to use all elements in the array?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dirty="0"/>
              <a:t>No.  </a:t>
            </a:r>
          </a:p>
          <a:p>
            <a:endParaRPr lang="en-IE" dirty="0"/>
          </a:p>
          <a:p>
            <a:r>
              <a:rPr lang="en-IE" dirty="0">
                <a:solidFill>
                  <a:srgbClr val="FF0000"/>
                </a:solidFill>
              </a:rPr>
              <a:t>But</a:t>
            </a:r>
            <a:r>
              <a:rPr lang="en-IE" dirty="0"/>
              <a:t>…this might cause logic errors, </a:t>
            </a:r>
            <a:br>
              <a:rPr lang="en-IE" dirty="0"/>
            </a:br>
            <a:r>
              <a:rPr lang="en-IE" dirty="0"/>
              <a:t>if we don’t take this into consideration </a:t>
            </a:r>
            <a:br>
              <a:rPr lang="en-IE" dirty="0"/>
            </a:br>
            <a:r>
              <a:rPr lang="en-IE" dirty="0"/>
              <a:t>in our coding.</a:t>
            </a:r>
          </a:p>
          <a:p>
            <a:pPr marL="0" indent="0">
              <a:buNone/>
            </a:pPr>
            <a:endParaRPr lang="en-IE" dirty="0"/>
          </a:p>
          <a:p>
            <a:r>
              <a:rPr lang="en-IE" dirty="0"/>
              <a:t>Consider this scenario…</a:t>
            </a:r>
          </a:p>
        </p:txBody>
      </p:sp>
    </p:spTree>
    <p:extLst>
      <p:ext uri="{BB962C8B-B14F-4D97-AF65-F5344CB8AC3E}">
        <p14:creationId xmlns:p14="http://schemas.microsoft.com/office/powerpoint/2010/main" val="321386681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>
            <a:noAutofit/>
          </a:bodyPr>
          <a:lstStyle/>
          <a:p>
            <a:r>
              <a:rPr lang="en-IE" sz="3200" dirty="0"/>
              <a:t>Scenario – exam results and </a:t>
            </a:r>
            <a:r>
              <a:rPr lang="en-IE" sz="3200" b="1" dirty="0"/>
              <a:t>average grade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981200" y="1856580"/>
            <a:ext cx="4267200" cy="4925220"/>
          </a:xfrm>
        </p:spPr>
        <p:txBody>
          <a:bodyPr>
            <a:normAutofit lnSpcReduction="10000"/>
          </a:bodyPr>
          <a:lstStyle/>
          <a:p>
            <a:r>
              <a:rPr lang="en-IE" dirty="0"/>
              <a:t>We have a class of 15 students.</a:t>
            </a:r>
            <a:br>
              <a:rPr lang="en-IE" dirty="0"/>
            </a:br>
            <a:endParaRPr lang="en-IE" dirty="0"/>
          </a:p>
          <a:p>
            <a:r>
              <a:rPr lang="en-IE" dirty="0"/>
              <a:t>They have a test coming up.</a:t>
            </a:r>
            <a:br>
              <a:rPr lang="en-IE" dirty="0"/>
            </a:br>
            <a:endParaRPr lang="en-IE" dirty="0"/>
          </a:p>
          <a:p>
            <a:r>
              <a:rPr lang="en-IE" dirty="0"/>
              <a:t>We want to store the results in an array and then find the average result.</a:t>
            </a:r>
          </a:p>
          <a:p>
            <a:pPr marL="0" indent="0">
              <a:buNone/>
            </a:pPr>
            <a:endParaRPr lang="en-IE" dirty="0"/>
          </a:p>
        </p:txBody>
      </p:sp>
      <p:pic>
        <p:nvPicPr>
          <p:cNvPr id="1026" name="Picture 2" descr="Related image">
            <a:extLst>
              <a:ext uri="{FF2B5EF4-FFF2-40B4-BE49-F238E27FC236}">
                <a16:creationId xmlns:a16="http://schemas.microsoft.com/office/drawing/2014/main" id="{04D6137A-0BED-4046-ABC0-A5EEC31751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5557" y="2209801"/>
            <a:ext cx="3819525" cy="381952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5523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739951" y="1396271"/>
            <a:ext cx="4572000" cy="1143000"/>
          </a:xfrm>
        </p:spPr>
        <p:txBody>
          <a:bodyPr>
            <a:noAutofit/>
          </a:bodyPr>
          <a:lstStyle/>
          <a:p>
            <a:r>
              <a:rPr lang="en-IE" sz="2800" dirty="0"/>
              <a:t>We create an array of </a:t>
            </a:r>
            <a:r>
              <a:rPr lang="en-IE" sz="2800" dirty="0" err="1"/>
              <a:t>int</a:t>
            </a:r>
            <a:r>
              <a:rPr lang="en-IE" sz="2800" dirty="0"/>
              <a:t> </a:t>
            </a:r>
            <a:br>
              <a:rPr lang="en-IE" sz="2800" dirty="0"/>
            </a:br>
            <a:r>
              <a:rPr lang="en-IE" sz="2800" dirty="0"/>
              <a:t>with a capacity of 15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EF69F49A-85F9-44AB-8417-58A8C7FF9C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43147" y="2144851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8" name="Text Box 11">
            <a:extLst>
              <a:ext uri="{FF2B5EF4-FFF2-40B4-BE49-F238E27FC236}">
                <a16:creationId xmlns:a16="http://schemas.microsoft.com/office/drawing/2014/main" id="{AE55D36B-7D79-441F-B1E7-ED4A4F79C1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1647" y="2678251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results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9F74E75-6C8C-4A38-95DD-1354E3C83B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6516108"/>
              </p:ext>
            </p:extLst>
          </p:nvPr>
        </p:nvGraphicFramePr>
        <p:xfrm>
          <a:off x="3860007" y="1523993"/>
          <a:ext cx="1688303" cy="4929195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523956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164347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7825658"/>
                  </a:ext>
                </a:extLst>
              </a:tr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41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5169025"/>
                  </a:ext>
                </a:extLst>
              </a:tr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1542535"/>
                  </a:ext>
                </a:extLst>
              </a:tr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4411702"/>
                  </a:ext>
                </a:extLst>
              </a:tr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7547582"/>
                  </a:ext>
                </a:extLst>
              </a:tr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51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904458"/>
                  </a:ext>
                </a:extLst>
              </a:tr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9580778"/>
                  </a:ext>
                </a:extLst>
              </a:tr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7640888"/>
                  </a:ext>
                </a:extLst>
              </a:tr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1067944"/>
                  </a:ext>
                </a:extLst>
              </a:tr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8958092"/>
                  </a:ext>
                </a:extLst>
              </a:tr>
              <a:tr h="328613"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>
                          <a:solidFill>
                            <a:srgbClr val="0070C0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5275053"/>
                  </a:ext>
                </a:extLst>
              </a:tr>
            </a:tbl>
          </a:graphicData>
        </a:graphic>
      </p:graphicFrame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9DFA3A-C276-46AB-8804-551C1618BE14}"/>
              </a:ext>
            </a:extLst>
          </p:cNvPr>
          <p:cNvCxnSpPr>
            <a:cxnSpLocks/>
          </p:cNvCxnSpPr>
          <p:nvPr/>
        </p:nvCxnSpPr>
        <p:spPr>
          <a:xfrm flipV="1">
            <a:off x="2724148" y="1523993"/>
            <a:ext cx="1135859" cy="88755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itle 3"/>
          <p:cNvSpPr txBox="1">
            <a:spLocks/>
          </p:cNvSpPr>
          <p:nvPr/>
        </p:nvSpPr>
        <p:spPr>
          <a:xfrm>
            <a:off x="5739952" y="2714356"/>
            <a:ext cx="4775649" cy="183496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sz="2800" dirty="0"/>
              <a:t>Only 12 students sat the exam. </a:t>
            </a:r>
            <a:br>
              <a:rPr lang="en-IE" sz="2800" dirty="0"/>
            </a:br>
            <a:r>
              <a:rPr lang="en-IE" sz="2800" dirty="0"/>
              <a:t>Their results were recorded in the first 12 elements</a:t>
            </a:r>
          </a:p>
        </p:txBody>
      </p:sp>
      <p:sp>
        <p:nvSpPr>
          <p:cNvPr id="12" name="Title 3"/>
          <p:cNvSpPr txBox="1">
            <a:spLocks/>
          </p:cNvSpPr>
          <p:nvPr/>
        </p:nvSpPr>
        <p:spPr>
          <a:xfrm>
            <a:off x="5731668" y="4724401"/>
            <a:ext cx="4903592" cy="182879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sz="2800" dirty="0"/>
              <a:t>To calculate the average result, </a:t>
            </a:r>
            <a:br>
              <a:rPr lang="en-IE" sz="2800" dirty="0"/>
            </a:br>
            <a:r>
              <a:rPr lang="en-IE" sz="2800" dirty="0"/>
              <a:t>divide by the number of </a:t>
            </a:r>
            <a:r>
              <a:rPr lang="en-IE" sz="2800" b="1" dirty="0"/>
              <a:t>populated elements </a:t>
            </a:r>
            <a:br>
              <a:rPr lang="en-IE" sz="2800" dirty="0"/>
            </a:br>
            <a:r>
              <a:rPr lang="en-IE" sz="2800" b="1" dirty="0"/>
              <a:t>NOT</a:t>
            </a:r>
            <a:r>
              <a:rPr lang="en-IE" sz="2800" dirty="0"/>
              <a:t> the array capacity.</a:t>
            </a:r>
          </a:p>
        </p:txBody>
      </p:sp>
      <p:pic>
        <p:nvPicPr>
          <p:cNvPr id="13" name="Picture 2" descr="Related image">
            <a:extLst>
              <a:ext uri="{FF2B5EF4-FFF2-40B4-BE49-F238E27FC236}">
                <a16:creationId xmlns:a16="http://schemas.microsoft.com/office/drawing/2014/main" id="{04D6137A-0BED-4046-ABC0-A5EEC31751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153695"/>
            <a:ext cx="1178884" cy="1178884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itle 3"/>
          <p:cNvSpPr txBox="1">
            <a:spLocks/>
          </p:cNvSpPr>
          <p:nvPr/>
        </p:nvSpPr>
        <p:spPr>
          <a:xfrm>
            <a:off x="1981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E" sz="3200" dirty="0"/>
              <a:t>Average grade</a:t>
            </a:r>
          </a:p>
        </p:txBody>
      </p:sp>
    </p:spTree>
    <p:extLst>
      <p:ext uri="{BB962C8B-B14F-4D97-AF65-F5344CB8AC3E}">
        <p14:creationId xmlns:p14="http://schemas.microsoft.com/office/powerpoint/2010/main" val="3124583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/>
      <p:bldP spid="1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E" sz="3200" dirty="0"/>
              <a:t>Do we have to use all elements in the array?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981200" y="1600200"/>
            <a:ext cx="8458200" cy="4800600"/>
          </a:xfrm>
        </p:spPr>
        <p:txBody>
          <a:bodyPr>
            <a:normAutofit fontScale="92500" lnSpcReduction="20000"/>
          </a:bodyPr>
          <a:lstStyle/>
          <a:p>
            <a:r>
              <a:rPr lang="en-IE" dirty="0"/>
              <a:t>If all elements in an array are NOT populated, </a:t>
            </a:r>
            <a:br>
              <a:rPr lang="en-IE" dirty="0"/>
            </a:br>
            <a:r>
              <a:rPr lang="en-GB" dirty="0"/>
              <a:t>we need to:</a:t>
            </a:r>
          </a:p>
          <a:p>
            <a:pPr lvl="1"/>
            <a:r>
              <a:rPr lang="en-GB" dirty="0"/>
              <a:t>have another variable (e.g. </a:t>
            </a:r>
            <a:r>
              <a:rPr lang="en-GB" dirty="0" err="1"/>
              <a:t>int</a:t>
            </a:r>
            <a:r>
              <a:rPr lang="en-GB" dirty="0"/>
              <a:t> </a:t>
            </a:r>
            <a:r>
              <a:rPr lang="en-GB" dirty="0">
                <a:solidFill>
                  <a:srgbClr val="FF0000"/>
                </a:solidFill>
              </a:rPr>
              <a:t>size</a:t>
            </a:r>
            <a:r>
              <a:rPr lang="en-GB" dirty="0"/>
              <a:t>) </a:t>
            </a:r>
          </a:p>
          <a:p>
            <a:pPr lvl="2"/>
            <a:r>
              <a:rPr lang="en-GB" dirty="0"/>
              <a:t>containing the number of elements in the array </a:t>
            </a:r>
            <a:r>
              <a:rPr lang="en-GB" b="1" dirty="0"/>
              <a:t>actually used</a:t>
            </a:r>
            <a:r>
              <a:rPr lang="en-GB" dirty="0"/>
              <a:t>. </a:t>
            </a:r>
          </a:p>
          <a:p>
            <a:pPr lvl="1"/>
            <a:r>
              <a:rPr lang="en-GB" dirty="0"/>
              <a:t>ensure size is used when processing the array </a:t>
            </a:r>
          </a:p>
          <a:p>
            <a:pPr lvl="2"/>
            <a:r>
              <a:rPr lang="en-GB" dirty="0"/>
              <a:t>e.g.</a:t>
            </a:r>
          </a:p>
          <a:p>
            <a:pPr marL="1314450" lvl="3" indent="0">
              <a:buNone/>
            </a:pPr>
            <a:r>
              <a:rPr lang="en-GB" sz="2800" dirty="0"/>
              <a:t>for (</a:t>
            </a:r>
            <a:r>
              <a:rPr lang="en-GB" sz="2800" dirty="0" err="1"/>
              <a:t>int</a:t>
            </a:r>
            <a:r>
              <a:rPr lang="en-GB" sz="2800" dirty="0"/>
              <a:t> </a:t>
            </a:r>
            <a:r>
              <a:rPr lang="en-GB" sz="2800" dirty="0" err="1"/>
              <a:t>i</a:t>
            </a:r>
            <a:r>
              <a:rPr lang="en-GB" sz="2800" dirty="0"/>
              <a:t>= 0; </a:t>
            </a:r>
            <a:r>
              <a:rPr lang="en-GB" sz="2800" dirty="0" err="1"/>
              <a:t>i</a:t>
            </a:r>
            <a:r>
              <a:rPr lang="en-GB" sz="2800" dirty="0"/>
              <a:t> &lt; </a:t>
            </a:r>
            <a:r>
              <a:rPr lang="en-GB" sz="2800" dirty="0">
                <a:solidFill>
                  <a:srgbClr val="FF0000"/>
                </a:solidFill>
              </a:rPr>
              <a:t>size</a:t>
            </a:r>
            <a:r>
              <a:rPr lang="en-GB" sz="2800" dirty="0"/>
              <a:t>; </a:t>
            </a:r>
            <a:r>
              <a:rPr lang="en-GB" sz="2800" dirty="0" err="1"/>
              <a:t>i</a:t>
            </a:r>
            <a:r>
              <a:rPr lang="en-GB" sz="2800" dirty="0"/>
              <a:t>++)</a:t>
            </a:r>
          </a:p>
          <a:p>
            <a:pPr marL="57150" indent="0">
              <a:buNone/>
            </a:pPr>
            <a:endParaRPr lang="en-GB" dirty="0"/>
          </a:p>
          <a:p>
            <a:pPr marL="514350" indent="-457200"/>
            <a:r>
              <a:rPr lang="en-GB" dirty="0"/>
              <a:t>For now though, </a:t>
            </a:r>
            <a:br>
              <a:rPr lang="en-GB" dirty="0"/>
            </a:br>
            <a:r>
              <a:rPr lang="en-GB" dirty="0"/>
              <a:t>we assume that all elements of the array </a:t>
            </a:r>
            <a:br>
              <a:rPr lang="en-GB" dirty="0"/>
            </a:br>
            <a:r>
              <a:rPr lang="en-GB" dirty="0"/>
              <a:t>are populated and therefore ready to be processed.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4342227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Summary - Arrays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3621644"/>
          </a:xfrm>
        </p:spPr>
        <p:txBody>
          <a:bodyPr>
            <a:normAutofit lnSpcReduction="10000"/>
          </a:bodyPr>
          <a:lstStyle/>
          <a:p>
            <a:r>
              <a:rPr lang="en-GB" dirty="0"/>
              <a:t>Arrays are structures that can store many values of the same type</a:t>
            </a:r>
          </a:p>
          <a:p>
            <a:r>
              <a:rPr lang="en-US" dirty="0"/>
              <a:t>Rule – Never lose input data</a:t>
            </a:r>
          </a:p>
          <a:p>
            <a:pPr lvl="1"/>
            <a:r>
              <a:rPr lang="en-US" dirty="0"/>
              <a:t>Arrays enable us to store the data efficiently </a:t>
            </a:r>
          </a:p>
          <a:p>
            <a:pPr lvl="1"/>
            <a:r>
              <a:rPr lang="en-US" dirty="0"/>
              <a:t>We can use loops with arrays</a:t>
            </a:r>
          </a:p>
          <a:p>
            <a:r>
              <a:rPr lang="en-US" dirty="0"/>
              <a:t>Arrays can store ANY type</a:t>
            </a:r>
          </a:p>
          <a:p>
            <a:r>
              <a:rPr lang="en-US" dirty="0"/>
              <a:t>Declaring arrays</a:t>
            </a:r>
            <a:endParaRPr lang="en-GB" dirty="0"/>
          </a:p>
        </p:txBody>
      </p:sp>
      <p:sp>
        <p:nvSpPr>
          <p:cNvPr id="4" name="TextBox 3"/>
          <p:cNvSpPr txBox="1"/>
          <p:nvPr/>
        </p:nvSpPr>
        <p:spPr>
          <a:xfrm>
            <a:off x="2943823" y="5124272"/>
            <a:ext cx="2667000" cy="1200329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/>
              <a:t>int</a:t>
            </a:r>
            <a:r>
              <a:rPr lang="en-GB" b="1" dirty="0"/>
              <a:t>[]  </a:t>
            </a:r>
            <a:r>
              <a:rPr lang="en-GB" b="1" dirty="0" err="1"/>
              <a:t>arryName</a:t>
            </a:r>
            <a:r>
              <a:rPr lang="en-GB" b="1" dirty="0"/>
              <a:t>;</a:t>
            </a:r>
            <a:br>
              <a:rPr lang="en-GB" b="1" dirty="0"/>
            </a:br>
            <a:r>
              <a:rPr lang="en-GB" b="1" dirty="0">
                <a:solidFill>
                  <a:schemeClr val="bg1">
                    <a:lumMod val="50000"/>
                  </a:schemeClr>
                </a:solidFill>
              </a:rPr>
              <a:t>//</a:t>
            </a:r>
            <a:r>
              <a:rPr lang="en-GB" b="1" dirty="0" err="1">
                <a:solidFill>
                  <a:schemeClr val="bg1">
                    <a:lumMod val="50000"/>
                  </a:schemeClr>
                </a:solidFill>
              </a:rPr>
              <a:t>somecode</a:t>
            </a:r>
            <a:br>
              <a:rPr lang="en-GB" b="1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GB" b="1" dirty="0" err="1"/>
              <a:t>arryName</a:t>
            </a:r>
            <a:r>
              <a:rPr lang="en-GB" b="1" dirty="0"/>
              <a:t>= new </a:t>
            </a:r>
            <a:r>
              <a:rPr lang="en-GB" b="1" dirty="0" err="1"/>
              <a:t>int</a:t>
            </a:r>
            <a:r>
              <a:rPr lang="en-GB" b="1" dirty="0"/>
              <a:t>[4];</a:t>
            </a:r>
            <a:endParaRPr lang="en-IE" b="1" dirty="0"/>
          </a:p>
          <a:p>
            <a:endParaRPr lang="en-GB" dirty="0"/>
          </a:p>
        </p:txBody>
      </p:sp>
      <p:sp>
        <p:nvSpPr>
          <p:cNvPr id="5" name="TextBox 4"/>
          <p:cNvSpPr txBox="1"/>
          <p:nvPr/>
        </p:nvSpPr>
        <p:spPr>
          <a:xfrm>
            <a:off x="6099314" y="5124272"/>
            <a:ext cx="2875211" cy="1200329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b="1"/>
            </a:lvl1pPr>
          </a:lstStyle>
          <a:p>
            <a:r>
              <a:rPr lang="en-GB" dirty="0" err="1"/>
              <a:t>int</a:t>
            </a:r>
            <a:r>
              <a:rPr lang="en-GB" dirty="0"/>
              <a:t>[]  </a:t>
            </a:r>
            <a:r>
              <a:rPr lang="en-GB" dirty="0" err="1"/>
              <a:t>arryName</a:t>
            </a:r>
            <a:r>
              <a:rPr lang="en-GB" dirty="0"/>
              <a:t>= new </a:t>
            </a:r>
            <a:r>
              <a:rPr lang="en-GB" dirty="0" err="1"/>
              <a:t>int</a:t>
            </a:r>
            <a:r>
              <a:rPr lang="en-GB" dirty="0"/>
              <a:t>[4];</a:t>
            </a:r>
            <a:br>
              <a:rPr lang="en-GB" dirty="0"/>
            </a:br>
            <a:br>
              <a:rPr lang="en-GB" dirty="0"/>
            </a:br>
            <a:endParaRPr lang="en-IE" dirty="0"/>
          </a:p>
          <a:p>
            <a:endParaRPr lang="en-GB" dirty="0"/>
          </a:p>
        </p:txBody>
      </p:sp>
      <p:sp>
        <p:nvSpPr>
          <p:cNvPr id="6" name="TextBox 5"/>
          <p:cNvSpPr txBox="1"/>
          <p:nvPr/>
        </p:nvSpPr>
        <p:spPr>
          <a:xfrm>
            <a:off x="5634014" y="5539769"/>
            <a:ext cx="4619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162515412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074" name="Picture 2" descr="Image result for question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0" y="2057401"/>
            <a:ext cx="4343400" cy="3509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a-data-types</Template>
  <TotalTime>3124</TotalTime>
  <Words>2793</Words>
  <Application>Microsoft Macintosh PowerPoint</Application>
  <PresentationFormat>Widescreen</PresentationFormat>
  <Paragraphs>514</Paragraphs>
  <Slides>43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9" baseType="lpstr">
      <vt:lpstr>Arial</vt:lpstr>
      <vt:lpstr>Calibri</vt:lpstr>
      <vt:lpstr>Courier New</vt:lpstr>
      <vt:lpstr>Times New Roman</vt:lpstr>
      <vt:lpstr>Trebuchet MS</vt:lpstr>
      <vt:lpstr>a-processing-mouse-event-methods</vt:lpstr>
      <vt:lpstr>Primitive Arrays</vt:lpstr>
      <vt:lpstr>Topics list</vt:lpstr>
      <vt:lpstr>Why arrays? </vt:lpstr>
      <vt:lpstr>Adding 10 numbers </vt:lpstr>
      <vt:lpstr>Adding 10 numbers </vt:lpstr>
      <vt:lpstr>Adding 10 numbers </vt:lpstr>
      <vt:lpstr>Adding 10 numbers </vt:lpstr>
      <vt:lpstr>Rule – Never lose input data </vt:lpstr>
      <vt:lpstr>Remembering the Numbers</vt:lpstr>
      <vt:lpstr>Topics list</vt:lpstr>
      <vt:lpstr>Arrays (fixed-size collections)</vt:lpstr>
      <vt:lpstr>Topics list</vt:lpstr>
      <vt:lpstr>Primitive types</vt:lpstr>
      <vt:lpstr>Structure of a primitive array</vt:lpstr>
      <vt:lpstr>Structure of a primitive array</vt:lpstr>
      <vt:lpstr>Structure of a primitive array</vt:lpstr>
      <vt:lpstr>Structure of a primitive array</vt:lpstr>
      <vt:lpstr>Structure of a primitive array</vt:lpstr>
      <vt:lpstr>Structure of a primitive array</vt:lpstr>
      <vt:lpstr>Structure of a primitive array</vt:lpstr>
      <vt:lpstr>Structure of a primitive array</vt:lpstr>
      <vt:lpstr>Structure of a primitive array</vt:lpstr>
      <vt:lpstr>Declaring a primitive array</vt:lpstr>
      <vt:lpstr>Declaring a primitive array</vt:lpstr>
      <vt:lpstr>Returning to our method  that reads in, and sums, 10 numbers (typed in from the keyboard)…</vt:lpstr>
      <vt:lpstr>Version that doesn’t save the numbers</vt:lpstr>
      <vt:lpstr>Topics list</vt:lpstr>
      <vt:lpstr>Using arrays to remember numbers</vt:lpstr>
      <vt:lpstr>Using arrays to remember numbers</vt:lpstr>
      <vt:lpstr>Using arrays to remember numbers</vt:lpstr>
      <vt:lpstr>What if we wanted the user  to decide how many numbers  they wanted to sum? </vt:lpstr>
      <vt:lpstr>PowerPoint Presentation</vt:lpstr>
      <vt:lpstr>Topics list</vt:lpstr>
      <vt:lpstr>What type of data  can be stored  in a primitive array? </vt:lpstr>
      <vt:lpstr>PowerPoint Presentation</vt:lpstr>
      <vt:lpstr>Topics list</vt:lpstr>
      <vt:lpstr>Difference between fixed size and number of populated data</vt:lpstr>
      <vt:lpstr>Do we have to use all elements in the array?</vt:lpstr>
      <vt:lpstr>Scenario – exam results and average grade</vt:lpstr>
      <vt:lpstr>We create an array of int  with a capacity of 15</vt:lpstr>
      <vt:lpstr>Do we have to use all elements in the array?</vt:lpstr>
      <vt:lpstr>Summary - Arrays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Introduction to Processing</dc:title>
  <dc:creator>Siobhan Drohan</dc:creator>
  <cp:lastModifiedBy>Mairead Meagher</cp:lastModifiedBy>
  <cp:revision>360</cp:revision>
  <dcterms:created xsi:type="dcterms:W3CDTF">2006-08-16T00:00:00Z</dcterms:created>
  <dcterms:modified xsi:type="dcterms:W3CDTF">2025-10-16T21:03:30Z</dcterms:modified>
</cp:coreProperties>
</file>