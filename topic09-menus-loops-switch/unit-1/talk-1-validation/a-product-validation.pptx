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256" r:id="rId2"/>
    <p:sldId id="346" r:id="rId3"/>
    <p:sldId id="673" r:id="rId4"/>
    <p:sldId id="592" r:id="rId5"/>
    <p:sldId id="591" r:id="rId6"/>
    <p:sldId id="586" r:id="rId7"/>
    <p:sldId id="675" r:id="rId8"/>
    <p:sldId id="605" r:id="rId9"/>
    <p:sldId id="595" r:id="rId10"/>
    <p:sldId id="677" r:id="rId11"/>
    <p:sldId id="606" r:id="rId12"/>
    <p:sldId id="678" r:id="rId13"/>
    <p:sldId id="596" r:id="rId14"/>
    <p:sldId id="590" r:id="rId15"/>
    <p:sldId id="640" r:id="rId16"/>
    <p:sldId id="679" r:id="rId17"/>
    <p:sldId id="735" r:id="rId18"/>
    <p:sldId id="736" r:id="rId19"/>
    <p:sldId id="775" r:id="rId20"/>
    <p:sldId id="737" r:id="rId21"/>
    <p:sldId id="756" r:id="rId22"/>
    <p:sldId id="757" r:id="rId23"/>
    <p:sldId id="758" r:id="rId24"/>
    <p:sldId id="759" r:id="rId25"/>
    <p:sldId id="755" r:id="rId26"/>
    <p:sldId id="760" r:id="rId27"/>
    <p:sldId id="761" r:id="rId28"/>
    <p:sldId id="762" r:id="rId29"/>
    <p:sldId id="763" r:id="rId30"/>
    <p:sldId id="774" r:id="rId31"/>
    <p:sldId id="764" r:id="rId32"/>
    <p:sldId id="765" r:id="rId33"/>
    <p:sldId id="770" r:id="rId34"/>
    <p:sldId id="767" r:id="rId35"/>
    <p:sldId id="738" r:id="rId36"/>
    <p:sldId id="739" r:id="rId37"/>
    <p:sldId id="769" r:id="rId38"/>
    <p:sldId id="771" r:id="rId39"/>
    <p:sldId id="772" r:id="rId40"/>
    <p:sldId id="773" r:id="rId41"/>
    <p:sldId id="768" r:id="rId42"/>
    <p:sldId id="347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AC5"/>
    <a:srgbClr val="A1D38E"/>
    <a:srgbClr val="F9CF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97" autoAdjust="0"/>
    <p:restoredTop sz="94770"/>
  </p:normalViewPr>
  <p:slideViewPr>
    <p:cSldViewPr>
      <p:cViewPr varScale="1">
        <p:scale>
          <a:sx n="55" d="100"/>
          <a:sy n="55" d="100"/>
        </p:scale>
        <p:origin x="208" y="14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9" d="100"/>
        <a:sy n="49" d="100"/>
      </p:scale>
      <p:origin x="0" y="-941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12/11/2025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E85BA6-CFDF-430E-8374-ADA2BF6C5E53}" type="slidenum">
              <a:rPr lang="en-GB"/>
              <a:pPr/>
              <a:t>7</a:t>
            </a:fld>
            <a:endParaRPr lang="en-GB"/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44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83502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17B96C-5BE9-455B-93AF-B6A38B95CFEB}" type="slidenum">
              <a:rPr lang="en-GB"/>
              <a:pPr/>
              <a:t>10</a:t>
            </a:fld>
            <a:endParaRPr lang="en-GB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033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5285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38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AB13D9-B7A5-0614-4651-2F9977D91910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B6F98E-998E-0C49-19D0-BD928FADEDE0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A350EAD-DC44-A3A0-38C6-89949173DFA9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C5F4103-4D77-0D61-3E5C-9EE3CAEE4E9B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019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157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E7CBAE-0172-1E89-E84D-992B775618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50A73E-1B0E-99B0-1273-3679BDBB151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4674E79-66F0-A4C7-FF39-5F928B7C9A5B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DBF277-CA49-4224-8D06-9D9D90ACB86B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191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92CD0C1-F3B9-C92E-D990-6E9A57623D5A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B2DBB3-4EEF-3DFF-199A-BA6AB3793D3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1457289-6BB4-E107-2E46-8D2073E3415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969C191-2707-BEF7-BBA6-F86DEDCC615C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7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51A815F-BB18-F13C-32C4-8E79100BCF8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F0757EC-8007-C46D-7D50-F765C16D5B9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D082DFA-2D0D-E3FC-D879-A6D24EF7B7A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E87762-6F7D-2D9C-0A38-3A5737663146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7101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939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356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212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62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48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3136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535438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067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943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tif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tif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tif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tif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tif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tif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tif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tif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ShopV2.2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457200" y="3124200"/>
            <a:ext cx="11201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Improving Product(with Validation)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4F8303-DD1D-6B8F-CC0E-2BB32D50A1BF}"/>
              </a:ext>
            </a:extLst>
          </p:cNvPr>
          <p:cNvSpPr txBox="1"/>
          <p:nvPr/>
        </p:nvSpPr>
        <p:spPr>
          <a:xfrm>
            <a:off x="7445567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5853B1-E5DC-3BE1-C428-88FD7658E381}"/>
              </a:ext>
            </a:extLst>
          </p:cNvPr>
          <p:cNvSpPr txBox="1"/>
          <p:nvPr/>
        </p:nvSpPr>
        <p:spPr>
          <a:xfrm>
            <a:off x="3505200" y="3743235"/>
            <a:ext cx="5562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Drohan,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68B05C-B6C4-074D-FAF1-49A161A0F5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037" y="5629363"/>
            <a:ext cx="1905954" cy="106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BA8B00-74DD-2B7D-B890-22252B70B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0"/>
            <a:ext cx="7772400" cy="28116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Recap: Shop V2.1 - </a:t>
            </a:r>
            <a:r>
              <a:rPr lang="en-IE" b="1" dirty="0">
                <a:solidFill>
                  <a:srgbClr val="FF0000"/>
                </a:solidFill>
              </a:rPr>
              <a:t>Product</a:t>
            </a:r>
            <a:endParaRPr lang="en-IE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29" y="1752601"/>
            <a:ext cx="3810000" cy="4525963"/>
          </a:xfrm>
        </p:spPr>
        <p:txBody>
          <a:bodyPr/>
          <a:lstStyle/>
          <a:p>
            <a:r>
              <a:rPr lang="en-IE" dirty="0"/>
              <a:t>The </a:t>
            </a:r>
            <a:r>
              <a:rPr lang="en-IE" b="1" dirty="0">
                <a:solidFill>
                  <a:srgbClr val="FF0000"/>
                </a:solidFill>
              </a:rPr>
              <a:t>Product</a:t>
            </a:r>
            <a:r>
              <a:rPr lang="en-IE" dirty="0"/>
              <a:t> class stores </a:t>
            </a:r>
            <a:r>
              <a:rPr lang="en-IE" b="1" dirty="0"/>
              <a:t>details</a:t>
            </a:r>
            <a:r>
              <a:rPr lang="en-IE" dirty="0"/>
              <a:t> about a product:</a:t>
            </a:r>
          </a:p>
          <a:p>
            <a:pPr lvl="1"/>
            <a:r>
              <a:rPr lang="en-IE" dirty="0"/>
              <a:t>name </a:t>
            </a:r>
          </a:p>
          <a:p>
            <a:pPr lvl="1"/>
            <a:r>
              <a:rPr lang="en-IE" dirty="0"/>
              <a:t>code </a:t>
            </a:r>
          </a:p>
          <a:p>
            <a:pPr lvl="1"/>
            <a:r>
              <a:rPr lang="en-IE" dirty="0"/>
              <a:t>unit cost </a:t>
            </a:r>
          </a:p>
          <a:p>
            <a:pPr lvl="1"/>
            <a:r>
              <a:rPr lang="en-IE" dirty="0"/>
              <a:t>in the current product line or not?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004300-59BA-ADAD-0628-559326479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612" y="158589"/>
            <a:ext cx="2030688" cy="12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911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The  </a:t>
            </a:r>
            <a:r>
              <a:rPr lang="en-IE" sz="3600" b="1" dirty="0"/>
              <a:t>Product</a:t>
            </a:r>
            <a:r>
              <a:rPr lang="en-IE" sz="3600" dirty="0"/>
              <a:t> Class…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E8E0BD-8854-D1BC-9468-60060F2F0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612" y="158589"/>
            <a:ext cx="2030688" cy="12184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C0EB49-5BFC-343F-4836-37AC28AAD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905000"/>
            <a:ext cx="4203700" cy="44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166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C7AD53-8C85-D69E-2B76-158DA239C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5065" y="1868587"/>
            <a:ext cx="5183096" cy="250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/>
              <a:t>Product</a:t>
            </a:r>
            <a:r>
              <a:rPr lang="en-IE" sz="3600" dirty="0"/>
              <a:t> Class… </a:t>
            </a:r>
            <a:r>
              <a:rPr lang="en-IE" sz="3600" b="1" dirty="0"/>
              <a:t>constructor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9055" y="1600200"/>
            <a:ext cx="3093945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Constructor</a:t>
            </a:r>
            <a:r>
              <a:rPr lang="en-IE" sz="2400" dirty="0"/>
              <a:t> </a:t>
            </a:r>
            <a:br>
              <a:rPr lang="en-IE" sz="2400" dirty="0"/>
            </a:br>
            <a:r>
              <a:rPr lang="en-IE" sz="2400" dirty="0"/>
              <a:t>i.e. for building objects.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68E9ECC-112E-40DC-84EA-6A19D160A5D2}"/>
              </a:ext>
            </a:extLst>
          </p:cNvPr>
          <p:cNvSpPr/>
          <p:nvPr/>
        </p:nvSpPr>
        <p:spPr>
          <a:xfrm>
            <a:off x="5511055" y="1873864"/>
            <a:ext cx="5183096" cy="335937"/>
          </a:xfrm>
          <a:prstGeom prst="roundRect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1" name="Straight Arrow Connector 10"/>
          <p:cNvCxnSpPr>
            <a:cxnSpLocks/>
          </p:cNvCxnSpPr>
          <p:nvPr/>
        </p:nvCxnSpPr>
        <p:spPr>
          <a:xfrm>
            <a:off x="4953000" y="1985681"/>
            <a:ext cx="558055" cy="0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BCE040A-8066-4D94-B0C6-FE2C62492D60}"/>
              </a:ext>
            </a:extLst>
          </p:cNvPr>
          <p:cNvSpPr txBox="1"/>
          <p:nvPr/>
        </p:nvSpPr>
        <p:spPr>
          <a:xfrm>
            <a:off x="455475" y="3116540"/>
            <a:ext cx="4173072" cy="400110"/>
          </a:xfrm>
          <a:prstGeom prst="rect">
            <a:avLst/>
          </a:prstGeom>
          <a:solidFill>
            <a:srgbClr val="A1D38E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/>
            </a:lvl1pPr>
          </a:lstStyle>
          <a:p>
            <a:r>
              <a:rPr lang="en-IE" dirty="0"/>
              <a:t>The </a:t>
            </a:r>
            <a:r>
              <a:rPr lang="en-IE" u="sng" dirty="0"/>
              <a:t>green circle </a:t>
            </a:r>
            <a:r>
              <a:rPr lang="en-IE" dirty="0"/>
              <a:t>means it is </a:t>
            </a:r>
            <a:r>
              <a:rPr lang="en-IE" b="1" dirty="0"/>
              <a:t>public</a:t>
            </a:r>
            <a:r>
              <a:rPr lang="en-IE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4BF45E-94EB-4FAE-ACC1-3C8D5081B9A6}"/>
              </a:ext>
            </a:extLst>
          </p:cNvPr>
          <p:cNvSpPr txBox="1"/>
          <p:nvPr/>
        </p:nvSpPr>
        <p:spPr>
          <a:xfrm>
            <a:off x="509269" y="4269465"/>
            <a:ext cx="4572000" cy="40011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/>
            </a:lvl1pPr>
          </a:lstStyle>
          <a:p>
            <a:r>
              <a:rPr lang="en-IE" dirty="0"/>
              <a:t>Constructors have same name as the class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C11272-E773-4288-84E5-15121F65542E}"/>
              </a:ext>
            </a:extLst>
          </p:cNvPr>
          <p:cNvSpPr txBox="1"/>
          <p:nvPr/>
        </p:nvSpPr>
        <p:spPr>
          <a:xfrm>
            <a:off x="7823627" y="5486400"/>
            <a:ext cx="2620254" cy="707886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/>
            </a:lvl1pPr>
          </a:lstStyle>
          <a:p>
            <a:r>
              <a:rPr lang="en-IE" dirty="0"/>
              <a:t>Four </a:t>
            </a:r>
            <a:r>
              <a:rPr lang="en-IE" b="1" dirty="0"/>
              <a:t>parameters</a:t>
            </a:r>
            <a:r>
              <a:rPr lang="en-IE" dirty="0"/>
              <a:t>; </a:t>
            </a:r>
            <a:br>
              <a:rPr lang="en-IE" dirty="0"/>
            </a:br>
            <a:r>
              <a:rPr lang="en-IE" dirty="0"/>
              <a:t>one for each field.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 flipV="1">
            <a:off x="5128733" y="2150670"/>
            <a:ext cx="826701" cy="2373987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4628547" y="2114032"/>
            <a:ext cx="1047236" cy="1202563"/>
          </a:xfrm>
          <a:prstGeom prst="straightConnector1">
            <a:avLst/>
          </a:prstGeom>
          <a:ln w="28575">
            <a:solidFill>
              <a:srgbClr val="A1D38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6934200" y="2114032"/>
            <a:ext cx="2199554" cy="3372368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7808365" y="2133602"/>
            <a:ext cx="1325389" cy="3352798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8686800" y="2081423"/>
            <a:ext cx="446954" cy="3404977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9133754" y="2150670"/>
            <a:ext cx="715101" cy="3335730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C7C6A23D-FA72-1F85-8D50-43EC3E26E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1712" y="177470"/>
            <a:ext cx="2030688" cy="12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25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4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DE37AA9-7A9B-424B-AD0E-D526265BB0EB}"/>
              </a:ext>
            </a:extLst>
          </p:cNvPr>
          <p:cNvSpPr txBox="1">
            <a:spLocks/>
          </p:cNvSpPr>
          <p:nvPr/>
        </p:nvSpPr>
        <p:spPr>
          <a:xfrm>
            <a:off x="2133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3600" dirty="0"/>
              <a:t>A </a:t>
            </a:r>
            <a:r>
              <a:rPr lang="en-IE" sz="3600" b="1" dirty="0"/>
              <a:t>Product</a:t>
            </a:r>
            <a:r>
              <a:rPr lang="en-IE" sz="3600" dirty="0"/>
              <a:t> Class… </a:t>
            </a:r>
            <a:r>
              <a:rPr lang="en-IE" sz="3600" b="1" dirty="0"/>
              <a:t>fields </a:t>
            </a:r>
            <a:r>
              <a:rPr lang="en-IE" sz="3600" dirty="0"/>
              <a:t>and</a:t>
            </a:r>
            <a:r>
              <a:rPr lang="en-IE" sz="3600" b="1" dirty="0"/>
              <a:t> constructor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0CB1BFE-F901-4208-ABB3-3B11E7E9E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1" y="2057400"/>
            <a:ext cx="8331127" cy="378565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double 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(String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altLang="en-US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70315" y="2590800"/>
            <a:ext cx="8342013" cy="1066800"/>
          </a:xfrm>
          <a:prstGeom prst="rect">
            <a:avLst/>
          </a:prstGeom>
          <a:noFill/>
          <a:ln w="444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Rectangle 6"/>
          <p:cNvSpPr/>
          <p:nvPr/>
        </p:nvSpPr>
        <p:spPr>
          <a:xfrm>
            <a:off x="1981201" y="3810000"/>
            <a:ext cx="8331127" cy="203305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 flipH="1">
            <a:off x="5562600" y="1219200"/>
            <a:ext cx="533400" cy="137160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 flipH="1">
            <a:off x="7315200" y="1219200"/>
            <a:ext cx="990600" cy="25908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63A0080-1797-2239-ABA8-339DB5FD4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7399" y="153581"/>
            <a:ext cx="2030688" cy="12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898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BD5855D-15AA-13B7-E3C6-9DD7A6B68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851" y="1193800"/>
            <a:ext cx="4203700" cy="4470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Product Class… </a:t>
            </a:r>
            <a:r>
              <a:rPr lang="en-IE" sz="3600" b="1" dirty="0"/>
              <a:t>methods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1" y="4300547"/>
            <a:ext cx="3428999" cy="707886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 dirty="0"/>
              <a:t>Methods</a:t>
            </a:r>
            <a:br>
              <a:rPr lang="en-IE" sz="2000"/>
            </a:br>
            <a:r>
              <a:rPr lang="en-IE" sz="2000"/>
              <a:t>i.e</a:t>
            </a:r>
            <a:r>
              <a:rPr lang="en-IE" sz="2000" dirty="0"/>
              <a:t>. the </a:t>
            </a:r>
            <a:r>
              <a:rPr lang="en-IE" sz="2000" b="1" dirty="0"/>
              <a:t>behaviours</a:t>
            </a:r>
            <a:r>
              <a:rPr lang="en-IE" sz="2000" dirty="0"/>
              <a:t> of the class</a:t>
            </a:r>
          </a:p>
        </p:txBody>
      </p:sp>
      <p:sp>
        <p:nvSpPr>
          <p:cNvPr id="19" name="Rectangle: Rounded Corners 6">
            <a:extLst>
              <a:ext uri="{FF2B5EF4-FFF2-40B4-BE49-F238E27FC236}">
                <a16:creationId xmlns:a16="http://schemas.microsoft.com/office/drawing/2014/main" id="{A14AD3A7-B1A7-470E-B762-76D1124547C5}"/>
              </a:ext>
            </a:extLst>
          </p:cNvPr>
          <p:cNvSpPr/>
          <p:nvPr/>
        </p:nvSpPr>
        <p:spPr>
          <a:xfrm>
            <a:off x="6165850" y="3352800"/>
            <a:ext cx="4044950" cy="2057400"/>
          </a:xfrm>
          <a:prstGeom prst="roundRect">
            <a:avLst/>
          </a:prstGeom>
          <a:noFill/>
          <a:ln w="38100">
            <a:solidFill>
              <a:srgbClr val="FCBA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20" name="Straight Arrow Connector 19"/>
          <p:cNvCxnSpPr>
            <a:cxnSpLocks/>
          </p:cNvCxnSpPr>
          <p:nvPr/>
        </p:nvCxnSpPr>
        <p:spPr>
          <a:xfrm>
            <a:off x="4800601" y="4928094"/>
            <a:ext cx="1365249" cy="0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BF9D653-2734-46BB-BCC4-60D4BA49D705}"/>
              </a:ext>
            </a:extLst>
          </p:cNvPr>
          <p:cNvCxnSpPr>
            <a:cxnSpLocks/>
          </p:cNvCxnSpPr>
          <p:nvPr/>
        </p:nvCxnSpPr>
        <p:spPr>
          <a:xfrm>
            <a:off x="4800601" y="3147736"/>
            <a:ext cx="1524000" cy="1266301"/>
          </a:xfrm>
          <a:prstGeom prst="straightConnector1">
            <a:avLst/>
          </a:prstGeom>
          <a:ln w="28575">
            <a:solidFill>
              <a:srgbClr val="A1D38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6BAF32D-8C63-4C63-8568-FC0B51370146}"/>
              </a:ext>
            </a:extLst>
          </p:cNvPr>
          <p:cNvSpPr txBox="1"/>
          <p:nvPr/>
        </p:nvSpPr>
        <p:spPr>
          <a:xfrm>
            <a:off x="1598284" y="3091107"/>
            <a:ext cx="4029633" cy="400110"/>
          </a:xfrm>
          <a:prstGeom prst="rect">
            <a:avLst/>
          </a:prstGeom>
          <a:solidFill>
            <a:srgbClr val="A1D38E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IE" b="0" dirty="0"/>
              <a:t>The green circle means it is </a:t>
            </a:r>
            <a:r>
              <a:rPr lang="en-IE" dirty="0"/>
              <a:t>public</a:t>
            </a:r>
            <a:r>
              <a:rPr lang="en-IE" b="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D51168-4DEE-1B2F-7BB2-A3FD10032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1712" y="158223"/>
            <a:ext cx="2030688" cy="12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4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3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Get</a:t>
            </a:r>
            <a:r>
              <a:rPr lang="en-IE" dirty="0"/>
              <a:t>ters</a:t>
            </a:r>
            <a:endParaRPr lang="en-US" dirty="0"/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712206" y="3281289"/>
            <a:ext cx="5161991" cy="156966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IE" sz="2400" dirty="0">
                <a:latin typeface="Courier New" pitchFamily="49" charset="0"/>
                <a:cs typeface="Times" pitchFamily="-32" charset="0"/>
              </a:rPr>
              <a:t>public double </a:t>
            </a:r>
            <a:r>
              <a:rPr lang="en-IE" sz="2400" dirty="0" err="1">
                <a:latin typeface="Courier New" pitchFamily="49" charset="0"/>
                <a:cs typeface="Times" pitchFamily="-32" charset="0"/>
              </a:rPr>
              <a:t>getUnitCost</a:t>
            </a:r>
            <a:r>
              <a:rPr lang="en-IE" sz="2400" dirty="0">
                <a:latin typeface="Courier New" pitchFamily="49" charset="0"/>
                <a:cs typeface="Times" pitchFamily="-32" charset="0"/>
              </a:rPr>
              <a:t>()</a:t>
            </a:r>
          </a:p>
          <a:p>
            <a:r>
              <a:rPr lang="en-IE" sz="2400" dirty="0">
                <a:latin typeface="Courier New" pitchFamily="49" charset="0"/>
                <a:cs typeface="Times" pitchFamily="-32" charset="0"/>
              </a:rPr>
              <a:t>{</a:t>
            </a:r>
          </a:p>
          <a:p>
            <a:r>
              <a:rPr lang="en-IE" sz="2400" dirty="0">
                <a:latin typeface="Courier New" pitchFamily="49" charset="0"/>
                <a:cs typeface="Times" pitchFamily="-32" charset="0"/>
              </a:rPr>
              <a:t>     return </a:t>
            </a:r>
            <a:r>
              <a:rPr lang="en-IE" sz="2400" dirty="0" err="1">
                <a:latin typeface="Courier New" pitchFamily="49" charset="0"/>
                <a:cs typeface="Times" pitchFamily="-32" charset="0"/>
              </a:rPr>
              <a:t>unitCost</a:t>
            </a:r>
            <a:r>
              <a:rPr lang="en-IE" sz="2400" dirty="0">
                <a:latin typeface="Courier New" pitchFamily="49" charset="0"/>
                <a:cs typeface="Times" pitchFamily="-32" charset="0"/>
              </a:rPr>
              <a:t>;</a:t>
            </a:r>
          </a:p>
          <a:p>
            <a:r>
              <a:rPr lang="en-IE" sz="2400" dirty="0">
                <a:latin typeface="Courier New" pitchFamily="49" charset="0"/>
                <a:cs typeface="Times" pitchFamily="-32" charset="0"/>
              </a:rPr>
              <a:t>}</a:t>
            </a: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4337051" y="2168526"/>
            <a:ext cx="15716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return type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6419851" y="2489200"/>
            <a:ext cx="165647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method name</a:t>
            </a:r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7918450" y="3032126"/>
            <a:ext cx="20637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parameter list (empty)</a:t>
            </a:r>
          </a:p>
        </p:txBody>
      </p:sp>
      <p:sp>
        <p:nvSpPr>
          <p:cNvPr id="17416" name="Oval 8"/>
          <p:cNvSpPr>
            <a:spLocks noChangeArrowheads="1"/>
          </p:cNvSpPr>
          <p:nvPr/>
        </p:nvSpPr>
        <p:spPr bwMode="auto">
          <a:xfrm>
            <a:off x="2728933" y="3752777"/>
            <a:ext cx="365125" cy="1098173"/>
          </a:xfrm>
          <a:prstGeom prst="ellipse">
            <a:avLst/>
          </a:prstGeom>
          <a:noFill/>
          <a:ln w="28575">
            <a:solidFill>
              <a:srgbClr val="A571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3117850" y="5089526"/>
            <a:ext cx="45529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start and end of method body (block)</a:t>
            </a:r>
          </a:p>
        </p:txBody>
      </p:sp>
      <p:sp>
        <p:nvSpPr>
          <p:cNvPr id="17418" name="Text Box 10"/>
          <p:cNvSpPr txBox="1">
            <a:spLocks noChangeArrowheads="1"/>
          </p:cNvSpPr>
          <p:nvPr/>
        </p:nvSpPr>
        <p:spPr bwMode="auto">
          <a:xfrm>
            <a:off x="8076330" y="4067145"/>
            <a:ext cx="20006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return statement</a:t>
            </a:r>
          </a:p>
        </p:txBody>
      </p:sp>
      <p:sp>
        <p:nvSpPr>
          <p:cNvPr id="17419" name="Line 11"/>
          <p:cNvSpPr>
            <a:spLocks noChangeShapeType="1"/>
          </p:cNvSpPr>
          <p:nvPr/>
        </p:nvSpPr>
        <p:spPr bwMode="auto">
          <a:xfrm flipH="1" flipV="1">
            <a:off x="2889250" y="48768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7420" name="Line 12"/>
          <p:cNvSpPr>
            <a:spLocks noChangeShapeType="1"/>
          </p:cNvSpPr>
          <p:nvPr/>
        </p:nvSpPr>
        <p:spPr bwMode="auto">
          <a:xfrm flipH="1">
            <a:off x="4565650" y="2574925"/>
            <a:ext cx="381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7421" name="Line 13"/>
          <p:cNvSpPr>
            <a:spLocks noChangeShapeType="1"/>
          </p:cNvSpPr>
          <p:nvPr/>
        </p:nvSpPr>
        <p:spPr bwMode="auto">
          <a:xfrm flipH="1">
            <a:off x="6394450" y="2819400"/>
            <a:ext cx="558800" cy="46188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7422" name="Line 14"/>
          <p:cNvSpPr>
            <a:spLocks noChangeShapeType="1"/>
          </p:cNvSpPr>
          <p:nvPr/>
        </p:nvSpPr>
        <p:spPr bwMode="auto">
          <a:xfrm flipH="1">
            <a:off x="7461250" y="3306846"/>
            <a:ext cx="479425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7423" name="Line 15"/>
          <p:cNvSpPr>
            <a:spLocks noChangeShapeType="1"/>
          </p:cNvSpPr>
          <p:nvPr/>
        </p:nvSpPr>
        <p:spPr bwMode="auto">
          <a:xfrm flipH="1">
            <a:off x="6699250" y="4251334"/>
            <a:ext cx="1377080" cy="158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7424" name="Text Box 16"/>
          <p:cNvSpPr txBox="1">
            <a:spLocks noChangeArrowheads="1"/>
          </p:cNvSpPr>
          <p:nvPr/>
        </p:nvSpPr>
        <p:spPr bwMode="auto">
          <a:xfrm>
            <a:off x="1938339" y="2489200"/>
            <a:ext cx="198163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visibility modifier</a:t>
            </a:r>
          </a:p>
        </p:txBody>
      </p:sp>
      <p:sp>
        <p:nvSpPr>
          <p:cNvPr id="17425" name="Line 17"/>
          <p:cNvSpPr>
            <a:spLocks noChangeShapeType="1"/>
          </p:cNvSpPr>
          <p:nvPr/>
        </p:nvSpPr>
        <p:spPr bwMode="auto">
          <a:xfrm>
            <a:off x="2584451" y="2895601"/>
            <a:ext cx="762000" cy="365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7" name="Oval 8"/>
          <p:cNvSpPr>
            <a:spLocks noChangeArrowheads="1"/>
          </p:cNvSpPr>
          <p:nvPr/>
        </p:nvSpPr>
        <p:spPr bwMode="auto">
          <a:xfrm>
            <a:off x="2610472" y="3255438"/>
            <a:ext cx="1421779" cy="478362"/>
          </a:xfrm>
          <a:prstGeom prst="ellipse">
            <a:avLst/>
          </a:prstGeom>
          <a:noFill/>
          <a:ln w="28575">
            <a:solidFill>
              <a:srgbClr val="A571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E55437-F4F5-EDC4-E6DC-A6EC80B50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1712" y="125800"/>
            <a:ext cx="2030688" cy="12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71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/>
      <p:bldP spid="17414" grpId="0"/>
      <p:bldP spid="17415" grpId="0"/>
      <p:bldP spid="17416" grpId="0" animBg="1"/>
      <p:bldP spid="17417" grpId="0"/>
      <p:bldP spid="17418" grpId="0"/>
      <p:bldP spid="17419" grpId="0" animBg="1"/>
      <p:bldP spid="17420" grpId="0" animBg="1"/>
      <p:bldP spid="17421" grpId="0" animBg="1"/>
      <p:bldP spid="17422" grpId="0" animBg="1"/>
      <p:bldP spid="17423" grpId="0" animBg="1"/>
      <p:bldP spid="17424" grpId="0"/>
      <p:bldP spid="17425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DE37AA9-7A9B-424B-AD0E-D526265BB0EB}"/>
              </a:ext>
            </a:extLst>
          </p:cNvPr>
          <p:cNvSpPr txBox="1">
            <a:spLocks/>
          </p:cNvSpPr>
          <p:nvPr/>
        </p:nvSpPr>
        <p:spPr>
          <a:xfrm>
            <a:off x="2133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3600" dirty="0"/>
              <a:t>A Product Class…</a:t>
            </a:r>
            <a:r>
              <a:rPr lang="en-IE" sz="3600" b="1" dirty="0"/>
              <a:t>get</a:t>
            </a:r>
            <a:r>
              <a:rPr lang="en-IE" sz="3600" dirty="0"/>
              <a:t>ters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7C53D8-9834-42FB-A8C5-3200BC2C9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1" y="1905001"/>
            <a:ext cx="6250429" cy="424731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double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altLang="en-US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altLang="en-US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EE08C7-F9A0-2C6A-2BAE-FD1842978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0" y="92075"/>
            <a:ext cx="2030688" cy="12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842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C0B1D9-CFD8-26EE-7366-3E073B795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216" y="1193800"/>
            <a:ext cx="4203700" cy="4470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Product Class…</a:t>
            </a:r>
            <a:r>
              <a:rPr lang="en-IE" sz="3600" b="1" dirty="0"/>
              <a:t>set</a:t>
            </a:r>
            <a:r>
              <a:rPr lang="en-IE" sz="3600" dirty="0"/>
              <a:t>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733801"/>
            <a:ext cx="2209800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set</a:t>
            </a:r>
            <a:r>
              <a:rPr lang="en-IE" sz="2400" dirty="0"/>
              <a:t>ters 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68E9ECC-112E-40DC-84EA-6A19D160A5D2}"/>
              </a:ext>
            </a:extLst>
          </p:cNvPr>
          <p:cNvSpPr/>
          <p:nvPr/>
        </p:nvSpPr>
        <p:spPr>
          <a:xfrm>
            <a:off x="5888216" y="4313621"/>
            <a:ext cx="4093984" cy="86797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1" name="Straight Arrow Connector 10"/>
          <p:cNvCxnSpPr>
            <a:cxnSpLocks/>
            <a:stCxn id="5" idx="3"/>
          </p:cNvCxnSpPr>
          <p:nvPr/>
        </p:nvCxnSpPr>
        <p:spPr>
          <a:xfrm>
            <a:off x="4038600" y="3964634"/>
            <a:ext cx="1849616" cy="60736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96A31138-738C-7F77-6BA0-60D57B24E5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712" y="154104"/>
            <a:ext cx="2030688" cy="12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362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Setters</a:t>
            </a:r>
            <a:endParaRPr lang="en-US" dirty="0"/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2590801" y="3203575"/>
            <a:ext cx="7558479" cy="1569660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400" dirty="0">
                <a:latin typeface="Courier New" pitchFamily="49" charset="0"/>
                <a:cs typeface="Times" pitchFamily="-32" charset="0"/>
              </a:rPr>
              <a:t>public void </a:t>
            </a:r>
            <a:r>
              <a:rPr lang="en-US" sz="2400" dirty="0" err="1">
                <a:latin typeface="Courier New" pitchFamily="49" charset="0"/>
                <a:cs typeface="Times" pitchFamily="-32" charset="0"/>
              </a:rPr>
              <a:t>setUnitCost</a:t>
            </a:r>
            <a:r>
              <a:rPr lang="en-US" sz="2400" dirty="0">
                <a:latin typeface="Courier New" pitchFamily="49" charset="0"/>
                <a:cs typeface="Times" pitchFamily="-32" charset="0"/>
              </a:rPr>
              <a:t>(double </a:t>
            </a:r>
            <a:r>
              <a:rPr lang="en-US" sz="2400" dirty="0" err="1">
                <a:latin typeface="Courier New" pitchFamily="49" charset="0"/>
                <a:cs typeface="Times" pitchFamily="-32" charset="0"/>
              </a:rPr>
              <a:t>unitCost</a:t>
            </a:r>
            <a:r>
              <a:rPr lang="en-US" sz="2400" dirty="0">
                <a:latin typeface="Courier New" pitchFamily="49" charset="0"/>
                <a:cs typeface="Times" pitchFamily="-32" charset="0"/>
              </a:rPr>
              <a:t>)</a:t>
            </a:r>
          </a:p>
          <a:p>
            <a:pPr algn="l" eaLnBrk="1" hangingPunct="1"/>
            <a:r>
              <a:rPr lang="en-US" sz="2400" dirty="0">
                <a:latin typeface="Courier New" pitchFamily="49" charset="0"/>
                <a:cs typeface="Times" pitchFamily="-32" charset="0"/>
              </a:rPr>
              <a:t>{</a:t>
            </a:r>
          </a:p>
          <a:p>
            <a:pPr algn="l" eaLnBrk="1" hangingPunct="1"/>
            <a:r>
              <a:rPr lang="en-US" sz="2400" dirty="0">
                <a:latin typeface="Courier New" pitchFamily="49" charset="0"/>
                <a:cs typeface="Times" pitchFamily="-32" charset="0"/>
              </a:rPr>
              <a:t>    </a:t>
            </a:r>
            <a:r>
              <a:rPr lang="en-US" sz="2400" dirty="0" err="1">
                <a:latin typeface="Courier New" pitchFamily="49" charset="0"/>
                <a:cs typeface="Times" pitchFamily="-32" charset="0"/>
              </a:rPr>
              <a:t>this.unitCost</a:t>
            </a:r>
            <a:r>
              <a:rPr lang="en-US" sz="2400" dirty="0">
                <a:latin typeface="Courier New" pitchFamily="49" charset="0"/>
                <a:cs typeface="Times" pitchFamily="-32" charset="0"/>
              </a:rPr>
              <a:t> = </a:t>
            </a:r>
            <a:r>
              <a:rPr lang="en-US" sz="2400" dirty="0" err="1">
                <a:latin typeface="Courier New" pitchFamily="49" charset="0"/>
                <a:cs typeface="Times" pitchFamily="-32" charset="0"/>
              </a:rPr>
              <a:t>unitCost</a:t>
            </a:r>
            <a:r>
              <a:rPr lang="en-US" sz="2400" dirty="0">
                <a:latin typeface="Courier New" pitchFamily="49" charset="0"/>
                <a:cs typeface="Times" pitchFamily="-32" charset="0"/>
              </a:rPr>
              <a:t>;</a:t>
            </a:r>
          </a:p>
          <a:p>
            <a:pPr algn="l" eaLnBrk="1" hangingPunct="1"/>
            <a:r>
              <a:rPr lang="en-US" sz="2400" dirty="0">
                <a:latin typeface="Courier New" pitchFamily="49" charset="0"/>
                <a:cs typeface="Times" pitchFamily="-32" charset="0"/>
              </a:rPr>
              <a:t>}</a:t>
            </a:r>
            <a:r>
              <a:rPr lang="en-US" sz="2400" dirty="0">
                <a:latin typeface="Courier New" pitchFamily="49" charset="0"/>
              </a:rPr>
              <a:t> 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4038601" y="1752600"/>
            <a:ext cx="136614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return type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5489576" y="2286000"/>
            <a:ext cx="165647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method name</a:t>
            </a: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8458200" y="2286000"/>
            <a:ext cx="128458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parameter</a:t>
            </a:r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 flipH="1">
            <a:off x="4268787" y="2133600"/>
            <a:ext cx="455613" cy="1135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 flipH="1">
            <a:off x="5943600" y="2667000"/>
            <a:ext cx="457200" cy="601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65" name="Line 9"/>
          <p:cNvSpPr>
            <a:spLocks noChangeShapeType="1"/>
          </p:cNvSpPr>
          <p:nvPr/>
        </p:nvSpPr>
        <p:spPr bwMode="auto">
          <a:xfrm flipH="1">
            <a:off x="8890000" y="2686970"/>
            <a:ext cx="266700" cy="49914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1828801" y="2270125"/>
            <a:ext cx="198163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visibility modifier</a:t>
            </a:r>
          </a:p>
        </p:txBody>
      </p:sp>
      <p:sp>
        <p:nvSpPr>
          <p:cNvPr id="19467" name="Line 11"/>
          <p:cNvSpPr>
            <a:spLocks noChangeShapeType="1"/>
          </p:cNvSpPr>
          <p:nvPr/>
        </p:nvSpPr>
        <p:spPr bwMode="auto">
          <a:xfrm>
            <a:off x="2971801" y="2667001"/>
            <a:ext cx="131763" cy="519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5576162" y="5029200"/>
            <a:ext cx="143423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assignment </a:t>
            </a:r>
          </a:p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statement</a:t>
            </a:r>
          </a:p>
        </p:txBody>
      </p:sp>
      <p:sp>
        <p:nvSpPr>
          <p:cNvPr id="19469" name="Line 13"/>
          <p:cNvSpPr>
            <a:spLocks noChangeShapeType="1"/>
          </p:cNvSpPr>
          <p:nvPr/>
        </p:nvSpPr>
        <p:spPr bwMode="auto">
          <a:xfrm flipH="1" flipV="1">
            <a:off x="6019800" y="4239835"/>
            <a:ext cx="0" cy="7734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70" name="Text Box 14"/>
          <p:cNvSpPr txBox="1">
            <a:spLocks noChangeArrowheads="1"/>
          </p:cNvSpPr>
          <p:nvPr/>
        </p:nvSpPr>
        <p:spPr bwMode="auto">
          <a:xfrm>
            <a:off x="2991854" y="5089525"/>
            <a:ext cx="229235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field being mutated</a:t>
            </a:r>
          </a:p>
        </p:txBody>
      </p:sp>
      <p:sp>
        <p:nvSpPr>
          <p:cNvPr id="19471" name="Line 15"/>
          <p:cNvSpPr>
            <a:spLocks noChangeShapeType="1"/>
          </p:cNvSpPr>
          <p:nvPr/>
        </p:nvSpPr>
        <p:spPr bwMode="auto">
          <a:xfrm flipV="1">
            <a:off x="4268786" y="4343400"/>
            <a:ext cx="379414" cy="669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7543801" y="5083314"/>
            <a:ext cx="177555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Value passed </a:t>
            </a:r>
          </a:p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as a parameter</a:t>
            </a:r>
          </a:p>
        </p:txBody>
      </p:sp>
      <p:sp>
        <p:nvSpPr>
          <p:cNvPr id="17" name="Line 13"/>
          <p:cNvSpPr>
            <a:spLocks noChangeShapeType="1"/>
          </p:cNvSpPr>
          <p:nvPr/>
        </p:nvSpPr>
        <p:spPr bwMode="auto">
          <a:xfrm flipH="1" flipV="1">
            <a:off x="7010401" y="4343399"/>
            <a:ext cx="977039" cy="7240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CC8492-FB9F-083F-717A-EFA67B340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4939" y="162879"/>
            <a:ext cx="2030688" cy="12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68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  <p:bldP spid="19461" grpId="0"/>
      <p:bldP spid="19462" grpId="0"/>
      <p:bldP spid="19463" grpId="0" animBg="1"/>
      <p:bldP spid="19464" grpId="0" animBg="1"/>
      <p:bldP spid="19465" grpId="0" animBg="1"/>
      <p:bldP spid="19466" grpId="0"/>
      <p:bldP spid="19467" grpId="0" animBg="1"/>
      <p:bldP spid="19468" grpId="0"/>
      <p:bldP spid="19469" grpId="0" animBg="1"/>
      <p:bldP spid="19470" grpId="0"/>
      <p:bldP spid="19471" grpId="0" animBg="1"/>
      <p:bldP spid="16" grpId="0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DE37AA9-7A9B-424B-AD0E-D526265BB0EB}"/>
              </a:ext>
            </a:extLst>
          </p:cNvPr>
          <p:cNvSpPr txBox="1">
            <a:spLocks/>
          </p:cNvSpPr>
          <p:nvPr/>
        </p:nvSpPr>
        <p:spPr>
          <a:xfrm>
            <a:off x="2133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3600" dirty="0"/>
              <a:t>A Product Class…setters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E5E4DE5-B8FA-423C-91A0-50537A339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1" y="2059632"/>
            <a:ext cx="8454559" cy="378565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(String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CF2520-8293-9D65-CE1E-F75124E8E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52400"/>
            <a:ext cx="2030688" cy="12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41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Getters/Setters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dirty="0"/>
              <a:t>For </a:t>
            </a:r>
            <a:r>
              <a:rPr lang="en-IE" dirty="0">
                <a:solidFill>
                  <a:srgbClr val="FF0000"/>
                </a:solidFill>
              </a:rPr>
              <a:t>each instance field </a:t>
            </a:r>
            <a:r>
              <a:rPr lang="en-IE" dirty="0"/>
              <a:t>in a class, you are normally asked to write: </a:t>
            </a:r>
          </a:p>
          <a:p>
            <a:pPr marL="0" indent="0">
              <a:buNone/>
            </a:pPr>
            <a:endParaRPr lang="en-IE" dirty="0"/>
          </a:p>
          <a:p>
            <a:pPr lvl="1"/>
            <a:r>
              <a:rPr lang="en-IE" dirty="0"/>
              <a:t>A </a:t>
            </a:r>
            <a:r>
              <a:rPr lang="en-IE" b="1" dirty="0"/>
              <a:t>get</a:t>
            </a:r>
            <a:r>
              <a:rPr lang="en-IE" dirty="0"/>
              <a:t>ter</a:t>
            </a:r>
          </a:p>
          <a:p>
            <a:pPr lvl="2"/>
            <a:r>
              <a:rPr lang="en-IE" dirty="0"/>
              <a:t>Return statement</a:t>
            </a:r>
          </a:p>
          <a:p>
            <a:pPr marL="457200" lvl="1" indent="0">
              <a:buNone/>
            </a:pPr>
            <a:endParaRPr lang="en-IE" dirty="0"/>
          </a:p>
          <a:p>
            <a:pPr lvl="1"/>
            <a:r>
              <a:rPr lang="en-IE" dirty="0"/>
              <a:t>A </a:t>
            </a:r>
            <a:r>
              <a:rPr lang="en-IE" b="1" dirty="0"/>
              <a:t>set</a:t>
            </a:r>
            <a:r>
              <a:rPr lang="en-IE" dirty="0"/>
              <a:t>ter</a:t>
            </a:r>
          </a:p>
          <a:p>
            <a:pPr lvl="2"/>
            <a:r>
              <a:rPr lang="en-IE" dirty="0"/>
              <a:t>Assignment statement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77439F-24C2-EA7A-A780-1EC5E0A70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0" y="199225"/>
            <a:ext cx="2030688" cy="12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621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893124-3B59-B812-AA45-7A4585004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3132" y="1066800"/>
            <a:ext cx="4203700" cy="4470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Product Class…</a:t>
            </a:r>
            <a:r>
              <a:rPr lang="en-IE" sz="3600" b="1" dirty="0"/>
              <a:t>toString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2770" y="2732545"/>
            <a:ext cx="3180230" cy="206210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toString</a:t>
            </a:r>
            <a:r>
              <a:rPr lang="en-IE" sz="2400" dirty="0"/>
              <a:t>():</a:t>
            </a:r>
          </a:p>
          <a:p>
            <a:endParaRPr lang="en-IE" sz="2400" dirty="0"/>
          </a:p>
          <a:p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Courier New" panose="02070309020205020404" pitchFamily="49" charset="0"/>
              </a:rPr>
              <a:t>Builds and returns a String containing a user-friendly representation of the object state.</a:t>
            </a:r>
            <a:r>
              <a:rPr lang="en-IE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68E9ECC-112E-40DC-84EA-6A19D160A5D2}"/>
              </a:ext>
            </a:extLst>
          </p:cNvPr>
          <p:cNvSpPr/>
          <p:nvPr/>
        </p:nvSpPr>
        <p:spPr>
          <a:xfrm flipV="1">
            <a:off x="5658975" y="5029200"/>
            <a:ext cx="3408826" cy="304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1" name="Straight Arrow Connector 10"/>
          <p:cNvCxnSpPr>
            <a:cxnSpLocks/>
            <a:stCxn id="5" idx="3"/>
          </p:cNvCxnSpPr>
          <p:nvPr/>
        </p:nvCxnSpPr>
        <p:spPr>
          <a:xfrm>
            <a:off x="4953001" y="3763596"/>
            <a:ext cx="705973" cy="134180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57F1920A-B5FC-D569-0344-BDDB504C4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4366" y="162155"/>
            <a:ext cx="2030688" cy="12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154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F48A2-96B8-4CA3-887F-E691E453C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 Product Class…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18E08B-06D1-49BE-84AD-151CD8A42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600201"/>
            <a:ext cx="8382000" cy="243143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sz="1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"Product description: "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b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altLang="en-US" sz="1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product code: "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b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altLang="en-US" sz="1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unit cost: "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b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altLang="en-US" sz="1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currently in product line: "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altLang="en-US" sz="4000" dirty="0"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6C4941-38AF-4783-A313-6DE763E77B15}"/>
              </a:ext>
            </a:extLst>
          </p:cNvPr>
          <p:cNvSpPr/>
          <p:nvPr/>
        </p:nvSpPr>
        <p:spPr>
          <a:xfrm>
            <a:off x="1063438" y="5410200"/>
            <a:ext cx="10065124" cy="92333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IE" dirty="0"/>
          </a:p>
          <a:p>
            <a:r>
              <a:rPr lang="en-IE" dirty="0"/>
              <a:t>Product description: 24 Inch TV, product code: 23432, unit cost: 399.99, currently in product line: true</a:t>
            </a:r>
          </a:p>
          <a:p>
            <a:endParaRPr lang="en-IE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B18F78A-58CB-46D0-8CC7-40579D9A69E5}"/>
              </a:ext>
            </a:extLst>
          </p:cNvPr>
          <p:cNvSpPr/>
          <p:nvPr/>
        </p:nvSpPr>
        <p:spPr>
          <a:xfrm>
            <a:off x="3276600" y="4876799"/>
            <a:ext cx="5943600" cy="381000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000" dirty="0"/>
              <a:t>Sample Console Output if we printed a Product Object: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E1B6AF-3B12-8536-0216-220DF1E9C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2880" y="145831"/>
            <a:ext cx="2030688" cy="12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778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4C336-986E-C25B-9667-2885E0F71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V2.1 – Sample I/O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55049-73EB-7BFD-683D-D264412F9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Entering a product: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8065A1-D146-6893-C4DA-9DB088D87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200" y="0"/>
            <a:ext cx="1676400" cy="14824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72485D-815E-E4FC-7DF5-69B32BCBD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100" y="2851150"/>
            <a:ext cx="60198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642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CEFFAA-2191-F261-0BF1-1319A5E77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35" y="1911569"/>
            <a:ext cx="7772400" cy="26527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5C84F9-115D-51CF-B322-0C17843D640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058400" y="-40672"/>
            <a:ext cx="1524000" cy="1524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V2.1 </a:t>
            </a:r>
            <a:endParaRPr lang="en-IE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9B3A45-6660-9DAE-0E23-CEF0A74906C4}"/>
              </a:ext>
            </a:extLst>
          </p:cNvPr>
          <p:cNvSpPr txBox="1"/>
          <p:nvPr/>
        </p:nvSpPr>
        <p:spPr>
          <a:xfrm>
            <a:off x="8358963" y="1980803"/>
            <a:ext cx="3733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Invites the user to enter the details of a product</a:t>
            </a:r>
          </a:p>
          <a:p>
            <a:endParaRPr lang="en-US" dirty="0"/>
          </a:p>
          <a:p>
            <a:r>
              <a:rPr lang="en-US" dirty="0"/>
              <a:t>2. Prints the details about that product to the console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DDDA43-0AE9-B6B5-0B1E-E734DD19A787}"/>
              </a:ext>
            </a:extLst>
          </p:cNvPr>
          <p:cNvSpPr txBox="1"/>
          <p:nvPr/>
        </p:nvSpPr>
        <p:spPr>
          <a:xfrm>
            <a:off x="8383772" y="4040789"/>
            <a:ext cx="3276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Limitations</a:t>
            </a:r>
            <a:r>
              <a:rPr lang="en-US" dirty="0"/>
              <a:t>: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Currently no benefit from all the infrastructure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No extra checks on the data.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We could do more checking on the data coming in (from keyboard) in case there are obvious errors.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7FA90D-7273-74CA-70FB-D935AFE38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-36731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962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D076E1C-F20F-9E6C-856A-6C95F5C4E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914" y="2487613"/>
            <a:ext cx="6019800" cy="11557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7EE630-5076-4E08-535E-C9B8299E8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No Validation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A0AC77A-8A63-D2A4-98E3-69521C716BD0}"/>
              </a:ext>
            </a:extLst>
          </p:cNvPr>
          <p:cNvSpPr txBox="1">
            <a:spLocks/>
          </p:cNvSpPr>
          <p:nvPr/>
        </p:nvSpPr>
        <p:spPr>
          <a:xfrm>
            <a:off x="609600" y="1740693"/>
            <a:ext cx="5486400" cy="391636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purpose of this app is to read in a product, and later perform calculations on it, adding it to collections, updating it etc. </a:t>
            </a:r>
          </a:p>
          <a:p>
            <a:endParaRPr lang="en-US" dirty="0"/>
          </a:p>
          <a:p>
            <a:r>
              <a:rPr lang="en-US" dirty="0"/>
              <a:t>You could, for either the add or the update, enter preposterous values for any of the fields and at the moment we simply accept them</a:t>
            </a:r>
          </a:p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44D3A3B-8C4C-75CB-4802-E351F5A20935}"/>
              </a:ext>
            </a:extLst>
          </p:cNvPr>
          <p:cNvSpPr/>
          <p:nvPr/>
        </p:nvSpPr>
        <p:spPr>
          <a:xfrm>
            <a:off x="6196914" y="2487612"/>
            <a:ext cx="5690286" cy="1155699"/>
          </a:xfrm>
          <a:prstGeom prst="round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707046-A513-C145-B593-5223E96D3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-36731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488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9EC4608-81A0-AB82-ADD1-3DDDC49B9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417982"/>
            <a:ext cx="5575300" cy="13335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66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7EE630-5076-4E08-535E-C9B8299E8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No Validation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A0AC77A-8A63-D2A4-98E3-69521C716BD0}"/>
              </a:ext>
            </a:extLst>
          </p:cNvPr>
          <p:cNvSpPr txBox="1">
            <a:spLocks/>
          </p:cNvSpPr>
          <p:nvPr/>
        </p:nvSpPr>
        <p:spPr>
          <a:xfrm>
            <a:off x="609600" y="1740693"/>
            <a:ext cx="5486400" cy="39163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Clearly we need to put some restrictions in place for each field e.g. :</a:t>
            </a:r>
          </a:p>
          <a:p>
            <a:pPr lvl="1"/>
            <a:r>
              <a:rPr lang="en-US" dirty="0"/>
              <a:t>min and max permitted values</a:t>
            </a:r>
          </a:p>
          <a:p>
            <a:pPr lvl="1"/>
            <a:r>
              <a:rPr lang="en-US" dirty="0"/>
              <a:t>default value if the min and max are breached</a:t>
            </a:r>
          </a:p>
          <a:p>
            <a:pPr lvl="1"/>
            <a:r>
              <a:rPr lang="en-US" dirty="0"/>
              <a:t>Strings have a max length</a:t>
            </a:r>
          </a:p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44D3A3B-8C4C-75CB-4802-E351F5A20935}"/>
              </a:ext>
            </a:extLst>
          </p:cNvPr>
          <p:cNvSpPr/>
          <p:nvPr/>
        </p:nvSpPr>
        <p:spPr>
          <a:xfrm>
            <a:off x="6324600" y="2487612"/>
            <a:ext cx="5257800" cy="1263869"/>
          </a:xfrm>
          <a:prstGeom prst="round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E4AFD7-8B21-206D-2F14-E3E85C376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-36731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1550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E21A5-EB6B-5380-682D-7CAF906A0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Introducing Validation – Shop 2.2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E867D8B-52C6-CBAB-2E67-80199E9224D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t="9563" r="-2" b="6384"/>
          <a:stretch>
            <a:fillRect/>
          </a:stretch>
        </p:blipFill>
        <p:spPr>
          <a:xfrm>
            <a:off x="609600" y="1600201"/>
            <a:ext cx="5384800" cy="4525963"/>
          </a:xfrm>
          <a:prstGeom prst="rect">
            <a:avLst/>
          </a:prstGeom>
          <a:noFill/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A34784D-08EB-0B52-F495-7696BD8D5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800" y="3048000"/>
            <a:ext cx="5384800" cy="1143001"/>
          </a:xfrm>
        </p:spPr>
        <p:txBody>
          <a:bodyPr/>
          <a:lstStyle/>
          <a:p>
            <a:r>
              <a:rPr lang="en-US" dirty="0"/>
              <a:t>Implement validations for fields in Products</a:t>
            </a:r>
          </a:p>
        </p:txBody>
      </p:sp>
    </p:spTree>
    <p:extLst>
      <p:ext uri="{BB962C8B-B14F-4D97-AF65-F5344CB8AC3E}">
        <p14:creationId xmlns:p14="http://schemas.microsoft.com/office/powerpoint/2010/main" val="319434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8747D-D827-C8FF-D045-8C748248E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Rules for fields in the Product class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5438B3F-FB56-705A-C8E7-560082B8ED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71526"/>
              </p:ext>
            </p:extLst>
          </p:nvPr>
        </p:nvGraphicFramePr>
        <p:xfrm>
          <a:off x="466191" y="1600200"/>
          <a:ext cx="11259617" cy="5196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7609">
                  <a:extLst>
                    <a:ext uri="{9D8B030D-6E8A-4147-A177-3AD203B41FA5}">
                      <a16:colId xmlns:a16="http://schemas.microsoft.com/office/drawing/2014/main" val="22399125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57837119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644060556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4192201958"/>
                    </a:ext>
                  </a:extLst>
                </a:gridCol>
                <a:gridCol w="1972208">
                  <a:extLst>
                    <a:ext uri="{9D8B030D-6E8A-4147-A177-3AD203B41FA5}">
                      <a16:colId xmlns:a16="http://schemas.microsoft.com/office/drawing/2014/main" val="6865812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Field Name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Field type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Rules for valid values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Default Value 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Note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124558"/>
                  </a:ext>
                </a:extLst>
              </a:tr>
              <a:tr h="824633">
                <a:tc>
                  <a:txBody>
                    <a:bodyPr/>
                    <a:lstStyle/>
                    <a:p>
                      <a:r>
                        <a:rPr lang="en-US" sz="2400" baseline="0" dirty="0" err="1"/>
                        <a:t>productName</a:t>
                      </a:r>
                      <a:endParaRPr lang="en-US" sz="2400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Length of string &lt;= 20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 constructor, if the </a:t>
                      </a:r>
                      <a:r>
                        <a:rPr lang="en-US" sz="1800" dirty="0" err="1"/>
                        <a:t>productName</a:t>
                      </a:r>
                      <a:r>
                        <a:rPr lang="en-US" sz="1800" dirty="0"/>
                        <a:t> is longer than 20 characters, the string should be truncated to 20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This is an outlier – for other types the default is not at all related to the invalid input.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355354"/>
                  </a:ext>
                </a:extLst>
              </a:tr>
              <a:tr h="824633">
                <a:tc>
                  <a:txBody>
                    <a:bodyPr/>
                    <a:lstStyle/>
                    <a:p>
                      <a:r>
                        <a:rPr lang="en-US" sz="2400" baseline="0" dirty="0" err="1"/>
                        <a:t>productCode</a:t>
                      </a:r>
                      <a:endParaRPr lang="en-US" sz="2400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Valid values are between 1000 and 9999 (inclusive)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9999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This is a nice way of ensuring 4 digits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7952788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r>
                        <a:rPr lang="en-US" sz="2400" baseline="0" dirty="0" err="1"/>
                        <a:t>unitCost</a:t>
                      </a:r>
                      <a:endParaRPr lang="en-US" sz="2400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Non-negative</a:t>
                      </a:r>
                      <a:r>
                        <a:rPr lang="en-US" sz="2800" dirty="0"/>
                        <a:t> 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(&gt;=0)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9365830"/>
                  </a:ext>
                </a:extLst>
              </a:tr>
              <a:tr h="824633">
                <a:tc>
                  <a:txBody>
                    <a:bodyPr/>
                    <a:lstStyle/>
                    <a:p>
                      <a:r>
                        <a:rPr lang="en-US" sz="2400" baseline="0" dirty="0" err="1"/>
                        <a:t>inCurrentProductionLine</a:t>
                      </a:r>
                      <a:endParaRPr lang="en-US" sz="2400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aseline="0" dirty="0" err="1"/>
                        <a:t>boolean</a:t>
                      </a:r>
                      <a:endParaRPr lang="en-US" sz="2400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validation required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You should never need validation on Booleans.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320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541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34F26A-FAC8-A19A-6B8D-46A179DC4F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Implementing Validation Rules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3ABB44-AA65-BD77-FAFA-CE617FDB8B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Default Values</a:t>
            </a:r>
          </a:p>
        </p:txBody>
      </p:sp>
    </p:spTree>
    <p:extLst>
      <p:ext uri="{BB962C8B-B14F-4D97-AF65-F5344CB8AC3E}">
        <p14:creationId xmlns:p14="http://schemas.microsoft.com/office/powerpoint/2010/main" val="23097878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3D4BE0-C069-AD49-807E-08ED571EA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02786"/>
            <a:ext cx="4940300" cy="1536700"/>
          </a:xfrm>
          <a:prstGeom prst="rect">
            <a:avLst/>
          </a:prstGeom>
          <a:effectLst>
            <a:outerShdw blurRad="511128" dist="50800" dir="5400000" algn="ctr" rotWithShape="0">
              <a:srgbClr val="000000">
                <a:alpha val="54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3B0641-A2AE-33C0-D3B7-069C781F8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Rules – implementing default values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217F30EB-038F-F45B-7C9A-A4073CB08721}"/>
              </a:ext>
            </a:extLst>
          </p:cNvPr>
          <p:cNvSpPr/>
          <p:nvPr/>
        </p:nvSpPr>
        <p:spPr>
          <a:xfrm>
            <a:off x="4543425" y="4816476"/>
            <a:ext cx="2057400" cy="914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becomes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6F48DC-FC13-B26B-D935-1D11848AB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473" y="4502786"/>
            <a:ext cx="5422900" cy="1612900"/>
          </a:xfrm>
          <a:prstGeom prst="rect">
            <a:avLst/>
          </a:prstGeom>
          <a:effectLst>
            <a:outerShdw blurRad="511128" dist="50800" dir="5400000" algn="ctr" rotWithShape="0">
              <a:srgbClr val="000000">
                <a:alpha val="54000"/>
              </a:srgbClr>
            </a:outerShdw>
          </a:effectLst>
        </p:spPr>
      </p:pic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D5258C46-F675-067B-3DA6-AC6198F5EC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3730283"/>
              </p:ext>
            </p:extLst>
          </p:nvPr>
        </p:nvGraphicFramePr>
        <p:xfrm>
          <a:off x="1600200" y="1351292"/>
          <a:ext cx="8212026" cy="3129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59026">
                  <a:extLst>
                    <a:ext uri="{9D8B030D-6E8A-4147-A177-3AD203B41FA5}">
                      <a16:colId xmlns:a16="http://schemas.microsoft.com/office/drawing/2014/main" val="223991253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4192201958"/>
                    </a:ext>
                  </a:extLst>
                </a:gridCol>
              </a:tblGrid>
              <a:tr h="436649"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Field Name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Default Value 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124558"/>
                  </a:ext>
                </a:extLst>
              </a:tr>
              <a:tr h="694911">
                <a:tc>
                  <a:txBody>
                    <a:bodyPr/>
                    <a:lstStyle/>
                    <a:p>
                      <a:r>
                        <a:rPr lang="en-US" sz="2400" baseline="0" dirty="0" err="1"/>
                        <a:t>productName</a:t>
                      </a:r>
                      <a:endParaRPr lang="en-US" sz="2400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 constructor, if the </a:t>
                      </a:r>
                      <a:r>
                        <a:rPr lang="en-US" sz="1800" dirty="0" err="1"/>
                        <a:t>productName</a:t>
                      </a:r>
                      <a:r>
                        <a:rPr lang="en-US" sz="1800" dirty="0"/>
                        <a:t> is longer than 20 characters, the string should be truncated to 20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355354"/>
                  </a:ext>
                </a:extLst>
              </a:tr>
              <a:tr h="694911">
                <a:tc>
                  <a:txBody>
                    <a:bodyPr/>
                    <a:lstStyle/>
                    <a:p>
                      <a:r>
                        <a:rPr lang="en-US" sz="2400" baseline="0" dirty="0" err="1"/>
                        <a:t>productCode</a:t>
                      </a:r>
                      <a:endParaRPr lang="en-US" sz="2400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9999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7952788"/>
                  </a:ext>
                </a:extLst>
              </a:tr>
              <a:tr h="526547">
                <a:tc>
                  <a:txBody>
                    <a:bodyPr/>
                    <a:lstStyle/>
                    <a:p>
                      <a:r>
                        <a:rPr lang="en-US" sz="2400" baseline="0" dirty="0" err="1"/>
                        <a:t>unitCost</a:t>
                      </a:r>
                      <a:endParaRPr lang="en-US" sz="2400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9365830"/>
                  </a:ext>
                </a:extLst>
              </a:tr>
              <a:tr h="694911">
                <a:tc>
                  <a:txBody>
                    <a:bodyPr/>
                    <a:lstStyle/>
                    <a:p>
                      <a:r>
                        <a:rPr lang="en-US" sz="2400" baseline="0" dirty="0" err="1"/>
                        <a:t>inCurrentProductionLine</a:t>
                      </a:r>
                      <a:endParaRPr lang="en-US" sz="2400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320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49516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34F26A-FAC8-A19A-6B8D-46A179DC4F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Implementing Validation Rules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3ABB44-AA65-BD77-FAFA-CE617FDB8B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productCode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0944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769CCC-1FC9-D896-1C55-5F53C1A20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3932233"/>
            <a:ext cx="4579740" cy="1066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3B0641-A2AE-33C0-D3B7-069C781F8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err="1"/>
              <a:t>productCode</a:t>
            </a:r>
            <a:r>
              <a:rPr lang="en-US" dirty="0"/>
              <a:t> – mutator changes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217F30EB-038F-F45B-7C9A-A4073CB08721}"/>
              </a:ext>
            </a:extLst>
          </p:cNvPr>
          <p:cNvSpPr/>
          <p:nvPr/>
        </p:nvSpPr>
        <p:spPr>
          <a:xfrm>
            <a:off x="4655940" y="4008433"/>
            <a:ext cx="2057400" cy="914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becomes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030AC60-8ECD-0043-0FA3-EB92E8684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506714"/>
              </p:ext>
            </p:extLst>
          </p:nvPr>
        </p:nvGraphicFramePr>
        <p:xfrm>
          <a:off x="609600" y="1600201"/>
          <a:ext cx="10972799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105601890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552944904"/>
                    </a:ext>
                  </a:extLst>
                </a:gridCol>
                <a:gridCol w="4190999">
                  <a:extLst>
                    <a:ext uri="{9D8B030D-6E8A-4147-A177-3AD203B41FA5}">
                      <a16:colId xmlns:a16="http://schemas.microsoft.com/office/drawing/2014/main" val="2874185333"/>
                    </a:ext>
                  </a:extLst>
                </a:gridCol>
              </a:tblGrid>
              <a:tr h="58131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Field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Min Value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Max Value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820240"/>
                  </a:ext>
                </a:extLst>
              </a:tr>
              <a:tr h="561689">
                <a:tc>
                  <a:txBody>
                    <a:bodyPr/>
                    <a:lstStyle/>
                    <a:p>
                      <a:r>
                        <a:rPr lang="en-US" sz="2800" dirty="0" err="1"/>
                        <a:t>productCode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Greater than or equal to  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Less than or equal to 9999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4214752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A790A295-D0AD-8552-D2D7-67480CC5D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400" y="3886200"/>
            <a:ext cx="5435600" cy="1511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2CB4EE-D1AC-D362-DA00-18B61F7BA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400" y="199225"/>
            <a:ext cx="2030688" cy="12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7334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B0641-A2AE-33C0-D3B7-069C781F8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productCode</a:t>
            </a:r>
            <a:r>
              <a:rPr lang="en-US" dirty="0"/>
              <a:t> – constructor changes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1F2C3B37-9A95-EA13-79F9-0067ECC84F06}"/>
              </a:ext>
            </a:extLst>
          </p:cNvPr>
          <p:cNvSpPr/>
          <p:nvPr/>
        </p:nvSpPr>
        <p:spPr>
          <a:xfrm>
            <a:off x="2209800" y="5322990"/>
            <a:ext cx="2057400" cy="914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becomes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0E0C24-CBD9-3F80-2596-15A53470F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5533832"/>
            <a:ext cx="7772400" cy="1231743"/>
          </a:xfrm>
          <a:prstGeom prst="rect">
            <a:avLst/>
          </a:prstGeom>
          <a:effectLst>
            <a:outerShdw blurRad="511128" dist="50800" dir="5400000" algn="ctr" rotWithShape="0">
              <a:srgbClr val="000000">
                <a:alpha val="54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B5CAFE-5217-B225-2E36-7AC931C4C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05" y="3382891"/>
            <a:ext cx="7772400" cy="1463817"/>
          </a:xfrm>
          <a:prstGeom prst="rect">
            <a:avLst/>
          </a:prstGeom>
          <a:effectLst>
            <a:outerShdw blurRad="511128" dist="50800" dir="5400000" algn="ctr" rotWithShape="0">
              <a:srgbClr val="000000">
                <a:alpha val="54000"/>
              </a:srgbClr>
            </a:outerShdw>
          </a:effec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4BA381F-76D8-0B53-B94C-50A3A92494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066860"/>
              </p:ext>
            </p:extLst>
          </p:nvPr>
        </p:nvGraphicFramePr>
        <p:xfrm>
          <a:off x="609600" y="1600201"/>
          <a:ext cx="10972800" cy="152619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105601890"/>
                    </a:ext>
                  </a:extLst>
                </a:gridCol>
                <a:gridCol w="2773834">
                  <a:extLst>
                    <a:ext uri="{9D8B030D-6E8A-4147-A177-3AD203B41FA5}">
                      <a16:colId xmlns:a16="http://schemas.microsoft.com/office/drawing/2014/main" val="552944904"/>
                    </a:ext>
                  </a:extLst>
                </a:gridCol>
                <a:gridCol w="3626966">
                  <a:extLst>
                    <a:ext uri="{9D8B030D-6E8A-4147-A177-3AD203B41FA5}">
                      <a16:colId xmlns:a16="http://schemas.microsoft.com/office/drawing/2014/main" val="287418533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00418506"/>
                    </a:ext>
                  </a:extLst>
                </a:gridCol>
              </a:tblGrid>
              <a:tr h="58131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Field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Min Value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Max Value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Default value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820240"/>
                  </a:ext>
                </a:extLst>
              </a:tr>
              <a:tr h="561689">
                <a:tc>
                  <a:txBody>
                    <a:bodyPr/>
                    <a:lstStyle/>
                    <a:p>
                      <a:r>
                        <a:rPr lang="en-US" sz="2800" dirty="0" err="1"/>
                        <a:t>productCode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Greater than or equal to  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Less than or equal to 9999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9999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421475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541B1463-0488-5BE1-C04B-948A2CBA02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296" y="145884"/>
            <a:ext cx="2030688" cy="12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8312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34F26A-FAC8-A19A-6B8D-46A179DC4F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Implementing Validation Rules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3ABB44-AA65-BD77-FAFA-CE617FDB8B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unitCost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1307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B0641-A2AE-33C0-D3B7-069C781F8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err="1"/>
              <a:t>unitCost</a:t>
            </a:r>
            <a:r>
              <a:rPr lang="en-US" dirty="0"/>
              <a:t> – mutator changes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217F30EB-038F-F45B-7C9A-A4073CB08721}"/>
              </a:ext>
            </a:extLst>
          </p:cNvPr>
          <p:cNvSpPr/>
          <p:nvPr/>
        </p:nvSpPr>
        <p:spPr>
          <a:xfrm>
            <a:off x="4655940" y="4008433"/>
            <a:ext cx="2057400" cy="914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becomes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030AC60-8ECD-0043-0FA3-EB92E8684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596451"/>
              </p:ext>
            </p:extLst>
          </p:nvPr>
        </p:nvGraphicFramePr>
        <p:xfrm>
          <a:off x="2819400" y="1750409"/>
          <a:ext cx="6781800" cy="122139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105601890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552944904"/>
                    </a:ext>
                  </a:extLst>
                </a:gridCol>
              </a:tblGrid>
              <a:tr h="58131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Field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Validation Rule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820240"/>
                  </a:ext>
                </a:extLst>
              </a:tr>
              <a:tr h="561689">
                <a:tc>
                  <a:txBody>
                    <a:bodyPr/>
                    <a:lstStyle/>
                    <a:p>
                      <a:r>
                        <a:rPr lang="en-US" sz="2800" dirty="0" err="1"/>
                        <a:t>unitCost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Non-negative</a:t>
                      </a:r>
                      <a:r>
                        <a:rPr lang="en-US" sz="3600" dirty="0"/>
                        <a:t> 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(&gt;=0)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421475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CF6D8670-C972-4634-DC54-5A5DF5405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500" y="3881433"/>
            <a:ext cx="4660900" cy="1168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AD3EFC-9CCC-56AE-CD68-F37F6868B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3" y="4008433"/>
            <a:ext cx="4495800" cy="1003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68AC91-80A3-85FC-9CD1-8409A144C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712" y="195106"/>
            <a:ext cx="2030688" cy="12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0865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B0641-A2AE-33C0-D3B7-069C781F8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unitCost</a:t>
            </a:r>
            <a:r>
              <a:rPr lang="en-US" dirty="0"/>
              <a:t> – constructor changes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1F2C3B37-9A95-EA13-79F9-0067ECC84F06}"/>
              </a:ext>
            </a:extLst>
          </p:cNvPr>
          <p:cNvSpPr/>
          <p:nvPr/>
        </p:nvSpPr>
        <p:spPr>
          <a:xfrm>
            <a:off x="2209800" y="5322990"/>
            <a:ext cx="2057400" cy="914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becomes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0E0C24-CBD9-3F80-2596-15A53470F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224348"/>
            <a:ext cx="7772400" cy="1231743"/>
          </a:xfrm>
          <a:prstGeom prst="rect">
            <a:avLst/>
          </a:prstGeom>
          <a:effectLst>
            <a:outerShdw blurRad="511128" dist="50800" dir="5400000" algn="ctr" rotWithShape="0">
              <a:srgbClr val="000000">
                <a:alpha val="54000"/>
              </a:srgbClr>
            </a:outerShdw>
          </a:effec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4BA381F-76D8-0B53-B94C-50A3A92494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207059"/>
              </p:ext>
            </p:extLst>
          </p:nvPr>
        </p:nvGraphicFramePr>
        <p:xfrm>
          <a:off x="609600" y="1600201"/>
          <a:ext cx="10972799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105601890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552944904"/>
                    </a:ext>
                  </a:extLst>
                </a:gridCol>
                <a:gridCol w="4190999">
                  <a:extLst>
                    <a:ext uri="{9D8B030D-6E8A-4147-A177-3AD203B41FA5}">
                      <a16:colId xmlns:a16="http://schemas.microsoft.com/office/drawing/2014/main" val="2874185333"/>
                    </a:ext>
                  </a:extLst>
                </a:gridCol>
              </a:tblGrid>
              <a:tr h="58131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Field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Validation Rule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Default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820240"/>
                  </a:ext>
                </a:extLst>
              </a:tr>
              <a:tr h="5616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unitCost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Greater than or equal to 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4214752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179A989-ED84-C33A-20F3-924553843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5105400"/>
            <a:ext cx="7772400" cy="1546746"/>
          </a:xfrm>
          <a:prstGeom prst="rect">
            <a:avLst/>
          </a:prstGeom>
          <a:effectLst>
            <a:outerShdw blurRad="511128" dist="50800" dir="5400000" algn="ctr" rotWithShape="0">
              <a:srgbClr val="000000">
                <a:alpha val="54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8197480-DEF5-B65E-52F8-0232DED1D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7592" y="199225"/>
            <a:ext cx="2030688" cy="12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8958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34F26A-FAC8-A19A-6B8D-46A179DC4F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Implementing Validation Rules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3ABB44-AA65-BD77-FAFA-CE617FDB8B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productName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8521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C409A-6F0A-AF9E-0C6B-738794DD7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validation with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90619-B6D1-8509-F4B0-DEE4BCE31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Strings use a different rule for default values when the validation rule is based on length of string.  </a:t>
            </a:r>
          </a:p>
          <a:p>
            <a:endParaRPr lang="en-US" dirty="0"/>
          </a:p>
          <a:p>
            <a:r>
              <a:rPr lang="en-US" dirty="0"/>
              <a:t>Numbers, chars, etc. use a fixed default so we can use setters in the constructor (if the values are invalid, the default values remain)</a:t>
            </a:r>
          </a:p>
          <a:p>
            <a:endParaRPr lang="en-US" dirty="0"/>
          </a:p>
          <a:p>
            <a:r>
              <a:rPr lang="en-US" dirty="0"/>
              <a:t>If the String value we are checking is invalid, then instead of staying at a fixed default value, we (usually) truncate the input String to the correct length</a:t>
            </a:r>
          </a:p>
        </p:txBody>
      </p:sp>
    </p:spTree>
    <p:extLst>
      <p:ext uri="{BB962C8B-B14F-4D97-AF65-F5344CB8AC3E}">
        <p14:creationId xmlns:p14="http://schemas.microsoft.com/office/powerpoint/2010/main" val="2507967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B0641-A2AE-33C0-D3B7-069C781F8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err="1"/>
              <a:t>productName</a:t>
            </a:r>
            <a:r>
              <a:rPr lang="en-US" dirty="0"/>
              <a:t> – mutator changes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030AC60-8ECD-0043-0FA3-EB92E8684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430664"/>
              </p:ext>
            </p:extLst>
          </p:nvPr>
        </p:nvGraphicFramePr>
        <p:xfrm>
          <a:off x="2133600" y="1798226"/>
          <a:ext cx="7239000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7438">
                  <a:extLst>
                    <a:ext uri="{9D8B030D-6E8A-4147-A177-3AD203B41FA5}">
                      <a16:colId xmlns:a16="http://schemas.microsoft.com/office/drawing/2014/main" val="2105601890"/>
                    </a:ext>
                  </a:extLst>
                </a:gridCol>
                <a:gridCol w="4961562">
                  <a:extLst>
                    <a:ext uri="{9D8B030D-6E8A-4147-A177-3AD203B41FA5}">
                      <a16:colId xmlns:a16="http://schemas.microsoft.com/office/drawing/2014/main" val="552944904"/>
                    </a:ext>
                  </a:extLst>
                </a:gridCol>
              </a:tblGrid>
              <a:tr h="58131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Field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Validation Rule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820240"/>
                  </a:ext>
                </a:extLst>
              </a:tr>
              <a:tr h="561689">
                <a:tc>
                  <a:txBody>
                    <a:bodyPr/>
                    <a:lstStyle/>
                    <a:p>
                      <a:r>
                        <a:rPr lang="en-US" sz="2800" dirty="0" err="1"/>
                        <a:t>productName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Length of string must be &lt;= 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421475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EDD50C2-69B6-E0FD-BF23-312200048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577" y="3916775"/>
            <a:ext cx="4991100" cy="1485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474D7F-C72E-84F6-31D6-F1C613DEE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83475"/>
            <a:ext cx="5181600" cy="952500"/>
          </a:xfrm>
          <a:prstGeom prst="rect">
            <a:avLst/>
          </a:prstGeom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217F30EB-038F-F45B-7C9A-A4073CB08721}"/>
              </a:ext>
            </a:extLst>
          </p:cNvPr>
          <p:cNvSpPr/>
          <p:nvPr/>
        </p:nvSpPr>
        <p:spPr>
          <a:xfrm>
            <a:off x="4655940" y="4008433"/>
            <a:ext cx="2057400" cy="914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becomes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66316E-6C7A-0DD8-DB6A-D1CF3F8DCC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712" y="170393"/>
            <a:ext cx="2030688" cy="12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1193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B0641-A2AE-33C0-D3B7-069C781F8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productName</a:t>
            </a:r>
            <a:r>
              <a:rPr lang="en-US" dirty="0"/>
              <a:t> – constructor changes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1F2C3B37-9A95-EA13-79F9-0067ECC84F06}"/>
              </a:ext>
            </a:extLst>
          </p:cNvPr>
          <p:cNvSpPr/>
          <p:nvPr/>
        </p:nvSpPr>
        <p:spPr>
          <a:xfrm>
            <a:off x="2209800" y="5322990"/>
            <a:ext cx="2057400" cy="914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becomes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4BA381F-76D8-0B53-B94C-50A3A92494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104492"/>
              </p:ext>
            </p:extLst>
          </p:nvPr>
        </p:nvGraphicFramePr>
        <p:xfrm>
          <a:off x="304800" y="1600201"/>
          <a:ext cx="11277600" cy="152619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92867">
                  <a:extLst>
                    <a:ext uri="{9D8B030D-6E8A-4147-A177-3AD203B41FA5}">
                      <a16:colId xmlns:a16="http://schemas.microsoft.com/office/drawing/2014/main" val="2105601890"/>
                    </a:ext>
                  </a:extLst>
                </a:gridCol>
                <a:gridCol w="4777317">
                  <a:extLst>
                    <a:ext uri="{9D8B030D-6E8A-4147-A177-3AD203B41FA5}">
                      <a16:colId xmlns:a16="http://schemas.microsoft.com/office/drawing/2014/main" val="552944904"/>
                    </a:ext>
                  </a:extLst>
                </a:gridCol>
                <a:gridCol w="4307416">
                  <a:extLst>
                    <a:ext uri="{9D8B030D-6E8A-4147-A177-3AD203B41FA5}">
                      <a16:colId xmlns:a16="http://schemas.microsoft.com/office/drawing/2014/main" val="2874185333"/>
                    </a:ext>
                  </a:extLst>
                </a:gridCol>
              </a:tblGrid>
              <a:tr h="58131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Field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Validation Rule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Default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820240"/>
                  </a:ext>
                </a:extLst>
              </a:tr>
              <a:tr h="56168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productName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Length of string must be &lt;= 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If length of string is &gt; 20, use first 20 chars of string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4214752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179A989-ED84-C33A-20F3-924553843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19" y="3189702"/>
            <a:ext cx="7772400" cy="1546746"/>
          </a:xfrm>
          <a:prstGeom prst="rect">
            <a:avLst/>
          </a:prstGeom>
          <a:effectLst>
            <a:outerShdw blurRad="511128" dist="50800" dir="5400000" algn="ctr" rotWithShape="0">
              <a:srgbClr val="000000">
                <a:alpha val="54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A454B27-D66E-1C59-1A37-9206E6786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319" y="4814615"/>
            <a:ext cx="7772400" cy="1931149"/>
          </a:xfrm>
          <a:prstGeom prst="rect">
            <a:avLst/>
          </a:prstGeom>
          <a:effectLst>
            <a:outerShdw blurRad="511128" dist="50800" dir="5400000" algn="ctr" rotWithShape="0">
              <a:srgbClr val="000000">
                <a:alpha val="54000"/>
              </a:srgbClr>
            </a:outerShdw>
          </a:effectLst>
        </p:spPr>
      </p:pic>
      <p:sp>
        <p:nvSpPr>
          <p:cNvPr id="5" name="Oval Callout 4">
            <a:extLst>
              <a:ext uri="{FF2B5EF4-FFF2-40B4-BE49-F238E27FC236}">
                <a16:creationId xmlns:a16="http://schemas.microsoft.com/office/drawing/2014/main" id="{FF86AEA1-D30D-67E3-41D7-C913EEBA59C7}"/>
              </a:ext>
            </a:extLst>
          </p:cNvPr>
          <p:cNvSpPr/>
          <p:nvPr/>
        </p:nvSpPr>
        <p:spPr>
          <a:xfrm rot="388141">
            <a:off x="8521955" y="3297958"/>
            <a:ext cx="2895600" cy="1295400"/>
          </a:xfrm>
          <a:prstGeom prst="wedgeEllipseCallout">
            <a:avLst>
              <a:gd name="adj1" fmla="val -93250"/>
              <a:gd name="adj2" fmla="val 12501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Setter not used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717E9D-17C2-A1D4-8BE6-3541032CC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9653" y="181894"/>
            <a:ext cx="2030688" cy="12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4297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36620-B2E0-5EF2-9DAB-506F80D8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aseline="0" dirty="0" err="1"/>
              <a:t>inCurrentProductionLine</a:t>
            </a:r>
            <a:r>
              <a:rPr lang="en-US" sz="4400" baseline="0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B8C87-5091-4A4B-2B5B-0824F3B6D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There is no validation needed for </a:t>
            </a:r>
            <a:r>
              <a:rPr lang="en-US" sz="3200" baseline="0" dirty="0" err="1"/>
              <a:t>inCurrentProductionLine</a:t>
            </a:r>
            <a:endParaRPr lang="en-US" sz="3200" baseline="0" dirty="0"/>
          </a:p>
          <a:p>
            <a:endParaRPr lang="en-US" dirty="0"/>
          </a:p>
          <a:p>
            <a:r>
              <a:rPr lang="en-US" dirty="0"/>
              <a:t>This is generally the case for </a:t>
            </a:r>
            <a:r>
              <a:rPr lang="en-US" dirty="0" err="1"/>
              <a:t>booleans</a:t>
            </a:r>
            <a:r>
              <a:rPr lang="en-US" dirty="0"/>
              <a:t>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FF04A8-29A5-73E0-EDAD-4CB96A007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0820" y="164942"/>
            <a:ext cx="2030688" cy="12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238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34F26A-FAC8-A19A-6B8D-46A179DC4F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Boundary Testing the Validation Rules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3ABB44-AA65-BD77-FAFA-CE617FDB8B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For BOTH add and update</a:t>
            </a:r>
          </a:p>
        </p:txBody>
      </p:sp>
    </p:spTree>
    <p:extLst>
      <p:ext uri="{BB962C8B-B14F-4D97-AF65-F5344CB8AC3E}">
        <p14:creationId xmlns:p14="http://schemas.microsoft.com/office/powerpoint/2010/main" val="16391581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2D549-26FC-AB14-6B91-9900912D1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Boundary Testing?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45841-7C4C-18EF-EBD0-C41424289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00200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Boundary Testing is when you input test data that are: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boundary values in your Boolean expressions.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91AABE-0B1E-9796-8917-B9A748471A4A}"/>
              </a:ext>
            </a:extLst>
          </p:cNvPr>
          <p:cNvSpPr txBox="1"/>
          <p:nvPr/>
        </p:nvSpPr>
        <p:spPr>
          <a:xfrm>
            <a:off x="444106" y="4233862"/>
            <a:ext cx="5435600" cy="221599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Inputting the following values for </a:t>
            </a:r>
            <a:r>
              <a:rPr lang="en-US" sz="2400" dirty="0" err="1"/>
              <a:t>productCode</a:t>
            </a:r>
            <a:r>
              <a:rPr lang="en-US" sz="2400" dirty="0"/>
              <a:t> would test the ‘boundaries’ of this if statement:</a:t>
            </a:r>
          </a:p>
          <a:p>
            <a:endParaRPr lang="en-US" sz="2400" dirty="0"/>
          </a:p>
          <a:p>
            <a:r>
              <a:rPr lang="en-US" sz="2400" dirty="0"/>
              <a:t>[</a:t>
            </a:r>
            <a:r>
              <a:rPr lang="en-US" sz="2400" dirty="0">
                <a:solidFill>
                  <a:srgbClr val="FF0000"/>
                </a:solidFill>
              </a:rPr>
              <a:t>999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92D050"/>
                </a:solidFill>
              </a:rPr>
              <a:t>1000</a:t>
            </a:r>
            <a:r>
              <a:rPr lang="en-US" sz="2400" dirty="0"/>
              <a:t>, </a:t>
            </a: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2000</a:t>
            </a:r>
            <a:r>
              <a:rPr lang="en-US" sz="2400" dirty="0"/>
              <a:t>, </a:t>
            </a: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9999</a:t>
            </a:r>
            <a:r>
              <a:rPr lang="en-US" sz="2400" dirty="0"/>
              <a:t>,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10000</a:t>
            </a:r>
            <a:r>
              <a:rPr lang="en-US" sz="2400" dirty="0"/>
              <a:t>]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8D5967-028A-312C-8DE4-F0460CDF9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4502149"/>
            <a:ext cx="5435600" cy="1511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61BB6A6C-3ED0-9476-5D8A-8B20141B5525}"/>
              </a:ext>
            </a:extLst>
          </p:cNvPr>
          <p:cNvSpPr/>
          <p:nvPr/>
        </p:nvSpPr>
        <p:spPr>
          <a:xfrm>
            <a:off x="4724400" y="4884657"/>
            <a:ext cx="2057400" cy="914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tests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CF369F3-C54F-0F95-6373-993ECA3C1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695415"/>
              </p:ext>
            </p:extLst>
          </p:nvPr>
        </p:nvGraphicFramePr>
        <p:xfrm>
          <a:off x="1600200" y="2118241"/>
          <a:ext cx="8127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6927666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3274022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595466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Just above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92D050"/>
                          </a:solidFill>
                        </a:rPr>
                        <a:t>Just at lower bound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in middle of valid range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5727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Just below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Just at upper bound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496701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9EFC653F-F6CC-3AAD-56AD-7101BB38B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9950" y="199225"/>
            <a:ext cx="2030688" cy="12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184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489D0-18C0-8908-6E58-BC3DB2EBE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Boundary Test for </a:t>
            </a:r>
            <a:r>
              <a:rPr lang="en-US" dirty="0" err="1"/>
              <a:t>productCode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8A430-66EF-D1CF-D96A-0C2C0D16884A}"/>
              </a:ext>
            </a:extLst>
          </p:cNvPr>
          <p:cNvSpPr txBox="1"/>
          <p:nvPr/>
        </p:nvSpPr>
        <p:spPr>
          <a:xfrm>
            <a:off x="685800" y="1905000"/>
            <a:ext cx="4953000" cy="34163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Just-Below </a:t>
            </a:r>
            <a:r>
              <a:rPr lang="en-US" sz="3600" dirty="0"/>
              <a:t>Upper Boundary Test:</a:t>
            </a:r>
          </a:p>
          <a:p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 default values are correctly used when adding and updating.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879739-46D3-8E1E-A77E-0E9755694EFE}"/>
              </a:ext>
            </a:extLst>
          </p:cNvPr>
          <p:cNvSpPr txBox="1"/>
          <p:nvPr/>
        </p:nvSpPr>
        <p:spPr>
          <a:xfrm>
            <a:off x="6248400" y="1905000"/>
            <a:ext cx="4953000" cy="230832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/>
              <a:t>Add a new Product with the value of </a:t>
            </a:r>
          </a:p>
          <a:p>
            <a:pPr algn="ctr"/>
            <a:r>
              <a:rPr lang="en-US" sz="3600" dirty="0"/>
              <a:t>999</a:t>
            </a:r>
          </a:p>
          <a:p>
            <a:r>
              <a:rPr lang="en-US" sz="3600" dirty="0"/>
              <a:t>for </a:t>
            </a:r>
            <a:r>
              <a:rPr lang="en-US" sz="3600" dirty="0" err="1"/>
              <a:t>productCode</a:t>
            </a:r>
            <a:endParaRPr lang="en-US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8BF07A-F801-B64E-F577-A396F7A72DAF}"/>
              </a:ext>
            </a:extLst>
          </p:cNvPr>
          <p:cNvSpPr txBox="1"/>
          <p:nvPr/>
        </p:nvSpPr>
        <p:spPr>
          <a:xfrm>
            <a:off x="6096000" y="4419600"/>
            <a:ext cx="4953000" cy="175432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/>
              <a:t>The default value of 9999 should be stored</a:t>
            </a:r>
          </a:p>
          <a:p>
            <a:endParaRPr lang="en-US" sz="3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8AFF2B-218F-C851-96FC-96207D234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199225"/>
            <a:ext cx="2030688" cy="12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897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489D0-18C0-8908-6E58-BC3DB2EBE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Boundary 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8A430-66EF-D1CF-D96A-0C2C0D16884A}"/>
              </a:ext>
            </a:extLst>
          </p:cNvPr>
          <p:cNvSpPr txBox="1"/>
          <p:nvPr/>
        </p:nvSpPr>
        <p:spPr>
          <a:xfrm>
            <a:off x="1524000" y="2438400"/>
            <a:ext cx="4953000" cy="34163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Just-Inside</a:t>
            </a:r>
            <a:r>
              <a:rPr lang="en-US" sz="3600" dirty="0"/>
              <a:t> Lower Boundary Test:</a:t>
            </a:r>
          </a:p>
          <a:p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values are accepted for both add and update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E8D17D-3217-8238-A22E-B86CE86A4E02}"/>
              </a:ext>
            </a:extLst>
          </p:cNvPr>
          <p:cNvSpPr txBox="1"/>
          <p:nvPr/>
        </p:nvSpPr>
        <p:spPr>
          <a:xfrm>
            <a:off x="7010400" y="4495800"/>
            <a:ext cx="4953000" cy="175432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/>
              <a:t>The value of 1000 should be accepted and stored</a:t>
            </a:r>
          </a:p>
          <a:p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35DDBA-F6D7-A10B-678C-4A5A75FC4020}"/>
              </a:ext>
            </a:extLst>
          </p:cNvPr>
          <p:cNvSpPr txBox="1"/>
          <p:nvPr/>
        </p:nvSpPr>
        <p:spPr>
          <a:xfrm>
            <a:off x="7047470" y="1802557"/>
            <a:ext cx="4953000" cy="230832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/>
              <a:t>Add a new Product with the value of </a:t>
            </a:r>
          </a:p>
          <a:p>
            <a:pPr algn="ctr"/>
            <a:r>
              <a:rPr lang="en-US" sz="3600" dirty="0"/>
              <a:t>1000</a:t>
            </a:r>
          </a:p>
          <a:p>
            <a:r>
              <a:rPr lang="en-US" sz="3600" dirty="0"/>
              <a:t>for </a:t>
            </a:r>
            <a:r>
              <a:rPr lang="en-US" sz="3600" dirty="0" err="1"/>
              <a:t>productCode</a:t>
            </a:r>
            <a:endParaRPr lang="en-US" sz="3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6AA805-FA29-9FE7-ADCA-D6ADF3730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1712" y="190534"/>
            <a:ext cx="2030688" cy="12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40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489D0-18C0-8908-6E58-BC3DB2EBE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Boundary 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8A430-66EF-D1CF-D96A-0C2C0D16884A}"/>
              </a:ext>
            </a:extLst>
          </p:cNvPr>
          <p:cNvSpPr txBox="1"/>
          <p:nvPr/>
        </p:nvSpPr>
        <p:spPr>
          <a:xfrm>
            <a:off x="1524000" y="2438400"/>
            <a:ext cx="4953000" cy="34163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Inside</a:t>
            </a:r>
            <a:r>
              <a:rPr lang="en-US" sz="3600" dirty="0"/>
              <a:t> range Boundary Test:</a:t>
            </a:r>
          </a:p>
          <a:p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values are accepted for both add and update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E8D17D-3217-8238-A22E-B86CE86A4E02}"/>
              </a:ext>
            </a:extLst>
          </p:cNvPr>
          <p:cNvSpPr txBox="1"/>
          <p:nvPr/>
        </p:nvSpPr>
        <p:spPr>
          <a:xfrm>
            <a:off x="7010400" y="4495800"/>
            <a:ext cx="4953000" cy="175432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/>
              <a:t>The value of 2000 should be accepted and stored</a:t>
            </a:r>
          </a:p>
          <a:p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35DDBA-F6D7-A10B-678C-4A5A75FC4020}"/>
              </a:ext>
            </a:extLst>
          </p:cNvPr>
          <p:cNvSpPr txBox="1"/>
          <p:nvPr/>
        </p:nvSpPr>
        <p:spPr>
          <a:xfrm>
            <a:off x="7047470" y="1802557"/>
            <a:ext cx="4953000" cy="230832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/>
              <a:t>Add a new Product with the value of </a:t>
            </a:r>
          </a:p>
          <a:p>
            <a:pPr algn="ctr"/>
            <a:r>
              <a:rPr lang="en-US" sz="3600" dirty="0"/>
              <a:t>2000</a:t>
            </a:r>
          </a:p>
          <a:p>
            <a:r>
              <a:rPr lang="en-US" sz="3600" dirty="0"/>
              <a:t>for </a:t>
            </a:r>
            <a:r>
              <a:rPr lang="en-US" sz="3600" dirty="0" err="1"/>
              <a:t>productCode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A31F4C-F254-D854-09DC-0CEA35664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7400" y="195106"/>
            <a:ext cx="2030688" cy="12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326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489D0-18C0-8908-6E58-BC3DB2EBE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Boundary 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8A430-66EF-D1CF-D96A-0C2C0D16884A}"/>
              </a:ext>
            </a:extLst>
          </p:cNvPr>
          <p:cNvSpPr txBox="1"/>
          <p:nvPr/>
        </p:nvSpPr>
        <p:spPr>
          <a:xfrm>
            <a:off x="1524000" y="2438400"/>
            <a:ext cx="4953000" cy="34163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Just-Below Upper</a:t>
            </a:r>
            <a:r>
              <a:rPr lang="en-US" sz="3600" dirty="0"/>
              <a:t> range Boundary Test:</a:t>
            </a:r>
          </a:p>
          <a:p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values are accepted for both add and update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E8D17D-3217-8238-A22E-B86CE86A4E02}"/>
              </a:ext>
            </a:extLst>
          </p:cNvPr>
          <p:cNvSpPr txBox="1"/>
          <p:nvPr/>
        </p:nvSpPr>
        <p:spPr>
          <a:xfrm>
            <a:off x="7010400" y="4495800"/>
            <a:ext cx="4953000" cy="175432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/>
              <a:t>The value of 9999 should be accepted and stored</a:t>
            </a:r>
          </a:p>
          <a:p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35DDBA-F6D7-A10B-678C-4A5A75FC4020}"/>
              </a:ext>
            </a:extLst>
          </p:cNvPr>
          <p:cNvSpPr txBox="1"/>
          <p:nvPr/>
        </p:nvSpPr>
        <p:spPr>
          <a:xfrm>
            <a:off x="7047470" y="1802557"/>
            <a:ext cx="4953000" cy="230832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/>
              <a:t>Add a new Product with the value of </a:t>
            </a:r>
          </a:p>
          <a:p>
            <a:pPr algn="ctr"/>
            <a:r>
              <a:rPr lang="en-US" sz="3600" dirty="0"/>
              <a:t>9999</a:t>
            </a:r>
          </a:p>
          <a:p>
            <a:r>
              <a:rPr lang="en-US" sz="3600" dirty="0"/>
              <a:t>for </a:t>
            </a:r>
            <a:r>
              <a:rPr lang="en-US" sz="3600" dirty="0" err="1"/>
              <a:t>productCode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207C7B-540E-1A71-8412-3B6FD6C1C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970" y="199225"/>
            <a:ext cx="2030688" cy="12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974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489D0-18C0-8908-6E58-BC3DB2EBE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Boundary 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8A430-66EF-D1CF-D96A-0C2C0D16884A}"/>
              </a:ext>
            </a:extLst>
          </p:cNvPr>
          <p:cNvSpPr txBox="1"/>
          <p:nvPr/>
        </p:nvSpPr>
        <p:spPr>
          <a:xfrm>
            <a:off x="381000" y="2514600"/>
            <a:ext cx="4953000" cy="34163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Just-Above Upper</a:t>
            </a:r>
            <a:r>
              <a:rPr lang="en-US" sz="3600" dirty="0"/>
              <a:t> range Boundary Test:</a:t>
            </a:r>
          </a:p>
          <a:p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values are not accepted for either add or update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E8D17D-3217-8238-A22E-B86CE86A4E02}"/>
              </a:ext>
            </a:extLst>
          </p:cNvPr>
          <p:cNvSpPr txBox="1"/>
          <p:nvPr/>
        </p:nvSpPr>
        <p:spPr>
          <a:xfrm>
            <a:off x="6858002" y="4492684"/>
            <a:ext cx="4953000" cy="181588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For adding (</a:t>
            </a:r>
            <a:r>
              <a:rPr lang="en-US" sz="2800" b="1" dirty="0"/>
              <a:t>constructor)</a:t>
            </a:r>
            <a:r>
              <a:rPr lang="en-US" sz="2800" dirty="0"/>
              <a:t>, 9999 (default) should be stored, </a:t>
            </a:r>
          </a:p>
          <a:p>
            <a:r>
              <a:rPr lang="en-US" sz="2800" dirty="0"/>
              <a:t>For </a:t>
            </a:r>
            <a:r>
              <a:rPr lang="en-US" sz="2800" b="1" dirty="0"/>
              <a:t>update</a:t>
            </a:r>
            <a:r>
              <a:rPr lang="en-US" sz="2800" dirty="0"/>
              <a:t> (setter) the previous value should remain unchanged.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35DDBA-F6D7-A10B-678C-4A5A75FC4020}"/>
              </a:ext>
            </a:extLst>
          </p:cNvPr>
          <p:cNvSpPr txBox="1"/>
          <p:nvPr/>
        </p:nvSpPr>
        <p:spPr>
          <a:xfrm>
            <a:off x="5562600" y="1524000"/>
            <a:ext cx="4953000" cy="286232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/>
              <a:t>Add a new / updated a </a:t>
            </a:r>
            <a:r>
              <a:rPr lang="en-US" sz="3600" dirty="0" err="1"/>
              <a:t>currentProduct</a:t>
            </a:r>
            <a:r>
              <a:rPr lang="en-US" sz="3600" dirty="0"/>
              <a:t> with the value of </a:t>
            </a:r>
          </a:p>
          <a:p>
            <a:pPr algn="ctr"/>
            <a:r>
              <a:rPr lang="en-US" sz="3600" dirty="0"/>
              <a:t>10000</a:t>
            </a:r>
          </a:p>
          <a:p>
            <a:r>
              <a:rPr lang="en-US" sz="3600" dirty="0"/>
              <a:t>for </a:t>
            </a:r>
            <a:r>
              <a:rPr lang="en-US" sz="3600" dirty="0" err="1"/>
              <a:t>productCode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CCECCF-A5E9-1926-FBCA-D86BD64A1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199225"/>
            <a:ext cx="2030688" cy="12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67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489D0-18C0-8908-6E58-BC3DB2EBE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rest of the fields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8A430-66EF-D1CF-D96A-0C2C0D16884A}"/>
              </a:ext>
            </a:extLst>
          </p:cNvPr>
          <p:cNvSpPr txBox="1"/>
          <p:nvPr/>
        </p:nvSpPr>
        <p:spPr>
          <a:xfrm>
            <a:off x="1524000" y="2438400"/>
            <a:ext cx="8153400" cy="39703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The checking of the other fields are left as an exercise. </a:t>
            </a:r>
          </a:p>
          <a:p>
            <a:endParaRPr lang="en-US" sz="3600" dirty="0">
              <a:solidFill>
                <a:srgbClr val="C00000"/>
              </a:solidFill>
            </a:endParaRPr>
          </a:p>
          <a:p>
            <a:r>
              <a:rPr lang="en-US" sz="3600" b="1" dirty="0">
                <a:solidFill>
                  <a:srgbClr val="C00000"/>
                </a:solidFill>
              </a:rPr>
              <a:t>Note</a:t>
            </a:r>
            <a:r>
              <a:rPr lang="en-US" sz="3600" dirty="0">
                <a:solidFill>
                  <a:srgbClr val="C00000"/>
                </a:solidFill>
              </a:rPr>
              <a:t> that later, once you are familiar with the way to test these boundaries, we will use JUnit to help automate the running (and re-running) of these checks. </a:t>
            </a:r>
            <a:endParaRPr lang="en-US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D8AAC2-AC27-4C22-A502-DF27184C5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3198" y="199225"/>
            <a:ext cx="2030688" cy="12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7575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468E4ACF-A5C7-0BA1-E2E3-06F3EA2767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0" y="1626704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a-shop-v1</Template>
  <TotalTime>53</TotalTime>
  <Words>1524</Words>
  <Application>Microsoft Macintosh PowerPoint</Application>
  <PresentationFormat>Widescreen</PresentationFormat>
  <Paragraphs>271</Paragraphs>
  <Slides>42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Courier New</vt:lpstr>
      <vt:lpstr>a-processing-mouse-event-methods</vt:lpstr>
      <vt:lpstr>ShopV2.2</vt:lpstr>
      <vt:lpstr>Recap: Shop V2.1 - Product</vt:lpstr>
      <vt:lpstr>The  Product Class…</vt:lpstr>
      <vt:lpstr>A Product Class… constructor</vt:lpstr>
      <vt:lpstr>PowerPoint Presentation</vt:lpstr>
      <vt:lpstr>A Product Class… methods</vt:lpstr>
      <vt:lpstr>Getters</vt:lpstr>
      <vt:lpstr>PowerPoint Presentation</vt:lpstr>
      <vt:lpstr>A Product Class…setters</vt:lpstr>
      <vt:lpstr>Setters</vt:lpstr>
      <vt:lpstr>PowerPoint Presentation</vt:lpstr>
      <vt:lpstr>Getters/Setters</vt:lpstr>
      <vt:lpstr>A Product Class…toString</vt:lpstr>
      <vt:lpstr>A Product Class…</vt:lpstr>
      <vt:lpstr>Shop V2.1 – Sample I/O</vt:lpstr>
      <vt:lpstr>Shop V2.1 </vt:lpstr>
      <vt:lpstr> No Validation</vt:lpstr>
      <vt:lpstr> No Validation</vt:lpstr>
      <vt:lpstr>Introducing Validation – Shop 2.2 </vt:lpstr>
      <vt:lpstr>Validation Rules for fields in the Product class</vt:lpstr>
      <vt:lpstr>Implementing Validation Rules</vt:lpstr>
      <vt:lpstr>Validation Rules – implementing default values</vt:lpstr>
      <vt:lpstr>Implementing Validation Rules</vt:lpstr>
      <vt:lpstr>productCode – mutator changes</vt:lpstr>
      <vt:lpstr>productCode – constructor changes</vt:lpstr>
      <vt:lpstr>Implementing Validation Rules</vt:lpstr>
      <vt:lpstr>unitCost – mutator changes</vt:lpstr>
      <vt:lpstr>unitCost – constructor changes</vt:lpstr>
      <vt:lpstr>Implementing Validation Rules</vt:lpstr>
      <vt:lpstr>Implementation of validation with Strings</vt:lpstr>
      <vt:lpstr>productName – mutator changes</vt:lpstr>
      <vt:lpstr>productName – constructor changes</vt:lpstr>
      <vt:lpstr>inCurrentProductionLine </vt:lpstr>
      <vt:lpstr>Boundary Testing the Validation Rules</vt:lpstr>
      <vt:lpstr>What is Boundary Testing?</vt:lpstr>
      <vt:lpstr>Example Boundary Test for productCode</vt:lpstr>
      <vt:lpstr>Example Boundary Test</vt:lpstr>
      <vt:lpstr>Example Boundary Test</vt:lpstr>
      <vt:lpstr>Example Boundary Test</vt:lpstr>
      <vt:lpstr>Example Boundary Test</vt:lpstr>
      <vt:lpstr>The rest of the fields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Recap of OO concepts</dc:title>
  <dc:creator>Siobhan Drohan</dc:creator>
  <cp:lastModifiedBy>Mairead Meagher</cp:lastModifiedBy>
  <cp:revision>161</cp:revision>
  <cp:lastPrinted>2018-03-10T18:49:08Z</cp:lastPrinted>
  <dcterms:created xsi:type="dcterms:W3CDTF">2006-08-16T00:00:00Z</dcterms:created>
  <dcterms:modified xsi:type="dcterms:W3CDTF">2025-11-13T00:13:31Z</dcterms:modified>
</cp:coreProperties>
</file>