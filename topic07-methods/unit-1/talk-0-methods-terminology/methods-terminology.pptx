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348" r:id="rId3"/>
    <p:sldId id="349" r:id="rId4"/>
    <p:sldId id="350" r:id="rId5"/>
    <p:sldId id="257" r:id="rId6"/>
    <p:sldId id="277" r:id="rId7"/>
    <p:sldId id="280" r:id="rId8"/>
    <p:sldId id="345" r:id="rId9"/>
    <p:sldId id="284" r:id="rId10"/>
    <p:sldId id="286" r:id="rId11"/>
    <p:sldId id="281" r:id="rId12"/>
    <p:sldId id="285" r:id="rId13"/>
    <p:sldId id="346" r:id="rId14"/>
    <p:sldId id="283" r:id="rId15"/>
    <p:sldId id="347" r:id="rId16"/>
    <p:sldId id="282" r:id="rId17"/>
    <p:sldId id="287" r:id="rId18"/>
    <p:sldId id="288"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0" autoAdjust="0"/>
    <p:restoredTop sz="89133" autoAdjust="0"/>
  </p:normalViewPr>
  <p:slideViewPr>
    <p:cSldViewPr>
      <p:cViewPr varScale="1">
        <p:scale>
          <a:sx n="85" d="100"/>
          <a:sy n="85" d="100"/>
        </p:scale>
        <p:origin x="230"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C3D141-1E1C-433C-AD3A-CD56CBBB4F9F}" type="datetimeFigureOut">
              <a:rPr lang="en-IE" smtClean="0"/>
              <a:t>08/10/2025</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3DB36-5273-45A5-A77C-FE9BE0779D84}" type="slidenum">
              <a:rPr lang="en-IE" smtClean="0"/>
              <a:t>‹#›</a:t>
            </a:fld>
            <a:endParaRPr lang="en-IE"/>
          </a:p>
        </p:txBody>
      </p:sp>
    </p:spTree>
    <p:extLst>
      <p:ext uri="{BB962C8B-B14F-4D97-AF65-F5344CB8AC3E}">
        <p14:creationId xmlns:p14="http://schemas.microsoft.com/office/powerpoint/2010/main" val="3634544296"/>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Let’s look</a:t>
            </a:r>
            <a:r>
              <a:rPr lang="en-GB" baseline="0" dirty="0"/>
              <a:t> at the terminology used with methods.</a:t>
            </a:r>
          </a:p>
          <a:p>
            <a:r>
              <a:rPr lang="en-GB" baseline="0" dirty="0"/>
              <a:t>Then we’ll look at handling mouse events using methods</a:t>
            </a:r>
            <a:endParaRPr lang="en-GB" dirty="0"/>
          </a:p>
        </p:txBody>
      </p:sp>
      <p:sp>
        <p:nvSpPr>
          <p:cNvPr id="4" name="Slide Number Placeholder 3"/>
          <p:cNvSpPr>
            <a:spLocks noGrp="1"/>
          </p:cNvSpPr>
          <p:nvPr>
            <p:ph type="sldNum" sz="quarter" idx="10"/>
          </p:nvPr>
        </p:nvSpPr>
        <p:spPr/>
        <p:txBody>
          <a:bodyPr/>
          <a:lstStyle/>
          <a:p>
            <a:fld id="{F963DB36-5273-45A5-A77C-FE9BE0779D84}" type="slidenum">
              <a:rPr lang="en-IE" smtClean="0"/>
              <a:t>5</a:t>
            </a:fld>
            <a:endParaRPr lang="en-IE"/>
          </a:p>
        </p:txBody>
      </p:sp>
    </p:spTree>
    <p:extLst>
      <p:ext uri="{BB962C8B-B14F-4D97-AF65-F5344CB8AC3E}">
        <p14:creationId xmlns:p14="http://schemas.microsoft.com/office/powerpoint/2010/main" val="698564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9</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10</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Draw attention to the naming of the variables in the parameter list.  The actual name of the variable does not matter…the type is all java is interested in.  To demonstrate this concept, </a:t>
            </a:r>
            <a:r>
              <a:rPr lang="en-IE" dirty="0" err="1"/>
              <a:t>val</a:t>
            </a:r>
            <a:r>
              <a:rPr lang="en-IE" dirty="0"/>
              <a:t> and number are used.</a:t>
            </a:r>
          </a:p>
        </p:txBody>
      </p:sp>
      <p:sp>
        <p:nvSpPr>
          <p:cNvPr id="4" name="Slide Number Placeholder 3"/>
          <p:cNvSpPr>
            <a:spLocks noGrp="1"/>
          </p:cNvSpPr>
          <p:nvPr>
            <p:ph type="sldNum" sz="quarter" idx="10"/>
          </p:nvPr>
        </p:nvSpPr>
        <p:spPr/>
        <p:txBody>
          <a:bodyPr/>
          <a:lstStyle/>
          <a:p>
            <a:fld id="{F963DB36-5273-45A5-A77C-FE9BE0779D84}" type="slidenum">
              <a:rPr lang="en-IE" smtClean="0"/>
              <a:t>11</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12</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14</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16</a:t>
            </a:fld>
            <a:endParaRPr lang="en-IE"/>
          </a:p>
        </p:txBody>
      </p:sp>
    </p:spTree>
    <p:extLst>
      <p:ext uri="{BB962C8B-B14F-4D97-AF65-F5344CB8AC3E}">
        <p14:creationId xmlns:p14="http://schemas.microsoft.com/office/powerpoint/2010/main" val="3936486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963DB36-5273-45A5-A77C-FE9BE0779D84}" type="slidenum">
              <a:rPr lang="en-IE" smtClean="0"/>
              <a:t>19</a:t>
            </a:fld>
            <a:endParaRPr lang="en-IE"/>
          </a:p>
        </p:txBody>
      </p:sp>
    </p:spTree>
    <p:extLst>
      <p:ext uri="{BB962C8B-B14F-4D97-AF65-F5344CB8AC3E}">
        <p14:creationId xmlns:p14="http://schemas.microsoft.com/office/powerpoint/2010/main" val="944058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5794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CBEEAA7-DFCE-0F70-7029-A699F0BA819F}"/>
              </a:ext>
            </a:extLst>
          </p:cNvPr>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264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23681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C9711DD-5845-C70F-57E1-61691E72C32F}"/>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012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B7D832D-3E10-6ECB-E34A-37F4FBBD4630}"/>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87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ECC3C94-B1FB-A16A-8497-B1E8C2BD31B9}"/>
              </a:ext>
            </a:extLst>
          </p:cNvPr>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892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7835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97793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4706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6110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37625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Title Slide">
    <p:spTree>
      <p:nvGrpSpPr>
        <p:cNvPr id="1" name=""/>
        <p:cNvGrpSpPr/>
        <p:nvPr/>
      </p:nvGrpSpPr>
      <p:grpSpPr>
        <a:xfrm>
          <a:off x="0" y="0"/>
          <a:ext cx="0" cy="0"/>
          <a:chOff x="0" y="0"/>
          <a:chExt cx="0" cy="0"/>
        </a:xfrm>
      </p:grpSpPr>
      <p:sp>
        <p:nvSpPr>
          <p:cNvPr id="15" name="Title Text"/>
          <p:cNvSpPr txBox="1">
            <a:spLocks noGrp="1"/>
          </p:cNvSpPr>
          <p:nvPr>
            <p:ph type="title"/>
          </p:nvPr>
        </p:nvSpPr>
        <p:spPr>
          <a:xfrm>
            <a:off x="863600" y="2286000"/>
            <a:ext cx="10464801" cy="1143001"/>
          </a:xfrm>
          <a:prstGeom prst="rect">
            <a:avLst/>
          </a:prstGeom>
        </p:spPr>
        <p:txBody>
          <a:bodyPr/>
          <a:lstStyle/>
          <a:p>
            <a:r>
              <a:rPr lang="en-US"/>
              <a:t>Click to edit Master title style</a:t>
            </a:r>
            <a:endParaRPr dirty="0"/>
          </a:p>
        </p:txBody>
      </p:sp>
      <p:sp>
        <p:nvSpPr>
          <p:cNvPr id="16" name="Subtitle"/>
          <p:cNvSpPr txBox="1">
            <a:spLocks noGrp="1"/>
          </p:cNvSpPr>
          <p:nvPr>
            <p:ph type="body" sz="quarter" idx="22"/>
          </p:nvPr>
        </p:nvSpPr>
        <p:spPr>
          <a:xfrm>
            <a:off x="957115" y="3465604"/>
            <a:ext cx="10134430" cy="846384"/>
          </a:xfrm>
          <a:prstGeom prst="rect">
            <a:avLst/>
          </a:prstGeom>
        </p:spPr>
        <p:txBody>
          <a:bodyPr anchor="ctr">
            <a:spAutoFit/>
          </a:bodyPr>
          <a:lstStyle>
            <a:lvl1pPr marL="0" indent="0" algn="ctr">
              <a:spcBef>
                <a:spcPts val="0"/>
              </a:spcBef>
              <a:buClrTx/>
              <a:buSzTx/>
              <a:buFontTx/>
              <a:buNone/>
              <a:defRPr>
                <a:solidFill>
                  <a:srgbClr val="2F4468"/>
                </a:solidFill>
              </a:defRPr>
            </a:lvl1pPr>
          </a:lstStyle>
          <a:p>
            <a:pPr lvl="0"/>
            <a:r>
              <a:rPr lang="en-US"/>
              <a:t>Click to edit Master text styles</a:t>
            </a:r>
          </a:p>
        </p:txBody>
      </p:sp>
      <p:sp>
        <p:nvSpPr>
          <p:cNvPr id="17" name="Slide Number"/>
          <p:cNvSpPr txBox="1">
            <a:spLocks noGrp="1"/>
          </p:cNvSpPr>
          <p:nvPr>
            <p:ph type="sldNum" sz="quarter" idx="2"/>
          </p:nvPr>
        </p:nvSpPr>
        <p:spPr>
          <a:xfrm>
            <a:off x="11091544" y="6360984"/>
            <a:ext cx="495649" cy="492440"/>
          </a:xfrm>
          <a:prstGeom prst="rect">
            <a:avLst/>
          </a:prstGeom>
        </p:spPr>
        <p:txBody>
          <a:bodyPr/>
          <a:lstStyle>
            <a:lvl1pPr>
              <a:defRPr sz="2000"/>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54776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742682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641" y="914401"/>
            <a:ext cx="7772400" cy="1470025"/>
          </a:xfrm>
        </p:spPr>
        <p:txBody>
          <a:bodyPr>
            <a:normAutofit/>
          </a:bodyPr>
          <a:lstStyle/>
          <a:p>
            <a:pPr algn="l"/>
            <a:r>
              <a:rPr lang="en-IE" sz="4000" dirty="0"/>
              <a:t>Using Methods</a:t>
            </a:r>
          </a:p>
        </p:txBody>
      </p:sp>
      <p:sp>
        <p:nvSpPr>
          <p:cNvPr id="3" name="Subtitle 2"/>
          <p:cNvSpPr>
            <a:spLocks noGrp="1"/>
          </p:cNvSpPr>
          <p:nvPr>
            <p:ph type="subTitle" idx="1"/>
          </p:nvPr>
        </p:nvSpPr>
        <p:spPr>
          <a:xfrm>
            <a:off x="1638301"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Methods terminology</a:t>
            </a:r>
          </a:p>
        </p:txBody>
      </p:sp>
      <p:sp>
        <p:nvSpPr>
          <p:cNvPr id="11" name="TextBox 10">
            <a:extLst>
              <a:ext uri="{FF2B5EF4-FFF2-40B4-BE49-F238E27FC236}">
                <a16:creationId xmlns:a16="http://schemas.microsoft.com/office/drawing/2014/main" id="{2F77EB42-7B52-452C-BC78-5FFE34B9D791}"/>
              </a:ext>
            </a:extLst>
          </p:cNvPr>
          <p:cNvSpPr txBox="1"/>
          <p:nvPr/>
        </p:nvSpPr>
        <p:spPr>
          <a:xfrm>
            <a:off x="3810000" y="3817203"/>
            <a:ext cx="5257800" cy="2062103"/>
          </a:xfrm>
          <a:prstGeom prst="rect">
            <a:avLst/>
          </a:prstGeom>
          <a:noFill/>
        </p:spPr>
        <p:txBody>
          <a:bodyPr wrap="square" rtlCol="0">
            <a:spAutoFit/>
          </a:bodyPr>
          <a:lstStyle/>
          <a:p>
            <a:r>
              <a:rPr lang="en-IE" sz="3200" dirty="0">
                <a:solidFill>
                  <a:schemeClr val="tx1">
                    <a:lumMod val="75000"/>
                    <a:lumOff val="25000"/>
                  </a:schemeClr>
                </a:solidFill>
              </a:rPr>
              <a:t>Dr. </a:t>
            </a:r>
            <a:r>
              <a:rPr lang="en-IE" sz="3200" dirty="0" err="1">
                <a:solidFill>
                  <a:schemeClr val="tx1">
                    <a:lumMod val="75000"/>
                    <a:lumOff val="25000"/>
                  </a:schemeClr>
                </a:solidFill>
              </a:rPr>
              <a:t>Siobhán</a:t>
            </a:r>
            <a:r>
              <a:rPr lang="en-IE" sz="3200" dirty="0">
                <a:solidFill>
                  <a:schemeClr val="tx1">
                    <a:lumMod val="75000"/>
                    <a:lumOff val="25000"/>
                  </a:schemeClr>
                </a:solidFill>
              </a:rPr>
              <a:t> </a:t>
            </a:r>
            <a:r>
              <a:rPr lang="en-IE" sz="3200" dirty="0" err="1">
                <a:solidFill>
                  <a:schemeClr val="tx1">
                    <a:lumMod val="75000"/>
                    <a:lumOff val="25000"/>
                  </a:schemeClr>
                </a:solidFill>
              </a:rPr>
              <a:t>Drohan</a:t>
            </a:r>
            <a:endParaRPr lang="en-IE" sz="3200" dirty="0">
              <a:solidFill>
                <a:schemeClr val="tx1">
                  <a:lumMod val="75000"/>
                  <a:lumOff val="25000"/>
                </a:schemeClr>
              </a:solidFill>
            </a:endParaRPr>
          </a:p>
          <a:p>
            <a:r>
              <a:rPr lang="en-IE" sz="3200" dirty="0">
                <a:solidFill>
                  <a:schemeClr val="tx1">
                    <a:lumMod val="75000"/>
                    <a:lumOff val="25000"/>
                  </a:schemeClr>
                </a:solidFill>
              </a:rPr>
              <a:t>Mr. Colm Dunphy</a:t>
            </a:r>
          </a:p>
          <a:p>
            <a:r>
              <a:rPr lang="en-IE" sz="3200" dirty="0">
                <a:solidFill>
                  <a:schemeClr val="tx1">
                    <a:lumMod val="75000"/>
                    <a:lumOff val="25000"/>
                  </a:schemeClr>
                </a:solidFill>
              </a:rPr>
              <a:t>Ms Mairead Meagher</a:t>
            </a:r>
          </a:p>
          <a:p>
            <a:r>
              <a:rPr lang="en-IE" sz="3200" dirty="0">
                <a:solidFill>
                  <a:schemeClr val="tx1">
                    <a:lumMod val="75000"/>
                    <a:lumOff val="25000"/>
                  </a:schemeClr>
                </a:solidFill>
              </a:rPr>
              <a:t>Ms Siobhan Roche</a:t>
            </a:r>
          </a:p>
        </p:txBody>
      </p:sp>
      <p:sp>
        <p:nvSpPr>
          <p:cNvPr id="9" name="TextBox 9">
            <a:extLst>
              <a:ext uri="{FF2B5EF4-FFF2-40B4-BE49-F238E27FC236}">
                <a16:creationId xmlns:a16="http://schemas.microsoft.com/office/drawing/2014/main" id="{9AB6AAF2-1126-2327-6863-1EDF03091200}"/>
              </a:ext>
            </a:extLst>
          </p:cNvPr>
          <p:cNvSpPr txBox="1"/>
          <p:nvPr/>
        </p:nvSpPr>
        <p:spPr>
          <a:xfrm>
            <a:off x="3962400" y="5986193"/>
            <a:ext cx="6206358" cy="5847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1600" dirty="0">
                <a:solidFill>
                  <a:schemeClr val="tx2">
                    <a:lumMod val="75000"/>
                  </a:schemeClr>
                </a:solidFill>
              </a:rPr>
              <a:t>Department of Computing and Mathematics</a:t>
            </a:r>
          </a:p>
          <a:p>
            <a:r>
              <a:rPr lang="en-IE" sz="1600" dirty="0" err="1">
                <a:solidFill>
                  <a:schemeClr val="tx2">
                    <a:lumMod val="75000"/>
                  </a:schemeClr>
                </a:solidFill>
              </a:rPr>
              <a:t>setu.ie</a:t>
            </a:r>
            <a:endParaRPr lang="en-IE" sz="1600" dirty="0">
              <a:solidFill>
                <a:schemeClr val="tx2">
                  <a:lumMod val="75000"/>
                </a:schemeClr>
              </a:solidFill>
            </a:endParaRPr>
          </a:p>
        </p:txBody>
      </p:sp>
      <p:pic>
        <p:nvPicPr>
          <p:cNvPr id="10" name="Picture 9">
            <a:extLst>
              <a:ext uri="{FF2B5EF4-FFF2-40B4-BE49-F238E27FC236}">
                <a16:creationId xmlns:a16="http://schemas.microsoft.com/office/drawing/2014/main" id="{E86D20E4-11FB-EECA-AC34-DDB9104D73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00" y="5768129"/>
            <a:ext cx="1905954" cy="1068489"/>
          </a:xfrm>
          <a:prstGeom prst="rect">
            <a:avLst/>
          </a:prstGeom>
        </p:spPr>
      </p:pic>
    </p:spTree>
    <p:extLst>
      <p:ext uri="{BB962C8B-B14F-4D97-AF65-F5344CB8AC3E}">
        <p14:creationId xmlns:p14="http://schemas.microsoft.com/office/powerpoint/2010/main" val="30423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4B63A-E778-A8E9-CDAC-A93677BEF567}"/>
              </a:ext>
            </a:extLst>
          </p:cNvPr>
          <p:cNvSpPr>
            <a:spLocks noGrp="1"/>
          </p:cNvSpPr>
          <p:nvPr>
            <p:ph type="title"/>
          </p:nvPr>
        </p:nvSpPr>
        <p:spPr/>
        <p:txBody>
          <a:bodyPr/>
          <a:lstStyle/>
          <a:p>
            <a:r>
              <a:rPr lang="en-IE" dirty="0"/>
              <a:t>Why do we need methods?</a:t>
            </a:r>
          </a:p>
        </p:txBody>
      </p:sp>
      <p:sp>
        <p:nvSpPr>
          <p:cNvPr id="3" name="Content Placeholder 2">
            <a:extLst>
              <a:ext uri="{FF2B5EF4-FFF2-40B4-BE49-F238E27FC236}">
                <a16:creationId xmlns:a16="http://schemas.microsoft.com/office/drawing/2014/main" id="{8FB29F27-DFF4-FD79-9C84-AA5A1104C971}"/>
              </a:ext>
            </a:extLst>
          </p:cNvPr>
          <p:cNvSpPr>
            <a:spLocks noGrp="1"/>
          </p:cNvSpPr>
          <p:nvPr>
            <p:ph idx="1"/>
          </p:nvPr>
        </p:nvSpPr>
        <p:spPr>
          <a:xfrm>
            <a:off x="609600" y="1417639"/>
            <a:ext cx="10972800" cy="5287961"/>
          </a:xfrm>
        </p:spPr>
        <p:txBody>
          <a:bodyPr>
            <a:normAutofit/>
          </a:bodyPr>
          <a:lstStyle/>
          <a:p>
            <a:r>
              <a:rPr lang="en-US" sz="4000" dirty="0"/>
              <a:t>At times, a certain portion of code has to be used many times.</a:t>
            </a:r>
          </a:p>
          <a:p>
            <a:r>
              <a:rPr lang="en-US" sz="4000" dirty="0"/>
              <a:t>Instead of re-writing the code many times, it is better to put them into a "</a:t>
            </a:r>
            <a:r>
              <a:rPr lang="en-US" sz="4000" i="1" dirty="0"/>
              <a:t>subroutine</a:t>
            </a:r>
            <a:r>
              <a:rPr lang="en-US" sz="4000" dirty="0"/>
              <a:t>", and "call" this "</a:t>
            </a:r>
            <a:r>
              <a:rPr lang="en-US" sz="4000" i="1" dirty="0"/>
              <a:t>subroutine</a:t>
            </a:r>
            <a:r>
              <a:rPr lang="en-US" sz="4000" dirty="0"/>
              <a:t>" many time - for ease of maintenance and understanding. </a:t>
            </a:r>
          </a:p>
          <a:p>
            <a:r>
              <a:rPr lang="en-US" sz="4000" dirty="0"/>
              <a:t>Subroutine is called method (in Java) or function (in C/C++).</a:t>
            </a:r>
          </a:p>
          <a:p>
            <a:pPr marL="0" indent="0">
              <a:buNone/>
            </a:pPr>
            <a:endParaRPr lang="en-IE" dirty="0"/>
          </a:p>
        </p:txBody>
      </p:sp>
    </p:spTree>
    <p:extLst>
      <p:ext uri="{BB962C8B-B14F-4D97-AF65-F5344CB8AC3E}">
        <p14:creationId xmlns:p14="http://schemas.microsoft.com/office/powerpoint/2010/main" val="162834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06CB5-F009-D519-07D2-7A17AA400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028B7-8786-E088-F81D-E18945BBE1FD}"/>
              </a:ext>
            </a:extLst>
          </p:cNvPr>
          <p:cNvSpPr>
            <a:spLocks noGrp="1"/>
          </p:cNvSpPr>
          <p:nvPr>
            <p:ph type="title"/>
          </p:nvPr>
        </p:nvSpPr>
        <p:spPr/>
        <p:txBody>
          <a:bodyPr/>
          <a:lstStyle/>
          <a:p>
            <a:r>
              <a:rPr lang="en-IE" dirty="0"/>
              <a:t>What are methods?</a:t>
            </a:r>
          </a:p>
        </p:txBody>
      </p:sp>
      <p:sp>
        <p:nvSpPr>
          <p:cNvPr id="3" name="Content Placeholder 2">
            <a:extLst>
              <a:ext uri="{FF2B5EF4-FFF2-40B4-BE49-F238E27FC236}">
                <a16:creationId xmlns:a16="http://schemas.microsoft.com/office/drawing/2014/main" id="{40A0D8D2-C223-47E4-08F7-A8954CFB142E}"/>
              </a:ext>
            </a:extLst>
          </p:cNvPr>
          <p:cNvSpPr>
            <a:spLocks noGrp="1"/>
          </p:cNvSpPr>
          <p:nvPr>
            <p:ph idx="1"/>
          </p:nvPr>
        </p:nvSpPr>
        <p:spPr>
          <a:xfrm>
            <a:off x="609600" y="1417639"/>
            <a:ext cx="10972800" cy="5287961"/>
          </a:xfrm>
        </p:spPr>
        <p:txBody>
          <a:bodyPr>
            <a:normAutofit/>
          </a:bodyPr>
          <a:lstStyle/>
          <a:p>
            <a:r>
              <a:rPr lang="en-US" dirty="0"/>
              <a:t>A </a:t>
            </a:r>
            <a:r>
              <a:rPr lang="en-US" b="1" dirty="0"/>
              <a:t>method</a:t>
            </a:r>
            <a:r>
              <a:rPr lang="en-US" dirty="0"/>
              <a:t> is a reusable block of code that performs a specific task. </a:t>
            </a:r>
          </a:p>
          <a:p>
            <a:r>
              <a:rPr lang="en-US" dirty="0"/>
              <a:t>It helps </a:t>
            </a:r>
            <a:r>
              <a:rPr lang="en-US" dirty="0" err="1"/>
              <a:t>organise</a:t>
            </a:r>
            <a:r>
              <a:rPr lang="en-US" dirty="0"/>
              <a:t> a program by breaking it into smaller, manageable parts. </a:t>
            </a:r>
          </a:p>
          <a:p>
            <a:r>
              <a:rPr lang="en-US" dirty="0"/>
              <a:t>Methods can be called whenever needed, reducing repetition and making the code easier to read and maintain.</a:t>
            </a:r>
          </a:p>
          <a:p>
            <a:r>
              <a:rPr lang="en-US" dirty="0"/>
              <a:t>Methods help us so we don’t have to write the same instructions over and over—they make our code </a:t>
            </a:r>
            <a:r>
              <a:rPr lang="en-US" b="1" dirty="0"/>
              <a:t>cleaner</a:t>
            </a:r>
            <a:r>
              <a:rPr lang="en-US" dirty="0"/>
              <a:t>, </a:t>
            </a:r>
            <a:r>
              <a:rPr lang="en-US" b="1" dirty="0"/>
              <a:t>faster</a:t>
            </a:r>
            <a:r>
              <a:rPr lang="en-US" dirty="0"/>
              <a:t>, and </a:t>
            </a:r>
            <a:r>
              <a:rPr lang="en-US" b="1" dirty="0"/>
              <a:t>more fun</a:t>
            </a:r>
            <a:r>
              <a:rPr lang="en-US" dirty="0"/>
              <a:t>!</a:t>
            </a:r>
            <a:endParaRPr lang="en-IE" dirty="0"/>
          </a:p>
        </p:txBody>
      </p:sp>
    </p:spTree>
    <p:extLst>
      <p:ext uri="{BB962C8B-B14F-4D97-AF65-F5344CB8AC3E}">
        <p14:creationId xmlns:p14="http://schemas.microsoft.com/office/powerpoint/2010/main" val="420134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40BE9-F977-3397-0ED6-1B3B040A7C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89A67-A684-0AAE-221D-9156682DBC84}"/>
              </a:ext>
            </a:extLst>
          </p:cNvPr>
          <p:cNvSpPr>
            <a:spLocks noGrp="1"/>
          </p:cNvSpPr>
          <p:nvPr>
            <p:ph type="title"/>
          </p:nvPr>
        </p:nvSpPr>
        <p:spPr/>
        <p:txBody>
          <a:bodyPr/>
          <a:lstStyle/>
          <a:p>
            <a:r>
              <a:rPr lang="en-IE" dirty="0"/>
              <a:t>Benefits of using methods?</a:t>
            </a:r>
          </a:p>
        </p:txBody>
      </p:sp>
      <p:sp>
        <p:nvSpPr>
          <p:cNvPr id="3" name="Content Placeholder 2">
            <a:extLst>
              <a:ext uri="{FF2B5EF4-FFF2-40B4-BE49-F238E27FC236}">
                <a16:creationId xmlns:a16="http://schemas.microsoft.com/office/drawing/2014/main" id="{1AE9B7B3-6378-6531-AEE3-7469E9FF2D34}"/>
              </a:ext>
            </a:extLst>
          </p:cNvPr>
          <p:cNvSpPr>
            <a:spLocks noGrp="1"/>
          </p:cNvSpPr>
          <p:nvPr>
            <p:ph idx="1"/>
          </p:nvPr>
        </p:nvSpPr>
        <p:spPr>
          <a:xfrm>
            <a:off x="609600" y="1417639"/>
            <a:ext cx="10972800" cy="5287961"/>
          </a:xfrm>
        </p:spPr>
        <p:txBody>
          <a:bodyPr>
            <a:normAutofit/>
          </a:bodyPr>
          <a:lstStyle/>
          <a:p>
            <a:r>
              <a:rPr lang="en-US" b="1" i="1" dirty="0"/>
              <a:t>Divide and conquer</a:t>
            </a:r>
            <a:r>
              <a:rPr lang="en-US" dirty="0"/>
              <a:t>: Construct the program from simple, small pieces or components. </a:t>
            </a:r>
            <a:r>
              <a:rPr lang="en-US" dirty="0" err="1"/>
              <a:t>Modularise</a:t>
            </a:r>
            <a:r>
              <a:rPr lang="en-US" dirty="0"/>
              <a:t> the program into self-contained tasks.</a:t>
            </a:r>
          </a:p>
          <a:p>
            <a:r>
              <a:rPr lang="en-US" b="1" i="1" dirty="0"/>
              <a:t>Avoid repeating code</a:t>
            </a:r>
            <a:r>
              <a:rPr lang="en-US" dirty="0"/>
              <a:t>: It is easy to copy and paste, but hard to maintain and </a:t>
            </a:r>
            <a:r>
              <a:rPr lang="en-US" dirty="0" err="1"/>
              <a:t>synchronise</a:t>
            </a:r>
            <a:r>
              <a:rPr lang="en-US" dirty="0"/>
              <a:t> all the copies.</a:t>
            </a:r>
          </a:p>
          <a:p>
            <a:r>
              <a:rPr lang="en-US" b="1" i="1" dirty="0"/>
              <a:t>Software Reuse</a:t>
            </a:r>
            <a:r>
              <a:rPr lang="en-US" dirty="0"/>
              <a:t>: You can reuse the methods in other programs, by packaging them.</a:t>
            </a:r>
          </a:p>
        </p:txBody>
      </p:sp>
    </p:spTree>
    <p:extLst>
      <p:ext uri="{BB962C8B-B14F-4D97-AF65-F5344CB8AC3E}">
        <p14:creationId xmlns:p14="http://schemas.microsoft.com/office/powerpoint/2010/main" val="364774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endParaRPr lang="en-IE" dirty="0"/>
          </a:p>
          <a:p>
            <a:pPr marL="0" indent="0">
              <a:buNone/>
            </a:pPr>
            <a:r>
              <a:rPr lang="en-IE" b="1" dirty="0"/>
              <a:t>Method</a:t>
            </a:r>
            <a:r>
              <a:rPr lang="en-IE" dirty="0"/>
              <a:t>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p:txBody>
      </p:sp>
      <p:sp>
        <p:nvSpPr>
          <p:cNvPr id="6" name="Rectangle 5"/>
          <p:cNvSpPr/>
          <p:nvPr/>
        </p:nvSpPr>
        <p:spPr>
          <a:xfrm>
            <a:off x="6096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Tree>
    <p:extLst>
      <p:ext uri="{BB962C8B-B14F-4D97-AF65-F5344CB8AC3E}">
        <p14:creationId xmlns:p14="http://schemas.microsoft.com/office/powerpoint/2010/main" val="263591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 terminology</a:t>
            </a:r>
          </a:p>
        </p:txBody>
      </p:sp>
      <p:sp>
        <p:nvSpPr>
          <p:cNvPr id="4" name="Rectangle 3"/>
          <p:cNvSpPr/>
          <p:nvPr/>
        </p:nvSpPr>
        <p:spPr>
          <a:xfrm>
            <a:off x="5122152" y="2525013"/>
            <a:ext cx="5469648" cy="206210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3200" dirty="0"/>
              <a:t>void </a:t>
            </a:r>
            <a:r>
              <a:rPr lang="en-IE" sz="3200" dirty="0" err="1"/>
              <a:t>printHello</a:t>
            </a:r>
            <a:r>
              <a:rPr lang="en-IE" sz="3200" dirty="0"/>
              <a:t>() </a:t>
            </a:r>
          </a:p>
          <a:p>
            <a:r>
              <a:rPr lang="en-IE" sz="3200" dirty="0"/>
              <a:t>{</a:t>
            </a:r>
          </a:p>
          <a:p>
            <a:r>
              <a:rPr lang="en-IE" sz="3200" dirty="0"/>
              <a:t>    </a:t>
            </a:r>
            <a:r>
              <a:rPr lang="en-IE" sz="3200" dirty="0" err="1"/>
              <a:t>System.out.println</a:t>
            </a:r>
            <a:r>
              <a:rPr lang="en-IE" sz="3200" dirty="0"/>
              <a:t>(“Hello”);</a:t>
            </a:r>
          </a:p>
          <a:p>
            <a:r>
              <a:rPr lang="en-IE" sz="3200" dirty="0"/>
              <a:t>}</a:t>
            </a:r>
          </a:p>
        </p:txBody>
      </p:sp>
      <p:sp>
        <p:nvSpPr>
          <p:cNvPr id="5" name="TextBox 4"/>
          <p:cNvSpPr txBox="1"/>
          <p:nvPr/>
        </p:nvSpPr>
        <p:spPr>
          <a:xfrm>
            <a:off x="609600" y="1828801"/>
            <a:ext cx="4376245"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800" dirty="0"/>
              <a:t>Method </a:t>
            </a:r>
            <a:r>
              <a:rPr lang="en-IE" sz="2800" b="1" dirty="0"/>
              <a:t>signature / header</a:t>
            </a:r>
          </a:p>
        </p:txBody>
      </p:sp>
      <p:sp>
        <p:nvSpPr>
          <p:cNvPr id="6" name="TextBox 5"/>
          <p:cNvSpPr txBox="1"/>
          <p:nvPr/>
        </p:nvSpPr>
        <p:spPr>
          <a:xfrm>
            <a:off x="609600" y="4048507"/>
            <a:ext cx="2743200"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E" sz="2800" dirty="0"/>
              <a:t>Method </a:t>
            </a:r>
            <a:r>
              <a:rPr lang="en-IE" sz="2800" b="1" dirty="0"/>
              <a:t>body</a:t>
            </a:r>
          </a:p>
        </p:txBody>
      </p:sp>
      <p:sp>
        <p:nvSpPr>
          <p:cNvPr id="7" name="Left Bracket 6"/>
          <p:cNvSpPr/>
          <p:nvPr/>
        </p:nvSpPr>
        <p:spPr>
          <a:xfrm>
            <a:off x="4893551" y="2803230"/>
            <a:ext cx="118899" cy="523220"/>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sp>
        <p:nvSpPr>
          <p:cNvPr id="8" name="Left Bracket 7"/>
          <p:cNvSpPr/>
          <p:nvPr/>
        </p:nvSpPr>
        <p:spPr>
          <a:xfrm>
            <a:off x="4899792" y="3469413"/>
            <a:ext cx="172107" cy="1712188"/>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10" name="Straight Arrow Connector 9"/>
          <p:cNvCxnSpPr>
            <a:cxnSpLocks/>
            <a:stCxn id="5" idx="2"/>
            <a:endCxn id="7" idx="1"/>
          </p:cNvCxnSpPr>
          <p:nvPr/>
        </p:nvCxnSpPr>
        <p:spPr>
          <a:xfrm>
            <a:off x="2797723" y="2352021"/>
            <a:ext cx="2095828" cy="712819"/>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a:stCxn id="6" idx="3"/>
            <a:endCxn id="8" idx="1"/>
          </p:cNvCxnSpPr>
          <p:nvPr/>
        </p:nvCxnSpPr>
        <p:spPr>
          <a:xfrm>
            <a:off x="3352800" y="4310117"/>
            <a:ext cx="1546992" cy="15390"/>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26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 signature</a:t>
            </a:r>
          </a:p>
        </p:txBody>
      </p:sp>
      <p:sp>
        <p:nvSpPr>
          <p:cNvPr id="4" name="Rectangle 3"/>
          <p:cNvSpPr/>
          <p:nvPr/>
        </p:nvSpPr>
        <p:spPr>
          <a:xfrm>
            <a:off x="3772233" y="4240521"/>
            <a:ext cx="5620156"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6000" dirty="0"/>
              <a:t>void </a:t>
            </a:r>
            <a:r>
              <a:rPr lang="en-IE" sz="6000" dirty="0" err="1"/>
              <a:t>printHello</a:t>
            </a:r>
            <a:r>
              <a:rPr lang="en-IE" sz="6000" dirty="0"/>
              <a:t>() </a:t>
            </a:r>
          </a:p>
        </p:txBody>
      </p:sp>
      <p:sp>
        <p:nvSpPr>
          <p:cNvPr id="5" name="TextBox 4"/>
          <p:cNvSpPr txBox="1"/>
          <p:nvPr/>
        </p:nvSpPr>
        <p:spPr>
          <a:xfrm>
            <a:off x="2544330" y="2365054"/>
            <a:ext cx="2007149"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800" b="1" dirty="0"/>
              <a:t>Return type</a:t>
            </a:r>
          </a:p>
        </p:txBody>
      </p:sp>
      <p:sp>
        <p:nvSpPr>
          <p:cNvPr id="6" name="TextBox 5"/>
          <p:cNvSpPr txBox="1"/>
          <p:nvPr/>
        </p:nvSpPr>
        <p:spPr>
          <a:xfrm>
            <a:off x="4951529" y="2365054"/>
            <a:ext cx="2343151"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E" sz="2800" b="1" dirty="0"/>
              <a:t>Method name</a:t>
            </a:r>
          </a:p>
        </p:txBody>
      </p:sp>
      <p:sp>
        <p:nvSpPr>
          <p:cNvPr id="7" name="Left Bracket 6"/>
          <p:cNvSpPr/>
          <p:nvPr/>
        </p:nvSpPr>
        <p:spPr>
          <a:xfrm rot="5400000" flipV="1">
            <a:off x="4333682" y="3489326"/>
            <a:ext cx="207983" cy="1294415"/>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10" name="Straight Arrow Connector 9"/>
          <p:cNvCxnSpPr>
            <a:stCxn id="5" idx="2"/>
            <a:endCxn id="7" idx="1"/>
          </p:cNvCxnSpPr>
          <p:nvPr/>
        </p:nvCxnSpPr>
        <p:spPr>
          <a:xfrm>
            <a:off x="3547905" y="2888274"/>
            <a:ext cx="889769" cy="1144268"/>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3" name="Left Bracket 12"/>
          <p:cNvSpPr/>
          <p:nvPr/>
        </p:nvSpPr>
        <p:spPr>
          <a:xfrm rot="5400000" flipV="1">
            <a:off x="6705649" y="2716572"/>
            <a:ext cx="207983" cy="2839922"/>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19" name="Straight Arrow Connector 18"/>
          <p:cNvCxnSpPr>
            <a:cxnSpLocks/>
            <a:stCxn id="6" idx="2"/>
            <a:endCxn id="13" idx="1"/>
          </p:cNvCxnSpPr>
          <p:nvPr/>
        </p:nvCxnSpPr>
        <p:spPr>
          <a:xfrm>
            <a:off x="6123105" y="2888274"/>
            <a:ext cx="686536" cy="1144268"/>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7660242" y="2365054"/>
            <a:ext cx="2343151"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IE" sz="2800" b="1" dirty="0"/>
              <a:t>Parameter list</a:t>
            </a:r>
          </a:p>
        </p:txBody>
      </p:sp>
      <p:sp>
        <p:nvSpPr>
          <p:cNvPr id="24" name="Left Bracket 23"/>
          <p:cNvSpPr/>
          <p:nvPr/>
        </p:nvSpPr>
        <p:spPr>
          <a:xfrm rot="5400000" flipV="1">
            <a:off x="8664900" y="3890691"/>
            <a:ext cx="207984" cy="491687"/>
          </a:xfrm>
          <a:prstGeom prst="leftBracket">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E" sz="1800"/>
          </a:p>
        </p:txBody>
      </p:sp>
      <p:cxnSp>
        <p:nvCxnSpPr>
          <p:cNvPr id="25" name="Straight Arrow Connector 24"/>
          <p:cNvCxnSpPr>
            <a:stCxn id="23" idx="2"/>
            <a:endCxn id="24" idx="1"/>
          </p:cNvCxnSpPr>
          <p:nvPr/>
        </p:nvCxnSpPr>
        <p:spPr>
          <a:xfrm flipH="1">
            <a:off x="8768893" y="2888274"/>
            <a:ext cx="62925" cy="1144269"/>
          </a:xfrm>
          <a:prstGeom prst="straightConnector1">
            <a:avLst/>
          </a:prstGeom>
          <a:ln w="5715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2A88CD8A-1860-EFE1-2C75-3473CE37E301}"/>
              </a:ext>
            </a:extLst>
          </p:cNvPr>
          <p:cNvSpPr/>
          <p:nvPr/>
        </p:nvSpPr>
        <p:spPr>
          <a:xfrm>
            <a:off x="7574517" y="2178682"/>
            <a:ext cx="2514600" cy="8382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60281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endParaRPr lang="en-IE" dirty="0"/>
          </a:p>
          <a:p>
            <a:pPr marL="0" indent="0">
              <a:buNone/>
            </a:pPr>
            <a:r>
              <a:rPr lang="en-IE" dirty="0"/>
              <a:t>Method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a:p>
            <a:pPr marL="0" indent="0">
              <a:buNone/>
            </a:pPr>
            <a:endParaRPr lang="en-IE" dirty="0"/>
          </a:p>
        </p:txBody>
      </p:sp>
      <p:sp>
        <p:nvSpPr>
          <p:cNvPr id="6" name="Rectangle 5"/>
          <p:cNvSpPr/>
          <p:nvPr/>
        </p:nvSpPr>
        <p:spPr>
          <a:xfrm>
            <a:off x="5080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7" name="Donut 6"/>
          <p:cNvSpPr/>
          <p:nvPr/>
        </p:nvSpPr>
        <p:spPr>
          <a:xfrm>
            <a:off x="889000" y="2758842"/>
            <a:ext cx="3073400" cy="593959"/>
          </a:xfrm>
          <a:prstGeom prst="donut">
            <a:avLst>
              <a:gd name="adj" fmla="val 737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213296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  </a:t>
            </a:r>
            <a:r>
              <a:rPr lang="en-IE" b="1" dirty="0"/>
              <a:t>void</a:t>
            </a:r>
          </a:p>
        </p:txBody>
      </p:sp>
      <p:sp>
        <p:nvSpPr>
          <p:cNvPr id="3" name="Content Placeholder 2"/>
          <p:cNvSpPr>
            <a:spLocks noGrp="1"/>
          </p:cNvSpPr>
          <p:nvPr>
            <p:ph idx="1"/>
          </p:nvPr>
        </p:nvSpPr>
        <p:spPr>
          <a:xfrm>
            <a:off x="609600" y="1600201"/>
            <a:ext cx="11379200" cy="4525963"/>
          </a:xfrm>
        </p:spPr>
        <p:txBody>
          <a:bodyPr>
            <a:normAutofit lnSpcReduction="10000"/>
          </a:bodyPr>
          <a:lstStyle/>
          <a:p>
            <a:endParaRPr lang="en-IE" dirty="0"/>
          </a:p>
          <a:p>
            <a:r>
              <a:rPr lang="en-IE" dirty="0"/>
              <a:t>Methods can return information. </a:t>
            </a:r>
            <a:br>
              <a:rPr lang="en-IE" dirty="0"/>
            </a:br>
            <a:endParaRPr lang="en-IE" dirty="0"/>
          </a:p>
          <a:p>
            <a:r>
              <a:rPr lang="en-IE" dirty="0"/>
              <a:t>The </a:t>
            </a:r>
            <a:r>
              <a:rPr lang="en-IE" dirty="0">
                <a:solidFill>
                  <a:srgbClr val="FF0000"/>
                </a:solidFill>
              </a:rPr>
              <a:t>void</a:t>
            </a:r>
            <a:r>
              <a:rPr lang="en-IE" dirty="0"/>
              <a:t> keyword just before the method name </a:t>
            </a:r>
            <a:br>
              <a:rPr lang="en-IE" dirty="0"/>
            </a:br>
            <a:r>
              <a:rPr lang="en-IE" dirty="0"/>
              <a:t>means that </a:t>
            </a:r>
            <a:r>
              <a:rPr lang="en-IE" b="1" dirty="0"/>
              <a:t>nothing is returned</a:t>
            </a:r>
            <a:r>
              <a:rPr lang="en-IE" dirty="0"/>
              <a:t> from the method.</a:t>
            </a:r>
            <a:br>
              <a:rPr lang="en-IE" dirty="0"/>
            </a:br>
            <a:endParaRPr lang="en-IE" dirty="0"/>
          </a:p>
          <a:p>
            <a:r>
              <a:rPr lang="en-IE" dirty="0">
                <a:solidFill>
                  <a:srgbClr val="FF0000"/>
                </a:solidFill>
              </a:rPr>
              <a:t>void</a:t>
            </a:r>
            <a:r>
              <a:rPr lang="en-IE" dirty="0"/>
              <a:t> </a:t>
            </a:r>
            <a:r>
              <a:rPr lang="en-IE" u="sng" dirty="0"/>
              <a:t>is</a:t>
            </a:r>
            <a:r>
              <a:rPr lang="en-IE" dirty="0"/>
              <a:t> a return type </a:t>
            </a:r>
            <a:br>
              <a:rPr lang="en-IE" dirty="0"/>
            </a:br>
            <a:r>
              <a:rPr lang="en-IE" dirty="0"/>
              <a:t>and must be included in the method signature, </a:t>
            </a:r>
            <a:br>
              <a:rPr lang="en-IE" dirty="0"/>
            </a:br>
            <a:r>
              <a:rPr lang="en-IE" dirty="0"/>
              <a:t>if your method returns no information. </a:t>
            </a:r>
          </a:p>
          <a:p>
            <a:endParaRPr lang="en-IE" dirty="0"/>
          </a:p>
          <a:p>
            <a:endParaRPr lang="en-IE" dirty="0"/>
          </a:p>
          <a:p>
            <a:endParaRPr lang="en-IE" dirty="0"/>
          </a:p>
        </p:txBody>
      </p:sp>
      <p:pic>
        <p:nvPicPr>
          <p:cNvPr id="6" name="Picture 5">
            <a:extLst>
              <a:ext uri="{FF2B5EF4-FFF2-40B4-BE49-F238E27FC236}">
                <a16:creationId xmlns:a16="http://schemas.microsoft.com/office/drawing/2014/main" id="{AAA5DFA9-4192-19FD-2FCB-254A7C19D75A}"/>
              </a:ext>
            </a:extLst>
          </p:cNvPr>
          <p:cNvPicPr>
            <a:picLocks noChangeAspect="1"/>
          </p:cNvPicPr>
          <p:nvPr/>
        </p:nvPicPr>
        <p:blipFill>
          <a:blip r:embed="rId3"/>
          <a:stretch>
            <a:fillRect/>
          </a:stretch>
        </p:blipFill>
        <p:spPr>
          <a:xfrm>
            <a:off x="7467600" y="327231"/>
            <a:ext cx="3429000" cy="1734714"/>
          </a:xfrm>
          <a:prstGeom prst="rect">
            <a:avLst/>
          </a:prstGeom>
        </p:spPr>
      </p:pic>
    </p:spTree>
    <p:extLst>
      <p:ext uri="{BB962C8B-B14F-4D97-AF65-F5344CB8AC3E}">
        <p14:creationId xmlns:p14="http://schemas.microsoft.com/office/powerpoint/2010/main" val="3983909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 </a:t>
            </a:r>
            <a:r>
              <a:rPr lang="en-IE" b="1" dirty="0" err="1"/>
              <a:t>int</a:t>
            </a:r>
            <a:endParaRPr lang="en-IE" b="1" dirty="0"/>
          </a:p>
        </p:txBody>
      </p:sp>
      <p:sp>
        <p:nvSpPr>
          <p:cNvPr id="3" name="Content Placeholder 2"/>
          <p:cNvSpPr>
            <a:spLocks noGrp="1"/>
          </p:cNvSpPr>
          <p:nvPr>
            <p:ph idx="1"/>
          </p:nvPr>
        </p:nvSpPr>
        <p:spPr/>
        <p:txBody>
          <a:bodyPr>
            <a:normAutofit fontScale="92500" lnSpcReduction="20000"/>
          </a:bodyPr>
          <a:lstStyle/>
          <a:p>
            <a:endParaRPr lang="en-IE" dirty="0"/>
          </a:p>
          <a:p>
            <a:r>
              <a:rPr lang="en-IE" dirty="0"/>
              <a:t>When a data type (e.g. </a:t>
            </a:r>
            <a:r>
              <a:rPr lang="en-IE" dirty="0">
                <a:solidFill>
                  <a:srgbClr val="FF0000"/>
                </a:solidFill>
              </a:rPr>
              <a:t>int</a:t>
            </a:r>
            <a:r>
              <a:rPr lang="en-IE" dirty="0"/>
              <a:t>) </a:t>
            </a:r>
            <a:br>
              <a:rPr lang="en-IE" dirty="0"/>
            </a:br>
            <a:r>
              <a:rPr lang="en-IE" dirty="0"/>
              <a:t>appears before the method name, </a:t>
            </a:r>
            <a:br>
              <a:rPr lang="en-IE" dirty="0"/>
            </a:br>
            <a:r>
              <a:rPr lang="en-IE" dirty="0"/>
              <a:t>this means that </a:t>
            </a:r>
            <a:r>
              <a:rPr lang="en-IE" b="1" dirty="0"/>
              <a:t>something is returned</a:t>
            </a:r>
            <a:r>
              <a:rPr lang="en-IE" dirty="0"/>
              <a:t> from the method.</a:t>
            </a:r>
          </a:p>
          <a:p>
            <a:pPr marL="0" indent="0">
              <a:buNone/>
            </a:pPr>
            <a:endParaRPr lang="en-IE" dirty="0"/>
          </a:p>
          <a:p>
            <a:r>
              <a:rPr lang="en-IE" dirty="0"/>
              <a:t>Within the body of the method, </a:t>
            </a:r>
            <a:br>
              <a:rPr lang="en-IE" dirty="0"/>
            </a:br>
            <a:r>
              <a:rPr lang="en-IE" dirty="0"/>
              <a:t>you use the </a:t>
            </a:r>
            <a:r>
              <a:rPr lang="en-IE" b="1" dirty="0">
                <a:solidFill>
                  <a:srgbClr val="FF0000"/>
                </a:solidFill>
              </a:rPr>
              <a:t>return</a:t>
            </a:r>
            <a:r>
              <a:rPr lang="en-IE" dirty="0">
                <a:solidFill>
                  <a:srgbClr val="FF0000"/>
                </a:solidFill>
              </a:rPr>
              <a:t> </a:t>
            </a:r>
            <a:r>
              <a:rPr lang="en-IE" dirty="0"/>
              <a:t>statement to </a:t>
            </a:r>
            <a:r>
              <a:rPr lang="en-IE" b="1" dirty="0"/>
              <a:t>return the value</a:t>
            </a:r>
            <a:r>
              <a:rPr lang="en-IE" dirty="0"/>
              <a:t>. </a:t>
            </a:r>
          </a:p>
          <a:p>
            <a:endParaRPr lang="en-IE" dirty="0"/>
          </a:p>
          <a:p>
            <a:r>
              <a:rPr lang="en-IE" dirty="0"/>
              <a:t>E.g. </a:t>
            </a:r>
            <a:r>
              <a:rPr lang="en-IE" dirty="0">
                <a:latin typeface="Courier New" panose="02070309020205020404" pitchFamily="49" charset="0"/>
                <a:cs typeface="Courier New" panose="02070309020205020404" pitchFamily="49" charset="0"/>
              </a:rPr>
              <a:t>return(1);</a:t>
            </a:r>
          </a:p>
          <a:p>
            <a:r>
              <a:rPr lang="en-IE" dirty="0"/>
              <a:t>E.g. </a:t>
            </a:r>
            <a:r>
              <a:rPr lang="en-IE" dirty="0">
                <a:latin typeface="Courier New" panose="02070309020205020404" pitchFamily="49" charset="0"/>
                <a:cs typeface="Courier New" panose="02070309020205020404" pitchFamily="49" charset="0"/>
              </a:rPr>
              <a:t>return(answer);</a:t>
            </a:r>
          </a:p>
          <a:p>
            <a:endParaRPr lang="en-IE" dirty="0"/>
          </a:p>
          <a:p>
            <a:endParaRPr lang="en-IE" dirty="0"/>
          </a:p>
          <a:p>
            <a:endParaRPr lang="en-IE" dirty="0"/>
          </a:p>
        </p:txBody>
      </p:sp>
      <p:pic>
        <p:nvPicPr>
          <p:cNvPr id="4" name="Picture 3">
            <a:extLst>
              <a:ext uri="{FF2B5EF4-FFF2-40B4-BE49-F238E27FC236}">
                <a16:creationId xmlns:a16="http://schemas.microsoft.com/office/drawing/2014/main" id="{98601E4A-2253-6C1F-D9F9-558726BB591C}"/>
              </a:ext>
            </a:extLst>
          </p:cNvPr>
          <p:cNvPicPr>
            <a:picLocks noChangeAspect="1"/>
          </p:cNvPicPr>
          <p:nvPr/>
        </p:nvPicPr>
        <p:blipFill>
          <a:blip r:embed="rId3"/>
          <a:stretch>
            <a:fillRect/>
          </a:stretch>
        </p:blipFill>
        <p:spPr>
          <a:xfrm>
            <a:off x="7467600" y="327231"/>
            <a:ext cx="3429000" cy="1734714"/>
          </a:xfrm>
          <a:prstGeom prst="rect">
            <a:avLst/>
          </a:prstGeom>
        </p:spPr>
      </p:pic>
    </p:spTree>
    <p:extLst>
      <p:ext uri="{BB962C8B-B14F-4D97-AF65-F5344CB8AC3E}">
        <p14:creationId xmlns:p14="http://schemas.microsoft.com/office/powerpoint/2010/main" val="136661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 </a:t>
            </a:r>
            <a:r>
              <a:rPr lang="en-IE" b="1" dirty="0" err="1"/>
              <a:t>int</a:t>
            </a:r>
            <a:endParaRPr lang="en-IE" b="1" dirty="0"/>
          </a:p>
        </p:txBody>
      </p:sp>
      <p:sp>
        <p:nvSpPr>
          <p:cNvPr id="3" name="Content Placeholder 2"/>
          <p:cNvSpPr>
            <a:spLocks noGrp="1"/>
          </p:cNvSpPr>
          <p:nvPr>
            <p:ph idx="1"/>
          </p:nvPr>
        </p:nvSpPr>
        <p:spPr>
          <a:xfrm>
            <a:off x="635479" y="1630165"/>
            <a:ext cx="5105400" cy="3657600"/>
          </a:xfrm>
        </p:spPr>
        <p:style>
          <a:lnRef idx="1">
            <a:schemeClr val="accent6"/>
          </a:lnRef>
          <a:fillRef idx="2">
            <a:schemeClr val="accent6"/>
          </a:fillRef>
          <a:effectRef idx="1">
            <a:schemeClr val="accent6"/>
          </a:effectRef>
          <a:fontRef idx="minor">
            <a:schemeClr val="dk1"/>
          </a:fontRef>
        </p:style>
        <p:txBody>
          <a:bodyPr>
            <a:noAutofit/>
          </a:bodyPr>
          <a:lstStyle/>
          <a:p>
            <a:pPr marL="0" indent="0">
              <a:buNone/>
            </a:pPr>
            <a:r>
              <a:rPr lang="en-IE" sz="2800" dirty="0" err="1"/>
              <a:t>int</a:t>
            </a:r>
            <a:r>
              <a:rPr lang="en-IE" sz="2800" dirty="0"/>
              <a:t> </a:t>
            </a:r>
            <a:r>
              <a:rPr lang="en-IE" sz="2800" dirty="0" err="1"/>
              <a:t>val</a:t>
            </a:r>
            <a:r>
              <a:rPr lang="en-IE" sz="2800" dirty="0"/>
              <a:t> = 30; </a:t>
            </a:r>
          </a:p>
          <a:p>
            <a:pPr marL="0" indent="0">
              <a:buNone/>
            </a:pPr>
            <a:endParaRPr lang="en-IE" sz="2800" dirty="0"/>
          </a:p>
          <a:p>
            <a:pPr marL="0" indent="0">
              <a:buNone/>
            </a:pPr>
            <a:r>
              <a:rPr lang="en-IE" sz="2800" dirty="0"/>
              <a:t>void draw() </a:t>
            </a:r>
          </a:p>
          <a:p>
            <a:pPr marL="0" indent="0">
              <a:buNone/>
            </a:pPr>
            <a:r>
              <a:rPr lang="en-IE" sz="2800" dirty="0"/>
              <a:t>{ </a:t>
            </a:r>
          </a:p>
          <a:p>
            <a:pPr marL="0" indent="0">
              <a:buNone/>
            </a:pPr>
            <a:r>
              <a:rPr lang="en-IE" sz="2800" dirty="0"/>
              <a:t>     int </a:t>
            </a:r>
            <a:r>
              <a:rPr lang="en-IE" sz="2800" b="1" dirty="0"/>
              <a:t>result = </a:t>
            </a:r>
            <a:r>
              <a:rPr lang="en-IE" sz="2800" b="1" dirty="0" err="1"/>
              <a:t>timesTwo</a:t>
            </a:r>
            <a:r>
              <a:rPr lang="en-IE" sz="2800" b="1" dirty="0"/>
              <a:t>(</a:t>
            </a:r>
            <a:r>
              <a:rPr lang="en-IE" sz="2800" b="1" dirty="0" err="1">
                <a:solidFill>
                  <a:srgbClr val="00B0F0"/>
                </a:solidFill>
              </a:rPr>
              <a:t>val</a:t>
            </a:r>
            <a:r>
              <a:rPr lang="en-IE" sz="2800" b="1" dirty="0"/>
              <a:t>);</a:t>
            </a:r>
            <a:r>
              <a:rPr lang="en-IE" sz="2800" dirty="0"/>
              <a:t> </a:t>
            </a:r>
          </a:p>
          <a:p>
            <a:pPr marL="0" indent="0">
              <a:buNone/>
            </a:pPr>
            <a:r>
              <a:rPr lang="en-IE" sz="2800" dirty="0"/>
              <a:t>     </a:t>
            </a:r>
            <a:r>
              <a:rPr lang="en-IE" sz="2800" dirty="0" err="1"/>
              <a:t>System.out.println</a:t>
            </a:r>
            <a:r>
              <a:rPr lang="en-IE" sz="2800" dirty="0"/>
              <a:t>(result); </a:t>
            </a:r>
          </a:p>
          <a:p>
            <a:pPr marL="0" indent="0">
              <a:buNone/>
            </a:pPr>
            <a:r>
              <a:rPr lang="en-IE" sz="2800" dirty="0"/>
              <a:t>} </a:t>
            </a:r>
          </a:p>
        </p:txBody>
      </p:sp>
      <p:sp>
        <p:nvSpPr>
          <p:cNvPr id="29" name="Rectangle 28"/>
          <p:cNvSpPr/>
          <p:nvPr/>
        </p:nvSpPr>
        <p:spPr>
          <a:xfrm>
            <a:off x="6553200" y="1897299"/>
            <a:ext cx="4038600" cy="224676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800" b="1" dirty="0">
                <a:solidFill>
                  <a:srgbClr val="FF0000"/>
                </a:solidFill>
              </a:rPr>
              <a:t>int</a:t>
            </a:r>
            <a:r>
              <a:rPr lang="en-IE" sz="2800" dirty="0">
                <a:solidFill>
                  <a:srgbClr val="FF0000"/>
                </a:solidFill>
              </a:rPr>
              <a:t> </a:t>
            </a:r>
            <a:r>
              <a:rPr lang="en-IE" sz="2800" dirty="0" err="1"/>
              <a:t>timesTwo</a:t>
            </a:r>
            <a:r>
              <a:rPr lang="en-IE" sz="2800" dirty="0"/>
              <a:t>(int </a:t>
            </a:r>
            <a:r>
              <a:rPr lang="en-IE" sz="2800" dirty="0">
                <a:solidFill>
                  <a:srgbClr val="00B0F0"/>
                </a:solidFill>
              </a:rPr>
              <a:t>number</a:t>
            </a:r>
            <a:r>
              <a:rPr lang="en-IE" sz="2800" dirty="0"/>
              <a:t>) </a:t>
            </a:r>
          </a:p>
          <a:p>
            <a:r>
              <a:rPr lang="en-IE" sz="2800" dirty="0"/>
              <a:t>{ </a:t>
            </a:r>
          </a:p>
          <a:p>
            <a:r>
              <a:rPr lang="en-IE" sz="2800" dirty="0"/>
              <a:t>    number = number * 2; </a:t>
            </a:r>
          </a:p>
          <a:p>
            <a:r>
              <a:rPr lang="en-IE" sz="2800" dirty="0"/>
              <a:t>    </a:t>
            </a:r>
            <a:r>
              <a:rPr lang="en-IE" sz="2800" b="1" dirty="0">
                <a:solidFill>
                  <a:schemeClr val="tx1"/>
                </a:solidFill>
              </a:rPr>
              <a:t>return</a:t>
            </a:r>
            <a:r>
              <a:rPr lang="en-IE" sz="2800" dirty="0">
                <a:solidFill>
                  <a:schemeClr val="tx1"/>
                </a:solidFill>
              </a:rPr>
              <a:t> </a:t>
            </a:r>
            <a:r>
              <a:rPr lang="en-IE" sz="2800" dirty="0"/>
              <a:t>number; </a:t>
            </a:r>
          </a:p>
          <a:p>
            <a:r>
              <a:rPr lang="en-IE" sz="2800" dirty="0"/>
              <a:t>} </a:t>
            </a:r>
          </a:p>
        </p:txBody>
      </p:sp>
      <p:sp>
        <p:nvSpPr>
          <p:cNvPr id="30" name="Rectangle 29"/>
          <p:cNvSpPr/>
          <p:nvPr/>
        </p:nvSpPr>
        <p:spPr>
          <a:xfrm>
            <a:off x="6413395" y="4256713"/>
            <a:ext cx="5670551" cy="2062103"/>
          </a:xfrm>
          <a:prstGeom prst="rect">
            <a:avLst/>
          </a:prstGeom>
        </p:spPr>
        <p:txBody>
          <a:bodyPr wrap="square">
            <a:spAutoFit/>
          </a:bodyPr>
          <a:lstStyle/>
          <a:p>
            <a:r>
              <a:rPr lang="en-IE" sz="3200" dirty="0"/>
              <a:t>// The red </a:t>
            </a:r>
            <a:r>
              <a:rPr lang="en-IE" sz="3200" b="1" dirty="0">
                <a:solidFill>
                  <a:srgbClr val="FF0000"/>
                </a:solidFill>
              </a:rPr>
              <a:t>int</a:t>
            </a:r>
            <a:r>
              <a:rPr lang="en-IE" sz="3200" dirty="0"/>
              <a:t> in the method declaration </a:t>
            </a:r>
          </a:p>
          <a:p>
            <a:r>
              <a:rPr lang="en-IE" sz="3200" dirty="0"/>
              <a:t>// specifies the type of data to be returned. </a:t>
            </a:r>
          </a:p>
        </p:txBody>
      </p:sp>
      <p:cxnSp>
        <p:nvCxnSpPr>
          <p:cNvPr id="8" name="Straight Arrow Connector 7">
            <a:extLst>
              <a:ext uri="{FF2B5EF4-FFF2-40B4-BE49-F238E27FC236}">
                <a16:creationId xmlns:a16="http://schemas.microsoft.com/office/drawing/2014/main" id="{97C14B8D-6D26-438C-8FB8-194DDAA6753D}"/>
              </a:ext>
            </a:extLst>
          </p:cNvPr>
          <p:cNvCxnSpPr>
            <a:cxnSpLocks/>
          </p:cNvCxnSpPr>
          <p:nvPr/>
        </p:nvCxnSpPr>
        <p:spPr>
          <a:xfrm flipV="1">
            <a:off x="3657600" y="2293302"/>
            <a:ext cx="2895600" cy="159912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Frame 4">
            <a:extLst>
              <a:ext uri="{FF2B5EF4-FFF2-40B4-BE49-F238E27FC236}">
                <a16:creationId xmlns:a16="http://schemas.microsoft.com/office/drawing/2014/main" id="{F27AD462-97B9-DE4E-BBD9-069F3AFCA686}"/>
              </a:ext>
            </a:extLst>
          </p:cNvPr>
          <p:cNvSpPr/>
          <p:nvPr/>
        </p:nvSpPr>
        <p:spPr>
          <a:xfrm>
            <a:off x="1524000" y="3530601"/>
            <a:ext cx="3556000" cy="757831"/>
          </a:xfrm>
          <a:prstGeom prst="frame">
            <a:avLst>
              <a:gd name="adj1" fmla="val 7989"/>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solidFill>
                <a:schemeClr val="tx1"/>
              </a:solidFill>
            </a:endParaRPr>
          </a:p>
        </p:txBody>
      </p:sp>
      <p:cxnSp>
        <p:nvCxnSpPr>
          <p:cNvPr id="7" name="Straight Arrow Connector 6">
            <a:extLst>
              <a:ext uri="{FF2B5EF4-FFF2-40B4-BE49-F238E27FC236}">
                <a16:creationId xmlns:a16="http://schemas.microsoft.com/office/drawing/2014/main" id="{7DA5F074-5DAA-804B-8FB2-B405D3CA6266}"/>
              </a:ext>
            </a:extLst>
          </p:cNvPr>
          <p:cNvCxnSpPr>
            <a:cxnSpLocks/>
          </p:cNvCxnSpPr>
          <p:nvPr/>
        </p:nvCxnSpPr>
        <p:spPr>
          <a:xfrm flipH="1">
            <a:off x="3429000" y="4288432"/>
            <a:ext cx="25400" cy="119796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AA3113B-B991-7C43-950E-E5ADED50BAE0}"/>
              </a:ext>
            </a:extLst>
          </p:cNvPr>
          <p:cNvSpPr txBox="1"/>
          <p:nvPr/>
        </p:nvSpPr>
        <p:spPr>
          <a:xfrm>
            <a:off x="2486930" y="5497388"/>
            <a:ext cx="2190215" cy="584775"/>
          </a:xfrm>
          <a:prstGeom prst="rect">
            <a:avLst/>
          </a:prstGeom>
          <a:noFill/>
        </p:spPr>
        <p:txBody>
          <a:bodyPr wrap="none" rtlCol="0">
            <a:spAutoFit/>
          </a:bodyPr>
          <a:lstStyle/>
          <a:p>
            <a:r>
              <a:rPr lang="en-GB" sz="3200" dirty="0">
                <a:solidFill>
                  <a:srgbClr val="00B050"/>
                </a:solidFill>
              </a:rPr>
              <a:t>Method </a:t>
            </a:r>
            <a:r>
              <a:rPr lang="en-GB" sz="3200" b="1" dirty="0">
                <a:solidFill>
                  <a:srgbClr val="00B050"/>
                </a:solidFill>
              </a:rPr>
              <a:t>call</a:t>
            </a:r>
          </a:p>
        </p:txBody>
      </p:sp>
      <p:sp>
        <p:nvSpPr>
          <p:cNvPr id="15" name="Frame 14">
            <a:extLst>
              <a:ext uri="{FF2B5EF4-FFF2-40B4-BE49-F238E27FC236}">
                <a16:creationId xmlns:a16="http://schemas.microsoft.com/office/drawing/2014/main" id="{D761107B-DDF0-6C42-BFF7-C0F27360FA00}"/>
              </a:ext>
            </a:extLst>
          </p:cNvPr>
          <p:cNvSpPr/>
          <p:nvPr/>
        </p:nvSpPr>
        <p:spPr>
          <a:xfrm>
            <a:off x="6169091" y="1791291"/>
            <a:ext cx="4673599" cy="2497140"/>
          </a:xfrm>
          <a:prstGeom prst="frame">
            <a:avLst>
              <a:gd name="adj1" fmla="val 2511"/>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solidFill>
                <a:schemeClr val="tx1"/>
              </a:solidFill>
            </a:endParaRPr>
          </a:p>
        </p:txBody>
      </p:sp>
      <p:cxnSp>
        <p:nvCxnSpPr>
          <p:cNvPr id="16" name="Straight Arrow Connector 15">
            <a:extLst>
              <a:ext uri="{FF2B5EF4-FFF2-40B4-BE49-F238E27FC236}">
                <a16:creationId xmlns:a16="http://schemas.microsoft.com/office/drawing/2014/main" id="{1B235AFD-EE94-B446-A484-672645A4ACE6}"/>
              </a:ext>
            </a:extLst>
          </p:cNvPr>
          <p:cNvCxnSpPr/>
          <p:nvPr/>
        </p:nvCxnSpPr>
        <p:spPr>
          <a:xfrm>
            <a:off x="8534400" y="4288431"/>
            <a:ext cx="0" cy="187499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F82BEC7-4E60-B14E-8857-756741F3DAA1}"/>
              </a:ext>
            </a:extLst>
          </p:cNvPr>
          <p:cNvSpPr txBox="1"/>
          <p:nvPr/>
        </p:nvSpPr>
        <p:spPr>
          <a:xfrm>
            <a:off x="7204841" y="6063441"/>
            <a:ext cx="3276474" cy="584775"/>
          </a:xfrm>
          <a:prstGeom prst="rect">
            <a:avLst/>
          </a:prstGeom>
          <a:noFill/>
        </p:spPr>
        <p:txBody>
          <a:bodyPr wrap="none" rtlCol="0">
            <a:spAutoFit/>
          </a:bodyPr>
          <a:lstStyle/>
          <a:p>
            <a:r>
              <a:rPr lang="en-GB" sz="3200" dirty="0">
                <a:solidFill>
                  <a:srgbClr val="00B050"/>
                </a:solidFill>
              </a:rPr>
              <a:t>Method </a:t>
            </a:r>
            <a:r>
              <a:rPr lang="en-GB" sz="3200" b="1" dirty="0">
                <a:solidFill>
                  <a:srgbClr val="00B050"/>
                </a:solidFill>
              </a:rPr>
              <a:t>definition</a:t>
            </a:r>
          </a:p>
        </p:txBody>
      </p:sp>
      <p:sp>
        <p:nvSpPr>
          <p:cNvPr id="19" name="Frame 18">
            <a:extLst>
              <a:ext uri="{FF2B5EF4-FFF2-40B4-BE49-F238E27FC236}">
                <a16:creationId xmlns:a16="http://schemas.microsoft.com/office/drawing/2014/main" id="{40859187-CB9F-3746-99BB-43431C1F9161}"/>
              </a:ext>
            </a:extLst>
          </p:cNvPr>
          <p:cNvSpPr/>
          <p:nvPr/>
        </p:nvSpPr>
        <p:spPr>
          <a:xfrm>
            <a:off x="6623002" y="1953891"/>
            <a:ext cx="3898996" cy="443893"/>
          </a:xfrm>
          <a:prstGeom prst="frame">
            <a:avLst>
              <a:gd name="adj1" fmla="val 7989"/>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a:solidFill>
                <a:schemeClr val="tx1"/>
              </a:solidFill>
            </a:endParaRPr>
          </a:p>
        </p:txBody>
      </p:sp>
      <p:cxnSp>
        <p:nvCxnSpPr>
          <p:cNvPr id="20" name="Straight Arrow Connector 19">
            <a:extLst>
              <a:ext uri="{FF2B5EF4-FFF2-40B4-BE49-F238E27FC236}">
                <a16:creationId xmlns:a16="http://schemas.microsoft.com/office/drawing/2014/main" id="{B26B7B58-9B9F-6B4D-B26C-051A629FAAD9}"/>
              </a:ext>
            </a:extLst>
          </p:cNvPr>
          <p:cNvCxnSpPr>
            <a:cxnSpLocks/>
          </p:cNvCxnSpPr>
          <p:nvPr/>
        </p:nvCxnSpPr>
        <p:spPr>
          <a:xfrm flipH="1" flipV="1">
            <a:off x="6342049" y="1160474"/>
            <a:ext cx="658463" cy="81579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EDAACAB-756B-C551-145D-9DF1B8CDCC6B}"/>
              </a:ext>
            </a:extLst>
          </p:cNvPr>
          <p:cNvPicPr>
            <a:picLocks noChangeAspect="1"/>
          </p:cNvPicPr>
          <p:nvPr/>
        </p:nvPicPr>
        <p:blipFill>
          <a:blip r:embed="rId3"/>
          <a:stretch>
            <a:fillRect/>
          </a:stretch>
        </p:blipFill>
        <p:spPr>
          <a:xfrm>
            <a:off x="7392852" y="49940"/>
            <a:ext cx="3429000" cy="1734714"/>
          </a:xfrm>
          <a:prstGeom prst="rect">
            <a:avLst/>
          </a:prstGeom>
        </p:spPr>
      </p:pic>
      <p:sp>
        <p:nvSpPr>
          <p:cNvPr id="21" name="TextBox 20">
            <a:extLst>
              <a:ext uri="{FF2B5EF4-FFF2-40B4-BE49-F238E27FC236}">
                <a16:creationId xmlns:a16="http://schemas.microsoft.com/office/drawing/2014/main" id="{97E0AECD-04B3-C643-821F-DA4D598DE5CE}"/>
              </a:ext>
            </a:extLst>
          </p:cNvPr>
          <p:cNvSpPr txBox="1"/>
          <p:nvPr/>
        </p:nvSpPr>
        <p:spPr>
          <a:xfrm>
            <a:off x="5280438" y="696113"/>
            <a:ext cx="1905825" cy="1077218"/>
          </a:xfrm>
          <a:prstGeom prst="rect">
            <a:avLst/>
          </a:prstGeom>
          <a:noFill/>
        </p:spPr>
        <p:txBody>
          <a:bodyPr wrap="square" rtlCol="0">
            <a:spAutoFit/>
          </a:bodyPr>
          <a:lstStyle/>
          <a:p>
            <a:r>
              <a:rPr lang="en-GB" sz="3200" dirty="0">
                <a:solidFill>
                  <a:srgbClr val="00B050"/>
                </a:solidFill>
              </a:rPr>
              <a:t>Method </a:t>
            </a:r>
            <a:r>
              <a:rPr lang="en-GB" sz="3200" b="1" dirty="0">
                <a:solidFill>
                  <a:srgbClr val="00B050"/>
                </a:solidFill>
              </a:rPr>
              <a:t>header</a:t>
            </a:r>
          </a:p>
        </p:txBody>
      </p:sp>
      <p:sp>
        <p:nvSpPr>
          <p:cNvPr id="6" name="TextBox 5">
            <a:extLst>
              <a:ext uri="{FF2B5EF4-FFF2-40B4-BE49-F238E27FC236}">
                <a16:creationId xmlns:a16="http://schemas.microsoft.com/office/drawing/2014/main" id="{F41C0D0B-89D6-CEB1-D50B-BAD563DA53B1}"/>
              </a:ext>
            </a:extLst>
          </p:cNvPr>
          <p:cNvSpPr txBox="1"/>
          <p:nvPr/>
        </p:nvSpPr>
        <p:spPr>
          <a:xfrm>
            <a:off x="277053" y="6131758"/>
            <a:ext cx="5930021" cy="584775"/>
          </a:xfrm>
          <a:prstGeom prst="rect">
            <a:avLst/>
          </a:prstGeom>
          <a:noFill/>
        </p:spPr>
        <p:txBody>
          <a:bodyPr wrap="none" rtlCol="0">
            <a:spAutoFit/>
          </a:bodyPr>
          <a:lstStyle/>
          <a:p>
            <a:r>
              <a:rPr lang="en-GB" sz="3200" b="1" dirty="0" err="1">
                <a:solidFill>
                  <a:srgbClr val="00B0F0"/>
                </a:solidFill>
              </a:rPr>
              <a:t>val</a:t>
            </a:r>
            <a:r>
              <a:rPr lang="en-GB" sz="3200" dirty="0">
                <a:solidFill>
                  <a:srgbClr val="00B0F0"/>
                </a:solidFill>
              </a:rPr>
              <a:t> is </a:t>
            </a:r>
            <a:r>
              <a:rPr lang="en-GB" sz="3200" i="1" dirty="0">
                <a:solidFill>
                  <a:srgbClr val="00B0F0"/>
                </a:solidFill>
              </a:rPr>
              <a:t>passed in </a:t>
            </a:r>
            <a:r>
              <a:rPr lang="en-GB" sz="3200" dirty="0">
                <a:solidFill>
                  <a:srgbClr val="00B0F0"/>
                </a:solidFill>
              </a:rPr>
              <a:t>becoming </a:t>
            </a:r>
            <a:r>
              <a:rPr lang="en-GB" sz="3200" b="1" dirty="0">
                <a:solidFill>
                  <a:srgbClr val="00B0F0"/>
                </a:solidFill>
              </a:rPr>
              <a:t>number</a:t>
            </a:r>
            <a:r>
              <a:rPr lang="en-GB" sz="3200" dirty="0">
                <a:solidFill>
                  <a:srgbClr val="00B0F0"/>
                </a:solidFill>
              </a:rPr>
              <a:t> </a:t>
            </a:r>
          </a:p>
        </p:txBody>
      </p:sp>
    </p:spTree>
    <p:extLst>
      <p:ext uri="{BB962C8B-B14F-4D97-AF65-F5344CB8AC3E}">
        <p14:creationId xmlns:p14="http://schemas.microsoft.com/office/powerpoint/2010/main" val="3959199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up)">
                                      <p:cBhvr>
                                        <p:cTn id="21" dur="500"/>
                                        <p:tgtEl>
                                          <p:spTgt spid="7"/>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up)">
                                      <p:cBhvr>
                                        <p:cTn id="30" dur="500"/>
                                        <p:tgtEl>
                                          <p:spTgt spid="15"/>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up)">
                                      <p:cBhvr>
                                        <p:cTn id="34" dur="500"/>
                                        <p:tgtEl>
                                          <p:spTgt spid="16"/>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up)">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1"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500"/>
                                        <p:tgtEl>
                                          <p:spTgt spid="20"/>
                                        </p:tgtEl>
                                      </p:cBhvr>
                                    </p:animEffect>
                                  </p:childTnLst>
                                </p:cTn>
                              </p:par>
                            </p:childTnLst>
                          </p:cTn>
                        </p:par>
                        <p:par>
                          <p:cTn id="48" fill="hold">
                            <p:stCondLst>
                              <p:cond delay="1000"/>
                            </p:stCondLst>
                            <p:childTnLst>
                              <p:par>
                                <p:cTn id="49" presetID="22" presetClass="entr" presetSubtype="1" fill="hold" grpId="1"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up)">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5" grpId="0" animBg="1"/>
      <p:bldP spid="9" grpId="0"/>
      <p:bldP spid="15" grpId="0" animBg="1"/>
      <p:bldP spid="17" grpId="0"/>
      <p:bldP spid="19" grpId="1" animBg="1"/>
      <p:bldP spid="21" grpId="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Return Types</a:t>
            </a:r>
          </a:p>
        </p:txBody>
      </p:sp>
      <p:sp>
        <p:nvSpPr>
          <p:cNvPr id="3" name="Content Placeholder 2"/>
          <p:cNvSpPr>
            <a:spLocks noGrp="1"/>
          </p:cNvSpPr>
          <p:nvPr>
            <p:ph idx="1"/>
          </p:nvPr>
        </p:nvSpPr>
        <p:spPr>
          <a:xfrm>
            <a:off x="609600" y="1600201"/>
            <a:ext cx="9601200" cy="4525963"/>
          </a:xfrm>
        </p:spPr>
        <p:txBody>
          <a:bodyPr>
            <a:normAutofit fontScale="92500" lnSpcReduction="10000"/>
          </a:bodyPr>
          <a:lstStyle/>
          <a:p>
            <a:pPr marL="0" indent="0">
              <a:buNone/>
            </a:pPr>
            <a:endParaRPr lang="en-IE" sz="1800" dirty="0"/>
          </a:p>
          <a:p>
            <a:r>
              <a:rPr lang="en-IE" dirty="0"/>
              <a:t>Methods can return any </a:t>
            </a:r>
            <a:r>
              <a:rPr lang="en-IE" b="1" dirty="0"/>
              <a:t>type of data </a:t>
            </a:r>
            <a:r>
              <a:rPr lang="en-IE" dirty="0"/>
              <a:t>e.g.</a:t>
            </a:r>
          </a:p>
          <a:p>
            <a:pPr lvl="1"/>
            <a:r>
              <a:rPr lang="en-IE" dirty="0" err="1"/>
              <a:t>boolean</a:t>
            </a:r>
            <a:endParaRPr lang="en-IE" dirty="0"/>
          </a:p>
          <a:p>
            <a:pPr lvl="1"/>
            <a:r>
              <a:rPr lang="en-IE" dirty="0"/>
              <a:t>byte</a:t>
            </a:r>
          </a:p>
          <a:p>
            <a:pPr lvl="1"/>
            <a:r>
              <a:rPr lang="en-IE" dirty="0"/>
              <a:t>char</a:t>
            </a:r>
          </a:p>
          <a:p>
            <a:pPr lvl="1"/>
            <a:r>
              <a:rPr lang="en-IE" dirty="0" err="1"/>
              <a:t>int</a:t>
            </a:r>
            <a:endParaRPr lang="en-IE" dirty="0"/>
          </a:p>
          <a:p>
            <a:pPr lvl="1"/>
            <a:r>
              <a:rPr lang="en-IE" dirty="0"/>
              <a:t>float</a:t>
            </a:r>
          </a:p>
          <a:p>
            <a:pPr lvl="1"/>
            <a:r>
              <a:rPr lang="en-IE" dirty="0"/>
              <a:t>String </a:t>
            </a:r>
          </a:p>
          <a:p>
            <a:pPr lvl="1"/>
            <a:r>
              <a:rPr lang="en-IE" dirty="0"/>
              <a:t>etc.</a:t>
            </a:r>
          </a:p>
          <a:p>
            <a:r>
              <a:rPr lang="en-IE" dirty="0"/>
              <a:t>You can only have </a:t>
            </a:r>
            <a:r>
              <a:rPr lang="en-IE" b="1" dirty="0"/>
              <a:t>one return type, per method</a:t>
            </a:r>
            <a:r>
              <a:rPr lang="en-IE" dirty="0"/>
              <a:t>.</a:t>
            </a:r>
          </a:p>
          <a:p>
            <a:endParaRPr lang="en-IE" dirty="0"/>
          </a:p>
          <a:p>
            <a:endParaRPr lang="en-IE" dirty="0"/>
          </a:p>
          <a:p>
            <a:endParaRPr lang="en-IE" dirty="0"/>
          </a:p>
          <a:p>
            <a:endParaRPr lang="en-IE" dirty="0"/>
          </a:p>
          <a:p>
            <a:endParaRPr lang="en-IE" dirty="0"/>
          </a:p>
        </p:txBody>
      </p:sp>
      <p:pic>
        <p:nvPicPr>
          <p:cNvPr id="4" name="Picture 3">
            <a:extLst>
              <a:ext uri="{FF2B5EF4-FFF2-40B4-BE49-F238E27FC236}">
                <a16:creationId xmlns:a16="http://schemas.microsoft.com/office/drawing/2014/main" id="{D21FE46B-9B78-9331-B921-B4E6C2ADFC6B}"/>
              </a:ext>
            </a:extLst>
          </p:cNvPr>
          <p:cNvPicPr>
            <a:picLocks noChangeAspect="1"/>
          </p:cNvPicPr>
          <p:nvPr/>
        </p:nvPicPr>
        <p:blipFill>
          <a:blip r:embed="rId3"/>
          <a:stretch>
            <a:fillRect/>
          </a:stretch>
        </p:blipFill>
        <p:spPr>
          <a:xfrm>
            <a:off x="7543800" y="0"/>
            <a:ext cx="4269384" cy="2159860"/>
          </a:xfrm>
          <a:prstGeom prst="rect">
            <a:avLst/>
          </a:prstGeom>
        </p:spPr>
      </p:pic>
    </p:spTree>
    <p:extLst>
      <p:ext uri="{BB962C8B-B14F-4D97-AF65-F5344CB8AC3E}">
        <p14:creationId xmlns:p14="http://schemas.microsoft.com/office/powerpoint/2010/main" val="51634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pPr marL="0" indent="0">
              <a:buNone/>
            </a:pPr>
            <a:endParaRPr lang="en-IE" dirty="0"/>
          </a:p>
          <a:p>
            <a:pPr marL="0" indent="0">
              <a:buNone/>
            </a:pPr>
            <a:r>
              <a:rPr lang="en-IE" dirty="0"/>
              <a:t>Method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a:p>
            <a:pPr marL="0" indent="0">
              <a:buNone/>
            </a:pPr>
            <a:endParaRPr lang="en-IE" dirty="0"/>
          </a:p>
        </p:txBody>
      </p:sp>
      <p:sp>
        <p:nvSpPr>
          <p:cNvPr id="6" name="Rectangle 5"/>
          <p:cNvSpPr/>
          <p:nvPr/>
        </p:nvSpPr>
        <p:spPr>
          <a:xfrm>
            <a:off x="6350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7" name="Donut 6"/>
          <p:cNvSpPr/>
          <p:nvPr/>
        </p:nvSpPr>
        <p:spPr>
          <a:xfrm>
            <a:off x="812800" y="3269225"/>
            <a:ext cx="3454400" cy="593959"/>
          </a:xfrm>
          <a:prstGeom prst="donut">
            <a:avLst>
              <a:gd name="adj" fmla="val 737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143531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Method name</a:t>
            </a:r>
          </a:p>
        </p:txBody>
      </p:sp>
      <p:sp>
        <p:nvSpPr>
          <p:cNvPr id="3" name="Content Placeholder 2"/>
          <p:cNvSpPr>
            <a:spLocks noGrp="1"/>
          </p:cNvSpPr>
          <p:nvPr>
            <p:ph idx="1"/>
          </p:nvPr>
        </p:nvSpPr>
        <p:spPr>
          <a:xfrm>
            <a:off x="609600" y="1600201"/>
            <a:ext cx="9601200" cy="4525963"/>
          </a:xfrm>
        </p:spPr>
        <p:txBody>
          <a:bodyPr>
            <a:normAutofit lnSpcReduction="10000"/>
          </a:bodyPr>
          <a:lstStyle/>
          <a:p>
            <a:r>
              <a:rPr lang="en-IE" dirty="0"/>
              <a:t>Method names should:</a:t>
            </a:r>
          </a:p>
          <a:p>
            <a:pPr marL="457189" lvl="1" indent="0">
              <a:buNone/>
            </a:pPr>
            <a:endParaRPr lang="en-IE" dirty="0"/>
          </a:p>
          <a:p>
            <a:pPr lvl="1"/>
            <a:r>
              <a:rPr lang="en-IE" dirty="0"/>
              <a:t>Use </a:t>
            </a:r>
            <a:r>
              <a:rPr lang="en-IE" b="1" dirty="0">
                <a:highlight>
                  <a:srgbClr val="FFFF00"/>
                </a:highlight>
              </a:rPr>
              <a:t>verbs</a:t>
            </a:r>
            <a:r>
              <a:rPr lang="en-IE" dirty="0"/>
              <a:t> (i.e. actions) to describe what the method does e.g. </a:t>
            </a:r>
          </a:p>
          <a:p>
            <a:pPr lvl="2"/>
            <a:r>
              <a:rPr lang="en-IE" dirty="0" err="1"/>
              <a:t>calculateTax</a:t>
            </a:r>
            <a:endParaRPr lang="en-IE" dirty="0"/>
          </a:p>
          <a:p>
            <a:pPr lvl="2"/>
            <a:r>
              <a:rPr lang="en-IE" dirty="0" err="1"/>
              <a:t>printResults</a:t>
            </a:r>
            <a:endParaRPr lang="en-IE" dirty="0"/>
          </a:p>
          <a:p>
            <a:pPr marL="914377" lvl="2" indent="0">
              <a:buNone/>
            </a:pPr>
            <a:endParaRPr lang="en-IE" dirty="0"/>
          </a:p>
          <a:p>
            <a:pPr lvl="1"/>
            <a:r>
              <a:rPr lang="en-IE" dirty="0"/>
              <a:t>Be </a:t>
            </a:r>
            <a:r>
              <a:rPr lang="en-IE" b="1" dirty="0"/>
              <a:t>mixed case </a:t>
            </a:r>
            <a:r>
              <a:rPr lang="en-IE" dirty="0"/>
              <a:t>with the first letter lowercase </a:t>
            </a:r>
            <a:br>
              <a:rPr lang="en-IE" dirty="0"/>
            </a:br>
            <a:r>
              <a:rPr lang="en-IE" dirty="0"/>
              <a:t>and the first letter of each internal word capitalised.</a:t>
            </a:r>
            <a:br>
              <a:rPr lang="en-IE" dirty="0"/>
            </a:br>
            <a:r>
              <a:rPr lang="en-IE" dirty="0"/>
              <a:t>i.e. </a:t>
            </a:r>
            <a:r>
              <a:rPr lang="en-IE" b="1" dirty="0" err="1"/>
              <a:t>camelCase</a:t>
            </a:r>
            <a:endParaRPr lang="en-IE" b="1" dirty="0"/>
          </a:p>
        </p:txBody>
      </p:sp>
      <p:pic>
        <p:nvPicPr>
          <p:cNvPr id="4" name="Picture 3">
            <a:extLst>
              <a:ext uri="{FF2B5EF4-FFF2-40B4-BE49-F238E27FC236}">
                <a16:creationId xmlns:a16="http://schemas.microsoft.com/office/drawing/2014/main" id="{C656BB62-8EF0-6247-9B3D-97A041B93AC6}"/>
              </a:ext>
            </a:extLst>
          </p:cNvPr>
          <p:cNvPicPr>
            <a:picLocks noChangeAspect="1"/>
          </p:cNvPicPr>
          <p:nvPr/>
        </p:nvPicPr>
        <p:blipFill>
          <a:blip r:embed="rId3"/>
          <a:stretch>
            <a:fillRect/>
          </a:stretch>
        </p:blipFill>
        <p:spPr>
          <a:xfrm>
            <a:off x="9330267" y="4534431"/>
            <a:ext cx="2252133" cy="1591733"/>
          </a:xfrm>
          <a:prstGeom prst="rect">
            <a:avLst/>
          </a:prstGeom>
        </p:spPr>
      </p:pic>
      <p:pic>
        <p:nvPicPr>
          <p:cNvPr id="7" name="Picture 6">
            <a:extLst>
              <a:ext uri="{FF2B5EF4-FFF2-40B4-BE49-F238E27FC236}">
                <a16:creationId xmlns:a16="http://schemas.microsoft.com/office/drawing/2014/main" id="{700A94DE-62CF-2363-0089-5FE002B12FEA}"/>
              </a:ext>
            </a:extLst>
          </p:cNvPr>
          <p:cNvPicPr>
            <a:picLocks noChangeAspect="1"/>
          </p:cNvPicPr>
          <p:nvPr/>
        </p:nvPicPr>
        <p:blipFill>
          <a:blip r:embed="rId4"/>
          <a:stretch>
            <a:fillRect/>
          </a:stretch>
        </p:blipFill>
        <p:spPr>
          <a:xfrm>
            <a:off x="7162800" y="274638"/>
            <a:ext cx="4288004" cy="1858961"/>
          </a:xfrm>
          <a:prstGeom prst="rect">
            <a:avLst/>
          </a:prstGeom>
        </p:spPr>
      </p:pic>
    </p:spTree>
    <p:extLst>
      <p:ext uri="{BB962C8B-B14F-4D97-AF65-F5344CB8AC3E}">
        <p14:creationId xmlns:p14="http://schemas.microsoft.com/office/powerpoint/2010/main" val="571479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Topics list</a:t>
            </a:r>
            <a:endParaRPr lang="en-IE" dirty="0"/>
          </a:p>
        </p:txBody>
      </p:sp>
      <p:sp>
        <p:nvSpPr>
          <p:cNvPr id="5" name="Content Placeholder 4"/>
          <p:cNvSpPr>
            <a:spLocks noGrp="1"/>
          </p:cNvSpPr>
          <p:nvPr>
            <p:ph idx="1"/>
          </p:nvPr>
        </p:nvSpPr>
        <p:spPr/>
        <p:txBody>
          <a:bodyPr>
            <a:normAutofit/>
          </a:bodyPr>
          <a:lstStyle/>
          <a:p>
            <a:endParaRPr lang="en-IE" dirty="0"/>
          </a:p>
          <a:p>
            <a:pPr marL="0" indent="0">
              <a:buNone/>
            </a:pPr>
            <a:r>
              <a:rPr lang="en-IE" dirty="0"/>
              <a:t>Method terminology:</a:t>
            </a:r>
          </a:p>
          <a:p>
            <a:pPr marL="1066773" lvl="1" indent="-609585">
              <a:buFont typeface="+mj-lt"/>
              <a:buAutoNum type="arabicPeriod"/>
            </a:pPr>
            <a:r>
              <a:rPr lang="en-IE" dirty="0"/>
              <a:t>Return type</a:t>
            </a:r>
          </a:p>
          <a:p>
            <a:pPr marL="1066773" lvl="1" indent="-609585">
              <a:buFont typeface="+mj-lt"/>
              <a:buAutoNum type="arabicPeriod"/>
            </a:pPr>
            <a:r>
              <a:rPr lang="en-IE" dirty="0"/>
              <a:t>Method names</a:t>
            </a:r>
          </a:p>
          <a:p>
            <a:pPr marL="1066773" lvl="1" indent="-609585">
              <a:buFont typeface="+mj-lt"/>
              <a:buAutoNum type="arabicPeriod"/>
            </a:pPr>
            <a:r>
              <a:rPr lang="en-IE" dirty="0"/>
              <a:t>Parameter list</a:t>
            </a:r>
          </a:p>
          <a:p>
            <a:pPr marL="0" indent="0">
              <a:buNone/>
            </a:pPr>
            <a:endParaRPr lang="en-IE" dirty="0"/>
          </a:p>
          <a:p>
            <a:pPr marL="0" indent="0">
              <a:buNone/>
            </a:pPr>
            <a:endParaRPr lang="en-IE" dirty="0"/>
          </a:p>
        </p:txBody>
      </p:sp>
      <p:sp>
        <p:nvSpPr>
          <p:cNvPr id="6" name="Rectangle 5"/>
          <p:cNvSpPr/>
          <p:nvPr/>
        </p:nvSpPr>
        <p:spPr>
          <a:xfrm>
            <a:off x="609600" y="2209800"/>
            <a:ext cx="6477000" cy="2133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7" name="Donut 6"/>
          <p:cNvSpPr/>
          <p:nvPr/>
        </p:nvSpPr>
        <p:spPr>
          <a:xfrm>
            <a:off x="952499" y="3749442"/>
            <a:ext cx="3213100" cy="593959"/>
          </a:xfrm>
          <a:prstGeom prst="donut">
            <a:avLst>
              <a:gd name="adj" fmla="val 737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187684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Parameter list</a:t>
            </a:r>
          </a:p>
        </p:txBody>
      </p:sp>
      <p:sp>
        <p:nvSpPr>
          <p:cNvPr id="3" name="Content Placeholder 2"/>
          <p:cNvSpPr>
            <a:spLocks noGrp="1"/>
          </p:cNvSpPr>
          <p:nvPr>
            <p:ph idx="1"/>
          </p:nvPr>
        </p:nvSpPr>
        <p:spPr>
          <a:xfrm>
            <a:off x="609600" y="1600201"/>
            <a:ext cx="9601200" cy="4525963"/>
          </a:xfrm>
        </p:spPr>
        <p:txBody>
          <a:bodyPr/>
          <a:lstStyle/>
          <a:p>
            <a:pPr marL="0" indent="0">
              <a:buNone/>
            </a:pPr>
            <a:endParaRPr lang="en-IE" dirty="0"/>
          </a:p>
          <a:p>
            <a:r>
              <a:rPr lang="en-IE" dirty="0"/>
              <a:t>Methods </a:t>
            </a:r>
            <a:r>
              <a:rPr lang="en-IE" b="1" dirty="0"/>
              <a:t>take in data </a:t>
            </a:r>
            <a:r>
              <a:rPr lang="en-IE" dirty="0"/>
              <a:t>via their </a:t>
            </a:r>
            <a:r>
              <a:rPr lang="en-IE" b="1" dirty="0"/>
              <a:t>parameters</a:t>
            </a:r>
            <a:r>
              <a:rPr lang="en-IE" dirty="0"/>
              <a:t>.</a:t>
            </a:r>
          </a:p>
          <a:p>
            <a:endParaRPr lang="en-IE" dirty="0"/>
          </a:p>
          <a:p>
            <a:r>
              <a:rPr lang="en-IE" dirty="0"/>
              <a:t>Methods do not have to pass parameters </a:t>
            </a:r>
            <a:br>
              <a:rPr lang="en-IE" dirty="0"/>
            </a:br>
            <a:r>
              <a:rPr lang="en-IE" dirty="0"/>
              <a:t>e.g. setup() has </a:t>
            </a:r>
            <a:r>
              <a:rPr lang="en-IE" b="1" dirty="0"/>
              <a:t>no parameters</a:t>
            </a:r>
            <a:r>
              <a:rPr lang="en-IE" dirty="0"/>
              <a:t>.</a:t>
            </a:r>
          </a:p>
        </p:txBody>
      </p:sp>
      <p:pic>
        <p:nvPicPr>
          <p:cNvPr id="6" name="Picture 5">
            <a:extLst>
              <a:ext uri="{FF2B5EF4-FFF2-40B4-BE49-F238E27FC236}">
                <a16:creationId xmlns:a16="http://schemas.microsoft.com/office/drawing/2014/main" id="{ECA8175D-C7D7-B614-ED0D-1BE82E1DB345}"/>
              </a:ext>
            </a:extLst>
          </p:cNvPr>
          <p:cNvPicPr>
            <a:picLocks noChangeAspect="1"/>
          </p:cNvPicPr>
          <p:nvPr/>
        </p:nvPicPr>
        <p:blipFill>
          <a:blip r:embed="rId3"/>
          <a:stretch>
            <a:fillRect/>
          </a:stretch>
        </p:blipFill>
        <p:spPr>
          <a:xfrm>
            <a:off x="7263195" y="381000"/>
            <a:ext cx="4290630" cy="1844523"/>
          </a:xfrm>
          <a:prstGeom prst="rect">
            <a:avLst/>
          </a:prstGeom>
        </p:spPr>
      </p:pic>
    </p:spTree>
    <p:extLst>
      <p:ext uri="{BB962C8B-B14F-4D97-AF65-F5344CB8AC3E}">
        <p14:creationId xmlns:p14="http://schemas.microsoft.com/office/powerpoint/2010/main" val="3755135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0" y="1666910"/>
            <a:ext cx="2667000" cy="1384995"/>
          </a:xfrm>
          <a:prstGeom prst="rect">
            <a:avLst/>
          </a:prstGeom>
          <a:noFill/>
        </p:spPr>
        <p:txBody>
          <a:bodyPr wrap="square" rtlCol="0">
            <a:spAutoFit/>
          </a:bodyPr>
          <a:lstStyle/>
          <a:p>
            <a:r>
              <a:rPr lang="en-IE" sz="2800" dirty="0"/>
              <a:t>void </a:t>
            </a:r>
            <a:r>
              <a:rPr lang="en-IE" sz="2800" dirty="0" err="1"/>
              <a:t>noStroke</a:t>
            </a:r>
            <a:r>
              <a:rPr lang="en-IE" sz="2800" dirty="0"/>
              <a:t>()</a:t>
            </a:r>
          </a:p>
          <a:p>
            <a:r>
              <a:rPr lang="en-IE" sz="2800" dirty="0"/>
              <a:t>void setup()</a:t>
            </a:r>
          </a:p>
          <a:p>
            <a:r>
              <a:rPr lang="en-IE" sz="2800" dirty="0"/>
              <a:t>void </a:t>
            </a:r>
            <a:r>
              <a:rPr lang="en-IE" sz="2800" dirty="0" err="1"/>
              <a:t>noCursor</a:t>
            </a:r>
            <a:r>
              <a:rPr lang="en-IE" sz="2800" dirty="0"/>
              <a:t>()</a:t>
            </a:r>
          </a:p>
        </p:txBody>
      </p:sp>
      <p:sp>
        <p:nvSpPr>
          <p:cNvPr id="2" name="Title 1"/>
          <p:cNvSpPr>
            <a:spLocks noGrp="1"/>
          </p:cNvSpPr>
          <p:nvPr>
            <p:ph type="title"/>
          </p:nvPr>
        </p:nvSpPr>
        <p:spPr/>
        <p:txBody>
          <a:bodyPr/>
          <a:lstStyle/>
          <a:p>
            <a:r>
              <a:rPr lang="en-IE" dirty="0"/>
              <a:t>Methods </a:t>
            </a:r>
            <a:r>
              <a:rPr lang="en-IE" b="1" dirty="0"/>
              <a:t>with NO parameters</a:t>
            </a:r>
          </a:p>
        </p:txBody>
      </p:sp>
      <p:sp>
        <p:nvSpPr>
          <p:cNvPr id="3" name="Content Placeholder 2"/>
          <p:cNvSpPr>
            <a:spLocks noGrp="1"/>
          </p:cNvSpPr>
          <p:nvPr>
            <p:ph idx="1"/>
          </p:nvPr>
        </p:nvSpPr>
        <p:spPr>
          <a:xfrm>
            <a:off x="812800" y="3429000"/>
            <a:ext cx="10769600" cy="3159323"/>
          </a:xfrm>
        </p:spPr>
        <p:txBody>
          <a:bodyPr>
            <a:normAutofit/>
          </a:bodyPr>
          <a:lstStyle/>
          <a:p>
            <a:r>
              <a:rPr lang="en-IE" sz="2800" dirty="0"/>
              <a:t>Methods do not have to pass parameters. </a:t>
            </a:r>
          </a:p>
          <a:p>
            <a:r>
              <a:rPr lang="en-IE" sz="2800" dirty="0"/>
              <a:t>These methods have </a:t>
            </a:r>
            <a:r>
              <a:rPr lang="en-IE" sz="2800" b="1" dirty="0"/>
              <a:t>no parameters</a:t>
            </a:r>
            <a:r>
              <a:rPr lang="en-IE" sz="2800" dirty="0"/>
              <a:t>; </a:t>
            </a:r>
            <a:br>
              <a:rPr lang="en-IE" sz="2800" dirty="0"/>
            </a:br>
            <a:r>
              <a:rPr lang="en-IE" sz="2800" dirty="0"/>
              <a:t>note how no variable is passed in the parenthesis i.e. ().</a:t>
            </a:r>
          </a:p>
          <a:p>
            <a:r>
              <a:rPr lang="en-IE" sz="2800" dirty="0"/>
              <a:t>These methods don’t need any additional information to do its tasks.</a:t>
            </a:r>
          </a:p>
          <a:p>
            <a:pPr lvl="1"/>
            <a:r>
              <a:rPr lang="en-IE" sz="2400" dirty="0"/>
              <a:t>E.g. </a:t>
            </a:r>
            <a:r>
              <a:rPr lang="en-IE" sz="2400" dirty="0" err="1">
                <a:latin typeface="Courier New" panose="02070309020205020404" pitchFamily="49" charset="0"/>
                <a:cs typeface="Courier New" panose="02070309020205020404" pitchFamily="49" charset="0"/>
              </a:rPr>
              <a:t>outputHello</a:t>
            </a:r>
            <a:r>
              <a:rPr lang="en-IE" sz="2400" dirty="0">
                <a:latin typeface="Courier New" panose="02070309020205020404" pitchFamily="49" charset="0"/>
                <a:cs typeface="Courier New" panose="02070309020205020404" pitchFamily="49" charset="0"/>
              </a:rPr>
              <a:t>();</a:t>
            </a:r>
          </a:p>
        </p:txBody>
      </p:sp>
      <p:sp>
        <p:nvSpPr>
          <p:cNvPr id="10" name="Rectangle 9"/>
          <p:cNvSpPr/>
          <p:nvPr/>
        </p:nvSpPr>
        <p:spPr>
          <a:xfrm>
            <a:off x="6621271" y="1684231"/>
            <a:ext cx="304800" cy="5076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13" name="Rectangle 12"/>
          <p:cNvSpPr/>
          <p:nvPr/>
        </p:nvSpPr>
        <p:spPr>
          <a:xfrm>
            <a:off x="6164071" y="2141431"/>
            <a:ext cx="304800" cy="5076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14" name="Rectangle 13"/>
          <p:cNvSpPr/>
          <p:nvPr/>
        </p:nvSpPr>
        <p:spPr>
          <a:xfrm>
            <a:off x="6697471" y="2572841"/>
            <a:ext cx="304800" cy="5076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5" name="TextBox 4"/>
          <p:cNvSpPr txBox="1"/>
          <p:nvPr/>
        </p:nvSpPr>
        <p:spPr>
          <a:xfrm>
            <a:off x="5173473" y="2877641"/>
            <a:ext cx="184731" cy="369332"/>
          </a:xfrm>
          <a:prstGeom prst="rect">
            <a:avLst/>
          </a:prstGeom>
          <a:noFill/>
        </p:spPr>
        <p:txBody>
          <a:bodyPr wrap="none" rtlCol="0">
            <a:spAutoFit/>
          </a:bodyPr>
          <a:lstStyle/>
          <a:p>
            <a:endParaRPr lang="en-IE" sz="1800" dirty="0"/>
          </a:p>
        </p:txBody>
      </p:sp>
      <p:sp>
        <p:nvSpPr>
          <p:cNvPr id="4" name="TextBox 3">
            <a:extLst>
              <a:ext uri="{FF2B5EF4-FFF2-40B4-BE49-F238E27FC236}">
                <a16:creationId xmlns:a16="http://schemas.microsoft.com/office/drawing/2014/main" id="{3DE298B1-7D87-5B4C-BD37-CBB13E882382}"/>
              </a:ext>
            </a:extLst>
          </p:cNvPr>
          <p:cNvSpPr txBox="1"/>
          <p:nvPr/>
        </p:nvSpPr>
        <p:spPr>
          <a:xfrm>
            <a:off x="5689600" y="5354808"/>
            <a:ext cx="5612434" cy="1569660"/>
          </a:xfrm>
          <a:prstGeom prst="rect">
            <a:avLst/>
          </a:prstGeom>
          <a:noFill/>
          <a:ln>
            <a:solidFill>
              <a:schemeClr val="accent1"/>
            </a:solidFill>
          </a:ln>
        </p:spPr>
        <p:txBody>
          <a:bodyPr wrap="none" rtlCol="0">
            <a:spAutoFit/>
          </a:bodyPr>
          <a:lstStyle/>
          <a:p>
            <a:r>
              <a:rPr lang="en-GB" sz="3200" dirty="0">
                <a:latin typeface="Courier New" panose="02070309020205020404" pitchFamily="49" charset="0"/>
                <a:cs typeface="Courier New" panose="02070309020205020404" pitchFamily="49" charset="0"/>
              </a:rPr>
              <a:t>void </a:t>
            </a:r>
            <a:r>
              <a:rPr lang="en-GB" sz="3200" dirty="0" err="1">
                <a:latin typeface="Courier New" panose="02070309020205020404" pitchFamily="49" charset="0"/>
                <a:cs typeface="Courier New" panose="02070309020205020404" pitchFamily="49" charset="0"/>
              </a:rPr>
              <a:t>outputHello</a:t>
            </a:r>
            <a:r>
              <a:rPr lang="en-GB" sz="3200" dirty="0">
                <a:latin typeface="Courier New" panose="02070309020205020404" pitchFamily="49" charset="0"/>
                <a:cs typeface="Courier New" panose="02070309020205020404" pitchFamily="49" charset="0"/>
              </a:rPr>
              <a:t>(){</a:t>
            </a:r>
          </a:p>
          <a:p>
            <a:r>
              <a:rPr lang="en-GB" sz="3200" dirty="0">
                <a:latin typeface="Courier New" panose="02070309020205020404" pitchFamily="49" charset="0"/>
                <a:cs typeface="Courier New" panose="02070309020205020404" pitchFamily="49" charset="0"/>
              </a:rPr>
              <a:t>	</a:t>
            </a:r>
            <a:r>
              <a:rPr lang="en-GB" sz="3200" dirty="0" err="1">
                <a:latin typeface="Courier New" panose="02070309020205020404" pitchFamily="49" charset="0"/>
                <a:cs typeface="Courier New" panose="02070309020205020404" pitchFamily="49" charset="0"/>
              </a:rPr>
              <a:t>println</a:t>
            </a:r>
            <a:r>
              <a:rPr lang="en-GB" sz="3200" dirty="0">
                <a:latin typeface="Courier New" panose="02070309020205020404" pitchFamily="49" charset="0"/>
                <a:cs typeface="Courier New" panose="02070309020205020404" pitchFamily="49" charset="0"/>
              </a:rPr>
              <a:t>(“Hello’);</a:t>
            </a:r>
          </a:p>
          <a:p>
            <a:r>
              <a:rPr lang="en-GB" sz="3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93041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2438400" y="1691251"/>
            <a:ext cx="7772400" cy="15634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268203" numCol="1" anchor="ctr" anchorCtr="0" compatLnSpc="1">
            <a:prstTxWarp prst="textNoShape">
              <a:avLst/>
            </a:prstTxWarp>
            <a:spAutoFit/>
          </a:bodyPr>
          <a:lstStyle/>
          <a:p>
            <a:pPr defTabSz="914377" fontAlgn="base">
              <a:spcBef>
                <a:spcPct val="0"/>
              </a:spcBef>
              <a:spcAft>
                <a:spcPct val="0"/>
              </a:spcAft>
            </a:pPr>
            <a:r>
              <a:rPr lang="en-US" altLang="en-US" sz="2800" dirty="0">
                <a:solidFill>
                  <a:srgbClr val="000000"/>
                </a:solidFill>
                <a:latin typeface="Monaco"/>
                <a:cs typeface="Arial" pitchFamily="34" charset="0"/>
              </a:rPr>
              <a:t>void </a:t>
            </a:r>
            <a:r>
              <a:rPr lang="en-US" altLang="en-US" sz="2800" dirty="0" err="1">
                <a:solidFill>
                  <a:srgbClr val="000000"/>
                </a:solidFill>
                <a:latin typeface="Monaco"/>
                <a:cs typeface="Arial" pitchFamily="34" charset="0"/>
              </a:rPr>
              <a:t>strokeWeight</a:t>
            </a:r>
            <a:r>
              <a:rPr lang="en-US" altLang="en-US" sz="2800" dirty="0">
                <a:solidFill>
                  <a:srgbClr val="000000"/>
                </a:solidFill>
                <a:latin typeface="Monaco"/>
                <a:cs typeface="Arial" pitchFamily="34" charset="0"/>
              </a:rPr>
              <a:t>(float weight)</a:t>
            </a:r>
          </a:p>
          <a:p>
            <a:pPr defTabSz="914377" fontAlgn="base">
              <a:spcBef>
                <a:spcPct val="0"/>
              </a:spcBef>
              <a:spcAft>
                <a:spcPct val="0"/>
              </a:spcAft>
            </a:pPr>
            <a:endParaRPr lang="en-US" altLang="en-US" sz="2800" dirty="0">
              <a:solidFill>
                <a:srgbClr val="000000"/>
              </a:solidFill>
              <a:latin typeface="Monaco"/>
              <a:cs typeface="Arial" pitchFamily="34" charset="0"/>
            </a:endParaRPr>
          </a:p>
          <a:p>
            <a:pPr defTabSz="914377" fontAlgn="base">
              <a:spcBef>
                <a:spcPct val="0"/>
              </a:spcBef>
              <a:spcAft>
                <a:spcPct val="0"/>
              </a:spcAft>
            </a:pPr>
            <a:r>
              <a:rPr lang="en-US" altLang="en-US" sz="2800" dirty="0">
                <a:solidFill>
                  <a:srgbClr val="000000"/>
                </a:solidFill>
                <a:latin typeface="Monaco"/>
                <a:cs typeface="Arial" pitchFamily="34" charset="0"/>
              </a:rPr>
              <a:t>void size(</a:t>
            </a:r>
            <a:r>
              <a:rPr lang="en-US" altLang="en-US" sz="2800" dirty="0" err="1">
                <a:solidFill>
                  <a:srgbClr val="000000"/>
                </a:solidFill>
                <a:latin typeface="Monaco"/>
                <a:cs typeface="Arial" pitchFamily="34" charset="0"/>
              </a:rPr>
              <a:t>int</a:t>
            </a:r>
            <a:r>
              <a:rPr lang="en-US" altLang="en-US" sz="2800" dirty="0">
                <a:solidFill>
                  <a:srgbClr val="000000"/>
                </a:solidFill>
                <a:latin typeface="Monaco"/>
                <a:cs typeface="Arial" pitchFamily="34" charset="0"/>
              </a:rPr>
              <a:t> width, </a:t>
            </a:r>
            <a:r>
              <a:rPr lang="en-US" altLang="en-US" sz="2800" dirty="0" err="1">
                <a:solidFill>
                  <a:srgbClr val="000000"/>
                </a:solidFill>
                <a:latin typeface="Monaco"/>
                <a:cs typeface="Arial" pitchFamily="34" charset="0"/>
              </a:rPr>
              <a:t>int</a:t>
            </a:r>
            <a:r>
              <a:rPr lang="en-US" altLang="en-US" sz="2800" dirty="0">
                <a:solidFill>
                  <a:srgbClr val="000000"/>
                </a:solidFill>
                <a:latin typeface="Monaco"/>
                <a:cs typeface="Arial" pitchFamily="34" charset="0"/>
              </a:rPr>
              <a:t> height)</a:t>
            </a:r>
            <a:r>
              <a:rPr lang="en-US" altLang="en-US" sz="2800" dirty="0">
                <a:latin typeface="Arial" pitchFamily="34" charset="0"/>
                <a:cs typeface="Arial" pitchFamily="34" charset="0"/>
              </a:rPr>
              <a:t> </a:t>
            </a:r>
            <a:endParaRPr lang="en-US" altLang="en-US" sz="6600" dirty="0">
              <a:latin typeface="Arial" pitchFamily="34" charset="0"/>
              <a:cs typeface="Arial" pitchFamily="34" charset="0"/>
            </a:endParaRPr>
          </a:p>
        </p:txBody>
      </p:sp>
      <p:sp>
        <p:nvSpPr>
          <p:cNvPr id="2" name="Title 1"/>
          <p:cNvSpPr>
            <a:spLocks noGrp="1"/>
          </p:cNvSpPr>
          <p:nvPr>
            <p:ph type="title"/>
          </p:nvPr>
        </p:nvSpPr>
        <p:spPr/>
        <p:txBody>
          <a:bodyPr/>
          <a:lstStyle/>
          <a:p>
            <a:r>
              <a:rPr lang="en-IE" dirty="0"/>
              <a:t>Methods </a:t>
            </a:r>
            <a:r>
              <a:rPr lang="en-IE" b="1" dirty="0"/>
              <a:t>with Parameters</a:t>
            </a:r>
          </a:p>
        </p:txBody>
      </p:sp>
      <p:sp>
        <p:nvSpPr>
          <p:cNvPr id="3" name="Content Placeholder 2"/>
          <p:cNvSpPr>
            <a:spLocks noGrp="1"/>
          </p:cNvSpPr>
          <p:nvPr>
            <p:ph idx="1"/>
          </p:nvPr>
        </p:nvSpPr>
        <p:spPr>
          <a:xfrm>
            <a:off x="609601" y="3450401"/>
            <a:ext cx="10058400" cy="2873009"/>
          </a:xfrm>
        </p:spPr>
        <p:txBody>
          <a:bodyPr>
            <a:noAutofit/>
          </a:bodyPr>
          <a:lstStyle/>
          <a:p>
            <a:r>
              <a:rPr lang="en-IE" sz="2400" dirty="0"/>
              <a:t>A </a:t>
            </a:r>
            <a:r>
              <a:rPr lang="en-IE" sz="2400" b="1" dirty="0"/>
              <a:t>parameter</a:t>
            </a:r>
            <a:r>
              <a:rPr lang="en-IE" sz="2400" dirty="0"/>
              <a:t> is a </a:t>
            </a:r>
            <a:r>
              <a:rPr lang="en-IE" sz="2400" b="1" dirty="0"/>
              <a:t>variable declaration </a:t>
            </a:r>
            <a:r>
              <a:rPr lang="en-IE" sz="2400" dirty="0"/>
              <a:t>– </a:t>
            </a:r>
          </a:p>
          <a:p>
            <a:pPr lvl="1"/>
            <a:r>
              <a:rPr lang="en-IE" sz="2000" dirty="0"/>
              <a:t>it has a </a:t>
            </a:r>
            <a:r>
              <a:rPr lang="en-IE" sz="2000" b="1" dirty="0"/>
              <a:t>type</a:t>
            </a:r>
            <a:r>
              <a:rPr lang="en-IE" sz="2000" dirty="0"/>
              <a:t> (e.g. </a:t>
            </a:r>
            <a:r>
              <a:rPr lang="en-IE" sz="2000" dirty="0" err="1"/>
              <a:t>int</a:t>
            </a:r>
            <a:r>
              <a:rPr lang="en-IE" sz="2000" dirty="0"/>
              <a:t>) </a:t>
            </a:r>
            <a:br>
              <a:rPr lang="en-IE" sz="2000" dirty="0"/>
            </a:br>
            <a:r>
              <a:rPr lang="en-IE" sz="2000" dirty="0"/>
              <a:t>and a </a:t>
            </a:r>
            <a:r>
              <a:rPr lang="en-IE" sz="2000" b="1" dirty="0"/>
              <a:t>name</a:t>
            </a:r>
            <a:r>
              <a:rPr lang="en-IE" sz="2000" dirty="0"/>
              <a:t> (e.g. width). </a:t>
            </a:r>
          </a:p>
          <a:p>
            <a:r>
              <a:rPr lang="en-IE" sz="2400" dirty="0"/>
              <a:t>If a method needs additional information to execute, </a:t>
            </a:r>
            <a:br>
              <a:rPr lang="en-IE" sz="2400" dirty="0"/>
            </a:br>
            <a:r>
              <a:rPr lang="en-IE" sz="2400" dirty="0"/>
              <a:t>we provide a parameter, so that the information can be passed into it. </a:t>
            </a:r>
          </a:p>
          <a:p>
            <a:r>
              <a:rPr lang="en-IE" sz="2400" dirty="0"/>
              <a:t>The first method, </a:t>
            </a:r>
            <a:r>
              <a:rPr lang="en-IE" sz="2400" i="1" dirty="0" err="1">
                <a:solidFill>
                  <a:srgbClr val="FF0000"/>
                </a:solidFill>
              </a:rPr>
              <a:t>strokeWeight</a:t>
            </a:r>
            <a:r>
              <a:rPr lang="en-IE" sz="2400" dirty="0"/>
              <a:t>, above has </a:t>
            </a:r>
            <a:r>
              <a:rPr lang="en-IE" sz="2400" b="1" dirty="0"/>
              <a:t>one parameter</a:t>
            </a:r>
            <a:r>
              <a:rPr lang="en-IE" sz="2400" dirty="0"/>
              <a:t>.</a:t>
            </a:r>
          </a:p>
          <a:p>
            <a:r>
              <a:rPr lang="en-IE" sz="2400" dirty="0"/>
              <a:t>The second method </a:t>
            </a:r>
            <a:r>
              <a:rPr lang="en-IE" sz="2400" i="1">
                <a:solidFill>
                  <a:srgbClr val="FF0000"/>
                </a:solidFill>
              </a:rPr>
              <a:t>size</a:t>
            </a:r>
            <a:r>
              <a:rPr lang="en-IE" sz="2400"/>
              <a:t> has </a:t>
            </a:r>
            <a:r>
              <a:rPr lang="en-IE" sz="2400" b="1" dirty="0"/>
              <a:t>two parameters</a:t>
            </a:r>
          </a:p>
          <a:p>
            <a:r>
              <a:rPr lang="en-IE" sz="2400" dirty="0"/>
              <a:t>Methods can have </a:t>
            </a:r>
            <a:r>
              <a:rPr lang="en-IE" sz="2400" b="1" dirty="0"/>
              <a:t>any number of parameters</a:t>
            </a:r>
          </a:p>
        </p:txBody>
      </p:sp>
      <p:sp>
        <p:nvSpPr>
          <p:cNvPr id="13" name="Rectangle 12"/>
          <p:cNvSpPr/>
          <p:nvPr/>
        </p:nvSpPr>
        <p:spPr>
          <a:xfrm>
            <a:off x="6350000" y="1676399"/>
            <a:ext cx="2590800" cy="5645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sp>
        <p:nvSpPr>
          <p:cNvPr id="15" name="Rectangle 14"/>
          <p:cNvSpPr/>
          <p:nvPr/>
        </p:nvSpPr>
        <p:spPr>
          <a:xfrm>
            <a:off x="4724400" y="2514600"/>
            <a:ext cx="4419600" cy="5838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1800"/>
          </a:p>
        </p:txBody>
      </p:sp>
      <p:cxnSp>
        <p:nvCxnSpPr>
          <p:cNvPr id="7" name="Straight Arrow Connector 6">
            <a:extLst>
              <a:ext uri="{FF2B5EF4-FFF2-40B4-BE49-F238E27FC236}">
                <a16:creationId xmlns:a16="http://schemas.microsoft.com/office/drawing/2014/main" id="{97C14B8D-6D26-438C-8FB8-194DDAA6753D}"/>
              </a:ext>
            </a:extLst>
          </p:cNvPr>
          <p:cNvCxnSpPr>
            <a:cxnSpLocks/>
          </p:cNvCxnSpPr>
          <p:nvPr/>
        </p:nvCxnSpPr>
        <p:spPr>
          <a:xfrm flipV="1">
            <a:off x="2743200" y="2936165"/>
            <a:ext cx="2286000" cy="110243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7C14B8D-6D26-438C-8FB8-194DDAA6753D}"/>
              </a:ext>
            </a:extLst>
          </p:cNvPr>
          <p:cNvCxnSpPr>
            <a:cxnSpLocks/>
          </p:cNvCxnSpPr>
          <p:nvPr/>
        </p:nvCxnSpPr>
        <p:spPr>
          <a:xfrm flipV="1">
            <a:off x="2743200" y="2919131"/>
            <a:ext cx="3460749" cy="142426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271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 name="Picture 2" descr="A green question mark in a circle&#10;&#10;AI-generated content may be incorrect.">
            <a:extLst>
              <a:ext uri="{FF2B5EF4-FFF2-40B4-BE49-F238E27FC236}">
                <a16:creationId xmlns:a16="http://schemas.microsoft.com/office/drawing/2014/main" id="{B16E6C83-89C4-84BC-3C96-D3F26EE1D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1600200"/>
            <a:ext cx="5257800" cy="5257800"/>
          </a:xfrm>
          <a:prstGeom prst="rect">
            <a:avLst/>
          </a:prstGeom>
        </p:spPr>
      </p:pic>
    </p:spTree>
    <p:extLst>
      <p:ext uri="{BB962C8B-B14F-4D97-AF65-F5344CB8AC3E}">
        <p14:creationId xmlns:p14="http://schemas.microsoft.com/office/powerpoint/2010/main" val="1033549871"/>
      </p:ext>
    </p:extLst>
  </p:cSld>
  <p:clrMapOvr>
    <a:masterClrMapping/>
  </p:clrMapOvr>
</p:sld>
</file>

<file path=ppt/theme/theme1.xml><?xml version="1.0" encoding="utf-8"?>
<a:theme xmlns:a="http://schemas.openxmlformats.org/drawingml/2006/main" name="intr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a-scope-of-variables</Template>
  <TotalTime>0</TotalTime>
  <Words>872</Words>
  <Application>Microsoft Office PowerPoint</Application>
  <PresentationFormat>Widescreen</PresentationFormat>
  <Paragraphs>153</Paragraphs>
  <Slides>19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Monaco</vt:lpstr>
      <vt:lpstr>intro</vt:lpstr>
      <vt:lpstr>Using Methods</vt:lpstr>
      <vt:lpstr>Why do we need methods?</vt:lpstr>
      <vt:lpstr>What are methods?</vt:lpstr>
      <vt:lpstr>Benefits of using methods?</vt:lpstr>
      <vt:lpstr>Topics list</vt:lpstr>
      <vt:lpstr>Method terminology</vt:lpstr>
      <vt:lpstr>Method signature</vt:lpstr>
      <vt:lpstr>Topics list</vt:lpstr>
      <vt:lpstr>Return Type:  void</vt:lpstr>
      <vt:lpstr>Return Type: int</vt:lpstr>
      <vt:lpstr>Return Type: int</vt:lpstr>
      <vt:lpstr>Return Types</vt:lpstr>
      <vt:lpstr>Topics list</vt:lpstr>
      <vt:lpstr>Method name</vt:lpstr>
      <vt:lpstr>Topics list</vt:lpstr>
      <vt:lpstr>Parameter list</vt:lpstr>
      <vt:lpstr>Methods with NO parameters</vt:lpstr>
      <vt:lpstr>Methods with Parameters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Mouse Event Methods</dc:title>
  <dc:creator>Siobhan Drohan</dc:creator>
  <cp:lastModifiedBy>Siobhan Roche</cp:lastModifiedBy>
  <cp:revision>281</cp:revision>
  <dcterms:created xsi:type="dcterms:W3CDTF">2006-08-16T00:00:00Z</dcterms:created>
  <dcterms:modified xsi:type="dcterms:W3CDTF">2025-10-08T09:51:23Z</dcterms:modified>
</cp:coreProperties>
</file>