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theme/themeOverride1.xml" ContentType="application/vnd.openxmlformats-officedocument.themeOverr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5" r:id="rId1"/>
  </p:sldMasterIdLst>
  <p:notesMasterIdLst>
    <p:notesMasterId r:id="rId35"/>
  </p:notesMasterIdLst>
  <p:sldIdLst>
    <p:sldId id="394" r:id="rId2"/>
    <p:sldId id="419" r:id="rId3"/>
    <p:sldId id="284" r:id="rId4"/>
    <p:sldId id="282" r:id="rId5"/>
    <p:sldId id="400" r:id="rId6"/>
    <p:sldId id="370" r:id="rId7"/>
    <p:sldId id="376" r:id="rId8"/>
    <p:sldId id="420" r:id="rId9"/>
    <p:sldId id="401" r:id="rId10"/>
    <p:sldId id="421" r:id="rId11"/>
    <p:sldId id="403" r:id="rId12"/>
    <p:sldId id="418" r:id="rId13"/>
    <p:sldId id="256" r:id="rId14"/>
    <p:sldId id="257" r:id="rId15"/>
    <p:sldId id="424" r:id="rId16"/>
    <p:sldId id="425" r:id="rId17"/>
    <p:sldId id="426" r:id="rId18"/>
    <p:sldId id="258" r:id="rId19"/>
    <p:sldId id="259" r:id="rId20"/>
    <p:sldId id="260" r:id="rId21"/>
    <p:sldId id="261" r:id="rId22"/>
    <p:sldId id="262" r:id="rId23"/>
    <p:sldId id="427" r:id="rId24"/>
    <p:sldId id="428" r:id="rId25"/>
    <p:sldId id="429" r:id="rId26"/>
    <p:sldId id="417" r:id="rId27"/>
    <p:sldId id="367" r:id="rId28"/>
    <p:sldId id="368" r:id="rId29"/>
    <p:sldId id="369" r:id="rId30"/>
    <p:sldId id="371" r:id="rId31"/>
    <p:sldId id="372" r:id="rId32"/>
    <p:sldId id="399" r:id="rId33"/>
    <p:sldId id="347" r:id="rId3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030A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3524" autoAdjust="0"/>
    <p:restoredTop sz="88997" autoAdjust="0"/>
  </p:normalViewPr>
  <p:slideViewPr>
    <p:cSldViewPr>
      <p:cViewPr varScale="1">
        <p:scale>
          <a:sx n="106" d="100"/>
          <a:sy n="106" d="100"/>
        </p:scale>
        <p:origin x="464" y="176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E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8C3D141-1E1C-433C-AD3A-CD56CBBB4F9F}" type="datetimeFigureOut">
              <a:rPr lang="en-IE" smtClean="0"/>
              <a:t>03/11/2025</a:t>
            </a:fld>
            <a:endParaRPr lang="en-IE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E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963DB36-5273-45A5-A77C-FE9BE0779D84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6345442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963DB36-5273-45A5-A77C-FE9BE0779D84}" type="slidenum">
              <a:rPr lang="en-IE" smtClean="0"/>
              <a:t>3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93648640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963DB36-5273-45A5-A77C-FE9BE0779D84}" type="slidenum">
              <a:rPr lang="en-IE" smtClean="0"/>
              <a:t>4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93648640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// Cubed</a:t>
            </a:r>
          </a:p>
          <a:p>
            <a:endParaRPr lang="en-GB" dirty="0"/>
          </a:p>
          <a:p>
            <a:r>
              <a:rPr lang="en-GB" dirty="0"/>
              <a:t>void setup ()</a:t>
            </a:r>
          </a:p>
          <a:p>
            <a:r>
              <a:rPr lang="en-GB" dirty="0"/>
              <a:t>{</a:t>
            </a:r>
          </a:p>
          <a:p>
            <a:r>
              <a:rPr lang="en-GB" dirty="0"/>
              <a:t>  size(1024,768);</a:t>
            </a:r>
          </a:p>
          <a:p>
            <a:r>
              <a:rPr lang="en-GB" dirty="0"/>
              <a:t>  </a:t>
            </a:r>
            <a:r>
              <a:rPr lang="en-GB" dirty="0" err="1"/>
              <a:t>textSize</a:t>
            </a:r>
            <a:r>
              <a:rPr lang="en-GB" dirty="0"/>
              <a:t>(40);</a:t>
            </a:r>
          </a:p>
          <a:p>
            <a:r>
              <a:rPr lang="en-GB" dirty="0"/>
              <a:t>  fill(0,0,255);</a:t>
            </a:r>
          </a:p>
          <a:p>
            <a:r>
              <a:rPr lang="en-GB" dirty="0"/>
              <a:t>}</a:t>
            </a:r>
          </a:p>
          <a:p>
            <a:endParaRPr lang="en-GB" dirty="0"/>
          </a:p>
          <a:p>
            <a:r>
              <a:rPr lang="en-GB" dirty="0"/>
              <a:t>void draw()</a:t>
            </a:r>
          </a:p>
          <a:p>
            <a:r>
              <a:rPr lang="en-GB" dirty="0"/>
              <a:t>{</a:t>
            </a:r>
          </a:p>
          <a:p>
            <a:r>
              <a:rPr lang="en-GB" dirty="0"/>
              <a:t>  int number = 5;</a:t>
            </a:r>
          </a:p>
          <a:p>
            <a:r>
              <a:rPr lang="en-GB" dirty="0"/>
              <a:t>  text (number + " cubed is " + cubed(number), 100,100 );</a:t>
            </a:r>
          </a:p>
          <a:p>
            <a:r>
              <a:rPr lang="en-GB" dirty="0"/>
              <a:t>}</a:t>
            </a:r>
          </a:p>
          <a:p>
            <a:endParaRPr lang="en-GB" dirty="0"/>
          </a:p>
          <a:p>
            <a:r>
              <a:rPr lang="en-GB" dirty="0"/>
              <a:t>int cubed (int </a:t>
            </a:r>
            <a:r>
              <a:rPr lang="en-GB" dirty="0" err="1"/>
              <a:t>num</a:t>
            </a:r>
            <a:r>
              <a:rPr lang="en-GB" dirty="0"/>
              <a:t>)</a:t>
            </a:r>
          </a:p>
          <a:p>
            <a:r>
              <a:rPr lang="en-GB" dirty="0"/>
              <a:t>{</a:t>
            </a:r>
          </a:p>
          <a:p>
            <a:r>
              <a:rPr lang="en-GB" dirty="0"/>
              <a:t>  return </a:t>
            </a:r>
            <a:r>
              <a:rPr lang="en-GB" dirty="0" err="1"/>
              <a:t>num</a:t>
            </a:r>
            <a:r>
              <a:rPr lang="en-GB" dirty="0"/>
              <a:t> * </a:t>
            </a:r>
            <a:r>
              <a:rPr lang="en-GB" dirty="0" err="1"/>
              <a:t>num</a:t>
            </a:r>
            <a:r>
              <a:rPr lang="en-GB" dirty="0"/>
              <a:t> * </a:t>
            </a:r>
            <a:r>
              <a:rPr lang="en-GB" dirty="0" err="1"/>
              <a:t>num</a:t>
            </a:r>
            <a:r>
              <a:rPr lang="en-GB" dirty="0"/>
              <a:t> ;</a:t>
            </a:r>
          </a:p>
          <a:p>
            <a:r>
              <a:rPr lang="en-GB" dirty="0"/>
              <a:t>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63DB36-5273-45A5-A77C-FE9BE0779D84}" type="slidenum">
              <a:rPr lang="en-IE" smtClean="0"/>
              <a:t>9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48269180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// Cubed</a:t>
            </a:r>
          </a:p>
          <a:p>
            <a:endParaRPr lang="en-GB" dirty="0"/>
          </a:p>
          <a:p>
            <a:r>
              <a:rPr lang="en-GB" dirty="0"/>
              <a:t>void setup ()</a:t>
            </a:r>
          </a:p>
          <a:p>
            <a:r>
              <a:rPr lang="en-GB" dirty="0"/>
              <a:t>{</a:t>
            </a:r>
          </a:p>
          <a:p>
            <a:r>
              <a:rPr lang="en-GB" dirty="0"/>
              <a:t>  size(1024,768);</a:t>
            </a:r>
          </a:p>
          <a:p>
            <a:r>
              <a:rPr lang="en-GB" dirty="0"/>
              <a:t>  </a:t>
            </a:r>
            <a:r>
              <a:rPr lang="en-GB" dirty="0" err="1"/>
              <a:t>textSize</a:t>
            </a:r>
            <a:r>
              <a:rPr lang="en-GB" dirty="0"/>
              <a:t>(40);</a:t>
            </a:r>
          </a:p>
          <a:p>
            <a:r>
              <a:rPr lang="en-GB" dirty="0"/>
              <a:t>  fill(0,0,255);</a:t>
            </a:r>
          </a:p>
          <a:p>
            <a:r>
              <a:rPr lang="en-GB" dirty="0"/>
              <a:t>}</a:t>
            </a:r>
          </a:p>
          <a:p>
            <a:endParaRPr lang="en-GB" dirty="0"/>
          </a:p>
          <a:p>
            <a:r>
              <a:rPr lang="en-GB" dirty="0"/>
              <a:t>void draw()</a:t>
            </a:r>
          </a:p>
          <a:p>
            <a:r>
              <a:rPr lang="en-GB" dirty="0"/>
              <a:t>{</a:t>
            </a:r>
          </a:p>
          <a:p>
            <a:r>
              <a:rPr lang="en-GB" dirty="0"/>
              <a:t>  int number = 5;</a:t>
            </a:r>
          </a:p>
          <a:p>
            <a:r>
              <a:rPr lang="en-GB" dirty="0"/>
              <a:t>  text (number + " cubed is " + cubed(5), 100,100 );</a:t>
            </a:r>
          </a:p>
          <a:p>
            <a:r>
              <a:rPr lang="en-GB" dirty="0"/>
              <a:t>}</a:t>
            </a:r>
          </a:p>
          <a:p>
            <a:endParaRPr lang="en-GB" dirty="0"/>
          </a:p>
          <a:p>
            <a:r>
              <a:rPr lang="en-GB" dirty="0"/>
              <a:t>int cubed (int </a:t>
            </a:r>
            <a:r>
              <a:rPr lang="en-GB" dirty="0" err="1"/>
              <a:t>num</a:t>
            </a:r>
            <a:r>
              <a:rPr lang="en-GB" dirty="0"/>
              <a:t>)</a:t>
            </a:r>
          </a:p>
          <a:p>
            <a:r>
              <a:rPr lang="en-GB" dirty="0"/>
              <a:t>{</a:t>
            </a:r>
          </a:p>
          <a:p>
            <a:r>
              <a:rPr lang="en-GB" dirty="0"/>
              <a:t>  return </a:t>
            </a:r>
            <a:r>
              <a:rPr lang="en-GB" dirty="0" err="1"/>
              <a:t>num</a:t>
            </a:r>
            <a:r>
              <a:rPr lang="en-GB" dirty="0"/>
              <a:t> * </a:t>
            </a:r>
            <a:r>
              <a:rPr lang="en-GB" dirty="0" err="1"/>
              <a:t>num</a:t>
            </a:r>
            <a:r>
              <a:rPr lang="en-GB" dirty="0"/>
              <a:t> * </a:t>
            </a:r>
            <a:r>
              <a:rPr lang="en-GB" dirty="0" err="1"/>
              <a:t>num</a:t>
            </a:r>
            <a:r>
              <a:rPr lang="en-GB" dirty="0"/>
              <a:t> ;</a:t>
            </a:r>
          </a:p>
          <a:p>
            <a:r>
              <a:rPr lang="en-GB"/>
              <a:t>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63DB36-5273-45A5-A77C-FE9BE0779D84}" type="slidenum">
              <a:rPr lang="en-IE" smtClean="0"/>
              <a:t>11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80760037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963DB36-5273-45A5-A77C-FE9BE0779D84}" type="slidenum">
              <a:rPr lang="en-IE" smtClean="0"/>
              <a:t>30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17376663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11/3/25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31767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11/3/25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>
            <a:off x="609600" y="1447800"/>
            <a:ext cx="11074400" cy="0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54FA624-7CFC-3CFB-8384-E3FA99B20E94}"/>
              </a:ext>
            </a:extLst>
          </p:cNvPr>
          <p:cNvCxnSpPr/>
          <p:nvPr/>
        </p:nvCxnSpPr>
        <p:spPr>
          <a:xfrm>
            <a:off x="609600" y="1447800"/>
            <a:ext cx="11074400" cy="0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9C51F014-A304-3672-EB37-723E4843A104}"/>
              </a:ext>
            </a:extLst>
          </p:cNvPr>
          <p:cNvCxnSpPr/>
          <p:nvPr/>
        </p:nvCxnSpPr>
        <p:spPr>
          <a:xfrm>
            <a:off x="609600" y="1447800"/>
            <a:ext cx="11074400" cy="0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1577319E-D913-0186-1403-29DAAB909981}"/>
              </a:ext>
            </a:extLst>
          </p:cNvPr>
          <p:cNvCxnSpPr/>
          <p:nvPr/>
        </p:nvCxnSpPr>
        <p:spPr>
          <a:xfrm>
            <a:off x="609600" y="1447800"/>
            <a:ext cx="11074400" cy="0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BE1E79F1-A6BC-9BFA-D91F-EDE58012F586}"/>
              </a:ext>
            </a:extLst>
          </p:cNvPr>
          <p:cNvCxnSpPr/>
          <p:nvPr/>
        </p:nvCxnSpPr>
        <p:spPr>
          <a:xfrm>
            <a:off x="609600" y="1447800"/>
            <a:ext cx="11074400" cy="0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1892B85F-557B-F9E2-C50B-3042DFC110D9}"/>
              </a:ext>
            </a:extLst>
          </p:cNvPr>
          <p:cNvCxnSpPr/>
          <p:nvPr/>
        </p:nvCxnSpPr>
        <p:spPr>
          <a:xfrm>
            <a:off x="609600" y="1447800"/>
            <a:ext cx="11074400" cy="0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15FA2E9F-73BB-FD52-A53B-C094AFE65CC9}"/>
              </a:ext>
            </a:extLst>
          </p:cNvPr>
          <p:cNvCxnSpPr/>
          <p:nvPr userDrawn="1"/>
        </p:nvCxnSpPr>
        <p:spPr>
          <a:xfrm>
            <a:off x="609600" y="1447800"/>
            <a:ext cx="11074400" cy="0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302999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11/3/25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97952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11/3/25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>
            <a:off x="609600" y="1447800"/>
            <a:ext cx="110744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0F42A16B-6893-A143-E832-A99D7B6427B3}"/>
              </a:ext>
            </a:extLst>
          </p:cNvPr>
          <p:cNvCxnSpPr/>
          <p:nvPr/>
        </p:nvCxnSpPr>
        <p:spPr>
          <a:xfrm>
            <a:off x="609600" y="1447800"/>
            <a:ext cx="110744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9B64861E-C2E3-2C0F-0C43-CF6F042CC211}"/>
              </a:ext>
            </a:extLst>
          </p:cNvPr>
          <p:cNvCxnSpPr/>
          <p:nvPr/>
        </p:nvCxnSpPr>
        <p:spPr>
          <a:xfrm>
            <a:off x="609600" y="1447800"/>
            <a:ext cx="110744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3DE2AD0E-60F6-798F-5218-679762744249}"/>
              </a:ext>
            </a:extLst>
          </p:cNvPr>
          <p:cNvCxnSpPr/>
          <p:nvPr/>
        </p:nvCxnSpPr>
        <p:spPr>
          <a:xfrm>
            <a:off x="609600" y="1447800"/>
            <a:ext cx="110744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C46373DF-09B0-AAD0-9A0F-77BAB32A9FC2}"/>
              </a:ext>
            </a:extLst>
          </p:cNvPr>
          <p:cNvCxnSpPr/>
          <p:nvPr/>
        </p:nvCxnSpPr>
        <p:spPr>
          <a:xfrm>
            <a:off x="609600" y="1447800"/>
            <a:ext cx="110744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72D2E4A1-65B5-03C2-8CE1-E3378C428A57}"/>
              </a:ext>
            </a:extLst>
          </p:cNvPr>
          <p:cNvCxnSpPr/>
          <p:nvPr/>
        </p:nvCxnSpPr>
        <p:spPr>
          <a:xfrm>
            <a:off x="609600" y="1447800"/>
            <a:ext cx="110744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FAD503AC-97C3-C237-414A-2978F16A9614}"/>
              </a:ext>
            </a:extLst>
          </p:cNvPr>
          <p:cNvCxnSpPr/>
          <p:nvPr userDrawn="1"/>
        </p:nvCxnSpPr>
        <p:spPr>
          <a:xfrm>
            <a:off x="609600" y="1447800"/>
            <a:ext cx="110744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690609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11/3/25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609600" y="1447800"/>
            <a:ext cx="110744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F3436290-11E2-F20B-966B-F18296CC48D7}"/>
              </a:ext>
            </a:extLst>
          </p:cNvPr>
          <p:cNvCxnSpPr/>
          <p:nvPr/>
        </p:nvCxnSpPr>
        <p:spPr>
          <a:xfrm>
            <a:off x="609600" y="1447800"/>
            <a:ext cx="110744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7669D825-370C-D932-7B44-4C1EE0EB0E21}"/>
              </a:ext>
            </a:extLst>
          </p:cNvPr>
          <p:cNvCxnSpPr/>
          <p:nvPr/>
        </p:nvCxnSpPr>
        <p:spPr>
          <a:xfrm>
            <a:off x="609600" y="1447800"/>
            <a:ext cx="110744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DB1F2B53-681A-1F9B-D38D-923C8065AAE2}"/>
              </a:ext>
            </a:extLst>
          </p:cNvPr>
          <p:cNvCxnSpPr/>
          <p:nvPr/>
        </p:nvCxnSpPr>
        <p:spPr>
          <a:xfrm>
            <a:off x="609600" y="1447800"/>
            <a:ext cx="110744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980B0825-D3AE-1DCF-188E-BEEE22CD0518}"/>
              </a:ext>
            </a:extLst>
          </p:cNvPr>
          <p:cNvCxnSpPr/>
          <p:nvPr/>
        </p:nvCxnSpPr>
        <p:spPr>
          <a:xfrm>
            <a:off x="609600" y="1447800"/>
            <a:ext cx="110744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A82111A0-9566-74EF-C031-8E3580425928}"/>
              </a:ext>
            </a:extLst>
          </p:cNvPr>
          <p:cNvCxnSpPr/>
          <p:nvPr userDrawn="1"/>
        </p:nvCxnSpPr>
        <p:spPr>
          <a:xfrm>
            <a:off x="609600" y="1447800"/>
            <a:ext cx="110744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598611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11/3/25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6" name="Straight Connector 5"/>
          <p:cNvCxnSpPr/>
          <p:nvPr/>
        </p:nvCxnSpPr>
        <p:spPr>
          <a:xfrm>
            <a:off x="609600" y="1447800"/>
            <a:ext cx="110744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BDB4946F-2A50-46DF-D246-8E463A5B9E4E}"/>
              </a:ext>
            </a:extLst>
          </p:cNvPr>
          <p:cNvCxnSpPr/>
          <p:nvPr/>
        </p:nvCxnSpPr>
        <p:spPr>
          <a:xfrm>
            <a:off x="609600" y="1447800"/>
            <a:ext cx="110744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CCF61A43-37C0-D158-13BE-1753663F3BEC}"/>
              </a:ext>
            </a:extLst>
          </p:cNvPr>
          <p:cNvCxnSpPr/>
          <p:nvPr/>
        </p:nvCxnSpPr>
        <p:spPr>
          <a:xfrm>
            <a:off x="609600" y="1447800"/>
            <a:ext cx="110744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3D85FD0A-2A17-4E36-7ACE-8DDECE72BE20}"/>
              </a:ext>
            </a:extLst>
          </p:cNvPr>
          <p:cNvCxnSpPr/>
          <p:nvPr/>
        </p:nvCxnSpPr>
        <p:spPr>
          <a:xfrm>
            <a:off x="609600" y="1447800"/>
            <a:ext cx="110744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037180BA-0CE4-6687-797D-9C4100B1A0B8}"/>
              </a:ext>
            </a:extLst>
          </p:cNvPr>
          <p:cNvCxnSpPr/>
          <p:nvPr/>
        </p:nvCxnSpPr>
        <p:spPr>
          <a:xfrm>
            <a:off x="609600" y="1447800"/>
            <a:ext cx="110744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04D56157-6AD7-12A5-4FE9-43452AFB28E0}"/>
              </a:ext>
            </a:extLst>
          </p:cNvPr>
          <p:cNvCxnSpPr/>
          <p:nvPr/>
        </p:nvCxnSpPr>
        <p:spPr>
          <a:xfrm>
            <a:off x="609600" y="1447800"/>
            <a:ext cx="110744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1DBAB16D-4E56-8C6B-4A76-5A7F244A2E40}"/>
              </a:ext>
            </a:extLst>
          </p:cNvPr>
          <p:cNvCxnSpPr/>
          <p:nvPr userDrawn="1"/>
        </p:nvCxnSpPr>
        <p:spPr>
          <a:xfrm>
            <a:off x="609600" y="1447800"/>
            <a:ext cx="110744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487627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11/3/25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88031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11/3/25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40535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11/3/25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32879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11/3/25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28786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11/3/25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558270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&amp;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Shape 22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GB"/>
              <a:t>Click to edit Master title style</a:t>
            </a:r>
            <a:endParaRPr/>
          </a:p>
        </p:txBody>
      </p:sp>
      <p:sp>
        <p:nvSpPr>
          <p:cNvPr id="23" name="Shape 23"/>
          <p:cNvSpPr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/>
          </a:p>
        </p:txBody>
      </p:sp>
      <p:sp>
        <p:nvSpPr>
          <p:cNvPr id="24" name="Shape 24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545067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Text"/>
          <p:cNvSpPr txBox="1">
            <a:spLocks noGrp="1"/>
          </p:cNvSpPr>
          <p:nvPr>
            <p:ph type="title"/>
          </p:nvPr>
        </p:nvSpPr>
        <p:spPr>
          <a:xfrm>
            <a:off x="863600" y="2286000"/>
            <a:ext cx="10464801" cy="1143001"/>
          </a:xfrm>
          <a:prstGeom prst="rect">
            <a:avLst/>
          </a:prstGeom>
        </p:spPr>
        <p:txBody>
          <a:bodyPr/>
          <a:lstStyle/>
          <a:p>
            <a:r>
              <a:rPr lang="en-GB"/>
              <a:t>Click to edit Master title style</a:t>
            </a:r>
            <a:endParaRPr dirty="0"/>
          </a:p>
        </p:txBody>
      </p:sp>
      <p:sp>
        <p:nvSpPr>
          <p:cNvPr id="16" name="Subtitle"/>
          <p:cNvSpPr txBox="1">
            <a:spLocks noGrp="1"/>
          </p:cNvSpPr>
          <p:nvPr>
            <p:ph type="body" sz="quarter" idx="22"/>
          </p:nvPr>
        </p:nvSpPr>
        <p:spPr>
          <a:xfrm>
            <a:off x="957115" y="3465604"/>
            <a:ext cx="10134430" cy="846384"/>
          </a:xfrm>
          <a:prstGeom prst="rect">
            <a:avLst/>
          </a:prstGeom>
        </p:spPr>
        <p:txBody>
          <a:bodyPr anchor="ctr">
            <a:spAutoFit/>
          </a:bodyPr>
          <a:lstStyle>
            <a:lvl1pPr marL="0" indent="0" algn="ctr">
              <a:spcBef>
                <a:spcPts val="0"/>
              </a:spcBef>
              <a:buClrTx/>
              <a:buSzTx/>
              <a:buFontTx/>
              <a:buNone/>
              <a:defRPr>
                <a:solidFill>
                  <a:srgbClr val="2F4468"/>
                </a:solidFill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7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1091544" y="6360984"/>
            <a:ext cx="495649" cy="492440"/>
          </a:xfrm>
          <a:prstGeom prst="rect">
            <a:avLst/>
          </a:prstGeom>
        </p:spPr>
        <p:txBody>
          <a:bodyPr/>
          <a:lstStyle>
            <a:lvl1pPr>
              <a:defRPr sz="2000"/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6996871"/>
      </p:ext>
    </p:extLst>
  </p:cSld>
  <p:clrMapOvr>
    <a:masterClrMapping/>
  </p:clrMapOvr>
  <p:transition spd="med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and Bo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1691066" y="6493542"/>
            <a:ext cx="434734" cy="430885"/>
          </a:xfrm>
          <a:prstGeom prst="rect">
            <a:avLst/>
          </a:prstGeo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4" name="Title Text"/>
          <p:cNvSpPr txBox="1">
            <a:spLocks noGrp="1"/>
          </p:cNvSpPr>
          <p:nvPr>
            <p:ph type="title"/>
          </p:nvPr>
        </p:nvSpPr>
        <p:spPr>
          <a:xfrm>
            <a:off x="729736" y="395556"/>
            <a:ext cx="10747254" cy="1143001"/>
          </a:xfrm>
          <a:prstGeom prst="rect">
            <a:avLst/>
          </a:prstGeom>
        </p:spPr>
        <p:txBody>
          <a:bodyPr/>
          <a:lstStyle/>
          <a:p>
            <a:r>
              <a:rPr lang="en-GB"/>
              <a:t>Click to edit Master 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710705176"/>
      </p:ext>
    </p:extLst>
  </p:cSld>
  <p:clrMapOvr>
    <a:masterClrMapping/>
  </p:clrMapOvr>
  <p:transition spd="med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xAndChart">
  <p:cSld name="Title, Text and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20800" y="381000"/>
            <a:ext cx="10363200" cy="1143000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1625600" y="1828800"/>
            <a:ext cx="4876800" cy="4267200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hart Placeholder 3"/>
          <p:cNvSpPr>
            <a:spLocks noGrp="1"/>
          </p:cNvSpPr>
          <p:nvPr>
            <p:ph type="chart" sz="half" idx="2"/>
          </p:nvPr>
        </p:nvSpPr>
        <p:spPr>
          <a:xfrm>
            <a:off x="6705600" y="1828800"/>
            <a:ext cx="4876800" cy="4267200"/>
          </a:xfrm>
        </p:spPr>
        <p:txBody>
          <a:bodyPr/>
          <a:lstStyle/>
          <a:p>
            <a:pPr lvl="0"/>
            <a:r>
              <a:rPr lang="en-GB" noProof="0"/>
              <a:t>Click icon to add chart</a:t>
            </a:r>
            <a:endParaRPr lang="en-US" noProof="0"/>
          </a:p>
        </p:txBody>
      </p:sp>
      <p:sp>
        <p:nvSpPr>
          <p:cNvPr id="5" name="Rectangle 1028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11828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8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11/3/25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33285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6" r:id="rId1"/>
    <p:sldLayoutId id="2147483677" r:id="rId2"/>
    <p:sldLayoutId id="2147483678" r:id="rId3"/>
    <p:sldLayoutId id="2147483679" r:id="rId4"/>
    <p:sldLayoutId id="2147483680" r:id="rId5"/>
    <p:sldLayoutId id="2147483681" r:id="rId6"/>
    <p:sldLayoutId id="2147483682" r:id="rId7"/>
    <p:sldLayoutId id="2147483683" r:id="rId8"/>
    <p:sldLayoutId id="2147483684" r:id="rId9"/>
    <p:sldLayoutId id="2147483685" r:id="rId10"/>
    <p:sldLayoutId id="2147483686" r:id="rId11"/>
    <p:sldLayoutId id="2147483687" r:id="rId12"/>
    <p:sldLayoutId id="2147483688" r:id="rId13"/>
    <p:sldLayoutId id="2147483689" r:id="rId14"/>
    <p:sldLayoutId id="2147483690" r:id="rId15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175641" y="914401"/>
            <a:ext cx="7772400" cy="1470025"/>
          </a:xfrm>
        </p:spPr>
        <p:txBody>
          <a:bodyPr>
            <a:normAutofit/>
          </a:bodyPr>
          <a:lstStyle/>
          <a:p>
            <a:pPr algn="l"/>
            <a:r>
              <a:rPr lang="en-IE" sz="4000" dirty="0"/>
              <a:t>Using Methods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38300" y="3810000"/>
            <a:ext cx="1866900" cy="1066800"/>
          </a:xfrm>
        </p:spPr>
        <p:txBody>
          <a:bodyPr>
            <a:norm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</a:pPr>
            <a:r>
              <a:rPr lang="en-IE" sz="2400" dirty="0"/>
              <a:t>Produced </a:t>
            </a:r>
          </a:p>
          <a:p>
            <a:pPr algn="r">
              <a:lnSpc>
                <a:spcPct val="110000"/>
              </a:lnSpc>
              <a:spcBef>
                <a:spcPts val="0"/>
              </a:spcBef>
            </a:pPr>
            <a:r>
              <a:rPr lang="en-IE" sz="2400" dirty="0"/>
              <a:t>by:</a:t>
            </a:r>
          </a:p>
        </p:txBody>
      </p:sp>
      <p:cxnSp>
        <p:nvCxnSpPr>
          <p:cNvPr id="6" name="Straight Connector 5"/>
          <p:cNvCxnSpPr/>
          <p:nvPr/>
        </p:nvCxnSpPr>
        <p:spPr>
          <a:xfrm>
            <a:off x="2251841" y="3124200"/>
            <a:ext cx="76200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itle 1"/>
          <p:cNvSpPr txBox="1">
            <a:spLocks/>
          </p:cNvSpPr>
          <p:nvPr/>
        </p:nvSpPr>
        <p:spPr>
          <a:xfrm>
            <a:off x="2175641" y="2133601"/>
            <a:ext cx="7772400" cy="9366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IE" sz="3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More on writing methods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D2B9C0C-FB1E-41E0-9281-3F67413B6C9E}"/>
              </a:ext>
            </a:extLst>
          </p:cNvPr>
          <p:cNvSpPr txBox="1"/>
          <p:nvPr/>
        </p:nvSpPr>
        <p:spPr>
          <a:xfrm>
            <a:off x="3810000" y="3817204"/>
            <a:ext cx="35814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E" sz="24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Dr.</a:t>
            </a:r>
            <a:r>
              <a:rPr lang="en-IE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IE" sz="24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Siobhán</a:t>
            </a:r>
            <a:r>
              <a:rPr lang="en-IE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IE" sz="24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Drohan</a:t>
            </a:r>
            <a:endParaRPr lang="en-IE" sz="2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r>
              <a:rPr lang="en-IE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Mr. Colm Dunphy</a:t>
            </a:r>
          </a:p>
          <a:p>
            <a:r>
              <a:rPr lang="en-IE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Ms Mairead Meagher</a:t>
            </a:r>
          </a:p>
          <a:p>
            <a:r>
              <a:rPr lang="en-IE" sz="2400">
                <a:solidFill>
                  <a:schemeClr val="tx1">
                    <a:lumMod val="75000"/>
                    <a:lumOff val="25000"/>
                  </a:schemeClr>
                </a:solidFill>
              </a:rPr>
              <a:t>Ms Siobhan Roche</a:t>
            </a:r>
            <a:endParaRPr lang="en-IE" sz="2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A01175D-DAA8-1F79-AB24-1C1E53A68D05}"/>
              </a:ext>
            </a:extLst>
          </p:cNvPr>
          <p:cNvSpPr txBox="1"/>
          <p:nvPr/>
        </p:nvSpPr>
        <p:spPr>
          <a:xfrm>
            <a:off x="4288221" y="6009985"/>
            <a:ext cx="620635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E" sz="1600" dirty="0">
                <a:solidFill>
                  <a:schemeClr val="tx2">
                    <a:lumMod val="75000"/>
                  </a:schemeClr>
                </a:solidFill>
              </a:rPr>
              <a:t>Department of Computing and Mathematics</a:t>
            </a:r>
          </a:p>
          <a:p>
            <a:r>
              <a:rPr lang="en-IE" sz="1600" dirty="0" err="1">
                <a:solidFill>
                  <a:schemeClr val="tx2">
                    <a:lumMod val="75000"/>
                  </a:schemeClr>
                </a:solidFill>
              </a:rPr>
              <a:t>setu.ie</a:t>
            </a:r>
            <a:endParaRPr lang="en-IE" sz="1600" dirty="0">
              <a:solidFill>
                <a:schemeClr val="tx2">
                  <a:lumMod val="75000"/>
                </a:schemeClr>
              </a:solidFill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0A9CCA31-63D8-F9B1-EBD4-63D2C2E5586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57400" y="5768129"/>
            <a:ext cx="1905954" cy="10684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10493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95B6AF-072C-A9C1-1863-398830BB94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B9D5B6-59DB-8A5F-DC09-D99C93C40A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/>
              <a:t>Topics list</a:t>
            </a:r>
            <a:endParaRPr lang="en-IE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A0D0626-156E-BA6F-8614-93BC3D5DF7FF}"/>
              </a:ext>
            </a:extLst>
          </p:cNvPr>
          <p:cNvSpPr/>
          <p:nvPr/>
        </p:nvSpPr>
        <p:spPr>
          <a:xfrm>
            <a:off x="1728789" y="3200400"/>
            <a:ext cx="4648200" cy="457200"/>
          </a:xfrm>
          <a:prstGeom prst="rect">
            <a:avLst/>
          </a:prstGeom>
          <a:noFill/>
          <a:ln w="444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sp>
        <p:nvSpPr>
          <p:cNvPr id="6" name="Content Placeholder 4">
            <a:extLst>
              <a:ext uri="{FF2B5EF4-FFF2-40B4-BE49-F238E27FC236}">
                <a16:creationId xmlns:a16="http://schemas.microsoft.com/office/drawing/2014/main" id="{E80E9EB5-7D9C-7F33-2593-002DAF7EF03E}"/>
              </a:ext>
            </a:extLst>
          </p:cNvPr>
          <p:cNvSpPr txBox="1">
            <a:spLocks/>
          </p:cNvSpPr>
          <p:nvPr/>
        </p:nvSpPr>
        <p:spPr>
          <a:xfrm>
            <a:off x="914400" y="2332037"/>
            <a:ext cx="87630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E" sz="1600" dirty="0"/>
          </a:p>
          <a:p>
            <a:pPr marL="514350" indent="-514350">
              <a:buFont typeface="+mj-lt"/>
              <a:buAutoNum type="arabicPeriod"/>
            </a:pPr>
            <a:r>
              <a:rPr lang="en-IE" dirty="0"/>
              <a:t> Method examples – return values</a:t>
            </a:r>
          </a:p>
          <a:p>
            <a:pPr marL="914400" lvl="1" indent="-514350"/>
            <a:r>
              <a:rPr lang="en-IE" dirty="0" err="1"/>
              <a:t>Celcius</a:t>
            </a:r>
            <a:r>
              <a:rPr lang="en-IE" dirty="0"/>
              <a:t> / </a:t>
            </a:r>
            <a:r>
              <a:rPr lang="en-IE" dirty="0" err="1"/>
              <a:t>Farenheit</a:t>
            </a:r>
            <a:r>
              <a:rPr lang="en-IE" dirty="0"/>
              <a:t> </a:t>
            </a:r>
            <a:r>
              <a:rPr lang="en-IE" b="1" dirty="0"/>
              <a:t>Converter</a:t>
            </a:r>
            <a:r>
              <a:rPr lang="en-IE" dirty="0"/>
              <a:t>.</a:t>
            </a:r>
          </a:p>
          <a:p>
            <a:pPr marL="914400" lvl="1" indent="-514350"/>
            <a:r>
              <a:rPr lang="en-IE" b="1" dirty="0"/>
              <a:t>Cubed</a:t>
            </a:r>
          </a:p>
          <a:p>
            <a:pPr marL="914400" lvl="1" indent="-514350"/>
            <a:r>
              <a:rPr lang="en-IE" b="1" dirty="0"/>
              <a:t>Product</a:t>
            </a:r>
          </a:p>
          <a:p>
            <a:pPr marL="514350" indent="-514350">
              <a:buFont typeface="+mj-lt"/>
              <a:buAutoNum type="arabicPeriod"/>
            </a:pPr>
            <a:r>
              <a:rPr lang="en-IE" b="1" dirty="0"/>
              <a:t> </a:t>
            </a:r>
            <a:r>
              <a:rPr lang="en-IE" dirty="0"/>
              <a:t>Boolean methods</a:t>
            </a:r>
          </a:p>
          <a:p>
            <a:pPr marL="514350" indent="-514350">
              <a:buFont typeface="+mj-lt"/>
              <a:buAutoNum type="arabicPeriod"/>
            </a:pPr>
            <a:r>
              <a:rPr lang="en-IE" b="1" dirty="0"/>
              <a:t> Overloading</a:t>
            </a:r>
            <a:r>
              <a:rPr lang="en-IE" dirty="0"/>
              <a:t> methods.</a:t>
            </a:r>
          </a:p>
        </p:txBody>
      </p:sp>
    </p:spTree>
    <p:extLst>
      <p:ext uri="{BB962C8B-B14F-4D97-AF65-F5344CB8AC3E}">
        <p14:creationId xmlns:p14="http://schemas.microsoft.com/office/powerpoint/2010/main" val="11545499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E" dirty="0"/>
              <a:t>Return Type</a:t>
            </a:r>
            <a:endParaRPr lang="en-IE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600201"/>
            <a:ext cx="11379200" cy="4525963"/>
          </a:xfrm>
        </p:spPr>
        <p:txBody>
          <a:bodyPr>
            <a:normAutofit fontScale="85000" lnSpcReduction="20000"/>
          </a:bodyPr>
          <a:lstStyle/>
          <a:p>
            <a:endParaRPr lang="en-IE" dirty="0"/>
          </a:p>
          <a:p>
            <a:r>
              <a:rPr lang="en-IE" dirty="0"/>
              <a:t>Methods can return information. </a:t>
            </a:r>
            <a:br>
              <a:rPr lang="en-IE" dirty="0"/>
            </a:br>
            <a:endParaRPr lang="en-IE" dirty="0"/>
          </a:p>
          <a:p>
            <a:r>
              <a:rPr lang="en-IE" dirty="0"/>
              <a:t>The </a:t>
            </a:r>
            <a:r>
              <a:rPr lang="en-IE" dirty="0">
                <a:solidFill>
                  <a:srgbClr val="FF0000"/>
                </a:solidFill>
              </a:rPr>
              <a:t>void</a:t>
            </a:r>
            <a:r>
              <a:rPr lang="en-IE" dirty="0"/>
              <a:t> keyword just before the method name </a:t>
            </a:r>
            <a:br>
              <a:rPr lang="en-IE" dirty="0"/>
            </a:br>
            <a:r>
              <a:rPr lang="en-IE" dirty="0"/>
              <a:t>means that </a:t>
            </a:r>
            <a:r>
              <a:rPr lang="en-IE" b="1" dirty="0"/>
              <a:t>nothing is returned</a:t>
            </a:r>
            <a:r>
              <a:rPr lang="en-IE" dirty="0"/>
              <a:t> from the method.</a:t>
            </a:r>
            <a:br>
              <a:rPr lang="en-IE" dirty="0"/>
            </a:br>
            <a:endParaRPr lang="en-IE" dirty="0"/>
          </a:p>
          <a:p>
            <a:r>
              <a:rPr lang="en-IE" dirty="0"/>
              <a:t>When a data type (e.g. </a:t>
            </a:r>
            <a:r>
              <a:rPr lang="en-IE" dirty="0">
                <a:solidFill>
                  <a:srgbClr val="FF0000"/>
                </a:solidFill>
              </a:rPr>
              <a:t>int</a:t>
            </a:r>
            <a:r>
              <a:rPr lang="en-IE" dirty="0"/>
              <a:t>) </a:t>
            </a:r>
            <a:br>
              <a:rPr lang="en-IE" dirty="0"/>
            </a:br>
            <a:r>
              <a:rPr lang="en-IE" dirty="0"/>
              <a:t>appears before the method name, </a:t>
            </a:r>
            <a:br>
              <a:rPr lang="en-IE" dirty="0"/>
            </a:br>
            <a:r>
              <a:rPr lang="en-IE" dirty="0"/>
              <a:t>this means that </a:t>
            </a:r>
            <a:r>
              <a:rPr lang="en-IE" b="1" dirty="0"/>
              <a:t>something is returned</a:t>
            </a:r>
            <a:r>
              <a:rPr lang="en-IE" dirty="0"/>
              <a:t> from the method.</a:t>
            </a:r>
          </a:p>
          <a:p>
            <a:pPr marL="0" indent="0">
              <a:buNone/>
            </a:pPr>
            <a:endParaRPr lang="en-IE" dirty="0"/>
          </a:p>
          <a:p>
            <a:r>
              <a:rPr lang="en-IE" dirty="0"/>
              <a:t>Within the body of the method, </a:t>
            </a:r>
            <a:br>
              <a:rPr lang="en-IE" dirty="0"/>
            </a:br>
            <a:r>
              <a:rPr lang="en-IE" dirty="0"/>
              <a:t>you use the </a:t>
            </a:r>
            <a:r>
              <a:rPr lang="en-IE" b="1" dirty="0">
                <a:solidFill>
                  <a:srgbClr val="FF0000"/>
                </a:solidFill>
              </a:rPr>
              <a:t>return</a:t>
            </a:r>
            <a:r>
              <a:rPr lang="en-IE" dirty="0">
                <a:solidFill>
                  <a:srgbClr val="FF0000"/>
                </a:solidFill>
              </a:rPr>
              <a:t> </a:t>
            </a:r>
            <a:r>
              <a:rPr lang="en-IE" dirty="0"/>
              <a:t>statement to </a:t>
            </a:r>
            <a:r>
              <a:rPr lang="en-IE" b="1" dirty="0"/>
              <a:t>return the value</a:t>
            </a:r>
            <a:r>
              <a:rPr lang="en-IE" dirty="0"/>
              <a:t>. </a:t>
            </a:r>
          </a:p>
          <a:p>
            <a:endParaRPr lang="en-IE" dirty="0"/>
          </a:p>
          <a:p>
            <a:endParaRPr lang="en-IE" dirty="0"/>
          </a:p>
          <a:p>
            <a:endParaRPr lang="en-IE" dirty="0"/>
          </a:p>
          <a:p>
            <a:endParaRPr lang="en-IE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AA5DFA9-4192-19FD-2FCB-254A7C19D7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67600" y="327231"/>
            <a:ext cx="3429000" cy="1734714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0D1C5C1B-3222-0132-5253-621A9B649E7A}"/>
              </a:ext>
            </a:extLst>
          </p:cNvPr>
          <p:cNvSpPr/>
          <p:nvPr/>
        </p:nvSpPr>
        <p:spPr>
          <a:xfrm>
            <a:off x="8420911" y="4187172"/>
            <a:ext cx="3657600" cy="1938992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IE" sz="2400" b="1" dirty="0">
                <a:solidFill>
                  <a:srgbClr val="FF0000"/>
                </a:solidFill>
              </a:rPr>
              <a:t>int</a:t>
            </a:r>
            <a:r>
              <a:rPr lang="en-IE" sz="2400" dirty="0">
                <a:solidFill>
                  <a:srgbClr val="FF0000"/>
                </a:solidFill>
              </a:rPr>
              <a:t> </a:t>
            </a:r>
            <a:r>
              <a:rPr lang="en-IE" sz="2400" dirty="0" err="1"/>
              <a:t>timesTwo</a:t>
            </a:r>
            <a:r>
              <a:rPr lang="en-IE" sz="2400" dirty="0"/>
              <a:t>(int </a:t>
            </a:r>
            <a:r>
              <a:rPr lang="en-IE" sz="2400" dirty="0">
                <a:solidFill>
                  <a:srgbClr val="00B0F0"/>
                </a:solidFill>
              </a:rPr>
              <a:t>number</a:t>
            </a:r>
            <a:r>
              <a:rPr lang="en-IE" sz="2400" dirty="0"/>
              <a:t>) </a:t>
            </a:r>
          </a:p>
          <a:p>
            <a:r>
              <a:rPr lang="en-IE" sz="2400" dirty="0"/>
              <a:t>{ </a:t>
            </a:r>
          </a:p>
          <a:p>
            <a:r>
              <a:rPr lang="en-IE" sz="2400" dirty="0"/>
              <a:t>    number = number * 2; </a:t>
            </a:r>
          </a:p>
          <a:p>
            <a:r>
              <a:rPr lang="en-IE" sz="2400" dirty="0"/>
              <a:t>    </a:t>
            </a:r>
            <a:r>
              <a:rPr lang="en-IE" sz="2400" b="1" dirty="0">
                <a:solidFill>
                  <a:schemeClr val="tx1"/>
                </a:solidFill>
              </a:rPr>
              <a:t>return</a:t>
            </a:r>
            <a:r>
              <a:rPr lang="en-IE" sz="2400" dirty="0">
                <a:solidFill>
                  <a:schemeClr val="tx1"/>
                </a:solidFill>
              </a:rPr>
              <a:t> </a:t>
            </a:r>
            <a:r>
              <a:rPr lang="en-IE" sz="2400" dirty="0"/>
              <a:t>number; </a:t>
            </a:r>
          </a:p>
          <a:p>
            <a:r>
              <a:rPr lang="en-IE" sz="2400" dirty="0"/>
              <a:t>} </a:t>
            </a:r>
          </a:p>
        </p:txBody>
      </p:sp>
    </p:spTree>
    <p:extLst>
      <p:ext uri="{BB962C8B-B14F-4D97-AF65-F5344CB8AC3E}">
        <p14:creationId xmlns:p14="http://schemas.microsoft.com/office/powerpoint/2010/main" val="39839099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500"/>
                            </p:stCondLst>
                            <p:childTnLst>
                              <p:par>
                                <p:cTn id="28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5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Parameter list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600201"/>
            <a:ext cx="9601200" cy="4525963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endParaRPr lang="en-IE" dirty="0"/>
          </a:p>
          <a:p>
            <a:r>
              <a:rPr lang="en-IE" dirty="0"/>
              <a:t>Methods </a:t>
            </a:r>
            <a:r>
              <a:rPr lang="en-IE" b="1" dirty="0"/>
              <a:t>take in data </a:t>
            </a:r>
            <a:r>
              <a:rPr lang="en-IE" dirty="0"/>
              <a:t>via their </a:t>
            </a:r>
            <a:r>
              <a:rPr lang="en-IE" b="1" dirty="0"/>
              <a:t>parameters</a:t>
            </a:r>
            <a:r>
              <a:rPr lang="en-IE" dirty="0"/>
              <a:t>.</a:t>
            </a:r>
          </a:p>
          <a:p>
            <a:endParaRPr lang="en-IE" dirty="0"/>
          </a:p>
          <a:p>
            <a:r>
              <a:rPr lang="en-IE" dirty="0"/>
              <a:t>Methods do not have to pass parameters </a:t>
            </a:r>
          </a:p>
          <a:p>
            <a:endParaRPr lang="en-IE" dirty="0"/>
          </a:p>
          <a:p>
            <a:r>
              <a:rPr lang="en-IE" dirty="0"/>
              <a:t>A </a:t>
            </a:r>
            <a:r>
              <a:rPr lang="en-IE" b="1" dirty="0"/>
              <a:t>parameter</a:t>
            </a:r>
            <a:r>
              <a:rPr lang="en-IE" dirty="0"/>
              <a:t> is a </a:t>
            </a:r>
            <a:r>
              <a:rPr lang="en-IE" b="1" dirty="0"/>
              <a:t>variable declaration </a:t>
            </a:r>
            <a:r>
              <a:rPr lang="en-IE" dirty="0"/>
              <a:t>–</a:t>
            </a:r>
          </a:p>
          <a:p>
            <a:pPr lvl="1"/>
            <a:r>
              <a:rPr lang="en-IE" sz="2000" dirty="0"/>
              <a:t>it has a </a:t>
            </a:r>
            <a:r>
              <a:rPr lang="en-IE" sz="2000" b="1" dirty="0"/>
              <a:t>type</a:t>
            </a:r>
            <a:r>
              <a:rPr lang="en-IE" sz="2000" dirty="0"/>
              <a:t> (e.g. int) </a:t>
            </a:r>
            <a:br>
              <a:rPr lang="en-IE" sz="2000" dirty="0"/>
            </a:br>
            <a:r>
              <a:rPr lang="en-IE" sz="2000" dirty="0"/>
              <a:t>and a </a:t>
            </a:r>
            <a:r>
              <a:rPr lang="en-IE" sz="2000" b="1" dirty="0"/>
              <a:t>name</a:t>
            </a:r>
            <a:r>
              <a:rPr lang="en-IE" sz="2000" dirty="0"/>
              <a:t> (e.g. </a:t>
            </a:r>
            <a:r>
              <a:rPr lang="en-IE" sz="2000" dirty="0" err="1"/>
              <a:t>num</a:t>
            </a:r>
            <a:r>
              <a:rPr lang="en-IE" sz="2000" dirty="0"/>
              <a:t>). </a:t>
            </a:r>
          </a:p>
          <a:p>
            <a:pPr lvl="1"/>
            <a:endParaRPr lang="en-IE" sz="2000" dirty="0"/>
          </a:p>
          <a:p>
            <a:r>
              <a:rPr lang="en-IE" dirty="0"/>
              <a:t>If a method needs additional information to execute, </a:t>
            </a:r>
            <a:br>
              <a:rPr lang="en-IE" dirty="0"/>
            </a:br>
            <a:r>
              <a:rPr lang="en-IE" dirty="0"/>
              <a:t>we provide a parameter, so that the information can be passed into it. </a:t>
            </a:r>
          </a:p>
          <a:p>
            <a:endParaRPr lang="en-IE" dirty="0"/>
          </a:p>
          <a:p>
            <a:r>
              <a:rPr lang="en-IE" dirty="0"/>
              <a:t>Methods can have </a:t>
            </a:r>
            <a:r>
              <a:rPr lang="en-IE" b="1" dirty="0"/>
              <a:t>any number of parameters</a:t>
            </a:r>
            <a:br>
              <a:rPr lang="en-IE" dirty="0"/>
            </a:br>
            <a:endParaRPr lang="en-IE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CA8175D-C7D7-B614-ED0D-1BE82E1DB34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63195" y="381000"/>
            <a:ext cx="4290630" cy="1844523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788C612D-6181-9045-0054-4A5A7088970F}"/>
              </a:ext>
            </a:extLst>
          </p:cNvPr>
          <p:cNvSpPr/>
          <p:nvPr/>
        </p:nvSpPr>
        <p:spPr>
          <a:xfrm>
            <a:off x="8382000" y="2459504"/>
            <a:ext cx="3657600" cy="1938992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IE" sz="2400" b="1" dirty="0">
                <a:solidFill>
                  <a:srgbClr val="FF0000"/>
                </a:solidFill>
              </a:rPr>
              <a:t>int</a:t>
            </a:r>
            <a:r>
              <a:rPr lang="en-IE" sz="2400" dirty="0">
                <a:solidFill>
                  <a:srgbClr val="FF0000"/>
                </a:solidFill>
              </a:rPr>
              <a:t> </a:t>
            </a:r>
            <a:r>
              <a:rPr lang="en-IE" sz="2400" dirty="0" err="1"/>
              <a:t>timesTwo</a:t>
            </a:r>
            <a:r>
              <a:rPr lang="en-IE" sz="2400" dirty="0"/>
              <a:t>(int </a:t>
            </a:r>
            <a:r>
              <a:rPr lang="en-IE" sz="2400" dirty="0">
                <a:solidFill>
                  <a:srgbClr val="00B0F0"/>
                </a:solidFill>
              </a:rPr>
              <a:t>number</a:t>
            </a:r>
            <a:r>
              <a:rPr lang="en-IE" sz="2400" dirty="0"/>
              <a:t>) </a:t>
            </a:r>
          </a:p>
          <a:p>
            <a:r>
              <a:rPr lang="en-IE" sz="2400" dirty="0"/>
              <a:t>{ </a:t>
            </a:r>
          </a:p>
          <a:p>
            <a:r>
              <a:rPr lang="en-IE" sz="2400" dirty="0"/>
              <a:t>    number = number * 2; </a:t>
            </a:r>
          </a:p>
          <a:p>
            <a:r>
              <a:rPr lang="en-IE" sz="2400" dirty="0"/>
              <a:t>    </a:t>
            </a:r>
            <a:r>
              <a:rPr lang="en-IE" sz="2400" b="1" dirty="0">
                <a:solidFill>
                  <a:schemeClr val="tx1"/>
                </a:solidFill>
              </a:rPr>
              <a:t>return</a:t>
            </a:r>
            <a:r>
              <a:rPr lang="en-IE" sz="2400" dirty="0">
                <a:solidFill>
                  <a:schemeClr val="tx1"/>
                </a:solidFill>
              </a:rPr>
              <a:t> </a:t>
            </a:r>
            <a:r>
              <a:rPr lang="en-IE" sz="2400" dirty="0"/>
              <a:t>number; </a:t>
            </a:r>
          </a:p>
          <a:p>
            <a:r>
              <a:rPr lang="en-IE" sz="2400" dirty="0"/>
              <a:t>} </a:t>
            </a:r>
          </a:p>
        </p:txBody>
      </p:sp>
    </p:spTree>
    <p:extLst>
      <p:ext uri="{BB962C8B-B14F-4D97-AF65-F5344CB8AC3E}">
        <p14:creationId xmlns:p14="http://schemas.microsoft.com/office/powerpoint/2010/main" val="37551352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500"/>
                            </p:stCondLst>
                            <p:childTnLst>
                              <p:par>
                                <p:cTn id="38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4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858FF8-C426-5641-9EEE-A9D275ED7B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Return a double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2F0D0B-4B66-4A4B-A7FC-A1E67A8439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GB" b="1" dirty="0"/>
          </a:p>
          <a:p>
            <a:r>
              <a:rPr lang="en-GB" dirty="0"/>
              <a:t>Now we consider an example where the method </a:t>
            </a:r>
            <a:r>
              <a:rPr lang="en-GB" b="1" dirty="0"/>
              <a:t>does return a value</a:t>
            </a:r>
            <a:r>
              <a:rPr lang="en-GB" dirty="0"/>
              <a:t> (which could be any data type) but in this next example it returns a </a:t>
            </a:r>
            <a:r>
              <a:rPr lang="en-GB" b="1" dirty="0"/>
              <a:t>double.</a:t>
            </a:r>
          </a:p>
        </p:txBody>
      </p:sp>
    </p:spTree>
    <p:extLst>
      <p:ext uri="{BB962C8B-B14F-4D97-AF65-F5344CB8AC3E}">
        <p14:creationId xmlns:p14="http://schemas.microsoft.com/office/powerpoint/2010/main" val="155428388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952500" y="1676400"/>
            <a:ext cx="6629400" cy="1200329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IE" sz="2400" dirty="0"/>
              <a:t>double </a:t>
            </a:r>
            <a:r>
              <a:rPr lang="en-IE" sz="2400" dirty="0" err="1"/>
              <a:t>celsius</a:t>
            </a:r>
            <a:r>
              <a:rPr lang="en-IE" sz="2400" dirty="0"/>
              <a:t> = </a:t>
            </a:r>
            <a:r>
              <a:rPr lang="en-IE" sz="2400" b="1" dirty="0" err="1"/>
              <a:t>farenheitToCelsius</a:t>
            </a:r>
            <a:r>
              <a:rPr lang="en-IE" sz="2400" dirty="0"/>
              <a:t> (451.0);</a:t>
            </a:r>
          </a:p>
          <a:p>
            <a:r>
              <a:rPr lang="en-IE" sz="2400" dirty="0"/>
              <a:t>    </a:t>
            </a:r>
            <a:r>
              <a:rPr lang="en-IE" sz="2400" dirty="0" err="1"/>
              <a:t>System.out.println</a:t>
            </a:r>
            <a:r>
              <a:rPr lang="en-IE" sz="2400" dirty="0"/>
              <a:t>("Celsius value is: " + </a:t>
            </a:r>
            <a:r>
              <a:rPr lang="en-IE" sz="2400" dirty="0" err="1"/>
              <a:t>celsius</a:t>
            </a:r>
            <a:r>
              <a:rPr lang="en-IE" sz="2400" dirty="0"/>
              <a:t>);</a:t>
            </a:r>
          </a:p>
          <a:p>
            <a:endParaRPr lang="en-IE" sz="2400" dirty="0"/>
          </a:p>
        </p:txBody>
      </p:sp>
      <p:sp>
        <p:nvSpPr>
          <p:cNvPr id="4" name="Rectangle 3"/>
          <p:cNvSpPr/>
          <p:nvPr/>
        </p:nvSpPr>
        <p:spPr>
          <a:xfrm>
            <a:off x="3733800" y="4419600"/>
            <a:ext cx="6629400" cy="1938992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IE" sz="2400" dirty="0"/>
              <a:t>double </a:t>
            </a:r>
            <a:r>
              <a:rPr lang="en-IE" sz="2400" b="1" dirty="0" err="1"/>
              <a:t>farenheitToCelsius</a:t>
            </a:r>
            <a:r>
              <a:rPr lang="en-IE" sz="2400" b="1" dirty="0"/>
              <a:t> </a:t>
            </a:r>
            <a:r>
              <a:rPr lang="en-IE" sz="2400" dirty="0"/>
              <a:t>(double </a:t>
            </a:r>
            <a:r>
              <a:rPr lang="en-IE" sz="2400" dirty="0" err="1"/>
              <a:t>farenheit</a:t>
            </a:r>
            <a:r>
              <a:rPr lang="en-IE" sz="2400" dirty="0"/>
              <a:t>)</a:t>
            </a:r>
          </a:p>
          <a:p>
            <a:r>
              <a:rPr lang="en-IE" sz="2400" dirty="0"/>
              <a:t>{</a:t>
            </a:r>
          </a:p>
          <a:p>
            <a:r>
              <a:rPr lang="en-IE" sz="2400" dirty="0"/>
              <a:t>     double result = (</a:t>
            </a:r>
            <a:r>
              <a:rPr lang="en-IE" sz="2400" dirty="0" err="1"/>
              <a:t>farenheit</a:t>
            </a:r>
            <a:r>
              <a:rPr lang="en-IE" sz="2400" dirty="0"/>
              <a:t> - 32.0) * (5.0/9.0);</a:t>
            </a:r>
          </a:p>
          <a:p>
            <a:r>
              <a:rPr lang="en-IE" sz="2400" dirty="0"/>
              <a:t>     </a:t>
            </a:r>
            <a:r>
              <a:rPr lang="en-IE" sz="2400" b="1" dirty="0"/>
              <a:t>return</a:t>
            </a:r>
            <a:r>
              <a:rPr lang="en-IE" sz="2400" dirty="0"/>
              <a:t> result;</a:t>
            </a:r>
          </a:p>
          <a:p>
            <a:r>
              <a:rPr lang="en-IE" sz="2400" dirty="0"/>
              <a:t>}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4E122D9D-D92A-CD4C-B107-8F30936DD0EE}"/>
              </a:ext>
            </a:extLst>
          </p:cNvPr>
          <p:cNvCxnSpPr>
            <a:cxnSpLocks/>
          </p:cNvCxnSpPr>
          <p:nvPr/>
        </p:nvCxnSpPr>
        <p:spPr>
          <a:xfrm>
            <a:off x="6147549" y="2139790"/>
            <a:ext cx="1777251" cy="2356010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E" b="1" dirty="0"/>
              <a:t>Example 1 </a:t>
            </a:r>
            <a:r>
              <a:rPr lang="en-IE" dirty="0"/>
              <a:t>– </a:t>
            </a:r>
            <a:r>
              <a:rPr lang="en-IE" dirty="0" err="1"/>
              <a:t>Farenheit</a:t>
            </a:r>
            <a:r>
              <a:rPr lang="en-IE" dirty="0"/>
              <a:t> to Celsius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0" y="3733801"/>
            <a:ext cx="3679556" cy="461665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IE" sz="2400" dirty="0"/>
              <a:t>Celsius value is: 232.77779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34400" y="1685441"/>
            <a:ext cx="1752600" cy="156966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IE" sz="2400" dirty="0" err="1"/>
              <a:t>Farenheit</a:t>
            </a:r>
            <a:r>
              <a:rPr lang="en-IE" sz="2400" dirty="0"/>
              <a:t> value is hardcoded as a literal.</a:t>
            </a:r>
          </a:p>
        </p:txBody>
      </p:sp>
      <p:cxnSp>
        <p:nvCxnSpPr>
          <p:cNvPr id="9" name="Straight Arrow Connector 8"/>
          <p:cNvCxnSpPr>
            <a:stCxn id="7" idx="1"/>
          </p:cNvCxnSpPr>
          <p:nvPr/>
        </p:nvCxnSpPr>
        <p:spPr>
          <a:xfrm flipH="1">
            <a:off x="7391400" y="2470272"/>
            <a:ext cx="1143000" cy="175625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/>
          <p:cNvCxnSpPr/>
          <p:nvPr/>
        </p:nvCxnSpPr>
        <p:spPr>
          <a:xfrm>
            <a:off x="5562600" y="2819400"/>
            <a:ext cx="76200" cy="1600200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481670" y="4227210"/>
            <a:ext cx="1676400" cy="461665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IE" sz="2400" dirty="0"/>
              <a:t>Return type</a:t>
            </a:r>
          </a:p>
        </p:txBody>
      </p:sp>
      <p:cxnSp>
        <p:nvCxnSpPr>
          <p:cNvPr id="16" name="Straight Arrow Connector 15"/>
          <p:cNvCxnSpPr>
            <a:cxnSpLocks/>
            <a:stCxn id="15" idx="3"/>
          </p:cNvCxnSpPr>
          <p:nvPr/>
        </p:nvCxnSpPr>
        <p:spPr>
          <a:xfrm>
            <a:off x="2158070" y="4458043"/>
            <a:ext cx="1502139" cy="271092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5105400" y="6581002"/>
            <a:ext cx="5562600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IE" sz="1200" dirty="0"/>
              <a:t>Source:  </a:t>
            </a:r>
            <a:r>
              <a:rPr lang="en-IE" sz="1200" dirty="0" err="1"/>
              <a:t>Reas</a:t>
            </a:r>
            <a:r>
              <a:rPr lang="en-IE" sz="1200" dirty="0"/>
              <a:t> &amp; Fry (2014)</a:t>
            </a:r>
          </a:p>
        </p:txBody>
      </p:sp>
      <p:cxnSp>
        <p:nvCxnSpPr>
          <p:cNvPr id="14" name="Straight Arrow Connector 13"/>
          <p:cNvCxnSpPr>
            <a:cxnSpLocks/>
          </p:cNvCxnSpPr>
          <p:nvPr/>
        </p:nvCxnSpPr>
        <p:spPr>
          <a:xfrm flipH="1" flipV="1">
            <a:off x="2631519" y="2023810"/>
            <a:ext cx="2397681" cy="3767391"/>
          </a:xfrm>
          <a:prstGeom prst="straightConnector1">
            <a:avLst/>
          </a:prstGeom>
          <a:ln w="28575">
            <a:solidFill>
              <a:schemeClr val="accent4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/>
          <p:cNvCxnSpPr>
            <a:cxnSpLocks/>
          </p:cNvCxnSpPr>
          <p:nvPr/>
        </p:nvCxnSpPr>
        <p:spPr>
          <a:xfrm>
            <a:off x="3439027" y="2584315"/>
            <a:ext cx="2542673" cy="311286"/>
          </a:xfrm>
          <a:prstGeom prst="straightConnector1">
            <a:avLst/>
          </a:prstGeom>
          <a:ln w="28575">
            <a:solidFill>
              <a:srgbClr val="7030A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/>
          <p:cNvCxnSpPr/>
          <p:nvPr/>
        </p:nvCxnSpPr>
        <p:spPr>
          <a:xfrm>
            <a:off x="6096001" y="3193720"/>
            <a:ext cx="677157" cy="540080"/>
          </a:xfrm>
          <a:prstGeom prst="straightConnector1">
            <a:avLst/>
          </a:prstGeom>
          <a:ln w="28575">
            <a:solidFill>
              <a:srgbClr val="7030A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/>
          <p:cNvCxnSpPr>
            <a:cxnSpLocks/>
            <a:stCxn id="15" idx="0"/>
          </p:cNvCxnSpPr>
          <p:nvPr/>
        </p:nvCxnSpPr>
        <p:spPr>
          <a:xfrm flipV="1">
            <a:off x="1319870" y="2777574"/>
            <a:ext cx="1000808" cy="1449636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24C3A17F-D07D-A74F-9638-E6B0F34F3032}"/>
              </a:ext>
            </a:extLst>
          </p:cNvPr>
          <p:cNvSpPr txBox="1"/>
          <p:nvPr/>
        </p:nvSpPr>
        <p:spPr>
          <a:xfrm>
            <a:off x="6147549" y="4999674"/>
            <a:ext cx="7104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rgbClr val="0070C0"/>
                </a:solidFill>
              </a:rPr>
              <a:t>451.0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97FBFA3-E95B-9A4C-B58D-A063A855CD90}"/>
              </a:ext>
            </a:extLst>
          </p:cNvPr>
          <p:cNvSpPr txBox="1"/>
          <p:nvPr/>
        </p:nvSpPr>
        <p:spPr>
          <a:xfrm>
            <a:off x="7621123" y="4718210"/>
            <a:ext cx="7104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rgbClr val="0070C0"/>
                </a:solidFill>
              </a:rPr>
              <a:t>451.0</a:t>
            </a: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C518C9CD-6C99-1442-8126-2AE8E3CD1D12}"/>
              </a:ext>
            </a:extLst>
          </p:cNvPr>
          <p:cNvCxnSpPr>
            <a:cxnSpLocks/>
            <a:stCxn id="19" idx="1"/>
            <a:endCxn id="8" idx="3"/>
          </p:cNvCxnSpPr>
          <p:nvPr/>
        </p:nvCxnSpPr>
        <p:spPr>
          <a:xfrm flipH="1">
            <a:off x="6858000" y="4902876"/>
            <a:ext cx="763123" cy="281464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EA2E27BD-6768-A349-99D1-FE8AC46A7FBA}"/>
              </a:ext>
            </a:extLst>
          </p:cNvPr>
          <p:cNvSpPr txBox="1"/>
          <p:nvPr/>
        </p:nvSpPr>
        <p:spPr>
          <a:xfrm>
            <a:off x="4439936" y="4996934"/>
            <a:ext cx="11785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rgbClr val="0070C0"/>
                </a:solidFill>
              </a:rPr>
              <a:t>232.77779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EE8FA346-3B58-0B40-AE95-1D7C0727E37B}"/>
              </a:ext>
            </a:extLst>
          </p:cNvPr>
          <p:cNvSpPr txBox="1"/>
          <p:nvPr/>
        </p:nvSpPr>
        <p:spPr>
          <a:xfrm>
            <a:off x="2176036" y="2428376"/>
            <a:ext cx="11785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rgbClr val="7030A0"/>
                </a:solidFill>
              </a:rPr>
              <a:t>232.77779</a:t>
            </a:r>
          </a:p>
        </p:txBody>
      </p:sp>
    </p:spTree>
    <p:extLst>
      <p:ext uri="{BB962C8B-B14F-4D97-AF65-F5344CB8AC3E}">
        <p14:creationId xmlns:p14="http://schemas.microsoft.com/office/powerpoint/2010/main" val="28677498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6" grpId="0" animBg="1"/>
      <p:bldP spid="15" grpId="0" animBg="1"/>
      <p:bldP spid="8" grpId="0"/>
      <p:bldP spid="19" grpId="0"/>
      <p:bldP spid="27" grpId="0"/>
      <p:bldP spid="28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E" dirty="0"/>
              <a:t>Example 1 – Updated </a:t>
            </a:r>
          </a:p>
        </p:txBody>
      </p:sp>
      <p:sp>
        <p:nvSpPr>
          <p:cNvPr id="4" name="Rectangle 3"/>
          <p:cNvSpPr/>
          <p:nvPr/>
        </p:nvSpPr>
        <p:spPr>
          <a:xfrm>
            <a:off x="4419600" y="4419600"/>
            <a:ext cx="5715000" cy="1569660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IE" sz="2400" dirty="0"/>
              <a:t>double </a:t>
            </a:r>
            <a:r>
              <a:rPr lang="en-IE" sz="2400" dirty="0" err="1"/>
              <a:t>farenheitToCelsius</a:t>
            </a:r>
            <a:r>
              <a:rPr lang="en-IE" sz="2400" dirty="0"/>
              <a:t> (double </a:t>
            </a:r>
            <a:r>
              <a:rPr lang="en-IE" sz="2400" dirty="0" err="1"/>
              <a:t>farenheit</a:t>
            </a:r>
            <a:r>
              <a:rPr lang="en-IE" sz="2400" dirty="0"/>
              <a:t>)</a:t>
            </a:r>
          </a:p>
          <a:p>
            <a:r>
              <a:rPr lang="en-IE" sz="2400" dirty="0"/>
              <a:t>{</a:t>
            </a:r>
          </a:p>
          <a:p>
            <a:r>
              <a:rPr lang="en-IE" sz="2400" dirty="0"/>
              <a:t>      </a:t>
            </a:r>
            <a:r>
              <a:rPr lang="en-IE" sz="2400" b="1" dirty="0"/>
              <a:t>return</a:t>
            </a:r>
            <a:r>
              <a:rPr lang="en-IE" sz="2400" dirty="0"/>
              <a:t> (</a:t>
            </a:r>
            <a:r>
              <a:rPr lang="en-IE" sz="2400" dirty="0" err="1"/>
              <a:t>farenheit</a:t>
            </a:r>
            <a:r>
              <a:rPr lang="en-IE" sz="2400" dirty="0"/>
              <a:t> - 32.0) * (5.0/9.0);</a:t>
            </a:r>
          </a:p>
          <a:p>
            <a:r>
              <a:rPr lang="en-IE" sz="2400" dirty="0"/>
              <a:t>}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9600" y="3767792"/>
            <a:ext cx="3234847" cy="830997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E" sz="2400" dirty="0"/>
              <a:t>both methods are exactly the same</a:t>
            </a:r>
          </a:p>
        </p:txBody>
      </p:sp>
      <p:cxnSp>
        <p:nvCxnSpPr>
          <p:cNvPr id="16" name="Straight Arrow Connector 15"/>
          <p:cNvCxnSpPr>
            <a:cxnSpLocks/>
          </p:cNvCxnSpPr>
          <p:nvPr/>
        </p:nvCxnSpPr>
        <p:spPr>
          <a:xfrm>
            <a:off x="3200400" y="4598789"/>
            <a:ext cx="1143000" cy="705127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Rectangle 10"/>
          <p:cNvSpPr/>
          <p:nvPr/>
        </p:nvSpPr>
        <p:spPr>
          <a:xfrm>
            <a:off x="4419600" y="1828800"/>
            <a:ext cx="6096000" cy="1938992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IE" sz="2400" dirty="0"/>
              <a:t>double </a:t>
            </a:r>
            <a:r>
              <a:rPr lang="en-IE" sz="2400" dirty="0" err="1"/>
              <a:t>farenheitToCelsius</a:t>
            </a:r>
            <a:r>
              <a:rPr lang="en-IE" sz="2400" dirty="0"/>
              <a:t> (double </a:t>
            </a:r>
            <a:r>
              <a:rPr lang="en-IE" sz="2400" dirty="0" err="1"/>
              <a:t>farenheit</a:t>
            </a:r>
            <a:r>
              <a:rPr lang="en-IE" sz="2400" dirty="0"/>
              <a:t>)</a:t>
            </a:r>
          </a:p>
          <a:p>
            <a:r>
              <a:rPr lang="en-IE" sz="2400" dirty="0"/>
              <a:t>{</a:t>
            </a:r>
          </a:p>
          <a:p>
            <a:r>
              <a:rPr lang="en-IE" sz="2400" dirty="0"/>
              <a:t>     </a:t>
            </a:r>
            <a:r>
              <a:rPr lang="en-IE" sz="2400" dirty="0">
                <a:solidFill>
                  <a:srgbClr val="00B050"/>
                </a:solidFill>
              </a:rPr>
              <a:t>double result = </a:t>
            </a:r>
            <a:r>
              <a:rPr lang="en-IE" sz="2400" dirty="0"/>
              <a:t>(</a:t>
            </a:r>
            <a:r>
              <a:rPr lang="en-IE" sz="2400" dirty="0" err="1"/>
              <a:t>farenheit</a:t>
            </a:r>
            <a:r>
              <a:rPr lang="en-IE" sz="2400" dirty="0"/>
              <a:t> - 32.0) * (5.0/9.0);</a:t>
            </a:r>
          </a:p>
          <a:p>
            <a:r>
              <a:rPr lang="en-IE" sz="2400" dirty="0"/>
              <a:t>     return </a:t>
            </a:r>
            <a:r>
              <a:rPr lang="en-IE" sz="2400" dirty="0">
                <a:solidFill>
                  <a:srgbClr val="00B050"/>
                </a:solidFill>
              </a:rPr>
              <a:t>result</a:t>
            </a:r>
            <a:r>
              <a:rPr lang="en-IE" sz="2400" dirty="0"/>
              <a:t>;</a:t>
            </a:r>
          </a:p>
          <a:p>
            <a:r>
              <a:rPr lang="en-IE" sz="2400" dirty="0"/>
              <a:t>}</a:t>
            </a:r>
          </a:p>
        </p:txBody>
      </p:sp>
      <p:cxnSp>
        <p:nvCxnSpPr>
          <p:cNvPr id="13" name="Straight Arrow Connector 12"/>
          <p:cNvCxnSpPr>
            <a:cxnSpLocks/>
          </p:cNvCxnSpPr>
          <p:nvPr/>
        </p:nvCxnSpPr>
        <p:spPr>
          <a:xfrm flipV="1">
            <a:off x="3276600" y="2798296"/>
            <a:ext cx="1066800" cy="967034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/>
        </p:nvSpPr>
        <p:spPr>
          <a:xfrm>
            <a:off x="5105400" y="6581002"/>
            <a:ext cx="5562600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IE" sz="1200" dirty="0"/>
              <a:t>Source:  </a:t>
            </a:r>
            <a:r>
              <a:rPr lang="en-IE" sz="1200" dirty="0" err="1"/>
              <a:t>Reas</a:t>
            </a:r>
            <a:r>
              <a:rPr lang="en-IE" sz="1200" dirty="0"/>
              <a:t> &amp; Fry (2014)</a:t>
            </a:r>
          </a:p>
        </p:txBody>
      </p:sp>
    </p:spTree>
    <p:extLst>
      <p:ext uri="{BB962C8B-B14F-4D97-AF65-F5344CB8AC3E}">
        <p14:creationId xmlns:p14="http://schemas.microsoft.com/office/powerpoint/2010/main" val="418184721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62B0B5-EC1E-2A22-4B59-E8FC4709E7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7E18C5-EE31-121C-5A87-55DEABD45A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/>
              <a:t>Topics list</a:t>
            </a:r>
            <a:endParaRPr lang="en-IE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0F6946A-73D4-DF32-7E75-17369449F3CB}"/>
              </a:ext>
            </a:extLst>
          </p:cNvPr>
          <p:cNvSpPr/>
          <p:nvPr/>
        </p:nvSpPr>
        <p:spPr>
          <a:xfrm>
            <a:off x="2090737" y="3200400"/>
            <a:ext cx="4038600" cy="457200"/>
          </a:xfrm>
          <a:prstGeom prst="rect">
            <a:avLst/>
          </a:prstGeom>
          <a:noFill/>
          <a:ln w="444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sp>
        <p:nvSpPr>
          <p:cNvPr id="6" name="Content Placeholder 4">
            <a:extLst>
              <a:ext uri="{FF2B5EF4-FFF2-40B4-BE49-F238E27FC236}">
                <a16:creationId xmlns:a16="http://schemas.microsoft.com/office/drawing/2014/main" id="{F264230D-9FCB-E0FA-1701-778A7A37366B}"/>
              </a:ext>
            </a:extLst>
          </p:cNvPr>
          <p:cNvSpPr txBox="1">
            <a:spLocks/>
          </p:cNvSpPr>
          <p:nvPr/>
        </p:nvSpPr>
        <p:spPr>
          <a:xfrm>
            <a:off x="2095499" y="1752600"/>
            <a:ext cx="87630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E" sz="1600" dirty="0"/>
          </a:p>
          <a:p>
            <a:pPr marL="514350" indent="-514350">
              <a:buFont typeface="+mj-lt"/>
              <a:buAutoNum type="arabicPeriod"/>
            </a:pPr>
            <a:r>
              <a:rPr lang="en-IE" dirty="0"/>
              <a:t> Method examples – return values</a:t>
            </a:r>
          </a:p>
          <a:p>
            <a:pPr marL="914400" lvl="1" indent="-514350"/>
            <a:r>
              <a:rPr lang="en-IE" dirty="0" err="1"/>
              <a:t>Celcius</a:t>
            </a:r>
            <a:r>
              <a:rPr lang="en-IE" dirty="0"/>
              <a:t> / </a:t>
            </a:r>
            <a:r>
              <a:rPr lang="en-IE" dirty="0" err="1"/>
              <a:t>Farenheit</a:t>
            </a:r>
            <a:r>
              <a:rPr lang="en-IE" dirty="0"/>
              <a:t> </a:t>
            </a:r>
            <a:r>
              <a:rPr lang="en-IE" b="1" dirty="0"/>
              <a:t>Converter</a:t>
            </a:r>
            <a:r>
              <a:rPr lang="en-IE" dirty="0"/>
              <a:t>.</a:t>
            </a:r>
          </a:p>
          <a:p>
            <a:pPr marL="914400" lvl="1" indent="-514350"/>
            <a:r>
              <a:rPr lang="en-IE" b="1" dirty="0"/>
              <a:t>Cubed</a:t>
            </a:r>
          </a:p>
          <a:p>
            <a:pPr marL="914400" lvl="1" indent="-514350"/>
            <a:r>
              <a:rPr lang="en-IE" b="1" dirty="0"/>
              <a:t>Product</a:t>
            </a:r>
          </a:p>
          <a:p>
            <a:pPr marL="514350" indent="-514350">
              <a:buFont typeface="+mj-lt"/>
              <a:buAutoNum type="arabicPeriod"/>
            </a:pPr>
            <a:r>
              <a:rPr lang="en-IE" b="1" dirty="0"/>
              <a:t> </a:t>
            </a:r>
            <a:r>
              <a:rPr lang="en-IE" dirty="0"/>
              <a:t>Boolean methods</a:t>
            </a:r>
          </a:p>
          <a:p>
            <a:pPr marL="514350" indent="-514350">
              <a:buFont typeface="+mj-lt"/>
              <a:buAutoNum type="arabicPeriod"/>
            </a:pPr>
            <a:r>
              <a:rPr lang="en-IE" b="1" dirty="0"/>
              <a:t> Overloading</a:t>
            </a:r>
            <a:r>
              <a:rPr lang="en-IE" dirty="0"/>
              <a:t> methods.</a:t>
            </a:r>
          </a:p>
        </p:txBody>
      </p:sp>
    </p:spTree>
    <p:extLst>
      <p:ext uri="{BB962C8B-B14F-4D97-AF65-F5344CB8AC3E}">
        <p14:creationId xmlns:p14="http://schemas.microsoft.com/office/powerpoint/2010/main" val="11964801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A01E1181-BCFD-1CC5-C6FB-A9F68B71F0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3915" y="1390115"/>
            <a:ext cx="4495800" cy="2425700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D4FE8F21-BD1C-34D6-96E8-515C9E3C31C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57953" y="3680141"/>
            <a:ext cx="7772400" cy="3443036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0398985-A227-FF4C-BF5D-D7473C16D2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Example: </a:t>
            </a:r>
            <a:r>
              <a:rPr lang="en-GB" b="1" dirty="0"/>
              <a:t>Cubed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E50D729-3B86-B44A-A128-6A6E95E5B3B6}"/>
              </a:ext>
            </a:extLst>
          </p:cNvPr>
          <p:cNvSpPr txBox="1"/>
          <p:nvPr/>
        </p:nvSpPr>
        <p:spPr>
          <a:xfrm>
            <a:off x="1122371" y="6329556"/>
            <a:ext cx="1676400" cy="461665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IE" sz="2400" dirty="0"/>
              <a:t>Return type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8AAAC6C8-BF91-E044-9929-5C420331450E}"/>
              </a:ext>
            </a:extLst>
          </p:cNvPr>
          <p:cNvCxnSpPr>
            <a:cxnSpLocks/>
          </p:cNvCxnSpPr>
          <p:nvPr/>
        </p:nvCxnSpPr>
        <p:spPr>
          <a:xfrm flipH="1" flipV="1">
            <a:off x="1359136" y="2996222"/>
            <a:ext cx="1440600" cy="3613057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4D6A2E1A-34B2-FF42-9D2E-E0CB9624F29A}"/>
              </a:ext>
            </a:extLst>
          </p:cNvPr>
          <p:cNvCxnSpPr>
            <a:cxnSpLocks/>
          </p:cNvCxnSpPr>
          <p:nvPr/>
        </p:nvCxnSpPr>
        <p:spPr>
          <a:xfrm flipH="1" flipV="1">
            <a:off x="2915189" y="3003482"/>
            <a:ext cx="6000211" cy="3158116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06226864-7C31-B743-9AEF-C34838B0CC93}"/>
              </a:ext>
            </a:extLst>
          </p:cNvPr>
          <p:cNvSpPr txBox="1"/>
          <p:nvPr/>
        </p:nvSpPr>
        <p:spPr>
          <a:xfrm>
            <a:off x="3226290" y="233558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rgbClr val="0070C0"/>
                </a:solidFill>
              </a:rPr>
              <a:t>5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FF5337A-9367-314C-A05F-0288F0F9AD1B}"/>
              </a:ext>
            </a:extLst>
          </p:cNvPr>
          <p:cNvSpPr txBox="1"/>
          <p:nvPr/>
        </p:nvSpPr>
        <p:spPr>
          <a:xfrm>
            <a:off x="2798771" y="299622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rgbClr val="0070C0"/>
                </a:solidFill>
              </a:rPr>
              <a:t>5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D307AEC-A1B1-F840-800F-A30323F5C1A4}"/>
              </a:ext>
            </a:extLst>
          </p:cNvPr>
          <p:cNvSpPr txBox="1"/>
          <p:nvPr/>
        </p:nvSpPr>
        <p:spPr>
          <a:xfrm>
            <a:off x="3527976" y="297307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rgbClr val="0070C0"/>
                </a:solidFill>
              </a:rPr>
              <a:t>5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1BE17AD-3DAD-904F-8ABC-E921D2B35949}"/>
              </a:ext>
            </a:extLst>
          </p:cNvPr>
          <p:cNvSpPr txBox="1"/>
          <p:nvPr/>
        </p:nvSpPr>
        <p:spPr>
          <a:xfrm>
            <a:off x="4280330" y="297307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rgbClr val="0070C0"/>
                </a:solidFill>
              </a:rPr>
              <a:t>5</a:t>
            </a: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F3879B62-DC34-E942-BC27-DB978EA58C05}"/>
              </a:ext>
            </a:extLst>
          </p:cNvPr>
          <p:cNvCxnSpPr>
            <a:cxnSpLocks/>
          </p:cNvCxnSpPr>
          <p:nvPr/>
        </p:nvCxnSpPr>
        <p:spPr>
          <a:xfrm>
            <a:off x="2009042" y="3295211"/>
            <a:ext cx="5382358" cy="2936937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950D74A1-BBD5-684B-9E78-E42BB36E476F}"/>
              </a:ext>
            </a:extLst>
          </p:cNvPr>
          <p:cNvSpPr txBox="1"/>
          <p:nvPr/>
        </p:nvSpPr>
        <p:spPr>
          <a:xfrm>
            <a:off x="3717438" y="4618084"/>
            <a:ext cx="562892" cy="369332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GB" dirty="0">
                <a:solidFill>
                  <a:srgbClr val="FF0000"/>
                </a:solidFill>
              </a:rPr>
              <a:t>125</a:t>
            </a:r>
          </a:p>
        </p:txBody>
      </p:sp>
    </p:spTree>
    <p:extLst>
      <p:ext uri="{BB962C8B-B14F-4D97-AF65-F5344CB8AC3E}">
        <p14:creationId xmlns:p14="http://schemas.microsoft.com/office/powerpoint/2010/main" val="16370706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13" grpId="0"/>
      <p:bldP spid="17" grpId="0"/>
      <p:bldP spid="18" grpId="0"/>
      <p:bldP spid="19" grpId="0"/>
      <p:bldP spid="25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9B2E90-7166-68C3-9844-A7039C5C04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898D6A-F922-0DC8-CE61-E0D797D6F5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/>
              <a:t>Topics list</a:t>
            </a:r>
            <a:endParaRPr lang="en-IE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7AD675B-F955-A529-76E4-1849DE3E9B59}"/>
              </a:ext>
            </a:extLst>
          </p:cNvPr>
          <p:cNvSpPr/>
          <p:nvPr/>
        </p:nvSpPr>
        <p:spPr>
          <a:xfrm>
            <a:off x="2286002" y="3786981"/>
            <a:ext cx="4038600" cy="457200"/>
          </a:xfrm>
          <a:prstGeom prst="rect">
            <a:avLst/>
          </a:prstGeom>
          <a:noFill/>
          <a:ln w="444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sp>
        <p:nvSpPr>
          <p:cNvPr id="6" name="Content Placeholder 4">
            <a:extLst>
              <a:ext uri="{FF2B5EF4-FFF2-40B4-BE49-F238E27FC236}">
                <a16:creationId xmlns:a16="http://schemas.microsoft.com/office/drawing/2014/main" id="{ADCB0F4B-F917-3AFE-B06E-B1CBAD6CC7E2}"/>
              </a:ext>
            </a:extLst>
          </p:cNvPr>
          <p:cNvSpPr txBox="1">
            <a:spLocks/>
          </p:cNvSpPr>
          <p:nvPr/>
        </p:nvSpPr>
        <p:spPr>
          <a:xfrm>
            <a:off x="2019302" y="1752600"/>
            <a:ext cx="87630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E" sz="1600" dirty="0"/>
          </a:p>
          <a:p>
            <a:pPr marL="514350" indent="-514350">
              <a:buFont typeface="+mj-lt"/>
              <a:buAutoNum type="arabicPeriod"/>
            </a:pPr>
            <a:r>
              <a:rPr lang="en-IE" dirty="0"/>
              <a:t> Method examples – return values</a:t>
            </a:r>
          </a:p>
          <a:p>
            <a:pPr marL="914400" lvl="1" indent="-514350"/>
            <a:r>
              <a:rPr lang="en-IE" dirty="0" err="1"/>
              <a:t>Celcius</a:t>
            </a:r>
            <a:r>
              <a:rPr lang="en-IE" dirty="0"/>
              <a:t> / </a:t>
            </a:r>
            <a:r>
              <a:rPr lang="en-IE" dirty="0" err="1"/>
              <a:t>Farenheit</a:t>
            </a:r>
            <a:r>
              <a:rPr lang="en-IE" dirty="0"/>
              <a:t> </a:t>
            </a:r>
            <a:r>
              <a:rPr lang="en-IE" b="1" dirty="0"/>
              <a:t>Converter</a:t>
            </a:r>
            <a:r>
              <a:rPr lang="en-IE" dirty="0"/>
              <a:t>.</a:t>
            </a:r>
          </a:p>
          <a:p>
            <a:pPr marL="914400" lvl="1" indent="-514350"/>
            <a:r>
              <a:rPr lang="en-IE" b="1" dirty="0"/>
              <a:t>Cubed</a:t>
            </a:r>
          </a:p>
          <a:p>
            <a:pPr marL="914400" lvl="1" indent="-514350"/>
            <a:r>
              <a:rPr lang="en-IE" b="1" dirty="0"/>
              <a:t>Product</a:t>
            </a:r>
          </a:p>
          <a:p>
            <a:pPr marL="514350" indent="-514350">
              <a:buFont typeface="+mj-lt"/>
              <a:buAutoNum type="arabicPeriod"/>
            </a:pPr>
            <a:r>
              <a:rPr lang="en-IE" b="1" dirty="0"/>
              <a:t> </a:t>
            </a:r>
            <a:r>
              <a:rPr lang="en-IE" dirty="0"/>
              <a:t>Boolean methods</a:t>
            </a:r>
          </a:p>
          <a:p>
            <a:pPr marL="514350" indent="-514350">
              <a:buFont typeface="+mj-lt"/>
              <a:buAutoNum type="arabicPeriod"/>
            </a:pPr>
            <a:r>
              <a:rPr lang="en-IE" b="1" dirty="0"/>
              <a:t> Overloading</a:t>
            </a:r>
            <a:r>
              <a:rPr lang="en-IE" dirty="0"/>
              <a:t> methods.</a:t>
            </a:r>
          </a:p>
        </p:txBody>
      </p:sp>
    </p:spTree>
    <p:extLst>
      <p:ext uri="{BB962C8B-B14F-4D97-AF65-F5344CB8AC3E}">
        <p14:creationId xmlns:p14="http://schemas.microsoft.com/office/powerpoint/2010/main" val="38890042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398985-A227-FF4C-BF5D-D7473C16D2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Example: Product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E50D729-3B86-B44A-A128-6A6E95E5B3B6}"/>
              </a:ext>
            </a:extLst>
          </p:cNvPr>
          <p:cNvSpPr txBox="1"/>
          <p:nvPr/>
        </p:nvSpPr>
        <p:spPr>
          <a:xfrm>
            <a:off x="149352" y="6283766"/>
            <a:ext cx="1676400" cy="461665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IE" sz="2400" dirty="0"/>
              <a:t>Return type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14D7A6B-BAA6-ADE0-B055-D3FBD05FE8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9352" y="1366540"/>
            <a:ext cx="7772400" cy="2632969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4ED5D3C1-1A7D-F0AB-07C9-9BD76648C55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86000" y="3513435"/>
            <a:ext cx="7112000" cy="2260600"/>
          </a:xfrm>
          <a:prstGeom prst="rect">
            <a:avLst/>
          </a:prstGeom>
        </p:spPr>
      </p:pic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8AAAC6C8-BF91-E044-9929-5C420331450E}"/>
              </a:ext>
            </a:extLst>
          </p:cNvPr>
          <p:cNvCxnSpPr>
            <a:cxnSpLocks/>
          </p:cNvCxnSpPr>
          <p:nvPr/>
        </p:nvCxnSpPr>
        <p:spPr>
          <a:xfrm flipV="1">
            <a:off x="1806077" y="4876800"/>
            <a:ext cx="1546723" cy="1406966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5" name="Picture 14">
            <a:extLst>
              <a:ext uri="{FF2B5EF4-FFF2-40B4-BE49-F238E27FC236}">
                <a16:creationId xmlns:a16="http://schemas.microsoft.com/office/drawing/2014/main" id="{3AFC7CC5-9889-ED7D-C79F-8E06E526FAB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0" y="5963698"/>
            <a:ext cx="3566469" cy="320068"/>
          </a:xfrm>
          <a:prstGeom prst="rect">
            <a:avLst/>
          </a:prstGeom>
          <a:solidFill>
            <a:srgbClr val="000000">
              <a:shade val="95000"/>
            </a:srgbClr>
          </a:solidFill>
          <a:ln w="444500" cap="sq">
            <a:solidFill>
              <a:srgbClr val="000000"/>
            </a:solidFill>
            <a:miter lim="800000"/>
          </a:ln>
          <a:effectLst>
            <a:outerShdw blurRad="254000" dist="190500" dir="2700000" sy="90000" algn="bl" rotWithShape="0">
              <a:srgbClr val="000000">
                <a:alpha val="4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3546457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AE77AA-8379-7B50-64A8-7D131788DD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F6A7BE-B445-3EC0-0B6C-38AAA0C6D3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/>
              <a:t>Topics list</a:t>
            </a:r>
            <a:endParaRPr lang="en-IE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00A1296-C508-5CA6-C678-96070AAFA493}"/>
              </a:ext>
            </a:extLst>
          </p:cNvPr>
          <p:cNvSpPr/>
          <p:nvPr/>
        </p:nvSpPr>
        <p:spPr>
          <a:xfrm>
            <a:off x="1752600" y="4800600"/>
            <a:ext cx="4038600" cy="457200"/>
          </a:xfrm>
          <a:prstGeom prst="rect">
            <a:avLst/>
          </a:prstGeom>
          <a:noFill/>
          <a:ln w="444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sp>
        <p:nvSpPr>
          <p:cNvPr id="6" name="Content Placeholder 4">
            <a:extLst>
              <a:ext uri="{FF2B5EF4-FFF2-40B4-BE49-F238E27FC236}">
                <a16:creationId xmlns:a16="http://schemas.microsoft.com/office/drawing/2014/main" id="{1CABE85C-74E8-C440-60DB-5AB051779FA6}"/>
              </a:ext>
            </a:extLst>
          </p:cNvPr>
          <p:cNvSpPr txBox="1">
            <a:spLocks/>
          </p:cNvSpPr>
          <p:nvPr/>
        </p:nvSpPr>
        <p:spPr>
          <a:xfrm>
            <a:off x="1714500" y="2327274"/>
            <a:ext cx="87630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E" sz="1600" dirty="0"/>
          </a:p>
          <a:p>
            <a:pPr marL="514350" indent="-514350">
              <a:buFont typeface="+mj-lt"/>
              <a:buAutoNum type="arabicPeriod"/>
            </a:pPr>
            <a:r>
              <a:rPr lang="en-IE" dirty="0"/>
              <a:t> Method examples – return values</a:t>
            </a:r>
          </a:p>
          <a:p>
            <a:pPr marL="914400" lvl="1" indent="-514350"/>
            <a:r>
              <a:rPr lang="en-IE" dirty="0" err="1"/>
              <a:t>Celcius</a:t>
            </a:r>
            <a:r>
              <a:rPr lang="en-IE" dirty="0"/>
              <a:t> / </a:t>
            </a:r>
            <a:r>
              <a:rPr lang="en-IE" dirty="0" err="1"/>
              <a:t>Farenheit</a:t>
            </a:r>
            <a:r>
              <a:rPr lang="en-IE" dirty="0"/>
              <a:t> </a:t>
            </a:r>
            <a:r>
              <a:rPr lang="en-IE" b="1" dirty="0"/>
              <a:t>Converter</a:t>
            </a:r>
            <a:r>
              <a:rPr lang="en-IE" dirty="0"/>
              <a:t>.</a:t>
            </a:r>
          </a:p>
          <a:p>
            <a:pPr marL="914400" lvl="1" indent="-514350"/>
            <a:r>
              <a:rPr lang="en-IE" b="1" dirty="0"/>
              <a:t>Cubed</a:t>
            </a:r>
          </a:p>
          <a:p>
            <a:pPr marL="914400" lvl="1" indent="-514350"/>
            <a:r>
              <a:rPr lang="en-IE" b="1" dirty="0"/>
              <a:t>Product</a:t>
            </a:r>
          </a:p>
          <a:p>
            <a:pPr marL="514350" indent="-514350">
              <a:buFont typeface="+mj-lt"/>
              <a:buAutoNum type="arabicPeriod"/>
            </a:pPr>
            <a:r>
              <a:rPr lang="en-IE" b="1" dirty="0"/>
              <a:t> </a:t>
            </a:r>
            <a:r>
              <a:rPr lang="en-IE" dirty="0"/>
              <a:t>Boolean methods</a:t>
            </a:r>
          </a:p>
          <a:p>
            <a:pPr marL="514350" indent="-514350">
              <a:buFont typeface="+mj-lt"/>
              <a:buAutoNum type="arabicPeriod"/>
            </a:pPr>
            <a:r>
              <a:rPr lang="en-IE" b="1" dirty="0"/>
              <a:t> Overloading</a:t>
            </a:r>
            <a:r>
              <a:rPr lang="en-IE" dirty="0"/>
              <a:t> methods.</a:t>
            </a:r>
          </a:p>
        </p:txBody>
      </p:sp>
    </p:spTree>
    <p:extLst>
      <p:ext uri="{BB962C8B-B14F-4D97-AF65-F5344CB8AC3E}">
        <p14:creationId xmlns:p14="http://schemas.microsoft.com/office/powerpoint/2010/main" val="8245400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8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a Boolean Method?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>
            <a:normAutofit lnSpcReduction="10000"/>
          </a:bodyPr>
          <a:lstStyle/>
          <a:p>
            <a:endParaRPr dirty="0"/>
          </a:p>
          <a:p>
            <a:pPr>
              <a:defRPr sz="2000"/>
            </a:pPr>
            <a:r>
              <a:rPr sz="4000" dirty="0"/>
              <a:t>A Boolean method returns a </a:t>
            </a:r>
            <a:r>
              <a:rPr sz="4000" dirty="0" err="1"/>
              <a:t>boolean</a:t>
            </a:r>
            <a:r>
              <a:rPr sz="4000" dirty="0"/>
              <a:t> value — either true or false.</a:t>
            </a:r>
          </a:p>
          <a:p>
            <a:pPr>
              <a:defRPr sz="2000"/>
            </a:pPr>
            <a:r>
              <a:rPr sz="4000" dirty="0"/>
              <a:t>They are used to check conditions and make decisions in a program.</a:t>
            </a:r>
          </a:p>
          <a:p>
            <a:pPr>
              <a:defRPr sz="2000"/>
            </a:pPr>
            <a:r>
              <a:rPr sz="4000" dirty="0"/>
              <a:t>Examples: checking if a number is even, verifying a temperature range, or determining permissions.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Syntax – Defining a Boolean Method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05000" y="4572000"/>
            <a:ext cx="7924800" cy="2163762"/>
          </a:xfrm>
        </p:spPr>
        <p:txBody>
          <a:bodyPr wrap="square">
            <a:normAutofit/>
          </a:bodyPr>
          <a:lstStyle/>
          <a:p>
            <a:endParaRPr dirty="0"/>
          </a:p>
          <a:p>
            <a:pPr>
              <a:defRPr sz="2000"/>
            </a:pPr>
            <a:r>
              <a:rPr sz="2800" dirty="0"/>
              <a:t>public </a:t>
            </a:r>
            <a:r>
              <a:rPr sz="2800" dirty="0" err="1"/>
              <a:t>boolean</a:t>
            </a:r>
            <a:r>
              <a:rPr sz="2800" dirty="0"/>
              <a:t> → method returns a </a:t>
            </a:r>
            <a:r>
              <a:rPr lang="en-IE" sz="2800" dirty="0"/>
              <a:t>B</a:t>
            </a:r>
            <a:r>
              <a:rPr sz="2800" dirty="0" err="1"/>
              <a:t>oolean</a:t>
            </a:r>
            <a:endParaRPr lang="en-IE" sz="2800" dirty="0"/>
          </a:p>
          <a:p>
            <a:pPr>
              <a:defRPr sz="2000"/>
            </a:pPr>
            <a:r>
              <a:rPr sz="2800" dirty="0" err="1"/>
              <a:t>isEven</a:t>
            </a:r>
            <a:r>
              <a:rPr sz="2800" dirty="0"/>
              <a:t> → typically starts with is, has, or can</a:t>
            </a:r>
          </a:p>
          <a:p>
            <a:pPr marL="0" indent="0">
              <a:buNone/>
              <a:defRPr sz="2000"/>
            </a:pPr>
            <a:r>
              <a:rPr lang="en-IE" sz="2800" dirty="0"/>
              <a:t>    </a:t>
            </a:r>
            <a:r>
              <a:rPr sz="2800" dirty="0"/>
              <a:t>return true / false → gives back the Boolean result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6145704-CAF7-523B-45BB-06BF2034C745}"/>
              </a:ext>
            </a:extLst>
          </p:cNvPr>
          <p:cNvSpPr txBox="1"/>
          <p:nvPr/>
        </p:nvSpPr>
        <p:spPr>
          <a:xfrm>
            <a:off x="2362200" y="1752634"/>
            <a:ext cx="5715000" cy="2554545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>
              <a:defRPr sz="2000"/>
            </a:pPr>
            <a:r>
              <a:rPr lang="en-IE" dirty="0">
                <a:latin typeface="Lucida Sans Typewriter" panose="020B0509030504030204" pitchFamily="49" charset="77"/>
              </a:rPr>
              <a:t>public </a:t>
            </a:r>
            <a:r>
              <a:rPr lang="en-IE" dirty="0" err="1">
                <a:latin typeface="Lucida Sans Typewriter" panose="020B0509030504030204" pitchFamily="49" charset="77"/>
              </a:rPr>
              <a:t>boolean</a:t>
            </a:r>
            <a:r>
              <a:rPr lang="en-IE" dirty="0">
                <a:latin typeface="Lucida Sans Typewriter" panose="020B0509030504030204" pitchFamily="49" charset="77"/>
              </a:rPr>
              <a:t> </a:t>
            </a:r>
            <a:r>
              <a:rPr lang="en-IE" dirty="0" err="1">
                <a:latin typeface="Lucida Sans Typewriter" panose="020B0509030504030204" pitchFamily="49" charset="77"/>
              </a:rPr>
              <a:t>isEven</a:t>
            </a:r>
            <a:r>
              <a:rPr lang="en-IE" dirty="0">
                <a:latin typeface="Lucida Sans Typewriter" panose="020B0509030504030204" pitchFamily="49" charset="77"/>
              </a:rPr>
              <a:t>(int number) {</a:t>
            </a:r>
          </a:p>
          <a:p>
            <a:pPr>
              <a:defRPr sz="2000"/>
            </a:pPr>
            <a:r>
              <a:rPr lang="en-IE" dirty="0">
                <a:latin typeface="Lucida Sans Typewriter" panose="020B0509030504030204" pitchFamily="49" charset="77"/>
              </a:rPr>
              <a:t>    if (number % 2 == 0) { </a:t>
            </a:r>
          </a:p>
          <a:p>
            <a:pPr>
              <a:defRPr sz="2000"/>
            </a:pPr>
            <a:r>
              <a:rPr lang="en-IE" dirty="0">
                <a:latin typeface="Lucida Sans Typewriter" panose="020B0509030504030204" pitchFamily="49" charset="77"/>
              </a:rPr>
              <a:t>        return true; </a:t>
            </a:r>
          </a:p>
          <a:p>
            <a:pPr>
              <a:defRPr sz="2000"/>
            </a:pPr>
            <a:r>
              <a:rPr lang="en-IE" dirty="0">
                <a:latin typeface="Lucida Sans Typewriter" panose="020B0509030504030204" pitchFamily="49" charset="77"/>
              </a:rPr>
              <a:t>       }</a:t>
            </a:r>
          </a:p>
          <a:p>
            <a:pPr>
              <a:defRPr sz="2000"/>
            </a:pPr>
            <a:r>
              <a:rPr lang="en-IE" dirty="0">
                <a:latin typeface="Lucida Sans Typewriter" panose="020B0509030504030204" pitchFamily="49" charset="77"/>
              </a:rPr>
              <a:t>    else {</a:t>
            </a:r>
          </a:p>
          <a:p>
            <a:pPr>
              <a:defRPr sz="2000"/>
            </a:pPr>
            <a:r>
              <a:rPr lang="en-IE" dirty="0">
                <a:latin typeface="Lucida Sans Typewriter" panose="020B0509030504030204" pitchFamily="49" charset="77"/>
              </a:rPr>
              <a:t>       return false;</a:t>
            </a:r>
          </a:p>
          <a:p>
            <a:pPr>
              <a:defRPr sz="2000"/>
            </a:pPr>
            <a:r>
              <a:rPr lang="en-IE" dirty="0">
                <a:latin typeface="Lucida Sans Typewriter" panose="020B0509030504030204" pitchFamily="49" charset="77"/>
              </a:rPr>
              <a:t>    }</a:t>
            </a:r>
          </a:p>
          <a:p>
            <a:pPr>
              <a:defRPr sz="2000"/>
            </a:pPr>
            <a:r>
              <a:rPr lang="en-IE" dirty="0">
                <a:latin typeface="Lucida Sans Typewriter" panose="020B0509030504030204" pitchFamily="49" charset="77"/>
              </a:rPr>
              <a:t>}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895601" y="1371601"/>
            <a:ext cx="6131807" cy="2954655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rgbClr val="B4B4B4"/>
            </a:solidFill>
          </a:ln>
        </p:spPr>
        <p:txBody>
          <a:bodyPr wrap="none">
            <a:spAutoFit/>
          </a:bodyPr>
          <a:lstStyle/>
          <a:p>
            <a:endParaRPr dirty="0"/>
          </a:p>
          <a:p>
            <a:pPr>
              <a:defRPr sz="2400">
                <a:solidFill>
                  <a:srgbClr val="000000"/>
                </a:solidFill>
                <a:latin typeface="Consolas"/>
              </a:defRPr>
            </a:pPr>
            <a:r>
              <a:rPr sz="2400" dirty="0"/>
              <a:t>public </a:t>
            </a:r>
            <a:r>
              <a:rPr sz="2400" dirty="0" err="1"/>
              <a:t>boolean</a:t>
            </a:r>
            <a:r>
              <a:rPr sz="2400" dirty="0"/>
              <a:t> </a:t>
            </a:r>
            <a:r>
              <a:rPr sz="2400" dirty="0" err="1"/>
              <a:t>isEven</a:t>
            </a:r>
            <a:r>
              <a:rPr sz="2400" dirty="0"/>
              <a:t>(int number) {</a:t>
            </a:r>
            <a:br>
              <a:rPr sz="2400" dirty="0"/>
            </a:br>
            <a:r>
              <a:rPr sz="2400" dirty="0"/>
              <a:t>    if (number % 2 == 0) {</a:t>
            </a:r>
            <a:br>
              <a:rPr sz="2400" dirty="0"/>
            </a:br>
            <a:r>
              <a:rPr sz="2400" dirty="0"/>
              <a:t>        return true;</a:t>
            </a:r>
            <a:br>
              <a:rPr sz="2400" dirty="0"/>
            </a:br>
            <a:r>
              <a:rPr sz="2400" dirty="0"/>
              <a:t>    } else {</a:t>
            </a:r>
            <a:br>
              <a:rPr sz="2400" dirty="0"/>
            </a:br>
            <a:r>
              <a:rPr sz="2400" dirty="0"/>
              <a:t>        return false;</a:t>
            </a:r>
            <a:br>
              <a:rPr sz="2400" dirty="0"/>
            </a:br>
            <a:r>
              <a:rPr sz="2400" dirty="0"/>
              <a:t>    }</a:t>
            </a:r>
            <a:br>
              <a:rPr sz="2400" dirty="0"/>
            </a:br>
            <a:r>
              <a:rPr sz="2400" dirty="0"/>
              <a:t>}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981200" y="1371600"/>
            <a:ext cx="4616970" cy="2308324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rgbClr val="B4B4B4"/>
            </a:solidFill>
          </a:ln>
        </p:spPr>
        <p:txBody>
          <a:bodyPr wrap="none">
            <a:spAutoFit/>
          </a:bodyPr>
          <a:lstStyle/>
          <a:p>
            <a:endParaRPr dirty="0"/>
          </a:p>
          <a:p>
            <a:pPr>
              <a:defRPr sz="1800">
                <a:solidFill>
                  <a:srgbClr val="000000"/>
                </a:solidFill>
                <a:latin typeface="Consolas"/>
              </a:defRPr>
            </a:pPr>
            <a:r>
              <a:rPr dirty="0"/>
              <a:t>public </a:t>
            </a:r>
            <a:r>
              <a:rPr dirty="0" err="1"/>
              <a:t>boolean</a:t>
            </a:r>
            <a:r>
              <a:rPr dirty="0"/>
              <a:t> </a:t>
            </a:r>
            <a:r>
              <a:rPr dirty="0" err="1"/>
              <a:t>isEven</a:t>
            </a:r>
            <a:r>
              <a:rPr dirty="0"/>
              <a:t>(int number) {</a:t>
            </a:r>
            <a:br>
              <a:rPr dirty="0"/>
            </a:br>
            <a:r>
              <a:rPr dirty="0"/>
              <a:t>    if (number % 2 == 0) {</a:t>
            </a:r>
            <a:br>
              <a:rPr dirty="0"/>
            </a:br>
            <a:r>
              <a:rPr dirty="0"/>
              <a:t>        return true;</a:t>
            </a:r>
            <a:br>
              <a:rPr dirty="0"/>
            </a:br>
            <a:r>
              <a:rPr dirty="0"/>
              <a:t>    } else {</a:t>
            </a:r>
            <a:br>
              <a:rPr dirty="0"/>
            </a:br>
            <a:r>
              <a:rPr dirty="0"/>
              <a:t>        return false;</a:t>
            </a:r>
            <a:br>
              <a:rPr dirty="0"/>
            </a:br>
            <a:r>
              <a:rPr dirty="0"/>
              <a:t>    }</a:t>
            </a:r>
            <a:br>
              <a:rPr dirty="0"/>
            </a:br>
            <a:r>
              <a:rPr dirty="0"/>
              <a:t>}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6000" y="1371601"/>
            <a:ext cx="4616970" cy="1200329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rgbClr val="B4B4B4"/>
            </a:solidFill>
          </a:ln>
        </p:spPr>
        <p:txBody>
          <a:bodyPr wrap="none">
            <a:spAutoFit/>
          </a:bodyPr>
          <a:lstStyle/>
          <a:p>
            <a:endParaRPr dirty="0"/>
          </a:p>
          <a:p>
            <a:pPr>
              <a:defRPr sz="1800">
                <a:solidFill>
                  <a:srgbClr val="000000"/>
                </a:solidFill>
                <a:latin typeface="Consolas"/>
              </a:defRPr>
            </a:pPr>
            <a:r>
              <a:rPr dirty="0"/>
              <a:t>public </a:t>
            </a:r>
            <a:r>
              <a:rPr dirty="0" err="1"/>
              <a:t>boolean</a:t>
            </a:r>
            <a:r>
              <a:rPr dirty="0"/>
              <a:t> </a:t>
            </a:r>
            <a:r>
              <a:rPr dirty="0" err="1"/>
              <a:t>isEven</a:t>
            </a:r>
            <a:r>
              <a:rPr dirty="0"/>
              <a:t>(int number) {</a:t>
            </a:r>
            <a:br>
              <a:rPr dirty="0"/>
            </a:br>
            <a:r>
              <a:rPr dirty="0"/>
              <a:t>    return number % 2 == 0;</a:t>
            </a:r>
            <a:br>
              <a:rPr dirty="0"/>
            </a:br>
            <a:r>
              <a:rPr dirty="0"/>
              <a:t>}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169921" y="914400"/>
            <a:ext cx="1176989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dirty="0"/>
              <a:t>Long Form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10400" y="914400"/>
            <a:ext cx="1233094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Short Form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895601" y="1371600"/>
            <a:ext cx="6131807" cy="1477328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rgbClr val="B4B4B4"/>
            </a:solidFill>
          </a:ln>
        </p:spPr>
        <p:txBody>
          <a:bodyPr wrap="none">
            <a:spAutoFit/>
          </a:bodyPr>
          <a:lstStyle/>
          <a:p>
            <a:endParaRPr dirty="0"/>
          </a:p>
          <a:p>
            <a:pPr>
              <a:defRPr sz="2400">
                <a:solidFill>
                  <a:srgbClr val="000000"/>
                </a:solidFill>
                <a:latin typeface="Consolas"/>
              </a:defRPr>
            </a:pPr>
            <a:r>
              <a:rPr sz="2400" dirty="0"/>
              <a:t>public </a:t>
            </a:r>
            <a:r>
              <a:rPr sz="2400" dirty="0" err="1"/>
              <a:t>boolean</a:t>
            </a:r>
            <a:r>
              <a:rPr sz="2400" dirty="0"/>
              <a:t> </a:t>
            </a:r>
            <a:r>
              <a:rPr sz="2400" dirty="0" err="1"/>
              <a:t>isEven</a:t>
            </a:r>
            <a:r>
              <a:rPr sz="2400" dirty="0"/>
              <a:t>(int number) {</a:t>
            </a:r>
            <a:br>
              <a:rPr sz="2400" dirty="0"/>
            </a:br>
            <a:r>
              <a:rPr sz="2400" dirty="0"/>
              <a:t>    return number % 2 == 0;</a:t>
            </a:r>
            <a:br>
              <a:rPr sz="2400" dirty="0"/>
            </a:br>
            <a:r>
              <a:rPr sz="2400" dirty="0"/>
              <a:t>}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Using a Boolean Method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endParaRPr lang="en-IE" dirty="0"/>
          </a:p>
          <a:p>
            <a:endParaRPr lang="en-IE" dirty="0"/>
          </a:p>
          <a:p>
            <a:endParaRPr lang="en-IE" dirty="0"/>
          </a:p>
          <a:p>
            <a:endParaRPr lang="en-IE" dirty="0"/>
          </a:p>
          <a:p>
            <a:endParaRPr dirty="0"/>
          </a:p>
          <a:p>
            <a:pPr>
              <a:defRPr sz="2000"/>
            </a:pPr>
            <a:r>
              <a:rPr sz="2800" dirty="0"/>
              <a:t>Output: Number is even</a:t>
            </a:r>
          </a:p>
          <a:p>
            <a:pPr>
              <a:defRPr sz="2000"/>
            </a:pPr>
            <a:r>
              <a:rPr sz="2800" dirty="0"/>
              <a:t>Explanation: The if statement calls the Boolean method and uses its result directly.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1BAFCBF-DBCA-01D9-DB7E-DBE1A4211E07}"/>
              </a:ext>
            </a:extLst>
          </p:cNvPr>
          <p:cNvSpPr txBox="1"/>
          <p:nvPr/>
        </p:nvSpPr>
        <p:spPr>
          <a:xfrm>
            <a:off x="8677835" y="632808"/>
            <a:ext cx="3505200" cy="156966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>
              <a:defRPr sz="2000"/>
            </a:pPr>
            <a:r>
              <a:rPr lang="en-IE" sz="1200" dirty="0">
                <a:latin typeface="Lucida Sans Typewriter" panose="020B0509030504030204" pitchFamily="49" charset="77"/>
              </a:rPr>
              <a:t>public </a:t>
            </a:r>
            <a:r>
              <a:rPr lang="en-IE" sz="1200" dirty="0" err="1">
                <a:latin typeface="Lucida Sans Typewriter" panose="020B0509030504030204" pitchFamily="49" charset="77"/>
              </a:rPr>
              <a:t>boolean</a:t>
            </a:r>
            <a:r>
              <a:rPr lang="en-IE" sz="1200" dirty="0">
                <a:latin typeface="Lucida Sans Typewriter" panose="020B0509030504030204" pitchFamily="49" charset="77"/>
              </a:rPr>
              <a:t> </a:t>
            </a:r>
            <a:r>
              <a:rPr lang="en-IE" sz="1200" dirty="0" err="1">
                <a:latin typeface="Lucida Sans Typewriter" panose="020B0509030504030204" pitchFamily="49" charset="77"/>
              </a:rPr>
              <a:t>isEven</a:t>
            </a:r>
            <a:r>
              <a:rPr lang="en-IE" sz="1200" dirty="0">
                <a:latin typeface="Lucida Sans Typewriter" panose="020B0509030504030204" pitchFamily="49" charset="77"/>
              </a:rPr>
              <a:t>(int number) {</a:t>
            </a:r>
          </a:p>
          <a:p>
            <a:pPr>
              <a:defRPr sz="2000"/>
            </a:pPr>
            <a:r>
              <a:rPr lang="en-IE" sz="1200" dirty="0">
                <a:latin typeface="Lucida Sans Typewriter" panose="020B0509030504030204" pitchFamily="49" charset="77"/>
              </a:rPr>
              <a:t>    if (number % 2 == 0) { </a:t>
            </a:r>
          </a:p>
          <a:p>
            <a:pPr>
              <a:defRPr sz="2000"/>
            </a:pPr>
            <a:r>
              <a:rPr lang="en-IE" sz="1200" dirty="0">
                <a:latin typeface="Lucida Sans Typewriter" panose="020B0509030504030204" pitchFamily="49" charset="77"/>
              </a:rPr>
              <a:t>        return true; </a:t>
            </a:r>
          </a:p>
          <a:p>
            <a:pPr>
              <a:defRPr sz="2000"/>
            </a:pPr>
            <a:r>
              <a:rPr lang="en-IE" sz="1200" dirty="0">
                <a:latin typeface="Lucida Sans Typewriter" panose="020B0509030504030204" pitchFamily="49" charset="77"/>
              </a:rPr>
              <a:t>       }</a:t>
            </a:r>
          </a:p>
          <a:p>
            <a:pPr>
              <a:defRPr sz="2000"/>
            </a:pPr>
            <a:r>
              <a:rPr lang="en-IE" sz="1200" dirty="0">
                <a:latin typeface="Lucida Sans Typewriter" panose="020B0509030504030204" pitchFamily="49" charset="77"/>
              </a:rPr>
              <a:t>    else {</a:t>
            </a:r>
          </a:p>
          <a:p>
            <a:pPr>
              <a:defRPr sz="2000"/>
            </a:pPr>
            <a:r>
              <a:rPr lang="en-IE" sz="1200" dirty="0">
                <a:latin typeface="Lucida Sans Typewriter" panose="020B0509030504030204" pitchFamily="49" charset="77"/>
              </a:rPr>
              <a:t>       return false;</a:t>
            </a:r>
          </a:p>
          <a:p>
            <a:pPr>
              <a:defRPr sz="2000"/>
            </a:pPr>
            <a:r>
              <a:rPr lang="en-IE" sz="1200" dirty="0">
                <a:latin typeface="Lucida Sans Typewriter" panose="020B0509030504030204" pitchFamily="49" charset="77"/>
              </a:rPr>
              <a:t>    }</a:t>
            </a:r>
          </a:p>
          <a:p>
            <a:pPr>
              <a:defRPr sz="2000"/>
            </a:pPr>
            <a:r>
              <a:rPr lang="en-IE" sz="1200" dirty="0">
                <a:latin typeface="Lucida Sans Typewriter" panose="020B0509030504030204" pitchFamily="49" charset="77"/>
              </a:rPr>
              <a:t>}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3219766-622A-2BA8-C79C-98703E47F9F9}"/>
              </a:ext>
            </a:extLst>
          </p:cNvPr>
          <p:cNvSpPr txBox="1"/>
          <p:nvPr/>
        </p:nvSpPr>
        <p:spPr>
          <a:xfrm>
            <a:off x="1143000" y="1797784"/>
            <a:ext cx="6477000" cy="2677656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>
              <a:defRPr sz="2000"/>
            </a:pPr>
            <a:r>
              <a:rPr lang="en-IE" sz="2800" dirty="0"/>
              <a:t>if (</a:t>
            </a:r>
            <a:r>
              <a:rPr lang="en-IE" sz="2800" dirty="0" err="1"/>
              <a:t>isEven</a:t>
            </a:r>
            <a:r>
              <a:rPr lang="en-IE" sz="2800" dirty="0"/>
              <a:t>(8)) {</a:t>
            </a:r>
          </a:p>
          <a:p>
            <a:pPr>
              <a:defRPr sz="2000"/>
            </a:pPr>
            <a:r>
              <a:rPr lang="en-IE" sz="2800" dirty="0"/>
              <a:t>    </a:t>
            </a:r>
            <a:r>
              <a:rPr lang="en-IE" sz="2800" dirty="0" err="1"/>
              <a:t>System.out.println</a:t>
            </a:r>
            <a:r>
              <a:rPr lang="en-IE" sz="2800" dirty="0"/>
              <a:t>('Number is even’);</a:t>
            </a:r>
          </a:p>
          <a:p>
            <a:pPr>
              <a:defRPr sz="2000"/>
            </a:pPr>
            <a:r>
              <a:rPr lang="en-IE" sz="2800" dirty="0"/>
              <a:t>   } </a:t>
            </a:r>
          </a:p>
          <a:p>
            <a:pPr>
              <a:defRPr sz="2000"/>
            </a:pPr>
            <a:r>
              <a:rPr lang="en-IE" sz="2800" dirty="0"/>
              <a:t>else {</a:t>
            </a:r>
          </a:p>
          <a:p>
            <a:pPr>
              <a:defRPr sz="2000"/>
            </a:pPr>
            <a:r>
              <a:rPr lang="en-IE" sz="2800" dirty="0"/>
              <a:t>    </a:t>
            </a:r>
            <a:r>
              <a:rPr lang="en-IE" sz="2800" dirty="0" err="1"/>
              <a:t>System.out.println</a:t>
            </a:r>
            <a:r>
              <a:rPr lang="en-IE" sz="2800" dirty="0"/>
              <a:t>('Number is odd');</a:t>
            </a:r>
          </a:p>
          <a:p>
            <a:pPr>
              <a:defRPr sz="2000"/>
            </a:pPr>
            <a:r>
              <a:rPr lang="en-IE" sz="2800" dirty="0"/>
              <a:t>}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Boolean Method with Objects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endParaRPr dirty="0"/>
          </a:p>
          <a:p>
            <a:pPr>
              <a:defRPr sz="2000"/>
            </a:pPr>
            <a:endParaRPr lang="en-IE" dirty="0"/>
          </a:p>
          <a:p>
            <a:pPr>
              <a:defRPr sz="2000"/>
            </a:pPr>
            <a:endParaRPr lang="en-IE" dirty="0"/>
          </a:p>
          <a:p>
            <a:pPr>
              <a:defRPr sz="2000"/>
            </a:pPr>
            <a:endParaRPr lang="en-IE" dirty="0"/>
          </a:p>
          <a:p>
            <a:pPr marL="0" indent="0">
              <a:buNone/>
              <a:defRPr sz="2000"/>
            </a:pPr>
            <a:r>
              <a:rPr sz="2800" dirty="0"/>
              <a:t>Explanation:</a:t>
            </a:r>
          </a:p>
          <a:p>
            <a:pPr marL="0" indent="0">
              <a:buNone/>
              <a:defRPr sz="2000"/>
            </a:pPr>
            <a:r>
              <a:rPr lang="en-IE" sz="2800" dirty="0"/>
              <a:t>T</a:t>
            </a:r>
            <a:r>
              <a:rPr sz="2800" dirty="0"/>
              <a:t>he expression itself produces a true or false value.</a:t>
            </a:r>
            <a:endParaRPr lang="en-IE" sz="2800" dirty="0"/>
          </a:p>
          <a:p>
            <a:pPr marL="0" indent="0">
              <a:buNone/>
              <a:defRPr sz="2000"/>
            </a:pPr>
            <a:r>
              <a:rPr sz="2800" dirty="0"/>
              <a:t>You can return the expression directly without an if statement.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43CCA59-C44D-D552-930D-31C006592781}"/>
              </a:ext>
            </a:extLst>
          </p:cNvPr>
          <p:cNvSpPr txBox="1"/>
          <p:nvPr/>
        </p:nvSpPr>
        <p:spPr>
          <a:xfrm>
            <a:off x="4267200" y="1752600"/>
            <a:ext cx="3657600" cy="1015663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defRPr sz="2000"/>
            </a:pPr>
            <a:r>
              <a:rPr lang="en-IE" dirty="0"/>
              <a:t>public </a:t>
            </a:r>
            <a:r>
              <a:rPr lang="en-IE" dirty="0" err="1"/>
              <a:t>boolean</a:t>
            </a:r>
            <a:r>
              <a:rPr lang="en-IE" dirty="0"/>
              <a:t> </a:t>
            </a:r>
            <a:r>
              <a:rPr lang="en-IE" dirty="0" err="1"/>
              <a:t>isAdult</a:t>
            </a:r>
            <a:r>
              <a:rPr lang="en-IE" dirty="0"/>
              <a:t>() {</a:t>
            </a:r>
          </a:p>
          <a:p>
            <a:pPr>
              <a:defRPr sz="2000"/>
            </a:pPr>
            <a:r>
              <a:rPr lang="en-IE" dirty="0"/>
              <a:t>    return age &gt;= 18;</a:t>
            </a:r>
          </a:p>
          <a:p>
            <a:pPr>
              <a:defRPr sz="2000"/>
            </a:pPr>
            <a:r>
              <a:rPr lang="en-IE" dirty="0"/>
              <a:t>}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Typical Boolean Method Names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endParaRPr dirty="0"/>
          </a:p>
          <a:p>
            <a:pPr>
              <a:defRPr sz="2000"/>
            </a:pPr>
            <a:r>
              <a:rPr sz="2800" dirty="0"/>
              <a:t>Check if number is positive → </a:t>
            </a:r>
            <a:r>
              <a:rPr sz="2800" dirty="0" err="1"/>
              <a:t>isPositive</a:t>
            </a:r>
            <a:r>
              <a:rPr sz="2800" dirty="0"/>
              <a:t>()</a:t>
            </a:r>
          </a:p>
          <a:p>
            <a:pPr>
              <a:defRPr sz="2000"/>
            </a:pPr>
            <a:r>
              <a:rPr sz="2800" dirty="0"/>
              <a:t>Check if user has access → </a:t>
            </a:r>
            <a:r>
              <a:rPr sz="2800" dirty="0" err="1"/>
              <a:t>hasAccess</a:t>
            </a:r>
            <a:r>
              <a:rPr sz="2800" dirty="0"/>
              <a:t>()</a:t>
            </a:r>
          </a:p>
          <a:p>
            <a:pPr>
              <a:defRPr sz="2000"/>
            </a:pPr>
            <a:r>
              <a:rPr sz="2800" dirty="0"/>
              <a:t>Check if list is empty → </a:t>
            </a:r>
            <a:r>
              <a:rPr sz="2800" dirty="0" err="1"/>
              <a:t>isEmpty</a:t>
            </a:r>
            <a:r>
              <a:rPr sz="2800" dirty="0"/>
              <a:t>()</a:t>
            </a:r>
          </a:p>
          <a:p>
            <a:pPr>
              <a:defRPr sz="2000"/>
            </a:pPr>
            <a:r>
              <a:rPr sz="2800" dirty="0"/>
              <a:t>Check if two values match → equals()</a:t>
            </a:r>
          </a:p>
          <a:p>
            <a:pPr>
              <a:defRPr sz="2000"/>
            </a:pPr>
            <a:r>
              <a:rPr sz="2800" dirty="0"/>
              <a:t>Tip: Boolean methods usually start with verbs like is, has, or can.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Use Boolean Methods?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endParaRPr dirty="0"/>
          </a:p>
          <a:p>
            <a:pPr>
              <a:defRPr sz="2000"/>
            </a:pPr>
            <a:r>
              <a:rPr dirty="0"/>
              <a:t>✅ </a:t>
            </a:r>
            <a:r>
              <a:rPr sz="2800" dirty="0"/>
              <a:t>Make code clearer and reusable</a:t>
            </a:r>
          </a:p>
          <a:p>
            <a:pPr>
              <a:defRPr sz="2000"/>
            </a:pPr>
            <a:r>
              <a:rPr sz="2800" dirty="0"/>
              <a:t>✅ Separate checking logic from actions</a:t>
            </a:r>
          </a:p>
          <a:p>
            <a:pPr>
              <a:defRPr sz="2000"/>
            </a:pPr>
            <a:r>
              <a:rPr sz="2800" dirty="0"/>
              <a:t>✅ Work naturally with if, while, and logical operators (&amp;&amp;, ||, !)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Other Examples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 marL="0" indent="0">
              <a:buNone/>
            </a:pPr>
            <a:r>
              <a:rPr lang="en-IE" dirty="0"/>
              <a:t>Check is a number between (inclusive) a lower and upper limit</a:t>
            </a:r>
          </a:p>
          <a:p>
            <a:pPr marL="0" indent="0">
              <a:buNone/>
            </a:pPr>
            <a:endParaRPr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DC7F0F3-B4B5-56A6-C242-BC0FB6CABE89}"/>
              </a:ext>
            </a:extLst>
          </p:cNvPr>
          <p:cNvSpPr txBox="1"/>
          <p:nvPr/>
        </p:nvSpPr>
        <p:spPr>
          <a:xfrm>
            <a:off x="228600" y="2856306"/>
            <a:ext cx="11963400" cy="3046988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>
              <a:defRPr sz="2000"/>
            </a:pPr>
            <a:r>
              <a:rPr lang="en-IE" sz="2400" dirty="0">
                <a:latin typeface="Consolas" panose="020B0609020204030204" pitchFamily="49" charset="0"/>
                <a:cs typeface="Consolas" panose="020B0609020204030204" pitchFamily="49" charset="0"/>
              </a:rPr>
              <a:t>public </a:t>
            </a:r>
            <a:r>
              <a:rPr lang="en-IE" sz="2400" dirty="0" err="1">
                <a:latin typeface="Consolas" panose="020B0609020204030204" pitchFamily="49" charset="0"/>
                <a:cs typeface="Consolas" panose="020B0609020204030204" pitchFamily="49" charset="0"/>
              </a:rPr>
              <a:t>boolean</a:t>
            </a:r>
            <a:r>
              <a:rPr lang="en-IE" sz="24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IE" sz="2400" dirty="0" err="1">
                <a:latin typeface="Consolas" panose="020B0609020204030204" pitchFamily="49" charset="0"/>
                <a:cs typeface="Consolas" panose="020B0609020204030204" pitchFamily="49" charset="0"/>
              </a:rPr>
              <a:t>isBetween</a:t>
            </a:r>
            <a:r>
              <a:rPr lang="en-IE" sz="2400" dirty="0">
                <a:latin typeface="Consolas" panose="020B0609020204030204" pitchFamily="49" charset="0"/>
                <a:cs typeface="Consolas" panose="020B0609020204030204" pitchFamily="49" charset="0"/>
              </a:rPr>
              <a:t>(int </a:t>
            </a:r>
            <a:r>
              <a:rPr lang="en-IE" sz="2400" dirty="0" err="1">
                <a:latin typeface="Consolas" panose="020B0609020204030204" pitchFamily="49" charset="0"/>
                <a:cs typeface="Consolas" panose="020B0609020204030204" pitchFamily="49" charset="0"/>
              </a:rPr>
              <a:t>numToCheck</a:t>
            </a:r>
            <a:r>
              <a:rPr lang="en-IE" sz="2400" dirty="0">
                <a:latin typeface="Consolas" panose="020B0609020204030204" pitchFamily="49" charset="0"/>
                <a:cs typeface="Consolas" panose="020B0609020204030204" pitchFamily="49" charset="0"/>
              </a:rPr>
              <a:t>, int lower, int upper) {</a:t>
            </a:r>
          </a:p>
          <a:p>
            <a:pPr>
              <a:defRPr sz="2000"/>
            </a:pPr>
            <a:r>
              <a:rPr lang="en-IE" sz="2400" dirty="0">
                <a:latin typeface="Consolas" panose="020B0609020204030204" pitchFamily="49" charset="0"/>
                <a:cs typeface="Consolas" panose="020B0609020204030204" pitchFamily="49" charset="0"/>
              </a:rPr>
              <a:t>    if (lower &lt;= </a:t>
            </a:r>
            <a:r>
              <a:rPr lang="en-IE" sz="2400" dirty="0" err="1">
                <a:latin typeface="Consolas" panose="020B0609020204030204" pitchFamily="49" charset="0"/>
                <a:cs typeface="Consolas" panose="020B0609020204030204" pitchFamily="49" charset="0"/>
              </a:rPr>
              <a:t>numToCheck</a:t>
            </a:r>
            <a:r>
              <a:rPr lang="en-IE" sz="2400" dirty="0">
                <a:latin typeface="Consolas" panose="020B0609020204030204" pitchFamily="49" charset="0"/>
                <a:cs typeface="Consolas" panose="020B0609020204030204" pitchFamily="49" charset="0"/>
              </a:rPr>
              <a:t> &amp;&amp; </a:t>
            </a:r>
            <a:r>
              <a:rPr lang="en-IE" sz="2400" dirty="0" err="1">
                <a:latin typeface="Consolas" panose="020B0609020204030204" pitchFamily="49" charset="0"/>
                <a:cs typeface="Consolas" panose="020B0609020204030204" pitchFamily="49" charset="0"/>
              </a:rPr>
              <a:t>numCheck</a:t>
            </a:r>
            <a:r>
              <a:rPr lang="en-IE" sz="2400" dirty="0">
                <a:latin typeface="Consolas" panose="020B0609020204030204" pitchFamily="49" charset="0"/>
                <a:cs typeface="Consolas" panose="020B0609020204030204" pitchFamily="49" charset="0"/>
              </a:rPr>
              <a:t> &lt;= upper) { </a:t>
            </a:r>
          </a:p>
          <a:p>
            <a:pPr>
              <a:defRPr sz="2000"/>
            </a:pPr>
            <a:r>
              <a:rPr lang="en-IE" sz="2400" dirty="0">
                <a:latin typeface="Consolas" panose="020B0609020204030204" pitchFamily="49" charset="0"/>
                <a:cs typeface="Consolas" panose="020B0609020204030204" pitchFamily="49" charset="0"/>
              </a:rPr>
              <a:t>        return true; </a:t>
            </a:r>
          </a:p>
          <a:p>
            <a:pPr>
              <a:defRPr sz="2000"/>
            </a:pPr>
            <a:r>
              <a:rPr lang="en-IE" sz="2400" dirty="0">
                <a:latin typeface="Consolas" panose="020B0609020204030204" pitchFamily="49" charset="0"/>
                <a:cs typeface="Consolas" panose="020B0609020204030204" pitchFamily="49" charset="0"/>
              </a:rPr>
              <a:t>       }</a:t>
            </a:r>
          </a:p>
          <a:p>
            <a:pPr>
              <a:defRPr sz="2000"/>
            </a:pPr>
            <a:r>
              <a:rPr lang="en-IE" sz="2400" dirty="0">
                <a:latin typeface="Consolas" panose="020B0609020204030204" pitchFamily="49" charset="0"/>
                <a:cs typeface="Consolas" panose="020B0609020204030204" pitchFamily="49" charset="0"/>
              </a:rPr>
              <a:t>    else {</a:t>
            </a:r>
          </a:p>
          <a:p>
            <a:pPr>
              <a:defRPr sz="2000"/>
            </a:pPr>
            <a:r>
              <a:rPr lang="en-IE" sz="2400" dirty="0">
                <a:latin typeface="Consolas" panose="020B0609020204030204" pitchFamily="49" charset="0"/>
                <a:cs typeface="Consolas" panose="020B0609020204030204" pitchFamily="49" charset="0"/>
              </a:rPr>
              <a:t>       return false;</a:t>
            </a:r>
          </a:p>
          <a:p>
            <a:pPr>
              <a:defRPr sz="2000"/>
            </a:pPr>
            <a:r>
              <a:rPr lang="en-IE" sz="2400" dirty="0">
                <a:latin typeface="Consolas" panose="020B0609020204030204" pitchFamily="49" charset="0"/>
                <a:cs typeface="Consolas" panose="020B0609020204030204" pitchFamily="49" charset="0"/>
              </a:rPr>
              <a:t>    }</a:t>
            </a:r>
          </a:p>
          <a:p>
            <a:pPr>
              <a:defRPr sz="2000"/>
            </a:pPr>
            <a:r>
              <a:rPr lang="en-IE" sz="2400" dirty="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343351-C605-8A97-9DBE-4AB3583B1C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2E71FA8-F08C-9236-0DBC-F45F9CE2680B}"/>
              </a:ext>
            </a:extLst>
          </p:cNvPr>
          <p:cNvSpPr txBox="1"/>
          <p:nvPr/>
        </p:nvSpPr>
        <p:spPr>
          <a:xfrm>
            <a:off x="566281" y="1371600"/>
            <a:ext cx="11059438" cy="3323987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txBody>
          <a:bodyPr wrap="none">
            <a:spAutoFit/>
          </a:bodyPr>
          <a:lstStyle/>
          <a:p>
            <a:endParaRPr dirty="0"/>
          </a:p>
          <a:p>
            <a:pPr>
              <a:defRPr sz="2000"/>
            </a:pPr>
            <a:r>
              <a:rPr lang="en-IE" sz="2400" dirty="0">
                <a:latin typeface="Consolas" panose="020B0609020204030204" pitchFamily="49" charset="0"/>
                <a:cs typeface="Consolas" panose="020B0609020204030204" pitchFamily="49" charset="0"/>
              </a:rPr>
              <a:t>public </a:t>
            </a:r>
            <a:r>
              <a:rPr lang="en-IE" sz="2400" dirty="0" err="1">
                <a:latin typeface="Consolas" panose="020B0609020204030204" pitchFamily="49" charset="0"/>
                <a:cs typeface="Consolas" panose="020B0609020204030204" pitchFamily="49" charset="0"/>
              </a:rPr>
              <a:t>boolean</a:t>
            </a:r>
            <a:r>
              <a:rPr lang="en-IE" sz="24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IE" sz="2400" dirty="0" err="1">
                <a:latin typeface="Consolas" panose="020B0609020204030204" pitchFamily="49" charset="0"/>
                <a:cs typeface="Consolas" panose="020B0609020204030204" pitchFamily="49" charset="0"/>
              </a:rPr>
              <a:t>isBetween</a:t>
            </a:r>
            <a:r>
              <a:rPr lang="en-IE" sz="2400" dirty="0">
                <a:latin typeface="Consolas" panose="020B0609020204030204" pitchFamily="49" charset="0"/>
                <a:cs typeface="Consolas" panose="020B0609020204030204" pitchFamily="49" charset="0"/>
              </a:rPr>
              <a:t>(int </a:t>
            </a:r>
            <a:r>
              <a:rPr lang="en-IE" sz="2400" dirty="0" err="1">
                <a:latin typeface="Consolas" panose="020B0609020204030204" pitchFamily="49" charset="0"/>
                <a:cs typeface="Consolas" panose="020B0609020204030204" pitchFamily="49" charset="0"/>
              </a:rPr>
              <a:t>numToCheck</a:t>
            </a:r>
            <a:r>
              <a:rPr lang="en-IE" sz="2400" dirty="0">
                <a:latin typeface="Consolas" panose="020B0609020204030204" pitchFamily="49" charset="0"/>
                <a:cs typeface="Consolas" panose="020B0609020204030204" pitchFamily="49" charset="0"/>
              </a:rPr>
              <a:t>, int lower, int upper) {</a:t>
            </a:r>
          </a:p>
          <a:p>
            <a:pPr>
              <a:defRPr sz="2000"/>
            </a:pPr>
            <a:r>
              <a:rPr lang="en-IE" sz="2400" dirty="0">
                <a:latin typeface="Consolas" panose="020B0609020204030204" pitchFamily="49" charset="0"/>
                <a:cs typeface="Consolas" panose="020B0609020204030204" pitchFamily="49" charset="0"/>
              </a:rPr>
              <a:t>    if (lower &lt;= </a:t>
            </a:r>
            <a:r>
              <a:rPr lang="en-IE" sz="2400" dirty="0" err="1">
                <a:latin typeface="Consolas" panose="020B0609020204030204" pitchFamily="49" charset="0"/>
                <a:cs typeface="Consolas" panose="020B0609020204030204" pitchFamily="49" charset="0"/>
              </a:rPr>
              <a:t>numToCheck</a:t>
            </a:r>
            <a:r>
              <a:rPr lang="en-IE" sz="2400" dirty="0">
                <a:latin typeface="Consolas" panose="020B0609020204030204" pitchFamily="49" charset="0"/>
                <a:cs typeface="Consolas" panose="020B0609020204030204" pitchFamily="49" charset="0"/>
              </a:rPr>
              <a:t> &amp;&amp; </a:t>
            </a:r>
            <a:r>
              <a:rPr lang="en-IE" sz="2400" dirty="0" err="1">
                <a:latin typeface="Consolas" panose="020B0609020204030204" pitchFamily="49" charset="0"/>
                <a:cs typeface="Consolas" panose="020B0609020204030204" pitchFamily="49" charset="0"/>
              </a:rPr>
              <a:t>numCheck</a:t>
            </a:r>
            <a:r>
              <a:rPr lang="en-IE" sz="2400" dirty="0">
                <a:latin typeface="Consolas" panose="020B0609020204030204" pitchFamily="49" charset="0"/>
                <a:cs typeface="Consolas" panose="020B0609020204030204" pitchFamily="49" charset="0"/>
              </a:rPr>
              <a:t> &lt;= upper) { </a:t>
            </a:r>
          </a:p>
          <a:p>
            <a:pPr>
              <a:defRPr sz="2000"/>
            </a:pPr>
            <a:r>
              <a:rPr lang="en-IE" sz="2400" dirty="0">
                <a:latin typeface="Consolas" panose="020B0609020204030204" pitchFamily="49" charset="0"/>
                <a:cs typeface="Consolas" panose="020B0609020204030204" pitchFamily="49" charset="0"/>
              </a:rPr>
              <a:t>        return true; </a:t>
            </a:r>
          </a:p>
          <a:p>
            <a:pPr>
              <a:defRPr sz="2000"/>
            </a:pPr>
            <a:r>
              <a:rPr lang="en-IE" sz="2400" dirty="0">
                <a:latin typeface="Consolas" panose="020B0609020204030204" pitchFamily="49" charset="0"/>
                <a:cs typeface="Consolas" panose="020B0609020204030204" pitchFamily="49" charset="0"/>
              </a:rPr>
              <a:t>       }</a:t>
            </a:r>
          </a:p>
          <a:p>
            <a:pPr>
              <a:defRPr sz="2000"/>
            </a:pPr>
            <a:r>
              <a:rPr lang="en-IE" sz="2400" dirty="0">
                <a:latin typeface="Consolas" panose="020B0609020204030204" pitchFamily="49" charset="0"/>
                <a:cs typeface="Consolas" panose="020B0609020204030204" pitchFamily="49" charset="0"/>
              </a:rPr>
              <a:t>    else {</a:t>
            </a:r>
          </a:p>
          <a:p>
            <a:pPr>
              <a:defRPr sz="2000"/>
            </a:pPr>
            <a:r>
              <a:rPr lang="en-IE" sz="2400" dirty="0">
                <a:latin typeface="Consolas" panose="020B0609020204030204" pitchFamily="49" charset="0"/>
                <a:cs typeface="Consolas" panose="020B0609020204030204" pitchFamily="49" charset="0"/>
              </a:rPr>
              <a:t>       return false;</a:t>
            </a:r>
          </a:p>
          <a:p>
            <a:pPr>
              <a:defRPr sz="2000"/>
            </a:pPr>
            <a:r>
              <a:rPr lang="en-IE" sz="2400" dirty="0">
                <a:latin typeface="Consolas" panose="020B0609020204030204" pitchFamily="49" charset="0"/>
                <a:cs typeface="Consolas" panose="020B0609020204030204" pitchFamily="49" charset="0"/>
              </a:rPr>
              <a:t>    }</a:t>
            </a:r>
          </a:p>
          <a:p>
            <a:pPr>
              <a:defRPr sz="2000"/>
            </a:pPr>
            <a:r>
              <a:rPr lang="en-IE" sz="2400" dirty="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94802725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CE4248-C5A6-1853-5A02-7D3F2959A1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0445C00-4B0F-74C9-2A7D-FE3AD13D791E}"/>
              </a:ext>
            </a:extLst>
          </p:cNvPr>
          <p:cNvSpPr txBox="1"/>
          <p:nvPr/>
        </p:nvSpPr>
        <p:spPr>
          <a:xfrm>
            <a:off x="381000" y="1371601"/>
            <a:ext cx="9212778" cy="2554545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txBody>
          <a:bodyPr wrap="none">
            <a:spAutoFit/>
          </a:bodyPr>
          <a:lstStyle/>
          <a:p>
            <a:pPr>
              <a:defRPr sz="2000"/>
            </a:pPr>
            <a:r>
              <a:rPr lang="en-IE" dirty="0">
                <a:latin typeface="Consolas" panose="020B0609020204030204" pitchFamily="49" charset="0"/>
                <a:cs typeface="Consolas" panose="020B0609020204030204" pitchFamily="49" charset="0"/>
              </a:rPr>
              <a:t>public </a:t>
            </a:r>
            <a:r>
              <a:rPr lang="en-IE" dirty="0" err="1">
                <a:latin typeface="Consolas" panose="020B0609020204030204" pitchFamily="49" charset="0"/>
                <a:cs typeface="Consolas" panose="020B0609020204030204" pitchFamily="49" charset="0"/>
              </a:rPr>
              <a:t>boolean</a:t>
            </a:r>
            <a:r>
              <a:rPr lang="en-IE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IE" dirty="0" err="1">
                <a:latin typeface="Consolas" panose="020B0609020204030204" pitchFamily="49" charset="0"/>
                <a:cs typeface="Consolas" panose="020B0609020204030204" pitchFamily="49" charset="0"/>
              </a:rPr>
              <a:t>isBetween</a:t>
            </a:r>
            <a:r>
              <a:rPr lang="en-IE" dirty="0">
                <a:latin typeface="Consolas" panose="020B0609020204030204" pitchFamily="49" charset="0"/>
                <a:cs typeface="Consolas" panose="020B0609020204030204" pitchFamily="49" charset="0"/>
              </a:rPr>
              <a:t>(int </a:t>
            </a:r>
            <a:r>
              <a:rPr lang="en-IE" dirty="0" err="1">
                <a:latin typeface="Consolas" panose="020B0609020204030204" pitchFamily="49" charset="0"/>
                <a:cs typeface="Consolas" panose="020B0609020204030204" pitchFamily="49" charset="0"/>
              </a:rPr>
              <a:t>numToCheck</a:t>
            </a:r>
            <a:r>
              <a:rPr lang="en-IE" dirty="0">
                <a:latin typeface="Consolas" panose="020B0609020204030204" pitchFamily="49" charset="0"/>
                <a:cs typeface="Consolas" panose="020B0609020204030204" pitchFamily="49" charset="0"/>
              </a:rPr>
              <a:t>, int lower, int upper) {</a:t>
            </a:r>
          </a:p>
          <a:p>
            <a:pPr>
              <a:defRPr sz="2000"/>
            </a:pPr>
            <a:r>
              <a:rPr lang="en-IE" dirty="0">
                <a:latin typeface="Consolas" panose="020B0609020204030204" pitchFamily="49" charset="0"/>
                <a:cs typeface="Consolas" panose="020B0609020204030204" pitchFamily="49" charset="0"/>
              </a:rPr>
              <a:t>    if (lower &lt;= </a:t>
            </a:r>
            <a:r>
              <a:rPr lang="en-IE" dirty="0" err="1">
                <a:latin typeface="Consolas" panose="020B0609020204030204" pitchFamily="49" charset="0"/>
                <a:cs typeface="Consolas" panose="020B0609020204030204" pitchFamily="49" charset="0"/>
              </a:rPr>
              <a:t>numToCheck</a:t>
            </a:r>
            <a:r>
              <a:rPr lang="en-IE" dirty="0">
                <a:latin typeface="Consolas" panose="020B0609020204030204" pitchFamily="49" charset="0"/>
                <a:cs typeface="Consolas" panose="020B0609020204030204" pitchFamily="49" charset="0"/>
              </a:rPr>
              <a:t> &amp;&amp; </a:t>
            </a:r>
            <a:r>
              <a:rPr lang="en-IE" dirty="0" err="1">
                <a:latin typeface="Consolas" panose="020B0609020204030204" pitchFamily="49" charset="0"/>
                <a:cs typeface="Consolas" panose="020B0609020204030204" pitchFamily="49" charset="0"/>
              </a:rPr>
              <a:t>numCheck</a:t>
            </a:r>
            <a:r>
              <a:rPr lang="en-IE" dirty="0">
                <a:latin typeface="Consolas" panose="020B0609020204030204" pitchFamily="49" charset="0"/>
                <a:cs typeface="Consolas" panose="020B0609020204030204" pitchFamily="49" charset="0"/>
              </a:rPr>
              <a:t> &lt;= upper) { </a:t>
            </a:r>
          </a:p>
          <a:p>
            <a:pPr>
              <a:defRPr sz="2000"/>
            </a:pPr>
            <a:r>
              <a:rPr lang="en-IE" dirty="0">
                <a:latin typeface="Consolas" panose="020B0609020204030204" pitchFamily="49" charset="0"/>
                <a:cs typeface="Consolas" panose="020B0609020204030204" pitchFamily="49" charset="0"/>
              </a:rPr>
              <a:t>        return true; </a:t>
            </a:r>
          </a:p>
          <a:p>
            <a:pPr>
              <a:defRPr sz="2000"/>
            </a:pPr>
            <a:r>
              <a:rPr lang="en-IE" dirty="0">
                <a:latin typeface="Consolas" panose="020B0609020204030204" pitchFamily="49" charset="0"/>
                <a:cs typeface="Consolas" panose="020B0609020204030204" pitchFamily="49" charset="0"/>
              </a:rPr>
              <a:t>       }</a:t>
            </a:r>
          </a:p>
          <a:p>
            <a:pPr>
              <a:defRPr sz="2000"/>
            </a:pPr>
            <a:r>
              <a:rPr lang="en-IE" dirty="0">
                <a:latin typeface="Consolas" panose="020B0609020204030204" pitchFamily="49" charset="0"/>
                <a:cs typeface="Consolas" panose="020B0609020204030204" pitchFamily="49" charset="0"/>
              </a:rPr>
              <a:t>    else {</a:t>
            </a:r>
          </a:p>
          <a:p>
            <a:pPr>
              <a:defRPr sz="2000"/>
            </a:pPr>
            <a:r>
              <a:rPr lang="en-IE" dirty="0">
                <a:latin typeface="Consolas" panose="020B0609020204030204" pitchFamily="49" charset="0"/>
                <a:cs typeface="Consolas" panose="020B0609020204030204" pitchFamily="49" charset="0"/>
              </a:rPr>
              <a:t>       return false;</a:t>
            </a:r>
          </a:p>
          <a:p>
            <a:pPr>
              <a:defRPr sz="2000"/>
            </a:pPr>
            <a:r>
              <a:rPr lang="en-IE" dirty="0">
                <a:latin typeface="Consolas" panose="020B0609020204030204" pitchFamily="49" charset="0"/>
                <a:cs typeface="Consolas" panose="020B0609020204030204" pitchFamily="49" charset="0"/>
              </a:rPr>
              <a:t>    }</a:t>
            </a:r>
          </a:p>
          <a:p>
            <a:pPr>
              <a:defRPr sz="2000"/>
            </a:pPr>
            <a:r>
              <a:rPr lang="en-IE" dirty="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5C74368-45F0-604E-068A-626F6272EBF3}"/>
              </a:ext>
            </a:extLst>
          </p:cNvPr>
          <p:cNvSpPr txBox="1"/>
          <p:nvPr/>
        </p:nvSpPr>
        <p:spPr>
          <a:xfrm>
            <a:off x="6324600" y="1371601"/>
            <a:ext cx="5622052" cy="92333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txBody>
          <a:bodyPr wrap="none">
            <a:spAutoFit/>
          </a:bodyPr>
          <a:lstStyle/>
          <a:p>
            <a:endParaRPr dirty="0"/>
          </a:p>
          <a:p>
            <a:pPr>
              <a:defRPr sz="2000"/>
            </a:pPr>
            <a:r>
              <a:rPr lang="en-IE" sz="1200" dirty="0">
                <a:latin typeface="Consolas" panose="020B0609020204030204" pitchFamily="49" charset="0"/>
                <a:cs typeface="Consolas" panose="020B0609020204030204" pitchFamily="49" charset="0"/>
              </a:rPr>
              <a:t>public </a:t>
            </a:r>
            <a:r>
              <a:rPr lang="en-IE" sz="1200" dirty="0" err="1">
                <a:latin typeface="Consolas" panose="020B0609020204030204" pitchFamily="49" charset="0"/>
                <a:cs typeface="Consolas" panose="020B0609020204030204" pitchFamily="49" charset="0"/>
              </a:rPr>
              <a:t>boolean</a:t>
            </a:r>
            <a:r>
              <a:rPr lang="en-IE" sz="12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IE" sz="1200" dirty="0" err="1">
                <a:latin typeface="Consolas" panose="020B0609020204030204" pitchFamily="49" charset="0"/>
                <a:cs typeface="Consolas" panose="020B0609020204030204" pitchFamily="49" charset="0"/>
              </a:rPr>
              <a:t>isBetween</a:t>
            </a:r>
            <a:r>
              <a:rPr lang="en-IE" sz="1200" dirty="0">
                <a:latin typeface="Consolas" panose="020B0609020204030204" pitchFamily="49" charset="0"/>
                <a:cs typeface="Consolas" panose="020B0609020204030204" pitchFamily="49" charset="0"/>
              </a:rPr>
              <a:t>(int </a:t>
            </a:r>
            <a:r>
              <a:rPr lang="en-IE" sz="1200" dirty="0" err="1">
                <a:latin typeface="Consolas" panose="020B0609020204030204" pitchFamily="49" charset="0"/>
                <a:cs typeface="Consolas" panose="020B0609020204030204" pitchFamily="49" charset="0"/>
              </a:rPr>
              <a:t>numToCheck</a:t>
            </a:r>
            <a:r>
              <a:rPr lang="en-IE" sz="1200" dirty="0">
                <a:latin typeface="Consolas" panose="020B0609020204030204" pitchFamily="49" charset="0"/>
                <a:cs typeface="Consolas" panose="020B0609020204030204" pitchFamily="49" charset="0"/>
              </a:rPr>
              <a:t>, int lower, int upper) {</a:t>
            </a:r>
          </a:p>
          <a:p>
            <a:pPr>
              <a:defRPr sz="2000"/>
            </a:pPr>
            <a:r>
              <a:rPr lang="en-IE" sz="1200" dirty="0">
                <a:latin typeface="Consolas" panose="020B0609020204030204" pitchFamily="49" charset="0"/>
                <a:cs typeface="Consolas" panose="020B0609020204030204" pitchFamily="49" charset="0"/>
              </a:rPr>
              <a:t>    return(lower &lt;= </a:t>
            </a:r>
            <a:r>
              <a:rPr lang="en-IE" sz="1200" dirty="0" err="1">
                <a:latin typeface="Consolas" panose="020B0609020204030204" pitchFamily="49" charset="0"/>
                <a:cs typeface="Consolas" panose="020B0609020204030204" pitchFamily="49" charset="0"/>
              </a:rPr>
              <a:t>numToCheck</a:t>
            </a:r>
            <a:r>
              <a:rPr lang="en-IE" sz="1200" dirty="0">
                <a:latin typeface="Consolas" panose="020B0609020204030204" pitchFamily="49" charset="0"/>
                <a:cs typeface="Consolas" panose="020B0609020204030204" pitchFamily="49" charset="0"/>
              </a:rPr>
              <a:t> &amp;&amp; </a:t>
            </a:r>
            <a:r>
              <a:rPr lang="en-IE" sz="1200" dirty="0" err="1">
                <a:latin typeface="Consolas" panose="020B0609020204030204" pitchFamily="49" charset="0"/>
                <a:cs typeface="Consolas" panose="020B0609020204030204" pitchFamily="49" charset="0"/>
              </a:rPr>
              <a:t>numCheck</a:t>
            </a:r>
            <a:r>
              <a:rPr lang="en-IE" sz="1200" dirty="0">
                <a:latin typeface="Consolas" panose="020B0609020204030204" pitchFamily="49" charset="0"/>
                <a:cs typeface="Consolas" panose="020B0609020204030204" pitchFamily="49" charset="0"/>
              </a:rPr>
              <a:t> &lt;= upper) ;</a:t>
            </a:r>
          </a:p>
          <a:p>
            <a:pPr>
              <a:defRPr sz="2000"/>
            </a:pPr>
            <a:r>
              <a:rPr lang="en-IE" sz="1200" dirty="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347CC18-8290-989C-9FF3-76E3BBF1D24F}"/>
              </a:ext>
            </a:extLst>
          </p:cNvPr>
          <p:cNvSpPr txBox="1"/>
          <p:nvPr/>
        </p:nvSpPr>
        <p:spPr>
          <a:xfrm>
            <a:off x="3169921" y="914400"/>
            <a:ext cx="1176989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dirty="0"/>
              <a:t>Long Form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69A19EA-0190-EFF1-9F64-B8CCCB3994F7}"/>
              </a:ext>
            </a:extLst>
          </p:cNvPr>
          <p:cNvSpPr txBox="1"/>
          <p:nvPr/>
        </p:nvSpPr>
        <p:spPr>
          <a:xfrm>
            <a:off x="7010400" y="914400"/>
            <a:ext cx="1233094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Short Form</a:t>
            </a:r>
          </a:p>
        </p:txBody>
      </p:sp>
    </p:spTree>
    <p:extLst>
      <p:ext uri="{BB962C8B-B14F-4D97-AF65-F5344CB8AC3E}">
        <p14:creationId xmlns:p14="http://schemas.microsoft.com/office/powerpoint/2010/main" val="148939319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AA1FF4-1DA4-531E-787A-6FD18BBBD2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36C087D-C3BF-291B-F73A-8939E7C6DF77}"/>
              </a:ext>
            </a:extLst>
          </p:cNvPr>
          <p:cNvSpPr txBox="1"/>
          <p:nvPr/>
        </p:nvSpPr>
        <p:spPr>
          <a:xfrm>
            <a:off x="566281" y="1828800"/>
            <a:ext cx="11059438" cy="156966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txBody>
          <a:bodyPr wrap="none">
            <a:spAutoFit/>
          </a:bodyPr>
          <a:lstStyle/>
          <a:p>
            <a:endParaRPr lang="en-IE" sz="2400" dirty="0"/>
          </a:p>
          <a:p>
            <a:pPr>
              <a:defRPr sz="2000"/>
            </a:pPr>
            <a:r>
              <a:rPr lang="en-IE" sz="2400" dirty="0">
                <a:latin typeface="Consolas" panose="020B0609020204030204" pitchFamily="49" charset="0"/>
                <a:cs typeface="Consolas" panose="020B0609020204030204" pitchFamily="49" charset="0"/>
              </a:rPr>
              <a:t>public </a:t>
            </a:r>
            <a:r>
              <a:rPr lang="en-IE" sz="2400" dirty="0" err="1">
                <a:latin typeface="Consolas" panose="020B0609020204030204" pitchFamily="49" charset="0"/>
                <a:cs typeface="Consolas" panose="020B0609020204030204" pitchFamily="49" charset="0"/>
              </a:rPr>
              <a:t>boolean</a:t>
            </a:r>
            <a:r>
              <a:rPr lang="en-IE" sz="24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IE" sz="2400" dirty="0" err="1">
                <a:latin typeface="Consolas" panose="020B0609020204030204" pitchFamily="49" charset="0"/>
                <a:cs typeface="Consolas" panose="020B0609020204030204" pitchFamily="49" charset="0"/>
              </a:rPr>
              <a:t>isBetween</a:t>
            </a:r>
            <a:r>
              <a:rPr lang="en-IE" sz="2400" dirty="0">
                <a:latin typeface="Consolas" panose="020B0609020204030204" pitchFamily="49" charset="0"/>
                <a:cs typeface="Consolas" panose="020B0609020204030204" pitchFamily="49" charset="0"/>
              </a:rPr>
              <a:t>(int </a:t>
            </a:r>
            <a:r>
              <a:rPr lang="en-IE" sz="2400" dirty="0" err="1">
                <a:latin typeface="Consolas" panose="020B0609020204030204" pitchFamily="49" charset="0"/>
                <a:cs typeface="Consolas" panose="020B0609020204030204" pitchFamily="49" charset="0"/>
              </a:rPr>
              <a:t>numToCheck</a:t>
            </a:r>
            <a:r>
              <a:rPr lang="en-IE" sz="2400" dirty="0">
                <a:latin typeface="Consolas" panose="020B0609020204030204" pitchFamily="49" charset="0"/>
                <a:cs typeface="Consolas" panose="020B0609020204030204" pitchFamily="49" charset="0"/>
              </a:rPr>
              <a:t>, int lower, int upper) {</a:t>
            </a:r>
          </a:p>
          <a:p>
            <a:pPr>
              <a:defRPr sz="2000"/>
            </a:pPr>
            <a:r>
              <a:rPr lang="en-IE" sz="2400" dirty="0">
                <a:latin typeface="Consolas" panose="020B0609020204030204" pitchFamily="49" charset="0"/>
                <a:cs typeface="Consolas" panose="020B0609020204030204" pitchFamily="49" charset="0"/>
              </a:rPr>
              <a:t>    return(lower &lt;= </a:t>
            </a:r>
            <a:r>
              <a:rPr lang="en-IE" sz="2400" dirty="0" err="1">
                <a:latin typeface="Consolas" panose="020B0609020204030204" pitchFamily="49" charset="0"/>
                <a:cs typeface="Consolas" panose="020B0609020204030204" pitchFamily="49" charset="0"/>
              </a:rPr>
              <a:t>numToCheck</a:t>
            </a:r>
            <a:r>
              <a:rPr lang="en-IE" sz="2400" dirty="0">
                <a:latin typeface="Consolas" panose="020B0609020204030204" pitchFamily="49" charset="0"/>
                <a:cs typeface="Consolas" panose="020B0609020204030204" pitchFamily="49" charset="0"/>
              </a:rPr>
              <a:t> &amp;&amp; </a:t>
            </a:r>
            <a:r>
              <a:rPr lang="en-IE" sz="2400" dirty="0" err="1">
                <a:latin typeface="Consolas" panose="020B0609020204030204" pitchFamily="49" charset="0"/>
                <a:cs typeface="Consolas" panose="020B0609020204030204" pitchFamily="49" charset="0"/>
              </a:rPr>
              <a:t>numCheck</a:t>
            </a:r>
            <a:r>
              <a:rPr lang="en-IE" sz="2400" dirty="0">
                <a:latin typeface="Consolas" panose="020B0609020204030204" pitchFamily="49" charset="0"/>
                <a:cs typeface="Consolas" panose="020B0609020204030204" pitchFamily="49" charset="0"/>
              </a:rPr>
              <a:t> &lt;= upper) ;</a:t>
            </a:r>
          </a:p>
          <a:p>
            <a:pPr>
              <a:defRPr sz="2000"/>
            </a:pPr>
            <a:r>
              <a:rPr lang="en-IE" sz="2400" dirty="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14516642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/>
              <a:t>Topics list</a:t>
            </a:r>
            <a:endParaRPr lang="en-IE" dirty="0"/>
          </a:p>
        </p:txBody>
      </p:sp>
      <p:sp>
        <p:nvSpPr>
          <p:cNvPr id="7" name="Rectangle 6"/>
          <p:cNvSpPr/>
          <p:nvPr/>
        </p:nvSpPr>
        <p:spPr>
          <a:xfrm>
            <a:off x="2133600" y="4758446"/>
            <a:ext cx="6477000" cy="457201"/>
          </a:xfrm>
          <a:prstGeom prst="rect">
            <a:avLst/>
          </a:prstGeom>
          <a:noFill/>
          <a:ln w="444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sp>
        <p:nvSpPr>
          <p:cNvPr id="6" name="Content Placeholder 4">
            <a:extLst>
              <a:ext uri="{FF2B5EF4-FFF2-40B4-BE49-F238E27FC236}">
                <a16:creationId xmlns:a16="http://schemas.microsoft.com/office/drawing/2014/main" id="{0D3035A6-4E9C-4692-5680-B266AD48BB49}"/>
              </a:ext>
            </a:extLst>
          </p:cNvPr>
          <p:cNvSpPr txBox="1">
            <a:spLocks/>
          </p:cNvSpPr>
          <p:nvPr/>
        </p:nvSpPr>
        <p:spPr>
          <a:xfrm>
            <a:off x="2133600" y="1676400"/>
            <a:ext cx="87630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E" sz="1600" dirty="0"/>
          </a:p>
          <a:p>
            <a:pPr marL="514350" indent="-514350">
              <a:buFont typeface="+mj-lt"/>
              <a:buAutoNum type="arabicPeriod"/>
            </a:pPr>
            <a:r>
              <a:rPr lang="en-IE" dirty="0"/>
              <a:t>RECAP: Method Terminology:</a:t>
            </a:r>
            <a:endParaRPr lang="en-IE" b="1" dirty="0"/>
          </a:p>
          <a:p>
            <a:pPr marL="514350" indent="-514350">
              <a:buFont typeface="+mj-lt"/>
              <a:buAutoNum type="arabicPeriod"/>
            </a:pPr>
            <a:r>
              <a:rPr lang="en-IE" dirty="0"/>
              <a:t>Method examples – return values</a:t>
            </a:r>
          </a:p>
          <a:p>
            <a:pPr marL="914400" lvl="1" indent="-514350"/>
            <a:r>
              <a:rPr lang="en-IE" dirty="0" err="1"/>
              <a:t>Celcius</a:t>
            </a:r>
            <a:r>
              <a:rPr lang="en-IE" dirty="0"/>
              <a:t> / </a:t>
            </a:r>
            <a:r>
              <a:rPr lang="en-IE" dirty="0" err="1"/>
              <a:t>Farenheit</a:t>
            </a:r>
            <a:r>
              <a:rPr lang="en-IE" dirty="0"/>
              <a:t> </a:t>
            </a:r>
            <a:r>
              <a:rPr lang="en-IE" b="1" dirty="0"/>
              <a:t>Converter</a:t>
            </a:r>
            <a:r>
              <a:rPr lang="en-IE" dirty="0"/>
              <a:t>.</a:t>
            </a:r>
          </a:p>
          <a:p>
            <a:pPr marL="914400" lvl="1" indent="-514350"/>
            <a:r>
              <a:rPr lang="en-IE" b="1" dirty="0"/>
              <a:t>Cubed</a:t>
            </a:r>
          </a:p>
          <a:p>
            <a:pPr marL="914400" lvl="1" indent="-514350"/>
            <a:r>
              <a:rPr lang="en-IE" b="1" dirty="0"/>
              <a:t>Product</a:t>
            </a:r>
          </a:p>
          <a:p>
            <a:pPr marL="514350" indent="-514350">
              <a:buFont typeface="+mj-lt"/>
              <a:buAutoNum type="arabicPeriod"/>
            </a:pPr>
            <a:r>
              <a:rPr lang="en-IE" b="1" dirty="0"/>
              <a:t>Overloading</a:t>
            </a:r>
            <a:r>
              <a:rPr lang="en-IE" dirty="0"/>
              <a:t> methods.</a:t>
            </a:r>
          </a:p>
          <a:p>
            <a:pPr marL="0" indent="0">
              <a:buNone/>
            </a:pPr>
            <a:endParaRPr lang="en-IE" dirty="0"/>
          </a:p>
        </p:txBody>
      </p:sp>
    </p:spTree>
    <p:extLst>
      <p:ext uri="{BB962C8B-B14F-4D97-AF65-F5344CB8AC3E}">
        <p14:creationId xmlns:p14="http://schemas.microsoft.com/office/powerpoint/2010/main" val="3636683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b="1" dirty="0"/>
              <a:t>Overloaded</a:t>
            </a:r>
            <a:r>
              <a:rPr lang="en-IE" dirty="0"/>
              <a:t> methods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E" dirty="0"/>
              <a:t>Multiple methods can have the </a:t>
            </a:r>
            <a:r>
              <a:rPr lang="en-IE" b="1" dirty="0"/>
              <a:t>same name</a:t>
            </a:r>
            <a:r>
              <a:rPr lang="en-IE" dirty="0"/>
              <a:t>, </a:t>
            </a:r>
            <a:br>
              <a:rPr lang="en-IE" dirty="0"/>
            </a:br>
            <a:r>
              <a:rPr lang="en-IE" dirty="0"/>
              <a:t>once they have a </a:t>
            </a:r>
            <a:r>
              <a:rPr lang="en-IE" b="1" u="sng" dirty="0"/>
              <a:t>different parameter list</a:t>
            </a:r>
            <a:r>
              <a:rPr lang="en-IE" dirty="0"/>
              <a:t>.  </a:t>
            </a:r>
          </a:p>
          <a:p>
            <a:r>
              <a:rPr lang="en-IE" dirty="0"/>
              <a:t>We could write the following:</a:t>
            </a:r>
          </a:p>
          <a:p>
            <a:pPr lvl="1"/>
            <a:r>
              <a:rPr lang="en-IE" dirty="0"/>
              <a:t>void </a:t>
            </a:r>
            <a:r>
              <a:rPr lang="en-IE" dirty="0" err="1"/>
              <a:t>addNum</a:t>
            </a:r>
            <a:r>
              <a:rPr lang="en-IE" dirty="0"/>
              <a:t>()</a:t>
            </a:r>
          </a:p>
          <a:p>
            <a:pPr lvl="1"/>
            <a:r>
              <a:rPr lang="en-IE" dirty="0"/>
              <a:t>void </a:t>
            </a:r>
            <a:r>
              <a:rPr lang="en-IE" dirty="0" err="1"/>
              <a:t>addNum</a:t>
            </a:r>
            <a:r>
              <a:rPr lang="en-IE" dirty="0"/>
              <a:t> (int num1, int num2)</a:t>
            </a:r>
          </a:p>
          <a:p>
            <a:pPr lvl="1"/>
            <a:r>
              <a:rPr lang="en-IE" dirty="0"/>
              <a:t>void </a:t>
            </a:r>
            <a:r>
              <a:rPr lang="en-IE" dirty="0" err="1"/>
              <a:t>addNum</a:t>
            </a:r>
            <a:r>
              <a:rPr lang="en-IE" dirty="0"/>
              <a:t> (int num1, int num2, int num3)</a:t>
            </a:r>
          </a:p>
          <a:p>
            <a:pPr lvl="1"/>
            <a:r>
              <a:rPr lang="en-IE" dirty="0"/>
              <a:t>void </a:t>
            </a:r>
            <a:r>
              <a:rPr lang="en-IE" dirty="0" err="1"/>
              <a:t>addNum</a:t>
            </a:r>
            <a:r>
              <a:rPr lang="en-IE" dirty="0"/>
              <a:t> (int num1, int num2, int num3, int num4)</a:t>
            </a:r>
            <a:endParaRPr lang="en-IE" dirty="0">
              <a:solidFill>
                <a:srgbClr val="FF0000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105400" y="6581002"/>
            <a:ext cx="5562600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IE" sz="1200" dirty="0"/>
              <a:t>Source:  </a:t>
            </a:r>
            <a:r>
              <a:rPr lang="en-IE" sz="1200" dirty="0" err="1"/>
              <a:t>Reas</a:t>
            </a:r>
            <a:r>
              <a:rPr lang="en-IE" sz="1200" dirty="0"/>
              <a:t> &amp; Fry (2014)</a:t>
            </a:r>
          </a:p>
        </p:txBody>
      </p:sp>
      <p:sp>
        <p:nvSpPr>
          <p:cNvPr id="5" name="Rectangle 4"/>
          <p:cNvSpPr/>
          <p:nvPr/>
        </p:nvSpPr>
        <p:spPr>
          <a:xfrm>
            <a:off x="2057400" y="3200400"/>
            <a:ext cx="1287418" cy="2209800"/>
          </a:xfrm>
          <a:prstGeom prst="rect">
            <a:avLst/>
          </a:prstGeom>
          <a:noFill/>
          <a:ln w="444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sp>
        <p:nvSpPr>
          <p:cNvPr id="6" name="Rectangle 5"/>
          <p:cNvSpPr/>
          <p:nvPr/>
        </p:nvSpPr>
        <p:spPr>
          <a:xfrm>
            <a:off x="3394892" y="3200400"/>
            <a:ext cx="6130107" cy="2209800"/>
          </a:xfrm>
          <a:prstGeom prst="rect">
            <a:avLst/>
          </a:prstGeom>
          <a:noFill/>
          <a:ln w="444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sp>
        <p:nvSpPr>
          <p:cNvPr id="7" name="TextBox 6"/>
          <p:cNvSpPr txBox="1"/>
          <p:nvPr/>
        </p:nvSpPr>
        <p:spPr>
          <a:xfrm>
            <a:off x="1905000" y="5541360"/>
            <a:ext cx="143981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dirty="0">
                <a:solidFill>
                  <a:srgbClr val="FF0000"/>
                </a:solidFill>
              </a:rPr>
              <a:t>Same Name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25109" y="5541360"/>
            <a:ext cx="41910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dirty="0">
                <a:solidFill>
                  <a:srgbClr val="FF0000"/>
                </a:solidFill>
              </a:rPr>
              <a:t>Different Parameter List</a:t>
            </a:r>
          </a:p>
        </p:txBody>
      </p:sp>
    </p:spTree>
    <p:extLst>
      <p:ext uri="{BB962C8B-B14F-4D97-AF65-F5344CB8AC3E}">
        <p14:creationId xmlns:p14="http://schemas.microsoft.com/office/powerpoint/2010/main" val="31000553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4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/>
      <p:bldP spid="8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Overloaded methods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lvl="1" indent="0">
              <a:buNone/>
            </a:pPr>
            <a:endParaRPr lang="en-IE" dirty="0"/>
          </a:p>
          <a:p>
            <a:pPr lvl="1"/>
            <a:endParaRPr lang="en-IE" dirty="0"/>
          </a:p>
          <a:p>
            <a:pPr lvl="1"/>
            <a:endParaRPr lang="en-IE" dirty="0"/>
          </a:p>
          <a:p>
            <a:endParaRPr lang="en-IE" dirty="0"/>
          </a:p>
          <a:p>
            <a:endParaRPr lang="en-IE" dirty="0"/>
          </a:p>
        </p:txBody>
      </p:sp>
      <p:sp>
        <p:nvSpPr>
          <p:cNvPr id="4" name="Rectangle 3"/>
          <p:cNvSpPr/>
          <p:nvPr/>
        </p:nvSpPr>
        <p:spPr>
          <a:xfrm>
            <a:off x="5105400" y="6581002"/>
            <a:ext cx="5562600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IE" sz="1200" dirty="0"/>
              <a:t>Source:  </a:t>
            </a:r>
            <a:r>
              <a:rPr lang="en-IE" sz="1200" dirty="0" err="1"/>
              <a:t>Reas</a:t>
            </a:r>
            <a:r>
              <a:rPr lang="en-IE" sz="1200" dirty="0"/>
              <a:t> &amp; Fry (2014)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057400" y="1905000"/>
          <a:ext cx="8153400" cy="4237981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18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71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96801">
                <a:tc>
                  <a:txBody>
                    <a:bodyPr/>
                    <a:lstStyle/>
                    <a:p>
                      <a:r>
                        <a:rPr lang="en-IE" sz="2800" b="1" dirty="0"/>
                        <a:t>Method signature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E" sz="2800" b="1" dirty="0"/>
                        <a:t>Parameter</a:t>
                      </a:r>
                      <a:r>
                        <a:rPr lang="en-IE" sz="2800" b="1" baseline="0" dirty="0"/>
                        <a:t> List</a:t>
                      </a:r>
                      <a:endParaRPr lang="en-IE" sz="2800" b="1" dirty="0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96801">
                <a:tc>
                  <a:txBody>
                    <a:bodyPr/>
                    <a:lstStyle/>
                    <a:p>
                      <a:pPr marL="0" marR="0" lvl="1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E" sz="2800" dirty="0"/>
                        <a:t>void </a:t>
                      </a:r>
                      <a:r>
                        <a:rPr lang="en-IE" sz="2800" dirty="0" err="1"/>
                        <a:t>addNum</a:t>
                      </a:r>
                      <a:r>
                        <a:rPr lang="en-IE" sz="2800" dirty="0"/>
                        <a:t>()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E" sz="2800" dirty="0"/>
                        <a:t>no</a:t>
                      </a:r>
                      <a:r>
                        <a:rPr lang="en-IE" sz="2800" baseline="0" dirty="0"/>
                        <a:t> parameter</a:t>
                      </a:r>
                      <a:endParaRPr lang="en-IE" sz="2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96801">
                <a:tc>
                  <a:txBody>
                    <a:bodyPr/>
                    <a:lstStyle/>
                    <a:p>
                      <a:pPr marL="0" marR="0" lvl="1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E" sz="2800" dirty="0"/>
                        <a:t>void </a:t>
                      </a:r>
                      <a:r>
                        <a:rPr lang="en-IE" sz="2800" dirty="0" err="1"/>
                        <a:t>addNum</a:t>
                      </a:r>
                      <a:r>
                        <a:rPr lang="en-IE" sz="2800" dirty="0"/>
                        <a:t>(int num1, int num2)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E" sz="2800" dirty="0"/>
                        <a:t>int, int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52797">
                <a:tc>
                  <a:txBody>
                    <a:bodyPr/>
                    <a:lstStyle/>
                    <a:p>
                      <a:pPr marL="0" marR="0" lvl="1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E" sz="2800" dirty="0"/>
                        <a:t>void </a:t>
                      </a:r>
                      <a:r>
                        <a:rPr lang="en-IE" sz="2800" dirty="0" err="1"/>
                        <a:t>addNum</a:t>
                      </a:r>
                      <a:r>
                        <a:rPr lang="en-IE" sz="2800" dirty="0"/>
                        <a:t>(int num1, int num2, int num3)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E" sz="2800" dirty="0"/>
                        <a:t>int, int, int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202698">
                <a:tc>
                  <a:txBody>
                    <a:bodyPr/>
                    <a:lstStyle/>
                    <a:p>
                      <a:pPr marL="0" marR="0" lvl="1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E" sz="2800" dirty="0"/>
                        <a:t>void </a:t>
                      </a:r>
                      <a:r>
                        <a:rPr lang="en-IE" sz="2800" dirty="0" err="1"/>
                        <a:t>addNum</a:t>
                      </a:r>
                      <a:r>
                        <a:rPr lang="en-IE" sz="2800" dirty="0"/>
                        <a:t>(int num1, int num2, int num3, int num4)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E" sz="2800" dirty="0"/>
                        <a:t>int, int, int, int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214F0122-40F8-1146-9B23-E6A23AAE531A}"/>
              </a:ext>
            </a:extLst>
          </p:cNvPr>
          <p:cNvSpPr txBox="1"/>
          <p:nvPr/>
        </p:nvSpPr>
        <p:spPr>
          <a:xfrm>
            <a:off x="2020824" y="6190704"/>
            <a:ext cx="535191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b="1" dirty="0">
                <a:solidFill>
                  <a:srgbClr val="FF0000"/>
                </a:solidFill>
              </a:rPr>
              <a:t>Same method name, but different parameter list</a:t>
            </a:r>
          </a:p>
        </p:txBody>
      </p:sp>
    </p:spTree>
    <p:extLst>
      <p:ext uri="{BB962C8B-B14F-4D97-AF65-F5344CB8AC3E}">
        <p14:creationId xmlns:p14="http://schemas.microsoft.com/office/powerpoint/2010/main" val="17206418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Overloaded methods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600200"/>
            <a:ext cx="11125200" cy="4495800"/>
          </a:xfrm>
        </p:spPr>
        <p:txBody>
          <a:bodyPr>
            <a:normAutofit fontScale="92500" lnSpcReduction="10000"/>
          </a:bodyPr>
          <a:lstStyle/>
          <a:p>
            <a:r>
              <a:rPr lang="en-IE" dirty="0"/>
              <a:t>A program can have two or more methods with the same name, only if their </a:t>
            </a:r>
            <a:r>
              <a:rPr lang="en-IE" u="sng" dirty="0"/>
              <a:t>parameter list</a:t>
            </a:r>
            <a:r>
              <a:rPr lang="en-IE" dirty="0"/>
              <a:t> is different.</a:t>
            </a:r>
            <a:br>
              <a:rPr lang="en-IE" dirty="0"/>
            </a:br>
            <a:endParaRPr lang="en-IE" dirty="0"/>
          </a:p>
          <a:p>
            <a:r>
              <a:rPr lang="en-IE" dirty="0"/>
              <a:t>When Java is checking that a parameter list is different, </a:t>
            </a:r>
            <a:br>
              <a:rPr lang="en-IE" dirty="0"/>
            </a:br>
            <a:r>
              <a:rPr lang="en-IE" dirty="0"/>
              <a:t>it is not checking the name of the variables, </a:t>
            </a:r>
            <a:br>
              <a:rPr lang="en-IE" dirty="0"/>
            </a:br>
            <a:r>
              <a:rPr lang="en-IE" dirty="0"/>
              <a:t>it is </a:t>
            </a:r>
            <a:r>
              <a:rPr lang="en-IE" b="1" dirty="0"/>
              <a:t>checking the data type </a:t>
            </a:r>
            <a:r>
              <a:rPr lang="en-IE" dirty="0"/>
              <a:t>of the variables </a:t>
            </a:r>
            <a:br>
              <a:rPr lang="en-IE" dirty="0"/>
            </a:br>
            <a:r>
              <a:rPr lang="en-IE" dirty="0"/>
              <a:t>e.g. </a:t>
            </a:r>
          </a:p>
          <a:p>
            <a:pPr lvl="1"/>
            <a:r>
              <a:rPr lang="en-IE" dirty="0"/>
              <a:t>this is permitted as the </a:t>
            </a:r>
            <a:r>
              <a:rPr lang="en-IE" b="1" dirty="0"/>
              <a:t>data </a:t>
            </a:r>
            <a:r>
              <a:rPr lang="en-IE" b="1" dirty="0">
                <a:solidFill>
                  <a:srgbClr val="FF0000"/>
                </a:solidFill>
              </a:rPr>
              <a:t>type</a:t>
            </a:r>
            <a:r>
              <a:rPr lang="en-IE" b="1" dirty="0"/>
              <a:t> is different</a:t>
            </a:r>
            <a:r>
              <a:rPr lang="en-IE" dirty="0"/>
              <a:t>:</a:t>
            </a:r>
          </a:p>
          <a:p>
            <a:pPr lvl="2"/>
            <a:r>
              <a:rPr lang="en-IE" dirty="0"/>
              <a:t>void </a:t>
            </a:r>
            <a:r>
              <a:rPr lang="en-IE" dirty="0" err="1"/>
              <a:t>addNum</a:t>
            </a:r>
            <a:r>
              <a:rPr lang="en-IE" dirty="0"/>
              <a:t> ( int num1)</a:t>
            </a:r>
          </a:p>
          <a:p>
            <a:pPr lvl="2"/>
            <a:r>
              <a:rPr lang="en-IE" dirty="0"/>
              <a:t>void </a:t>
            </a:r>
            <a:r>
              <a:rPr lang="en-IE" dirty="0" err="1"/>
              <a:t>addNum</a:t>
            </a:r>
            <a:r>
              <a:rPr lang="en-IE" dirty="0"/>
              <a:t> ( double  num1)</a:t>
            </a:r>
          </a:p>
          <a:p>
            <a:endParaRPr lang="en-IE" dirty="0"/>
          </a:p>
          <a:p>
            <a:endParaRPr lang="en-IE" dirty="0"/>
          </a:p>
        </p:txBody>
      </p:sp>
      <p:sp>
        <p:nvSpPr>
          <p:cNvPr id="4" name="Rectangle 3"/>
          <p:cNvSpPr/>
          <p:nvPr/>
        </p:nvSpPr>
        <p:spPr>
          <a:xfrm>
            <a:off x="5105400" y="6581002"/>
            <a:ext cx="5562600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IE" sz="1200" dirty="0"/>
              <a:t>Source:  </a:t>
            </a:r>
            <a:r>
              <a:rPr lang="en-IE" sz="1200" dirty="0" err="1"/>
              <a:t>Reas</a:t>
            </a:r>
            <a:r>
              <a:rPr lang="en-IE" sz="1200" dirty="0"/>
              <a:t> &amp; Fry (2014)</a:t>
            </a:r>
          </a:p>
        </p:txBody>
      </p:sp>
      <p:sp>
        <p:nvSpPr>
          <p:cNvPr id="5" name="Rectangle 4"/>
          <p:cNvSpPr/>
          <p:nvPr/>
        </p:nvSpPr>
        <p:spPr>
          <a:xfrm>
            <a:off x="3352800" y="4966901"/>
            <a:ext cx="2057400" cy="914400"/>
          </a:xfrm>
          <a:prstGeom prst="rect">
            <a:avLst/>
          </a:prstGeom>
          <a:noFill/>
          <a:ln w="444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sp>
        <p:nvSpPr>
          <p:cNvPr id="6" name="TextBox 5"/>
          <p:cNvSpPr txBox="1"/>
          <p:nvPr/>
        </p:nvSpPr>
        <p:spPr>
          <a:xfrm>
            <a:off x="3124200" y="5938391"/>
            <a:ext cx="557069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dirty="0">
                <a:solidFill>
                  <a:srgbClr val="FF0000"/>
                </a:solidFill>
              </a:rPr>
              <a:t>Data types must be different </a:t>
            </a:r>
            <a:br>
              <a:rPr lang="en-GB" sz="2000" dirty="0">
                <a:solidFill>
                  <a:srgbClr val="FF0000"/>
                </a:solidFill>
              </a:rPr>
            </a:br>
            <a:r>
              <a:rPr lang="en-GB" sz="2000" dirty="0">
                <a:solidFill>
                  <a:srgbClr val="FF0000"/>
                </a:solidFill>
              </a:rPr>
              <a:t>for a method with the same name to be overloaded</a:t>
            </a:r>
          </a:p>
        </p:txBody>
      </p:sp>
    </p:spTree>
    <p:extLst>
      <p:ext uri="{BB962C8B-B14F-4D97-AF65-F5344CB8AC3E}">
        <p14:creationId xmlns:p14="http://schemas.microsoft.com/office/powerpoint/2010/main" val="27018268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E" dirty="0"/>
              <a:t>Overloaded methods</a:t>
            </a:r>
          </a:p>
        </p:txBody>
      </p:sp>
      <p:sp>
        <p:nvSpPr>
          <p:cNvPr id="6" name="Rectangle 5"/>
          <p:cNvSpPr/>
          <p:nvPr/>
        </p:nvSpPr>
        <p:spPr>
          <a:xfrm>
            <a:off x="609600" y="1587062"/>
            <a:ext cx="5486400" cy="2862322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IE" dirty="0"/>
              <a:t>public class Driver {</a:t>
            </a:r>
            <a:br>
              <a:rPr lang="en-IE" dirty="0"/>
            </a:br>
            <a:br>
              <a:rPr lang="en-IE" dirty="0"/>
            </a:br>
            <a:r>
              <a:rPr lang="en-IE" dirty="0"/>
              <a:t>    public static void main(String[] </a:t>
            </a:r>
            <a:r>
              <a:rPr lang="en-IE" dirty="0" err="1"/>
              <a:t>args</a:t>
            </a:r>
            <a:r>
              <a:rPr lang="en-IE" dirty="0"/>
              <a:t>) {</a:t>
            </a:r>
            <a:br>
              <a:rPr lang="en-IE" dirty="0"/>
            </a:br>
            <a:r>
              <a:rPr lang="en-IE" dirty="0"/>
              <a:t>        </a:t>
            </a:r>
            <a:r>
              <a:rPr lang="en-IE" dirty="0" err="1"/>
              <a:t>ClassExamples</a:t>
            </a:r>
            <a:r>
              <a:rPr lang="en-IE" dirty="0"/>
              <a:t> </a:t>
            </a:r>
            <a:r>
              <a:rPr lang="en-IE" dirty="0" err="1"/>
              <a:t>ce</a:t>
            </a:r>
            <a:r>
              <a:rPr lang="en-IE" dirty="0"/>
              <a:t> = new </a:t>
            </a:r>
            <a:r>
              <a:rPr lang="en-IE" dirty="0" err="1"/>
              <a:t>ClassExamples</a:t>
            </a:r>
            <a:r>
              <a:rPr lang="en-IE" dirty="0"/>
              <a:t>();</a:t>
            </a:r>
            <a:br>
              <a:rPr lang="en-IE" dirty="0"/>
            </a:br>
            <a:r>
              <a:rPr lang="en-IE" dirty="0"/>
              <a:t>        double cel = </a:t>
            </a:r>
            <a:r>
              <a:rPr lang="en-IE" dirty="0" err="1"/>
              <a:t>ce.farenheitToCelsius</a:t>
            </a:r>
            <a:r>
              <a:rPr lang="en-IE" dirty="0"/>
              <a:t>(451);</a:t>
            </a:r>
            <a:br>
              <a:rPr lang="en-IE" dirty="0"/>
            </a:br>
            <a:r>
              <a:rPr lang="en-IE" dirty="0"/>
              <a:t>        double c = 20.5;</a:t>
            </a:r>
            <a:br>
              <a:rPr lang="en-IE" dirty="0"/>
            </a:br>
            <a:r>
              <a:rPr lang="en-IE" dirty="0"/>
              <a:t>        double d = 3.5;</a:t>
            </a:r>
            <a:br>
              <a:rPr lang="en-IE" dirty="0"/>
            </a:br>
            <a:r>
              <a:rPr lang="en-IE" dirty="0"/>
              <a:t>        </a:t>
            </a:r>
            <a:r>
              <a:rPr lang="en-IE" dirty="0" err="1"/>
              <a:t>ce.addNum</a:t>
            </a:r>
            <a:r>
              <a:rPr lang="en-IE" dirty="0"/>
              <a:t>(c, d);</a:t>
            </a:r>
            <a:br>
              <a:rPr lang="en-IE" dirty="0"/>
            </a:br>
            <a:r>
              <a:rPr lang="en-IE" dirty="0"/>
              <a:t>    }</a:t>
            </a:r>
            <a:br>
              <a:rPr lang="en-IE" dirty="0"/>
            </a:br>
            <a:r>
              <a:rPr lang="en-IE" dirty="0"/>
              <a:t>}</a:t>
            </a:r>
          </a:p>
        </p:txBody>
      </p:sp>
      <p:sp>
        <p:nvSpPr>
          <p:cNvPr id="5" name="Rectangle 4"/>
          <p:cNvSpPr/>
          <p:nvPr/>
        </p:nvSpPr>
        <p:spPr>
          <a:xfrm>
            <a:off x="6629400" y="1305341"/>
            <a:ext cx="5240482" cy="4247317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dirty="0"/>
              <a:t>public class </a:t>
            </a:r>
            <a:r>
              <a:rPr lang="en-US" dirty="0" err="1"/>
              <a:t>ClassExamples</a:t>
            </a:r>
            <a:r>
              <a:rPr lang="en-US" dirty="0"/>
              <a:t> {</a:t>
            </a:r>
            <a:br>
              <a:rPr lang="en-US" dirty="0"/>
            </a:br>
            <a:br>
              <a:rPr lang="en-US" dirty="0"/>
            </a:br>
            <a:r>
              <a:rPr lang="en-IE" dirty="0"/>
              <a:t>void </a:t>
            </a:r>
            <a:r>
              <a:rPr lang="en-IE" dirty="0" err="1"/>
              <a:t>addNum</a:t>
            </a:r>
            <a:r>
              <a:rPr lang="en-IE" dirty="0"/>
              <a:t>(double num1, double num2){</a:t>
            </a:r>
            <a:br>
              <a:rPr lang="en-IE" dirty="0"/>
            </a:br>
            <a:r>
              <a:rPr lang="en-IE" dirty="0"/>
              <a:t>    double result = num1 + num2;</a:t>
            </a:r>
            <a:br>
              <a:rPr lang="en-IE" dirty="0"/>
            </a:br>
            <a:r>
              <a:rPr lang="en-IE" dirty="0"/>
              <a:t>    </a:t>
            </a:r>
            <a:r>
              <a:rPr lang="en-IE" dirty="0" err="1"/>
              <a:t>System.</a:t>
            </a:r>
            <a:r>
              <a:rPr lang="en-IE" i="1" dirty="0" err="1"/>
              <a:t>out</a:t>
            </a:r>
            <a:r>
              <a:rPr lang="en-IE" dirty="0" err="1"/>
              <a:t>.println</a:t>
            </a:r>
            <a:r>
              <a:rPr lang="en-IE" dirty="0"/>
              <a:t>("This is double </a:t>
            </a:r>
            <a:r>
              <a:rPr lang="en-IE" dirty="0" err="1"/>
              <a:t>addNum</a:t>
            </a:r>
            <a:r>
              <a:rPr lang="en-IE" dirty="0"/>
              <a:t> " + result);</a:t>
            </a:r>
            <a:br>
              <a:rPr lang="en-IE" dirty="0"/>
            </a:br>
            <a:r>
              <a:rPr lang="en-IE" dirty="0"/>
              <a:t>}</a:t>
            </a:r>
          </a:p>
          <a:p>
            <a:br>
              <a:rPr lang="en-IE" dirty="0"/>
            </a:br>
            <a:r>
              <a:rPr lang="en-IE" dirty="0"/>
              <a:t>void </a:t>
            </a:r>
            <a:r>
              <a:rPr lang="en-IE" dirty="0" err="1"/>
              <a:t>addNum</a:t>
            </a:r>
            <a:r>
              <a:rPr lang="en-IE" dirty="0"/>
              <a:t>(int num1, int num2){</a:t>
            </a:r>
            <a:br>
              <a:rPr lang="en-IE" dirty="0"/>
            </a:br>
            <a:r>
              <a:rPr lang="en-IE" dirty="0"/>
              <a:t>    int result = num1 + num2;</a:t>
            </a:r>
            <a:br>
              <a:rPr lang="en-IE" dirty="0"/>
            </a:br>
            <a:r>
              <a:rPr lang="en-IE" dirty="0"/>
              <a:t>    </a:t>
            </a:r>
            <a:r>
              <a:rPr lang="en-IE" dirty="0" err="1"/>
              <a:t>System.</a:t>
            </a:r>
            <a:r>
              <a:rPr lang="en-IE" i="1" dirty="0" err="1"/>
              <a:t>out</a:t>
            </a:r>
            <a:r>
              <a:rPr lang="en-IE" dirty="0" err="1"/>
              <a:t>.println</a:t>
            </a:r>
            <a:r>
              <a:rPr lang="en-IE" dirty="0"/>
              <a:t>("This is int </a:t>
            </a:r>
            <a:r>
              <a:rPr lang="en-IE" dirty="0" err="1"/>
              <a:t>addNum</a:t>
            </a:r>
            <a:r>
              <a:rPr lang="en-IE" dirty="0"/>
              <a:t> " + result);;</a:t>
            </a:r>
            <a:br>
              <a:rPr lang="en-IE" dirty="0"/>
            </a:br>
            <a:r>
              <a:rPr lang="en-IE" dirty="0"/>
              <a:t>}</a:t>
            </a:r>
          </a:p>
          <a:p>
            <a:br>
              <a:rPr lang="en-US" dirty="0"/>
            </a:br>
            <a:br>
              <a:rPr lang="en-US" dirty="0"/>
            </a:br>
            <a:r>
              <a:rPr lang="en-US" dirty="0"/>
              <a:t>}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3400" y="4955720"/>
            <a:ext cx="5410200" cy="1077218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IE" sz="3200" dirty="0"/>
              <a:t>Q: Which </a:t>
            </a:r>
            <a:r>
              <a:rPr lang="en-IE" sz="3200" dirty="0" err="1"/>
              <a:t>addNum</a:t>
            </a:r>
            <a:r>
              <a:rPr lang="en-IE" sz="3200" dirty="0"/>
              <a:t> method is called and why?</a:t>
            </a:r>
          </a:p>
        </p:txBody>
      </p:sp>
      <p:cxnSp>
        <p:nvCxnSpPr>
          <p:cNvPr id="7" name="Straight Arrow Connector 6"/>
          <p:cNvCxnSpPr/>
          <p:nvPr/>
        </p:nvCxnSpPr>
        <p:spPr>
          <a:xfrm flipH="1" flipV="1">
            <a:off x="1828800" y="3810000"/>
            <a:ext cx="647700" cy="1066800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Picture 7">
            <a:extLst>
              <a:ext uri="{FF2B5EF4-FFF2-40B4-BE49-F238E27FC236}">
                <a16:creationId xmlns:a16="http://schemas.microsoft.com/office/drawing/2014/main" id="{FB0F72FA-0826-CDE7-1252-79AB4D172E7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8085" t="7247" b="46079"/>
          <a:stretch>
            <a:fillRect/>
          </a:stretch>
        </p:blipFill>
        <p:spPr>
          <a:xfrm>
            <a:off x="7162800" y="6032938"/>
            <a:ext cx="2598665" cy="291662"/>
          </a:xfrm>
          <a:prstGeom prst="rect">
            <a:avLst/>
          </a:prstGeom>
          <a:ln w="2286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</p:spTree>
    <p:extLst>
      <p:ext uri="{BB962C8B-B14F-4D97-AF65-F5344CB8AC3E}">
        <p14:creationId xmlns:p14="http://schemas.microsoft.com/office/powerpoint/2010/main" val="25004844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Overloaded methods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600201"/>
            <a:ext cx="11353800" cy="4525963"/>
          </a:xfrm>
        </p:spPr>
        <p:txBody>
          <a:bodyPr>
            <a:normAutofit/>
          </a:bodyPr>
          <a:lstStyle/>
          <a:p>
            <a:r>
              <a:rPr lang="en-IE" dirty="0"/>
              <a:t>When you call a method, </a:t>
            </a:r>
            <a:br>
              <a:rPr lang="en-IE" dirty="0"/>
            </a:br>
            <a:r>
              <a:rPr lang="en-IE" dirty="0"/>
              <a:t>Java </a:t>
            </a:r>
            <a:r>
              <a:rPr lang="en-IE" b="1" dirty="0"/>
              <a:t>matches</a:t>
            </a:r>
            <a:r>
              <a:rPr lang="en-IE" dirty="0"/>
              <a:t> the </a:t>
            </a:r>
            <a:r>
              <a:rPr lang="en-IE" b="1" dirty="0"/>
              <a:t>number and type of the arguments </a:t>
            </a:r>
            <a:r>
              <a:rPr lang="en-IE" dirty="0"/>
              <a:t>you passed to the method, with all the declared methods.  </a:t>
            </a:r>
            <a:br>
              <a:rPr lang="en-IE" dirty="0"/>
            </a:br>
            <a:endParaRPr lang="en-IE" dirty="0"/>
          </a:p>
          <a:p>
            <a:r>
              <a:rPr lang="en-IE" dirty="0"/>
              <a:t>When a match is found, Java invokes that method </a:t>
            </a:r>
            <a:br>
              <a:rPr lang="en-IE" dirty="0"/>
            </a:br>
            <a:r>
              <a:rPr lang="en-IE" dirty="0"/>
              <a:t>e.g. </a:t>
            </a:r>
          </a:p>
          <a:p>
            <a:pPr marL="400050" lvl="1" indent="0">
              <a:buNone/>
            </a:pPr>
            <a:r>
              <a:rPr lang="en-IE" dirty="0">
                <a:solidFill>
                  <a:srgbClr val="FF0000"/>
                </a:solidFill>
              </a:rPr>
              <a:t>	</a:t>
            </a:r>
            <a:r>
              <a:rPr lang="en-IE" dirty="0" err="1">
                <a:solidFill>
                  <a:srgbClr val="FF0000"/>
                </a:solidFill>
              </a:rPr>
              <a:t>addNum</a:t>
            </a:r>
            <a:r>
              <a:rPr lang="en-IE" dirty="0">
                <a:solidFill>
                  <a:srgbClr val="FF0000"/>
                </a:solidFill>
              </a:rPr>
              <a:t> (0, 4) 	</a:t>
            </a:r>
            <a:r>
              <a:rPr lang="en-IE" dirty="0"/>
              <a:t>calls 	void </a:t>
            </a:r>
            <a:r>
              <a:rPr lang="en-IE" b="1" dirty="0" err="1"/>
              <a:t>addNum</a:t>
            </a:r>
            <a:r>
              <a:rPr lang="en-IE" dirty="0"/>
              <a:t> (</a:t>
            </a:r>
            <a:r>
              <a:rPr lang="en-IE" b="1" dirty="0"/>
              <a:t>int</a:t>
            </a:r>
            <a:r>
              <a:rPr lang="en-IE" dirty="0"/>
              <a:t> num1, int num2)</a:t>
            </a:r>
          </a:p>
          <a:p>
            <a:pPr marL="400050" lvl="1" indent="0">
              <a:buNone/>
            </a:pPr>
            <a:r>
              <a:rPr lang="en-IE" dirty="0">
                <a:solidFill>
                  <a:srgbClr val="FF0000"/>
                </a:solidFill>
              </a:rPr>
              <a:t>	</a:t>
            </a:r>
            <a:r>
              <a:rPr lang="en-IE" dirty="0" err="1">
                <a:solidFill>
                  <a:srgbClr val="FF0000"/>
                </a:solidFill>
              </a:rPr>
              <a:t>addNum</a:t>
            </a:r>
            <a:r>
              <a:rPr lang="en-IE" dirty="0">
                <a:solidFill>
                  <a:srgbClr val="FF0000"/>
                </a:solidFill>
              </a:rPr>
              <a:t> (0.0, 4.0) 	</a:t>
            </a:r>
            <a:r>
              <a:rPr lang="en-IE" dirty="0"/>
              <a:t>calls 	void </a:t>
            </a:r>
            <a:r>
              <a:rPr lang="en-IE" b="1" dirty="0" err="1"/>
              <a:t>addNum</a:t>
            </a:r>
            <a:r>
              <a:rPr lang="en-IE" dirty="0"/>
              <a:t> (</a:t>
            </a:r>
            <a:r>
              <a:rPr lang="en-IE" b="1" dirty="0"/>
              <a:t>double</a:t>
            </a:r>
            <a:r>
              <a:rPr lang="en-IE" dirty="0"/>
              <a:t> num1, double num2)</a:t>
            </a:r>
          </a:p>
          <a:p>
            <a:endParaRPr lang="en-IE" dirty="0"/>
          </a:p>
        </p:txBody>
      </p:sp>
      <p:sp>
        <p:nvSpPr>
          <p:cNvPr id="4" name="Rectangle 3"/>
          <p:cNvSpPr/>
          <p:nvPr/>
        </p:nvSpPr>
        <p:spPr>
          <a:xfrm>
            <a:off x="5105400" y="6581002"/>
            <a:ext cx="5562600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IE" sz="1200" dirty="0"/>
              <a:t>Source:  </a:t>
            </a:r>
            <a:r>
              <a:rPr lang="en-IE" sz="1200" dirty="0" err="1"/>
              <a:t>Reas</a:t>
            </a:r>
            <a:r>
              <a:rPr lang="en-IE" sz="1200" dirty="0"/>
              <a:t> &amp; Fry (2014)</a:t>
            </a:r>
          </a:p>
        </p:txBody>
      </p:sp>
    </p:spTree>
    <p:extLst>
      <p:ext uri="{BB962C8B-B14F-4D97-AF65-F5344CB8AC3E}">
        <p14:creationId xmlns:p14="http://schemas.microsoft.com/office/powerpoint/2010/main" val="278718532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8CFD4B-6B9E-0CC2-5621-1C414C8E83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Key features of Method Overloading</a:t>
            </a:r>
            <a:endParaRPr lang="en-I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C79750-691C-3A9C-BE52-9B381EFA60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10972800" cy="4906963"/>
          </a:xfrm>
        </p:spPr>
        <p:txBody>
          <a:bodyPr>
            <a:normAutofit fontScale="92500" lnSpcReduction="20000"/>
          </a:bodyPr>
          <a:lstStyle/>
          <a:p>
            <a:pPr fontAlgn="base"/>
            <a:r>
              <a:rPr lang="en-US" dirty="0"/>
              <a:t>Multiple methods can share the same name in a class when their parameter lists are different.</a:t>
            </a:r>
          </a:p>
          <a:p>
            <a:pPr fontAlgn="base"/>
            <a:r>
              <a:rPr lang="en-US" dirty="0"/>
              <a:t>Overloading is a way to increase flexibility and improve the readability of code.</a:t>
            </a:r>
          </a:p>
          <a:p>
            <a:pPr fontAlgn="base"/>
            <a:r>
              <a:rPr lang="en-US" dirty="0"/>
              <a:t>Overloading does not depend on the return type of the method, two methods cannot be overloaded by just changing the return type.</a:t>
            </a:r>
          </a:p>
          <a:p>
            <a:r>
              <a:rPr lang="en-IE" dirty="0"/>
              <a:t>It does depend on:</a:t>
            </a:r>
          </a:p>
          <a:p>
            <a:pPr lvl="1" fontAlgn="base"/>
            <a:r>
              <a:rPr lang="en-US" dirty="0"/>
              <a:t>The number of parameters</a:t>
            </a:r>
          </a:p>
          <a:p>
            <a:pPr lvl="1" fontAlgn="base"/>
            <a:r>
              <a:rPr lang="en-US" dirty="0"/>
              <a:t>The types of parameters</a:t>
            </a:r>
          </a:p>
          <a:p>
            <a:pPr lvl="1" fontAlgn="base"/>
            <a:r>
              <a:rPr lang="en-US" dirty="0"/>
              <a:t>The order of parameters</a:t>
            </a:r>
          </a:p>
          <a:p>
            <a:pPr lvl="1"/>
            <a:endParaRPr lang="en-IE" dirty="0"/>
          </a:p>
        </p:txBody>
      </p:sp>
    </p:spTree>
    <p:extLst>
      <p:ext uri="{BB962C8B-B14F-4D97-AF65-F5344CB8AC3E}">
        <p14:creationId xmlns:p14="http://schemas.microsoft.com/office/powerpoint/2010/main" val="20913132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Questions?</a:t>
            </a:r>
          </a:p>
        </p:txBody>
      </p:sp>
      <p:pic>
        <p:nvPicPr>
          <p:cNvPr id="3" name="Picture 2" descr="A green question mark in a circle&#10;&#10;AI-generated content may be incorrect.">
            <a:extLst>
              <a:ext uri="{FF2B5EF4-FFF2-40B4-BE49-F238E27FC236}">
                <a16:creationId xmlns:a16="http://schemas.microsoft.com/office/drawing/2014/main" id="{42E40003-E6FE-FEF3-03C3-52585FF3A3E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52800" y="1600200"/>
            <a:ext cx="5257800" cy="5257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5503280"/>
      </p:ext>
    </p:extLst>
  </p:cSld>
  <p:clrMapOvr>
    <a:masterClrMapping/>
  </p:clrMapOvr>
</p:sld>
</file>

<file path=ppt/theme/theme1.xml><?xml version="1.0" encoding="utf-8"?>
<a:theme xmlns:a="http://schemas.openxmlformats.org/drawingml/2006/main" name="a-processing-mouse-event-methods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139</TotalTime>
  <Words>1903</Words>
  <Application>Microsoft Macintosh PowerPoint</Application>
  <PresentationFormat>Widescreen</PresentationFormat>
  <Paragraphs>329</Paragraphs>
  <Slides>33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38" baseType="lpstr">
      <vt:lpstr>Arial</vt:lpstr>
      <vt:lpstr>Calibri</vt:lpstr>
      <vt:lpstr>Consolas</vt:lpstr>
      <vt:lpstr>Lucida Sans Typewriter</vt:lpstr>
      <vt:lpstr>a-processing-mouse-event-methods</vt:lpstr>
      <vt:lpstr>Using Methods</vt:lpstr>
      <vt:lpstr>Topics list</vt:lpstr>
      <vt:lpstr>Return Type</vt:lpstr>
      <vt:lpstr>Parameter list</vt:lpstr>
      <vt:lpstr>Return a double</vt:lpstr>
      <vt:lpstr>Example 1 – Farenheit to Celsius</vt:lpstr>
      <vt:lpstr>Example 1 – Updated </vt:lpstr>
      <vt:lpstr>Topics list</vt:lpstr>
      <vt:lpstr>Example: Cubed</vt:lpstr>
      <vt:lpstr>Topics list</vt:lpstr>
      <vt:lpstr>Example: Product</vt:lpstr>
      <vt:lpstr>Topics list</vt:lpstr>
      <vt:lpstr>What is a Boolean Method?</vt:lpstr>
      <vt:lpstr>Syntax – Defining a Boolean Method</vt:lpstr>
      <vt:lpstr>PowerPoint Presentation</vt:lpstr>
      <vt:lpstr>PowerPoint Presentation</vt:lpstr>
      <vt:lpstr>PowerPoint Presentation</vt:lpstr>
      <vt:lpstr>Using a Boolean Method</vt:lpstr>
      <vt:lpstr>Boolean Method with Objects</vt:lpstr>
      <vt:lpstr>Typical Boolean Method Names</vt:lpstr>
      <vt:lpstr>Why Use Boolean Methods?</vt:lpstr>
      <vt:lpstr>Other Examples</vt:lpstr>
      <vt:lpstr>PowerPoint Presentation</vt:lpstr>
      <vt:lpstr>PowerPoint Presentation</vt:lpstr>
      <vt:lpstr>PowerPoint Presentation</vt:lpstr>
      <vt:lpstr>Topics list</vt:lpstr>
      <vt:lpstr>Overloaded methods</vt:lpstr>
      <vt:lpstr>Overloaded methods</vt:lpstr>
      <vt:lpstr>Overloaded methods</vt:lpstr>
      <vt:lpstr>Overloaded methods</vt:lpstr>
      <vt:lpstr>Overloaded methods</vt:lpstr>
      <vt:lpstr>Key features of Method Overloading</vt:lpstr>
      <vt:lpstr>Questions?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More on Methods</dc:title>
  <dc:creator>Siobhan Drohan</dc:creator>
  <cp:lastModifiedBy>Mairead Meagher</cp:lastModifiedBy>
  <cp:revision>329</cp:revision>
  <dcterms:created xsi:type="dcterms:W3CDTF">2006-08-16T00:00:00Z</dcterms:created>
  <dcterms:modified xsi:type="dcterms:W3CDTF">2025-11-03T21:20:36Z</dcterms:modified>
</cp:coreProperties>
</file>