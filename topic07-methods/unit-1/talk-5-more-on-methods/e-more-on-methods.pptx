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5"/>
  </p:notesMasterIdLst>
  <p:sldIdLst>
    <p:sldId id="394" r:id="rId2"/>
    <p:sldId id="419" r:id="rId3"/>
    <p:sldId id="284" r:id="rId4"/>
    <p:sldId id="282" r:id="rId5"/>
    <p:sldId id="400" r:id="rId6"/>
    <p:sldId id="370" r:id="rId7"/>
    <p:sldId id="376" r:id="rId8"/>
    <p:sldId id="420" r:id="rId9"/>
    <p:sldId id="401" r:id="rId10"/>
    <p:sldId id="421" r:id="rId11"/>
    <p:sldId id="403" r:id="rId12"/>
    <p:sldId id="418" r:id="rId13"/>
    <p:sldId id="256" r:id="rId14"/>
    <p:sldId id="257" r:id="rId15"/>
    <p:sldId id="424" r:id="rId16"/>
    <p:sldId id="425" r:id="rId17"/>
    <p:sldId id="426" r:id="rId18"/>
    <p:sldId id="258" r:id="rId19"/>
    <p:sldId id="259" r:id="rId20"/>
    <p:sldId id="260" r:id="rId21"/>
    <p:sldId id="261" r:id="rId22"/>
    <p:sldId id="262" r:id="rId23"/>
    <p:sldId id="427" r:id="rId24"/>
    <p:sldId id="428" r:id="rId25"/>
    <p:sldId id="429" r:id="rId26"/>
    <p:sldId id="417" r:id="rId27"/>
    <p:sldId id="367" r:id="rId28"/>
    <p:sldId id="368" r:id="rId29"/>
    <p:sldId id="369" r:id="rId30"/>
    <p:sldId id="371" r:id="rId31"/>
    <p:sldId id="372" r:id="rId32"/>
    <p:sldId id="399" r:id="rId33"/>
    <p:sldId id="347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11" autoAdjust="0"/>
    <p:restoredTop sz="88997" autoAdjust="0"/>
  </p:normalViewPr>
  <p:slideViewPr>
    <p:cSldViewPr>
      <p:cViewPr varScale="1">
        <p:scale>
          <a:sx n="106" d="100"/>
          <a:sy n="106" d="100"/>
        </p:scale>
        <p:origin x="384" y="17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64864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64864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// Cubed</a:t>
            </a:r>
          </a:p>
          <a:p>
            <a:endParaRPr lang="en-GB" dirty="0"/>
          </a:p>
          <a:p>
            <a:r>
              <a:rPr lang="en-GB" dirty="0"/>
              <a:t>void setup 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size(1024,768);</a:t>
            </a:r>
          </a:p>
          <a:p>
            <a:r>
              <a:rPr lang="en-GB" dirty="0"/>
              <a:t>  </a:t>
            </a:r>
            <a:r>
              <a:rPr lang="en-GB" dirty="0" err="1"/>
              <a:t>textSize</a:t>
            </a:r>
            <a:r>
              <a:rPr lang="en-GB" dirty="0"/>
              <a:t>(40);</a:t>
            </a:r>
          </a:p>
          <a:p>
            <a:r>
              <a:rPr lang="en-GB" dirty="0"/>
              <a:t>  fill(0,0,255);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void draw()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int number = 5;</a:t>
            </a:r>
          </a:p>
          <a:p>
            <a:r>
              <a:rPr lang="en-GB" dirty="0"/>
              <a:t>  text (number + " cubed is " + cubed(number), 100,100 );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int cubed (int </a:t>
            </a:r>
            <a:r>
              <a:rPr lang="en-GB" dirty="0" err="1"/>
              <a:t>num</a:t>
            </a:r>
            <a:r>
              <a:rPr lang="en-GB" dirty="0"/>
              <a:t>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return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;</a:t>
            </a:r>
          </a:p>
          <a:p>
            <a:r>
              <a:rPr lang="en-GB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82691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// Cubed</a:t>
            </a:r>
          </a:p>
          <a:p>
            <a:endParaRPr lang="en-GB" dirty="0"/>
          </a:p>
          <a:p>
            <a:r>
              <a:rPr lang="en-GB" dirty="0"/>
              <a:t>void setup 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size(1024,768);</a:t>
            </a:r>
          </a:p>
          <a:p>
            <a:r>
              <a:rPr lang="en-GB" dirty="0"/>
              <a:t>  </a:t>
            </a:r>
            <a:r>
              <a:rPr lang="en-GB" dirty="0" err="1"/>
              <a:t>textSize</a:t>
            </a:r>
            <a:r>
              <a:rPr lang="en-GB" dirty="0"/>
              <a:t>(40);</a:t>
            </a:r>
          </a:p>
          <a:p>
            <a:r>
              <a:rPr lang="en-GB" dirty="0"/>
              <a:t>  fill(0,0,255);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void draw()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int number = 5;</a:t>
            </a:r>
          </a:p>
          <a:p>
            <a:r>
              <a:rPr lang="en-GB" dirty="0"/>
              <a:t>  text (number + " cubed is " + cubed(5), 100,100 );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int cubed (int </a:t>
            </a:r>
            <a:r>
              <a:rPr lang="en-GB" dirty="0" err="1"/>
              <a:t>num</a:t>
            </a:r>
            <a:r>
              <a:rPr lang="en-GB" dirty="0"/>
              <a:t>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return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;</a:t>
            </a:r>
          </a:p>
          <a:p>
            <a:r>
              <a:rPr lang="en-GB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76003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37666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176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892B85F-557B-F9E2-C50B-3042DFC110D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5FA2E9F-73BB-FD52-A53B-C094AFE65CC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2999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795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2D2E4A1-65B5-03C2-8CE1-E3378C428A5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D503AC-97C3-C237-414A-2978F16A961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060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0B0825-D3AE-1DCF-188E-BEEE22CD051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2111A0-9566-74EF-C031-8E358042592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9861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4D56157-6AD7-12A5-4FE9-43452AFB28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DBAB16D-4E56-8C6B-4A76-5A7F244A2E4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762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03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53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287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878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582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506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99687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1070517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182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328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Using Methods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More on writing methods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2B9C0C-FB1E-41E0-9281-3F67413B6C9E}"/>
              </a:ext>
            </a:extLst>
          </p:cNvPr>
          <p:cNvSpPr txBox="1"/>
          <p:nvPr/>
        </p:nvSpPr>
        <p:spPr>
          <a:xfrm>
            <a:off x="3810000" y="3817204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Mr. Colm Dunphy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Mairead Meagher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01175D-DAA8-1F79-AB24-1C1E53A68D05}"/>
              </a:ext>
            </a:extLst>
          </p:cNvPr>
          <p:cNvSpPr txBox="1"/>
          <p:nvPr/>
        </p:nvSpPr>
        <p:spPr>
          <a:xfrm>
            <a:off x="4288221" y="6009985"/>
            <a:ext cx="6206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 err="1">
                <a:solidFill>
                  <a:schemeClr val="tx2">
                    <a:lumMod val="75000"/>
                  </a:schemeClr>
                </a:solidFill>
              </a:rPr>
              <a:t>setu.ie</a:t>
            </a:r>
            <a:endParaRPr lang="en-IE" sz="16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A9CCA31-63D8-F9B1-EBD4-63D2C2E558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049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5B6AF-072C-A9C1-1863-398830BB9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9D5B6-59DB-8A5F-DC09-D99C93C40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0D0626-156E-BA6F-8614-93BC3D5DF7FF}"/>
              </a:ext>
            </a:extLst>
          </p:cNvPr>
          <p:cNvSpPr/>
          <p:nvPr/>
        </p:nvSpPr>
        <p:spPr>
          <a:xfrm>
            <a:off x="1728789" y="3200400"/>
            <a:ext cx="46482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80E9EB5-7D9C-7F33-2593-002DAF7EF03E}"/>
              </a:ext>
            </a:extLst>
          </p:cNvPr>
          <p:cNvSpPr txBox="1">
            <a:spLocks/>
          </p:cNvSpPr>
          <p:nvPr/>
        </p:nvSpPr>
        <p:spPr>
          <a:xfrm>
            <a:off x="914400" y="2332037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1154549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Return Type</a:t>
            </a:r>
            <a:endParaRPr lang="en-IE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1379200" cy="4525963"/>
          </a:xfrm>
        </p:spPr>
        <p:txBody>
          <a:bodyPr>
            <a:normAutofit fontScale="85000" lnSpcReduction="20000"/>
          </a:bodyPr>
          <a:lstStyle/>
          <a:p>
            <a:endParaRPr lang="en-IE" dirty="0"/>
          </a:p>
          <a:p>
            <a:r>
              <a:rPr lang="en-IE" dirty="0"/>
              <a:t>Methods can return information. </a:t>
            </a:r>
            <a:br>
              <a:rPr lang="en-IE" dirty="0"/>
            </a:br>
            <a:endParaRPr lang="en-IE" dirty="0"/>
          </a:p>
          <a:p>
            <a:r>
              <a:rPr lang="en-IE" dirty="0"/>
              <a:t>The </a:t>
            </a:r>
            <a:r>
              <a:rPr lang="en-IE" dirty="0">
                <a:solidFill>
                  <a:srgbClr val="FF0000"/>
                </a:solidFill>
              </a:rPr>
              <a:t>void</a:t>
            </a:r>
            <a:r>
              <a:rPr lang="en-IE" dirty="0"/>
              <a:t> keyword just before the method name </a:t>
            </a:r>
            <a:br>
              <a:rPr lang="en-IE" dirty="0"/>
            </a:br>
            <a:r>
              <a:rPr lang="en-IE" dirty="0"/>
              <a:t>means that </a:t>
            </a:r>
            <a:r>
              <a:rPr lang="en-IE" b="1" dirty="0"/>
              <a:t>nothing is returned</a:t>
            </a:r>
            <a:r>
              <a:rPr lang="en-IE" dirty="0"/>
              <a:t> from the method.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a data type (e.g. </a:t>
            </a:r>
            <a:r>
              <a:rPr lang="en-IE" dirty="0">
                <a:solidFill>
                  <a:srgbClr val="FF0000"/>
                </a:solidFill>
              </a:rPr>
              <a:t>int</a:t>
            </a:r>
            <a:r>
              <a:rPr lang="en-IE" dirty="0"/>
              <a:t>) </a:t>
            </a:r>
            <a:br>
              <a:rPr lang="en-IE" dirty="0"/>
            </a:br>
            <a:r>
              <a:rPr lang="en-IE" dirty="0"/>
              <a:t>appears before the method name, </a:t>
            </a:r>
            <a:br>
              <a:rPr lang="en-IE" dirty="0"/>
            </a:br>
            <a:r>
              <a:rPr lang="en-IE" dirty="0"/>
              <a:t>this means that </a:t>
            </a:r>
            <a:r>
              <a:rPr lang="en-IE" b="1" dirty="0"/>
              <a:t>something is returned</a:t>
            </a:r>
            <a:r>
              <a:rPr lang="en-IE" dirty="0"/>
              <a:t> from the method.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Within the body of the method, </a:t>
            </a:r>
            <a:br>
              <a:rPr lang="en-IE" dirty="0"/>
            </a:br>
            <a:r>
              <a:rPr lang="en-IE" dirty="0"/>
              <a:t>you use the </a:t>
            </a:r>
            <a:r>
              <a:rPr lang="en-IE" b="1" dirty="0">
                <a:solidFill>
                  <a:srgbClr val="FF0000"/>
                </a:solidFill>
              </a:rPr>
              <a:t>return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statement to </a:t>
            </a:r>
            <a:r>
              <a:rPr lang="en-IE" b="1" dirty="0"/>
              <a:t>return the value</a:t>
            </a:r>
            <a:r>
              <a:rPr lang="en-IE" dirty="0"/>
              <a:t>. 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A5DFA9-4192-19FD-2FCB-254A7C19D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0" y="327231"/>
            <a:ext cx="3429000" cy="17347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D1C5C1B-3222-0132-5253-621A9B649E7A}"/>
              </a:ext>
            </a:extLst>
          </p:cNvPr>
          <p:cNvSpPr/>
          <p:nvPr/>
        </p:nvSpPr>
        <p:spPr>
          <a:xfrm>
            <a:off x="8420911" y="4187172"/>
            <a:ext cx="3657600" cy="19389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FF0000"/>
                </a:solidFill>
              </a:rPr>
              <a:t>int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 err="1"/>
              <a:t>timesTwo</a:t>
            </a:r>
            <a:r>
              <a:rPr lang="en-IE" sz="2400" dirty="0"/>
              <a:t>(int </a:t>
            </a:r>
            <a:r>
              <a:rPr lang="en-IE" sz="2400" dirty="0">
                <a:solidFill>
                  <a:srgbClr val="00B0F0"/>
                </a:solidFill>
              </a:rPr>
              <a:t>number</a:t>
            </a:r>
            <a:r>
              <a:rPr lang="en-IE" sz="2400" dirty="0"/>
              <a:t>)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number = number * 2; </a:t>
            </a:r>
          </a:p>
          <a:p>
            <a:r>
              <a:rPr lang="en-IE" sz="2400" dirty="0"/>
              <a:t>    </a:t>
            </a:r>
            <a:r>
              <a:rPr lang="en-IE" sz="2400" b="1" dirty="0">
                <a:solidFill>
                  <a:schemeClr val="tx1"/>
                </a:solidFill>
              </a:rPr>
              <a:t>return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/>
              <a:t>number; </a:t>
            </a:r>
          </a:p>
          <a:p>
            <a:r>
              <a:rPr lang="en-IE" sz="2400" dirty="0"/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98390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Parameter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452596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IE" dirty="0"/>
          </a:p>
          <a:p>
            <a:r>
              <a:rPr lang="en-IE" dirty="0"/>
              <a:t>Methods </a:t>
            </a:r>
            <a:r>
              <a:rPr lang="en-IE" b="1" dirty="0"/>
              <a:t>take in data </a:t>
            </a:r>
            <a:r>
              <a:rPr lang="en-IE" dirty="0"/>
              <a:t>via their </a:t>
            </a:r>
            <a:r>
              <a:rPr lang="en-IE" b="1" dirty="0"/>
              <a:t>parameters</a:t>
            </a:r>
            <a:r>
              <a:rPr lang="en-IE" dirty="0"/>
              <a:t>.</a:t>
            </a:r>
          </a:p>
          <a:p>
            <a:endParaRPr lang="en-IE" dirty="0"/>
          </a:p>
          <a:p>
            <a:r>
              <a:rPr lang="en-IE" dirty="0"/>
              <a:t>Methods do not have to pass parameters </a:t>
            </a:r>
          </a:p>
          <a:p>
            <a:endParaRPr lang="en-IE" dirty="0"/>
          </a:p>
          <a:p>
            <a:r>
              <a:rPr lang="en-IE" dirty="0"/>
              <a:t>A </a:t>
            </a:r>
            <a:r>
              <a:rPr lang="en-IE" b="1" dirty="0"/>
              <a:t>parameter</a:t>
            </a:r>
            <a:r>
              <a:rPr lang="en-IE" dirty="0"/>
              <a:t> is a </a:t>
            </a:r>
            <a:r>
              <a:rPr lang="en-IE" b="1" dirty="0"/>
              <a:t>variable declaration </a:t>
            </a:r>
            <a:r>
              <a:rPr lang="en-IE" dirty="0"/>
              <a:t>–</a:t>
            </a:r>
          </a:p>
          <a:p>
            <a:pPr lvl="1"/>
            <a:r>
              <a:rPr lang="en-IE" sz="2000" dirty="0"/>
              <a:t>it has a </a:t>
            </a:r>
            <a:r>
              <a:rPr lang="en-IE" sz="2000" b="1" dirty="0"/>
              <a:t>type</a:t>
            </a:r>
            <a:r>
              <a:rPr lang="en-IE" sz="2000" dirty="0"/>
              <a:t> (e.g. int) </a:t>
            </a:r>
            <a:br>
              <a:rPr lang="en-IE" sz="2000" dirty="0"/>
            </a:br>
            <a:r>
              <a:rPr lang="en-IE" sz="2000" dirty="0"/>
              <a:t>and a </a:t>
            </a:r>
            <a:r>
              <a:rPr lang="en-IE" sz="2000" b="1" dirty="0"/>
              <a:t>name</a:t>
            </a:r>
            <a:r>
              <a:rPr lang="en-IE" sz="2000" dirty="0"/>
              <a:t> (e.g. </a:t>
            </a:r>
            <a:r>
              <a:rPr lang="en-IE" sz="2000" dirty="0" err="1"/>
              <a:t>num</a:t>
            </a:r>
            <a:r>
              <a:rPr lang="en-IE" sz="2000" dirty="0"/>
              <a:t>). </a:t>
            </a:r>
          </a:p>
          <a:p>
            <a:pPr lvl="1"/>
            <a:endParaRPr lang="en-IE" sz="2000" dirty="0"/>
          </a:p>
          <a:p>
            <a:r>
              <a:rPr lang="en-IE" dirty="0"/>
              <a:t>If a method needs additional information to execute, </a:t>
            </a:r>
            <a:br>
              <a:rPr lang="en-IE" dirty="0"/>
            </a:br>
            <a:r>
              <a:rPr lang="en-IE" dirty="0"/>
              <a:t>we provide a parameter, so that the information can be passed into it. </a:t>
            </a:r>
          </a:p>
          <a:p>
            <a:endParaRPr lang="en-IE" dirty="0"/>
          </a:p>
          <a:p>
            <a:r>
              <a:rPr lang="en-IE" dirty="0"/>
              <a:t>Methods can have </a:t>
            </a:r>
            <a:r>
              <a:rPr lang="en-IE" b="1" dirty="0"/>
              <a:t>any number of parameters</a:t>
            </a:r>
            <a:br>
              <a:rPr lang="en-IE" dirty="0"/>
            </a:br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A8175D-C7D7-B614-ED0D-1BE82E1DB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195" y="381000"/>
            <a:ext cx="4290630" cy="184452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88C612D-6181-9045-0054-4A5A7088970F}"/>
              </a:ext>
            </a:extLst>
          </p:cNvPr>
          <p:cNvSpPr/>
          <p:nvPr/>
        </p:nvSpPr>
        <p:spPr>
          <a:xfrm>
            <a:off x="8382000" y="2459504"/>
            <a:ext cx="3657600" cy="19389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FF0000"/>
                </a:solidFill>
              </a:rPr>
              <a:t>int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 err="1"/>
              <a:t>timesTwo</a:t>
            </a:r>
            <a:r>
              <a:rPr lang="en-IE" sz="2400" dirty="0"/>
              <a:t>(int </a:t>
            </a:r>
            <a:r>
              <a:rPr lang="en-IE" sz="2400" dirty="0">
                <a:solidFill>
                  <a:srgbClr val="00B0F0"/>
                </a:solidFill>
              </a:rPr>
              <a:t>number</a:t>
            </a:r>
            <a:r>
              <a:rPr lang="en-IE" sz="2400" dirty="0"/>
              <a:t>)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number = number * 2; </a:t>
            </a:r>
          </a:p>
          <a:p>
            <a:r>
              <a:rPr lang="en-IE" sz="2400" dirty="0"/>
              <a:t>    </a:t>
            </a:r>
            <a:r>
              <a:rPr lang="en-IE" sz="2400" b="1" dirty="0">
                <a:solidFill>
                  <a:schemeClr val="tx1"/>
                </a:solidFill>
              </a:rPr>
              <a:t>return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/>
              <a:t>number; </a:t>
            </a:r>
          </a:p>
          <a:p>
            <a:r>
              <a:rPr lang="en-IE" sz="2400" dirty="0"/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755135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8FF8-C426-5641-9EEE-A9D275ED7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Return a double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F0D0B-4B66-4A4B-A7FC-A1E67A84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b="1" dirty="0"/>
          </a:p>
          <a:p>
            <a:r>
              <a:rPr lang="en-GB" dirty="0"/>
              <a:t>Now we consider an example where the method </a:t>
            </a:r>
            <a:r>
              <a:rPr lang="en-GB" b="1" dirty="0"/>
              <a:t>does return a value</a:t>
            </a:r>
            <a:r>
              <a:rPr lang="en-GB" dirty="0"/>
              <a:t> (which could be any data type) but in this next example it returns a </a:t>
            </a:r>
            <a:r>
              <a:rPr lang="en-GB" b="1" dirty="0"/>
              <a:t>double.</a:t>
            </a:r>
          </a:p>
        </p:txBody>
      </p:sp>
    </p:spTree>
    <p:extLst>
      <p:ext uri="{BB962C8B-B14F-4D97-AF65-F5344CB8AC3E}">
        <p14:creationId xmlns:p14="http://schemas.microsoft.com/office/powerpoint/2010/main" val="1554283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952500" y="1676400"/>
            <a:ext cx="6629400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celsius</a:t>
            </a:r>
            <a:r>
              <a:rPr lang="en-IE" sz="2400" dirty="0"/>
              <a:t> = </a:t>
            </a:r>
            <a:r>
              <a:rPr lang="en-IE" sz="2400" b="1" dirty="0" err="1"/>
              <a:t>farenheitToCelsius</a:t>
            </a:r>
            <a:r>
              <a:rPr lang="en-IE" sz="2400" dirty="0"/>
              <a:t> (451.0);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("Celsius value is: " + </a:t>
            </a:r>
            <a:r>
              <a:rPr lang="en-IE" sz="2400" dirty="0" err="1"/>
              <a:t>celsius</a:t>
            </a:r>
            <a:r>
              <a:rPr lang="en-IE" sz="2400" dirty="0"/>
              <a:t>);</a:t>
            </a:r>
          </a:p>
          <a:p>
            <a:endParaRPr lang="en-IE" sz="2400" dirty="0"/>
          </a:p>
        </p:txBody>
      </p:sp>
      <p:sp>
        <p:nvSpPr>
          <p:cNvPr id="4" name="Rectangle 3"/>
          <p:cNvSpPr/>
          <p:nvPr/>
        </p:nvSpPr>
        <p:spPr>
          <a:xfrm>
            <a:off x="3733800" y="4419600"/>
            <a:ext cx="6629400" cy="19389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b="1" dirty="0" err="1"/>
              <a:t>farenheitToCelsius</a:t>
            </a:r>
            <a:r>
              <a:rPr lang="en-IE" sz="2400" b="1" dirty="0"/>
              <a:t> </a:t>
            </a:r>
            <a:r>
              <a:rPr lang="en-IE" sz="2400" dirty="0"/>
              <a:t>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double result = 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     </a:t>
            </a:r>
            <a:r>
              <a:rPr lang="en-IE" sz="2400" b="1" dirty="0"/>
              <a:t>return</a:t>
            </a:r>
            <a:r>
              <a:rPr lang="en-IE" sz="2400" dirty="0"/>
              <a:t> result;</a:t>
            </a:r>
          </a:p>
          <a:p>
            <a:r>
              <a:rPr lang="en-IE" sz="2400" dirty="0"/>
              <a:t>}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E122D9D-D92A-CD4C-B107-8F30936DD0EE}"/>
              </a:ext>
            </a:extLst>
          </p:cNvPr>
          <p:cNvCxnSpPr>
            <a:cxnSpLocks/>
          </p:cNvCxnSpPr>
          <p:nvPr/>
        </p:nvCxnSpPr>
        <p:spPr>
          <a:xfrm>
            <a:off x="6147549" y="2139790"/>
            <a:ext cx="1777251" cy="235601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Example 1 </a:t>
            </a:r>
            <a:r>
              <a:rPr lang="en-IE" dirty="0"/>
              <a:t>– </a:t>
            </a:r>
            <a:r>
              <a:rPr lang="en-IE" dirty="0" err="1"/>
              <a:t>Farenheit</a:t>
            </a:r>
            <a:r>
              <a:rPr lang="en-IE" dirty="0"/>
              <a:t> to Celsius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733801"/>
            <a:ext cx="3679556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Celsius value is: 232.77779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0" y="1685441"/>
            <a:ext cx="1752600" cy="156966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 err="1"/>
              <a:t>Farenheit</a:t>
            </a:r>
            <a:r>
              <a:rPr lang="en-IE" sz="2400" dirty="0"/>
              <a:t> value is hardcoded as a literal.</a:t>
            </a:r>
          </a:p>
        </p:txBody>
      </p:sp>
      <p:cxnSp>
        <p:nvCxnSpPr>
          <p:cNvPr id="9" name="Straight Arrow Connector 8"/>
          <p:cNvCxnSpPr>
            <a:stCxn id="7" idx="1"/>
          </p:cNvCxnSpPr>
          <p:nvPr/>
        </p:nvCxnSpPr>
        <p:spPr>
          <a:xfrm flipH="1">
            <a:off x="7391400" y="2470272"/>
            <a:ext cx="1143000" cy="1756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5562600" y="2819400"/>
            <a:ext cx="76200" cy="160020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670" y="4227210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cxnSp>
        <p:nvCxnSpPr>
          <p:cNvPr id="16" name="Straight Arrow Connector 15"/>
          <p:cNvCxnSpPr>
            <a:cxnSpLocks/>
            <a:stCxn id="15" idx="3"/>
          </p:cNvCxnSpPr>
          <p:nvPr/>
        </p:nvCxnSpPr>
        <p:spPr>
          <a:xfrm>
            <a:off x="2158070" y="4458043"/>
            <a:ext cx="1502139" cy="27109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cxnSp>
        <p:nvCxnSpPr>
          <p:cNvPr id="14" name="Straight Arrow Connector 13"/>
          <p:cNvCxnSpPr>
            <a:cxnSpLocks/>
          </p:cNvCxnSpPr>
          <p:nvPr/>
        </p:nvCxnSpPr>
        <p:spPr>
          <a:xfrm flipH="1" flipV="1">
            <a:off x="2631519" y="2023810"/>
            <a:ext cx="2397681" cy="3767391"/>
          </a:xfrm>
          <a:prstGeom prst="straightConnector1">
            <a:avLst/>
          </a:prstGeom>
          <a:ln w="28575">
            <a:solidFill>
              <a:schemeClr val="accent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cxnSpLocks/>
          </p:cNvCxnSpPr>
          <p:nvPr/>
        </p:nvCxnSpPr>
        <p:spPr>
          <a:xfrm>
            <a:off x="3439027" y="2584315"/>
            <a:ext cx="2542673" cy="311286"/>
          </a:xfrm>
          <a:prstGeom prst="straightConnector1">
            <a:avLst/>
          </a:prstGeom>
          <a:ln w="28575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6096001" y="3193720"/>
            <a:ext cx="677157" cy="540080"/>
          </a:xfrm>
          <a:prstGeom prst="straightConnector1">
            <a:avLst/>
          </a:prstGeom>
          <a:ln w="28575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cxnSpLocks/>
            <a:stCxn id="15" idx="0"/>
          </p:cNvCxnSpPr>
          <p:nvPr/>
        </p:nvCxnSpPr>
        <p:spPr>
          <a:xfrm flipV="1">
            <a:off x="1319870" y="2777574"/>
            <a:ext cx="1000808" cy="144963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4C3A17F-D07D-A74F-9638-E6B0F34F3032}"/>
              </a:ext>
            </a:extLst>
          </p:cNvPr>
          <p:cNvSpPr txBox="1"/>
          <p:nvPr/>
        </p:nvSpPr>
        <p:spPr>
          <a:xfrm>
            <a:off x="6147549" y="499967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451.0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7FBFA3-E95B-9A4C-B58D-A063A855CD90}"/>
              </a:ext>
            </a:extLst>
          </p:cNvPr>
          <p:cNvSpPr txBox="1"/>
          <p:nvPr/>
        </p:nvSpPr>
        <p:spPr>
          <a:xfrm>
            <a:off x="7621123" y="471821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451.0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8C9CD-6C99-1442-8126-2AE8E3CD1D12}"/>
              </a:ext>
            </a:extLst>
          </p:cNvPr>
          <p:cNvCxnSpPr>
            <a:cxnSpLocks/>
            <a:stCxn id="19" idx="1"/>
            <a:endCxn id="8" idx="3"/>
          </p:cNvCxnSpPr>
          <p:nvPr/>
        </p:nvCxnSpPr>
        <p:spPr>
          <a:xfrm flipH="1">
            <a:off x="6858000" y="4902876"/>
            <a:ext cx="763123" cy="2814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A2E27BD-6768-A349-99D1-FE8AC46A7FBA}"/>
              </a:ext>
            </a:extLst>
          </p:cNvPr>
          <p:cNvSpPr txBox="1"/>
          <p:nvPr/>
        </p:nvSpPr>
        <p:spPr>
          <a:xfrm>
            <a:off x="4439936" y="4996934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232.77779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8FA346-3B58-0B40-AE95-1D7C0727E37B}"/>
              </a:ext>
            </a:extLst>
          </p:cNvPr>
          <p:cNvSpPr txBox="1"/>
          <p:nvPr/>
        </p:nvSpPr>
        <p:spPr>
          <a:xfrm>
            <a:off x="2176036" y="2428376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232.77779</a:t>
            </a:r>
          </a:p>
        </p:txBody>
      </p:sp>
    </p:spTree>
    <p:extLst>
      <p:ext uri="{BB962C8B-B14F-4D97-AF65-F5344CB8AC3E}">
        <p14:creationId xmlns:p14="http://schemas.microsoft.com/office/powerpoint/2010/main" val="286774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15" grpId="0" animBg="1"/>
      <p:bldP spid="8" grpId="0"/>
      <p:bldP spid="19" grpId="0"/>
      <p:bldP spid="27" grpId="0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Example 1 – Updated 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9600" y="4419600"/>
            <a:ext cx="5715000" cy="156966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farenheitToCelsius</a:t>
            </a:r>
            <a:r>
              <a:rPr lang="en-IE" sz="2400" dirty="0"/>
              <a:t> 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 </a:t>
            </a:r>
            <a:r>
              <a:rPr lang="en-IE" sz="2400" b="1" dirty="0"/>
              <a:t>return</a:t>
            </a:r>
            <a:r>
              <a:rPr lang="en-IE" sz="2400" dirty="0"/>
              <a:t> 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767792"/>
            <a:ext cx="3234847" cy="83099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both methods are exactly the same</a:t>
            </a:r>
          </a:p>
        </p:txBody>
      </p:sp>
      <p:cxnSp>
        <p:nvCxnSpPr>
          <p:cNvPr id="16" name="Straight Arrow Connector 15"/>
          <p:cNvCxnSpPr>
            <a:cxnSpLocks/>
          </p:cNvCxnSpPr>
          <p:nvPr/>
        </p:nvCxnSpPr>
        <p:spPr>
          <a:xfrm>
            <a:off x="3200400" y="4598789"/>
            <a:ext cx="1143000" cy="70512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419600" y="1828800"/>
            <a:ext cx="6096000" cy="193899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farenheitToCelsius</a:t>
            </a:r>
            <a:r>
              <a:rPr lang="en-IE" sz="2400" dirty="0"/>
              <a:t> 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</a:t>
            </a:r>
            <a:r>
              <a:rPr lang="en-IE" sz="2400" dirty="0">
                <a:solidFill>
                  <a:srgbClr val="00B050"/>
                </a:solidFill>
              </a:rPr>
              <a:t>double result = </a:t>
            </a:r>
            <a:r>
              <a:rPr lang="en-IE" sz="2400" dirty="0"/>
              <a:t>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     return </a:t>
            </a:r>
            <a:r>
              <a:rPr lang="en-IE" sz="2400" dirty="0">
                <a:solidFill>
                  <a:srgbClr val="00B050"/>
                </a:solidFill>
              </a:rPr>
              <a:t>result</a:t>
            </a:r>
            <a:r>
              <a:rPr lang="en-IE" sz="2400" dirty="0"/>
              <a:t>;</a:t>
            </a:r>
          </a:p>
          <a:p>
            <a:r>
              <a:rPr lang="en-IE" sz="2400" dirty="0"/>
              <a:t>}</a:t>
            </a:r>
          </a:p>
        </p:txBody>
      </p:sp>
      <p:cxnSp>
        <p:nvCxnSpPr>
          <p:cNvPr id="13" name="Straight Arrow Connector 12"/>
          <p:cNvCxnSpPr>
            <a:cxnSpLocks/>
          </p:cNvCxnSpPr>
          <p:nvPr/>
        </p:nvCxnSpPr>
        <p:spPr>
          <a:xfrm flipV="1">
            <a:off x="3276600" y="2798296"/>
            <a:ext cx="1066800" cy="96703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</p:spTree>
    <p:extLst>
      <p:ext uri="{BB962C8B-B14F-4D97-AF65-F5344CB8AC3E}">
        <p14:creationId xmlns:p14="http://schemas.microsoft.com/office/powerpoint/2010/main" val="4181847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B0B5-EC1E-2A22-4B59-E8FC4709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18C5-EE31-121C-5A87-55DEABD45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F6946A-73D4-DF32-7E75-17369449F3CB}"/>
              </a:ext>
            </a:extLst>
          </p:cNvPr>
          <p:cNvSpPr/>
          <p:nvPr/>
        </p:nvSpPr>
        <p:spPr>
          <a:xfrm>
            <a:off x="2090737" y="3200400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F264230D-9FCB-E0FA-1701-778A7A37366B}"/>
              </a:ext>
            </a:extLst>
          </p:cNvPr>
          <p:cNvSpPr txBox="1">
            <a:spLocks/>
          </p:cNvSpPr>
          <p:nvPr/>
        </p:nvSpPr>
        <p:spPr>
          <a:xfrm>
            <a:off x="2095499" y="17526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1196480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01E1181-BCFD-1CC5-C6FB-A9F68B71F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15" y="1390115"/>
            <a:ext cx="4495800" cy="24257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4FE8F21-BD1C-34D6-96E8-515C9E3C3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7953" y="3680141"/>
            <a:ext cx="7772400" cy="34430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98985-A227-FF4C-BF5D-D7473C16D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</a:t>
            </a:r>
            <a:r>
              <a:rPr lang="en-GB" b="1" dirty="0"/>
              <a:t>Cubed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50D729-3B86-B44A-A128-6A6E95E5B3B6}"/>
              </a:ext>
            </a:extLst>
          </p:cNvPr>
          <p:cNvSpPr txBox="1"/>
          <p:nvPr/>
        </p:nvSpPr>
        <p:spPr>
          <a:xfrm>
            <a:off x="1122371" y="6329556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AAC6C8-BF91-E044-9929-5C420331450E}"/>
              </a:ext>
            </a:extLst>
          </p:cNvPr>
          <p:cNvCxnSpPr>
            <a:cxnSpLocks/>
          </p:cNvCxnSpPr>
          <p:nvPr/>
        </p:nvCxnSpPr>
        <p:spPr>
          <a:xfrm flipH="1" flipV="1">
            <a:off x="1359136" y="2996222"/>
            <a:ext cx="1440600" cy="361305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6A2E1A-34B2-FF42-9D2E-E0CB9624F29A}"/>
              </a:ext>
            </a:extLst>
          </p:cNvPr>
          <p:cNvCxnSpPr>
            <a:cxnSpLocks/>
          </p:cNvCxnSpPr>
          <p:nvPr/>
        </p:nvCxnSpPr>
        <p:spPr>
          <a:xfrm flipH="1" flipV="1">
            <a:off x="2915189" y="3003482"/>
            <a:ext cx="6000211" cy="315811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6226864-7C31-B743-9AEF-C34838B0CC93}"/>
              </a:ext>
            </a:extLst>
          </p:cNvPr>
          <p:cNvSpPr txBox="1"/>
          <p:nvPr/>
        </p:nvSpPr>
        <p:spPr>
          <a:xfrm>
            <a:off x="3226290" y="23355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F5337A-9367-314C-A05F-0288F0F9AD1B}"/>
              </a:ext>
            </a:extLst>
          </p:cNvPr>
          <p:cNvSpPr txBox="1"/>
          <p:nvPr/>
        </p:nvSpPr>
        <p:spPr>
          <a:xfrm>
            <a:off x="2798771" y="29962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307AEC-A1B1-F840-800F-A30323F5C1A4}"/>
              </a:ext>
            </a:extLst>
          </p:cNvPr>
          <p:cNvSpPr txBox="1"/>
          <p:nvPr/>
        </p:nvSpPr>
        <p:spPr>
          <a:xfrm>
            <a:off x="3527976" y="29730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BE17AD-3DAD-904F-8ABC-E921D2B35949}"/>
              </a:ext>
            </a:extLst>
          </p:cNvPr>
          <p:cNvSpPr txBox="1"/>
          <p:nvPr/>
        </p:nvSpPr>
        <p:spPr>
          <a:xfrm>
            <a:off x="4280330" y="29730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879B62-DC34-E942-BC27-DB978EA58C05}"/>
              </a:ext>
            </a:extLst>
          </p:cNvPr>
          <p:cNvCxnSpPr>
            <a:cxnSpLocks/>
          </p:cNvCxnSpPr>
          <p:nvPr/>
        </p:nvCxnSpPr>
        <p:spPr>
          <a:xfrm>
            <a:off x="2009042" y="3295211"/>
            <a:ext cx="5382358" cy="2936937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50D74A1-BBD5-684B-9E78-E42BB36E476F}"/>
              </a:ext>
            </a:extLst>
          </p:cNvPr>
          <p:cNvSpPr txBox="1"/>
          <p:nvPr/>
        </p:nvSpPr>
        <p:spPr>
          <a:xfrm>
            <a:off x="3717438" y="4618084"/>
            <a:ext cx="562892" cy="36933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125</a:t>
            </a:r>
          </a:p>
        </p:txBody>
      </p:sp>
    </p:spTree>
    <p:extLst>
      <p:ext uri="{BB962C8B-B14F-4D97-AF65-F5344CB8AC3E}">
        <p14:creationId xmlns:p14="http://schemas.microsoft.com/office/powerpoint/2010/main" val="163707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7" grpId="0"/>
      <p:bldP spid="18" grpId="0"/>
      <p:bldP spid="19" grpId="0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B2E90-7166-68C3-9844-A7039C5C0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98D6A-F922-0DC8-CE61-E0D797D6F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AD675B-F955-A529-76E4-1849DE3E9B59}"/>
              </a:ext>
            </a:extLst>
          </p:cNvPr>
          <p:cNvSpPr/>
          <p:nvPr/>
        </p:nvSpPr>
        <p:spPr>
          <a:xfrm>
            <a:off x="2286002" y="3786981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DCB0F4B-F917-3AFE-B06E-B1CBAD6CC7E2}"/>
              </a:ext>
            </a:extLst>
          </p:cNvPr>
          <p:cNvSpPr txBox="1">
            <a:spLocks/>
          </p:cNvSpPr>
          <p:nvPr/>
        </p:nvSpPr>
        <p:spPr>
          <a:xfrm>
            <a:off x="2019302" y="17526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3889004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98985-A227-FF4C-BF5D-D7473C16D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Product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50D729-3B86-B44A-A128-6A6E95E5B3B6}"/>
              </a:ext>
            </a:extLst>
          </p:cNvPr>
          <p:cNvSpPr txBox="1"/>
          <p:nvPr/>
        </p:nvSpPr>
        <p:spPr>
          <a:xfrm>
            <a:off x="149352" y="6283766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4D7A6B-BAA6-ADE0-B055-D3FBD05FE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352" y="1366540"/>
            <a:ext cx="7772400" cy="263296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ED5D3C1-1A7D-F0AB-07C9-9BD76648C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3513435"/>
            <a:ext cx="7112000" cy="22606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AAC6C8-BF91-E044-9929-5C420331450E}"/>
              </a:ext>
            </a:extLst>
          </p:cNvPr>
          <p:cNvCxnSpPr>
            <a:cxnSpLocks/>
          </p:cNvCxnSpPr>
          <p:nvPr/>
        </p:nvCxnSpPr>
        <p:spPr>
          <a:xfrm flipV="1">
            <a:off x="1806077" y="4876800"/>
            <a:ext cx="1546723" cy="140696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AFC7CC5-9889-ED7D-C79F-8E06E526FA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5963698"/>
            <a:ext cx="3566469" cy="32006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5464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E77AA-8379-7B50-64A8-7D131788D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A7BE-B445-3EC0-0B6C-38AAA0C6D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0A1296-C508-5CA6-C678-96070AAFA493}"/>
              </a:ext>
            </a:extLst>
          </p:cNvPr>
          <p:cNvSpPr/>
          <p:nvPr/>
        </p:nvSpPr>
        <p:spPr>
          <a:xfrm>
            <a:off x="1752600" y="4800600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CABE85C-74E8-C440-60DB-5AB051779FA6}"/>
              </a:ext>
            </a:extLst>
          </p:cNvPr>
          <p:cNvSpPr txBox="1">
            <a:spLocks/>
          </p:cNvSpPr>
          <p:nvPr/>
        </p:nvSpPr>
        <p:spPr>
          <a:xfrm>
            <a:off x="1714500" y="2327274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824540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Boolean Method?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endParaRPr dirty="0"/>
          </a:p>
          <a:p>
            <a:pPr>
              <a:defRPr sz="2000"/>
            </a:pPr>
            <a:r>
              <a:rPr sz="4000" dirty="0"/>
              <a:t>A Boolean method returns a </a:t>
            </a:r>
            <a:r>
              <a:rPr sz="4000" dirty="0" err="1"/>
              <a:t>boolean</a:t>
            </a:r>
            <a:r>
              <a:rPr sz="4000" dirty="0"/>
              <a:t> value — either true or false.</a:t>
            </a:r>
          </a:p>
          <a:p>
            <a:pPr>
              <a:defRPr sz="2000"/>
            </a:pPr>
            <a:r>
              <a:rPr sz="4000" dirty="0"/>
              <a:t>They are used to check conditions and make decisions in a program.</a:t>
            </a:r>
          </a:p>
          <a:p>
            <a:pPr>
              <a:defRPr sz="2000"/>
            </a:pPr>
            <a:r>
              <a:rPr sz="4000" dirty="0"/>
              <a:t>Examples: checking if a number is even, verifying a temperature range, or determining permissions.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Syntax – Defining a Boolean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0" y="4572000"/>
            <a:ext cx="7924800" cy="2163762"/>
          </a:xfrm>
        </p:spPr>
        <p:txBody>
          <a:bodyPr wrap="square">
            <a:normAutofit/>
          </a:bodyPr>
          <a:lstStyle/>
          <a:p>
            <a:endParaRPr dirty="0"/>
          </a:p>
          <a:p>
            <a:pPr>
              <a:defRPr sz="2000"/>
            </a:pPr>
            <a:r>
              <a:rPr sz="2800" dirty="0"/>
              <a:t>public </a:t>
            </a:r>
            <a:r>
              <a:rPr sz="2800" dirty="0" err="1"/>
              <a:t>boolean</a:t>
            </a:r>
            <a:r>
              <a:rPr sz="2800" dirty="0"/>
              <a:t> → method returns a </a:t>
            </a:r>
            <a:r>
              <a:rPr lang="en-IE" sz="2800" dirty="0"/>
              <a:t>B</a:t>
            </a:r>
            <a:r>
              <a:rPr sz="2800" dirty="0" err="1"/>
              <a:t>oolean</a:t>
            </a:r>
            <a:endParaRPr lang="en-IE" sz="2800" dirty="0"/>
          </a:p>
          <a:p>
            <a:pPr>
              <a:defRPr sz="2000"/>
            </a:pPr>
            <a:r>
              <a:rPr sz="2800" dirty="0" err="1"/>
              <a:t>isEven</a:t>
            </a:r>
            <a:r>
              <a:rPr sz="2800" dirty="0"/>
              <a:t> → typically starts with is, has, or can</a:t>
            </a:r>
          </a:p>
          <a:p>
            <a:pPr marL="0" indent="0">
              <a:buNone/>
              <a:defRPr sz="2000"/>
            </a:pPr>
            <a:r>
              <a:rPr lang="en-IE" sz="2800" dirty="0"/>
              <a:t>    </a:t>
            </a:r>
            <a:r>
              <a:rPr sz="2800" dirty="0"/>
              <a:t>return true / false → gives back the Boolean result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45704-CAF7-523B-45BB-06BF2034C745}"/>
              </a:ext>
            </a:extLst>
          </p:cNvPr>
          <p:cNvSpPr txBox="1"/>
          <p:nvPr/>
        </p:nvSpPr>
        <p:spPr>
          <a:xfrm>
            <a:off x="2362200" y="1752634"/>
            <a:ext cx="5715000" cy="25545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public </a:t>
            </a:r>
            <a:r>
              <a:rPr lang="en-IE" dirty="0" err="1">
                <a:latin typeface="Lucida Sans Typewriter" panose="020B0509030504030204" pitchFamily="49" charset="77"/>
              </a:rPr>
              <a:t>boolean</a:t>
            </a:r>
            <a:r>
              <a:rPr lang="en-IE" dirty="0">
                <a:latin typeface="Lucida Sans Typewriter" panose="020B0509030504030204" pitchFamily="49" charset="77"/>
              </a:rPr>
              <a:t> </a:t>
            </a:r>
            <a:r>
              <a:rPr lang="en-IE" dirty="0" err="1">
                <a:latin typeface="Lucida Sans Typewriter" panose="020B0509030504030204" pitchFamily="49" charset="77"/>
              </a:rPr>
              <a:t>isEven</a:t>
            </a:r>
            <a:r>
              <a:rPr lang="en-IE" dirty="0">
                <a:latin typeface="Lucida Sans Typewriter" panose="020B0509030504030204" pitchFamily="49" charset="77"/>
              </a:rPr>
              <a:t>(int number) {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if (number % 2 == 0) { 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    return true; 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   }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else {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   return false;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}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95601" y="1371601"/>
            <a:ext cx="6131807" cy="2954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000000"/>
                </a:solidFill>
                <a:latin typeface="Consolas"/>
              </a:defRPr>
            </a:pPr>
            <a:r>
              <a:rPr sz="2400" dirty="0"/>
              <a:t>public </a:t>
            </a:r>
            <a:r>
              <a:rPr sz="2400" dirty="0" err="1"/>
              <a:t>boolean</a:t>
            </a:r>
            <a:r>
              <a:rPr sz="2400" dirty="0"/>
              <a:t> </a:t>
            </a:r>
            <a:r>
              <a:rPr sz="2400" dirty="0" err="1"/>
              <a:t>isEven</a:t>
            </a:r>
            <a:r>
              <a:rPr sz="2400" dirty="0"/>
              <a:t>(int number) {</a:t>
            </a:r>
            <a:br>
              <a:rPr sz="2400" dirty="0"/>
            </a:br>
            <a:r>
              <a:rPr sz="2400" dirty="0"/>
              <a:t>    if (number % 2 == 0) {</a:t>
            </a:r>
            <a:br>
              <a:rPr sz="2400" dirty="0"/>
            </a:br>
            <a:r>
              <a:rPr sz="2400" dirty="0"/>
              <a:t>        return true;</a:t>
            </a:r>
            <a:br>
              <a:rPr sz="2400" dirty="0"/>
            </a:br>
            <a:r>
              <a:rPr sz="2400" dirty="0"/>
              <a:t>    } else {</a:t>
            </a:r>
            <a:br>
              <a:rPr sz="2400" dirty="0"/>
            </a:br>
            <a:r>
              <a:rPr sz="2400" dirty="0"/>
              <a:t>        return false;</a:t>
            </a:r>
            <a:br>
              <a:rPr sz="2400" dirty="0"/>
            </a:br>
            <a:r>
              <a:rPr sz="2400" dirty="0"/>
              <a:t>    }</a:t>
            </a:r>
            <a:br>
              <a:rPr sz="2400" dirty="0"/>
            </a:br>
            <a:r>
              <a:rPr sz="2400" dirty="0"/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1371600"/>
            <a:ext cx="4616970" cy="230832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800">
                <a:solidFill>
                  <a:srgbClr val="000000"/>
                </a:solidFill>
                <a:latin typeface="Consolas"/>
              </a:defRPr>
            </a:pPr>
            <a:r>
              <a:rPr dirty="0"/>
              <a:t>public </a:t>
            </a:r>
            <a:r>
              <a:rPr dirty="0" err="1"/>
              <a:t>boolean</a:t>
            </a:r>
            <a:r>
              <a:rPr dirty="0"/>
              <a:t> </a:t>
            </a:r>
            <a:r>
              <a:rPr dirty="0" err="1"/>
              <a:t>isEven</a:t>
            </a:r>
            <a:r>
              <a:rPr dirty="0"/>
              <a:t>(int number) {</a:t>
            </a:r>
            <a:br>
              <a:rPr dirty="0"/>
            </a:br>
            <a:r>
              <a:rPr dirty="0"/>
              <a:t>    if (number % 2 == 0) {</a:t>
            </a:r>
            <a:br>
              <a:rPr dirty="0"/>
            </a:br>
            <a:r>
              <a:rPr dirty="0"/>
              <a:t>        return true;</a:t>
            </a:r>
            <a:br>
              <a:rPr dirty="0"/>
            </a:br>
            <a:r>
              <a:rPr dirty="0"/>
              <a:t>    } else {</a:t>
            </a:r>
            <a:br>
              <a:rPr dirty="0"/>
            </a:br>
            <a:r>
              <a:rPr dirty="0"/>
              <a:t>        return false;</a:t>
            </a:r>
            <a:br>
              <a:rPr dirty="0"/>
            </a:br>
            <a:r>
              <a:rPr dirty="0"/>
              <a:t>    }</a:t>
            </a:r>
            <a:br>
              <a:rPr dirty="0"/>
            </a:br>
            <a:r>
              <a:rPr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0" y="1371601"/>
            <a:ext cx="4616970" cy="120032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800">
                <a:solidFill>
                  <a:srgbClr val="000000"/>
                </a:solidFill>
                <a:latin typeface="Consolas"/>
              </a:defRPr>
            </a:pPr>
            <a:r>
              <a:rPr dirty="0"/>
              <a:t>public </a:t>
            </a:r>
            <a:r>
              <a:rPr dirty="0" err="1"/>
              <a:t>boolean</a:t>
            </a:r>
            <a:r>
              <a:rPr dirty="0"/>
              <a:t> </a:t>
            </a:r>
            <a:r>
              <a:rPr dirty="0" err="1"/>
              <a:t>isEven</a:t>
            </a:r>
            <a:r>
              <a:rPr dirty="0"/>
              <a:t>(int number) {</a:t>
            </a:r>
            <a:br>
              <a:rPr dirty="0"/>
            </a:br>
            <a:r>
              <a:rPr dirty="0"/>
              <a:t>    return number % 2 == 0;</a:t>
            </a:r>
            <a:br>
              <a:rPr dirty="0"/>
            </a:br>
            <a:r>
              <a:rPr dirty="0"/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69921" y="914400"/>
            <a:ext cx="117698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Long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10400" y="914400"/>
            <a:ext cx="123309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Short Form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95601" y="1371600"/>
            <a:ext cx="6131807" cy="14773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000000"/>
                </a:solidFill>
                <a:latin typeface="Consolas"/>
              </a:defRPr>
            </a:pPr>
            <a:r>
              <a:rPr sz="2400" dirty="0"/>
              <a:t>public </a:t>
            </a:r>
            <a:r>
              <a:rPr sz="2400" dirty="0" err="1"/>
              <a:t>boolean</a:t>
            </a:r>
            <a:r>
              <a:rPr sz="2400" dirty="0"/>
              <a:t> </a:t>
            </a:r>
            <a:r>
              <a:rPr sz="2400" dirty="0" err="1"/>
              <a:t>isEven</a:t>
            </a:r>
            <a:r>
              <a:rPr sz="2400" dirty="0"/>
              <a:t>(int number) {</a:t>
            </a:r>
            <a:br>
              <a:rPr sz="2400" dirty="0"/>
            </a:br>
            <a:r>
              <a:rPr sz="2400" dirty="0"/>
              <a:t>    return number % 2 == 0;</a:t>
            </a:r>
            <a:br>
              <a:rPr sz="2400" dirty="0"/>
            </a:br>
            <a:r>
              <a:rPr sz="2400" dirty="0"/>
              <a:t>}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Using a Boolean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dirty="0"/>
          </a:p>
          <a:p>
            <a:pPr>
              <a:defRPr sz="2000"/>
            </a:pPr>
            <a:r>
              <a:rPr sz="2800" dirty="0"/>
              <a:t>Output: Number is even</a:t>
            </a:r>
          </a:p>
          <a:p>
            <a:pPr>
              <a:defRPr sz="2000"/>
            </a:pPr>
            <a:r>
              <a:rPr sz="2800" dirty="0"/>
              <a:t>Explanation: The if statement calls the Boolean method and uses its result directly.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BAFCBF-DBCA-01D9-DB7E-DBE1A4211E07}"/>
              </a:ext>
            </a:extLst>
          </p:cNvPr>
          <p:cNvSpPr txBox="1"/>
          <p:nvPr/>
        </p:nvSpPr>
        <p:spPr>
          <a:xfrm>
            <a:off x="8677835" y="632808"/>
            <a:ext cx="3505200" cy="156966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public </a:t>
            </a:r>
            <a:r>
              <a:rPr lang="en-IE" sz="1200" dirty="0" err="1">
                <a:latin typeface="Lucida Sans Typewriter" panose="020B0509030504030204" pitchFamily="49" charset="77"/>
              </a:rPr>
              <a:t>boolean</a:t>
            </a:r>
            <a:r>
              <a:rPr lang="en-IE" sz="1200" dirty="0">
                <a:latin typeface="Lucida Sans Typewriter" panose="020B0509030504030204" pitchFamily="49" charset="77"/>
              </a:rPr>
              <a:t> </a:t>
            </a:r>
            <a:r>
              <a:rPr lang="en-IE" sz="1200" dirty="0" err="1">
                <a:latin typeface="Lucida Sans Typewriter" panose="020B0509030504030204" pitchFamily="49" charset="77"/>
              </a:rPr>
              <a:t>isEven</a:t>
            </a:r>
            <a:r>
              <a:rPr lang="en-IE" sz="1200" dirty="0">
                <a:latin typeface="Lucida Sans Typewriter" panose="020B0509030504030204" pitchFamily="49" charset="77"/>
              </a:rPr>
              <a:t>(int number) {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if (number % 2 == 0) { 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    return true; 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   }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else {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   return false;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}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219766-622A-2BA8-C79C-98703E47F9F9}"/>
              </a:ext>
            </a:extLst>
          </p:cNvPr>
          <p:cNvSpPr txBox="1"/>
          <p:nvPr/>
        </p:nvSpPr>
        <p:spPr>
          <a:xfrm>
            <a:off x="1143000" y="1797784"/>
            <a:ext cx="6477000" cy="267765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sz="2800" dirty="0"/>
              <a:t>if (</a:t>
            </a:r>
            <a:r>
              <a:rPr lang="en-IE" sz="2800" dirty="0" err="1"/>
              <a:t>isEven</a:t>
            </a:r>
            <a:r>
              <a:rPr lang="en-IE" sz="2800" dirty="0"/>
              <a:t>(8)) {</a:t>
            </a:r>
          </a:p>
          <a:p>
            <a:pPr>
              <a:defRPr sz="2000"/>
            </a:pPr>
            <a:r>
              <a:rPr lang="en-IE" sz="2800" dirty="0"/>
              <a:t>    </a:t>
            </a:r>
            <a:r>
              <a:rPr lang="en-IE" sz="2800" dirty="0" err="1"/>
              <a:t>System.out.println</a:t>
            </a:r>
            <a:r>
              <a:rPr lang="en-IE" sz="2800" dirty="0"/>
              <a:t>('Number is even’);</a:t>
            </a:r>
          </a:p>
          <a:p>
            <a:pPr>
              <a:defRPr sz="2000"/>
            </a:pPr>
            <a:r>
              <a:rPr lang="en-IE" sz="2800" dirty="0"/>
              <a:t>   } </a:t>
            </a:r>
          </a:p>
          <a:p>
            <a:pPr>
              <a:defRPr sz="2000"/>
            </a:pPr>
            <a:r>
              <a:rPr lang="en-IE" sz="2800" dirty="0"/>
              <a:t>else {</a:t>
            </a:r>
          </a:p>
          <a:p>
            <a:pPr>
              <a:defRPr sz="2000"/>
            </a:pPr>
            <a:r>
              <a:rPr lang="en-IE" sz="2800" dirty="0"/>
              <a:t>    </a:t>
            </a:r>
            <a:r>
              <a:rPr lang="en-IE" sz="2800" dirty="0" err="1"/>
              <a:t>System.out.println</a:t>
            </a:r>
            <a:r>
              <a:rPr lang="en-IE" sz="2800" dirty="0"/>
              <a:t>('Number is odd');</a:t>
            </a:r>
          </a:p>
          <a:p>
            <a:pPr>
              <a:defRPr sz="2000"/>
            </a:pPr>
            <a:r>
              <a:rPr lang="en-IE" sz="2800" dirty="0"/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Boolean Method with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defRPr sz="2000"/>
            </a:pPr>
            <a:endParaRPr lang="en-IE" dirty="0"/>
          </a:p>
          <a:p>
            <a:pPr>
              <a:defRPr sz="2000"/>
            </a:pPr>
            <a:endParaRPr lang="en-IE" dirty="0"/>
          </a:p>
          <a:p>
            <a:pPr>
              <a:defRPr sz="2000"/>
            </a:pPr>
            <a:endParaRPr lang="en-IE" dirty="0"/>
          </a:p>
          <a:p>
            <a:pPr marL="0" indent="0">
              <a:buNone/>
              <a:defRPr sz="2000"/>
            </a:pPr>
            <a:r>
              <a:rPr sz="2800" dirty="0"/>
              <a:t>Explanation:</a:t>
            </a:r>
          </a:p>
          <a:p>
            <a:pPr marL="0" indent="0">
              <a:buNone/>
              <a:defRPr sz="2000"/>
            </a:pPr>
            <a:r>
              <a:rPr lang="en-IE" sz="2800" dirty="0"/>
              <a:t>T</a:t>
            </a:r>
            <a:r>
              <a:rPr sz="2800" dirty="0"/>
              <a:t>he expression itself produces a true or false value.</a:t>
            </a:r>
            <a:endParaRPr lang="en-IE" sz="2800" dirty="0"/>
          </a:p>
          <a:p>
            <a:pPr marL="0" indent="0">
              <a:buNone/>
              <a:defRPr sz="2000"/>
            </a:pPr>
            <a:r>
              <a:rPr sz="2800" dirty="0"/>
              <a:t>You can return the expression directly without an if statement.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CCA59-C44D-D552-930D-31C006592781}"/>
              </a:ext>
            </a:extLst>
          </p:cNvPr>
          <p:cNvSpPr txBox="1"/>
          <p:nvPr/>
        </p:nvSpPr>
        <p:spPr>
          <a:xfrm>
            <a:off x="4267200" y="1752600"/>
            <a:ext cx="3657600" cy="10156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 sz="2000"/>
            </a:pPr>
            <a:r>
              <a:rPr lang="en-IE" dirty="0"/>
              <a:t>public </a:t>
            </a:r>
            <a:r>
              <a:rPr lang="en-IE" dirty="0" err="1"/>
              <a:t>boolean</a:t>
            </a:r>
            <a:r>
              <a:rPr lang="en-IE" dirty="0"/>
              <a:t> </a:t>
            </a:r>
            <a:r>
              <a:rPr lang="en-IE" dirty="0" err="1"/>
              <a:t>isAdult</a:t>
            </a:r>
            <a:r>
              <a:rPr lang="en-IE"/>
              <a:t>(int age) </a:t>
            </a:r>
            <a:r>
              <a:rPr lang="en-IE" dirty="0"/>
              <a:t>{</a:t>
            </a:r>
          </a:p>
          <a:p>
            <a:pPr>
              <a:defRPr sz="2000"/>
            </a:pPr>
            <a:r>
              <a:rPr lang="en-IE" dirty="0"/>
              <a:t>    return age &gt;= 18;</a:t>
            </a:r>
          </a:p>
          <a:p>
            <a:pPr>
              <a:defRPr sz="2000"/>
            </a:pPr>
            <a:r>
              <a:rPr lang="en-IE" dirty="0"/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Typical Boolean Method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defRPr sz="2000"/>
            </a:pPr>
            <a:r>
              <a:rPr sz="2800" dirty="0"/>
              <a:t>Check if number is positive → </a:t>
            </a:r>
            <a:r>
              <a:rPr sz="2800" dirty="0" err="1"/>
              <a:t>isPositive</a:t>
            </a:r>
            <a:r>
              <a:rPr sz="2800" dirty="0"/>
              <a:t>()</a:t>
            </a:r>
          </a:p>
          <a:p>
            <a:pPr>
              <a:defRPr sz="2000"/>
            </a:pPr>
            <a:r>
              <a:rPr sz="2800" dirty="0"/>
              <a:t>Check if user has access → </a:t>
            </a:r>
            <a:r>
              <a:rPr sz="2800" dirty="0" err="1"/>
              <a:t>hasAccess</a:t>
            </a:r>
            <a:r>
              <a:rPr sz="2800" dirty="0"/>
              <a:t>()</a:t>
            </a:r>
          </a:p>
          <a:p>
            <a:pPr>
              <a:defRPr sz="2000"/>
            </a:pPr>
            <a:r>
              <a:rPr sz="2800" dirty="0"/>
              <a:t>Check if list is empty → </a:t>
            </a:r>
            <a:r>
              <a:rPr sz="2800" dirty="0" err="1"/>
              <a:t>isEmpty</a:t>
            </a:r>
            <a:r>
              <a:rPr sz="2800" dirty="0"/>
              <a:t>()</a:t>
            </a:r>
          </a:p>
          <a:p>
            <a:pPr>
              <a:defRPr sz="2000"/>
            </a:pPr>
            <a:r>
              <a:rPr sz="2800" dirty="0"/>
              <a:t>Check if two values match → equals()</a:t>
            </a:r>
          </a:p>
          <a:p>
            <a:pPr>
              <a:defRPr sz="2000"/>
            </a:pPr>
            <a:r>
              <a:rPr sz="2800" dirty="0"/>
              <a:t>Tip: Boolean methods usually start with verbs like is, has, or can.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Use Boolean Methods?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defRPr sz="2000"/>
            </a:pPr>
            <a:r>
              <a:rPr dirty="0"/>
              <a:t>✅ </a:t>
            </a:r>
            <a:r>
              <a:rPr sz="2800" dirty="0"/>
              <a:t>Make code clearer and reusable</a:t>
            </a:r>
          </a:p>
          <a:p>
            <a:pPr>
              <a:defRPr sz="2000"/>
            </a:pPr>
            <a:r>
              <a:rPr sz="2800" dirty="0"/>
              <a:t>✅ Separate checking logic from actions</a:t>
            </a:r>
          </a:p>
          <a:p>
            <a:pPr>
              <a:defRPr sz="2000"/>
            </a:pPr>
            <a:r>
              <a:rPr sz="2800" dirty="0"/>
              <a:t>✅ Work naturally with if, while, and logical operators (&amp;&amp;, ||, !)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Other Examples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0" indent="0">
              <a:buNone/>
            </a:pPr>
            <a:r>
              <a:rPr lang="en-IE" dirty="0"/>
              <a:t>Check is a number between (inclusive) a lower and upper limit</a:t>
            </a:r>
          </a:p>
          <a:p>
            <a:pPr marL="0" indent="0">
              <a:buNone/>
            </a:pP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7F0F3-B4B5-56A6-C242-BC0FB6CABE89}"/>
              </a:ext>
            </a:extLst>
          </p:cNvPr>
          <p:cNvSpPr txBox="1"/>
          <p:nvPr/>
        </p:nvSpPr>
        <p:spPr>
          <a:xfrm>
            <a:off x="228600" y="2856306"/>
            <a:ext cx="11963400" cy="304698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(lower &lt;=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{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true;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else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return false;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3351-C605-8A97-9DBE-4AB3583B1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E71FA8-F08C-9236-0DBC-F45F9CE2680B}"/>
              </a:ext>
            </a:extLst>
          </p:cNvPr>
          <p:cNvSpPr txBox="1"/>
          <p:nvPr/>
        </p:nvSpPr>
        <p:spPr>
          <a:xfrm>
            <a:off x="566281" y="1371600"/>
            <a:ext cx="11059438" cy="332398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(lower &lt;=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{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true;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else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return false;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48027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4248-C5A6-1853-5A02-7D3F2959A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445C00-4B0F-74C9-2A7D-FE3AD13D791E}"/>
              </a:ext>
            </a:extLst>
          </p:cNvPr>
          <p:cNvSpPr txBox="1"/>
          <p:nvPr/>
        </p:nvSpPr>
        <p:spPr>
          <a:xfrm>
            <a:off x="381000" y="1371601"/>
            <a:ext cx="9212778" cy="255454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if (lower &lt;=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&lt;= upper) { 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    return true; 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   }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else {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   return false;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C74368-45F0-604E-068A-626F6272EBF3}"/>
              </a:ext>
            </a:extLst>
          </p:cNvPr>
          <p:cNvSpPr txBox="1"/>
          <p:nvPr/>
        </p:nvSpPr>
        <p:spPr>
          <a:xfrm>
            <a:off x="6324600" y="1371601"/>
            <a:ext cx="562205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/>
            </a:pP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   return(lower &lt;=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;</a:t>
            </a:r>
          </a:p>
          <a:p>
            <a:pPr>
              <a:defRPr sz="2000"/>
            </a:pP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7CC18-8290-989C-9FF3-76E3BBF1D24F}"/>
              </a:ext>
            </a:extLst>
          </p:cNvPr>
          <p:cNvSpPr txBox="1"/>
          <p:nvPr/>
        </p:nvSpPr>
        <p:spPr>
          <a:xfrm>
            <a:off x="3169921" y="914400"/>
            <a:ext cx="117698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Long 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9A19EA-0190-EFF1-9F64-B8CCCB3994F7}"/>
              </a:ext>
            </a:extLst>
          </p:cNvPr>
          <p:cNvSpPr txBox="1"/>
          <p:nvPr/>
        </p:nvSpPr>
        <p:spPr>
          <a:xfrm>
            <a:off x="7010400" y="914400"/>
            <a:ext cx="123309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Short Form</a:t>
            </a:r>
          </a:p>
        </p:txBody>
      </p:sp>
    </p:spTree>
    <p:extLst>
      <p:ext uri="{BB962C8B-B14F-4D97-AF65-F5344CB8AC3E}">
        <p14:creationId xmlns:p14="http://schemas.microsoft.com/office/powerpoint/2010/main" val="1489393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A1FF4-1DA4-531E-787A-6FD18BBBD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6C087D-C3BF-291B-F73A-8939E7C6DF77}"/>
              </a:ext>
            </a:extLst>
          </p:cNvPr>
          <p:cNvSpPr txBox="1"/>
          <p:nvPr/>
        </p:nvSpPr>
        <p:spPr>
          <a:xfrm>
            <a:off x="566281" y="1828800"/>
            <a:ext cx="11059438" cy="156966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endParaRPr lang="en-IE" sz="2400" dirty="0"/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return(lower &lt;=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;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451664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/>
          <p:cNvSpPr/>
          <p:nvPr/>
        </p:nvSpPr>
        <p:spPr>
          <a:xfrm>
            <a:off x="2133600" y="4758446"/>
            <a:ext cx="6477000" cy="457201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D3035A6-4E9C-4692-5680-B266AD48BB49}"/>
              </a:ext>
            </a:extLst>
          </p:cNvPr>
          <p:cNvSpPr txBox="1">
            <a:spLocks/>
          </p:cNvSpPr>
          <p:nvPr/>
        </p:nvSpPr>
        <p:spPr>
          <a:xfrm>
            <a:off x="2133600" y="16764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RECAP: Method Terminology:</a:t>
            </a:r>
            <a:endParaRPr lang="en-IE" b="1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Overloading</a:t>
            </a:r>
            <a:r>
              <a:rPr lang="en-IE" dirty="0"/>
              <a:t> methods.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6366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Overloaded</a:t>
            </a:r>
            <a:r>
              <a:rPr lang="en-IE" dirty="0"/>
              <a:t>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Multiple methods can have the </a:t>
            </a:r>
            <a:r>
              <a:rPr lang="en-IE" b="1" dirty="0"/>
              <a:t>same name</a:t>
            </a:r>
            <a:r>
              <a:rPr lang="en-IE" dirty="0"/>
              <a:t>, </a:t>
            </a:r>
            <a:br>
              <a:rPr lang="en-IE" dirty="0"/>
            </a:br>
            <a:r>
              <a:rPr lang="en-IE" dirty="0"/>
              <a:t>once they have a </a:t>
            </a:r>
            <a:r>
              <a:rPr lang="en-IE" b="1" u="sng" dirty="0"/>
              <a:t>different parameter list</a:t>
            </a:r>
            <a:r>
              <a:rPr lang="en-IE" dirty="0"/>
              <a:t>.  </a:t>
            </a:r>
          </a:p>
          <a:p>
            <a:r>
              <a:rPr lang="en-IE" dirty="0"/>
              <a:t>We could write the following: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num2, int num3)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num2, int num3, int num4)</a:t>
            </a:r>
            <a:endParaRPr lang="en-IE" dirty="0">
              <a:solidFill>
                <a:srgbClr val="FF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7400" y="3200400"/>
            <a:ext cx="1287418" cy="22098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5"/>
          <p:cNvSpPr/>
          <p:nvPr/>
        </p:nvSpPr>
        <p:spPr>
          <a:xfrm>
            <a:off x="3394892" y="3200400"/>
            <a:ext cx="6130107" cy="22098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1905000" y="5541360"/>
            <a:ext cx="14398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Same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109" y="5541360"/>
            <a:ext cx="419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Different Parameter List</a:t>
            </a:r>
          </a:p>
        </p:txBody>
      </p:sp>
    </p:spTree>
    <p:extLst>
      <p:ext uri="{BB962C8B-B14F-4D97-AF65-F5344CB8AC3E}">
        <p14:creationId xmlns:p14="http://schemas.microsoft.com/office/powerpoint/2010/main" val="3100055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IE" dirty="0"/>
          </a:p>
          <a:p>
            <a:pPr lvl="1"/>
            <a:endParaRPr lang="en-IE" dirty="0"/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57400" y="1905000"/>
          <a:ext cx="8153400" cy="42379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18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6801">
                <a:tc>
                  <a:txBody>
                    <a:bodyPr/>
                    <a:lstStyle/>
                    <a:p>
                      <a:r>
                        <a:rPr lang="en-IE" sz="2800" b="1" dirty="0"/>
                        <a:t>Method signature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b="1" dirty="0"/>
                        <a:t>Parameter</a:t>
                      </a:r>
                      <a:r>
                        <a:rPr lang="en-IE" sz="2800" b="1" baseline="0" dirty="0"/>
                        <a:t> List</a:t>
                      </a:r>
                      <a:endParaRPr lang="en-IE" sz="2800" b="1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801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no</a:t>
                      </a:r>
                      <a:r>
                        <a:rPr lang="en-IE" sz="2800" baseline="0" dirty="0"/>
                        <a:t> parameter</a:t>
                      </a:r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801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79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num2, int num3)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02698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num2, int num3, int num4)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int, 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14F0122-40F8-1146-9B23-E6A23AAE531A}"/>
              </a:ext>
            </a:extLst>
          </p:cNvPr>
          <p:cNvSpPr txBox="1"/>
          <p:nvPr/>
        </p:nvSpPr>
        <p:spPr>
          <a:xfrm>
            <a:off x="2020824" y="6190704"/>
            <a:ext cx="53519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0000"/>
                </a:solidFill>
              </a:rPr>
              <a:t>Same method name, but different parameter list</a:t>
            </a:r>
          </a:p>
        </p:txBody>
      </p:sp>
    </p:spTree>
    <p:extLst>
      <p:ext uri="{BB962C8B-B14F-4D97-AF65-F5344CB8AC3E}">
        <p14:creationId xmlns:p14="http://schemas.microsoft.com/office/powerpoint/2010/main" val="172064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1125200" cy="4495800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A program can have two or more methods with the same name, only if their </a:t>
            </a:r>
            <a:r>
              <a:rPr lang="en-IE" u="sng" dirty="0"/>
              <a:t>parameter list</a:t>
            </a:r>
            <a:r>
              <a:rPr lang="en-IE" dirty="0"/>
              <a:t> is different.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Java is checking that a parameter list is different, </a:t>
            </a:r>
            <a:br>
              <a:rPr lang="en-IE" dirty="0"/>
            </a:br>
            <a:r>
              <a:rPr lang="en-IE" dirty="0"/>
              <a:t>it is not checking the name of the variables, </a:t>
            </a:r>
            <a:br>
              <a:rPr lang="en-IE" dirty="0"/>
            </a:br>
            <a:r>
              <a:rPr lang="en-IE" dirty="0"/>
              <a:t>it is </a:t>
            </a:r>
            <a:r>
              <a:rPr lang="en-IE" b="1" dirty="0"/>
              <a:t>checking the data type </a:t>
            </a:r>
            <a:r>
              <a:rPr lang="en-IE" dirty="0"/>
              <a:t>of the variables </a:t>
            </a:r>
            <a:br>
              <a:rPr lang="en-IE" dirty="0"/>
            </a:br>
            <a:r>
              <a:rPr lang="en-IE" dirty="0"/>
              <a:t>e.g. </a:t>
            </a:r>
          </a:p>
          <a:p>
            <a:pPr lvl="1"/>
            <a:r>
              <a:rPr lang="en-IE" dirty="0"/>
              <a:t>this is permitted as the </a:t>
            </a:r>
            <a:r>
              <a:rPr lang="en-IE" b="1" dirty="0"/>
              <a:t>data </a:t>
            </a:r>
            <a:r>
              <a:rPr lang="en-IE" b="1" dirty="0">
                <a:solidFill>
                  <a:srgbClr val="FF0000"/>
                </a:solidFill>
              </a:rPr>
              <a:t>type</a:t>
            </a:r>
            <a:r>
              <a:rPr lang="en-IE" b="1" dirty="0"/>
              <a:t> is different</a:t>
            </a:r>
            <a:r>
              <a:rPr lang="en-IE" dirty="0"/>
              <a:t>:</a:t>
            </a:r>
          </a:p>
          <a:p>
            <a:pPr lvl="2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 int num1)</a:t>
            </a:r>
          </a:p>
          <a:p>
            <a:pPr lvl="2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 double  num1)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2800" y="4966901"/>
            <a:ext cx="2057400" cy="914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TextBox 5"/>
          <p:cNvSpPr txBox="1"/>
          <p:nvPr/>
        </p:nvSpPr>
        <p:spPr>
          <a:xfrm>
            <a:off x="3124200" y="5938391"/>
            <a:ext cx="5570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Data types must be different </a:t>
            </a:r>
            <a:br>
              <a:rPr lang="en-GB" sz="2000" dirty="0">
                <a:solidFill>
                  <a:srgbClr val="FF0000"/>
                </a:solidFill>
              </a:rPr>
            </a:br>
            <a:r>
              <a:rPr lang="en-GB" sz="2000" dirty="0">
                <a:solidFill>
                  <a:srgbClr val="FF0000"/>
                </a:solidFill>
              </a:rPr>
              <a:t>for a method with the same name to be overloaded</a:t>
            </a:r>
          </a:p>
        </p:txBody>
      </p:sp>
    </p:spTree>
    <p:extLst>
      <p:ext uri="{BB962C8B-B14F-4D97-AF65-F5344CB8AC3E}">
        <p14:creationId xmlns:p14="http://schemas.microsoft.com/office/powerpoint/2010/main" val="2701826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Overloaded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587062"/>
            <a:ext cx="5486400" cy="286232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public class Driver {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public static void main(String[] </a:t>
            </a:r>
            <a:r>
              <a:rPr lang="en-IE" dirty="0" err="1"/>
              <a:t>args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ClassExamples</a:t>
            </a:r>
            <a:r>
              <a:rPr lang="en-IE" dirty="0"/>
              <a:t> </a:t>
            </a:r>
            <a:r>
              <a:rPr lang="en-IE" dirty="0" err="1"/>
              <a:t>ce</a:t>
            </a:r>
            <a:r>
              <a:rPr lang="en-IE" dirty="0"/>
              <a:t> = new </a:t>
            </a:r>
            <a:r>
              <a:rPr lang="en-IE" dirty="0" err="1"/>
              <a:t>ClassExamples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double cel = </a:t>
            </a:r>
            <a:r>
              <a:rPr lang="en-IE" dirty="0" err="1"/>
              <a:t>ce.farenheitToCelsius</a:t>
            </a:r>
            <a:r>
              <a:rPr lang="en-IE" dirty="0"/>
              <a:t>(451);</a:t>
            </a:r>
            <a:br>
              <a:rPr lang="en-IE" dirty="0"/>
            </a:br>
            <a:r>
              <a:rPr lang="en-IE" dirty="0"/>
              <a:t>        double c = 20.5;</a:t>
            </a:r>
            <a:br>
              <a:rPr lang="en-IE" dirty="0"/>
            </a:br>
            <a:r>
              <a:rPr lang="en-IE" dirty="0"/>
              <a:t>        double d = 3.5;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ce.addNum</a:t>
            </a:r>
            <a:r>
              <a:rPr lang="en-IE" dirty="0"/>
              <a:t>(c, d);</a:t>
            </a:r>
            <a:br>
              <a:rPr lang="en-IE" dirty="0"/>
            </a:br>
            <a:r>
              <a:rPr lang="en-IE" dirty="0"/>
              <a:t>    }</a:t>
            </a:r>
            <a:br>
              <a:rPr lang="en-IE" dirty="0"/>
            </a:br>
            <a:r>
              <a:rPr lang="en-IE" dirty="0"/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305341"/>
            <a:ext cx="5240482" cy="424731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public class </a:t>
            </a:r>
            <a:r>
              <a:rPr lang="en-US" dirty="0" err="1"/>
              <a:t>ClassExamples</a:t>
            </a:r>
            <a:r>
              <a:rPr lang="en-US" dirty="0"/>
              <a:t> {</a:t>
            </a:r>
            <a:br>
              <a:rPr lang="en-US" dirty="0"/>
            </a:br>
            <a:br>
              <a:rPr lang="en-US" dirty="0"/>
            </a:br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(double num1, double num2){</a:t>
            </a:r>
            <a:br>
              <a:rPr lang="en-IE" dirty="0"/>
            </a:br>
            <a:r>
              <a:rPr lang="en-IE" dirty="0"/>
              <a:t>    double result = num1 + num2;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("This is double </a:t>
            </a:r>
            <a:r>
              <a:rPr lang="en-IE" dirty="0" err="1"/>
              <a:t>addNum</a:t>
            </a:r>
            <a:r>
              <a:rPr lang="en-IE" dirty="0"/>
              <a:t> " + result);</a:t>
            </a:r>
            <a:br>
              <a:rPr lang="en-IE" dirty="0"/>
            </a:br>
            <a:r>
              <a:rPr lang="en-IE" dirty="0"/>
              <a:t>}</a:t>
            </a:r>
          </a:p>
          <a:p>
            <a:br>
              <a:rPr lang="en-IE" dirty="0"/>
            </a:br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(int num1, int num2){</a:t>
            </a:r>
            <a:br>
              <a:rPr lang="en-IE" dirty="0"/>
            </a:br>
            <a:r>
              <a:rPr lang="en-IE" dirty="0"/>
              <a:t>    int result = num1 + num2;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("This is int </a:t>
            </a:r>
            <a:r>
              <a:rPr lang="en-IE" dirty="0" err="1"/>
              <a:t>addNum</a:t>
            </a:r>
            <a:r>
              <a:rPr lang="en-IE" dirty="0"/>
              <a:t> " + result);;</a:t>
            </a:r>
            <a:br>
              <a:rPr lang="en-IE" dirty="0"/>
            </a:br>
            <a:r>
              <a:rPr lang="en-IE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4955720"/>
            <a:ext cx="5410200" cy="107721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3200" dirty="0"/>
              <a:t>Q: Which </a:t>
            </a:r>
            <a:r>
              <a:rPr lang="en-IE" sz="3200" dirty="0" err="1"/>
              <a:t>addNum</a:t>
            </a:r>
            <a:r>
              <a:rPr lang="en-IE" sz="3200" dirty="0"/>
              <a:t> method is called and why?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1828800" y="3810000"/>
            <a:ext cx="647700" cy="10668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B0F72FA-0826-CDE7-1252-79AB4D172E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85" t="7247" b="46079"/>
          <a:stretch>
            <a:fillRect/>
          </a:stretch>
        </p:blipFill>
        <p:spPr>
          <a:xfrm>
            <a:off x="7162800" y="6032938"/>
            <a:ext cx="2598665" cy="291662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2500484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1353800" cy="4525963"/>
          </a:xfrm>
        </p:spPr>
        <p:txBody>
          <a:bodyPr>
            <a:normAutofit/>
          </a:bodyPr>
          <a:lstStyle/>
          <a:p>
            <a:r>
              <a:rPr lang="en-IE" dirty="0"/>
              <a:t>When you call a method, </a:t>
            </a:r>
            <a:br>
              <a:rPr lang="en-IE" dirty="0"/>
            </a:br>
            <a:r>
              <a:rPr lang="en-IE" dirty="0"/>
              <a:t>Java </a:t>
            </a:r>
            <a:r>
              <a:rPr lang="en-IE" b="1" dirty="0"/>
              <a:t>matches</a:t>
            </a:r>
            <a:r>
              <a:rPr lang="en-IE" dirty="0"/>
              <a:t> the </a:t>
            </a:r>
            <a:r>
              <a:rPr lang="en-IE" b="1" dirty="0"/>
              <a:t>number and type of the arguments </a:t>
            </a:r>
            <a:r>
              <a:rPr lang="en-IE" dirty="0"/>
              <a:t>you passed to the method, with all the declared methods.  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a match is found, Java invokes that method </a:t>
            </a:r>
            <a:br>
              <a:rPr lang="en-IE" dirty="0"/>
            </a:br>
            <a:r>
              <a:rPr lang="en-IE" dirty="0"/>
              <a:t>e.g. </a:t>
            </a:r>
          </a:p>
          <a:p>
            <a:pPr marL="400050" lvl="1" indent="0">
              <a:buNone/>
            </a:pPr>
            <a:r>
              <a:rPr lang="en-IE" dirty="0">
                <a:solidFill>
                  <a:srgbClr val="FF0000"/>
                </a:solidFill>
              </a:rPr>
              <a:t>	</a:t>
            </a:r>
            <a:r>
              <a:rPr lang="en-IE" dirty="0" err="1">
                <a:solidFill>
                  <a:srgbClr val="FF0000"/>
                </a:solidFill>
              </a:rPr>
              <a:t>addNum</a:t>
            </a:r>
            <a:r>
              <a:rPr lang="en-IE" dirty="0">
                <a:solidFill>
                  <a:srgbClr val="FF0000"/>
                </a:solidFill>
              </a:rPr>
              <a:t> (0, 4) 	</a:t>
            </a:r>
            <a:r>
              <a:rPr lang="en-IE" dirty="0"/>
              <a:t>calls 	void </a:t>
            </a:r>
            <a:r>
              <a:rPr lang="en-IE" b="1" dirty="0" err="1"/>
              <a:t>addNum</a:t>
            </a:r>
            <a:r>
              <a:rPr lang="en-IE" dirty="0"/>
              <a:t> (</a:t>
            </a:r>
            <a:r>
              <a:rPr lang="en-IE" b="1" dirty="0"/>
              <a:t>int</a:t>
            </a:r>
            <a:r>
              <a:rPr lang="en-IE" dirty="0"/>
              <a:t> num1, int num2)</a:t>
            </a:r>
          </a:p>
          <a:p>
            <a:pPr marL="400050" lvl="1" indent="0">
              <a:buNone/>
            </a:pPr>
            <a:r>
              <a:rPr lang="en-IE" dirty="0">
                <a:solidFill>
                  <a:srgbClr val="FF0000"/>
                </a:solidFill>
              </a:rPr>
              <a:t>	</a:t>
            </a:r>
            <a:r>
              <a:rPr lang="en-IE" dirty="0" err="1">
                <a:solidFill>
                  <a:srgbClr val="FF0000"/>
                </a:solidFill>
              </a:rPr>
              <a:t>addNum</a:t>
            </a:r>
            <a:r>
              <a:rPr lang="en-IE" dirty="0">
                <a:solidFill>
                  <a:srgbClr val="FF0000"/>
                </a:solidFill>
              </a:rPr>
              <a:t> (0.0, 4.0) 	</a:t>
            </a:r>
            <a:r>
              <a:rPr lang="en-IE" dirty="0"/>
              <a:t>calls 	void </a:t>
            </a:r>
            <a:r>
              <a:rPr lang="en-IE" b="1" dirty="0" err="1"/>
              <a:t>addNum</a:t>
            </a:r>
            <a:r>
              <a:rPr lang="en-IE" dirty="0"/>
              <a:t> (</a:t>
            </a:r>
            <a:r>
              <a:rPr lang="en-IE" b="1" dirty="0"/>
              <a:t>double</a:t>
            </a:r>
            <a:r>
              <a:rPr lang="en-IE" dirty="0"/>
              <a:t> num1, double num2)</a:t>
            </a:r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</p:spTree>
    <p:extLst>
      <p:ext uri="{BB962C8B-B14F-4D97-AF65-F5344CB8AC3E}">
        <p14:creationId xmlns:p14="http://schemas.microsoft.com/office/powerpoint/2010/main" val="27871853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CFD4B-6B9E-0CC2-5621-1C414C8E8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Key features of Method Overloading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79750-691C-3A9C-BE52-9B381EFA6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10972800" cy="4906963"/>
          </a:xfrm>
        </p:spPr>
        <p:txBody>
          <a:bodyPr>
            <a:normAutofit fontScale="92500" lnSpcReduction="20000"/>
          </a:bodyPr>
          <a:lstStyle/>
          <a:p>
            <a:pPr fontAlgn="base"/>
            <a:r>
              <a:rPr lang="en-US" dirty="0"/>
              <a:t>Multiple methods can share the same name in a class when their parameter lists are different.</a:t>
            </a:r>
          </a:p>
          <a:p>
            <a:pPr fontAlgn="base"/>
            <a:r>
              <a:rPr lang="en-US" dirty="0"/>
              <a:t>Overloading is a way to increase flexibility and improve the readability of code.</a:t>
            </a:r>
          </a:p>
          <a:p>
            <a:pPr fontAlgn="base"/>
            <a:r>
              <a:rPr lang="en-US" dirty="0"/>
              <a:t>Overloading does not depend on the return type of the method, two methods cannot be overloaded by just changing the return type.</a:t>
            </a:r>
          </a:p>
          <a:p>
            <a:r>
              <a:rPr lang="en-IE" dirty="0"/>
              <a:t>It does depend on:</a:t>
            </a:r>
          </a:p>
          <a:p>
            <a:pPr lvl="1" fontAlgn="base"/>
            <a:r>
              <a:rPr lang="en-US" dirty="0"/>
              <a:t>The number of parameters</a:t>
            </a:r>
          </a:p>
          <a:p>
            <a:pPr lvl="1" fontAlgn="base"/>
            <a:r>
              <a:rPr lang="en-US" dirty="0"/>
              <a:t>The types of parameters</a:t>
            </a:r>
          </a:p>
          <a:p>
            <a:pPr lvl="1" fontAlgn="base"/>
            <a:r>
              <a:rPr lang="en-US" dirty="0"/>
              <a:t>The order of parameters</a:t>
            </a:r>
          </a:p>
          <a:p>
            <a:pPr lvl="1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091313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2E40003-E6FE-FEF3-03C3-52585FF3A3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1600200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</TotalTime>
  <Words>1906</Words>
  <Application>Microsoft Macintosh PowerPoint</Application>
  <PresentationFormat>Widescreen</PresentationFormat>
  <Paragraphs>329</Paragraphs>
  <Slides>33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Consolas</vt:lpstr>
      <vt:lpstr>Lucida Sans Typewriter</vt:lpstr>
      <vt:lpstr>a-processing-mouse-event-methods</vt:lpstr>
      <vt:lpstr>Using Methods</vt:lpstr>
      <vt:lpstr>Topics list</vt:lpstr>
      <vt:lpstr>Return Type</vt:lpstr>
      <vt:lpstr>Parameter list</vt:lpstr>
      <vt:lpstr>Return a double</vt:lpstr>
      <vt:lpstr>Example 1 – Farenheit to Celsius</vt:lpstr>
      <vt:lpstr>Example 1 – Updated </vt:lpstr>
      <vt:lpstr>Topics list</vt:lpstr>
      <vt:lpstr>Example: Cubed</vt:lpstr>
      <vt:lpstr>Topics list</vt:lpstr>
      <vt:lpstr>Example: Product</vt:lpstr>
      <vt:lpstr>Topics list</vt:lpstr>
      <vt:lpstr>What is a Boolean Method?</vt:lpstr>
      <vt:lpstr>Syntax – Defining a Boolean Method</vt:lpstr>
      <vt:lpstr>PowerPoint Presentation</vt:lpstr>
      <vt:lpstr>PowerPoint Presentation</vt:lpstr>
      <vt:lpstr>PowerPoint Presentation</vt:lpstr>
      <vt:lpstr>Using a Boolean Method</vt:lpstr>
      <vt:lpstr>Boolean Method with Objects</vt:lpstr>
      <vt:lpstr>Typical Boolean Method Names</vt:lpstr>
      <vt:lpstr>Why Use Boolean Methods?</vt:lpstr>
      <vt:lpstr>Other Examples</vt:lpstr>
      <vt:lpstr>PowerPoint Presentation</vt:lpstr>
      <vt:lpstr>PowerPoint Presentation</vt:lpstr>
      <vt:lpstr>PowerPoint Presentation</vt:lpstr>
      <vt:lpstr>Topics list</vt:lpstr>
      <vt:lpstr>Overloaded methods</vt:lpstr>
      <vt:lpstr>Overloaded methods</vt:lpstr>
      <vt:lpstr>Overloaded methods</vt:lpstr>
      <vt:lpstr>Overloaded methods</vt:lpstr>
      <vt:lpstr>Overloaded methods</vt:lpstr>
      <vt:lpstr>Key features of Method Overloading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More on Methods</dc:title>
  <dc:creator>Siobhan Drohan</dc:creator>
  <cp:lastModifiedBy>Mairead Meagher</cp:lastModifiedBy>
  <cp:revision>330</cp:revision>
  <dcterms:created xsi:type="dcterms:W3CDTF">2006-08-16T00:00:00Z</dcterms:created>
  <dcterms:modified xsi:type="dcterms:W3CDTF">2025-11-07T10:11:16Z</dcterms:modified>
</cp:coreProperties>
</file>