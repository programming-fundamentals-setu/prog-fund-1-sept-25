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94" r:id="rId2"/>
    <p:sldId id="373" r:id="rId3"/>
    <p:sldId id="351" r:id="rId4"/>
    <p:sldId id="277" r:id="rId5"/>
    <p:sldId id="280" r:id="rId6"/>
    <p:sldId id="284" r:id="rId7"/>
    <p:sldId id="282" r:id="rId8"/>
    <p:sldId id="411" r:id="rId9"/>
    <p:sldId id="400" r:id="rId10"/>
    <p:sldId id="370" r:id="rId11"/>
    <p:sldId id="376" r:id="rId12"/>
    <p:sldId id="415" r:id="rId13"/>
    <p:sldId id="401" r:id="rId14"/>
    <p:sldId id="416" r:id="rId15"/>
    <p:sldId id="403" r:id="rId16"/>
    <p:sldId id="34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5" autoAdjust="0"/>
    <p:restoredTop sz="88986" autoAdjust="0"/>
  </p:normalViewPr>
  <p:slideViewPr>
    <p:cSldViewPr>
      <p:cViewPr varScale="1">
        <p:scale>
          <a:sx n="98" d="100"/>
          <a:sy n="98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14/10/2025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648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6486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// Cubed</a:t>
            </a:r>
          </a:p>
          <a:p>
            <a:endParaRPr lang="en-GB" dirty="0"/>
          </a:p>
          <a:p>
            <a:r>
              <a:rPr lang="en-GB" dirty="0"/>
              <a:t>void setup 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size(1024,768);</a:t>
            </a:r>
          </a:p>
          <a:p>
            <a:r>
              <a:rPr lang="en-GB" dirty="0"/>
              <a:t>  </a:t>
            </a:r>
            <a:r>
              <a:rPr lang="en-GB" dirty="0" err="1"/>
              <a:t>textSize</a:t>
            </a:r>
            <a:r>
              <a:rPr lang="en-GB" dirty="0"/>
              <a:t>(40);</a:t>
            </a:r>
          </a:p>
          <a:p>
            <a:r>
              <a:rPr lang="en-GB" dirty="0"/>
              <a:t>  fill(0,0,255);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void draw()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int number = 5;</a:t>
            </a:r>
          </a:p>
          <a:p>
            <a:r>
              <a:rPr lang="en-GB" dirty="0"/>
              <a:t>  text (number + " cubed is " + cubed(number), 100,100 );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int cubed (int </a:t>
            </a:r>
            <a:r>
              <a:rPr lang="en-GB" dirty="0" err="1"/>
              <a:t>num</a:t>
            </a:r>
            <a:r>
              <a:rPr lang="en-GB" dirty="0"/>
              <a:t>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return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;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2691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// Cubed</a:t>
            </a:r>
          </a:p>
          <a:p>
            <a:endParaRPr lang="en-GB" dirty="0"/>
          </a:p>
          <a:p>
            <a:r>
              <a:rPr lang="en-GB" dirty="0"/>
              <a:t>void setup 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size(1024,768);</a:t>
            </a:r>
          </a:p>
          <a:p>
            <a:r>
              <a:rPr lang="en-GB" dirty="0"/>
              <a:t>  </a:t>
            </a:r>
            <a:r>
              <a:rPr lang="en-GB" dirty="0" err="1"/>
              <a:t>textSize</a:t>
            </a:r>
            <a:r>
              <a:rPr lang="en-GB" dirty="0"/>
              <a:t>(40);</a:t>
            </a:r>
          </a:p>
          <a:p>
            <a:r>
              <a:rPr lang="en-GB" dirty="0"/>
              <a:t>  fill(0,0,255);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void draw()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int number = 5;</a:t>
            </a:r>
          </a:p>
          <a:p>
            <a:r>
              <a:rPr lang="en-GB" dirty="0"/>
              <a:t>  text (number + " cubed is " + cubed(5), 100,100 );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int cubed (int </a:t>
            </a:r>
            <a:r>
              <a:rPr lang="en-GB" dirty="0" err="1"/>
              <a:t>num</a:t>
            </a:r>
            <a:r>
              <a:rPr lang="en-GB" dirty="0"/>
              <a:t>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return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;</a:t>
            </a:r>
          </a:p>
          <a:p>
            <a:r>
              <a:rPr lang="en-GB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0760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1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4B6887-E166-F3DB-E99B-F51B63F48DD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5989C8-B22A-8A52-050F-3C546AF0CD0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79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6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A5B5BA-0C0C-7731-B7A3-EE404FC8AD5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915BF2-F3F9-83C1-7C23-3380421725E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19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21609A-4065-CDBE-386A-95C6F0DE5065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289F00-AE0F-6560-B6F4-CBB129476DD5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6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AA70D1-6728-4FFD-9673-39A194FB13F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B87D96-63C8-1D0E-2AF6-B6FD33C54F9F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43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7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6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1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4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37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85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1" y="2286002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657964"/>
            <a:ext cx="10134431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5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7409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7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0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Using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More on writing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3810000" y="3817204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Colm Dunphy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1175D-DAA8-1F79-AB24-1C1E53A68D05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9CCA31-63D8-F9B1-EBD4-63D2C2E558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49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1"/>
            <a:ext cx="8763000" cy="4525963"/>
          </a:xfrm>
        </p:spPr>
        <p:txBody>
          <a:bodyPr>
            <a:normAutofit/>
          </a:bodyPr>
          <a:lstStyle/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RECAP: Method Terminology:</a:t>
            </a:r>
            <a:endParaRPr lang="en-IE" b="1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Overloading</a:t>
            </a:r>
            <a:r>
              <a:rPr lang="en-IE" dirty="0"/>
              <a:t>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Recursion</a:t>
            </a:r>
            <a:r>
              <a:rPr lang="en-IE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1849115"/>
            <a:ext cx="6477000" cy="609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F3F8DD7-AAC8-5D40-A02E-B31A5F68D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8" t="20650" r="77216" b="63113"/>
          <a:stretch/>
        </p:blipFill>
        <p:spPr bwMode="auto">
          <a:xfrm>
            <a:off x="9156850" y="274638"/>
            <a:ext cx="1587350" cy="187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796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596962-1474-7327-7201-7BE07407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Simple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38ECA3-6216-1E8B-32CB-1FFFBBC64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76400"/>
            <a:ext cx="8610600" cy="380999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dk1"/>
                </a:solidFill>
              </a:rPr>
              <a:t>A method is a named block of code, that can be invoked later</a:t>
            </a:r>
          </a:p>
          <a:p>
            <a:pPr marL="0" indent="0">
              <a:buNone/>
            </a:pPr>
            <a:r>
              <a:rPr lang="en-IE" dirty="0">
                <a:solidFill>
                  <a:srgbClr val="234465"/>
                </a:solidFill>
                <a:latin typeface="Wingdings" panose="05000000000000000000" pitchFamily="2" charset="2"/>
              </a:rPr>
              <a:t>	</a:t>
            </a:r>
            <a:endParaRPr lang="en-IE" sz="1100" dirty="0">
              <a:solidFill>
                <a:srgbClr val="234465"/>
              </a:solidFill>
              <a:latin typeface="Calibri" panose="020F0502020204030204" pitchFamily="34" charset="0"/>
            </a:endParaRPr>
          </a:p>
          <a:p>
            <a:r>
              <a:rPr lang="en-IE" sz="2400" b="1" dirty="0">
                <a:solidFill>
                  <a:srgbClr val="FFFFFF"/>
                </a:solidFill>
                <a:latin typeface="Calibri,Bold"/>
              </a:rPr>
              <a:t>Method named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3A3CF-5760-5A3C-8D90-D2BFB130DD86}"/>
              </a:ext>
            </a:extLst>
          </p:cNvPr>
          <p:cNvSpPr/>
          <p:nvPr/>
        </p:nvSpPr>
        <p:spPr>
          <a:xfrm>
            <a:off x="1309991" y="2971800"/>
            <a:ext cx="8991600" cy="1409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b="1" dirty="0">
                <a:solidFill>
                  <a:schemeClr val="bg1"/>
                </a:solidFill>
                <a:latin typeface="Consolas,Bold"/>
              </a:rPr>
              <a:t>Public void </a:t>
            </a:r>
            <a:r>
              <a:rPr lang="en-IE" b="1" dirty="0" err="1">
                <a:solidFill>
                  <a:schemeClr val="bg1"/>
                </a:solidFill>
                <a:latin typeface="Consolas,Bold"/>
              </a:rPr>
              <a:t>printHello</a:t>
            </a:r>
            <a:r>
              <a:rPr lang="en-IE" b="1" dirty="0">
                <a:solidFill>
                  <a:schemeClr val="bg1"/>
                </a:solidFill>
                <a:latin typeface="Consolas,Bold"/>
              </a:rPr>
              <a:t> () {</a:t>
            </a:r>
          </a:p>
          <a:p>
            <a:r>
              <a:rPr lang="en-IE" b="1" dirty="0">
                <a:solidFill>
                  <a:schemeClr val="bg1"/>
                </a:solidFill>
                <a:latin typeface="Consolas,Bold"/>
              </a:rPr>
              <a:t>	</a:t>
            </a:r>
            <a:r>
              <a:rPr lang="en-IE" b="1" dirty="0" err="1">
                <a:solidFill>
                  <a:schemeClr val="bg1"/>
                </a:solidFill>
                <a:latin typeface="Consolas,Bold"/>
              </a:rPr>
              <a:t>System.out.println</a:t>
            </a:r>
            <a:r>
              <a:rPr lang="en-IE" b="1" dirty="0">
                <a:solidFill>
                  <a:schemeClr val="bg1"/>
                </a:solidFill>
                <a:latin typeface="Consolas,Bold"/>
              </a:rPr>
              <a:t>("Hello!");</a:t>
            </a:r>
          </a:p>
          <a:p>
            <a:r>
              <a:rPr lang="en-IE" b="1" dirty="0">
                <a:solidFill>
                  <a:schemeClr val="bg1"/>
                </a:solidFill>
                <a:latin typeface="Consolas,Bold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026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2152" y="2525013"/>
            <a:ext cx="5469648" cy="20621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void </a:t>
            </a:r>
            <a:r>
              <a:rPr lang="en-IE" sz="3200" dirty="0" err="1"/>
              <a:t>printHello</a:t>
            </a:r>
            <a:r>
              <a:rPr lang="en-IE" sz="3200" dirty="0"/>
              <a:t>() </a:t>
            </a:r>
          </a:p>
          <a:p>
            <a:r>
              <a:rPr lang="en-IE" sz="3200" dirty="0"/>
              <a:t>{</a:t>
            </a:r>
          </a:p>
          <a:p>
            <a:r>
              <a:rPr lang="en-IE" sz="3200" dirty="0"/>
              <a:t>    </a:t>
            </a:r>
            <a:r>
              <a:rPr lang="en-IE" sz="3200" dirty="0" err="1"/>
              <a:t>System.out.println</a:t>
            </a:r>
            <a:r>
              <a:rPr lang="en-IE" sz="3200" dirty="0"/>
              <a:t>(“Hello”);</a:t>
            </a:r>
          </a:p>
          <a:p>
            <a:r>
              <a:rPr lang="en-IE" sz="32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1"/>
            <a:ext cx="4376245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Method </a:t>
            </a:r>
            <a:r>
              <a:rPr lang="en-IE" sz="2800" b="1" dirty="0"/>
              <a:t>signature /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48507"/>
            <a:ext cx="27432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Method </a:t>
            </a:r>
            <a:r>
              <a:rPr lang="en-IE" sz="2800" b="1" dirty="0"/>
              <a:t>body</a:t>
            </a:r>
          </a:p>
        </p:txBody>
      </p:sp>
      <p:sp>
        <p:nvSpPr>
          <p:cNvPr id="7" name="Left Bracket 6"/>
          <p:cNvSpPr/>
          <p:nvPr/>
        </p:nvSpPr>
        <p:spPr>
          <a:xfrm>
            <a:off x="4893551" y="2803230"/>
            <a:ext cx="118899" cy="523220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800"/>
          </a:p>
        </p:txBody>
      </p:sp>
      <p:sp>
        <p:nvSpPr>
          <p:cNvPr id="8" name="Left Bracket 7"/>
          <p:cNvSpPr/>
          <p:nvPr/>
        </p:nvSpPr>
        <p:spPr>
          <a:xfrm>
            <a:off x="4899792" y="3469413"/>
            <a:ext cx="172107" cy="1712188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800"/>
          </a:p>
        </p:txBody>
      </p:sp>
      <p:cxnSp>
        <p:nvCxnSpPr>
          <p:cNvPr id="10" name="Straight Arrow Connector 9"/>
          <p:cNvCxnSpPr>
            <a:cxnSpLocks/>
            <a:stCxn id="5" idx="2"/>
            <a:endCxn id="7" idx="1"/>
          </p:cNvCxnSpPr>
          <p:nvPr/>
        </p:nvCxnSpPr>
        <p:spPr>
          <a:xfrm>
            <a:off x="2797723" y="2352021"/>
            <a:ext cx="2095828" cy="712819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6" idx="3"/>
            <a:endCxn id="8" idx="1"/>
          </p:cNvCxnSpPr>
          <p:nvPr/>
        </p:nvCxnSpPr>
        <p:spPr>
          <a:xfrm>
            <a:off x="3352800" y="4310117"/>
            <a:ext cx="1546992" cy="15390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26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72233" y="4240521"/>
            <a:ext cx="5620156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6000" dirty="0"/>
              <a:t>void </a:t>
            </a:r>
            <a:r>
              <a:rPr lang="en-IE" sz="6000" dirty="0" err="1"/>
              <a:t>printHello</a:t>
            </a:r>
            <a:r>
              <a:rPr lang="en-IE" sz="6000" dirty="0"/>
              <a:t>()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4330" y="2365054"/>
            <a:ext cx="2007149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b="1" dirty="0"/>
              <a:t>Return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529" y="2365054"/>
            <a:ext cx="2343151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b="1" dirty="0"/>
              <a:t>Method name</a:t>
            </a:r>
          </a:p>
        </p:txBody>
      </p:sp>
      <p:sp>
        <p:nvSpPr>
          <p:cNvPr id="7" name="Left Bracket 6"/>
          <p:cNvSpPr/>
          <p:nvPr/>
        </p:nvSpPr>
        <p:spPr>
          <a:xfrm rot="5400000" flipV="1">
            <a:off x="4333682" y="3489326"/>
            <a:ext cx="207983" cy="1294415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800"/>
          </a:p>
        </p:txBody>
      </p:sp>
      <p:cxnSp>
        <p:nvCxnSpPr>
          <p:cNvPr id="10" name="Straight Arrow Connector 9"/>
          <p:cNvCxnSpPr>
            <a:stCxn id="5" idx="2"/>
            <a:endCxn id="7" idx="1"/>
          </p:cNvCxnSpPr>
          <p:nvPr/>
        </p:nvCxnSpPr>
        <p:spPr>
          <a:xfrm>
            <a:off x="3547905" y="2888274"/>
            <a:ext cx="889769" cy="1144268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eft Bracket 12"/>
          <p:cNvSpPr/>
          <p:nvPr/>
        </p:nvSpPr>
        <p:spPr>
          <a:xfrm rot="5400000" flipV="1">
            <a:off x="6705649" y="2716572"/>
            <a:ext cx="207983" cy="2839922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800"/>
          </a:p>
        </p:txBody>
      </p:sp>
      <p:cxnSp>
        <p:nvCxnSpPr>
          <p:cNvPr id="19" name="Straight Arrow Connector 18"/>
          <p:cNvCxnSpPr>
            <a:cxnSpLocks/>
            <a:stCxn id="6" idx="2"/>
            <a:endCxn id="13" idx="1"/>
          </p:cNvCxnSpPr>
          <p:nvPr/>
        </p:nvCxnSpPr>
        <p:spPr>
          <a:xfrm>
            <a:off x="6123105" y="2888274"/>
            <a:ext cx="686536" cy="1144268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60242" y="2365054"/>
            <a:ext cx="2343151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b="1" dirty="0"/>
              <a:t>Parameter list</a:t>
            </a:r>
          </a:p>
        </p:txBody>
      </p:sp>
      <p:sp>
        <p:nvSpPr>
          <p:cNvPr id="24" name="Left Bracket 23"/>
          <p:cNvSpPr/>
          <p:nvPr/>
        </p:nvSpPr>
        <p:spPr>
          <a:xfrm rot="5400000" flipV="1">
            <a:off x="8664900" y="3890691"/>
            <a:ext cx="207984" cy="491687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800"/>
          </a:p>
        </p:txBody>
      </p:sp>
      <p:cxnSp>
        <p:nvCxnSpPr>
          <p:cNvPr id="25" name="Straight Arrow Connector 24"/>
          <p:cNvCxnSpPr>
            <a:stCxn id="23" idx="2"/>
            <a:endCxn id="24" idx="1"/>
          </p:cNvCxnSpPr>
          <p:nvPr/>
        </p:nvCxnSpPr>
        <p:spPr>
          <a:xfrm flipH="1">
            <a:off x="8768893" y="2888274"/>
            <a:ext cx="62925" cy="1144269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81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Return Type</a:t>
            </a:r>
            <a:endParaRPr lang="en-I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379200" cy="4525963"/>
          </a:xfrm>
        </p:spPr>
        <p:txBody>
          <a:bodyPr>
            <a:normAutofit lnSpcReduction="10000"/>
          </a:bodyPr>
          <a:lstStyle/>
          <a:p>
            <a:endParaRPr lang="en-IE" dirty="0"/>
          </a:p>
          <a:p>
            <a:r>
              <a:rPr lang="en-IE" dirty="0"/>
              <a:t>Methods can return information. </a:t>
            </a:r>
            <a:br>
              <a:rPr lang="en-IE" dirty="0"/>
            </a:br>
            <a:endParaRPr lang="en-IE" dirty="0"/>
          </a:p>
          <a:p>
            <a:r>
              <a:rPr lang="en-IE" dirty="0"/>
              <a:t>The </a:t>
            </a:r>
            <a:r>
              <a:rPr lang="en-IE" dirty="0">
                <a:solidFill>
                  <a:srgbClr val="FF0000"/>
                </a:solidFill>
              </a:rPr>
              <a:t>void</a:t>
            </a:r>
            <a:r>
              <a:rPr lang="en-IE" dirty="0"/>
              <a:t> keyword just before the method name </a:t>
            </a:r>
            <a:br>
              <a:rPr lang="en-IE" dirty="0"/>
            </a:br>
            <a:r>
              <a:rPr lang="en-IE" dirty="0"/>
              <a:t>means that </a:t>
            </a:r>
            <a:r>
              <a:rPr lang="en-IE" b="1" dirty="0"/>
              <a:t>nothing is returned</a:t>
            </a:r>
            <a:r>
              <a:rPr lang="en-IE" dirty="0"/>
              <a:t> from the method.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a data type (e.g. </a:t>
            </a:r>
            <a:r>
              <a:rPr lang="en-IE" dirty="0">
                <a:solidFill>
                  <a:srgbClr val="FF0000"/>
                </a:solidFill>
              </a:rPr>
              <a:t>int</a:t>
            </a:r>
            <a:r>
              <a:rPr lang="en-IE" dirty="0"/>
              <a:t>) </a:t>
            </a:r>
            <a:br>
              <a:rPr lang="en-IE" dirty="0"/>
            </a:br>
            <a:r>
              <a:rPr lang="en-IE" dirty="0"/>
              <a:t>appears before the method name, </a:t>
            </a:r>
            <a:br>
              <a:rPr lang="en-IE" dirty="0"/>
            </a:br>
            <a:r>
              <a:rPr lang="en-IE" dirty="0"/>
              <a:t>this means that </a:t>
            </a:r>
            <a:r>
              <a:rPr lang="en-IE" b="1" dirty="0"/>
              <a:t>something is returned</a:t>
            </a:r>
            <a:r>
              <a:rPr lang="en-IE" dirty="0"/>
              <a:t> from the method.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Within the body of the method, </a:t>
            </a:r>
            <a:br>
              <a:rPr lang="en-IE" dirty="0"/>
            </a:br>
            <a:r>
              <a:rPr lang="en-IE" dirty="0"/>
              <a:t>you use the </a:t>
            </a:r>
            <a:r>
              <a:rPr lang="en-IE" b="1" dirty="0">
                <a:solidFill>
                  <a:srgbClr val="FF0000"/>
                </a:solidFill>
              </a:rPr>
              <a:t>return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statement to </a:t>
            </a:r>
            <a:r>
              <a:rPr lang="en-IE" b="1" dirty="0"/>
              <a:t>return the value</a:t>
            </a:r>
            <a:r>
              <a:rPr lang="en-IE" dirty="0"/>
              <a:t>. 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5DFA9-4192-19FD-2FCB-254A7C19D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327231"/>
            <a:ext cx="3429000" cy="17347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1C5C1B-3222-0132-5253-621A9B649E7A}"/>
              </a:ext>
            </a:extLst>
          </p:cNvPr>
          <p:cNvSpPr/>
          <p:nvPr/>
        </p:nvSpPr>
        <p:spPr>
          <a:xfrm>
            <a:off x="8420911" y="4187172"/>
            <a:ext cx="36576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FF0000"/>
                </a:solidFill>
              </a:rPr>
              <a:t>int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 err="1"/>
              <a:t>timesTwo</a:t>
            </a:r>
            <a:r>
              <a:rPr lang="en-IE" sz="2400" dirty="0"/>
              <a:t>(int </a:t>
            </a:r>
            <a:r>
              <a:rPr lang="en-IE" sz="2400" dirty="0">
                <a:solidFill>
                  <a:srgbClr val="00B0F0"/>
                </a:solidFill>
              </a:rPr>
              <a:t>number</a:t>
            </a:r>
            <a:r>
              <a:rPr lang="en-IE" sz="2400" dirty="0"/>
              <a:t>)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number = number * 2; </a:t>
            </a:r>
          </a:p>
          <a:p>
            <a:r>
              <a:rPr lang="en-IE" sz="2400" dirty="0"/>
              <a:t>    </a:t>
            </a:r>
            <a:r>
              <a:rPr lang="en-IE" sz="2400" b="1" dirty="0">
                <a:solidFill>
                  <a:schemeClr val="tx1"/>
                </a:solidFill>
              </a:rPr>
              <a:t>return</a:t>
            </a:r>
            <a:r>
              <a:rPr lang="en-IE" sz="2400" dirty="0">
                <a:solidFill>
                  <a:schemeClr val="tx1"/>
                </a:solidFill>
              </a:rPr>
              <a:t> </a:t>
            </a:r>
            <a:r>
              <a:rPr lang="en-IE" sz="2400" dirty="0"/>
              <a:t>number; </a:t>
            </a:r>
          </a:p>
          <a:p>
            <a:r>
              <a:rPr lang="en-IE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98390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Parameter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6012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E" dirty="0"/>
          </a:p>
          <a:p>
            <a:r>
              <a:rPr lang="en-IE" dirty="0"/>
              <a:t>Methods </a:t>
            </a:r>
            <a:r>
              <a:rPr lang="en-IE" b="1" dirty="0"/>
              <a:t>take in data </a:t>
            </a:r>
            <a:r>
              <a:rPr lang="en-IE" dirty="0"/>
              <a:t>via their </a:t>
            </a:r>
            <a:r>
              <a:rPr lang="en-IE" b="1" dirty="0"/>
              <a:t>parameters</a:t>
            </a:r>
            <a:r>
              <a:rPr lang="en-IE" dirty="0"/>
              <a:t>.</a:t>
            </a:r>
          </a:p>
          <a:p>
            <a:endParaRPr lang="en-IE" dirty="0"/>
          </a:p>
          <a:p>
            <a:r>
              <a:rPr lang="en-IE" dirty="0"/>
              <a:t>Methods do not have to pass parameters </a:t>
            </a:r>
          </a:p>
          <a:p>
            <a:endParaRPr lang="en-IE" dirty="0"/>
          </a:p>
          <a:p>
            <a:r>
              <a:rPr lang="en-IE" dirty="0"/>
              <a:t>A </a:t>
            </a:r>
            <a:r>
              <a:rPr lang="en-IE" b="1" dirty="0"/>
              <a:t>parameter</a:t>
            </a:r>
            <a:r>
              <a:rPr lang="en-IE" dirty="0"/>
              <a:t> is a </a:t>
            </a:r>
            <a:r>
              <a:rPr lang="en-IE" b="1" dirty="0"/>
              <a:t>variable declaration </a:t>
            </a:r>
            <a:r>
              <a:rPr lang="en-IE" dirty="0"/>
              <a:t>–</a:t>
            </a:r>
          </a:p>
          <a:p>
            <a:pPr lvl="1"/>
            <a:r>
              <a:rPr lang="en-IE" sz="2000" dirty="0"/>
              <a:t>it has a </a:t>
            </a:r>
            <a:r>
              <a:rPr lang="en-IE" sz="2000" b="1" dirty="0"/>
              <a:t>type</a:t>
            </a:r>
            <a:r>
              <a:rPr lang="en-IE" sz="2000" dirty="0"/>
              <a:t> (e.g. int) </a:t>
            </a:r>
            <a:br>
              <a:rPr lang="en-IE" sz="2000" dirty="0"/>
            </a:br>
            <a:r>
              <a:rPr lang="en-IE" sz="2000" dirty="0"/>
              <a:t>and a </a:t>
            </a:r>
            <a:r>
              <a:rPr lang="en-IE" sz="2000" b="1" dirty="0"/>
              <a:t>name</a:t>
            </a:r>
            <a:r>
              <a:rPr lang="en-IE" sz="2000" dirty="0"/>
              <a:t> (e.g. </a:t>
            </a:r>
            <a:r>
              <a:rPr lang="en-IE" sz="2000" dirty="0" err="1"/>
              <a:t>num</a:t>
            </a:r>
            <a:r>
              <a:rPr lang="en-IE" sz="2000" dirty="0"/>
              <a:t>). </a:t>
            </a:r>
          </a:p>
          <a:p>
            <a:pPr lvl="1"/>
            <a:endParaRPr lang="en-IE" sz="2000" dirty="0"/>
          </a:p>
          <a:p>
            <a:r>
              <a:rPr lang="en-IE" dirty="0"/>
              <a:t>If a method needs additional information to execute, </a:t>
            </a:r>
            <a:br>
              <a:rPr lang="en-IE" dirty="0"/>
            </a:br>
            <a:r>
              <a:rPr lang="en-IE" dirty="0"/>
              <a:t>we provide a parameter, so that the information can be passed into it. </a:t>
            </a:r>
          </a:p>
          <a:p>
            <a:endParaRPr lang="en-IE" dirty="0"/>
          </a:p>
          <a:p>
            <a:r>
              <a:rPr lang="en-IE" dirty="0"/>
              <a:t>Methods can have </a:t>
            </a:r>
            <a:r>
              <a:rPr lang="en-IE" b="1" dirty="0"/>
              <a:t>any number of parameters</a:t>
            </a:r>
            <a:br>
              <a:rPr lang="en-IE" dirty="0"/>
            </a:b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A8175D-C7D7-B614-ED0D-1BE82E1D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195" y="381000"/>
            <a:ext cx="4290630" cy="18445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8C612D-6181-9045-0054-4A5A7088970F}"/>
              </a:ext>
            </a:extLst>
          </p:cNvPr>
          <p:cNvSpPr/>
          <p:nvPr/>
        </p:nvSpPr>
        <p:spPr>
          <a:xfrm>
            <a:off x="8382000" y="2693486"/>
            <a:ext cx="36576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FF0000"/>
                </a:solidFill>
              </a:rPr>
              <a:t>int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 err="1"/>
              <a:t>timesTwo</a:t>
            </a:r>
            <a:r>
              <a:rPr lang="en-IE" sz="2400" dirty="0"/>
              <a:t>(int </a:t>
            </a:r>
            <a:r>
              <a:rPr lang="en-IE" sz="2400" dirty="0">
                <a:solidFill>
                  <a:srgbClr val="00B0F0"/>
                </a:solidFill>
              </a:rPr>
              <a:t>number</a:t>
            </a:r>
            <a:r>
              <a:rPr lang="en-IE" sz="2400" dirty="0"/>
              <a:t>)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number = number * 2; </a:t>
            </a:r>
          </a:p>
          <a:p>
            <a:r>
              <a:rPr lang="en-IE" sz="2400" dirty="0"/>
              <a:t>    </a:t>
            </a:r>
            <a:r>
              <a:rPr lang="en-IE" sz="2400" b="1" dirty="0">
                <a:solidFill>
                  <a:schemeClr val="tx1"/>
                </a:solidFill>
              </a:rPr>
              <a:t>return</a:t>
            </a:r>
            <a:r>
              <a:rPr lang="en-IE" sz="2400" dirty="0">
                <a:solidFill>
                  <a:schemeClr val="tx1"/>
                </a:solidFill>
              </a:rPr>
              <a:t> </a:t>
            </a:r>
            <a:r>
              <a:rPr lang="en-IE" sz="2400" dirty="0"/>
              <a:t>number; </a:t>
            </a:r>
          </a:p>
          <a:p>
            <a:r>
              <a:rPr lang="en-IE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75513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1981200" y="2667000"/>
            <a:ext cx="64770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5C4549-F0FA-9E11-024E-9C41A8FD4C1D}"/>
              </a:ext>
            </a:extLst>
          </p:cNvPr>
          <p:cNvSpPr txBox="1">
            <a:spLocks/>
          </p:cNvSpPr>
          <p:nvPr/>
        </p:nvSpPr>
        <p:spPr>
          <a:xfrm>
            <a:off x="1981200" y="16764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RECAP: Method Terminology:</a:t>
            </a:r>
            <a:endParaRPr lang="en-IE" b="1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Overloading</a:t>
            </a:r>
            <a:r>
              <a:rPr lang="en-IE" dirty="0"/>
              <a:t>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Recursion</a:t>
            </a:r>
            <a:r>
              <a:rPr lang="en-I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504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8FF8-C426-5641-9EEE-A9D275E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Return a double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0D0B-4B66-4A4B-A7FC-A1E67A84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1" dirty="0"/>
          </a:p>
          <a:p>
            <a:r>
              <a:rPr lang="en-GB" dirty="0"/>
              <a:t>Now we consider an example where the method </a:t>
            </a:r>
            <a:r>
              <a:rPr lang="en-GB" b="1" dirty="0"/>
              <a:t>does return a value</a:t>
            </a:r>
            <a:r>
              <a:rPr lang="en-GB" dirty="0"/>
              <a:t> (which could be any data type) but in this next example it returns a </a:t>
            </a:r>
            <a:r>
              <a:rPr lang="en-GB" b="1" dirty="0"/>
              <a:t>double</a:t>
            </a:r>
          </a:p>
        </p:txBody>
      </p:sp>
    </p:spTree>
    <p:extLst>
      <p:ext uri="{BB962C8B-B14F-4D97-AF65-F5344CB8AC3E}">
        <p14:creationId xmlns:p14="http://schemas.microsoft.com/office/powerpoint/2010/main" val="155428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52500" y="1676400"/>
            <a:ext cx="662940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dirty="0" err="1"/>
              <a:t>celsius</a:t>
            </a:r>
            <a:r>
              <a:rPr lang="en-IE" sz="2400" dirty="0"/>
              <a:t> = </a:t>
            </a:r>
            <a:r>
              <a:rPr lang="en-IE" sz="2400" b="1" dirty="0" err="1"/>
              <a:t>farenheitToCelsius</a:t>
            </a:r>
            <a:r>
              <a:rPr lang="en-IE" sz="2400" dirty="0"/>
              <a:t> (451.0);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("Celsius value is: " + </a:t>
            </a:r>
            <a:r>
              <a:rPr lang="en-IE" sz="2400" dirty="0" err="1"/>
              <a:t>celsius</a:t>
            </a:r>
            <a:r>
              <a:rPr lang="en-IE" sz="2400" dirty="0"/>
              <a:t>);</a:t>
            </a:r>
          </a:p>
          <a:p>
            <a:endParaRPr lang="en-IE" sz="2400" dirty="0"/>
          </a:p>
        </p:txBody>
      </p:sp>
      <p:sp>
        <p:nvSpPr>
          <p:cNvPr id="4" name="Rectangle 3"/>
          <p:cNvSpPr/>
          <p:nvPr/>
        </p:nvSpPr>
        <p:spPr>
          <a:xfrm>
            <a:off x="3733800" y="4419600"/>
            <a:ext cx="6629400" cy="19389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b="1" dirty="0" err="1"/>
              <a:t>farenheitToCelsius</a:t>
            </a:r>
            <a:r>
              <a:rPr lang="en-IE" sz="2400" b="1" dirty="0"/>
              <a:t> </a:t>
            </a:r>
            <a:r>
              <a:rPr lang="en-IE" sz="2400" dirty="0"/>
              <a:t>(double </a:t>
            </a:r>
            <a:r>
              <a:rPr lang="en-IE" sz="2400" dirty="0" err="1"/>
              <a:t>farenheit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 double result = (</a:t>
            </a:r>
            <a:r>
              <a:rPr lang="en-IE" sz="2400" dirty="0" err="1"/>
              <a:t>farenheit</a:t>
            </a:r>
            <a:r>
              <a:rPr lang="en-IE" sz="2400" dirty="0"/>
              <a:t> - 32.0) * (5.0/9.0);</a:t>
            </a:r>
          </a:p>
          <a:p>
            <a:r>
              <a:rPr lang="en-IE" sz="2400" dirty="0"/>
              <a:t>     </a:t>
            </a:r>
            <a:r>
              <a:rPr lang="en-IE" sz="2400" b="1" dirty="0"/>
              <a:t>return</a:t>
            </a:r>
            <a:r>
              <a:rPr lang="en-IE" sz="2400" dirty="0"/>
              <a:t> result;</a:t>
            </a:r>
          </a:p>
          <a:p>
            <a:r>
              <a:rPr lang="en-IE" sz="2400" dirty="0"/>
              <a:t>}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122D9D-D92A-CD4C-B107-8F30936DD0EE}"/>
              </a:ext>
            </a:extLst>
          </p:cNvPr>
          <p:cNvCxnSpPr>
            <a:cxnSpLocks/>
          </p:cNvCxnSpPr>
          <p:nvPr/>
        </p:nvCxnSpPr>
        <p:spPr>
          <a:xfrm>
            <a:off x="6147549" y="2139790"/>
            <a:ext cx="1777251" cy="23560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Example </a:t>
            </a:r>
            <a:r>
              <a:rPr lang="en-IE" dirty="0"/>
              <a:t>– </a:t>
            </a:r>
            <a:r>
              <a:rPr lang="en-IE" dirty="0" err="1"/>
              <a:t>Farenheit</a:t>
            </a:r>
            <a:r>
              <a:rPr lang="en-IE" dirty="0"/>
              <a:t> to Celsius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733801"/>
            <a:ext cx="3679556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Celsius value is: 232.77779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1685441"/>
            <a:ext cx="17526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 err="1"/>
              <a:t>Farenheit</a:t>
            </a:r>
            <a:r>
              <a:rPr lang="en-IE" sz="2400" dirty="0"/>
              <a:t> value is hardcoded as a literal.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7391400" y="2470272"/>
            <a:ext cx="1143000" cy="1756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562600" y="2819400"/>
            <a:ext cx="76200" cy="1600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1670" y="4227210"/>
            <a:ext cx="1676400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Return type</a:t>
            </a:r>
          </a:p>
        </p:txBody>
      </p:sp>
      <p:cxnSp>
        <p:nvCxnSpPr>
          <p:cNvPr id="16" name="Straight Arrow Connector 15"/>
          <p:cNvCxnSpPr>
            <a:cxnSpLocks/>
            <a:stCxn id="15" idx="3"/>
          </p:cNvCxnSpPr>
          <p:nvPr/>
        </p:nvCxnSpPr>
        <p:spPr>
          <a:xfrm>
            <a:off x="2158070" y="4458043"/>
            <a:ext cx="1502139" cy="2710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2631519" y="2023810"/>
            <a:ext cx="2397681" cy="3767391"/>
          </a:xfrm>
          <a:prstGeom prst="straightConnector1">
            <a:avLst/>
          </a:prstGeom>
          <a:ln w="285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3439027" y="2584315"/>
            <a:ext cx="2542673" cy="311286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096001" y="3193720"/>
            <a:ext cx="677157" cy="54008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  <a:stCxn id="15" idx="0"/>
          </p:cNvCxnSpPr>
          <p:nvPr/>
        </p:nvCxnSpPr>
        <p:spPr>
          <a:xfrm flipV="1">
            <a:off x="1319870" y="2777574"/>
            <a:ext cx="1000808" cy="14496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C3A17F-D07D-A74F-9638-E6B0F34F3032}"/>
              </a:ext>
            </a:extLst>
          </p:cNvPr>
          <p:cNvSpPr txBox="1"/>
          <p:nvPr/>
        </p:nvSpPr>
        <p:spPr>
          <a:xfrm>
            <a:off x="6147549" y="499967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451.0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7FBFA3-E95B-9A4C-B58D-A063A855CD90}"/>
              </a:ext>
            </a:extLst>
          </p:cNvPr>
          <p:cNvSpPr txBox="1"/>
          <p:nvPr/>
        </p:nvSpPr>
        <p:spPr>
          <a:xfrm>
            <a:off x="7621123" y="471821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451.0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18C9CD-6C99-1442-8126-2AE8E3CD1D12}"/>
              </a:ext>
            </a:extLst>
          </p:cNvPr>
          <p:cNvCxnSpPr>
            <a:cxnSpLocks/>
            <a:stCxn id="19" idx="1"/>
            <a:endCxn id="8" idx="3"/>
          </p:cNvCxnSpPr>
          <p:nvPr/>
        </p:nvCxnSpPr>
        <p:spPr>
          <a:xfrm flipH="1">
            <a:off x="6858000" y="4902876"/>
            <a:ext cx="763123" cy="2814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A2E27BD-6768-A349-99D1-FE8AC46A7FBA}"/>
              </a:ext>
            </a:extLst>
          </p:cNvPr>
          <p:cNvSpPr txBox="1"/>
          <p:nvPr/>
        </p:nvSpPr>
        <p:spPr>
          <a:xfrm>
            <a:off x="4439936" y="4996934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232.77779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8FA346-3B58-0B40-AE95-1D7C0727E37B}"/>
              </a:ext>
            </a:extLst>
          </p:cNvPr>
          <p:cNvSpPr txBox="1"/>
          <p:nvPr/>
        </p:nvSpPr>
        <p:spPr>
          <a:xfrm>
            <a:off x="2176036" y="242837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232.77779</a:t>
            </a:r>
          </a:p>
        </p:txBody>
      </p:sp>
    </p:spTree>
    <p:extLst>
      <p:ext uri="{BB962C8B-B14F-4D97-AF65-F5344CB8AC3E}">
        <p14:creationId xmlns:p14="http://schemas.microsoft.com/office/powerpoint/2010/main" val="28677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5" grpId="0" animBg="1"/>
      <p:bldP spid="8" grpId="0"/>
      <p:bldP spid="19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Example – Updated 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4419600"/>
            <a:ext cx="5715000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dirty="0" err="1"/>
              <a:t>farenheitToCelsius</a:t>
            </a:r>
            <a:r>
              <a:rPr lang="en-IE" sz="2400" dirty="0"/>
              <a:t> (double </a:t>
            </a:r>
            <a:r>
              <a:rPr lang="en-IE" sz="2400" dirty="0" err="1"/>
              <a:t>farenheit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  </a:t>
            </a:r>
            <a:r>
              <a:rPr lang="en-IE" sz="2400" b="1" dirty="0"/>
              <a:t>return</a:t>
            </a:r>
            <a:r>
              <a:rPr lang="en-IE" sz="2400" dirty="0"/>
              <a:t> (</a:t>
            </a:r>
            <a:r>
              <a:rPr lang="en-IE" sz="2400" dirty="0" err="1"/>
              <a:t>farenheit</a:t>
            </a:r>
            <a:r>
              <a:rPr lang="en-IE" sz="2400" dirty="0"/>
              <a:t> - 32.0) * (5.0/9.0);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767792"/>
            <a:ext cx="3234847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both methods are exactly the same</a:t>
            </a: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3200400" y="4598789"/>
            <a:ext cx="1143000" cy="70512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19600" y="1828800"/>
            <a:ext cx="6096000" cy="19389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dirty="0" err="1"/>
              <a:t>farenheitToCelsius</a:t>
            </a:r>
            <a:r>
              <a:rPr lang="en-IE" sz="2400" dirty="0"/>
              <a:t> (double </a:t>
            </a:r>
            <a:r>
              <a:rPr lang="en-IE" sz="2400" dirty="0" err="1"/>
              <a:t>farenheit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 </a:t>
            </a:r>
            <a:r>
              <a:rPr lang="en-IE" sz="2400" dirty="0">
                <a:solidFill>
                  <a:srgbClr val="00B050"/>
                </a:solidFill>
              </a:rPr>
              <a:t>double result = </a:t>
            </a:r>
            <a:r>
              <a:rPr lang="en-IE" sz="2400" dirty="0"/>
              <a:t>(</a:t>
            </a:r>
            <a:r>
              <a:rPr lang="en-IE" sz="2400" dirty="0" err="1"/>
              <a:t>farenheit</a:t>
            </a:r>
            <a:r>
              <a:rPr lang="en-IE" sz="2400" dirty="0"/>
              <a:t> - 32.0) * (5.0/9.0);</a:t>
            </a:r>
          </a:p>
          <a:p>
            <a:r>
              <a:rPr lang="en-IE" sz="2400" dirty="0"/>
              <a:t>     return </a:t>
            </a:r>
            <a:r>
              <a:rPr lang="en-IE" sz="2400" dirty="0">
                <a:solidFill>
                  <a:srgbClr val="00B050"/>
                </a:solidFill>
              </a:rPr>
              <a:t>result</a:t>
            </a:r>
            <a:r>
              <a:rPr lang="en-IE" sz="2400" dirty="0"/>
              <a:t>;</a:t>
            </a:r>
          </a:p>
          <a:p>
            <a:r>
              <a:rPr lang="en-IE" sz="2400" dirty="0"/>
              <a:t>}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3276600" y="2798296"/>
            <a:ext cx="1066800" cy="96703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4181847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1676400" y="3939381"/>
            <a:ext cx="64770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7A198BA-1120-AF96-FC80-9444A75778F9}"/>
              </a:ext>
            </a:extLst>
          </p:cNvPr>
          <p:cNvSpPr txBox="1">
            <a:spLocks/>
          </p:cNvSpPr>
          <p:nvPr/>
        </p:nvSpPr>
        <p:spPr>
          <a:xfrm>
            <a:off x="1524000" y="19050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RECAP: Method Terminology:</a:t>
            </a:r>
            <a:endParaRPr lang="en-IE" b="1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Overloading</a:t>
            </a:r>
            <a:r>
              <a:rPr lang="en-IE" dirty="0"/>
              <a:t>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Recursion</a:t>
            </a:r>
            <a:r>
              <a:rPr lang="en-I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10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F0D1262-EB8C-E09B-1673-600B3FA10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068" y="3180888"/>
            <a:ext cx="7125317" cy="3063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98985-A227-FF4C-BF5D-D7473C16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b="1" dirty="0"/>
              <a:t>Cubed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F2938D-25DF-A96E-5513-877ADA03C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57450" y="1600200"/>
            <a:ext cx="3482642" cy="2065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0D729-3B86-B44A-A128-6A6E95E5B3B6}"/>
              </a:ext>
            </a:extLst>
          </p:cNvPr>
          <p:cNvSpPr txBox="1"/>
          <p:nvPr/>
        </p:nvSpPr>
        <p:spPr>
          <a:xfrm>
            <a:off x="1122371" y="6329556"/>
            <a:ext cx="1676400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Return type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AAC6C8-BF91-E044-9929-5C420331450E}"/>
              </a:ext>
            </a:extLst>
          </p:cNvPr>
          <p:cNvCxnSpPr>
            <a:cxnSpLocks/>
          </p:cNvCxnSpPr>
          <p:nvPr/>
        </p:nvCxnSpPr>
        <p:spPr>
          <a:xfrm flipH="1" flipV="1">
            <a:off x="2089999" y="2743200"/>
            <a:ext cx="709737" cy="386607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6A2E1A-34B2-FF42-9D2E-E0CB9624F29A}"/>
              </a:ext>
            </a:extLst>
          </p:cNvPr>
          <p:cNvCxnSpPr>
            <a:cxnSpLocks/>
          </p:cNvCxnSpPr>
          <p:nvPr/>
        </p:nvCxnSpPr>
        <p:spPr>
          <a:xfrm flipH="1" flipV="1">
            <a:off x="3678819" y="2632799"/>
            <a:ext cx="4814621" cy="2265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226864-7C31-B743-9AEF-C34838B0CC93}"/>
              </a:ext>
            </a:extLst>
          </p:cNvPr>
          <p:cNvSpPr txBox="1"/>
          <p:nvPr/>
        </p:nvSpPr>
        <p:spPr>
          <a:xfrm>
            <a:off x="3226290" y="2335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F5337A-9367-314C-A05F-0288F0F9AD1B}"/>
              </a:ext>
            </a:extLst>
          </p:cNvPr>
          <p:cNvSpPr txBox="1"/>
          <p:nvPr/>
        </p:nvSpPr>
        <p:spPr>
          <a:xfrm>
            <a:off x="2798771" y="29962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07AEC-A1B1-F840-800F-A30323F5C1A4}"/>
              </a:ext>
            </a:extLst>
          </p:cNvPr>
          <p:cNvSpPr txBox="1"/>
          <p:nvPr/>
        </p:nvSpPr>
        <p:spPr>
          <a:xfrm>
            <a:off x="3527976" y="29730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BE17AD-3DAD-904F-8ABC-E921D2B35949}"/>
              </a:ext>
            </a:extLst>
          </p:cNvPr>
          <p:cNvSpPr txBox="1"/>
          <p:nvPr/>
        </p:nvSpPr>
        <p:spPr>
          <a:xfrm>
            <a:off x="4280330" y="29730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879B62-DC34-E942-BC27-DB978EA58C05}"/>
              </a:ext>
            </a:extLst>
          </p:cNvPr>
          <p:cNvCxnSpPr>
            <a:cxnSpLocks/>
          </p:cNvCxnSpPr>
          <p:nvPr/>
        </p:nvCxnSpPr>
        <p:spPr>
          <a:xfrm>
            <a:off x="2217320" y="2616689"/>
            <a:ext cx="4107280" cy="2281149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0D74A1-BBD5-684B-9E78-E42BB36E476F}"/>
              </a:ext>
            </a:extLst>
          </p:cNvPr>
          <p:cNvSpPr txBox="1"/>
          <p:nvPr/>
        </p:nvSpPr>
        <p:spPr>
          <a:xfrm>
            <a:off x="5384342" y="479016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125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9BE7A1-BBF1-233D-9270-36AD0D2FFA06}"/>
              </a:ext>
            </a:extLst>
          </p:cNvPr>
          <p:cNvSpPr/>
          <p:nvPr/>
        </p:nvSpPr>
        <p:spPr>
          <a:xfrm>
            <a:off x="5920066" y="3180888"/>
            <a:ext cx="16899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5B84D0-2085-0C11-E1B2-6E4472D9A9EB}"/>
              </a:ext>
            </a:extLst>
          </p:cNvPr>
          <p:cNvSpPr/>
          <p:nvPr/>
        </p:nvSpPr>
        <p:spPr>
          <a:xfrm>
            <a:off x="400079" y="1575881"/>
            <a:ext cx="16899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3707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7" grpId="0"/>
      <p:bldP spid="18" grpId="0"/>
      <p:bldP spid="19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2133600" y="4267200"/>
            <a:ext cx="64770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E1C3338-DD76-873B-27CB-05484CF896BC}"/>
              </a:ext>
            </a:extLst>
          </p:cNvPr>
          <p:cNvSpPr txBox="1">
            <a:spLocks/>
          </p:cNvSpPr>
          <p:nvPr/>
        </p:nvSpPr>
        <p:spPr>
          <a:xfrm>
            <a:off x="2057400" y="16764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RECAP: Method Terminology:</a:t>
            </a:r>
            <a:endParaRPr lang="en-IE" b="1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Overloading</a:t>
            </a:r>
            <a:r>
              <a:rPr lang="en-IE" dirty="0"/>
              <a:t>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Recursion</a:t>
            </a:r>
            <a:r>
              <a:rPr lang="en-I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661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A2340-F12E-4B0F-BE33-0E4C327E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191000"/>
            <a:ext cx="4343776" cy="2225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98985-A227-FF4C-BF5D-D7473C16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Product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0D729-3B86-B44A-A128-6A6E95E5B3B6}"/>
              </a:ext>
            </a:extLst>
          </p:cNvPr>
          <p:cNvSpPr txBox="1"/>
          <p:nvPr/>
        </p:nvSpPr>
        <p:spPr>
          <a:xfrm>
            <a:off x="149352" y="6283766"/>
            <a:ext cx="1676400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Return type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AAC6C8-BF91-E044-9929-5C420331450E}"/>
              </a:ext>
            </a:extLst>
          </p:cNvPr>
          <p:cNvCxnSpPr>
            <a:cxnSpLocks/>
          </p:cNvCxnSpPr>
          <p:nvPr/>
        </p:nvCxnSpPr>
        <p:spPr>
          <a:xfrm flipV="1">
            <a:off x="1806077" y="5105400"/>
            <a:ext cx="1394323" cy="11783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35B17C9-ECB9-E618-8505-19A02A2EDE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485"/>
          <a:stretch>
            <a:fillRect/>
          </a:stretch>
        </p:blipFill>
        <p:spPr>
          <a:xfrm>
            <a:off x="685800" y="1300589"/>
            <a:ext cx="9579170" cy="2890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FC7CC5-9889-ED7D-C79F-8E06E526F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931" y="5694583"/>
            <a:ext cx="3566469" cy="32006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464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2E40003-E6FE-FEF3-03C3-52585FF3A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-fund-1" id="{82CCE168-77CC-814B-8A2F-8520E8A6A75D}" vid="{4B930EE9-D6E6-E64C-A928-F4FAD685DB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a-iteration-while</Template>
  <TotalTime>0</TotalTime>
  <Words>708</Words>
  <Application>Microsoft Office PowerPoint</Application>
  <PresentationFormat>Widescreen</PresentationFormat>
  <Paragraphs>179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Calibri,Bold</vt:lpstr>
      <vt:lpstr>Consolas,Bold</vt:lpstr>
      <vt:lpstr>Wingdings</vt:lpstr>
      <vt:lpstr>a-processing-mouse-event-methods</vt:lpstr>
      <vt:lpstr>Using Methods</vt:lpstr>
      <vt:lpstr>Topics list</vt:lpstr>
      <vt:lpstr>Simple Methods</vt:lpstr>
      <vt:lpstr>Method terminology</vt:lpstr>
      <vt:lpstr>Method signature</vt:lpstr>
      <vt:lpstr>Return Type</vt:lpstr>
      <vt:lpstr>Parameter list</vt:lpstr>
      <vt:lpstr>Topics list</vt:lpstr>
      <vt:lpstr>Return a double</vt:lpstr>
      <vt:lpstr>Example – Farenheit to Celsius</vt:lpstr>
      <vt:lpstr>Example – Updated </vt:lpstr>
      <vt:lpstr>Topics list</vt:lpstr>
      <vt:lpstr>Example: Cubed</vt:lpstr>
      <vt:lpstr>Topics list</vt:lpstr>
      <vt:lpstr>Example: Product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Siobhan Roche</cp:lastModifiedBy>
  <cp:revision>321</cp:revision>
  <dcterms:created xsi:type="dcterms:W3CDTF">2006-08-16T00:00:00Z</dcterms:created>
  <dcterms:modified xsi:type="dcterms:W3CDTF">2025-10-14T11:17:12Z</dcterms:modified>
</cp:coreProperties>
</file>