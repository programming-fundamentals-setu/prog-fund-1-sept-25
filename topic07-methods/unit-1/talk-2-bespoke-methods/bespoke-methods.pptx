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415" r:id="rId3"/>
    <p:sldId id="416" r:id="rId4"/>
    <p:sldId id="418" r:id="rId5"/>
    <p:sldId id="419" r:id="rId6"/>
    <p:sldId id="443" r:id="rId7"/>
    <p:sldId id="429" r:id="rId8"/>
    <p:sldId id="433" r:id="rId9"/>
    <p:sldId id="447" r:id="rId10"/>
    <p:sldId id="434" r:id="rId11"/>
    <p:sldId id="435" r:id="rId12"/>
    <p:sldId id="450" r:id="rId13"/>
    <p:sldId id="437" r:id="rId14"/>
    <p:sldId id="438" r:id="rId15"/>
    <p:sldId id="448" r:id="rId16"/>
    <p:sldId id="432" r:id="rId17"/>
    <p:sldId id="44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2" autoAdjust="0"/>
    <p:restoredTop sz="80389" autoAdjust="0"/>
  </p:normalViewPr>
  <p:slideViewPr>
    <p:cSldViewPr>
      <p:cViewPr>
        <p:scale>
          <a:sx n="133" d="100"/>
          <a:sy n="133" d="100"/>
        </p:scale>
        <p:origin x="-2208" y="-1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30/10/2025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3177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0249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494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void setup()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size(200,200);</a:t>
            </a:r>
          </a:p>
          <a:p>
            <a:r>
              <a:rPr lang="en-IE" dirty="0"/>
              <a:t>  background(20,70,105);</a:t>
            </a:r>
          </a:p>
          <a:p>
            <a:r>
              <a:rPr lang="en-IE" dirty="0"/>
              <a:t>}</a:t>
            </a:r>
          </a:p>
          <a:p>
            <a:endParaRPr lang="en-IE" dirty="0"/>
          </a:p>
          <a:p>
            <a:r>
              <a:rPr lang="en-IE" dirty="0"/>
              <a:t>void draw()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 </a:t>
            </a:r>
            <a:r>
              <a:rPr lang="en-IE" dirty="0" err="1"/>
              <a:t>drawRedSquare</a:t>
            </a:r>
            <a:r>
              <a:rPr lang="en-IE" dirty="0"/>
              <a:t>(60);</a:t>
            </a:r>
          </a:p>
          <a:p>
            <a:r>
              <a:rPr lang="en-IE" dirty="0"/>
              <a:t>}</a:t>
            </a:r>
          </a:p>
          <a:p>
            <a:endParaRPr lang="en-IE" dirty="0"/>
          </a:p>
          <a:p>
            <a:r>
              <a:rPr lang="en-IE" dirty="0"/>
              <a:t>void </a:t>
            </a:r>
            <a:r>
              <a:rPr lang="en-IE" dirty="0" err="1"/>
              <a:t>drawRedSquare</a:t>
            </a:r>
            <a:r>
              <a:rPr lang="en-IE" dirty="0"/>
              <a:t>(</a:t>
            </a:r>
            <a:r>
              <a:rPr lang="en-IE" dirty="0" err="1"/>
              <a:t>int</a:t>
            </a:r>
            <a:r>
              <a:rPr lang="en-IE" dirty="0"/>
              <a:t> length)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fill(255,0,0);</a:t>
            </a:r>
          </a:p>
          <a:p>
            <a:r>
              <a:rPr lang="en-IE" dirty="0"/>
              <a:t>  square(70,70,length, length);</a:t>
            </a:r>
          </a:p>
          <a:p>
            <a:r>
              <a:rPr lang="en-IE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3488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3634A-8FA7-5126-4064-2D9E83B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A62E5-F92F-D604-1E20-2E5F1D117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6F4B7-B037-EB6C-DDD5-9E8994631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12E32-B742-6C47-EAAE-472CF4B47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13271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void setup()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size(200,200);</a:t>
            </a:r>
          </a:p>
          <a:p>
            <a:r>
              <a:rPr lang="en-IE" dirty="0"/>
              <a:t>  background(20,70,105);</a:t>
            </a:r>
          </a:p>
          <a:p>
            <a:r>
              <a:rPr lang="en-IE" dirty="0"/>
              <a:t>}</a:t>
            </a:r>
          </a:p>
          <a:p>
            <a:endParaRPr lang="en-IE" dirty="0"/>
          </a:p>
          <a:p>
            <a:r>
              <a:rPr lang="en-IE" dirty="0"/>
              <a:t>void draw()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 </a:t>
            </a:r>
            <a:r>
              <a:rPr lang="en-IE" dirty="0" err="1"/>
              <a:t>drawRedSquare</a:t>
            </a:r>
            <a:r>
              <a:rPr lang="en-IE" dirty="0"/>
              <a:t>(60, 70, 40);</a:t>
            </a:r>
          </a:p>
          <a:p>
            <a:r>
              <a:rPr lang="en-IE" dirty="0"/>
              <a:t>}</a:t>
            </a:r>
          </a:p>
          <a:p>
            <a:endParaRPr lang="en-IE" dirty="0"/>
          </a:p>
          <a:p>
            <a:r>
              <a:rPr lang="en-IE" dirty="0"/>
              <a:t>void </a:t>
            </a:r>
            <a:r>
              <a:rPr lang="en-IE" dirty="0" err="1"/>
              <a:t>drawRedSquare</a:t>
            </a:r>
            <a:r>
              <a:rPr lang="en-IE" dirty="0"/>
              <a:t>(</a:t>
            </a:r>
            <a:r>
              <a:rPr lang="en-IE" dirty="0" err="1"/>
              <a:t>int</a:t>
            </a:r>
            <a:r>
              <a:rPr lang="en-IE" dirty="0"/>
              <a:t> length, </a:t>
            </a:r>
            <a:r>
              <a:rPr lang="en-IE" dirty="0" err="1"/>
              <a:t>int</a:t>
            </a:r>
            <a:r>
              <a:rPr lang="en-IE" dirty="0"/>
              <a:t> </a:t>
            </a:r>
            <a:r>
              <a:rPr lang="en-IE" dirty="0" err="1"/>
              <a:t>xCoord</a:t>
            </a:r>
            <a:r>
              <a:rPr lang="en-IE" dirty="0"/>
              <a:t>, </a:t>
            </a:r>
            <a:r>
              <a:rPr lang="en-IE" dirty="0" err="1"/>
              <a:t>int</a:t>
            </a:r>
            <a:r>
              <a:rPr lang="en-IE" dirty="0"/>
              <a:t> </a:t>
            </a:r>
            <a:r>
              <a:rPr lang="en-IE" dirty="0" err="1"/>
              <a:t>yCoord</a:t>
            </a:r>
            <a:r>
              <a:rPr lang="en-IE" dirty="0"/>
              <a:t>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  fill(255,0,0);</a:t>
            </a:r>
          </a:p>
          <a:p>
            <a:r>
              <a:rPr lang="en-IE" dirty="0"/>
              <a:t>    square(</a:t>
            </a:r>
            <a:r>
              <a:rPr lang="en-IE" dirty="0" err="1"/>
              <a:t>xCoord,yCoord</a:t>
            </a:r>
            <a:r>
              <a:rPr lang="en-IE" dirty="0"/>
              <a:t>, length);</a:t>
            </a:r>
          </a:p>
          <a:p>
            <a:r>
              <a:rPr lang="en-IE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94580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2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77319E-D913-0186-1403-29DAAB90998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1E79F1-A6BC-9BFA-D91F-EDE58012F586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C2A726-E7C3-B5E1-B9B6-664DAB4B012C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01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7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E2AD0E-60F6-798F-5218-67976274424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6373DF-09B0-AAD0-9A0F-77BAB32A9FC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0B96D-A6CD-476E-2216-554A3DB839E7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813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69D825-370C-D932-7B44-4C1EE0EB0E2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F2B53-681A-1F9B-D38D-923C8065AAE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A14DE6-4AEB-EA6F-982E-8A56488DAFEE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38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85FD0A-2A17-4E36-7ACE-8DDECE72BE2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7180BA-0CE4-6687-797D-9C4100B1A0B8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5A262A-6F73-6AD8-6CF1-50647AC35AE8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42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5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9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6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84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52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74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2644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1264373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2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6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Using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Writing your own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3DF6B2-F5AD-48F4-BADC-FEFD405BA4BC}"/>
              </a:ext>
            </a:extLst>
          </p:cNvPr>
          <p:cNvSpPr txBox="1"/>
          <p:nvPr/>
        </p:nvSpPr>
        <p:spPr>
          <a:xfrm>
            <a:off x="3810000" y="3817204"/>
            <a:ext cx="358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Mr. Colm Dunphy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377A2E-5651-1569-F993-3AA241B6344E}"/>
              </a:ext>
            </a:extLst>
          </p:cNvPr>
          <p:cNvSpPr txBox="1"/>
          <p:nvPr/>
        </p:nvSpPr>
        <p:spPr>
          <a:xfrm>
            <a:off x="3962400" y="5986193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715B0E-E11E-F582-7842-6FEA4F460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Quick Recap of method </a:t>
            </a:r>
            <a:r>
              <a:rPr lang="en-IE" b="1" dirty="0"/>
              <a:t>terminology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Return type</a:t>
            </a:r>
          </a:p>
          <a:p>
            <a:pPr lvl="1"/>
            <a:r>
              <a:rPr lang="en-IE" dirty="0"/>
              <a:t>Method names</a:t>
            </a:r>
          </a:p>
          <a:p>
            <a:pPr lvl="1"/>
            <a:r>
              <a:rPr lang="en-IE" dirty="0"/>
              <a:t>Parameter list</a:t>
            </a:r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b="1" dirty="0"/>
              <a:t>Writing your own </a:t>
            </a:r>
            <a:r>
              <a:rPr lang="en-IE" dirty="0"/>
              <a:t>methods:</a:t>
            </a:r>
          </a:p>
          <a:p>
            <a:pPr lvl="1"/>
            <a:r>
              <a:rPr lang="en-IE" dirty="0"/>
              <a:t>With no parameters</a:t>
            </a:r>
          </a:p>
          <a:p>
            <a:pPr lvl="1"/>
            <a:r>
              <a:rPr lang="en-IE" dirty="0"/>
              <a:t>With parameters</a:t>
            </a:r>
          </a:p>
          <a:p>
            <a:pPr lvl="1"/>
            <a:r>
              <a:rPr lang="en-IE" dirty="0"/>
              <a:t>That return data</a:t>
            </a:r>
          </a:p>
          <a:p>
            <a:pPr lvl="1"/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09600" y="1600201"/>
            <a:ext cx="8458200" cy="2133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1764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Recap</a:t>
            </a:r>
            <a:r>
              <a:rPr lang="en-IE" dirty="0"/>
              <a:t>: Methods in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125200" cy="5257799"/>
          </a:xfrm>
        </p:spPr>
        <p:txBody>
          <a:bodyPr>
            <a:normAutofit/>
          </a:bodyPr>
          <a:lstStyle/>
          <a:p>
            <a:r>
              <a:rPr lang="en-IE" dirty="0"/>
              <a:t>A method is comprised of </a:t>
            </a:r>
            <a:br>
              <a:rPr lang="en-IE" dirty="0"/>
            </a:br>
            <a:r>
              <a:rPr lang="en-IE" dirty="0"/>
              <a:t>a </a:t>
            </a:r>
            <a:r>
              <a:rPr lang="en-IE" b="1" dirty="0"/>
              <a:t>set of instructions that performs some task</a:t>
            </a:r>
            <a:r>
              <a:rPr lang="en-IE" dirty="0"/>
              <a:t>. </a:t>
            </a:r>
            <a:br>
              <a:rPr lang="en-IE" dirty="0"/>
            </a:br>
            <a:endParaRPr lang="en-IE" dirty="0"/>
          </a:p>
          <a:p>
            <a:r>
              <a:rPr lang="en-IE" dirty="0"/>
              <a:t>When we invoke</a:t>
            </a:r>
            <a:r>
              <a:rPr lang="en-IE" b="1" dirty="0"/>
              <a:t> (call)</a:t>
            </a:r>
            <a:r>
              <a:rPr lang="en-IE" dirty="0"/>
              <a:t> the method, it performs the task.</a:t>
            </a:r>
            <a:br>
              <a:rPr lang="en-IE" dirty="0"/>
            </a:br>
            <a:endParaRPr lang="en-IE" dirty="0"/>
          </a:p>
          <a:p>
            <a:r>
              <a:rPr lang="en-IE" dirty="0"/>
              <a:t>Some methods we have used are:  </a:t>
            </a:r>
          </a:p>
          <a:p>
            <a:pPr lvl="1"/>
            <a:endParaRPr lang="en-IE" sz="1800" b="1" dirty="0"/>
          </a:p>
          <a:p>
            <a:pPr lvl="1"/>
            <a:r>
              <a:rPr lang="en-IE" sz="1800" b="1" dirty="0"/>
              <a:t>main </a:t>
            </a:r>
            <a:r>
              <a:rPr lang="en-IE" sz="1800" dirty="0"/>
              <a:t>– (we write the code for main)</a:t>
            </a:r>
          </a:p>
          <a:p>
            <a:pPr lvl="1"/>
            <a:r>
              <a:rPr lang="en-IE" sz="1800" b="1" dirty="0"/>
              <a:t>print(), </a:t>
            </a:r>
            <a:r>
              <a:rPr lang="en-IE" sz="1800" b="1" dirty="0" err="1"/>
              <a:t>println</a:t>
            </a:r>
            <a:r>
              <a:rPr lang="en-IE" sz="1800" b="1" dirty="0"/>
              <a:t>() – </a:t>
            </a:r>
            <a:r>
              <a:rPr lang="en-IE" sz="1800" dirty="0"/>
              <a:t>we call these methods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108914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Recap</a:t>
            </a:r>
            <a:r>
              <a:rPr lang="en-IE" dirty="0"/>
              <a:t>: Method terminology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71898" y="2803230"/>
            <a:ext cx="5443702" cy="20621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3200" dirty="0"/>
              <a:t>void </a:t>
            </a:r>
            <a:r>
              <a:rPr lang="en-IE" sz="3200" dirty="0" err="1"/>
              <a:t>sayHello</a:t>
            </a:r>
            <a:r>
              <a:rPr lang="en-IE" sz="3200" dirty="0"/>
              <a:t>() </a:t>
            </a:r>
          </a:p>
          <a:p>
            <a:r>
              <a:rPr lang="en-IE" sz="3200" dirty="0"/>
              <a:t>{</a:t>
            </a:r>
          </a:p>
          <a:p>
            <a:r>
              <a:rPr lang="en-IE" sz="3200" dirty="0"/>
              <a:t>    </a:t>
            </a:r>
            <a:r>
              <a:rPr lang="en-IE" sz="3200" dirty="0" err="1"/>
              <a:t>System.out.println</a:t>
            </a:r>
            <a:r>
              <a:rPr lang="en-IE" sz="3200" dirty="0"/>
              <a:t>(“hello”);</a:t>
            </a:r>
          </a:p>
          <a:p>
            <a:r>
              <a:rPr lang="en-IE" sz="32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28800"/>
            <a:ext cx="4376245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800" dirty="0"/>
              <a:t>Method </a:t>
            </a:r>
            <a:r>
              <a:rPr lang="en-IE" sz="2800" b="1" dirty="0"/>
              <a:t>signature / 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1" y="4038600"/>
            <a:ext cx="25146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Method </a:t>
            </a:r>
            <a:r>
              <a:rPr lang="en-IE" sz="2800" b="1" dirty="0"/>
              <a:t>body</a:t>
            </a:r>
          </a:p>
        </p:txBody>
      </p:sp>
      <p:sp>
        <p:nvSpPr>
          <p:cNvPr id="7" name="Left Bracket 6"/>
          <p:cNvSpPr/>
          <p:nvPr/>
        </p:nvSpPr>
        <p:spPr>
          <a:xfrm>
            <a:off x="4893551" y="2803229"/>
            <a:ext cx="118898" cy="523220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Left Bracket 7"/>
          <p:cNvSpPr/>
          <p:nvPr/>
        </p:nvSpPr>
        <p:spPr>
          <a:xfrm>
            <a:off x="4946759" y="3428999"/>
            <a:ext cx="118898" cy="1348027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0" name="Straight Arrow Connector 9"/>
          <p:cNvCxnSpPr>
            <a:cxnSpLocks/>
            <a:stCxn id="5" idx="2"/>
            <a:endCxn id="7" idx="1"/>
          </p:cNvCxnSpPr>
          <p:nvPr/>
        </p:nvCxnSpPr>
        <p:spPr>
          <a:xfrm>
            <a:off x="2797723" y="2352020"/>
            <a:ext cx="2095828" cy="712819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6" idx="3"/>
            <a:endCxn id="8" idx="1"/>
          </p:cNvCxnSpPr>
          <p:nvPr/>
        </p:nvCxnSpPr>
        <p:spPr>
          <a:xfrm flipV="1">
            <a:off x="3124201" y="4103013"/>
            <a:ext cx="1822558" cy="197197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72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Recap</a:t>
            </a:r>
            <a:r>
              <a:rPr lang="en-IE" dirty="0"/>
              <a:t>: Method </a:t>
            </a:r>
            <a:r>
              <a:rPr lang="en-IE" b="1" dirty="0"/>
              <a:t>signature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7637" y="4136531"/>
            <a:ext cx="4975363" cy="10156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6000" dirty="0"/>
              <a:t>void </a:t>
            </a:r>
            <a:r>
              <a:rPr lang="en-IE" sz="6000" dirty="0" err="1"/>
              <a:t>sayHello</a:t>
            </a:r>
            <a:r>
              <a:rPr lang="en-IE" sz="6000" dirty="0"/>
              <a:t>()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4330" y="2365054"/>
            <a:ext cx="2007149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800" dirty="0"/>
              <a:t>Return </a:t>
            </a:r>
            <a:r>
              <a:rPr lang="en-IE" sz="2800" b="1" dirty="0"/>
              <a:t>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1528" y="2365054"/>
            <a:ext cx="234315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Method </a:t>
            </a:r>
            <a:r>
              <a:rPr lang="en-IE" sz="2800" b="1" dirty="0"/>
              <a:t>name</a:t>
            </a:r>
          </a:p>
        </p:txBody>
      </p:sp>
      <p:sp>
        <p:nvSpPr>
          <p:cNvPr id="7" name="Left Bracket 6"/>
          <p:cNvSpPr/>
          <p:nvPr/>
        </p:nvSpPr>
        <p:spPr>
          <a:xfrm rot="5400000" flipV="1">
            <a:off x="4333682" y="3489325"/>
            <a:ext cx="207982" cy="1294415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0" name="Straight Arrow Connector 9"/>
          <p:cNvCxnSpPr>
            <a:stCxn id="5" idx="2"/>
            <a:endCxn id="7" idx="1"/>
          </p:cNvCxnSpPr>
          <p:nvPr/>
        </p:nvCxnSpPr>
        <p:spPr>
          <a:xfrm>
            <a:off x="3547904" y="2888275"/>
            <a:ext cx="889770" cy="1144267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eft Bracket 12"/>
          <p:cNvSpPr/>
          <p:nvPr/>
        </p:nvSpPr>
        <p:spPr>
          <a:xfrm rot="5400000" flipV="1">
            <a:off x="6521843" y="2837565"/>
            <a:ext cx="270795" cy="2535123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9" name="Straight Arrow Connector 18"/>
          <p:cNvCxnSpPr>
            <a:cxnSpLocks/>
            <a:stCxn id="6" idx="2"/>
            <a:endCxn id="13" idx="1"/>
          </p:cNvCxnSpPr>
          <p:nvPr/>
        </p:nvCxnSpPr>
        <p:spPr>
          <a:xfrm>
            <a:off x="6123103" y="2888274"/>
            <a:ext cx="534138" cy="1081455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60242" y="2365054"/>
            <a:ext cx="234315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Parameter </a:t>
            </a:r>
            <a:r>
              <a:rPr lang="en-IE" sz="2800" b="1" dirty="0"/>
              <a:t>list</a:t>
            </a:r>
          </a:p>
        </p:txBody>
      </p:sp>
      <p:sp>
        <p:nvSpPr>
          <p:cNvPr id="24" name="Left Bracket 23"/>
          <p:cNvSpPr/>
          <p:nvPr/>
        </p:nvSpPr>
        <p:spPr>
          <a:xfrm rot="5400000" flipV="1">
            <a:off x="8226657" y="3838983"/>
            <a:ext cx="207984" cy="491687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5" name="Straight Arrow Connector 24"/>
          <p:cNvCxnSpPr>
            <a:stCxn id="23" idx="2"/>
            <a:endCxn id="24" idx="1"/>
          </p:cNvCxnSpPr>
          <p:nvPr/>
        </p:nvCxnSpPr>
        <p:spPr>
          <a:xfrm flipH="1">
            <a:off x="8330650" y="2888274"/>
            <a:ext cx="501167" cy="1092561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81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3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600200"/>
            <a:ext cx="96012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b="1" u="sng" dirty="0"/>
              <a:t>Recap</a:t>
            </a:r>
            <a:r>
              <a:rPr lang="en-IE" dirty="0"/>
              <a:t> of method </a:t>
            </a:r>
            <a:r>
              <a:rPr lang="en-IE" b="1" dirty="0"/>
              <a:t>terminology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Return type</a:t>
            </a:r>
          </a:p>
          <a:p>
            <a:pPr lvl="1"/>
            <a:r>
              <a:rPr lang="en-IE" dirty="0"/>
              <a:t>Method names</a:t>
            </a:r>
          </a:p>
          <a:p>
            <a:pPr lvl="1"/>
            <a:r>
              <a:rPr lang="en-IE" dirty="0"/>
              <a:t>Parameter list</a:t>
            </a:r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b="1" dirty="0"/>
              <a:t>Writing your own</a:t>
            </a:r>
            <a:r>
              <a:rPr lang="en-IE" dirty="0"/>
              <a:t> methods: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E" dirty="0"/>
              <a:t>With no parameters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E" dirty="0"/>
              <a:t>With parameters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E" dirty="0"/>
              <a:t>That return data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09600" y="4343400"/>
            <a:ext cx="6477000" cy="2133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ight Arrow 3"/>
          <p:cNvSpPr/>
          <p:nvPr/>
        </p:nvSpPr>
        <p:spPr>
          <a:xfrm>
            <a:off x="-152400" y="5036496"/>
            <a:ext cx="1066800" cy="221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37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Writing methods </a:t>
            </a:r>
            <a:r>
              <a:rPr lang="en-IE" b="1" u="sng" dirty="0"/>
              <a:t>with NO </a:t>
            </a:r>
            <a:r>
              <a:rPr lang="en-IE" b="1" dirty="0"/>
              <a:t>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0" y="2971801"/>
            <a:ext cx="8229600" cy="3154363"/>
          </a:xfrm>
        </p:spPr>
        <p:txBody>
          <a:bodyPr/>
          <a:lstStyle/>
          <a:p>
            <a:r>
              <a:rPr lang="en-IE" dirty="0"/>
              <a:t>Write a method that prints a hello message, </a:t>
            </a:r>
          </a:p>
          <a:p>
            <a:pPr lvl="1"/>
            <a:r>
              <a:rPr lang="en-IE" dirty="0"/>
              <a:t>every time it is called (invoked) it will print the message.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57BE1B-BD28-44BE-753D-A4480DC0F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64666"/>
            <a:ext cx="3592899" cy="129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00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AFB6E17-DFFB-5DFD-1B9C-D424A2086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401" y="3463428"/>
            <a:ext cx="7772400" cy="33945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5A9599-EEB1-EFB2-A4E8-645229131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701" y="-42173"/>
            <a:ext cx="6261100" cy="3733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E" dirty="0"/>
            </a:br>
            <a:r>
              <a:rPr lang="en-IE" b="1" dirty="0"/>
              <a:t>Example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3147" y="1942668"/>
            <a:ext cx="5618002" cy="114299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4256141" y="5746700"/>
            <a:ext cx="2865120" cy="3048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6584C-C162-0E48-A10F-08DBBB81E0FE}"/>
              </a:ext>
            </a:extLst>
          </p:cNvPr>
          <p:cNvSpPr txBox="1"/>
          <p:nvPr/>
        </p:nvSpPr>
        <p:spPr>
          <a:xfrm>
            <a:off x="3465037" y="2011263"/>
            <a:ext cx="1898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Method 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BA33A-96BF-2E4F-937D-DAA1EBFB79A3}"/>
              </a:ext>
            </a:extLst>
          </p:cNvPr>
          <p:cNvSpPr txBox="1"/>
          <p:nvPr/>
        </p:nvSpPr>
        <p:spPr>
          <a:xfrm>
            <a:off x="1125155" y="5529769"/>
            <a:ext cx="130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Method call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F66F74-F189-6E42-8914-1F8546AAD478}"/>
              </a:ext>
            </a:extLst>
          </p:cNvPr>
          <p:cNvCxnSpPr>
            <a:stCxn id="4" idx="3"/>
          </p:cNvCxnSpPr>
          <p:nvPr/>
        </p:nvCxnSpPr>
        <p:spPr>
          <a:xfrm>
            <a:off x="5363249" y="2195929"/>
            <a:ext cx="670145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02E860-7991-8440-8223-40403D28D056}"/>
              </a:ext>
            </a:extLst>
          </p:cNvPr>
          <p:cNvCxnSpPr>
            <a:cxnSpLocks/>
          </p:cNvCxnSpPr>
          <p:nvPr/>
        </p:nvCxnSpPr>
        <p:spPr>
          <a:xfrm>
            <a:off x="2428782" y="5908388"/>
            <a:ext cx="1253810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5-point Star 8">
            <a:extLst>
              <a:ext uri="{FF2B5EF4-FFF2-40B4-BE49-F238E27FC236}">
                <a16:creationId xmlns:a16="http://schemas.microsoft.com/office/drawing/2014/main" id="{4EA68930-D0B1-9E47-93CE-05E2B9796920}"/>
              </a:ext>
            </a:extLst>
          </p:cNvPr>
          <p:cNvSpPr/>
          <p:nvPr/>
        </p:nvSpPr>
        <p:spPr>
          <a:xfrm>
            <a:off x="11187801" y="4023554"/>
            <a:ext cx="762000" cy="762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9B411B-9C9B-FE67-381F-27C3C5B3F74B}"/>
              </a:ext>
            </a:extLst>
          </p:cNvPr>
          <p:cNvSpPr txBox="1"/>
          <p:nvPr/>
        </p:nvSpPr>
        <p:spPr>
          <a:xfrm>
            <a:off x="326369" y="4714622"/>
            <a:ext cx="2272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Create an instance of the class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A58FBA-9B04-65BC-2A7C-A369E9B86AB8}"/>
              </a:ext>
            </a:extLst>
          </p:cNvPr>
          <p:cNvCxnSpPr>
            <a:cxnSpLocks/>
          </p:cNvCxnSpPr>
          <p:nvPr/>
        </p:nvCxnSpPr>
        <p:spPr>
          <a:xfrm>
            <a:off x="2428782" y="5377148"/>
            <a:ext cx="1321691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B548241-FDB5-C32B-9B6C-2DB30C80C8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4885"/>
          <a:stretch>
            <a:fillRect/>
          </a:stretch>
        </p:blipFill>
        <p:spPr>
          <a:xfrm>
            <a:off x="330851" y="1911671"/>
            <a:ext cx="2498869" cy="129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8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4" grpId="0"/>
      <p:bldP spid="8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method </a:t>
            </a:r>
            <a:r>
              <a:rPr lang="en-IE" b="1" dirty="0"/>
              <a:t>terminology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Return type</a:t>
            </a:r>
          </a:p>
          <a:p>
            <a:pPr lvl="1"/>
            <a:r>
              <a:rPr lang="en-IE" dirty="0"/>
              <a:t>Method names</a:t>
            </a:r>
          </a:p>
          <a:p>
            <a:pPr lvl="1"/>
            <a:r>
              <a:rPr lang="en-IE" dirty="0"/>
              <a:t>Parameter list</a:t>
            </a:r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b="1" dirty="0"/>
              <a:t>Writing your own</a:t>
            </a:r>
            <a:r>
              <a:rPr lang="en-IE" dirty="0"/>
              <a:t> methods: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IE" dirty="0"/>
              <a:t>With no parameters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IE" dirty="0"/>
              <a:t>With parameters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IE" dirty="0"/>
              <a:t>That return data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09600" y="4343400"/>
            <a:ext cx="6477000" cy="2133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ight Arrow 3"/>
          <p:cNvSpPr/>
          <p:nvPr/>
        </p:nvSpPr>
        <p:spPr>
          <a:xfrm>
            <a:off x="0" y="5562600"/>
            <a:ext cx="1066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12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Writing methods </a:t>
            </a:r>
            <a:r>
              <a:rPr lang="en-IE" b="1" u="sng" dirty="0"/>
              <a:t>with</a:t>
            </a:r>
            <a:r>
              <a:rPr lang="en-IE" b="1" dirty="0"/>
              <a:t>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8839200" cy="4525963"/>
          </a:xfrm>
        </p:spPr>
        <p:txBody>
          <a:bodyPr/>
          <a:lstStyle/>
          <a:p>
            <a:r>
              <a:rPr lang="en-IE" dirty="0"/>
              <a:t>Now update the code so that you can:</a:t>
            </a:r>
            <a:br>
              <a:rPr lang="en-IE" dirty="0"/>
            </a:br>
            <a:br>
              <a:rPr lang="en-IE" dirty="0"/>
            </a:br>
            <a:r>
              <a:rPr lang="en-IE" b="1" dirty="0"/>
              <a:t>pass in </a:t>
            </a:r>
            <a:r>
              <a:rPr lang="en-IE" dirty="0"/>
              <a:t>a String to hold a name – this method will print a message using that name</a:t>
            </a:r>
            <a:endParaRPr lang="en-IE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DD7AC6-7855-F782-C7A4-BCD234FF0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54" y="4876800"/>
            <a:ext cx="5562600" cy="1066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04073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B8E49B9-4B01-1BED-79E1-B5D6FAF00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3478624"/>
            <a:ext cx="7772400" cy="35838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D3899D-BFDB-CD06-0E0E-63BAACFBF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-25834"/>
            <a:ext cx="6575692" cy="4038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A756F8-7D2C-8A69-8290-E5540835C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292" y="-106589"/>
            <a:ext cx="6575692" cy="40389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E" dirty="0"/>
            </a:br>
            <a:r>
              <a:rPr lang="en-IE" b="1" dirty="0"/>
              <a:t>Example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0" y="2451086"/>
            <a:ext cx="6019800" cy="1143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/>
          <p:cNvSpPr/>
          <p:nvPr/>
        </p:nvSpPr>
        <p:spPr>
          <a:xfrm>
            <a:off x="3886200" y="6116246"/>
            <a:ext cx="3962400" cy="41383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V="1">
            <a:off x="5715000" y="3046021"/>
            <a:ext cx="3352800" cy="312617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5-point Star 7">
            <a:extLst>
              <a:ext uri="{FF2B5EF4-FFF2-40B4-BE49-F238E27FC236}">
                <a16:creationId xmlns:a16="http://schemas.microsoft.com/office/drawing/2014/main" id="{7DEF2548-FA90-E343-A937-CCA62980211A}"/>
              </a:ext>
            </a:extLst>
          </p:cNvPr>
          <p:cNvSpPr/>
          <p:nvPr/>
        </p:nvSpPr>
        <p:spPr>
          <a:xfrm>
            <a:off x="11049000" y="4767769"/>
            <a:ext cx="762000" cy="762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422A6C-C504-7FDB-DFEC-11AB7CE44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979221"/>
            <a:ext cx="4267200" cy="1066800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A6A371-778B-B8BA-C1D1-52897DB28721}"/>
              </a:ext>
            </a:extLst>
          </p:cNvPr>
          <p:cNvCxnSpPr>
            <a:cxnSpLocks/>
          </p:cNvCxnSpPr>
          <p:nvPr/>
        </p:nvCxnSpPr>
        <p:spPr>
          <a:xfrm flipV="1">
            <a:off x="6860038" y="3276600"/>
            <a:ext cx="988562" cy="292040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03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1DFFC-B07C-BA60-DEB2-0C9FB482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AB93-3F12-9ED8-9776-61B685F9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Using Scanner </a:t>
            </a:r>
            <a:br>
              <a:rPr lang="en-IE" dirty="0"/>
            </a:br>
            <a:r>
              <a:rPr lang="en-IE" b="1" dirty="0"/>
              <a:t>Example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B9080-BF9C-605E-8B82-6D5E42BD0B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099" r="2240" b="4849"/>
          <a:stretch>
            <a:fillRect/>
          </a:stretch>
        </p:blipFill>
        <p:spPr>
          <a:xfrm>
            <a:off x="4800601" y="2971800"/>
            <a:ext cx="7010400" cy="350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5-point Star 7">
            <a:extLst>
              <a:ext uri="{FF2B5EF4-FFF2-40B4-BE49-F238E27FC236}">
                <a16:creationId xmlns:a16="http://schemas.microsoft.com/office/drawing/2014/main" id="{EE84952A-FAAF-5286-1C53-3281C7B0B3CC}"/>
              </a:ext>
            </a:extLst>
          </p:cNvPr>
          <p:cNvSpPr/>
          <p:nvPr/>
        </p:nvSpPr>
        <p:spPr>
          <a:xfrm>
            <a:off x="11049000" y="4767769"/>
            <a:ext cx="762000" cy="762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8A3EDC-2596-441C-1AE6-D21C15ABC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819400"/>
            <a:ext cx="3568080" cy="271036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F608F2F-926A-1435-89B3-98C8EB5B4431}"/>
              </a:ext>
            </a:extLst>
          </p:cNvPr>
          <p:cNvGrpSpPr/>
          <p:nvPr/>
        </p:nvGrpSpPr>
        <p:grpSpPr>
          <a:xfrm>
            <a:off x="5701678" y="474354"/>
            <a:ext cx="6109322" cy="2934593"/>
            <a:chOff x="5486400" y="37207"/>
            <a:chExt cx="5796648" cy="388375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B302474-A971-FCA3-599A-3A3BE9C0F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6400" y="37207"/>
              <a:ext cx="5796648" cy="38837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A04541-D57E-4656-B003-338FD63DFB8B}"/>
                </a:ext>
              </a:extLst>
            </p:cNvPr>
            <p:cNvSpPr/>
            <p:nvPr/>
          </p:nvSpPr>
          <p:spPr>
            <a:xfrm>
              <a:off x="5562600" y="37207"/>
              <a:ext cx="1143000" cy="4199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104991-3D2C-6A4E-AD3C-97A2354D99B7}"/>
                </a:ext>
              </a:extLst>
            </p:cNvPr>
            <p:cNvSpPr/>
            <p:nvPr/>
          </p:nvSpPr>
          <p:spPr>
            <a:xfrm>
              <a:off x="9133242" y="37207"/>
              <a:ext cx="1143000" cy="4199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</p:spTree>
    <p:extLst>
      <p:ext uri="{BB962C8B-B14F-4D97-AF65-F5344CB8AC3E}">
        <p14:creationId xmlns:p14="http://schemas.microsoft.com/office/powerpoint/2010/main" val="608604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Writing methods </a:t>
            </a:r>
            <a:r>
              <a:rPr lang="en-IE" b="1" dirty="0"/>
              <a:t>with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1752600"/>
            <a:ext cx="7162800" cy="4525963"/>
          </a:xfrm>
        </p:spPr>
        <p:txBody>
          <a:bodyPr/>
          <a:lstStyle/>
          <a:p>
            <a:r>
              <a:rPr lang="en-IE" dirty="0"/>
              <a:t>Now update the code so that you can pass in the:</a:t>
            </a:r>
          </a:p>
          <a:p>
            <a:pPr lvl="1"/>
            <a:r>
              <a:rPr lang="en-IE" b="1" dirty="0"/>
              <a:t>name</a:t>
            </a:r>
          </a:p>
          <a:p>
            <a:pPr lvl="1"/>
            <a:r>
              <a:rPr lang="en-IE" b="1" dirty="0"/>
              <a:t>age</a:t>
            </a:r>
            <a:br>
              <a:rPr lang="en-IE" dirty="0"/>
            </a:br>
            <a:endParaRPr lang="en-IE" dirty="0"/>
          </a:p>
          <a:p>
            <a:pPr marL="0" indent="0">
              <a:buNone/>
            </a:pPr>
            <a:r>
              <a:rPr lang="en-IE" dirty="0"/>
              <a:t>into the method, </a:t>
            </a:r>
            <a:r>
              <a:rPr lang="en-IE" i="1" dirty="0"/>
              <a:t>greet().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9A54B-F85D-5210-312C-AAB019A85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70" y="3429000"/>
            <a:ext cx="4044982" cy="8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54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F68CFFE-35D6-B3CB-D2A9-CE4AB7944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70" y="3429000"/>
            <a:ext cx="4044982" cy="883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B78A66-EEAA-706E-D40B-B06E8AF3A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054" y="381000"/>
            <a:ext cx="8129548" cy="62023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 </a:t>
            </a:r>
            <a:br>
              <a:rPr lang="en-IE" dirty="0"/>
            </a:br>
            <a:r>
              <a:rPr lang="en-IE" b="1" dirty="0"/>
              <a:t>Example 3.3</a:t>
            </a:r>
          </a:p>
        </p:txBody>
      </p:sp>
      <p:sp>
        <p:nvSpPr>
          <p:cNvPr id="5" name="Rectangle 4"/>
          <p:cNvSpPr/>
          <p:nvPr/>
        </p:nvSpPr>
        <p:spPr>
          <a:xfrm>
            <a:off x="4088628" y="2013726"/>
            <a:ext cx="7772400" cy="146845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4118445" y="5322852"/>
            <a:ext cx="6248400" cy="381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V="1">
            <a:off x="6477000" y="2646033"/>
            <a:ext cx="543920" cy="267681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7242645" y="2646033"/>
            <a:ext cx="564585" cy="267681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0251658B-AC8C-4041-9C8F-7BD4F87C8DBE}"/>
              </a:ext>
            </a:extLst>
          </p:cNvPr>
          <p:cNvSpPr/>
          <p:nvPr/>
        </p:nvSpPr>
        <p:spPr>
          <a:xfrm>
            <a:off x="11210926" y="4218773"/>
            <a:ext cx="762000" cy="762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61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1600200"/>
            <a:ext cx="82296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method </a:t>
            </a:r>
            <a:r>
              <a:rPr lang="en-IE" b="1" dirty="0"/>
              <a:t>terminology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Return type</a:t>
            </a:r>
          </a:p>
          <a:p>
            <a:pPr lvl="1"/>
            <a:r>
              <a:rPr lang="en-IE" dirty="0"/>
              <a:t>Method names</a:t>
            </a:r>
          </a:p>
          <a:p>
            <a:pPr lvl="1"/>
            <a:r>
              <a:rPr lang="en-IE" dirty="0"/>
              <a:t>Parameter list</a:t>
            </a:r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b="1" dirty="0"/>
              <a:t>Writing your own </a:t>
            </a:r>
            <a:r>
              <a:rPr lang="en-IE" dirty="0"/>
              <a:t>methods:</a:t>
            </a:r>
          </a:p>
          <a:p>
            <a:pPr lvl="1"/>
            <a:r>
              <a:rPr lang="en-IE" dirty="0"/>
              <a:t>With no parameters</a:t>
            </a:r>
          </a:p>
          <a:p>
            <a:pPr lvl="1"/>
            <a:r>
              <a:rPr lang="en-IE" dirty="0"/>
              <a:t>With parameters</a:t>
            </a:r>
          </a:p>
          <a:p>
            <a:pPr lvl="1"/>
            <a:r>
              <a:rPr lang="en-IE" dirty="0"/>
              <a:t>That return data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85800" y="4343400"/>
            <a:ext cx="6477000" cy="2133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ight Arrow 3"/>
          <p:cNvSpPr/>
          <p:nvPr/>
        </p:nvSpPr>
        <p:spPr>
          <a:xfrm>
            <a:off x="0" y="6096000"/>
            <a:ext cx="1143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12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Writing </a:t>
            </a:r>
            <a:r>
              <a:rPr lang="en-IE" u="sng" dirty="0"/>
              <a:t>methods </a:t>
            </a:r>
            <a:r>
              <a:rPr lang="en-IE" b="1" u="sng" dirty="0"/>
              <a:t>that return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058400" cy="4572000"/>
          </a:xfrm>
        </p:spPr>
        <p:txBody>
          <a:bodyPr/>
          <a:lstStyle/>
          <a:p>
            <a:r>
              <a:rPr lang="en-IE" dirty="0"/>
              <a:t>Write a method called </a:t>
            </a:r>
            <a:r>
              <a:rPr lang="en-IE" b="1" dirty="0" err="1"/>
              <a:t>timesTwo</a:t>
            </a:r>
            <a:r>
              <a:rPr lang="en-IE" b="1" dirty="0"/>
              <a:t>.</a:t>
            </a:r>
            <a:br>
              <a:rPr lang="en-IE" b="1" dirty="0"/>
            </a:br>
            <a:endParaRPr lang="en-IE" b="1" dirty="0"/>
          </a:p>
          <a:p>
            <a:r>
              <a:rPr lang="en-IE" dirty="0"/>
              <a:t>This method should </a:t>
            </a:r>
          </a:p>
          <a:p>
            <a:pPr lvl="1"/>
            <a:r>
              <a:rPr lang="en-IE" b="1" dirty="0"/>
              <a:t>take in one </a:t>
            </a:r>
            <a:r>
              <a:rPr lang="en-IE" b="1" dirty="0" err="1">
                <a:solidFill>
                  <a:srgbClr val="FF0000"/>
                </a:solidFill>
              </a:rPr>
              <a:t>int</a:t>
            </a:r>
            <a:r>
              <a:rPr lang="en-IE" b="1" dirty="0"/>
              <a:t> parameter</a:t>
            </a:r>
            <a:r>
              <a:rPr lang="en-IE" dirty="0"/>
              <a:t>.</a:t>
            </a:r>
          </a:p>
          <a:p>
            <a:pPr lvl="1"/>
            <a:r>
              <a:rPr lang="en-IE" b="1" dirty="0"/>
              <a:t>multiply this </a:t>
            </a:r>
            <a:r>
              <a:rPr lang="en-IE" b="1" dirty="0" err="1">
                <a:solidFill>
                  <a:srgbClr val="FF0000"/>
                </a:solidFill>
              </a:rPr>
              <a:t>int</a:t>
            </a:r>
            <a:r>
              <a:rPr lang="en-IE" b="1" dirty="0">
                <a:solidFill>
                  <a:srgbClr val="FF0000"/>
                </a:solidFill>
              </a:rPr>
              <a:t> </a:t>
            </a:r>
            <a:r>
              <a:rPr lang="en-IE" b="1" dirty="0"/>
              <a:t>by 2 </a:t>
            </a:r>
            <a:r>
              <a:rPr lang="en-IE" dirty="0"/>
              <a:t>and </a:t>
            </a:r>
          </a:p>
          <a:p>
            <a:pPr lvl="1"/>
            <a:r>
              <a:rPr lang="en-IE" b="1" dirty="0"/>
              <a:t>return</a:t>
            </a:r>
            <a:r>
              <a:rPr lang="en-IE" dirty="0"/>
              <a:t> it back to where the </a:t>
            </a:r>
            <a:r>
              <a:rPr lang="en-IE" b="1" dirty="0" err="1"/>
              <a:t>timesTwo</a:t>
            </a:r>
            <a:r>
              <a:rPr lang="en-IE" b="1" dirty="0"/>
              <a:t> </a:t>
            </a:r>
            <a:r>
              <a:rPr lang="en-IE" dirty="0"/>
              <a:t>method was called from.</a:t>
            </a:r>
          </a:p>
          <a:p>
            <a:pPr lvl="1"/>
            <a:r>
              <a:rPr lang="en-IE" dirty="0"/>
              <a:t>The returned value should be </a:t>
            </a:r>
            <a:r>
              <a:rPr lang="en-IE" b="1" dirty="0"/>
              <a:t>printed to the console</a:t>
            </a:r>
            <a:r>
              <a:rPr lang="en-IE" dirty="0"/>
              <a:t>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81659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Example 3.4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277AD2-8F8B-3B49-85ED-33EC4B5962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678"/>
          <a:stretch/>
        </p:blipFill>
        <p:spPr>
          <a:xfrm>
            <a:off x="307483" y="2209800"/>
            <a:ext cx="3429000" cy="1408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201B86-8D5B-B747-99D5-A6BAE90F28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732" b="34070"/>
          <a:stretch/>
        </p:blipFill>
        <p:spPr>
          <a:xfrm>
            <a:off x="307483" y="3762822"/>
            <a:ext cx="3429000" cy="13567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1B524E-61B1-6645-AA8D-80465AD727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409"/>
          <a:stretch/>
        </p:blipFill>
        <p:spPr>
          <a:xfrm>
            <a:off x="307483" y="5256921"/>
            <a:ext cx="3429000" cy="10497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C89C97-8C66-B34E-861D-35890E2DDC9A}"/>
              </a:ext>
            </a:extLst>
          </p:cNvPr>
          <p:cNvSpPr txBox="1"/>
          <p:nvPr/>
        </p:nvSpPr>
        <p:spPr>
          <a:xfrm>
            <a:off x="192313" y="1703102"/>
            <a:ext cx="413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Alternative implementations of </a:t>
            </a:r>
            <a:r>
              <a:rPr lang="en-GB" b="1" dirty="0" err="1"/>
              <a:t>timesTwo</a:t>
            </a:r>
            <a:r>
              <a:rPr lang="en-GB" dirty="0"/>
              <a:t>:</a:t>
            </a:r>
          </a:p>
        </p:txBody>
      </p:sp>
      <p:sp>
        <p:nvSpPr>
          <p:cNvPr id="16" name="5-point Star 15">
            <a:extLst>
              <a:ext uri="{FF2B5EF4-FFF2-40B4-BE49-F238E27FC236}">
                <a16:creationId xmlns:a16="http://schemas.microsoft.com/office/drawing/2014/main" id="{A66DEDF7-87C7-5248-949E-020931DE5889}"/>
              </a:ext>
            </a:extLst>
          </p:cNvPr>
          <p:cNvSpPr/>
          <p:nvPr/>
        </p:nvSpPr>
        <p:spPr>
          <a:xfrm>
            <a:off x="11049000" y="4767769"/>
            <a:ext cx="762000" cy="762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19A501-9FF2-98AA-F9FA-C1A3D48FB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163" y="87501"/>
            <a:ext cx="5459237" cy="40054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6324600" y="2590800"/>
            <a:ext cx="4191000" cy="1143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C26052-1CDD-069B-A608-DABF76FE3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915" y="3810131"/>
            <a:ext cx="5822885" cy="29845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6781800" y="5867399"/>
            <a:ext cx="4038600" cy="43928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7180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03170EE-9B0B-B9E5-1796-E78D31CA4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00200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b-array-classes</Template>
  <TotalTime>41</TotalTime>
  <Words>514</Words>
  <Application>Microsoft Macintosh PowerPoint</Application>
  <PresentationFormat>Widescreen</PresentationFormat>
  <Paragraphs>134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a-processing-mouse-event-methods</vt:lpstr>
      <vt:lpstr>Using Methods</vt:lpstr>
      <vt:lpstr>Topics list</vt:lpstr>
      <vt:lpstr>Recap: Methods in Processing</vt:lpstr>
      <vt:lpstr>Recap: Method terminology</vt:lpstr>
      <vt:lpstr>Recap: Method signature</vt:lpstr>
      <vt:lpstr>Topics list</vt:lpstr>
      <vt:lpstr>Writing methods with NO parameters</vt:lpstr>
      <vt:lpstr> Example 1</vt:lpstr>
      <vt:lpstr>Topics list</vt:lpstr>
      <vt:lpstr>Writing methods with parameters</vt:lpstr>
      <vt:lpstr> Example 2</vt:lpstr>
      <vt:lpstr>Using Scanner  Example 3</vt:lpstr>
      <vt:lpstr>Writing methods with parameters</vt:lpstr>
      <vt:lpstr>  Example 3.3</vt:lpstr>
      <vt:lpstr>Topics list</vt:lpstr>
      <vt:lpstr>Writing methods that return data</vt:lpstr>
      <vt:lpstr>Example 3.4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Bespoke methods</dc:title>
  <dc:creator>Siobhan Drohan</dc:creator>
  <cp:lastModifiedBy>Mairead Meagher</cp:lastModifiedBy>
  <cp:revision>207</cp:revision>
  <dcterms:created xsi:type="dcterms:W3CDTF">2006-08-16T00:00:00Z</dcterms:created>
  <dcterms:modified xsi:type="dcterms:W3CDTF">2025-10-30T11:04:19Z</dcterms:modified>
</cp:coreProperties>
</file>