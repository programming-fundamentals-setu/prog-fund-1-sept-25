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98" r:id="rId2"/>
    <p:sldId id="373" r:id="rId3"/>
    <p:sldId id="367" r:id="rId4"/>
    <p:sldId id="368" r:id="rId5"/>
    <p:sldId id="369" r:id="rId6"/>
    <p:sldId id="371" r:id="rId7"/>
    <p:sldId id="372" r:id="rId8"/>
    <p:sldId id="399" r:id="rId9"/>
    <p:sldId id="34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84" autoAdjust="0"/>
    <p:restoredTop sz="88964" autoAdjust="0"/>
  </p:normalViewPr>
  <p:slideViewPr>
    <p:cSldViewPr>
      <p:cViewPr varScale="1">
        <p:scale>
          <a:sx n="98" d="100"/>
          <a:sy n="98" d="100"/>
        </p:scale>
        <p:origin x="1326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14/10/2025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376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5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5495-FC03-6603-D4E3-9909E10CBB4B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426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6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8980A1-F729-8738-400F-8B2C2F76F12E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05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E8EA12-80CA-F850-5A9C-C4D540D4CF9B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81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9825AA-3652-D7AA-026C-B25CFB286A47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392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02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8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7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4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63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6691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1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8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>
                <a:solidFill>
                  <a:schemeClr val="tx1">
                    <a:lumMod val="50000"/>
                    <a:lumOff val="50000"/>
                  </a:schemeClr>
                </a:solidFill>
              </a:rPr>
              <a:t>Overloading</a:t>
            </a:r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B9C0C-FB1E-41E0-9281-3F67413B6C9E}"/>
              </a:ext>
            </a:extLst>
          </p:cNvPr>
          <p:cNvSpPr txBox="1"/>
          <p:nvPr/>
        </p:nvSpPr>
        <p:spPr>
          <a:xfrm>
            <a:off x="3810000" y="3817204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Mr. Colm Dunphy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567B3A2-8CC9-5901-0C55-95321710A925}"/>
              </a:ext>
            </a:extLst>
          </p:cNvPr>
          <p:cNvSpPr txBox="1"/>
          <p:nvPr/>
        </p:nvSpPr>
        <p:spPr>
          <a:xfrm>
            <a:off x="4288221" y="6009985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FC4ED1-C82A-B31C-32DA-2C6A51E520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0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2133600" y="4758446"/>
            <a:ext cx="6477000" cy="4572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D3035A6-4E9C-4692-5680-B266AD48BB49}"/>
              </a:ext>
            </a:extLst>
          </p:cNvPr>
          <p:cNvSpPr txBox="1">
            <a:spLocks/>
          </p:cNvSpPr>
          <p:nvPr/>
        </p:nvSpPr>
        <p:spPr>
          <a:xfrm>
            <a:off x="2133600" y="1676400"/>
            <a:ext cx="8763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RECAP: Method Terminology:</a:t>
            </a:r>
            <a:endParaRPr lang="en-IE" b="1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Overloading</a:t>
            </a:r>
            <a:r>
              <a:rPr lang="en-IE" dirty="0"/>
              <a:t> methods.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Recursion</a:t>
            </a:r>
            <a:r>
              <a:rPr lang="en-IE" dirty="0"/>
              <a:t>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8796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Overloaded</a:t>
            </a:r>
            <a:r>
              <a:rPr lang="en-IE" dirty="0"/>
              <a:t>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Multiple methods can have the </a:t>
            </a:r>
            <a:r>
              <a:rPr lang="en-IE" b="1" dirty="0"/>
              <a:t>same name</a:t>
            </a:r>
            <a:r>
              <a:rPr lang="en-IE" dirty="0"/>
              <a:t>, </a:t>
            </a:r>
            <a:br>
              <a:rPr lang="en-IE" dirty="0"/>
            </a:br>
            <a:r>
              <a:rPr lang="en-IE" dirty="0"/>
              <a:t>once they have a </a:t>
            </a:r>
            <a:r>
              <a:rPr lang="en-IE" b="1" u="sng" dirty="0"/>
              <a:t>different parameter list</a:t>
            </a:r>
            <a:r>
              <a:rPr lang="en-IE" dirty="0"/>
              <a:t>.  </a:t>
            </a:r>
          </a:p>
          <a:p>
            <a:r>
              <a:rPr lang="en-IE" dirty="0"/>
              <a:t>We could write the following:</a:t>
            </a:r>
          </a:p>
          <a:p>
            <a:pPr lvl="1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()</a:t>
            </a:r>
          </a:p>
          <a:p>
            <a:pPr lvl="1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(int num1, int num2)</a:t>
            </a:r>
          </a:p>
          <a:p>
            <a:pPr lvl="1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(int num1, int num2, int num3)</a:t>
            </a:r>
          </a:p>
          <a:p>
            <a:pPr lvl="1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(int num1, int num2, int num3, int num4)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3200400"/>
            <a:ext cx="1287418" cy="2209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/>
          <p:cNvSpPr/>
          <p:nvPr/>
        </p:nvSpPr>
        <p:spPr>
          <a:xfrm>
            <a:off x="3394892" y="3200400"/>
            <a:ext cx="6130107" cy="2209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1905000" y="5541360"/>
            <a:ext cx="1439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Same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5109" y="5541360"/>
            <a:ext cx="419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Different Parameter List</a:t>
            </a:r>
          </a:p>
        </p:txBody>
      </p:sp>
    </p:spTree>
    <p:extLst>
      <p:ext uri="{BB962C8B-B14F-4D97-AF65-F5344CB8AC3E}">
        <p14:creationId xmlns:p14="http://schemas.microsoft.com/office/powerpoint/2010/main" val="310005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Overloaded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639287"/>
              </p:ext>
            </p:extLst>
          </p:nvPr>
        </p:nvGraphicFramePr>
        <p:xfrm>
          <a:off x="2057400" y="1905000"/>
          <a:ext cx="8153400" cy="42379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6801">
                <a:tc>
                  <a:txBody>
                    <a:bodyPr/>
                    <a:lstStyle/>
                    <a:p>
                      <a:r>
                        <a:rPr lang="en-IE" sz="2800" b="1" dirty="0"/>
                        <a:t>Method signature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b="1" dirty="0"/>
                        <a:t>Parameter</a:t>
                      </a:r>
                      <a:r>
                        <a:rPr lang="en-IE" sz="2800" b="1" baseline="0" dirty="0"/>
                        <a:t> List</a:t>
                      </a:r>
                      <a:endParaRPr lang="en-IE" sz="28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80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dirty="0"/>
                        <a:t>void </a:t>
                      </a:r>
                      <a:r>
                        <a:rPr lang="en-IE" sz="2800" dirty="0" err="1"/>
                        <a:t>addNum</a:t>
                      </a:r>
                      <a:r>
                        <a:rPr lang="en-IE" sz="28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no</a:t>
                      </a:r>
                      <a:r>
                        <a:rPr lang="en-IE" sz="2800" baseline="0" dirty="0"/>
                        <a:t> parameter</a:t>
                      </a:r>
                      <a:endParaRPr lang="en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80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dirty="0"/>
                        <a:t>void </a:t>
                      </a:r>
                      <a:r>
                        <a:rPr lang="en-IE" sz="2800" dirty="0" err="1"/>
                        <a:t>addNum</a:t>
                      </a:r>
                      <a:r>
                        <a:rPr lang="en-IE" sz="2800" dirty="0"/>
                        <a:t>(int num1, int num2)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int,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797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dirty="0"/>
                        <a:t>void </a:t>
                      </a:r>
                      <a:r>
                        <a:rPr lang="en-IE" sz="2800" dirty="0" err="1"/>
                        <a:t>addNum</a:t>
                      </a:r>
                      <a:r>
                        <a:rPr lang="en-IE" sz="2800" dirty="0"/>
                        <a:t>(int num1, int num2, int num3)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int, int,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269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dirty="0"/>
                        <a:t>void </a:t>
                      </a:r>
                      <a:r>
                        <a:rPr lang="en-IE" sz="2800" dirty="0" err="1"/>
                        <a:t>addNum</a:t>
                      </a:r>
                      <a:r>
                        <a:rPr lang="en-IE" sz="2800" dirty="0"/>
                        <a:t>(int num1, int num2, int num3, int num4)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int, int, int,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4F0122-40F8-1146-9B23-E6A23AAE531A}"/>
              </a:ext>
            </a:extLst>
          </p:cNvPr>
          <p:cNvSpPr txBox="1"/>
          <p:nvPr/>
        </p:nvSpPr>
        <p:spPr>
          <a:xfrm>
            <a:off x="2020824" y="6190704"/>
            <a:ext cx="5351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Same method name, but different parameter list</a:t>
            </a:r>
          </a:p>
        </p:txBody>
      </p:sp>
    </p:spTree>
    <p:extLst>
      <p:ext uri="{BB962C8B-B14F-4D97-AF65-F5344CB8AC3E}">
        <p14:creationId xmlns:p14="http://schemas.microsoft.com/office/powerpoint/2010/main" val="172064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Overloaded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125200" cy="4495800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A program can have two or more methods with the same name, only if their </a:t>
            </a:r>
            <a:r>
              <a:rPr lang="en-IE" u="sng" dirty="0"/>
              <a:t>parameter list</a:t>
            </a:r>
            <a:r>
              <a:rPr lang="en-IE" dirty="0"/>
              <a:t> is different.</a:t>
            </a:r>
            <a:br>
              <a:rPr lang="en-IE" dirty="0"/>
            </a:br>
            <a:endParaRPr lang="en-IE" dirty="0"/>
          </a:p>
          <a:p>
            <a:r>
              <a:rPr lang="en-IE" dirty="0"/>
              <a:t>When Java is checking that a parameter list is different, </a:t>
            </a:r>
            <a:br>
              <a:rPr lang="en-IE" dirty="0"/>
            </a:br>
            <a:r>
              <a:rPr lang="en-IE" dirty="0"/>
              <a:t>it is not checking the name of the variables, </a:t>
            </a:r>
            <a:br>
              <a:rPr lang="en-IE" dirty="0"/>
            </a:br>
            <a:r>
              <a:rPr lang="en-IE" dirty="0"/>
              <a:t>it is </a:t>
            </a:r>
            <a:r>
              <a:rPr lang="en-IE" b="1" dirty="0"/>
              <a:t>checking the data type </a:t>
            </a:r>
            <a:r>
              <a:rPr lang="en-IE" dirty="0"/>
              <a:t>of the variables </a:t>
            </a:r>
            <a:br>
              <a:rPr lang="en-IE" dirty="0"/>
            </a:br>
            <a:r>
              <a:rPr lang="en-IE" dirty="0"/>
              <a:t>e.g. </a:t>
            </a:r>
          </a:p>
          <a:p>
            <a:pPr lvl="1"/>
            <a:r>
              <a:rPr lang="en-IE" dirty="0"/>
              <a:t>this is permitted as the </a:t>
            </a:r>
            <a:r>
              <a:rPr lang="en-IE" b="1" dirty="0"/>
              <a:t>data </a:t>
            </a:r>
            <a:r>
              <a:rPr lang="en-IE" b="1" dirty="0">
                <a:solidFill>
                  <a:srgbClr val="FF0000"/>
                </a:solidFill>
              </a:rPr>
              <a:t>type</a:t>
            </a:r>
            <a:r>
              <a:rPr lang="en-IE" b="1" dirty="0"/>
              <a:t> is different</a:t>
            </a:r>
            <a:r>
              <a:rPr lang="en-IE" dirty="0"/>
              <a:t>:</a:t>
            </a:r>
          </a:p>
          <a:p>
            <a:pPr lvl="2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 int num1)</a:t>
            </a:r>
          </a:p>
          <a:p>
            <a:pPr lvl="2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 double  num1)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800" y="4966901"/>
            <a:ext cx="2057400" cy="914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3124200" y="5938391"/>
            <a:ext cx="5570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Data types must be different </a:t>
            </a:r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>
                <a:solidFill>
                  <a:srgbClr val="FF0000"/>
                </a:solidFill>
              </a:rPr>
              <a:t>for a method with the same name to be overloaded</a:t>
            </a:r>
          </a:p>
        </p:txBody>
      </p:sp>
    </p:spTree>
    <p:extLst>
      <p:ext uri="{BB962C8B-B14F-4D97-AF65-F5344CB8AC3E}">
        <p14:creationId xmlns:p14="http://schemas.microsoft.com/office/powerpoint/2010/main" val="270182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Overloaded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587062"/>
            <a:ext cx="5486400" cy="28623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Driver {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public static void main(String[] </a:t>
            </a:r>
            <a:r>
              <a:rPr lang="en-IE" dirty="0" err="1"/>
              <a:t>args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dirty="0" err="1"/>
              <a:t>ClassExamples</a:t>
            </a:r>
            <a:r>
              <a:rPr lang="en-IE" dirty="0"/>
              <a:t> </a:t>
            </a:r>
            <a:r>
              <a:rPr lang="en-IE" dirty="0" err="1"/>
              <a:t>ce</a:t>
            </a:r>
            <a:r>
              <a:rPr lang="en-IE" dirty="0"/>
              <a:t> = new </a:t>
            </a:r>
            <a:r>
              <a:rPr lang="en-IE" dirty="0" err="1"/>
              <a:t>ClassExamples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    double cel = </a:t>
            </a:r>
            <a:r>
              <a:rPr lang="en-IE" dirty="0" err="1"/>
              <a:t>ce.farenheitToCelsius</a:t>
            </a:r>
            <a:r>
              <a:rPr lang="en-IE" dirty="0"/>
              <a:t>(451);</a:t>
            </a:r>
            <a:br>
              <a:rPr lang="en-IE" dirty="0"/>
            </a:br>
            <a:r>
              <a:rPr lang="en-IE" dirty="0"/>
              <a:t>        double c = 20.5;</a:t>
            </a:r>
            <a:br>
              <a:rPr lang="en-IE" dirty="0"/>
            </a:br>
            <a:r>
              <a:rPr lang="en-IE" dirty="0"/>
              <a:t>        double d = 3.5;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dirty="0" err="1"/>
              <a:t>ce.addNum</a:t>
            </a:r>
            <a:r>
              <a:rPr lang="en-IE" dirty="0"/>
              <a:t>(c, d);</a:t>
            </a:r>
            <a:br>
              <a:rPr lang="en-IE" dirty="0"/>
            </a:br>
            <a:r>
              <a:rPr lang="en-IE" dirty="0"/>
              <a:t>    }</a:t>
            </a:r>
            <a:br>
              <a:rPr lang="en-IE" dirty="0"/>
            </a:br>
            <a:r>
              <a:rPr lang="en-IE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305341"/>
            <a:ext cx="5240482" cy="424731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ClassExamples</a:t>
            </a:r>
            <a:r>
              <a:rPr lang="en-US" dirty="0"/>
              <a:t> {</a:t>
            </a:r>
            <a:br>
              <a:rPr lang="en-US" dirty="0"/>
            </a:br>
            <a:br>
              <a:rPr lang="en-US" dirty="0"/>
            </a:br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(double num1, double num2){</a:t>
            </a:r>
            <a:br>
              <a:rPr lang="en-IE" dirty="0"/>
            </a:br>
            <a:r>
              <a:rPr lang="en-IE" dirty="0"/>
              <a:t>    double result = num1 + num2;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i="1" dirty="0" err="1"/>
              <a:t>out</a:t>
            </a:r>
            <a:r>
              <a:rPr lang="en-IE" dirty="0" err="1"/>
              <a:t>.println</a:t>
            </a:r>
            <a:r>
              <a:rPr lang="en-IE" dirty="0"/>
              <a:t>("This is double </a:t>
            </a:r>
            <a:r>
              <a:rPr lang="en-IE" dirty="0" err="1"/>
              <a:t>addNum</a:t>
            </a:r>
            <a:r>
              <a:rPr lang="en-IE" dirty="0"/>
              <a:t> " + result);</a:t>
            </a:r>
            <a:br>
              <a:rPr lang="en-IE" dirty="0"/>
            </a:br>
            <a:r>
              <a:rPr lang="en-IE" dirty="0"/>
              <a:t>}</a:t>
            </a:r>
          </a:p>
          <a:p>
            <a:br>
              <a:rPr lang="en-IE" dirty="0"/>
            </a:br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(int num1, int num2){</a:t>
            </a:r>
            <a:br>
              <a:rPr lang="en-IE" dirty="0"/>
            </a:br>
            <a:r>
              <a:rPr lang="en-IE" dirty="0"/>
              <a:t>    int result = num1 + num2;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i="1" dirty="0" err="1"/>
              <a:t>out</a:t>
            </a:r>
            <a:r>
              <a:rPr lang="en-IE" dirty="0" err="1"/>
              <a:t>.println</a:t>
            </a:r>
            <a:r>
              <a:rPr lang="en-IE" dirty="0"/>
              <a:t>("This is int </a:t>
            </a:r>
            <a:r>
              <a:rPr lang="en-IE" dirty="0" err="1"/>
              <a:t>addNum</a:t>
            </a:r>
            <a:r>
              <a:rPr lang="en-IE" dirty="0"/>
              <a:t> " + result);;</a:t>
            </a:r>
            <a:br>
              <a:rPr lang="en-IE" dirty="0"/>
            </a:br>
            <a:r>
              <a:rPr lang="en-IE" dirty="0"/>
              <a:t>}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4955720"/>
            <a:ext cx="5410200" cy="10772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Q: Which </a:t>
            </a:r>
            <a:r>
              <a:rPr lang="en-IE" sz="3200" dirty="0" err="1"/>
              <a:t>addNum</a:t>
            </a:r>
            <a:r>
              <a:rPr lang="en-IE" sz="3200" dirty="0"/>
              <a:t> method is called and why?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828800" y="3810000"/>
            <a:ext cx="647700" cy="1066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B0F72FA-0826-CDE7-1252-79AB4D17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5" t="7247" b="46079"/>
          <a:stretch>
            <a:fillRect/>
          </a:stretch>
        </p:blipFill>
        <p:spPr>
          <a:xfrm>
            <a:off x="7162800" y="6032938"/>
            <a:ext cx="2598665" cy="29166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0048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Overloaded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353800" cy="4525963"/>
          </a:xfrm>
        </p:spPr>
        <p:txBody>
          <a:bodyPr>
            <a:normAutofit/>
          </a:bodyPr>
          <a:lstStyle/>
          <a:p>
            <a:r>
              <a:rPr lang="en-IE" dirty="0"/>
              <a:t>When you call a method, </a:t>
            </a:r>
            <a:br>
              <a:rPr lang="en-IE" dirty="0"/>
            </a:br>
            <a:r>
              <a:rPr lang="en-IE" dirty="0"/>
              <a:t>Java </a:t>
            </a:r>
            <a:r>
              <a:rPr lang="en-IE" b="1" dirty="0"/>
              <a:t>matches</a:t>
            </a:r>
            <a:r>
              <a:rPr lang="en-IE" dirty="0"/>
              <a:t> the </a:t>
            </a:r>
            <a:r>
              <a:rPr lang="en-IE" b="1" dirty="0"/>
              <a:t>number and type of the arguments </a:t>
            </a:r>
            <a:r>
              <a:rPr lang="en-IE" dirty="0"/>
              <a:t>you passed to the method, with all the declared methods.  </a:t>
            </a:r>
            <a:br>
              <a:rPr lang="en-IE" dirty="0"/>
            </a:br>
            <a:endParaRPr lang="en-IE" dirty="0"/>
          </a:p>
          <a:p>
            <a:r>
              <a:rPr lang="en-IE" dirty="0"/>
              <a:t>When a match is found, Java invokes that method </a:t>
            </a:r>
            <a:br>
              <a:rPr lang="en-IE" dirty="0"/>
            </a:br>
            <a:r>
              <a:rPr lang="en-IE" dirty="0"/>
              <a:t>e.g. </a:t>
            </a:r>
          </a:p>
          <a:p>
            <a:pPr marL="400050" lvl="1" indent="0">
              <a:buNone/>
            </a:pPr>
            <a:r>
              <a:rPr lang="en-IE" dirty="0">
                <a:solidFill>
                  <a:srgbClr val="FF0000"/>
                </a:solidFill>
              </a:rPr>
              <a:t>	</a:t>
            </a:r>
            <a:r>
              <a:rPr lang="en-IE" dirty="0" err="1">
                <a:solidFill>
                  <a:srgbClr val="FF0000"/>
                </a:solidFill>
              </a:rPr>
              <a:t>addNum</a:t>
            </a:r>
            <a:r>
              <a:rPr lang="en-IE" dirty="0">
                <a:solidFill>
                  <a:srgbClr val="FF0000"/>
                </a:solidFill>
              </a:rPr>
              <a:t> (0, 4) 	</a:t>
            </a:r>
            <a:r>
              <a:rPr lang="en-IE" dirty="0"/>
              <a:t>calls 	void </a:t>
            </a:r>
            <a:r>
              <a:rPr lang="en-IE" b="1" dirty="0" err="1"/>
              <a:t>addNum</a:t>
            </a:r>
            <a:r>
              <a:rPr lang="en-IE" dirty="0"/>
              <a:t> (</a:t>
            </a:r>
            <a:r>
              <a:rPr lang="en-IE" b="1" dirty="0"/>
              <a:t>int</a:t>
            </a:r>
            <a:r>
              <a:rPr lang="en-IE" dirty="0"/>
              <a:t> num1, int num2)</a:t>
            </a:r>
          </a:p>
          <a:p>
            <a:pPr marL="400050" lvl="1" indent="0">
              <a:buNone/>
            </a:pPr>
            <a:r>
              <a:rPr lang="en-IE" dirty="0">
                <a:solidFill>
                  <a:srgbClr val="FF0000"/>
                </a:solidFill>
              </a:rPr>
              <a:t>	</a:t>
            </a:r>
            <a:r>
              <a:rPr lang="en-IE" dirty="0" err="1">
                <a:solidFill>
                  <a:srgbClr val="FF0000"/>
                </a:solidFill>
              </a:rPr>
              <a:t>addNum</a:t>
            </a:r>
            <a:r>
              <a:rPr lang="en-IE" dirty="0">
                <a:solidFill>
                  <a:srgbClr val="FF0000"/>
                </a:solidFill>
              </a:rPr>
              <a:t> (0.0, 4.0) 	</a:t>
            </a:r>
            <a:r>
              <a:rPr lang="en-IE" dirty="0"/>
              <a:t>calls 	void </a:t>
            </a:r>
            <a:r>
              <a:rPr lang="en-IE" b="1" dirty="0" err="1"/>
              <a:t>addNum</a:t>
            </a:r>
            <a:r>
              <a:rPr lang="en-IE" dirty="0"/>
              <a:t> (</a:t>
            </a:r>
            <a:r>
              <a:rPr lang="en-IE" b="1" dirty="0"/>
              <a:t>double</a:t>
            </a:r>
            <a:r>
              <a:rPr lang="en-IE" dirty="0"/>
              <a:t> num1, double num2)</a:t>
            </a:r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</p:spTree>
    <p:extLst>
      <p:ext uri="{BB962C8B-B14F-4D97-AF65-F5344CB8AC3E}">
        <p14:creationId xmlns:p14="http://schemas.microsoft.com/office/powerpoint/2010/main" val="27871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FD4B-6B9E-0CC2-5621-1C414C8E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features of Method Overloading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79750-691C-3A9C-BE52-9B381EFA6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972800" cy="4906963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Multiple methods can share the same name in a class when their parameter lists are different.</a:t>
            </a:r>
          </a:p>
          <a:p>
            <a:pPr fontAlgn="base"/>
            <a:r>
              <a:rPr lang="en-US" dirty="0"/>
              <a:t>Overloading is a way to increase flexibility and improve the readability of code.</a:t>
            </a:r>
          </a:p>
          <a:p>
            <a:pPr fontAlgn="base"/>
            <a:r>
              <a:rPr lang="en-US" dirty="0"/>
              <a:t>Overloading does not depend on the return type of the method, two methods cannot be overloaded by just changing the return type.</a:t>
            </a:r>
          </a:p>
          <a:p>
            <a:r>
              <a:rPr lang="en-IE" dirty="0"/>
              <a:t>It does depend on:</a:t>
            </a:r>
          </a:p>
          <a:p>
            <a:pPr lvl="1" fontAlgn="base"/>
            <a:r>
              <a:rPr lang="en-US" dirty="0"/>
              <a:t>The number of parameters</a:t>
            </a:r>
          </a:p>
          <a:p>
            <a:pPr lvl="1" fontAlgn="base"/>
            <a:r>
              <a:rPr lang="en-US" dirty="0"/>
              <a:t>The types of parameters</a:t>
            </a:r>
          </a:p>
          <a:p>
            <a:pPr lvl="1" fontAlgn="base"/>
            <a:r>
              <a:rPr lang="en-US" dirty="0"/>
              <a:t>The order of parameters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9131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B11B14B5-CD65-B2FA-1DA3-A6E253072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44844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-fund-1" id="{82CCE168-77CC-814B-8A2F-8520E8A6A75D}" vid="{4B930EE9-D6E6-E64C-A928-F4FAD685DB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b-boolean-cond</Template>
  <TotalTime>0</TotalTime>
  <Words>644</Words>
  <Application>Microsoft Office PowerPoint</Application>
  <PresentationFormat>Widescreen</PresentationFormat>
  <Paragraphs>75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a-processing-mouse-event-methods</vt:lpstr>
      <vt:lpstr>Methods</vt:lpstr>
      <vt:lpstr>Topics list</vt:lpstr>
      <vt:lpstr>Overloaded methods</vt:lpstr>
      <vt:lpstr>Overloaded methods</vt:lpstr>
      <vt:lpstr>Overloaded methods</vt:lpstr>
      <vt:lpstr>Overloaded methods</vt:lpstr>
      <vt:lpstr>Overloaded methods</vt:lpstr>
      <vt:lpstr>Key features of Method Overloading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Methods</dc:title>
  <dc:creator>Siobhan Drohan</dc:creator>
  <cp:lastModifiedBy>Siobhan Roche</cp:lastModifiedBy>
  <cp:revision>294</cp:revision>
  <dcterms:created xsi:type="dcterms:W3CDTF">2006-08-16T00:00:00Z</dcterms:created>
  <dcterms:modified xsi:type="dcterms:W3CDTF">2025-10-14T11:41:10Z</dcterms:modified>
</cp:coreProperties>
</file>