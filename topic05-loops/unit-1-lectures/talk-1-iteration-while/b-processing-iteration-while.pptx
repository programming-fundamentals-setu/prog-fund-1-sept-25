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63" r:id="rId4"/>
    <p:sldId id="372" r:id="rId5"/>
    <p:sldId id="370" r:id="rId6"/>
    <p:sldId id="391" r:id="rId7"/>
    <p:sldId id="373" r:id="rId8"/>
    <p:sldId id="392" r:id="rId9"/>
    <p:sldId id="394" r:id="rId10"/>
    <p:sldId id="364" r:id="rId11"/>
    <p:sldId id="382" r:id="rId12"/>
    <p:sldId id="383" r:id="rId13"/>
    <p:sldId id="384" r:id="rId14"/>
    <p:sldId id="386" r:id="rId15"/>
    <p:sldId id="395" r:id="rId16"/>
    <p:sldId id="387" r:id="rId17"/>
    <p:sldId id="390" r:id="rId18"/>
    <p:sldId id="393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09" autoAdjust="0"/>
    <p:restoredTop sz="80408" autoAdjust="0"/>
  </p:normalViewPr>
  <p:slideViewPr>
    <p:cSldViewPr>
      <p:cViewPr varScale="1">
        <p:scale>
          <a:sx n="97" d="100"/>
          <a:sy n="97" d="100"/>
        </p:scale>
        <p:origin x="282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18/09/2023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73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73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762EAF62-C546-4744-BC24-2CCA716ACD46}" type="slidenum">
              <a:rPr lang="en-GB" altLang="en-US"/>
              <a:pPr/>
              <a:t>4</a:t>
            </a:fld>
            <a:endParaRPr lang="en-GB" altLang="en-US"/>
          </a:p>
        </p:txBody>
      </p:sp>
      <p:sp>
        <p:nvSpPr>
          <p:cNvPr id="573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2281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5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1708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6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883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7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We add 20 because its 10 for the height</a:t>
            </a:r>
            <a:r>
              <a:rPr lang="en-US" altLang="en-US" baseline="0" dirty="0"/>
              <a:t> of the rectangle +10 for the gap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01264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583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583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6F5C823C-3053-4D97-8BDB-829229CD9DB8}" type="slidenum">
              <a:rPr lang="en-GB" altLang="en-US"/>
              <a:pPr/>
              <a:t>8</a:t>
            </a:fld>
            <a:endParaRPr lang="en-GB" altLang="en-US"/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9797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00790-568A-44AB-A948-643E31985A48}" type="slidenum">
              <a:rPr lang="en-GB"/>
              <a:pPr/>
              <a:t>11</a:t>
            </a:fld>
            <a:endParaRPr lang="en-GB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0162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Objects First with Java</a:t>
            </a: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GB" altLang="en-US"/>
              <a:t>© David J. Barnes and Michael Kölling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fld id="{96C53C0E-6DE2-48FF-AFC8-5B6F7D1351EB}" type="slidenum">
              <a:rPr lang="en-GB" altLang="en-US"/>
              <a:pPr/>
              <a:t>12</a:t>
            </a:fld>
            <a:endParaRPr lang="en-GB" altLang="en-US"/>
          </a:p>
        </p:txBody>
      </p:sp>
      <p:sp>
        <p:nvSpPr>
          <p:cNvPr id="6144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“update the LCV” should always update it so that the Boolean condition will eventually evaluation to false. </a:t>
            </a:r>
          </a:p>
        </p:txBody>
      </p:sp>
    </p:spTree>
    <p:extLst>
      <p:ext uri="{BB962C8B-B14F-4D97-AF65-F5344CB8AC3E}">
        <p14:creationId xmlns:p14="http://schemas.microsoft.com/office/powerpoint/2010/main" val="3967997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5206F4-4E20-479E-ABC0-0EB3661565C0}" type="slidenum">
              <a:rPr lang="en-GB"/>
              <a:pPr/>
              <a:t>13</a:t>
            </a:fld>
            <a:endParaRPr lang="en-GB"/>
          </a:p>
        </p:txBody>
      </p:sp>
      <p:sp>
        <p:nvSpPr>
          <p:cNvPr id="160770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677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30040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 err="1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yCoordinate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yCoordinate</a:t>
            </a:r>
            <a:r>
              <a:rPr lang="en-IE" sz="1200" dirty="0"/>
              <a:t>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96402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60;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 &lt;= 120)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</a:t>
            </a:r>
            <a:r>
              <a:rPr lang="en-IE" sz="1200" dirty="0" err="1"/>
              <a:t>i</a:t>
            </a:r>
            <a:r>
              <a:rPr lang="en-IE" sz="1200" dirty="0"/>
              <a:t>, 500, 10);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 += 20;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8023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41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>
                <a:solidFill>
                  <a:schemeClr val="tx1">
                    <a:lumMod val="50000"/>
                    <a:lumOff val="50000"/>
                  </a:schemeClr>
                </a:solidFill>
              </a:rPr>
              <a:t>while loops</a:t>
            </a:r>
            <a:endParaRPr lang="en-IE" sz="3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F9E9C2-B338-5912-9229-57408CC58111}"/>
              </a:ext>
            </a:extLst>
          </p:cNvPr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D692823E-6DD1-5D8C-DC75-A91BFDA6D3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932F4F-B367-EF47-F2B5-1EABBC730F21}"/>
              </a:ext>
            </a:extLst>
          </p:cNvPr>
          <p:cNvSpPr txBox="1"/>
          <p:nvPr/>
        </p:nvSpPr>
        <p:spPr>
          <a:xfrm>
            <a:off x="2286000" y="3834677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457200" y="2819400"/>
            <a:ext cx="82296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Recap: Boolean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A </a:t>
            </a:r>
            <a:r>
              <a:rPr lang="en-IE" dirty="0" err="1"/>
              <a:t>boolean</a:t>
            </a:r>
            <a:r>
              <a:rPr lang="en-IE" dirty="0"/>
              <a:t> condition is an expression that evaluates to either true or false e.g.</a:t>
            </a:r>
          </a:p>
          <a:p>
            <a:pPr marL="0" indent="0">
              <a:buNone/>
            </a:pP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	</a:t>
            </a:r>
            <a:r>
              <a:rPr lang="en-IE" sz="2800" dirty="0" err="1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mouseX</a:t>
            </a:r>
            <a:r>
              <a:rPr lang="en-IE" sz="2800" dirty="0">
                <a:solidFill>
                  <a:srgbClr val="FF000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IE" sz="2800" dirty="0">
                <a:solidFill>
                  <a:schemeClr val="accent4">
                    <a:lumMod val="50000"/>
                  </a:schemeClr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&lt; 50 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Boolean conditions can be used to control:</a:t>
            </a:r>
          </a:p>
          <a:p>
            <a:pPr lvl="1"/>
            <a:r>
              <a:rPr lang="en-IE" dirty="0"/>
              <a:t>Selection i.e. if statements and </a:t>
            </a:r>
          </a:p>
          <a:p>
            <a:pPr lvl="1"/>
            <a:r>
              <a:rPr lang="en-IE" dirty="0"/>
              <a:t>Iteration i.e. loops (we will look at these now).</a:t>
            </a:r>
          </a:p>
        </p:txBody>
      </p:sp>
    </p:spTree>
    <p:extLst>
      <p:ext uri="{BB962C8B-B14F-4D97-AF65-F5344CB8AC3E}">
        <p14:creationId xmlns:p14="http://schemas.microsoft.com/office/powerpoint/2010/main" val="417895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Repetition in Programming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3000" dirty="0"/>
              <a:t>Computers are very good at repetition.</a:t>
            </a:r>
          </a:p>
          <a:p>
            <a:pPr>
              <a:lnSpc>
                <a:spcPct val="90000"/>
              </a:lnSpc>
            </a:pPr>
            <a:endParaRPr lang="en-US" altLang="en-US" sz="3000" dirty="0"/>
          </a:p>
          <a:p>
            <a:pPr>
              <a:lnSpc>
                <a:spcPct val="90000"/>
              </a:lnSpc>
            </a:pPr>
            <a:r>
              <a:rPr lang="en-US" altLang="en-US" sz="30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for 1000 employees.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should use the same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times.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You don’t write the </a:t>
            </a:r>
            <a:r>
              <a:rPr lang="en-US" altLang="en-US" sz="2600" dirty="0">
                <a:solidFill>
                  <a:srgbClr val="FF0000"/>
                </a:solidFill>
              </a:rPr>
              <a:t>calculate pay </a:t>
            </a:r>
            <a:r>
              <a:rPr lang="en-US" altLang="en-US" sz="2600" dirty="0"/>
              <a:t>algorithm 1000 times; instead you include it in a loop.</a:t>
            </a:r>
          </a:p>
        </p:txBody>
      </p:sp>
    </p:spTree>
    <p:extLst>
      <p:ext uri="{BB962C8B-B14F-4D97-AF65-F5344CB8AC3E}">
        <p14:creationId xmlns:p14="http://schemas.microsoft.com/office/powerpoint/2010/main" val="1659029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Draw a rectangle 4 times that has a gap of 10 pixels between each one.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6086456" y="5158563"/>
            <a:ext cx="2981344" cy="162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5404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Draw a rectangle 4 times that has a gap of 10 pixels between each one.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Without loop: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>
                <a:solidFill>
                  <a:srgbClr val="FF0000"/>
                </a:solidFill>
              </a:rPr>
              <a:t>60</a:t>
            </a:r>
            <a:r>
              <a:rPr lang="en-IE" dirty="0"/>
              <a:t>, 500, 10);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>
                <a:solidFill>
                  <a:srgbClr val="FF0000"/>
                </a:solidFill>
              </a:rPr>
              <a:t>80</a:t>
            </a:r>
            <a:r>
              <a:rPr lang="en-IE" dirty="0"/>
              <a:t>, 500, 10);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>
                <a:solidFill>
                  <a:srgbClr val="FF0000"/>
                </a:solidFill>
              </a:rPr>
              <a:t>100</a:t>
            </a:r>
            <a:r>
              <a:rPr lang="en-IE" dirty="0"/>
              <a:t>, 500, 10);</a:t>
            </a:r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>
                <a:solidFill>
                  <a:srgbClr val="FF0000"/>
                </a:solidFill>
              </a:rPr>
              <a:t>120</a:t>
            </a:r>
            <a:r>
              <a:rPr lang="en-IE" dirty="0"/>
              <a:t>, 500, 10);</a:t>
            </a:r>
            <a:endParaRPr lang="en-US" altLang="en-US" dirty="0"/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6086456" y="5158563"/>
            <a:ext cx="2981344" cy="162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026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Draw a rectangle 4 times that has a gap of 10 pixels between each one.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5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4 times </a:t>
            </a:r>
            <a:br>
              <a:rPr lang="en-US" altLang="en-US" dirty="0"/>
            </a:br>
            <a:r>
              <a:rPr lang="en-US" altLang="en-US" dirty="0"/>
              <a:t>(adding 20 onto the </a:t>
            </a:r>
            <a:r>
              <a:rPr lang="en-US" altLang="en-US" dirty="0" err="1"/>
              <a:t>yCoordinate</a:t>
            </a:r>
            <a:r>
              <a:rPr lang="en-US" altLang="en-US" dirty="0"/>
              <a:t> variable each time). </a:t>
            </a:r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 err="1">
                <a:solidFill>
                  <a:srgbClr val="FF0000"/>
                </a:solidFill>
              </a:rPr>
              <a:t>yCoordinate</a:t>
            </a:r>
            <a:r>
              <a:rPr lang="en-IE" dirty="0">
                <a:solidFill>
                  <a:srgbClr val="FF0000"/>
                </a:solidFill>
              </a:rPr>
              <a:t>,</a:t>
            </a:r>
            <a:r>
              <a:rPr lang="en-IE" dirty="0"/>
              <a:t> 500, 10);</a:t>
            </a:r>
          </a:p>
          <a:p>
            <a:pPr lvl="1">
              <a:lnSpc>
                <a:spcPct val="90000"/>
              </a:lnSpc>
              <a:buNone/>
            </a:pPr>
            <a:endParaRPr lang="en-IE" b="1" i="1" dirty="0">
              <a:solidFill>
                <a:srgbClr val="0070C0"/>
              </a:solidFill>
            </a:endParaRP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6086456" y="5158563"/>
            <a:ext cx="2981344" cy="162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84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Form of loop</a:t>
            </a:r>
          </a:p>
        </p:txBody>
      </p:sp>
      <p:sp>
        <p:nvSpPr>
          <p:cNvPr id="614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51054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/>
              <a:t>Draw a rectangle 4 times that has a gap of 10 pixels between each one.</a:t>
            </a:r>
          </a:p>
          <a:p>
            <a:pPr>
              <a:lnSpc>
                <a:spcPct val="90000"/>
              </a:lnSpc>
            </a:pPr>
            <a:endParaRPr lang="en-US" altLang="en-US" sz="2800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With a loop:</a:t>
            </a:r>
          </a:p>
          <a:p>
            <a:pPr lvl="5">
              <a:lnSpc>
                <a:spcPct val="90000"/>
              </a:lnSpc>
            </a:pPr>
            <a:endParaRPr lang="en-US" altLang="en-US" sz="1400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do this 4 times </a:t>
            </a:r>
            <a:br>
              <a:rPr lang="en-US" altLang="en-US" dirty="0"/>
            </a:br>
            <a:r>
              <a:rPr lang="en-US" altLang="en-US" dirty="0"/>
              <a:t>(adding 20 onto the </a:t>
            </a:r>
            <a:r>
              <a:rPr lang="en-US" altLang="en-US" dirty="0" err="1"/>
              <a:t>yCoordinate</a:t>
            </a:r>
            <a:r>
              <a:rPr lang="en-US" altLang="en-US" dirty="0"/>
              <a:t> variable each time). </a:t>
            </a:r>
          </a:p>
          <a:p>
            <a:pPr lvl="1">
              <a:lnSpc>
                <a:spcPct val="90000"/>
              </a:lnSpc>
            </a:pPr>
            <a:endParaRPr lang="en-US" altLang="en-US" sz="1100" dirty="0"/>
          </a:p>
          <a:p>
            <a:pPr lvl="1">
              <a:lnSpc>
                <a:spcPct val="90000"/>
              </a:lnSpc>
              <a:buNone/>
            </a:pPr>
            <a:r>
              <a:rPr lang="en-IE" dirty="0"/>
              <a:t>			</a:t>
            </a:r>
            <a:r>
              <a:rPr lang="en-IE" dirty="0" err="1"/>
              <a:t>rect</a:t>
            </a:r>
            <a:r>
              <a:rPr lang="en-IE" dirty="0"/>
              <a:t>(50, </a:t>
            </a:r>
            <a:r>
              <a:rPr lang="en-IE" dirty="0" err="1">
                <a:solidFill>
                  <a:srgbClr val="FF0000"/>
                </a:solidFill>
              </a:rPr>
              <a:t>yCoordinate</a:t>
            </a:r>
            <a:r>
              <a:rPr lang="en-IE" dirty="0">
                <a:solidFill>
                  <a:srgbClr val="FF0000"/>
                </a:solidFill>
              </a:rPr>
              <a:t>,</a:t>
            </a:r>
            <a:r>
              <a:rPr lang="en-IE" dirty="0"/>
              <a:t> 500, 10);</a:t>
            </a:r>
          </a:p>
          <a:p>
            <a:pPr lvl="1">
              <a:lnSpc>
                <a:spcPct val="90000"/>
              </a:lnSpc>
              <a:buNone/>
            </a:pPr>
            <a:endParaRPr lang="en-IE" b="1" i="1" dirty="0">
              <a:solidFill>
                <a:srgbClr val="0070C0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IE" b="1" i="1" dirty="0">
                <a:solidFill>
                  <a:srgbClr val="0070C0"/>
                </a:solidFill>
              </a:rPr>
              <a:t>We will learn a little more about</a:t>
            </a:r>
            <a:br>
              <a:rPr lang="en-IE" b="1" i="1" dirty="0">
                <a:solidFill>
                  <a:srgbClr val="0070C0"/>
                </a:solidFill>
              </a:rPr>
            </a:br>
            <a:r>
              <a:rPr lang="en-IE" b="1" i="1" dirty="0">
                <a:solidFill>
                  <a:srgbClr val="0070C0"/>
                </a:solidFill>
              </a:rPr>
              <a:t>loops and then we will write the</a:t>
            </a:r>
            <a:br>
              <a:rPr lang="en-IE" b="1" i="1" dirty="0">
                <a:solidFill>
                  <a:srgbClr val="0070C0"/>
                </a:solidFill>
              </a:rPr>
            </a:br>
            <a:r>
              <a:rPr lang="en-IE" b="1" i="1" dirty="0">
                <a:solidFill>
                  <a:srgbClr val="0070C0"/>
                </a:solidFill>
              </a:rPr>
              <a:t>code to solve this problem.</a:t>
            </a:r>
          </a:p>
          <a:p>
            <a:pPr lvl="2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6086456" y="5158563"/>
            <a:ext cx="2981344" cy="162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317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E" dirty="0"/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Repetition in Programming – Intro to looping</a:t>
            </a:r>
          </a:p>
          <a:p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dirty="0"/>
              <a:t>Use of loops (while loops).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457200" y="4038600"/>
            <a:ext cx="8001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7151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Loops in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three types of loop in (Java) programming:</a:t>
            </a:r>
          </a:p>
          <a:p>
            <a:endParaRPr lang="en-IE" dirty="0"/>
          </a:p>
          <a:p>
            <a:pPr lvl="1"/>
            <a:r>
              <a:rPr lang="en-IE" b="1" dirty="0"/>
              <a:t>while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for</a:t>
            </a:r>
            <a:r>
              <a:rPr lang="en-IE" dirty="0"/>
              <a:t> loops</a:t>
            </a:r>
          </a:p>
          <a:p>
            <a:pPr lvl="1"/>
            <a:r>
              <a:rPr lang="en-IE" b="1" dirty="0"/>
              <a:t>do while</a:t>
            </a:r>
            <a:r>
              <a:rPr lang="en-IE" dirty="0"/>
              <a:t> loops</a:t>
            </a:r>
          </a:p>
          <a:p>
            <a:pPr lvl="1"/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87448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while loop </a:t>
            </a:r>
            <a:r>
              <a:rPr lang="en-US" dirty="0"/>
              <a:t>pseudo code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2514600" y="3124200"/>
            <a:ext cx="32004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sz="1600" dirty="0"/>
              <a:t>while(</a:t>
            </a:r>
            <a:r>
              <a:rPr lang="en-US" sz="1600" i="1" dirty="0"/>
              <a:t>loop condition</a:t>
            </a:r>
            <a:r>
              <a:rPr lang="en-US" sz="1600" dirty="0"/>
              <a:t>) {</a:t>
            </a:r>
          </a:p>
          <a:p>
            <a:r>
              <a:rPr lang="en-US" sz="1600" dirty="0"/>
              <a:t>    </a:t>
            </a:r>
            <a:r>
              <a:rPr lang="en-US" sz="1600" i="1" dirty="0"/>
              <a:t>loop body</a:t>
            </a:r>
            <a:endParaRPr lang="en-US" sz="1600" dirty="0"/>
          </a:p>
          <a:p>
            <a:r>
              <a:rPr lang="en-US" sz="1600" dirty="0"/>
              <a:t>} </a:t>
            </a:r>
          </a:p>
        </p:txBody>
      </p:sp>
      <p:sp>
        <p:nvSpPr>
          <p:cNvPr id="18437" name="Text Box 5"/>
          <p:cNvSpPr txBox="1">
            <a:spLocks noChangeArrowheads="1"/>
          </p:cNvSpPr>
          <p:nvPr/>
        </p:nvSpPr>
        <p:spPr bwMode="auto">
          <a:xfrm>
            <a:off x="1500188" y="5500688"/>
            <a:ext cx="63595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dirty="0">
                <a:latin typeface="Trebuchet MS" pitchFamily="-32" charset="0"/>
              </a:rPr>
              <a:t>while we wish to continue, do the things in the loop body</a:t>
            </a:r>
          </a:p>
        </p:txBody>
      </p:sp>
      <p:sp>
        <p:nvSpPr>
          <p:cNvPr id="18439" name="AutoShape 7"/>
          <p:cNvSpPr>
            <a:spLocks noChangeArrowheads="1"/>
          </p:cNvSpPr>
          <p:nvPr/>
        </p:nvSpPr>
        <p:spPr bwMode="auto">
          <a:xfrm>
            <a:off x="5029200" y="2590800"/>
            <a:ext cx="21336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 err="1">
                <a:solidFill>
                  <a:srgbClr val="A57133"/>
                </a:solidFill>
                <a:latin typeface="Trebuchet MS" pitchFamily="-32" charset="0"/>
              </a:rPr>
              <a:t>boolean</a:t>
            </a:r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 condition</a:t>
            </a:r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 flipH="1">
            <a:off x="4114800" y="28194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2" name="AutoShape 10"/>
          <p:cNvSpPr>
            <a:spLocks noChangeArrowheads="1"/>
          </p:cNvSpPr>
          <p:nvPr/>
        </p:nvSpPr>
        <p:spPr bwMode="auto">
          <a:xfrm>
            <a:off x="914400" y="2286000"/>
            <a:ext cx="19050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>
                <a:solidFill>
                  <a:srgbClr val="A57133"/>
                </a:solidFill>
              </a:rPr>
              <a:t>while</a:t>
            </a:r>
            <a:r>
              <a:rPr lang="en-US" b="0">
                <a:solidFill>
                  <a:srgbClr val="A57133"/>
                </a:solidFill>
                <a:latin typeface="Times New Roman" pitchFamily="-32" charset="0"/>
              </a:rPr>
              <a:t> </a:t>
            </a:r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keyword</a:t>
            </a:r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>
            <a:off x="1828800" y="2743200"/>
            <a:ext cx="914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5486400" y="3276600"/>
            <a:ext cx="2971800" cy="457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Statements to be repeated</a:t>
            </a:r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H="1">
            <a:off x="4495800" y="3505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E"/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2338388" y="4495800"/>
            <a:ext cx="4467225" cy="7112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en-US" b="0" dirty="0">
                <a:solidFill>
                  <a:srgbClr val="A57133"/>
                </a:solidFill>
                <a:latin typeface="Trebuchet MS" pitchFamily="-32" charset="0"/>
              </a:rPr>
              <a:t>Pseudo-code expression of the actions of a while loop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2895600" y="1828800"/>
            <a:ext cx="3200400" cy="381000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General form of a while loop</a:t>
            </a:r>
          </a:p>
        </p:txBody>
      </p:sp>
      <p:sp>
        <p:nvSpPr>
          <p:cNvPr id="18455" name="Rectangle 23"/>
          <p:cNvSpPr>
            <a:spLocks noChangeArrowheads="1"/>
          </p:cNvSpPr>
          <p:nvPr/>
        </p:nvSpPr>
        <p:spPr bwMode="auto">
          <a:xfrm>
            <a:off x="762000" y="1676400"/>
            <a:ext cx="7772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  <p:sp>
        <p:nvSpPr>
          <p:cNvPr id="18456" name="Rectangle 24"/>
          <p:cNvSpPr>
            <a:spLocks noChangeArrowheads="1"/>
          </p:cNvSpPr>
          <p:nvPr/>
        </p:nvSpPr>
        <p:spPr bwMode="auto">
          <a:xfrm>
            <a:off x="762000" y="4343400"/>
            <a:ext cx="77724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IE"/>
          </a:p>
        </p:txBody>
      </p:sp>
      <p:sp>
        <p:nvSpPr>
          <p:cNvPr id="18457" name="AutoShape 25"/>
          <p:cNvSpPr>
            <a:spLocks noChangeArrowheads="1"/>
          </p:cNvSpPr>
          <p:nvPr/>
        </p:nvSpPr>
        <p:spPr bwMode="auto">
          <a:xfrm flipH="1" flipV="1">
            <a:off x="1295400" y="3124200"/>
            <a:ext cx="990600" cy="762000"/>
          </a:xfrm>
          <a:prstGeom prst="curvedLeftArrow">
            <a:avLst>
              <a:gd name="adj1" fmla="val 20000"/>
              <a:gd name="adj2" fmla="val 40000"/>
              <a:gd name="adj3" fmla="val 4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0477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9" grpId="0" animBg="1"/>
      <p:bldP spid="18440" grpId="0" animBg="1"/>
      <p:bldP spid="18442" grpId="0" animBg="1"/>
      <p:bldP spid="18443" grpId="0" animBg="1"/>
      <p:bldP spid="18445" grpId="0" animBg="1"/>
      <p:bldP spid="18446" grpId="0" animBg="1"/>
      <p:bldP spid="18448" grpId="0" animBg="1"/>
      <p:bldP spid="1845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Construction of while loop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3733800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Declare and 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initialise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loop control variable (LCV)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while(</a:t>
            </a:r>
            <a:r>
              <a:rPr lang="en-US" altLang="en-US" dirty="0" err="1">
                <a:solidFill>
                  <a:srgbClr val="000000"/>
                </a:solidFill>
                <a:ea typeface="MS PGothic" pitchFamily="34" charset="-128"/>
              </a:rPr>
              <a:t>boolean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condition based on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 </a:t>
            </a:r>
            <a:r>
              <a:rPr lang="en-US" altLang="en-US" dirty="0">
                <a:solidFill>
                  <a:schemeClr val="tx1"/>
                </a:solidFill>
                <a:ea typeface="MS PGothic" pitchFamily="34" charset="-128"/>
              </a:rPr>
              <a:t>is true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{</a:t>
            </a: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</a:t>
            </a:r>
            <a:r>
              <a:rPr lang="en-US" altLang="ja-JP" dirty="0">
                <a:solidFill>
                  <a:srgbClr val="000000"/>
                </a:solidFill>
              </a:rPr>
              <a:t>do the job to be repeated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       “update the </a:t>
            </a:r>
            <a:r>
              <a:rPr lang="en-US" altLang="en-US" dirty="0">
                <a:solidFill>
                  <a:srgbClr val="FF0000"/>
                </a:solidFill>
                <a:ea typeface="MS PGothic" pitchFamily="34" charset="-128"/>
              </a:rPr>
              <a:t>LCV</a:t>
            </a: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”</a:t>
            </a:r>
            <a:endParaRPr lang="en-US" altLang="ja-JP" dirty="0">
              <a:solidFill>
                <a:srgbClr val="000000"/>
              </a:solidFill>
            </a:endParaRPr>
          </a:p>
          <a:p>
            <a:pPr marL="0" indent="0">
              <a:buFont typeface="Arial" pitchFamily="34" charset="0"/>
              <a:buNone/>
            </a:pPr>
            <a:r>
              <a:rPr lang="en-US" altLang="en-US" dirty="0">
                <a:solidFill>
                  <a:srgbClr val="000000"/>
                </a:solidFill>
                <a:ea typeface="MS PGothic" pitchFamily="34" charset="-128"/>
              </a:rPr>
              <a:t>  }</a:t>
            </a:r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9115425" y="5842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5638800"/>
            <a:ext cx="7772400" cy="584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/>
              <a:t>This structure should </a:t>
            </a:r>
            <a:r>
              <a:rPr lang="en-US" sz="3200" u="sng" dirty="0"/>
              <a:t>always</a:t>
            </a:r>
            <a:r>
              <a:rPr lang="en-US" sz="3200" dirty="0"/>
              <a:t> be used</a:t>
            </a:r>
          </a:p>
        </p:txBody>
      </p:sp>
    </p:spTree>
    <p:extLst>
      <p:ext uri="{BB962C8B-B14F-4D97-AF65-F5344CB8AC3E}">
        <p14:creationId xmlns:p14="http://schemas.microsoft.com/office/powerpoint/2010/main" val="1544170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loop Flowchart</a:t>
            </a:r>
          </a:p>
        </p:txBody>
      </p:sp>
      <p:grpSp>
        <p:nvGrpSpPr>
          <p:cNvPr id="159747" name="Group 3"/>
          <p:cNvGrpSpPr>
            <a:grpSpLocks/>
          </p:cNvGrpSpPr>
          <p:nvPr/>
        </p:nvGrpSpPr>
        <p:grpSpPr bwMode="auto">
          <a:xfrm>
            <a:off x="533400" y="1595439"/>
            <a:ext cx="3810000" cy="3967163"/>
            <a:chOff x="1968" y="1005"/>
            <a:chExt cx="2400" cy="2499"/>
          </a:xfrm>
        </p:grpSpPr>
        <p:sp>
          <p:nvSpPr>
            <p:cNvPr id="159748" name="Rectangle 4"/>
            <p:cNvSpPr>
              <a:spLocks noChangeArrowheads="1"/>
            </p:cNvSpPr>
            <p:nvPr/>
          </p:nvSpPr>
          <p:spPr bwMode="auto">
            <a:xfrm rot="2701371">
              <a:off x="2016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 sz="1800" b="0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59749" name="Rectangle 5"/>
            <p:cNvSpPr>
              <a:spLocks noChangeArrowheads="1"/>
            </p:cNvSpPr>
            <p:nvPr/>
          </p:nvSpPr>
          <p:spPr bwMode="auto">
            <a:xfrm>
              <a:off x="3552" y="1968"/>
              <a:ext cx="816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59750" name="Text Box 6"/>
            <p:cNvSpPr txBox="1">
              <a:spLocks noChangeArrowheads="1"/>
            </p:cNvSpPr>
            <p:nvPr/>
          </p:nvSpPr>
          <p:spPr bwMode="auto">
            <a:xfrm>
              <a:off x="3024" y="1776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chemeClr val="tx1"/>
                  </a:solidFill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59751" name="Line 7"/>
            <p:cNvSpPr>
              <a:spLocks noChangeShapeType="1"/>
            </p:cNvSpPr>
            <p:nvPr/>
          </p:nvSpPr>
          <p:spPr bwMode="auto">
            <a:xfrm>
              <a:off x="2376" y="2592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59752" name="AutoShape 8"/>
            <p:cNvCxnSpPr>
              <a:cxnSpLocks noChangeShapeType="1"/>
            </p:cNvCxnSpPr>
            <p:nvPr/>
          </p:nvCxnSpPr>
          <p:spPr bwMode="auto">
            <a:xfrm rot="10800000">
              <a:off x="2352" y="1005"/>
              <a:ext cx="1704" cy="960"/>
            </a:xfrm>
            <a:prstGeom prst="bentConnector3">
              <a:avLst>
                <a:gd name="adj1" fmla="val 56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59753" name="Line 9"/>
            <p:cNvSpPr>
              <a:spLocks noChangeShapeType="1"/>
            </p:cNvSpPr>
            <p:nvPr/>
          </p:nvSpPr>
          <p:spPr bwMode="auto">
            <a:xfrm>
              <a:off x="2366" y="1008"/>
              <a:ext cx="0" cy="5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59754" name="Text Box 10"/>
            <p:cNvSpPr txBox="1">
              <a:spLocks noChangeArrowheads="1"/>
            </p:cNvSpPr>
            <p:nvPr/>
          </p:nvSpPr>
          <p:spPr bwMode="auto">
            <a:xfrm>
              <a:off x="196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 err="1">
                  <a:solidFill>
                    <a:schemeClr val="tx1"/>
                  </a:solidFill>
                  <a:latin typeface="Courier New" pitchFamily="28" charset="0"/>
                </a:rPr>
                <a:t>boolean</a:t>
              </a:r>
              <a:endParaRPr lang="en-US" sz="1800" b="0" dirty="0">
                <a:solidFill>
                  <a:schemeClr val="tx1"/>
                </a:solidFill>
                <a:latin typeface="Courier New" pitchFamily="28" charset="0"/>
              </a:endParaRPr>
            </a:p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59755" name="Text Box 11"/>
            <p:cNvSpPr txBox="1">
              <a:spLocks noChangeArrowheads="1"/>
            </p:cNvSpPr>
            <p:nvPr/>
          </p:nvSpPr>
          <p:spPr bwMode="auto">
            <a:xfrm>
              <a:off x="2448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chemeClr val="tx1"/>
                  </a:solidFill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59756" name="Line 12"/>
            <p:cNvSpPr>
              <a:spLocks noChangeShapeType="1"/>
            </p:cNvSpPr>
            <p:nvPr/>
          </p:nvSpPr>
          <p:spPr bwMode="auto">
            <a:xfrm flipV="1">
              <a:off x="2928" y="2112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4495800" y="2438400"/>
            <a:ext cx="4495800" cy="341632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yCoordinate</a:t>
            </a:r>
            <a:r>
              <a:rPr lang="en-IE" sz="2400" dirty="0"/>
              <a:t> = 60;</a:t>
            </a:r>
          </a:p>
          <a:p>
            <a:endParaRPr lang="en-IE" sz="2400" dirty="0"/>
          </a:p>
          <a:p>
            <a:r>
              <a:rPr lang="en-IE" sz="2400" b="1" dirty="0" err="1">
                <a:solidFill>
                  <a:srgbClr val="FF0000"/>
                </a:solidFill>
              </a:rPr>
              <a:t>int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= 0;    	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en-IE" sz="2400" dirty="0" err="1">
                <a:solidFill>
                  <a:schemeClr val="bg1">
                    <a:lumMod val="50000"/>
                  </a:schemeClr>
                </a:solidFill>
              </a:rPr>
              <a:t>i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is the LCV</a:t>
            </a:r>
          </a:p>
          <a:p>
            <a:r>
              <a:rPr lang="en-IE" sz="2400" dirty="0"/>
              <a:t>while(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 &lt; 4</a:t>
            </a:r>
            <a:r>
              <a:rPr lang="en-IE" sz="2400" dirty="0"/>
              <a:t>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rect</a:t>
            </a:r>
            <a:r>
              <a:rPr lang="en-IE" sz="2400" dirty="0"/>
              <a:t>(50, </a:t>
            </a:r>
            <a:r>
              <a:rPr lang="en-IE" sz="2400" dirty="0" err="1"/>
              <a:t>yCoordinate</a:t>
            </a:r>
            <a:r>
              <a:rPr lang="en-IE" sz="2400" dirty="0"/>
              <a:t>, 500, 10);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yCoordinate</a:t>
            </a:r>
            <a:r>
              <a:rPr lang="en-IE" sz="2400" dirty="0"/>
              <a:t> += 20;</a:t>
            </a:r>
          </a:p>
          <a:p>
            <a:r>
              <a:rPr lang="en-IE" sz="2400" dirty="0"/>
              <a:t>    </a:t>
            </a:r>
            <a:r>
              <a:rPr lang="en-IE" sz="2400" b="1" dirty="0" err="1">
                <a:solidFill>
                  <a:srgbClr val="FF0000"/>
                </a:solidFill>
              </a:rPr>
              <a:t>i</a:t>
            </a:r>
            <a:r>
              <a:rPr lang="en-IE" sz="2400" b="1" dirty="0">
                <a:solidFill>
                  <a:srgbClr val="FF0000"/>
                </a:solidFill>
              </a:rPr>
              <a:t>++</a:t>
            </a:r>
            <a:r>
              <a:rPr lang="en-IE" sz="2400" dirty="0"/>
              <a:t>;</a:t>
            </a:r>
          </a:p>
          <a:p>
            <a:r>
              <a:rPr lang="en-IE" sz="2400" dirty="0"/>
              <a:t>}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7010400" y="5410200"/>
            <a:ext cx="2013013" cy="1096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6082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A154EA-15E3-473D-94E7-1034545A22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64" t="19853" r="44731" b="38889"/>
          <a:stretch/>
        </p:blipFill>
        <p:spPr>
          <a:xfrm>
            <a:off x="609600" y="2057400"/>
            <a:ext cx="507920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5BE4202-BB30-42F3-9121-9A22F22A2FD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64" t="19853" r="44731" b="38889"/>
          <a:stretch/>
        </p:blipFill>
        <p:spPr>
          <a:xfrm>
            <a:off x="609600" y="2057400"/>
            <a:ext cx="5079200" cy="4114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4.5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0" y="1676400"/>
            <a:ext cx="34290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b="1" dirty="0">
                <a:solidFill>
                  <a:srgbClr val="FF0000"/>
                </a:solidFill>
              </a:rPr>
              <a:t>Q: </a:t>
            </a:r>
            <a:r>
              <a:rPr lang="en-IE" sz="2800" dirty="0"/>
              <a:t>Could we remove the </a:t>
            </a:r>
            <a:r>
              <a:rPr lang="en-IE" sz="2800" b="1" dirty="0" err="1"/>
              <a:t>yCoordinate</a:t>
            </a:r>
            <a:r>
              <a:rPr lang="en-IE" sz="2800" dirty="0"/>
              <a:t> variable and rework the code to still produce the four lines using the while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2057399"/>
            <a:ext cx="1568938" cy="3810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38F1D4-66B4-456E-B3C3-36392DAB0043}"/>
              </a:ext>
            </a:extLst>
          </p:cNvPr>
          <p:cNvSpPr/>
          <p:nvPr/>
        </p:nvSpPr>
        <p:spPr>
          <a:xfrm>
            <a:off x="2259623" y="4785518"/>
            <a:ext cx="1550377" cy="31234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89483-E8AD-4E01-BE7D-636CE1B8E044}"/>
              </a:ext>
            </a:extLst>
          </p:cNvPr>
          <p:cNvSpPr/>
          <p:nvPr/>
        </p:nvSpPr>
        <p:spPr>
          <a:xfrm>
            <a:off x="1066800" y="5097859"/>
            <a:ext cx="1568938" cy="31234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01264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0" y="1676400"/>
            <a:ext cx="3429000" cy="206210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3200" b="1" dirty="0">
                <a:solidFill>
                  <a:srgbClr val="FF0000"/>
                </a:solidFill>
              </a:rPr>
              <a:t>A:</a:t>
            </a:r>
            <a:r>
              <a:rPr lang="en-IE" sz="3200" dirty="0"/>
              <a:t> Yes. Here is the solution with </a:t>
            </a:r>
            <a:r>
              <a:rPr lang="en-IE" sz="3200" i="1" dirty="0"/>
              <a:t>no</a:t>
            </a:r>
            <a:r>
              <a:rPr lang="en-IE" sz="3200" dirty="0"/>
              <a:t> </a:t>
            </a:r>
            <a:r>
              <a:rPr lang="en-IE" sz="3200" b="1" dirty="0" err="1"/>
              <a:t>yCoordinate</a:t>
            </a:r>
            <a:r>
              <a:rPr lang="en-IE" sz="3200" dirty="0"/>
              <a:t> variable.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D12106-5FD7-42C1-9513-B79EED6953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652" t="19676" r="57378" b="48889"/>
          <a:stretch/>
        </p:blipFill>
        <p:spPr>
          <a:xfrm>
            <a:off x="308985" y="2286000"/>
            <a:ext cx="4868430" cy="40353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0B9C1681-CA99-4CE2-B7F2-26557189AB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7438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48CC93-7B76-4C16-BDEF-42550E0894EE}"/>
              </a:ext>
            </a:extLst>
          </p:cNvPr>
          <p:cNvSpPr txBox="1">
            <a:spLocks/>
          </p:cNvSpPr>
          <p:nvPr/>
        </p:nvSpPr>
        <p:spPr>
          <a:xfrm>
            <a:off x="2947015" y="1633143"/>
            <a:ext cx="45720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E" sz="3200" dirty="0"/>
              <a:t>This basic while loop, produces this output.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11DED4-B41A-4E2B-9131-DE340047536C}"/>
              </a:ext>
            </a:extLst>
          </p:cNvPr>
          <p:cNvSpPr/>
          <p:nvPr/>
        </p:nvSpPr>
        <p:spPr>
          <a:xfrm>
            <a:off x="152400" y="3030885"/>
            <a:ext cx="4800600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1"/>
            <a:r>
              <a:rPr lang="en-IE" sz="3200" dirty="0" err="1"/>
              <a:t>int</a:t>
            </a:r>
            <a:r>
              <a:rPr lang="en-IE" sz="3200" dirty="0"/>
              <a:t> </a:t>
            </a:r>
            <a:r>
              <a:rPr lang="en-IE" sz="3200" dirty="0" err="1"/>
              <a:t>i</a:t>
            </a:r>
            <a:r>
              <a:rPr lang="en-IE" sz="3200" dirty="0"/>
              <a:t> = 1;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while (</a:t>
            </a:r>
            <a:r>
              <a:rPr lang="en-IE" sz="3200" dirty="0" err="1"/>
              <a:t>i</a:t>
            </a:r>
            <a:r>
              <a:rPr lang="en-IE" sz="3200" dirty="0"/>
              <a:t> &lt;=5)</a:t>
            </a:r>
          </a:p>
          <a:p>
            <a:pPr lvl="1"/>
            <a:r>
              <a:rPr lang="en-IE" sz="3200" dirty="0"/>
              <a:t>  {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println</a:t>
            </a:r>
            <a:r>
              <a:rPr lang="en-IE" sz="3200" dirty="0"/>
              <a:t>("Hello World");</a:t>
            </a:r>
          </a:p>
          <a:p>
            <a:pPr lvl="1"/>
            <a:r>
              <a:rPr lang="en-IE" sz="3200" dirty="0"/>
              <a:t>    </a:t>
            </a:r>
            <a:r>
              <a:rPr lang="en-IE" sz="3200" dirty="0" err="1"/>
              <a:t>i</a:t>
            </a:r>
            <a:r>
              <a:rPr lang="en-IE" sz="3200" dirty="0"/>
              <a:t>++;</a:t>
            </a:r>
          </a:p>
          <a:p>
            <a:pPr lvl="1"/>
            <a:r>
              <a:rPr lang="en-IE" sz="3200" dirty="0"/>
              <a:t>  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90A57B-33E4-4A35-92CE-914468E733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t="75555" r="75887" b="5556"/>
          <a:stretch/>
        </p:blipFill>
        <p:spPr>
          <a:xfrm>
            <a:off x="6096000" y="3838838"/>
            <a:ext cx="2846031" cy="192352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B718ADE5-6291-4684-8C1F-1B57D1E1A5F4}"/>
              </a:ext>
            </a:extLst>
          </p:cNvPr>
          <p:cNvSpPr/>
          <p:nvPr/>
        </p:nvSpPr>
        <p:spPr>
          <a:xfrm>
            <a:off x="4953000" y="4419600"/>
            <a:ext cx="1143000" cy="685800"/>
          </a:xfrm>
          <a:prstGeom prst="rightArrow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37428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E" dirty="0"/>
              <a:t>Some Study Exercises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7"/>
            <a:ext cx="8229600" cy="4525963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“Hello World” is printed out 10 times. 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 to 10 (inclusive) are printed out, one line at a time.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Change the code so that the numbers from 10 to 1 are printed out. 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189444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1398</TotalTime>
  <Words>996</Words>
  <Application>Microsoft Macintosh PowerPoint</Application>
  <PresentationFormat>On-screen Show (4:3)</PresentationFormat>
  <Paragraphs>190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 Unicode MS</vt:lpstr>
      <vt:lpstr>Arial</vt:lpstr>
      <vt:lpstr>Calibri</vt:lpstr>
      <vt:lpstr>Courier New</vt:lpstr>
      <vt:lpstr>Times New Roman</vt:lpstr>
      <vt:lpstr>Trebuchet MS</vt:lpstr>
      <vt:lpstr>Office Theme</vt:lpstr>
      <vt:lpstr>Iteration in Programming</vt:lpstr>
      <vt:lpstr>Topics list</vt:lpstr>
      <vt:lpstr>Recap: Boolean conditions</vt:lpstr>
      <vt:lpstr>Repetition in Programming</vt:lpstr>
      <vt:lpstr>Form of loop</vt:lpstr>
      <vt:lpstr>Form of loop</vt:lpstr>
      <vt:lpstr>Form of loop</vt:lpstr>
      <vt:lpstr>Form of loop</vt:lpstr>
      <vt:lpstr>Topics list</vt:lpstr>
      <vt:lpstr>Loops in Programming</vt:lpstr>
      <vt:lpstr>while loop pseudo code</vt:lpstr>
      <vt:lpstr>Construction of while loop</vt:lpstr>
      <vt:lpstr>while loop Flowchart</vt:lpstr>
      <vt:lpstr>Processing Example 4.5</vt:lpstr>
      <vt:lpstr>Processing Example 4.5</vt:lpstr>
      <vt:lpstr>Processing Example 4.6</vt:lpstr>
      <vt:lpstr>Some Study Exercises </vt:lpstr>
      <vt:lpstr>Some Study Exercises 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While loop</dc:title>
  <dc:creator>Siobhan Drohan</dc:creator>
  <cp:lastModifiedBy>Mairead Meagher</cp:lastModifiedBy>
  <cp:revision>135</cp:revision>
  <dcterms:created xsi:type="dcterms:W3CDTF">2006-08-16T00:00:00Z</dcterms:created>
  <dcterms:modified xsi:type="dcterms:W3CDTF">2023-09-18T12:50:10Z</dcterms:modified>
</cp:coreProperties>
</file>