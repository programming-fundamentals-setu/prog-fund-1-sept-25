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7"/>
  </p:notesMasterIdLst>
  <p:sldIdLst>
    <p:sldId id="256" r:id="rId2"/>
    <p:sldId id="257" r:id="rId3"/>
    <p:sldId id="363" r:id="rId4"/>
    <p:sldId id="372" r:id="rId5"/>
    <p:sldId id="370" r:id="rId6"/>
    <p:sldId id="373" r:id="rId7"/>
    <p:sldId id="396" r:id="rId8"/>
    <p:sldId id="394" r:id="rId9"/>
    <p:sldId id="364" r:id="rId10"/>
    <p:sldId id="382" r:id="rId11"/>
    <p:sldId id="383" r:id="rId12"/>
    <p:sldId id="384" r:id="rId13"/>
    <p:sldId id="397" r:id="rId14"/>
    <p:sldId id="393" r:id="rId15"/>
    <p:sldId id="273" r:id="rId16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202" autoAdjust="0"/>
    <p:restoredTop sz="80389" autoAdjust="0"/>
  </p:normalViewPr>
  <p:slideViewPr>
    <p:cSldViewPr>
      <p:cViewPr varScale="1">
        <p:scale>
          <a:sx n="95" d="100"/>
          <a:sy n="95" d="100"/>
        </p:scale>
        <p:origin x="1032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8C3D141-1E1C-433C-AD3A-CD56CBBB4F9F}" type="datetimeFigureOut">
              <a:rPr lang="en-IE" smtClean="0"/>
              <a:t>07/10/2025</a:t>
            </a:fld>
            <a:endParaRPr lang="en-I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63DB36-5273-45A5-A77C-FE9BE0779D84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6345442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45" name="Rectangle 2"/>
          <p:cNvSpPr>
            <a:spLocks noGrp="1" noChangeArrowheads="1"/>
          </p:cNvSpPr>
          <p:nvPr>
            <p:ph type="hdr" sz="quarter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GB" altLang="en-US"/>
              <a:t>Objects First with Java</a:t>
            </a:r>
          </a:p>
        </p:txBody>
      </p:sp>
      <p:sp>
        <p:nvSpPr>
          <p:cNvPr id="5734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GB" altLang="en-US"/>
              <a:t>© David J. Barnes and Michael Kölling</a:t>
            </a:r>
          </a:p>
        </p:txBody>
      </p:sp>
      <p:sp>
        <p:nvSpPr>
          <p:cNvPr id="5734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9pPr>
          </a:lstStyle>
          <a:p>
            <a:fld id="{762EAF62-C546-4744-BC24-2CCA716ACD46}" type="slidenum">
              <a:rPr lang="en-GB" altLang="en-US"/>
              <a:pPr/>
              <a:t>4</a:t>
            </a:fld>
            <a:endParaRPr lang="en-GB" altLang="en-US"/>
          </a:p>
        </p:txBody>
      </p:sp>
      <p:sp>
        <p:nvSpPr>
          <p:cNvPr id="57348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57349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05228139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69" name="Rectangle 2"/>
          <p:cNvSpPr>
            <a:spLocks noGrp="1" noChangeArrowheads="1"/>
          </p:cNvSpPr>
          <p:nvPr>
            <p:ph type="hdr" sz="quarter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GB" altLang="en-US"/>
              <a:t>Objects First with Java</a:t>
            </a:r>
          </a:p>
        </p:txBody>
      </p:sp>
      <p:sp>
        <p:nvSpPr>
          <p:cNvPr id="5837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GB" altLang="en-US"/>
              <a:t>© David J. Barnes and Michael Kölling</a:t>
            </a:r>
          </a:p>
        </p:txBody>
      </p:sp>
      <p:sp>
        <p:nvSpPr>
          <p:cNvPr id="5837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9pPr>
          </a:lstStyle>
          <a:p>
            <a:fld id="{6F5C823C-3053-4D97-8BDB-829229CD9DB8}" type="slidenum">
              <a:rPr lang="en-GB" altLang="en-US"/>
              <a:pPr/>
              <a:t>5</a:t>
            </a:fld>
            <a:endParaRPr lang="en-GB" altLang="en-US"/>
          </a:p>
        </p:txBody>
      </p:sp>
      <p:sp>
        <p:nvSpPr>
          <p:cNvPr id="58372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58373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8717087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69" name="Rectangle 2"/>
          <p:cNvSpPr>
            <a:spLocks noGrp="1" noChangeArrowheads="1"/>
          </p:cNvSpPr>
          <p:nvPr>
            <p:ph type="hdr" sz="quarter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GB" altLang="en-US"/>
              <a:t>Objects First with Java</a:t>
            </a:r>
          </a:p>
        </p:txBody>
      </p:sp>
      <p:sp>
        <p:nvSpPr>
          <p:cNvPr id="5837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GB" altLang="en-US"/>
              <a:t>© David J. Barnes and Michael Kölling</a:t>
            </a:r>
          </a:p>
        </p:txBody>
      </p:sp>
      <p:sp>
        <p:nvSpPr>
          <p:cNvPr id="5837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9pPr>
          </a:lstStyle>
          <a:p>
            <a:fld id="{6F5C823C-3053-4D97-8BDB-829229CD9DB8}" type="slidenum">
              <a:rPr lang="en-GB" altLang="en-US"/>
              <a:pPr/>
              <a:t>6</a:t>
            </a:fld>
            <a:endParaRPr lang="en-GB" altLang="en-US"/>
          </a:p>
        </p:txBody>
      </p:sp>
      <p:sp>
        <p:nvSpPr>
          <p:cNvPr id="58372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58373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r>
              <a:rPr lang="en-US" altLang="en-US" dirty="0"/>
              <a:t>We add 20 because its 10 for the height</a:t>
            </a:r>
            <a:r>
              <a:rPr lang="en-US" altLang="en-US" baseline="0" dirty="0"/>
              <a:t> of the rectangle +10 for the gap</a:t>
            </a: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290126460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47C69B-134E-972F-65DC-A30687661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69" name="Rectangle 2">
            <a:extLst>
              <a:ext uri="{FF2B5EF4-FFF2-40B4-BE49-F238E27FC236}">
                <a16:creationId xmlns:a16="http://schemas.microsoft.com/office/drawing/2014/main" id="{4E21B5CA-35A1-99BC-A641-FB462467C3CE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GB" altLang="en-US"/>
              <a:t>Objects First with Java</a:t>
            </a:r>
          </a:p>
        </p:txBody>
      </p:sp>
      <p:sp>
        <p:nvSpPr>
          <p:cNvPr id="58370" name="Rectangle 6">
            <a:extLst>
              <a:ext uri="{FF2B5EF4-FFF2-40B4-BE49-F238E27FC236}">
                <a16:creationId xmlns:a16="http://schemas.microsoft.com/office/drawing/2014/main" id="{5C1FC342-FF41-6E2A-BB4B-BA355610C439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GB" altLang="en-US"/>
              <a:t>© David J. Barnes and Michael Kölling</a:t>
            </a:r>
          </a:p>
        </p:txBody>
      </p:sp>
      <p:sp>
        <p:nvSpPr>
          <p:cNvPr id="58371" name="Rectangle 7">
            <a:extLst>
              <a:ext uri="{FF2B5EF4-FFF2-40B4-BE49-F238E27FC236}">
                <a16:creationId xmlns:a16="http://schemas.microsoft.com/office/drawing/2014/main" id="{D9C08008-A3C8-E2F5-4333-E25DF3D0E1C0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9pPr>
          </a:lstStyle>
          <a:p>
            <a:fld id="{6F5C823C-3053-4D97-8BDB-829229CD9DB8}" type="slidenum">
              <a:rPr lang="en-GB" altLang="en-US"/>
              <a:pPr/>
              <a:t>7</a:t>
            </a:fld>
            <a:endParaRPr lang="en-GB" altLang="en-US"/>
          </a:p>
        </p:txBody>
      </p:sp>
      <p:sp>
        <p:nvSpPr>
          <p:cNvPr id="58372" name="Rectangle 2">
            <a:extLst>
              <a:ext uri="{FF2B5EF4-FFF2-40B4-BE49-F238E27FC236}">
                <a16:creationId xmlns:a16="http://schemas.microsoft.com/office/drawing/2014/main" id="{4A35F14F-42D6-80F9-3082-5A41FD18FE4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58373" name="Rectangle 3">
            <a:extLst>
              <a:ext uri="{FF2B5EF4-FFF2-40B4-BE49-F238E27FC236}">
                <a16:creationId xmlns:a16="http://schemas.microsoft.com/office/drawing/2014/main" id="{27700FCA-D79C-C9BE-6B49-C5566277997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r>
              <a:rPr lang="en-US" altLang="en-US" dirty="0"/>
              <a:t>We add 20 because its 10 for the height</a:t>
            </a:r>
            <a:r>
              <a:rPr lang="en-US" altLang="en-US" baseline="0" dirty="0"/>
              <a:t> of the rectangle +10 for the gap</a:t>
            </a: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323721040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GB"/>
              <a:t>Objects First with Java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GB"/>
              <a:t>© David J. Barnes and Michael Kölling</a:t>
            </a:r>
          </a:p>
        </p:txBody>
      </p:sp>
      <p:sp>
        <p:nvSpPr>
          <p:cNvPr id="6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8D00790-568A-44AB-A948-643E31985A48}" type="slidenum">
              <a:rPr lang="en-GB"/>
              <a:pPr/>
              <a:t>10</a:t>
            </a:fld>
            <a:endParaRPr lang="en-GB"/>
          </a:p>
        </p:txBody>
      </p:sp>
      <p:sp>
        <p:nvSpPr>
          <p:cNvPr id="14029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029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14400" y="4343400"/>
            <a:ext cx="1195388" cy="274638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016262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41" name="Rectangle 2"/>
          <p:cNvSpPr>
            <a:spLocks noGrp="1" noChangeArrowheads="1"/>
          </p:cNvSpPr>
          <p:nvPr>
            <p:ph type="hdr" sz="quarter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GB" altLang="en-US"/>
              <a:t>Objects First with Java</a:t>
            </a:r>
          </a:p>
        </p:txBody>
      </p:sp>
      <p:sp>
        <p:nvSpPr>
          <p:cNvPr id="6144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GB" altLang="en-US"/>
              <a:t>© David J. Barnes and Michael Kölling</a:t>
            </a:r>
          </a:p>
        </p:txBody>
      </p:sp>
      <p:sp>
        <p:nvSpPr>
          <p:cNvPr id="6144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9pPr>
          </a:lstStyle>
          <a:p>
            <a:fld id="{96C53C0E-6DE2-48FF-AFC8-5B6F7D1351EB}" type="slidenum">
              <a:rPr lang="en-GB" altLang="en-US"/>
              <a:pPr/>
              <a:t>11</a:t>
            </a:fld>
            <a:endParaRPr lang="en-GB" altLang="en-US"/>
          </a:p>
        </p:txBody>
      </p:sp>
      <p:sp>
        <p:nvSpPr>
          <p:cNvPr id="61444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45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r>
              <a:rPr lang="en-US" altLang="en-US" dirty="0"/>
              <a:t>The “update the LCV” should always update it so that the Boolean condition will eventually evaluation to false. </a:t>
            </a:r>
          </a:p>
        </p:txBody>
      </p:sp>
    </p:spTree>
    <p:extLst>
      <p:ext uri="{BB962C8B-B14F-4D97-AF65-F5344CB8AC3E}">
        <p14:creationId xmlns:p14="http://schemas.microsoft.com/office/powerpoint/2010/main" val="396799784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GB"/>
              <a:t>Objects First with Java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GB"/>
              <a:t>© David J. Barnes and Michael Kölling</a:t>
            </a:r>
          </a:p>
        </p:txBody>
      </p:sp>
      <p:sp>
        <p:nvSpPr>
          <p:cNvPr id="6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475206F4-4E20-479E-ABC0-0EB3661565C0}" type="slidenum">
              <a:rPr lang="en-GB"/>
              <a:pPr/>
              <a:t>12</a:t>
            </a:fld>
            <a:endParaRPr lang="en-GB"/>
          </a:p>
        </p:txBody>
      </p:sp>
      <p:sp>
        <p:nvSpPr>
          <p:cNvPr id="160770" name="Rectangle 2"/>
          <p:cNvSpPr>
            <a:spLocks noGrp="1" noRot="1" noChangeAspect="1" noChangeArrowheads="1"/>
          </p:cNvSpPr>
          <p:nvPr>
            <p:ph type="sldImg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0771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96779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7"/>
            <a:ext cx="7772400" cy="1470025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52715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>
            <a:off x="457200" y="1447800"/>
            <a:ext cx="83058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54FA624-7CFC-3CFB-8384-E3FA99B20E94}"/>
              </a:ext>
            </a:extLst>
          </p:cNvPr>
          <p:cNvCxnSpPr/>
          <p:nvPr/>
        </p:nvCxnSpPr>
        <p:spPr>
          <a:xfrm>
            <a:off x="457200" y="1447800"/>
            <a:ext cx="83058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C51F014-A304-3672-EB37-723E4843A104}"/>
              </a:ext>
            </a:extLst>
          </p:cNvPr>
          <p:cNvCxnSpPr/>
          <p:nvPr/>
        </p:nvCxnSpPr>
        <p:spPr>
          <a:xfrm>
            <a:off x="457200" y="1447800"/>
            <a:ext cx="83058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54B6887-E166-F3DB-E99B-F51B63F48DD3}"/>
              </a:ext>
            </a:extLst>
          </p:cNvPr>
          <p:cNvCxnSpPr/>
          <p:nvPr userDrawn="1"/>
        </p:nvCxnSpPr>
        <p:spPr>
          <a:xfrm>
            <a:off x="457200" y="1447800"/>
            <a:ext cx="83058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307920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2"/>
            <a:ext cx="7772400" cy="1362075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50612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2"/>
            <a:ext cx="4038600" cy="4525963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2"/>
            <a:ext cx="4038600" cy="4525963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>
            <a:off x="457200" y="1447800"/>
            <a:ext cx="8305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F42A16B-6893-A143-E832-A99D7B6427B3}"/>
              </a:ext>
            </a:extLst>
          </p:cNvPr>
          <p:cNvCxnSpPr/>
          <p:nvPr/>
        </p:nvCxnSpPr>
        <p:spPr>
          <a:xfrm>
            <a:off x="457200" y="1447800"/>
            <a:ext cx="8305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B64861E-C2E3-2C0F-0C43-CF6F042CC211}"/>
              </a:ext>
            </a:extLst>
          </p:cNvPr>
          <p:cNvCxnSpPr/>
          <p:nvPr/>
        </p:nvCxnSpPr>
        <p:spPr>
          <a:xfrm>
            <a:off x="457200" y="1447800"/>
            <a:ext cx="8305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AA5B5BA-0C0C-7731-B7A3-EE404FC8AD5C}"/>
              </a:ext>
            </a:extLst>
          </p:cNvPr>
          <p:cNvCxnSpPr/>
          <p:nvPr userDrawn="1"/>
        </p:nvCxnSpPr>
        <p:spPr>
          <a:xfrm>
            <a:off x="457200" y="1447800"/>
            <a:ext cx="8305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425459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535113"/>
            <a:ext cx="4041775" cy="63976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2174875"/>
            <a:ext cx="4041775" cy="3951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10/7/25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457200" y="1447800"/>
            <a:ext cx="8305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3436290-11E2-F20B-966B-F18296CC48D7}"/>
              </a:ext>
            </a:extLst>
          </p:cNvPr>
          <p:cNvCxnSpPr/>
          <p:nvPr/>
        </p:nvCxnSpPr>
        <p:spPr>
          <a:xfrm>
            <a:off x="457200" y="1447800"/>
            <a:ext cx="8305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921609A-4065-CDBE-386A-95C6F0DE5065}"/>
              </a:ext>
            </a:extLst>
          </p:cNvPr>
          <p:cNvCxnSpPr/>
          <p:nvPr userDrawn="1"/>
        </p:nvCxnSpPr>
        <p:spPr>
          <a:xfrm>
            <a:off x="457200" y="1447800"/>
            <a:ext cx="8305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62574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10/7/25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6" name="Straight Connector 5"/>
          <p:cNvCxnSpPr/>
          <p:nvPr/>
        </p:nvCxnSpPr>
        <p:spPr>
          <a:xfrm>
            <a:off x="457200" y="1447800"/>
            <a:ext cx="8305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DB4946F-2A50-46DF-D246-8E463A5B9E4E}"/>
              </a:ext>
            </a:extLst>
          </p:cNvPr>
          <p:cNvCxnSpPr/>
          <p:nvPr/>
        </p:nvCxnSpPr>
        <p:spPr>
          <a:xfrm>
            <a:off x="457200" y="1447800"/>
            <a:ext cx="8305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CF61A43-37C0-D158-13BE-1753663F3BEC}"/>
              </a:ext>
            </a:extLst>
          </p:cNvPr>
          <p:cNvCxnSpPr/>
          <p:nvPr/>
        </p:nvCxnSpPr>
        <p:spPr>
          <a:xfrm>
            <a:off x="457200" y="1447800"/>
            <a:ext cx="8305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FAA70D1-6728-4FFD-9673-39A194FB13F8}"/>
              </a:ext>
            </a:extLst>
          </p:cNvPr>
          <p:cNvCxnSpPr/>
          <p:nvPr userDrawn="1"/>
        </p:nvCxnSpPr>
        <p:spPr>
          <a:xfrm>
            <a:off x="457200" y="1447800"/>
            <a:ext cx="8305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032763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10/7/25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15079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73050"/>
            <a:ext cx="3008313" cy="1162050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2"/>
            <a:ext cx="5111750" cy="5853113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435102"/>
            <a:ext cx="3008313" cy="4691063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38629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90389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45464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9"/>
            <a:ext cx="2057400" cy="5851525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9"/>
            <a:ext cx="6019800" cy="585152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533223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22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/>
          </a:p>
        </p:txBody>
      </p:sp>
      <p:sp>
        <p:nvSpPr>
          <p:cNvPr id="23" name="Shape 23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/>
          </a:p>
        </p:txBody>
      </p:sp>
      <p:sp>
        <p:nvSpPr>
          <p:cNvPr id="24" name="Shape 24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118943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Text"/>
          <p:cNvSpPr txBox="1">
            <a:spLocks noGrp="1"/>
          </p:cNvSpPr>
          <p:nvPr>
            <p:ph type="title"/>
          </p:nvPr>
        </p:nvSpPr>
        <p:spPr>
          <a:xfrm>
            <a:off x="647700" y="2286001"/>
            <a:ext cx="7848601" cy="1143001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dirty="0"/>
          </a:p>
        </p:txBody>
      </p:sp>
      <p:sp>
        <p:nvSpPr>
          <p:cNvPr id="16" name="Subtitle"/>
          <p:cNvSpPr txBox="1">
            <a:spLocks noGrp="1"/>
          </p:cNvSpPr>
          <p:nvPr>
            <p:ph type="body" sz="quarter" idx="22"/>
          </p:nvPr>
        </p:nvSpPr>
        <p:spPr>
          <a:xfrm>
            <a:off x="717836" y="3657963"/>
            <a:ext cx="7600823" cy="461665"/>
          </a:xfrm>
          <a:prstGeom prst="rect">
            <a:avLst/>
          </a:prstGeom>
        </p:spPr>
        <p:txBody>
          <a:bodyPr anchor="ctr">
            <a:spAutoFit/>
          </a:bodyPr>
          <a:lstStyle>
            <a:lvl1pPr marL="0" indent="0" algn="ctr">
              <a:spcBef>
                <a:spcPts val="0"/>
              </a:spcBef>
              <a:buClrTx/>
              <a:buSzTx/>
              <a:buFontTx/>
              <a:buNone/>
              <a:defRPr>
                <a:solidFill>
                  <a:srgbClr val="2F4468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8318658" y="6360984"/>
            <a:ext cx="371737" cy="492440"/>
          </a:xfrm>
          <a:prstGeom prst="rect">
            <a:avLst/>
          </a:prstGeom>
        </p:spPr>
        <p:txBody>
          <a:bodyPr/>
          <a:lstStyle>
            <a:lvl1pPr>
              <a:defRPr sz="1500"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345933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Chart">
  <p:cSld name="Title, 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0600" y="381000"/>
            <a:ext cx="7772400" cy="114300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219200" y="1828800"/>
            <a:ext cx="3657600" cy="42672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hart Placeholder 3"/>
          <p:cNvSpPr>
            <a:spLocks noGrp="1"/>
          </p:cNvSpPr>
          <p:nvPr>
            <p:ph type="chart" sz="half" idx="2"/>
          </p:nvPr>
        </p:nvSpPr>
        <p:spPr>
          <a:xfrm>
            <a:off x="5029200" y="1828800"/>
            <a:ext cx="3657600" cy="4267200"/>
          </a:xfrm>
        </p:spPr>
        <p:txBody>
          <a:bodyPr/>
          <a:lstStyle/>
          <a:p>
            <a:pPr lvl="0"/>
            <a:r>
              <a:rPr lang="en-GB" noProof="0"/>
              <a:t>Click icon to add chart</a:t>
            </a:r>
            <a:endParaRPr lang="en-US" noProof="0"/>
          </a:p>
        </p:txBody>
      </p:sp>
      <p:sp>
        <p:nvSpPr>
          <p:cNvPr id="5" name="Rectangle 1028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77338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2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2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2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50707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</p:sldLayoutIdLst>
  <p:txStyles>
    <p:titleStyle>
      <a:lvl1pPr algn="ctr" defTabSz="6858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7175" indent="-257175" algn="l" defTabSz="6858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214313" algn="l" defTabSz="685800" rtl="0" eaLnBrk="1" latinLnBrk="0" hangingPunct="1">
        <a:spcBef>
          <a:spcPct val="20000"/>
        </a:spcBef>
        <a:buFont typeface="Arial" pitchFamily="34" charset="0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spcBef>
          <a:spcPct val="20000"/>
        </a:spcBef>
        <a:buFont typeface="Arial" pitchFamily="34" charset="0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spcBef>
          <a:spcPct val="20000"/>
        </a:spcBef>
        <a:buFont typeface="Arial" pitchFamily="34" charset="0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51641" y="914400"/>
            <a:ext cx="7772400" cy="1470025"/>
          </a:xfrm>
        </p:spPr>
        <p:txBody>
          <a:bodyPr>
            <a:normAutofit/>
          </a:bodyPr>
          <a:lstStyle/>
          <a:p>
            <a:pPr algn="l"/>
            <a:r>
              <a:rPr lang="en-IE" sz="4000" dirty="0"/>
              <a:t>Iteration in Programming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" y="3810000"/>
            <a:ext cx="1866900" cy="1066800"/>
          </a:xfrm>
        </p:spPr>
        <p:txBody>
          <a:bodyPr>
            <a:norm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Produced </a:t>
            </a:r>
          </a:p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by:</a:t>
            </a:r>
          </a:p>
        </p:txBody>
      </p:sp>
      <p:cxnSp>
        <p:nvCxnSpPr>
          <p:cNvPr id="6" name="Straight Connector 5"/>
          <p:cNvCxnSpPr/>
          <p:nvPr/>
        </p:nvCxnSpPr>
        <p:spPr>
          <a:xfrm>
            <a:off x="727841" y="3124200"/>
            <a:ext cx="7620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itle 1"/>
          <p:cNvSpPr txBox="1">
            <a:spLocks/>
          </p:cNvSpPr>
          <p:nvPr/>
        </p:nvSpPr>
        <p:spPr>
          <a:xfrm>
            <a:off x="651641" y="2133600"/>
            <a:ext cx="7772400" cy="9366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IE" sz="3200">
                <a:solidFill>
                  <a:schemeClr val="tx1">
                    <a:lumMod val="50000"/>
                    <a:lumOff val="50000"/>
                  </a:schemeClr>
                </a:solidFill>
              </a:rPr>
              <a:t>while loops</a:t>
            </a:r>
            <a:endParaRPr lang="en-IE" sz="32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F9E9C2-B338-5912-9229-57408CC58111}"/>
              </a:ext>
            </a:extLst>
          </p:cNvPr>
          <p:cNvSpPr txBox="1"/>
          <p:nvPr/>
        </p:nvSpPr>
        <p:spPr>
          <a:xfrm>
            <a:off x="4953000" y="5892225"/>
            <a:ext cx="40727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1600" dirty="0"/>
              <a:t>Department of Computing and Mathematics</a:t>
            </a:r>
          </a:p>
          <a:p>
            <a:r>
              <a:rPr lang="en-IE" sz="1600" dirty="0"/>
              <a:t>http://www.setu.ie/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8932F4F-B367-EF47-F2B5-1EABBC730F21}"/>
              </a:ext>
            </a:extLst>
          </p:cNvPr>
          <p:cNvSpPr txBox="1"/>
          <p:nvPr/>
        </p:nvSpPr>
        <p:spPr>
          <a:xfrm>
            <a:off x="2286000" y="3834677"/>
            <a:ext cx="5562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Dr. </a:t>
            </a:r>
            <a:r>
              <a:rPr lang="en-IE" sz="2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Siobhán</a:t>
            </a:r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IE" sz="2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Drohan,</a:t>
            </a:r>
            <a:endParaRPr lang="en-IE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Ms. Mairead Meagher,</a:t>
            </a:r>
          </a:p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Ms. Siobhán Roche.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EC33EB9-5387-2C64-2BEB-6F444A16595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9242" y="5565517"/>
            <a:ext cx="2057400" cy="11533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23712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Topics list</a:t>
            </a:r>
            <a:endParaRPr lang="en-I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IE" dirty="0"/>
          </a:p>
          <a:p>
            <a:pPr marL="0" indent="0">
              <a:buNone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Repetition in Programming – Intro to looping</a:t>
            </a:r>
          </a:p>
          <a:p>
            <a:endParaRPr lang="en-IE" dirty="0"/>
          </a:p>
          <a:p>
            <a:pPr marL="514350" indent="-514350">
              <a:buFont typeface="+mj-lt"/>
              <a:buAutoNum type="arabicPeriod" startAt="2"/>
            </a:pPr>
            <a:r>
              <a:rPr lang="en-IE" dirty="0"/>
              <a:t>Use of loops (while loops).</a:t>
            </a:r>
          </a:p>
          <a:p>
            <a:pPr marL="0" indent="0">
              <a:buNone/>
            </a:pPr>
            <a:endParaRPr lang="en-IE" dirty="0"/>
          </a:p>
        </p:txBody>
      </p:sp>
      <p:sp>
        <p:nvSpPr>
          <p:cNvPr id="6" name="Rectangle 5"/>
          <p:cNvSpPr/>
          <p:nvPr/>
        </p:nvSpPr>
        <p:spPr>
          <a:xfrm>
            <a:off x="457200" y="2438400"/>
            <a:ext cx="8229600" cy="533400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6359134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Recap: Boolean conditions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E" dirty="0"/>
              <a:t>A </a:t>
            </a:r>
            <a:r>
              <a:rPr lang="en-IE" dirty="0" err="1"/>
              <a:t>boolean</a:t>
            </a:r>
            <a:r>
              <a:rPr lang="en-IE" dirty="0"/>
              <a:t> condition is an expression that evaluates to either true or false e.g.</a:t>
            </a:r>
          </a:p>
          <a:p>
            <a:pPr marL="0" indent="0">
              <a:buNone/>
            </a:pPr>
            <a:r>
              <a:rPr lang="en-IE" sz="2800" dirty="0">
                <a:solidFill>
                  <a:srgbClr val="FF0000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	</a:t>
            </a:r>
          </a:p>
          <a:p>
            <a:pPr marL="0" indent="0">
              <a:buNone/>
            </a:pPr>
            <a:endParaRPr lang="en-IE" sz="2800" dirty="0">
              <a:solidFill>
                <a:srgbClr val="FF0000"/>
              </a:solidFill>
              <a:latin typeface="Arial Unicode MS" panose="020B0604020202020204" pitchFamily="34" charset="-128"/>
              <a:ea typeface="Arial Unicode MS" panose="020B0604020202020204" pitchFamily="34" charset="-128"/>
              <a:cs typeface="Arial Unicode MS" panose="020B0604020202020204" pitchFamily="34" charset="-128"/>
            </a:endParaRPr>
          </a:p>
          <a:p>
            <a:pPr marL="0" indent="0">
              <a:buNone/>
            </a:pPr>
            <a:endParaRPr lang="en-IE" dirty="0"/>
          </a:p>
          <a:p>
            <a:r>
              <a:rPr lang="en-IE" dirty="0"/>
              <a:t>Boolean conditions can be used to control:</a:t>
            </a:r>
          </a:p>
          <a:p>
            <a:pPr lvl="1"/>
            <a:r>
              <a:rPr lang="en-IE" dirty="0"/>
              <a:t>Selection i.e. if statements and </a:t>
            </a:r>
          </a:p>
          <a:p>
            <a:pPr lvl="1"/>
            <a:r>
              <a:rPr lang="en-IE" dirty="0"/>
              <a:t>Iteration i.e. loops (we will look at these now).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9F9D76E-1F43-422C-E4F4-269CF779AE21}"/>
              </a:ext>
            </a:extLst>
          </p:cNvPr>
          <p:cNvSpPr/>
          <p:nvPr/>
        </p:nvSpPr>
        <p:spPr>
          <a:xfrm>
            <a:off x="2133600" y="2590800"/>
            <a:ext cx="2209800" cy="609600"/>
          </a:xfrm>
          <a:prstGeom prst="rect">
            <a:avLst/>
          </a:prstGeom>
          <a:gradFill>
            <a:gsLst>
              <a:gs pos="0">
                <a:schemeClr val="accent6">
                  <a:lumMod val="0"/>
                  <a:lumOff val="100000"/>
                </a:schemeClr>
              </a:gs>
              <a:gs pos="35000">
                <a:schemeClr val="accent6">
                  <a:lumMod val="0"/>
                  <a:lumOff val="100000"/>
                </a:schemeClr>
              </a:gs>
              <a:gs pos="100000">
                <a:schemeClr val="accent6">
                  <a:lumMod val="100000"/>
                </a:schemeClr>
              </a:gs>
            </a:gsLst>
            <a:path path="circle">
              <a:fillToRect l="50000" t="-80000" r="50000" b="180000"/>
            </a:path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IE" sz="2800" dirty="0">
                <a:solidFill>
                  <a:srgbClr val="FF0000"/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price </a:t>
            </a:r>
            <a:r>
              <a:rPr lang="en-IE" sz="2800" dirty="0">
                <a:solidFill>
                  <a:schemeClr val="accent4">
                    <a:lumMod val="50000"/>
                  </a:schemeClr>
                </a:solidFill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&gt;= 0</a:t>
            </a:r>
          </a:p>
        </p:txBody>
      </p:sp>
    </p:spTree>
    <p:extLst>
      <p:ext uri="{BB962C8B-B14F-4D97-AF65-F5344CB8AC3E}">
        <p14:creationId xmlns:p14="http://schemas.microsoft.com/office/powerpoint/2010/main" val="41789502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1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en-US" dirty="0"/>
              <a:t>Repetition in Programming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altLang="en-US" sz="3000" dirty="0"/>
              <a:t>Computers are very good at repetition.</a:t>
            </a:r>
          </a:p>
          <a:p>
            <a:pPr>
              <a:lnSpc>
                <a:spcPct val="90000"/>
              </a:lnSpc>
            </a:pPr>
            <a:endParaRPr lang="en-US" altLang="en-US" sz="3000" dirty="0"/>
          </a:p>
          <a:p>
            <a:pPr>
              <a:lnSpc>
                <a:spcPct val="90000"/>
              </a:lnSpc>
            </a:pPr>
            <a:r>
              <a:rPr lang="en-US" altLang="en-US" sz="3000" dirty="0"/>
              <a:t>Example:</a:t>
            </a:r>
          </a:p>
          <a:p>
            <a:pPr lvl="1">
              <a:lnSpc>
                <a:spcPct val="90000"/>
              </a:lnSpc>
            </a:pPr>
            <a:r>
              <a:rPr lang="en-US" altLang="en-US" sz="2600" dirty="0">
                <a:solidFill>
                  <a:srgbClr val="FF0000"/>
                </a:solidFill>
              </a:rPr>
              <a:t>calculate pay </a:t>
            </a:r>
            <a:r>
              <a:rPr lang="en-US" altLang="en-US" sz="2600" dirty="0"/>
              <a:t>for 1000 employees.</a:t>
            </a:r>
          </a:p>
          <a:p>
            <a:pPr lvl="1">
              <a:lnSpc>
                <a:spcPct val="90000"/>
              </a:lnSpc>
            </a:pPr>
            <a:r>
              <a:rPr lang="en-US" altLang="en-US" sz="2600" dirty="0"/>
              <a:t>You should use the same </a:t>
            </a:r>
            <a:r>
              <a:rPr lang="en-US" altLang="en-US" sz="2600" dirty="0">
                <a:solidFill>
                  <a:srgbClr val="FF0000"/>
                </a:solidFill>
              </a:rPr>
              <a:t>calculate pay </a:t>
            </a:r>
            <a:r>
              <a:rPr lang="en-US" altLang="en-US" sz="2600" dirty="0"/>
              <a:t>algorithm 1000 times.</a:t>
            </a:r>
          </a:p>
          <a:p>
            <a:pPr lvl="1">
              <a:lnSpc>
                <a:spcPct val="90000"/>
              </a:lnSpc>
            </a:pPr>
            <a:r>
              <a:rPr lang="en-US" altLang="en-US" sz="2600" dirty="0"/>
              <a:t>You don’t write the </a:t>
            </a:r>
            <a:r>
              <a:rPr lang="en-US" altLang="en-US" sz="2600" dirty="0">
                <a:solidFill>
                  <a:srgbClr val="FF0000"/>
                </a:solidFill>
              </a:rPr>
              <a:t>calculate pay </a:t>
            </a:r>
            <a:r>
              <a:rPr lang="en-US" altLang="en-US" sz="2600" dirty="0"/>
              <a:t>algorithm 1000 times; instead you include it in a loop.</a:t>
            </a:r>
          </a:p>
        </p:txBody>
      </p:sp>
    </p:spTree>
    <p:extLst>
      <p:ext uri="{BB962C8B-B14F-4D97-AF65-F5344CB8AC3E}">
        <p14:creationId xmlns:p14="http://schemas.microsoft.com/office/powerpoint/2010/main" val="1659029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1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1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12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12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512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512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512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512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Repetition without loop</a:t>
            </a:r>
          </a:p>
        </p:txBody>
      </p:sp>
      <p:sp>
        <p:nvSpPr>
          <p:cNvPr id="6146" name="Rectangle 5"/>
          <p:cNvSpPr>
            <a:spLocks noGrp="1" noChangeArrowheads="1"/>
          </p:cNvSpPr>
          <p:nvPr>
            <p:ph idx="1"/>
          </p:nvPr>
        </p:nvSpPr>
        <p:spPr>
          <a:xfrm>
            <a:off x="457200" y="1524000"/>
            <a:ext cx="8305800" cy="4525963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altLang="en-US" sz="2800" dirty="0"/>
              <a:t>Print “Hello world” to the screen 4 times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7B1C59C-652F-1AFA-444D-A787046EAB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0847" y="5029200"/>
            <a:ext cx="2527300" cy="13335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9DD400CC-8B0D-826E-4D93-93A1281CC352}"/>
              </a:ext>
            </a:extLst>
          </p:cNvPr>
          <p:cNvSpPr/>
          <p:nvPr/>
        </p:nvSpPr>
        <p:spPr>
          <a:xfrm>
            <a:off x="1828800" y="2743200"/>
            <a:ext cx="4038600" cy="1524000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0"/>
                  <a:lumOff val="100000"/>
                </a:schemeClr>
              </a:gs>
              <a:gs pos="35000">
                <a:schemeClr val="accent6">
                  <a:lumMod val="0"/>
                  <a:lumOff val="100000"/>
                </a:schemeClr>
              </a:gs>
              <a:gs pos="100000">
                <a:schemeClr val="accent6">
                  <a:lumMod val="100000"/>
                </a:schemeClr>
              </a:gs>
            </a:gsLst>
            <a:path path="circle">
              <a:fillToRect l="50000" t="-80000" r="50000" b="180000"/>
            </a:path>
            <a:tileRect/>
          </a:gradFill>
          <a:ln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    </a:t>
            </a:r>
            <a:r>
              <a:rPr lang="en-US" dirty="0" err="1">
                <a:solidFill>
                  <a:sysClr val="windowText" lastClr="000000"/>
                </a:solidFill>
              </a:rPr>
              <a:t>System.out.println</a:t>
            </a:r>
            <a:r>
              <a:rPr lang="en-US" dirty="0">
                <a:solidFill>
                  <a:sysClr val="windowText" lastClr="000000"/>
                </a:solidFill>
              </a:rPr>
              <a:t>("Hello World");</a:t>
            </a:r>
          </a:p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    </a:t>
            </a:r>
            <a:r>
              <a:rPr lang="en-US" dirty="0" err="1">
                <a:solidFill>
                  <a:sysClr val="windowText" lastClr="000000"/>
                </a:solidFill>
              </a:rPr>
              <a:t>System.out.println</a:t>
            </a:r>
            <a:r>
              <a:rPr lang="en-US" dirty="0">
                <a:solidFill>
                  <a:sysClr val="windowText" lastClr="000000"/>
                </a:solidFill>
              </a:rPr>
              <a:t>("Hello World");</a:t>
            </a:r>
          </a:p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    </a:t>
            </a:r>
            <a:r>
              <a:rPr lang="en-US" dirty="0" err="1">
                <a:solidFill>
                  <a:sysClr val="windowText" lastClr="000000"/>
                </a:solidFill>
              </a:rPr>
              <a:t>System.out.println</a:t>
            </a:r>
            <a:r>
              <a:rPr lang="en-US" dirty="0">
                <a:solidFill>
                  <a:sysClr val="windowText" lastClr="000000"/>
                </a:solidFill>
              </a:rPr>
              <a:t>("Hello World");</a:t>
            </a:r>
          </a:p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    </a:t>
            </a:r>
            <a:r>
              <a:rPr lang="en-US" dirty="0" err="1">
                <a:solidFill>
                  <a:sysClr val="windowText" lastClr="000000"/>
                </a:solidFill>
              </a:rPr>
              <a:t>System.out.println</a:t>
            </a:r>
            <a:r>
              <a:rPr lang="en-US" dirty="0">
                <a:solidFill>
                  <a:sysClr val="windowText" lastClr="000000"/>
                </a:solidFill>
              </a:rPr>
              <a:t>("Hello World");</a:t>
            </a:r>
          </a:p>
        </p:txBody>
      </p:sp>
    </p:spTree>
    <p:extLst>
      <p:ext uri="{BB962C8B-B14F-4D97-AF65-F5344CB8AC3E}">
        <p14:creationId xmlns:p14="http://schemas.microsoft.com/office/powerpoint/2010/main" val="1015404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Introducing loop form</a:t>
            </a:r>
          </a:p>
        </p:txBody>
      </p:sp>
      <p:sp>
        <p:nvSpPr>
          <p:cNvPr id="6146" name="Rectangle 5"/>
          <p:cNvSpPr>
            <a:spLocks noGrp="1" noChangeArrowheads="1"/>
          </p:cNvSpPr>
          <p:nvPr>
            <p:ph idx="1"/>
          </p:nvPr>
        </p:nvSpPr>
        <p:spPr>
          <a:xfrm>
            <a:off x="457200" y="1524000"/>
            <a:ext cx="8305800" cy="5105400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altLang="en-US" sz="2800" dirty="0"/>
              <a:t>Print “Hello world” to the screen 4 times</a:t>
            </a:r>
          </a:p>
          <a:p>
            <a:pPr marL="0" indent="0">
              <a:lnSpc>
                <a:spcPct val="90000"/>
              </a:lnSpc>
              <a:buNone/>
            </a:pPr>
            <a:endParaRPr lang="en-US" altLang="en-US" sz="2800" dirty="0"/>
          </a:p>
          <a:p>
            <a:pPr lvl="1">
              <a:lnSpc>
                <a:spcPct val="90000"/>
              </a:lnSpc>
            </a:pPr>
            <a:r>
              <a:rPr lang="en-US" altLang="en-US" dirty="0"/>
              <a:t>With a loop:</a:t>
            </a:r>
          </a:p>
          <a:p>
            <a:pPr lvl="5">
              <a:lnSpc>
                <a:spcPct val="90000"/>
              </a:lnSpc>
            </a:pPr>
            <a:endParaRPr lang="en-US" altLang="en-US" sz="1400" dirty="0"/>
          </a:p>
          <a:p>
            <a:pPr lvl="2">
              <a:lnSpc>
                <a:spcPct val="90000"/>
              </a:lnSpc>
            </a:pPr>
            <a:r>
              <a:rPr lang="en-US" altLang="en-US" dirty="0"/>
              <a:t>do this 4 times </a:t>
            </a:r>
            <a:br>
              <a:rPr lang="en-US" altLang="en-US" dirty="0"/>
            </a:br>
            <a:endParaRPr lang="en-US" altLang="en-US" sz="1100" dirty="0"/>
          </a:p>
          <a:p>
            <a:pPr lvl="1">
              <a:lnSpc>
                <a:spcPct val="90000"/>
              </a:lnSpc>
              <a:buNone/>
            </a:pPr>
            <a:r>
              <a:rPr lang="en-IE" dirty="0"/>
              <a:t>			</a:t>
            </a:r>
          </a:p>
          <a:p>
            <a:pPr lvl="1">
              <a:lnSpc>
                <a:spcPct val="90000"/>
              </a:lnSpc>
              <a:buNone/>
            </a:pPr>
            <a:endParaRPr lang="en-IE" b="1" i="1" dirty="0">
              <a:solidFill>
                <a:srgbClr val="0070C0"/>
              </a:solidFill>
            </a:endParaRPr>
          </a:p>
          <a:p>
            <a:pPr lvl="2">
              <a:lnSpc>
                <a:spcPct val="90000"/>
              </a:lnSpc>
              <a:buFontTx/>
              <a:buNone/>
            </a:pPr>
            <a:endParaRPr lang="en-US" alt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0B1F3C4-D0A7-4680-A82C-EF5082252A58}"/>
              </a:ext>
            </a:extLst>
          </p:cNvPr>
          <p:cNvSpPr/>
          <p:nvPr/>
        </p:nvSpPr>
        <p:spPr>
          <a:xfrm>
            <a:off x="1905000" y="3543300"/>
            <a:ext cx="3657600" cy="533400"/>
          </a:xfrm>
          <a:prstGeom prst="rect">
            <a:avLst/>
          </a:prstGeom>
          <a:gradFill>
            <a:gsLst>
              <a:gs pos="0">
                <a:schemeClr val="accent6">
                  <a:lumMod val="0"/>
                  <a:lumOff val="100000"/>
                </a:schemeClr>
              </a:gs>
              <a:gs pos="35000">
                <a:schemeClr val="accent6">
                  <a:lumMod val="0"/>
                  <a:lumOff val="100000"/>
                </a:schemeClr>
              </a:gs>
              <a:gs pos="100000">
                <a:schemeClr val="accent6">
                  <a:lumMod val="100000"/>
                </a:schemeClr>
              </a:gs>
            </a:gsLst>
            <a:path path="circle">
              <a:fillToRect l="50000" t="-80000" r="50000" b="180000"/>
            </a:path>
          </a:gradFill>
          <a:ln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</a:rPr>
              <a:t>System.out.println</a:t>
            </a:r>
            <a:r>
              <a:rPr lang="en-US" dirty="0">
                <a:solidFill>
                  <a:sysClr val="windowText" lastClr="000000"/>
                </a:solidFill>
              </a:rPr>
              <a:t>("Hello World");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8B452FF-FE61-4818-10C3-F846CA8808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5700" y="5249862"/>
            <a:ext cx="2527300" cy="133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843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14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14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14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14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4C8410-A913-071C-F4C8-AD62A2935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E7B681B-D241-E2D2-FE84-14022459F65B}"/>
              </a:ext>
            </a:extLst>
          </p:cNvPr>
          <p:cNvSpPr txBox="1"/>
          <p:nvPr/>
        </p:nvSpPr>
        <p:spPr>
          <a:xfrm>
            <a:off x="819150" y="3108545"/>
            <a:ext cx="5372100" cy="1865126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40000"/>
                  <a:lumOff val="60000"/>
                </a:schemeClr>
              </a:gs>
              <a:gs pos="46000">
                <a:schemeClr val="accent6">
                  <a:lumMod val="95000"/>
                  <a:lumOff val="5000"/>
                </a:schemeClr>
              </a:gs>
              <a:gs pos="100000">
                <a:schemeClr val="accent6">
                  <a:lumMod val="60000"/>
                </a:schemeClr>
              </a:gs>
            </a:gsLst>
            <a:path path="circle">
              <a:fillToRect l="50000" t="130000" r="50000" b="-30000"/>
            </a:path>
            <a:tileRect/>
          </a:gradFill>
        </p:spPr>
        <p:txBody>
          <a:bodyPr wrap="square" rtlCol="0">
            <a:spAutoFit/>
          </a:bodyPr>
          <a:lstStyle/>
          <a:p>
            <a:pPr lvl="1">
              <a:lnSpc>
                <a:spcPct val="90000"/>
              </a:lnSpc>
            </a:pPr>
            <a:endParaRPr lang="en-US" altLang="en-US" sz="1400" dirty="0"/>
          </a:p>
          <a:p>
            <a:pPr lvl="1">
              <a:lnSpc>
                <a:spcPct val="90000"/>
              </a:lnSpc>
            </a:pPr>
            <a:r>
              <a:rPr lang="en-US" altLang="en-US" dirty="0"/>
              <a:t>Set a counter to 1</a:t>
            </a:r>
          </a:p>
          <a:p>
            <a:pPr lvl="1">
              <a:lnSpc>
                <a:spcPct val="90000"/>
              </a:lnSpc>
            </a:pPr>
            <a:endParaRPr lang="en-US" altLang="en-US" dirty="0"/>
          </a:p>
          <a:p>
            <a:pPr lvl="1">
              <a:lnSpc>
                <a:spcPct val="90000"/>
              </a:lnSpc>
            </a:pPr>
            <a:r>
              <a:rPr lang="en-US" altLang="en-US" dirty="0"/>
              <a:t>do this while counter &lt;= 4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	  increase counter by one</a:t>
            </a:r>
          </a:p>
        </p:txBody>
      </p:sp>
      <p:sp>
        <p:nvSpPr>
          <p:cNvPr id="6145" name="Rectangle 2">
            <a:extLst>
              <a:ext uri="{FF2B5EF4-FFF2-40B4-BE49-F238E27FC236}">
                <a16:creationId xmlns:a16="http://schemas.microsoft.com/office/drawing/2014/main" id="{BFA3A5C9-AC3E-2D9F-C696-3B1C8CE2297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Introducing loop form</a:t>
            </a:r>
          </a:p>
        </p:txBody>
      </p:sp>
      <p:sp>
        <p:nvSpPr>
          <p:cNvPr id="6146" name="Rectangle 5">
            <a:extLst>
              <a:ext uri="{FF2B5EF4-FFF2-40B4-BE49-F238E27FC236}">
                <a16:creationId xmlns:a16="http://schemas.microsoft.com/office/drawing/2014/main" id="{A708E31E-CD7C-DD9A-9574-F6BEA98CE3EB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457200" y="1524000"/>
            <a:ext cx="8305800" cy="1333500"/>
          </a:xfrm>
        </p:spPr>
        <p:txBody>
          <a:bodyPr>
            <a:normAutofit lnSpcReduction="10000"/>
          </a:bodyPr>
          <a:lstStyle/>
          <a:p>
            <a:pPr>
              <a:lnSpc>
                <a:spcPct val="90000"/>
              </a:lnSpc>
            </a:pPr>
            <a:r>
              <a:rPr lang="en-US" altLang="en-US" sz="2800" dirty="0"/>
              <a:t>Print “Hello world” to the screen 4 times</a:t>
            </a:r>
          </a:p>
          <a:p>
            <a:pPr>
              <a:lnSpc>
                <a:spcPct val="90000"/>
              </a:lnSpc>
            </a:pPr>
            <a:endParaRPr lang="en-US" sz="2800" dirty="0"/>
          </a:p>
          <a:p>
            <a:pPr>
              <a:lnSpc>
                <a:spcPct val="90000"/>
              </a:lnSpc>
            </a:pPr>
            <a:r>
              <a:rPr lang="en-US" sz="2800" dirty="0"/>
              <a:t>Introduce a counter</a:t>
            </a:r>
            <a:endParaRPr lang="en-IE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2E08C6D-A546-88FD-BF5E-063D0A6C3BE4}"/>
              </a:ext>
            </a:extLst>
          </p:cNvPr>
          <p:cNvSpPr/>
          <p:nvPr/>
        </p:nvSpPr>
        <p:spPr>
          <a:xfrm>
            <a:off x="1905000" y="4267200"/>
            <a:ext cx="3429000" cy="369608"/>
          </a:xfrm>
          <a:prstGeom prst="rect">
            <a:avLst/>
          </a:prstGeom>
          <a:gradFill>
            <a:gsLst>
              <a:gs pos="0">
                <a:schemeClr val="accent6">
                  <a:lumMod val="0"/>
                  <a:lumOff val="100000"/>
                </a:schemeClr>
              </a:gs>
              <a:gs pos="35000">
                <a:schemeClr val="accent6">
                  <a:lumMod val="0"/>
                  <a:lumOff val="100000"/>
                </a:schemeClr>
              </a:gs>
              <a:gs pos="100000">
                <a:schemeClr val="accent6">
                  <a:lumMod val="100000"/>
                </a:schemeClr>
              </a:gs>
            </a:gsLst>
            <a:path path="circle">
              <a:fillToRect l="50000" t="-80000" r="50000" b="180000"/>
            </a:path>
          </a:gradFill>
          <a:ln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</a:rPr>
              <a:t>System.out.println</a:t>
            </a:r>
            <a:r>
              <a:rPr lang="en-US" dirty="0">
                <a:solidFill>
                  <a:sysClr val="windowText" lastClr="000000"/>
                </a:solidFill>
              </a:rPr>
              <a:t>("Hello World");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0429C34-882B-D95E-2E66-B86667A95D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5700" y="5249862"/>
            <a:ext cx="2527300" cy="133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03455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14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14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allAtOnce" animBg="1"/>
      <p:bldP spid="2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Topics list</a:t>
            </a:r>
            <a:endParaRPr lang="en-I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IE" dirty="0"/>
          </a:p>
          <a:p>
            <a:pPr marL="0" indent="0">
              <a:buNone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Repetition in Programming – Intro to looping</a:t>
            </a:r>
          </a:p>
          <a:p>
            <a:endParaRPr lang="en-IE" dirty="0"/>
          </a:p>
          <a:p>
            <a:pPr marL="514350" indent="-514350">
              <a:buFont typeface="+mj-lt"/>
              <a:buAutoNum type="arabicPeriod" startAt="2"/>
            </a:pPr>
            <a:r>
              <a:rPr lang="en-IE" dirty="0"/>
              <a:t>Use of loops (while loops).</a:t>
            </a:r>
          </a:p>
          <a:p>
            <a:pPr marL="0" indent="0">
              <a:buNone/>
            </a:pPr>
            <a:endParaRPr lang="en-IE" dirty="0"/>
          </a:p>
        </p:txBody>
      </p:sp>
      <p:sp>
        <p:nvSpPr>
          <p:cNvPr id="6" name="Rectangle 5"/>
          <p:cNvSpPr/>
          <p:nvPr/>
        </p:nvSpPr>
        <p:spPr>
          <a:xfrm>
            <a:off x="457200" y="3347712"/>
            <a:ext cx="4419600" cy="533400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7271518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Loops in Programming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E" dirty="0"/>
              <a:t>There are three types of loop in (Java) programming:</a:t>
            </a:r>
          </a:p>
          <a:p>
            <a:endParaRPr lang="en-IE" dirty="0"/>
          </a:p>
          <a:p>
            <a:pPr lvl="1"/>
            <a:r>
              <a:rPr lang="en-IE" b="1" dirty="0"/>
              <a:t>while</a:t>
            </a:r>
            <a:r>
              <a:rPr lang="en-IE" dirty="0"/>
              <a:t> loops</a:t>
            </a:r>
          </a:p>
          <a:p>
            <a:pPr lvl="1"/>
            <a:r>
              <a:rPr lang="en-IE" b="1" dirty="0"/>
              <a:t>for</a:t>
            </a:r>
            <a:r>
              <a:rPr lang="en-IE" dirty="0"/>
              <a:t> loops</a:t>
            </a:r>
          </a:p>
          <a:p>
            <a:pPr lvl="1"/>
            <a:r>
              <a:rPr lang="en-IE" b="1" dirty="0"/>
              <a:t>do while</a:t>
            </a:r>
            <a:r>
              <a:rPr lang="en-IE" dirty="0"/>
              <a:t> loops</a:t>
            </a:r>
          </a:p>
          <a:p>
            <a:pPr lvl="1"/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28744849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while loop </a:t>
            </a:r>
            <a:r>
              <a:rPr lang="en-US" dirty="0"/>
              <a:t>pseudo code</a:t>
            </a:r>
          </a:p>
        </p:txBody>
      </p:sp>
      <p:sp>
        <p:nvSpPr>
          <p:cNvPr id="18436" name="Text Box 4"/>
          <p:cNvSpPr txBox="1">
            <a:spLocks noChangeArrowheads="1"/>
          </p:cNvSpPr>
          <p:nvPr/>
        </p:nvSpPr>
        <p:spPr bwMode="auto">
          <a:xfrm>
            <a:off x="2514600" y="3124200"/>
            <a:ext cx="3200400" cy="8255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just">
              <a:spcBef>
                <a:spcPct val="50000"/>
              </a:spcBef>
            </a:pPr>
            <a:r>
              <a:rPr lang="en-US" sz="1600" dirty="0"/>
              <a:t>while(</a:t>
            </a:r>
            <a:r>
              <a:rPr lang="en-US" sz="1600" i="1" dirty="0"/>
              <a:t>loop condition</a:t>
            </a:r>
            <a:r>
              <a:rPr lang="en-US" sz="1600" dirty="0"/>
              <a:t>) {</a:t>
            </a:r>
          </a:p>
          <a:p>
            <a:r>
              <a:rPr lang="en-US" sz="1600" dirty="0"/>
              <a:t>    </a:t>
            </a:r>
            <a:r>
              <a:rPr lang="en-US" sz="1600" i="1" dirty="0"/>
              <a:t>loop body</a:t>
            </a:r>
            <a:endParaRPr lang="en-US" sz="1600" dirty="0"/>
          </a:p>
          <a:p>
            <a:r>
              <a:rPr lang="en-US" sz="1600" dirty="0"/>
              <a:t>} </a:t>
            </a:r>
          </a:p>
        </p:txBody>
      </p:sp>
      <p:sp>
        <p:nvSpPr>
          <p:cNvPr id="18437" name="Text Box 5"/>
          <p:cNvSpPr txBox="1">
            <a:spLocks noChangeArrowheads="1"/>
          </p:cNvSpPr>
          <p:nvPr/>
        </p:nvSpPr>
        <p:spPr bwMode="auto">
          <a:xfrm>
            <a:off x="1500188" y="5500688"/>
            <a:ext cx="6359525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dirty="0">
                <a:latin typeface="Trebuchet MS" pitchFamily="-32" charset="0"/>
              </a:rPr>
              <a:t>while we wish to continue, do the things in the loop body</a:t>
            </a:r>
          </a:p>
        </p:txBody>
      </p:sp>
      <p:sp>
        <p:nvSpPr>
          <p:cNvPr id="18439" name="AutoShape 7"/>
          <p:cNvSpPr>
            <a:spLocks noChangeArrowheads="1"/>
          </p:cNvSpPr>
          <p:nvPr/>
        </p:nvSpPr>
        <p:spPr bwMode="auto">
          <a:xfrm>
            <a:off x="5029200" y="2590800"/>
            <a:ext cx="2133600" cy="457200"/>
          </a:xfrm>
          <a:prstGeom prst="roundRect">
            <a:avLst>
              <a:gd name="adj" fmla="val 16667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b="0" dirty="0" err="1">
                <a:solidFill>
                  <a:srgbClr val="A57133"/>
                </a:solidFill>
                <a:latin typeface="Trebuchet MS" pitchFamily="-32" charset="0"/>
              </a:rPr>
              <a:t>boolean</a:t>
            </a:r>
            <a:r>
              <a:rPr lang="en-US" b="0" dirty="0">
                <a:solidFill>
                  <a:srgbClr val="A57133"/>
                </a:solidFill>
                <a:latin typeface="Trebuchet MS" pitchFamily="-32" charset="0"/>
              </a:rPr>
              <a:t> condition</a:t>
            </a:r>
          </a:p>
        </p:txBody>
      </p:sp>
      <p:sp>
        <p:nvSpPr>
          <p:cNvPr id="18440" name="Line 8"/>
          <p:cNvSpPr>
            <a:spLocks noChangeShapeType="1"/>
          </p:cNvSpPr>
          <p:nvPr/>
        </p:nvSpPr>
        <p:spPr bwMode="auto">
          <a:xfrm flipH="1">
            <a:off x="4114800" y="2819400"/>
            <a:ext cx="914400" cy="38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18442" name="AutoShape 10"/>
          <p:cNvSpPr>
            <a:spLocks noChangeArrowheads="1"/>
          </p:cNvSpPr>
          <p:nvPr/>
        </p:nvSpPr>
        <p:spPr bwMode="auto">
          <a:xfrm>
            <a:off x="914400" y="2286000"/>
            <a:ext cx="1905000" cy="457200"/>
          </a:xfrm>
          <a:prstGeom prst="roundRect">
            <a:avLst>
              <a:gd name="adj" fmla="val 16667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>
                <a:solidFill>
                  <a:srgbClr val="A57133"/>
                </a:solidFill>
              </a:rPr>
              <a:t>while</a:t>
            </a:r>
            <a:r>
              <a:rPr lang="en-US" b="0">
                <a:solidFill>
                  <a:srgbClr val="A57133"/>
                </a:solidFill>
                <a:latin typeface="Times New Roman" pitchFamily="-32" charset="0"/>
              </a:rPr>
              <a:t> </a:t>
            </a:r>
            <a:r>
              <a:rPr lang="en-US" b="0">
                <a:solidFill>
                  <a:srgbClr val="A57133"/>
                </a:solidFill>
                <a:latin typeface="Trebuchet MS" pitchFamily="-32" charset="0"/>
              </a:rPr>
              <a:t>keyword</a:t>
            </a:r>
          </a:p>
        </p:txBody>
      </p:sp>
      <p:sp>
        <p:nvSpPr>
          <p:cNvPr id="18443" name="Line 11"/>
          <p:cNvSpPr>
            <a:spLocks noChangeShapeType="1"/>
          </p:cNvSpPr>
          <p:nvPr/>
        </p:nvSpPr>
        <p:spPr bwMode="auto">
          <a:xfrm>
            <a:off x="1828800" y="2743200"/>
            <a:ext cx="914400" cy="38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18445" name="AutoShape 13"/>
          <p:cNvSpPr>
            <a:spLocks noChangeArrowheads="1"/>
          </p:cNvSpPr>
          <p:nvPr/>
        </p:nvSpPr>
        <p:spPr bwMode="auto">
          <a:xfrm>
            <a:off x="5486400" y="3276600"/>
            <a:ext cx="2971800" cy="457200"/>
          </a:xfrm>
          <a:prstGeom prst="roundRect">
            <a:avLst>
              <a:gd name="adj" fmla="val 16667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b="0" dirty="0">
                <a:solidFill>
                  <a:srgbClr val="A57133"/>
                </a:solidFill>
                <a:latin typeface="Trebuchet MS" pitchFamily="-32" charset="0"/>
              </a:rPr>
              <a:t>Statements to be repeated</a:t>
            </a:r>
          </a:p>
        </p:txBody>
      </p:sp>
      <p:sp>
        <p:nvSpPr>
          <p:cNvPr id="18446" name="Line 14"/>
          <p:cNvSpPr>
            <a:spLocks noChangeShapeType="1"/>
          </p:cNvSpPr>
          <p:nvPr/>
        </p:nvSpPr>
        <p:spPr bwMode="auto">
          <a:xfrm flipH="1">
            <a:off x="4495800" y="3505200"/>
            <a:ext cx="990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18448" name="AutoShape 16"/>
          <p:cNvSpPr>
            <a:spLocks noChangeArrowheads="1"/>
          </p:cNvSpPr>
          <p:nvPr/>
        </p:nvSpPr>
        <p:spPr bwMode="auto">
          <a:xfrm>
            <a:off x="2338388" y="4495800"/>
            <a:ext cx="4467225" cy="711200"/>
          </a:xfrm>
          <a:prstGeom prst="roundRect">
            <a:avLst>
              <a:gd name="adj" fmla="val 16667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folHlink">
                    <a:alpha val="50000"/>
                  </a:schemeClr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>
            <a:spAutoFit/>
          </a:bodyPr>
          <a:lstStyle/>
          <a:p>
            <a:pPr algn="ctr"/>
            <a:r>
              <a:rPr lang="en-US" b="0" dirty="0">
                <a:solidFill>
                  <a:srgbClr val="A57133"/>
                </a:solidFill>
                <a:latin typeface="Trebuchet MS" pitchFamily="-32" charset="0"/>
              </a:rPr>
              <a:t>Pseudo-code expression of the actions of a while loop</a:t>
            </a:r>
          </a:p>
        </p:txBody>
      </p:sp>
      <p:sp>
        <p:nvSpPr>
          <p:cNvPr id="18450" name="AutoShape 18"/>
          <p:cNvSpPr>
            <a:spLocks noChangeArrowheads="1"/>
          </p:cNvSpPr>
          <p:nvPr/>
        </p:nvSpPr>
        <p:spPr bwMode="auto">
          <a:xfrm>
            <a:off x="2895600" y="1828800"/>
            <a:ext cx="3200400" cy="381000"/>
          </a:xfrm>
          <a:prstGeom prst="roundRect">
            <a:avLst>
              <a:gd name="adj" fmla="val 16667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folHlink">
                    <a:alpha val="50000"/>
                  </a:schemeClr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45791" dir="2021404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r>
              <a:rPr lang="en-US" b="0">
                <a:solidFill>
                  <a:srgbClr val="A57133"/>
                </a:solidFill>
                <a:latin typeface="Trebuchet MS" pitchFamily="-32" charset="0"/>
              </a:rPr>
              <a:t>General form of a while loop</a:t>
            </a:r>
          </a:p>
        </p:txBody>
      </p:sp>
      <p:sp>
        <p:nvSpPr>
          <p:cNvPr id="18455" name="Rectangle 23"/>
          <p:cNvSpPr>
            <a:spLocks noChangeArrowheads="1"/>
          </p:cNvSpPr>
          <p:nvPr/>
        </p:nvSpPr>
        <p:spPr bwMode="auto">
          <a:xfrm>
            <a:off x="762000" y="1676400"/>
            <a:ext cx="7772400" cy="2590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>
            <a:spAutoFit/>
          </a:bodyPr>
          <a:lstStyle/>
          <a:p>
            <a:endParaRPr lang="en-IE"/>
          </a:p>
        </p:txBody>
      </p:sp>
      <p:sp>
        <p:nvSpPr>
          <p:cNvPr id="18456" name="Rectangle 24"/>
          <p:cNvSpPr>
            <a:spLocks noChangeArrowheads="1"/>
          </p:cNvSpPr>
          <p:nvPr/>
        </p:nvSpPr>
        <p:spPr bwMode="auto">
          <a:xfrm>
            <a:off x="762000" y="4343400"/>
            <a:ext cx="7772400" cy="19812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en-IE"/>
          </a:p>
        </p:txBody>
      </p:sp>
      <p:sp>
        <p:nvSpPr>
          <p:cNvPr id="18457" name="AutoShape 25"/>
          <p:cNvSpPr>
            <a:spLocks noChangeArrowheads="1"/>
          </p:cNvSpPr>
          <p:nvPr/>
        </p:nvSpPr>
        <p:spPr bwMode="auto">
          <a:xfrm flipH="1" flipV="1">
            <a:off x="1295400" y="3124200"/>
            <a:ext cx="990600" cy="762000"/>
          </a:xfrm>
          <a:prstGeom prst="curvedLeftArrow">
            <a:avLst>
              <a:gd name="adj1" fmla="val 20000"/>
              <a:gd name="adj2" fmla="val 40000"/>
              <a:gd name="adj3" fmla="val 43333"/>
            </a:avLst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>
            <a:spAutoFit/>
          </a:bodyPr>
          <a:lstStyle/>
          <a:p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6047708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437" grpId="0"/>
      <p:bldP spid="18439" grpId="0" animBg="1"/>
      <p:bldP spid="18440" grpId="0" animBg="1"/>
      <p:bldP spid="18442" grpId="0" animBg="1"/>
      <p:bldP spid="18443" grpId="0" animBg="1"/>
      <p:bldP spid="18445" grpId="0" animBg="1"/>
      <p:bldP spid="18446" grpId="0" animBg="1"/>
      <p:bldP spid="18448" grpId="0" animBg="1"/>
      <p:bldP spid="18456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Construction of while loop</a:t>
            </a:r>
          </a:p>
        </p:txBody>
      </p:sp>
      <p:sp>
        <p:nvSpPr>
          <p:cNvPr id="9219" name="Rectangle 3"/>
          <p:cNvSpPr>
            <a:spLocks noGrp="1" noChangeArrowheads="1"/>
          </p:cNvSpPr>
          <p:nvPr>
            <p:ph idx="1"/>
          </p:nvPr>
        </p:nvSpPr>
        <p:spPr>
          <a:xfrm>
            <a:off x="457200" y="1600200"/>
            <a:ext cx="8382000" cy="3733800"/>
          </a:xfr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>
            <a:normAutofit/>
          </a:bodyPr>
          <a:lstStyle/>
          <a:p>
            <a:pPr marL="0" indent="0">
              <a:buFont typeface="Arial" pitchFamily="34" charset="0"/>
              <a:buNone/>
            </a:pPr>
            <a:r>
              <a:rPr lang="en-US" altLang="en-US" dirty="0">
                <a:solidFill>
                  <a:srgbClr val="000000"/>
                </a:solidFill>
                <a:ea typeface="MS PGothic" pitchFamily="34" charset="-128"/>
              </a:rPr>
              <a:t>  Declare and </a:t>
            </a:r>
            <a:r>
              <a:rPr lang="en-US" altLang="en-US" dirty="0" err="1">
                <a:solidFill>
                  <a:srgbClr val="000000"/>
                </a:solidFill>
                <a:ea typeface="MS PGothic" pitchFamily="34" charset="-128"/>
              </a:rPr>
              <a:t>initialise</a:t>
            </a:r>
            <a:r>
              <a:rPr lang="en-US" altLang="en-US" dirty="0">
                <a:solidFill>
                  <a:srgbClr val="000000"/>
                </a:solidFill>
                <a:ea typeface="MS PGothic" pitchFamily="34" charset="-128"/>
              </a:rPr>
              <a:t> </a:t>
            </a:r>
            <a:r>
              <a:rPr lang="en-US" altLang="en-US" dirty="0">
                <a:solidFill>
                  <a:srgbClr val="FF0000"/>
                </a:solidFill>
                <a:ea typeface="MS PGothic" pitchFamily="34" charset="-128"/>
              </a:rPr>
              <a:t>loop control variable (LCV)</a:t>
            </a:r>
          </a:p>
          <a:p>
            <a:pPr marL="0" indent="0">
              <a:buFont typeface="Arial" pitchFamily="34" charset="0"/>
              <a:buNone/>
            </a:pPr>
            <a:r>
              <a:rPr lang="en-US" altLang="en-US" dirty="0">
                <a:solidFill>
                  <a:srgbClr val="000000"/>
                </a:solidFill>
                <a:ea typeface="MS PGothic" pitchFamily="34" charset="-128"/>
              </a:rPr>
              <a:t>  while(</a:t>
            </a:r>
            <a:r>
              <a:rPr lang="en-US" altLang="en-US" dirty="0" err="1">
                <a:solidFill>
                  <a:srgbClr val="000000"/>
                </a:solidFill>
                <a:ea typeface="MS PGothic" pitchFamily="34" charset="-128"/>
              </a:rPr>
              <a:t>boolean</a:t>
            </a:r>
            <a:r>
              <a:rPr lang="en-US" altLang="en-US" dirty="0">
                <a:solidFill>
                  <a:srgbClr val="000000"/>
                </a:solidFill>
                <a:ea typeface="MS PGothic" pitchFamily="34" charset="-128"/>
              </a:rPr>
              <a:t> condition based on </a:t>
            </a:r>
            <a:r>
              <a:rPr lang="en-US" altLang="en-US" dirty="0">
                <a:solidFill>
                  <a:srgbClr val="FF0000"/>
                </a:solidFill>
                <a:ea typeface="MS PGothic" pitchFamily="34" charset="-128"/>
              </a:rPr>
              <a:t>LCV </a:t>
            </a:r>
            <a:r>
              <a:rPr lang="en-US" altLang="en-US" dirty="0">
                <a:solidFill>
                  <a:schemeClr val="tx1"/>
                </a:solidFill>
                <a:ea typeface="MS PGothic" pitchFamily="34" charset="-128"/>
              </a:rPr>
              <a:t>is true</a:t>
            </a:r>
            <a:r>
              <a:rPr lang="en-US" altLang="en-US" dirty="0">
                <a:solidFill>
                  <a:srgbClr val="000000"/>
                </a:solidFill>
                <a:ea typeface="MS PGothic" pitchFamily="34" charset="-128"/>
              </a:rPr>
              <a:t>)</a:t>
            </a:r>
          </a:p>
          <a:p>
            <a:pPr marL="0" indent="0">
              <a:buFont typeface="Arial" pitchFamily="34" charset="0"/>
              <a:buNone/>
            </a:pPr>
            <a:r>
              <a:rPr lang="en-US" altLang="en-US" dirty="0">
                <a:solidFill>
                  <a:srgbClr val="000000"/>
                </a:solidFill>
                <a:ea typeface="MS PGothic" pitchFamily="34" charset="-128"/>
              </a:rPr>
              <a:t>  {</a:t>
            </a:r>
          </a:p>
          <a:p>
            <a:pPr marL="0" indent="0">
              <a:buFont typeface="Arial" pitchFamily="34" charset="0"/>
              <a:buNone/>
            </a:pPr>
            <a:r>
              <a:rPr lang="en-US" altLang="en-US" dirty="0">
                <a:solidFill>
                  <a:srgbClr val="000000"/>
                </a:solidFill>
                <a:ea typeface="MS PGothic" pitchFamily="34" charset="-128"/>
              </a:rPr>
              <a:t>         “</a:t>
            </a:r>
            <a:r>
              <a:rPr lang="en-US" altLang="ja-JP" dirty="0">
                <a:solidFill>
                  <a:srgbClr val="000000"/>
                </a:solidFill>
              </a:rPr>
              <a:t>do the job to be repeated</a:t>
            </a:r>
            <a:r>
              <a:rPr lang="en-US" altLang="en-US" dirty="0">
                <a:solidFill>
                  <a:srgbClr val="000000"/>
                </a:solidFill>
                <a:ea typeface="MS PGothic" pitchFamily="34" charset="-128"/>
              </a:rPr>
              <a:t>”</a:t>
            </a:r>
            <a:endParaRPr lang="en-US" altLang="ja-JP" dirty="0">
              <a:solidFill>
                <a:srgbClr val="000000"/>
              </a:solidFill>
            </a:endParaRPr>
          </a:p>
          <a:p>
            <a:pPr marL="0" indent="0">
              <a:buFont typeface="Arial" pitchFamily="34" charset="0"/>
              <a:buNone/>
            </a:pPr>
            <a:r>
              <a:rPr lang="en-US" altLang="en-US" dirty="0">
                <a:solidFill>
                  <a:srgbClr val="000000"/>
                </a:solidFill>
                <a:ea typeface="MS PGothic" pitchFamily="34" charset="-128"/>
              </a:rPr>
              <a:t>         “update the </a:t>
            </a:r>
            <a:r>
              <a:rPr lang="en-US" altLang="en-US" dirty="0">
                <a:solidFill>
                  <a:srgbClr val="FF0000"/>
                </a:solidFill>
                <a:ea typeface="MS PGothic" pitchFamily="34" charset="-128"/>
              </a:rPr>
              <a:t>LCV</a:t>
            </a:r>
            <a:r>
              <a:rPr lang="en-US" altLang="en-US" dirty="0">
                <a:solidFill>
                  <a:srgbClr val="000000"/>
                </a:solidFill>
                <a:ea typeface="MS PGothic" pitchFamily="34" charset="-128"/>
              </a:rPr>
              <a:t>”</a:t>
            </a:r>
            <a:endParaRPr lang="en-US" altLang="ja-JP" dirty="0">
              <a:solidFill>
                <a:srgbClr val="000000"/>
              </a:solidFill>
            </a:endParaRPr>
          </a:p>
          <a:p>
            <a:pPr marL="0" indent="0">
              <a:buFont typeface="Arial" pitchFamily="34" charset="0"/>
              <a:buNone/>
            </a:pPr>
            <a:r>
              <a:rPr lang="en-US" altLang="en-US" dirty="0">
                <a:solidFill>
                  <a:srgbClr val="000000"/>
                </a:solidFill>
                <a:ea typeface="MS PGothic" pitchFamily="34" charset="-128"/>
              </a:rPr>
              <a:t>  }</a:t>
            </a:r>
          </a:p>
        </p:txBody>
      </p:sp>
      <p:sp>
        <p:nvSpPr>
          <p:cNvPr id="2" name="Rectangle 4"/>
          <p:cNvSpPr>
            <a:spLocks noChangeArrowheads="1"/>
          </p:cNvSpPr>
          <p:nvPr/>
        </p:nvSpPr>
        <p:spPr bwMode="auto">
          <a:xfrm>
            <a:off x="9115425" y="5842000"/>
            <a:ext cx="18415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9pPr>
          </a:lstStyle>
          <a:p>
            <a:endParaRPr lang="en-US" altLang="en-US"/>
          </a:p>
        </p:txBody>
      </p:sp>
      <p:sp>
        <p:nvSpPr>
          <p:cNvPr id="4" name="TextBox 3"/>
          <p:cNvSpPr txBox="1"/>
          <p:nvPr/>
        </p:nvSpPr>
        <p:spPr>
          <a:xfrm>
            <a:off x="762000" y="5638800"/>
            <a:ext cx="7772400" cy="5842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3200" dirty="0"/>
              <a:t>This structure should </a:t>
            </a:r>
            <a:r>
              <a:rPr lang="en-US" sz="3200" u="sng" dirty="0"/>
              <a:t>always</a:t>
            </a:r>
            <a:r>
              <a:rPr lang="en-US" sz="3200" dirty="0"/>
              <a:t> be used</a:t>
            </a:r>
          </a:p>
        </p:txBody>
      </p:sp>
    </p:spTree>
    <p:extLst>
      <p:ext uri="{BB962C8B-B14F-4D97-AF65-F5344CB8AC3E}">
        <p14:creationId xmlns:p14="http://schemas.microsoft.com/office/powerpoint/2010/main" val="15441702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7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Courier New" pitchFamily="28" charset="0"/>
              </a:rPr>
              <a:t>while</a:t>
            </a:r>
            <a:r>
              <a:rPr lang="en-US" dirty="0"/>
              <a:t> loop Flowchart  </a:t>
            </a:r>
          </a:p>
        </p:txBody>
      </p:sp>
      <p:grpSp>
        <p:nvGrpSpPr>
          <p:cNvPr id="159747" name="Group 3"/>
          <p:cNvGrpSpPr>
            <a:grpSpLocks/>
          </p:cNvGrpSpPr>
          <p:nvPr/>
        </p:nvGrpSpPr>
        <p:grpSpPr bwMode="auto">
          <a:xfrm>
            <a:off x="533400" y="1595439"/>
            <a:ext cx="3810000" cy="3967163"/>
            <a:chOff x="1968" y="1005"/>
            <a:chExt cx="2400" cy="2499"/>
          </a:xfrm>
        </p:grpSpPr>
        <p:sp>
          <p:nvSpPr>
            <p:cNvPr id="159748" name="Rectangle 4"/>
            <p:cNvSpPr>
              <a:spLocks noChangeArrowheads="1"/>
            </p:cNvSpPr>
            <p:nvPr/>
          </p:nvSpPr>
          <p:spPr bwMode="auto">
            <a:xfrm rot="2701371">
              <a:off x="2016" y="1728"/>
              <a:ext cx="720" cy="720"/>
            </a:xfrm>
            <a:prstGeom prst="rect">
              <a:avLst/>
            </a:prstGeom>
            <a:ln>
              <a:headEnd/>
              <a:tailEnd/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ot="10800000" vert="eaVert" wrap="none" anchor="ctr"/>
            <a:lstStyle/>
            <a:p>
              <a:pPr eaLnBrk="1" hangingPunct="1"/>
              <a:endParaRPr lang="en-US" sz="1800" b="0">
                <a:solidFill>
                  <a:schemeClr val="tx1"/>
                </a:solidFill>
                <a:latin typeface="Times New Roman" pitchFamily="28" charset="0"/>
              </a:endParaRPr>
            </a:p>
          </p:txBody>
        </p:sp>
        <p:sp>
          <p:nvSpPr>
            <p:cNvPr id="159749" name="Rectangle 5"/>
            <p:cNvSpPr>
              <a:spLocks noChangeArrowheads="1"/>
            </p:cNvSpPr>
            <p:nvPr/>
          </p:nvSpPr>
          <p:spPr bwMode="auto">
            <a:xfrm>
              <a:off x="3552" y="1968"/>
              <a:ext cx="816" cy="240"/>
            </a:xfrm>
            <a:prstGeom prst="rect">
              <a:avLst/>
            </a:prstGeom>
            <a:ln>
              <a:headEnd/>
              <a:tailEnd/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none" anchor="ctr"/>
            <a:lstStyle/>
            <a:p>
              <a:pPr eaLnBrk="1" hangingPunct="1"/>
              <a:r>
                <a:rPr lang="en-US" sz="1800" b="0" dirty="0">
                  <a:solidFill>
                    <a:schemeClr val="tx1"/>
                  </a:solidFill>
                  <a:latin typeface="Times New Roman" pitchFamily="28" charset="0"/>
                </a:rPr>
                <a:t>statement(s)</a:t>
              </a:r>
            </a:p>
          </p:txBody>
        </p:sp>
        <p:sp>
          <p:nvSpPr>
            <p:cNvPr id="159750" name="Text Box 6"/>
            <p:cNvSpPr txBox="1">
              <a:spLocks noChangeArrowheads="1"/>
            </p:cNvSpPr>
            <p:nvPr/>
          </p:nvSpPr>
          <p:spPr bwMode="auto">
            <a:xfrm>
              <a:off x="3024" y="1776"/>
              <a:ext cx="340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eaLnBrk="1" hangingPunct="1"/>
              <a:r>
                <a:rPr lang="en-US" sz="1800" b="0">
                  <a:solidFill>
                    <a:schemeClr val="tx1"/>
                  </a:solidFill>
                  <a:latin typeface="Times New Roman" pitchFamily="28" charset="0"/>
                </a:rPr>
                <a:t>true</a:t>
              </a:r>
            </a:p>
          </p:txBody>
        </p:sp>
        <p:sp>
          <p:nvSpPr>
            <p:cNvPr id="159751" name="Line 7"/>
            <p:cNvSpPr>
              <a:spLocks noChangeShapeType="1"/>
            </p:cNvSpPr>
            <p:nvPr/>
          </p:nvSpPr>
          <p:spPr bwMode="auto">
            <a:xfrm>
              <a:off x="2376" y="2592"/>
              <a:ext cx="0" cy="91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cxnSp>
          <p:nvCxnSpPr>
            <p:cNvPr id="159752" name="AutoShape 8"/>
            <p:cNvCxnSpPr>
              <a:cxnSpLocks noChangeShapeType="1"/>
            </p:cNvCxnSpPr>
            <p:nvPr/>
          </p:nvCxnSpPr>
          <p:spPr bwMode="auto">
            <a:xfrm rot="10800000">
              <a:off x="2352" y="1005"/>
              <a:ext cx="1704" cy="960"/>
            </a:xfrm>
            <a:prstGeom prst="bentConnector3">
              <a:avLst>
                <a:gd name="adj1" fmla="val 56"/>
              </a:avLst>
            </a:prstGeom>
            <a:noFill/>
            <a:ln w="9525">
              <a:solidFill>
                <a:schemeClr val="tx1"/>
              </a:solidFill>
              <a:miter lim="800000"/>
              <a:headEnd/>
              <a:tailEnd type="triangle" w="med" len="med"/>
            </a:ln>
            <a:effectLst/>
          </p:spPr>
        </p:cxnSp>
        <p:sp>
          <p:nvSpPr>
            <p:cNvPr id="159753" name="Line 9"/>
            <p:cNvSpPr>
              <a:spLocks noChangeShapeType="1"/>
            </p:cNvSpPr>
            <p:nvPr/>
          </p:nvSpPr>
          <p:spPr bwMode="auto">
            <a:xfrm>
              <a:off x="2366" y="1008"/>
              <a:ext cx="0" cy="53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59754" name="Text Box 10"/>
            <p:cNvSpPr txBox="1">
              <a:spLocks noChangeArrowheads="1"/>
            </p:cNvSpPr>
            <p:nvPr/>
          </p:nvSpPr>
          <p:spPr bwMode="auto">
            <a:xfrm>
              <a:off x="1968" y="1884"/>
              <a:ext cx="724" cy="40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eaLnBrk="1" hangingPunct="1"/>
              <a:r>
                <a:rPr lang="en-US" sz="1800" b="0" dirty="0" err="1">
                  <a:solidFill>
                    <a:schemeClr val="tx1"/>
                  </a:solidFill>
                  <a:latin typeface="Courier New" pitchFamily="28" charset="0"/>
                </a:rPr>
                <a:t>boolean</a:t>
              </a:r>
              <a:endParaRPr lang="en-US" sz="1800" b="0" dirty="0">
                <a:solidFill>
                  <a:schemeClr val="tx1"/>
                </a:solidFill>
                <a:latin typeface="Courier New" pitchFamily="28" charset="0"/>
              </a:endParaRPr>
            </a:p>
            <a:p>
              <a:pPr eaLnBrk="1" hangingPunct="1"/>
              <a:r>
                <a:rPr lang="en-US" sz="1800" b="0" dirty="0">
                  <a:solidFill>
                    <a:schemeClr val="tx1"/>
                  </a:solidFill>
                  <a:latin typeface="Times New Roman" pitchFamily="28" charset="0"/>
                </a:rPr>
                <a:t>condition?</a:t>
              </a:r>
            </a:p>
          </p:txBody>
        </p:sp>
        <p:sp>
          <p:nvSpPr>
            <p:cNvPr id="159755" name="Text Box 11"/>
            <p:cNvSpPr txBox="1">
              <a:spLocks noChangeArrowheads="1"/>
            </p:cNvSpPr>
            <p:nvPr/>
          </p:nvSpPr>
          <p:spPr bwMode="auto">
            <a:xfrm>
              <a:off x="2448" y="2880"/>
              <a:ext cx="388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eaLnBrk="1" hangingPunct="1"/>
              <a:r>
                <a:rPr lang="en-US" sz="1800" b="0">
                  <a:solidFill>
                    <a:schemeClr val="tx1"/>
                  </a:solidFill>
                  <a:latin typeface="Times New Roman" pitchFamily="28" charset="0"/>
                </a:rPr>
                <a:t>false</a:t>
              </a:r>
            </a:p>
          </p:txBody>
        </p:sp>
        <p:sp>
          <p:nvSpPr>
            <p:cNvPr id="159756" name="Line 12"/>
            <p:cNvSpPr>
              <a:spLocks noChangeShapeType="1"/>
            </p:cNvSpPr>
            <p:nvPr/>
          </p:nvSpPr>
          <p:spPr bwMode="auto">
            <a:xfrm flipV="1">
              <a:off x="2928" y="2112"/>
              <a:ext cx="57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wrap="none"/>
            <a:lstStyle/>
            <a:p>
              <a:endParaRPr lang="en-US"/>
            </a:p>
          </p:txBody>
        </p:sp>
      </p:grpSp>
      <p:pic>
        <p:nvPicPr>
          <p:cNvPr id="2" name="Picture 1">
            <a:extLst>
              <a:ext uri="{FF2B5EF4-FFF2-40B4-BE49-F238E27FC236}">
                <a16:creationId xmlns:a16="http://schemas.microsoft.com/office/drawing/2014/main" id="{0D12C581-C7CA-9E6C-7D2C-497F70BCD5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1800" y="5520076"/>
            <a:ext cx="1981200" cy="1045357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2626826F-3337-1477-D9BC-1B3D3013519F}"/>
              </a:ext>
            </a:extLst>
          </p:cNvPr>
          <p:cNvGrpSpPr/>
          <p:nvPr/>
        </p:nvGrpSpPr>
        <p:grpSpPr>
          <a:xfrm>
            <a:off x="4906777" y="1691385"/>
            <a:ext cx="4096870" cy="2308324"/>
            <a:chOff x="4906777" y="1691385"/>
            <a:chExt cx="4096870" cy="2308324"/>
          </a:xfrm>
        </p:grpSpPr>
        <p:sp>
          <p:nvSpPr>
            <p:cNvPr id="17" name="Text Box 15"/>
            <p:cNvSpPr txBox="1">
              <a:spLocks noChangeArrowheads="1"/>
            </p:cNvSpPr>
            <p:nvPr/>
          </p:nvSpPr>
          <p:spPr bwMode="auto">
            <a:xfrm>
              <a:off x="4906777" y="2060717"/>
              <a:ext cx="4096870" cy="1938992"/>
            </a:xfrm>
            <a:prstGeom prst="rect">
              <a:avLst/>
            </a:prstGeom>
            <a:ln>
              <a:headEnd/>
              <a:tailEnd/>
            </a:ln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wrap="square" anchor="ctr">
              <a:spAutoFit/>
            </a:bodyPr>
            <a:lstStyle/>
            <a:p>
              <a:r>
                <a:rPr lang="en-IE" sz="2000" dirty="0"/>
                <a:t>int </a:t>
              </a:r>
              <a:r>
                <a:rPr lang="en-IE" sz="2000" dirty="0" err="1"/>
                <a:t>i</a:t>
              </a:r>
              <a:r>
                <a:rPr lang="en-IE" sz="2000" dirty="0"/>
                <a:t> = 1;</a:t>
              </a:r>
            </a:p>
            <a:p>
              <a:r>
                <a:rPr lang="en-IE" sz="2000" dirty="0"/>
                <a:t>    while (</a:t>
              </a:r>
              <a:r>
                <a:rPr lang="en-IE" sz="2000" dirty="0" err="1"/>
                <a:t>i</a:t>
              </a:r>
              <a:r>
                <a:rPr lang="en-IE" sz="2000" dirty="0"/>
                <a:t> &lt;= 4)</a:t>
              </a:r>
            </a:p>
            <a:p>
              <a:r>
                <a:rPr lang="en-IE" sz="2000" dirty="0"/>
                <a:t>    {</a:t>
              </a:r>
            </a:p>
            <a:p>
              <a:r>
                <a:rPr lang="en-IE" sz="2000" dirty="0"/>
                <a:t>      </a:t>
              </a:r>
              <a:r>
                <a:rPr lang="en-IE" sz="2000" dirty="0" err="1"/>
                <a:t>System.out.println</a:t>
              </a:r>
              <a:r>
                <a:rPr lang="en-IE" sz="2000" dirty="0"/>
                <a:t>("Hello World");</a:t>
              </a:r>
            </a:p>
            <a:p>
              <a:r>
                <a:rPr lang="en-IE" sz="2000" dirty="0"/>
                <a:t>      </a:t>
              </a:r>
              <a:r>
                <a:rPr lang="en-IE" sz="2000" dirty="0" err="1"/>
                <a:t>i</a:t>
              </a:r>
              <a:r>
                <a:rPr lang="en-IE" sz="2000" dirty="0"/>
                <a:t>++;</a:t>
              </a:r>
            </a:p>
            <a:p>
              <a:r>
                <a:rPr lang="en-IE" sz="2000" dirty="0"/>
                <a:t>    }</a:t>
              </a: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3D6FE69-6856-8C3C-5E56-A513EBA15B50}"/>
                </a:ext>
              </a:extLst>
            </p:cNvPr>
            <p:cNvSpPr txBox="1"/>
            <p:nvPr/>
          </p:nvSpPr>
          <p:spPr>
            <a:xfrm>
              <a:off x="5486400" y="1691385"/>
              <a:ext cx="1905000" cy="369332"/>
            </a:xfrm>
            <a:prstGeom prst="rect">
              <a:avLst/>
            </a:prstGeom>
            <a:solidFill>
              <a:schemeClr val="accent6"/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/>
                <a:t>Example 1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560828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ACE859-309E-DC7D-85BB-42C91F417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2 - Loop using the counter variable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623E2C95-F1BF-4F9F-AA9D-328746FC75E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553200" y="5054600"/>
            <a:ext cx="2590800" cy="18034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56BE869-AF97-5CFF-9A0E-4E32798C64EE}"/>
              </a:ext>
            </a:extLst>
          </p:cNvPr>
          <p:cNvSpPr/>
          <p:nvPr/>
        </p:nvSpPr>
        <p:spPr>
          <a:xfrm>
            <a:off x="609600" y="1834776"/>
            <a:ext cx="5943600" cy="2819400"/>
          </a:xfrm>
          <a:prstGeom prst="rect">
            <a:avLst/>
          </a:prstGeom>
          <a:gradFill>
            <a:gsLst>
              <a:gs pos="0">
                <a:schemeClr val="accent6">
                  <a:tint val="50000"/>
                  <a:satMod val="300000"/>
                </a:schemeClr>
              </a:gs>
              <a:gs pos="35000">
                <a:schemeClr val="accent6">
                  <a:tint val="37000"/>
                  <a:satMod val="300000"/>
                </a:schemeClr>
              </a:gs>
              <a:gs pos="100000">
                <a:schemeClr val="accent6">
                  <a:tint val="15000"/>
                  <a:satMod val="350000"/>
                </a:schemeClr>
              </a:gs>
            </a:gsLst>
            <a:lin ang="162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ysClr val="windowText" lastClr="000000"/>
                </a:solidFill>
              </a:rPr>
              <a:t>int </a:t>
            </a:r>
            <a:r>
              <a:rPr lang="en-US" sz="2400" dirty="0" err="1">
                <a:solidFill>
                  <a:sysClr val="windowText" lastClr="000000"/>
                </a:solidFill>
              </a:rPr>
              <a:t>i</a:t>
            </a:r>
            <a:r>
              <a:rPr lang="en-US" sz="2400" dirty="0">
                <a:solidFill>
                  <a:sysClr val="windowText" lastClr="000000"/>
                </a:solidFill>
              </a:rPr>
              <a:t> = 1;</a:t>
            </a:r>
          </a:p>
          <a:p>
            <a:r>
              <a:rPr lang="en-US" sz="2400" dirty="0">
                <a:solidFill>
                  <a:sysClr val="windowText" lastClr="000000"/>
                </a:solidFill>
              </a:rPr>
              <a:t>        </a:t>
            </a:r>
          </a:p>
          <a:p>
            <a:r>
              <a:rPr lang="en-US" sz="2400" dirty="0">
                <a:solidFill>
                  <a:sysClr val="windowText" lastClr="000000"/>
                </a:solidFill>
              </a:rPr>
              <a:t>while (</a:t>
            </a:r>
            <a:r>
              <a:rPr lang="en-US" sz="2400" dirty="0" err="1">
                <a:solidFill>
                  <a:sysClr val="windowText" lastClr="000000"/>
                </a:solidFill>
              </a:rPr>
              <a:t>i</a:t>
            </a:r>
            <a:r>
              <a:rPr lang="en-US" sz="2400" dirty="0">
                <a:solidFill>
                  <a:sysClr val="windowText" lastClr="000000"/>
                </a:solidFill>
              </a:rPr>
              <a:t> &lt;= 6) {</a:t>
            </a:r>
          </a:p>
          <a:p>
            <a:r>
              <a:rPr lang="en-US" sz="2400" dirty="0">
                <a:solidFill>
                  <a:sysClr val="windowText" lastClr="000000"/>
                </a:solidFill>
              </a:rPr>
              <a:t>            </a:t>
            </a:r>
            <a:r>
              <a:rPr lang="en-US" sz="2400" dirty="0" err="1">
                <a:solidFill>
                  <a:sysClr val="windowText" lastClr="000000"/>
                </a:solidFill>
              </a:rPr>
              <a:t>System.out.println</a:t>
            </a:r>
            <a:r>
              <a:rPr lang="en-US" sz="2400" dirty="0">
                <a:solidFill>
                  <a:sysClr val="windowText" lastClr="000000"/>
                </a:solidFill>
              </a:rPr>
              <a:t>("Num : " +  </a:t>
            </a:r>
            <a:r>
              <a:rPr lang="en-US" sz="2400" dirty="0" err="1">
                <a:solidFill>
                  <a:sysClr val="windowText" lastClr="000000"/>
                </a:solidFill>
              </a:rPr>
              <a:t>i</a:t>
            </a:r>
            <a:r>
              <a:rPr lang="en-US" sz="2400" dirty="0">
                <a:solidFill>
                  <a:sysClr val="windowText" lastClr="000000"/>
                </a:solidFill>
              </a:rPr>
              <a:t>);</a:t>
            </a:r>
          </a:p>
          <a:p>
            <a:r>
              <a:rPr lang="en-US" sz="2400" dirty="0">
                <a:solidFill>
                  <a:sysClr val="windowText" lastClr="000000"/>
                </a:solidFill>
              </a:rPr>
              <a:t>            </a:t>
            </a:r>
            <a:r>
              <a:rPr lang="en-US" sz="2400" dirty="0" err="1">
                <a:solidFill>
                  <a:sysClr val="windowText" lastClr="000000"/>
                </a:solidFill>
              </a:rPr>
              <a:t>i</a:t>
            </a:r>
            <a:r>
              <a:rPr lang="en-US" sz="2400" dirty="0">
                <a:solidFill>
                  <a:sysClr val="windowText" lastClr="000000"/>
                </a:solidFill>
              </a:rPr>
              <a:t>++;</a:t>
            </a:r>
          </a:p>
          <a:p>
            <a:r>
              <a:rPr lang="en-US" sz="2400" dirty="0">
                <a:solidFill>
                  <a:sysClr val="windowText" lastClr="000000"/>
                </a:solidFill>
              </a:rPr>
              <a:t>  }</a:t>
            </a:r>
          </a:p>
        </p:txBody>
      </p:sp>
    </p:spTree>
    <p:extLst>
      <p:ext uri="{BB962C8B-B14F-4D97-AF65-F5344CB8AC3E}">
        <p14:creationId xmlns:p14="http://schemas.microsoft.com/office/powerpoint/2010/main" val="8963363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E" dirty="0"/>
              <a:t>Some Study Exercises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951037"/>
            <a:ext cx="8229600" cy="4525963"/>
          </a:xfrm>
        </p:spPr>
        <p:txBody>
          <a:bodyPr/>
          <a:lstStyle/>
          <a:p>
            <a:pPr marL="0" indent="0">
              <a:buNone/>
            </a:pPr>
            <a:r>
              <a:rPr lang="en-IE" dirty="0"/>
              <a:t>Example 1: </a:t>
            </a:r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Change the code so that “Hello World” is printed out 10 times. </a:t>
            </a:r>
          </a:p>
          <a:p>
            <a:pPr marL="0" indent="0">
              <a:buNone/>
            </a:pPr>
            <a:r>
              <a:rPr lang="en-IE" dirty="0"/>
              <a:t>Example 2: </a:t>
            </a:r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Change the code so that the numbers from 1 to 10 (inclusive) are printed out, one line at a time.</a:t>
            </a:r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Change the code so that the numbers from 10 to 1 are printed out. </a:t>
            </a:r>
          </a:p>
          <a:p>
            <a:pPr marL="0" indent="0">
              <a:buNone/>
            </a:pPr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5189444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Questions?</a:t>
            </a:r>
          </a:p>
        </p:txBody>
      </p:sp>
      <p:pic>
        <p:nvPicPr>
          <p:cNvPr id="3" name="Picture 2" descr="A green question mark in a circle&#10;&#10;AI-generated content may be incorrect.">
            <a:extLst>
              <a:ext uri="{FF2B5EF4-FFF2-40B4-BE49-F238E27FC236}">
                <a16:creationId xmlns:a16="http://schemas.microsoft.com/office/drawing/2014/main" id="{4DEC5EC9-CB5B-0EC8-6263-167F6A4DD4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43100" y="1600200"/>
            <a:ext cx="5257800" cy="525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3549871"/>
      </p:ext>
    </p:extLst>
  </p:cSld>
  <p:clrMapOvr>
    <a:masterClrMapping/>
  </p:clrMapOvr>
</p:sld>
</file>

<file path=ppt/theme/theme1.xml><?xml version="1.0" encoding="utf-8"?>
<a:theme xmlns:a="http://schemas.openxmlformats.org/drawingml/2006/main" name="a-processing-mouse-event-methods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og-fund-1" id="{82CCE168-77CC-814B-8A2F-8520E8A6A75D}" vid="{4B930EE9-D6E6-E64C-A928-F4FAD685DB7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b-boolean-cond</Template>
  <TotalTime>1500</TotalTime>
  <Words>714</Words>
  <Application>Microsoft Macintosh PowerPoint</Application>
  <PresentationFormat>On-screen Show (4:3)</PresentationFormat>
  <Paragraphs>138</Paragraphs>
  <Slides>15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3" baseType="lpstr">
      <vt:lpstr>Arial Unicode MS</vt:lpstr>
      <vt:lpstr>MS PGothic</vt:lpstr>
      <vt:lpstr>Arial</vt:lpstr>
      <vt:lpstr>Calibri</vt:lpstr>
      <vt:lpstr>Courier New</vt:lpstr>
      <vt:lpstr>Times New Roman</vt:lpstr>
      <vt:lpstr>Trebuchet MS</vt:lpstr>
      <vt:lpstr>a-processing-mouse-event-methods</vt:lpstr>
      <vt:lpstr>Iteration in Programming</vt:lpstr>
      <vt:lpstr>Topics list</vt:lpstr>
      <vt:lpstr>Recap: Boolean conditions</vt:lpstr>
      <vt:lpstr>Repetition in Programming</vt:lpstr>
      <vt:lpstr>Repetition without loop</vt:lpstr>
      <vt:lpstr>Introducing loop form</vt:lpstr>
      <vt:lpstr>Introducing loop form</vt:lpstr>
      <vt:lpstr>Topics list</vt:lpstr>
      <vt:lpstr>Loops in Programming</vt:lpstr>
      <vt:lpstr>while loop pseudo code</vt:lpstr>
      <vt:lpstr>Construction of while loop</vt:lpstr>
      <vt:lpstr>while loop Flowchart  </vt:lpstr>
      <vt:lpstr>Example 2 - Loop using the counter variable</vt:lpstr>
      <vt:lpstr>Some Study Exercises </vt:lpstr>
      <vt:lpstr>Questions?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Iteration with the While loop</dc:title>
  <dc:creator>Siobhan Drohan</dc:creator>
  <cp:lastModifiedBy>Mairead Meagher</cp:lastModifiedBy>
  <cp:revision>143</cp:revision>
  <dcterms:created xsi:type="dcterms:W3CDTF">2006-08-16T00:00:00Z</dcterms:created>
  <dcterms:modified xsi:type="dcterms:W3CDTF">2025-10-07T18:09:36Z</dcterms:modified>
</cp:coreProperties>
</file>