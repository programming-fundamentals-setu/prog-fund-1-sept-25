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363" r:id="rId4"/>
    <p:sldId id="372" r:id="rId5"/>
    <p:sldId id="370" r:id="rId6"/>
    <p:sldId id="373" r:id="rId7"/>
    <p:sldId id="394" r:id="rId8"/>
    <p:sldId id="364" r:id="rId9"/>
    <p:sldId id="382" r:id="rId10"/>
    <p:sldId id="383" r:id="rId11"/>
    <p:sldId id="384" r:id="rId12"/>
    <p:sldId id="386" r:id="rId13"/>
    <p:sldId id="395" r:id="rId14"/>
    <p:sldId id="387" r:id="rId15"/>
    <p:sldId id="390" r:id="rId16"/>
    <p:sldId id="393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4" autoAdjust="0"/>
    <p:restoredTop sz="80432" autoAdjust="0"/>
  </p:normalViewPr>
  <p:slideViewPr>
    <p:cSldViewPr>
      <p:cViewPr varScale="1">
        <p:scale>
          <a:sx n="95" d="100"/>
          <a:sy n="95" d="100"/>
        </p:scale>
        <p:origin x="13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07/10/2025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73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73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762EAF62-C546-4744-BC24-2CCA716ACD46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28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70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We add 20 because its 10 for the height</a:t>
            </a:r>
            <a:r>
              <a:rPr lang="en-US" altLang="en-US" baseline="0" dirty="0"/>
              <a:t> of the rectangle +10 for the gap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0126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D00790-568A-44AB-A948-643E31985A48}" type="slidenum">
              <a:rPr lang="en-GB"/>
              <a:pPr/>
              <a:t>9</a:t>
            </a:fld>
            <a:endParaRPr lang="en-GB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62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614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96C53C0E-6DE2-48FF-AFC8-5B6F7D1351EB}" type="slidenum">
              <a:rPr lang="en-GB" altLang="en-US"/>
              <a:pPr/>
              <a:t>10</a:t>
            </a:fld>
            <a:endParaRPr lang="en-GB" altLang="en-US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“update the LCV” should always update it so that the Boolean condition will eventually evaluation to false. </a:t>
            </a:r>
          </a:p>
        </p:txBody>
      </p:sp>
    </p:spTree>
    <p:extLst>
      <p:ext uri="{BB962C8B-B14F-4D97-AF65-F5344CB8AC3E}">
        <p14:creationId xmlns:p14="http://schemas.microsoft.com/office/powerpoint/2010/main" val="3967997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206F4-4E20-479E-ABC0-0EB3661565C0}" type="slidenum">
              <a:rPr lang="en-GB"/>
              <a:pPr/>
              <a:t>11</a:t>
            </a:fld>
            <a:endParaRPr lang="en-GB"/>
          </a:p>
        </p:txBody>
      </p:sp>
      <p:sp>
        <p:nvSpPr>
          <p:cNvPr id="160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77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040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6402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60;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 &lt;= 120)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i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 += 20;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8023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71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4B6887-E166-F3DB-E99B-F51B63F48DD3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79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6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A5B5BA-0C0C-7731-B7A3-EE404FC8AD5C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54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21609A-4065-CDBE-386A-95C6F0DE5065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257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AA70D1-6728-4FFD-9673-39A194FB13F8}"/>
              </a:ext>
            </a:extLst>
          </p:cNvPr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27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0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62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3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4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32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89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647700" y="2286001"/>
            <a:ext cx="78486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717836" y="3657963"/>
            <a:ext cx="7600823" cy="461665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8658" y="6360984"/>
            <a:ext cx="371737" cy="492440"/>
          </a:xfrm>
          <a:prstGeom prst="rect">
            <a:avLst/>
          </a:prstGeom>
        </p:spPr>
        <p:txBody>
          <a:bodyPr/>
          <a:lstStyle>
            <a:lvl1pPr>
              <a:defRPr sz="15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593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81000"/>
            <a:ext cx="77724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9200" y="1828800"/>
            <a:ext cx="36576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5029200" y="1828800"/>
            <a:ext cx="36576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7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641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Iteration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27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651641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>
                <a:solidFill>
                  <a:schemeClr val="tx1">
                    <a:lumMod val="50000"/>
                    <a:lumOff val="50000"/>
                  </a:schemeClr>
                </a:solidFill>
              </a:rPr>
              <a:t>while loops</a:t>
            </a:r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9E9C2-B338-5912-9229-57408CC58111}"/>
              </a:ext>
            </a:extLst>
          </p:cNvPr>
          <p:cNvSpPr txBox="1"/>
          <p:nvPr/>
        </p:nvSpPr>
        <p:spPr>
          <a:xfrm>
            <a:off x="4953000" y="5892225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32F4F-B367-EF47-F2B5-1EABBC730F21}"/>
              </a:ext>
            </a:extLst>
          </p:cNvPr>
          <p:cNvSpPr txBox="1"/>
          <p:nvPr/>
        </p:nvSpPr>
        <p:spPr>
          <a:xfrm>
            <a:off x="2286000" y="3834677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C33EB9-5387-2C64-2BEB-6F444A1659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457200" y="2438400"/>
            <a:ext cx="82296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true or false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IE" sz="2800" dirty="0" err="1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mouseX</a:t>
            </a: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 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Boolean conditions can be used to control:</a:t>
            </a:r>
          </a:p>
          <a:p>
            <a:pPr lvl="1"/>
            <a:r>
              <a:rPr lang="en-IE" dirty="0"/>
              <a:t>Selection i.e. if statements and </a:t>
            </a:r>
          </a:p>
          <a:p>
            <a:pPr lvl="1"/>
            <a:r>
              <a:rPr lang="en-IE" dirty="0"/>
              <a:t>Iteration i.e. loops (we will look at these now).</a:t>
            </a:r>
          </a:p>
        </p:txBody>
      </p:sp>
    </p:spTree>
    <p:extLst>
      <p:ext uri="{BB962C8B-B14F-4D97-AF65-F5344CB8AC3E}">
        <p14:creationId xmlns:p14="http://schemas.microsoft.com/office/powerpoint/2010/main" val="417895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Repetition in Programming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000" dirty="0"/>
              <a:t>Computers are very good at repetition.</a:t>
            </a:r>
          </a:p>
          <a:p>
            <a:pPr>
              <a:lnSpc>
                <a:spcPct val="90000"/>
              </a:lnSpc>
            </a:pPr>
            <a:endParaRPr lang="en-US" altLang="en-US" sz="3000" dirty="0"/>
          </a:p>
          <a:p>
            <a:pPr>
              <a:lnSpc>
                <a:spcPct val="90000"/>
              </a:lnSpc>
            </a:pPr>
            <a:r>
              <a:rPr lang="en-US" altLang="en-US" sz="3000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for 1000 employees.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should use the same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don’t write the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times; instead you include it in a loop.</a:t>
            </a:r>
          </a:p>
        </p:txBody>
      </p:sp>
    </p:spTree>
    <p:extLst>
      <p:ext uri="{BB962C8B-B14F-4D97-AF65-F5344CB8AC3E}">
        <p14:creationId xmlns:p14="http://schemas.microsoft.com/office/powerpoint/2010/main" val="165902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Repetition without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305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Print “Hello world” to the screen 4 times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B1C59C-652F-1AFA-444D-A787046EA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847" y="5029200"/>
            <a:ext cx="2527300" cy="133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400CC-8B0D-826E-4D93-93A1281CC352}"/>
              </a:ext>
            </a:extLst>
          </p:cNvPr>
          <p:cNvSpPr/>
          <p:nvPr/>
        </p:nvSpPr>
        <p:spPr>
          <a:xfrm>
            <a:off x="1828800" y="2743200"/>
            <a:ext cx="4038600" cy="1524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   </a:t>
            </a:r>
            <a:r>
              <a:rPr lang="en-US" dirty="0" err="1">
                <a:solidFill>
                  <a:sysClr val="windowText" lastClr="000000"/>
                </a:solidFill>
              </a:rPr>
              <a:t>System.out.println</a:t>
            </a:r>
            <a:r>
              <a:rPr lang="en-US" dirty="0">
                <a:solidFill>
                  <a:sysClr val="windowText" lastClr="000000"/>
                </a:solidFill>
              </a:rPr>
              <a:t>("Hello World");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   </a:t>
            </a:r>
            <a:r>
              <a:rPr lang="en-US" dirty="0" err="1">
                <a:solidFill>
                  <a:sysClr val="windowText" lastClr="000000"/>
                </a:solidFill>
              </a:rPr>
              <a:t>System.out.println</a:t>
            </a:r>
            <a:r>
              <a:rPr lang="en-US" dirty="0">
                <a:solidFill>
                  <a:sysClr val="windowText" lastClr="000000"/>
                </a:solidFill>
              </a:rPr>
              <a:t>("Hello World");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   </a:t>
            </a:r>
            <a:r>
              <a:rPr lang="en-US" dirty="0" err="1">
                <a:solidFill>
                  <a:sysClr val="windowText" lastClr="000000"/>
                </a:solidFill>
              </a:rPr>
              <a:t>System.out.println</a:t>
            </a:r>
            <a:r>
              <a:rPr lang="en-US" dirty="0">
                <a:solidFill>
                  <a:sysClr val="windowText" lastClr="000000"/>
                </a:solidFill>
              </a:rPr>
              <a:t>("Hello World");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   </a:t>
            </a:r>
            <a:r>
              <a:rPr lang="en-US" dirty="0" err="1">
                <a:solidFill>
                  <a:sysClr val="windowText" lastClr="000000"/>
                </a:solidFill>
              </a:rPr>
              <a:t>System.out.println</a:t>
            </a:r>
            <a:r>
              <a:rPr lang="en-US" dirty="0">
                <a:solidFill>
                  <a:sysClr val="windowText" lastClr="000000"/>
                </a:solidFill>
              </a:rPr>
              <a:t>("Hello World");</a:t>
            </a:r>
          </a:p>
        </p:txBody>
      </p:sp>
    </p:spTree>
    <p:extLst>
      <p:ext uri="{BB962C8B-B14F-4D97-AF65-F5344CB8AC3E}">
        <p14:creationId xmlns:p14="http://schemas.microsoft.com/office/powerpoint/2010/main" val="101540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Introducing loop form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3058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Print “Hello world” to the screen 4 times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 a loop:</a:t>
            </a:r>
          </a:p>
          <a:p>
            <a:pPr lvl="5">
              <a:lnSpc>
                <a:spcPct val="90000"/>
              </a:lnSpc>
            </a:pPr>
            <a:endParaRPr lang="en-US" altLang="en-US" sz="1400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do this 4 times </a:t>
            </a:r>
            <a:br>
              <a:rPr lang="en-US" altLang="en-US" dirty="0"/>
            </a:br>
            <a:endParaRPr lang="en-US" altLang="en-US" sz="1100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	</a:t>
            </a:r>
          </a:p>
          <a:p>
            <a:pPr lvl="1">
              <a:lnSpc>
                <a:spcPct val="90000"/>
              </a:lnSpc>
              <a:buNone/>
            </a:pPr>
            <a:endParaRPr lang="en-IE" b="1" i="1" dirty="0">
              <a:solidFill>
                <a:srgbClr val="0070C0"/>
              </a:solidFill>
            </a:endParaRPr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B1F3C4-D0A7-4680-A82C-EF5082252A58}"/>
              </a:ext>
            </a:extLst>
          </p:cNvPr>
          <p:cNvSpPr/>
          <p:nvPr/>
        </p:nvSpPr>
        <p:spPr>
          <a:xfrm>
            <a:off x="1905000" y="3543300"/>
            <a:ext cx="3657600" cy="533400"/>
          </a:xfrm>
          <a:prstGeom prst="rect">
            <a:avLst/>
          </a:prstGeom>
          <a:gradFill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System.out.println</a:t>
            </a:r>
            <a:r>
              <a:rPr lang="en-US" dirty="0">
                <a:solidFill>
                  <a:sysClr val="windowText" lastClr="000000"/>
                </a:solidFill>
              </a:rPr>
              <a:t>("Hello World");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B452FF-FE61-4818-10C3-F846CA88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5249862"/>
            <a:ext cx="25273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457200" y="3347712"/>
            <a:ext cx="44196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715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Loops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There are three types of loop in (Java) programming:</a:t>
            </a:r>
          </a:p>
          <a:p>
            <a:endParaRPr lang="en-IE" dirty="0"/>
          </a:p>
          <a:p>
            <a:pPr lvl="1"/>
            <a:r>
              <a:rPr lang="en-IE" b="1" dirty="0"/>
              <a:t>while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for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do while</a:t>
            </a:r>
            <a:r>
              <a:rPr lang="en-IE" dirty="0"/>
              <a:t> loops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7448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 </a:t>
            </a:r>
            <a:r>
              <a:rPr lang="en-US" dirty="0"/>
              <a:t>pseudo code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514600" y="3124200"/>
            <a:ext cx="3200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dirty="0"/>
              <a:t>while(</a:t>
            </a:r>
            <a:r>
              <a:rPr lang="en-US" sz="1600" i="1" dirty="0"/>
              <a:t>loop condition</a:t>
            </a:r>
            <a:r>
              <a:rPr lang="en-US" sz="1600" dirty="0"/>
              <a:t>) {</a:t>
            </a:r>
          </a:p>
          <a:p>
            <a:r>
              <a:rPr lang="en-US" sz="1600" dirty="0"/>
              <a:t>    </a:t>
            </a:r>
            <a:r>
              <a:rPr lang="en-US" sz="1600" i="1" dirty="0"/>
              <a:t>loop body</a:t>
            </a:r>
            <a:endParaRPr lang="en-US" sz="1600" dirty="0"/>
          </a:p>
          <a:p>
            <a:r>
              <a:rPr lang="en-US" sz="1600" dirty="0"/>
              <a:t>} 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500188" y="5500688"/>
            <a:ext cx="6359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Trebuchet MS" pitchFamily="-32" charset="0"/>
              </a:rPr>
              <a:t>while we wish to continue, do the things in the loop body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5029200" y="2590800"/>
            <a:ext cx="21336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 err="1">
                <a:solidFill>
                  <a:srgbClr val="A57133"/>
                </a:solidFill>
                <a:latin typeface="Trebuchet MS" pitchFamily="-32" charset="0"/>
              </a:rPr>
              <a:t>boolean</a:t>
            </a:r>
            <a:r>
              <a:rPr lang="en-US" b="0" dirty="0">
                <a:solidFill>
                  <a:srgbClr val="A57133"/>
                </a:solidFill>
                <a:latin typeface="Trebuchet MS" pitchFamily="-32" charset="0"/>
              </a:rPr>
              <a:t> condition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4114800" y="28194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914400" y="2286000"/>
            <a:ext cx="19050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</a:rPr>
              <a:t>while</a:t>
            </a:r>
            <a:r>
              <a:rPr lang="en-US" b="0">
                <a:solidFill>
                  <a:srgbClr val="A57133"/>
                </a:solidFill>
                <a:latin typeface="Times New Roman" pitchFamily="-32" charset="0"/>
              </a:rPr>
              <a:t> </a:t>
            </a:r>
            <a:r>
              <a:rPr lang="en-US" b="0">
                <a:solidFill>
                  <a:srgbClr val="A57133"/>
                </a:solidFill>
                <a:latin typeface="Trebuchet MS" pitchFamily="-32" charset="0"/>
              </a:rPr>
              <a:t>keyword</a:t>
            </a:r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1828800" y="2743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5486400" y="3276600"/>
            <a:ext cx="29718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>
                <a:solidFill>
                  <a:srgbClr val="A57133"/>
                </a:solidFill>
                <a:latin typeface="Trebuchet MS" pitchFamily="-32" charset="0"/>
              </a:rPr>
              <a:t>Statements to be repeated</a:t>
            </a: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4495800" y="3505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2338388" y="4495800"/>
            <a:ext cx="4467225" cy="71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b="0" dirty="0">
                <a:solidFill>
                  <a:srgbClr val="A57133"/>
                </a:solidFill>
                <a:latin typeface="Trebuchet MS" pitchFamily="-32" charset="0"/>
              </a:rPr>
              <a:t>Pseudo-code expression of the actions of a while loop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2895600" y="1828800"/>
            <a:ext cx="32004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>
                <a:solidFill>
                  <a:srgbClr val="A57133"/>
                </a:solidFill>
                <a:latin typeface="Trebuchet MS" pitchFamily="-32" charset="0"/>
              </a:rPr>
              <a:t>General form of a while loop</a:t>
            </a: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762000" y="1676400"/>
            <a:ext cx="7772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762000" y="4343400"/>
            <a:ext cx="77724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E"/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 flipH="1" flipV="1">
            <a:off x="1295400" y="3124200"/>
            <a:ext cx="990600" cy="762000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477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 animBg="1"/>
      <p:bldP spid="18440" grpId="0" animBg="1"/>
      <p:bldP spid="18442" grpId="0" animBg="1"/>
      <p:bldP spid="18443" grpId="0" animBg="1"/>
      <p:bldP spid="18445" grpId="0" animBg="1"/>
      <p:bldP spid="18446" grpId="0" animBg="1"/>
      <p:bldP spid="18448" grpId="0" animBg="1"/>
      <p:bldP spid="184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Construction of while loop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37338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Declare and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dirty="0">
                <a:solidFill>
                  <a:srgbClr val="000000"/>
                </a:solidFill>
              </a:rPr>
              <a:t>do the job to be repeated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9115425" y="5842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5638800"/>
            <a:ext cx="7772400" cy="58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/>
              <a:t>This structure should </a:t>
            </a:r>
            <a:r>
              <a:rPr lang="en-US" sz="3200" u="sng" dirty="0"/>
              <a:t>always</a:t>
            </a:r>
            <a:r>
              <a:rPr lang="en-US" sz="3200" dirty="0"/>
              <a:t> be used</a:t>
            </a:r>
          </a:p>
        </p:txBody>
      </p:sp>
    </p:spTree>
    <p:extLst>
      <p:ext uri="{BB962C8B-B14F-4D97-AF65-F5344CB8AC3E}">
        <p14:creationId xmlns:p14="http://schemas.microsoft.com/office/powerpoint/2010/main" val="1544170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28" charset="0"/>
              </a:rPr>
              <a:t>while</a:t>
            </a:r>
            <a:r>
              <a:rPr lang="en-US" dirty="0"/>
              <a:t> loop Flowchart</a:t>
            </a:r>
          </a:p>
        </p:txBody>
      </p:sp>
      <p:grpSp>
        <p:nvGrpSpPr>
          <p:cNvPr id="159747" name="Group 3"/>
          <p:cNvGrpSpPr>
            <a:grpSpLocks/>
          </p:cNvGrpSpPr>
          <p:nvPr/>
        </p:nvGrpSpPr>
        <p:grpSpPr bwMode="auto">
          <a:xfrm>
            <a:off x="533400" y="1595439"/>
            <a:ext cx="3810000" cy="3967163"/>
            <a:chOff x="1968" y="1005"/>
            <a:chExt cx="2400" cy="2499"/>
          </a:xfrm>
        </p:grpSpPr>
        <p:sp>
          <p:nvSpPr>
            <p:cNvPr id="159748" name="Rectangle 4"/>
            <p:cNvSpPr>
              <a:spLocks noChangeArrowheads="1"/>
            </p:cNvSpPr>
            <p:nvPr/>
          </p:nvSpPr>
          <p:spPr bwMode="auto">
            <a:xfrm rot="2701371">
              <a:off x="2016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 sz="1800" b="0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3552" y="1968"/>
              <a:ext cx="816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59750" name="Text Box 6"/>
            <p:cNvSpPr txBox="1">
              <a:spLocks noChangeArrowheads="1"/>
            </p:cNvSpPr>
            <p:nvPr/>
          </p:nvSpPr>
          <p:spPr bwMode="auto">
            <a:xfrm>
              <a:off x="3024" y="1776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chemeClr val="tx1"/>
                  </a:solidFill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59751" name="Line 7"/>
            <p:cNvSpPr>
              <a:spLocks noChangeShapeType="1"/>
            </p:cNvSpPr>
            <p:nvPr/>
          </p:nvSpPr>
          <p:spPr bwMode="auto">
            <a:xfrm>
              <a:off x="2376" y="259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159752" name="AutoShape 8"/>
            <p:cNvCxnSpPr>
              <a:cxnSpLocks noChangeShapeType="1"/>
            </p:cNvCxnSpPr>
            <p:nvPr/>
          </p:nvCxnSpPr>
          <p:spPr bwMode="auto">
            <a:xfrm rot="10800000">
              <a:off x="2352" y="1005"/>
              <a:ext cx="1704" cy="960"/>
            </a:xfrm>
            <a:prstGeom prst="bentConnector3">
              <a:avLst>
                <a:gd name="adj1" fmla="val 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159753" name="Line 9"/>
            <p:cNvSpPr>
              <a:spLocks noChangeShapeType="1"/>
            </p:cNvSpPr>
            <p:nvPr/>
          </p:nvSpPr>
          <p:spPr bwMode="auto">
            <a:xfrm>
              <a:off x="2366" y="1008"/>
              <a:ext cx="0" cy="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754" name="Text Box 10"/>
            <p:cNvSpPr txBox="1">
              <a:spLocks noChangeArrowheads="1"/>
            </p:cNvSpPr>
            <p:nvPr/>
          </p:nvSpPr>
          <p:spPr bwMode="auto">
            <a:xfrm>
              <a:off x="196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 err="1">
                  <a:solidFill>
                    <a:schemeClr val="tx1"/>
                  </a:solidFill>
                  <a:latin typeface="Courier New" pitchFamily="28" charset="0"/>
                </a:rPr>
                <a:t>boolean</a:t>
              </a:r>
              <a:endParaRPr lang="en-US" sz="1800" b="0" dirty="0">
                <a:solidFill>
                  <a:schemeClr val="tx1"/>
                </a:solidFill>
                <a:latin typeface="Courier New" pitchFamily="28" charset="0"/>
              </a:endParaRPr>
            </a:p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159755" name="Text Box 11"/>
            <p:cNvSpPr txBox="1">
              <a:spLocks noChangeArrowheads="1"/>
            </p:cNvSpPr>
            <p:nvPr/>
          </p:nvSpPr>
          <p:spPr bwMode="auto">
            <a:xfrm>
              <a:off x="2448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chemeClr val="tx1"/>
                  </a:solidFill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 flipV="1">
              <a:off x="2928" y="21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495800" y="2438400"/>
            <a:ext cx="4495800" cy="34163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yCoordinate</a:t>
            </a:r>
            <a:r>
              <a:rPr lang="en-IE" sz="2400" dirty="0"/>
              <a:t> = 60;</a:t>
            </a:r>
          </a:p>
          <a:p>
            <a:endParaRPr lang="en-IE" sz="2400" dirty="0"/>
          </a:p>
          <a:p>
            <a:r>
              <a:rPr lang="en-IE" sz="2400" b="1" dirty="0" err="1">
                <a:solidFill>
                  <a:srgbClr val="FF0000"/>
                </a:solidFill>
              </a:rPr>
              <a:t>int</a:t>
            </a:r>
            <a:r>
              <a:rPr lang="en-IE" sz="2400" b="1" dirty="0">
                <a:solidFill>
                  <a:srgbClr val="FF0000"/>
                </a:solidFill>
              </a:rPr>
              <a:t>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= 0;    	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IE" sz="24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is the LCV</a:t>
            </a:r>
          </a:p>
          <a:p>
            <a:r>
              <a:rPr lang="en-IE" sz="2400" dirty="0"/>
              <a:t>while(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&lt; 4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rect</a:t>
            </a:r>
            <a:r>
              <a:rPr lang="en-IE" sz="2400" dirty="0"/>
              <a:t>(50, </a:t>
            </a:r>
            <a:r>
              <a:rPr lang="en-IE" sz="2400" dirty="0" err="1"/>
              <a:t>yCoordinate</a:t>
            </a:r>
            <a:r>
              <a:rPr lang="en-IE" sz="2400" dirty="0"/>
              <a:t>, 500, 10);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yCoordinate</a:t>
            </a:r>
            <a:r>
              <a:rPr lang="en-IE" sz="2400" dirty="0"/>
              <a:t> += 20;</a:t>
            </a:r>
          </a:p>
          <a:p>
            <a:r>
              <a:rPr lang="en-IE" sz="2400" dirty="0"/>
              <a:t>   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++</a:t>
            </a:r>
            <a:r>
              <a:rPr lang="en-IE" sz="2400" dirty="0"/>
              <a:t>;</a:t>
            </a:r>
          </a:p>
          <a:p>
            <a:r>
              <a:rPr lang="en-IE" sz="2400" dirty="0"/>
              <a:t>}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7010400" y="5410200"/>
            <a:ext cx="2013013" cy="109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608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4.5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154EA-15E3-473D-94E7-1034545A220F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6964" t="19853" r="44731" b="38889"/>
          <a:stretch/>
        </p:blipFill>
        <p:spPr>
          <a:xfrm>
            <a:off x="609600" y="2057400"/>
            <a:ext cx="5079200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5517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BE4202-BB30-42F3-9121-9A22F22A2FD3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6964" t="19853" r="44731" b="38889"/>
          <a:stretch/>
        </p:blipFill>
        <p:spPr>
          <a:xfrm>
            <a:off x="609600" y="2057400"/>
            <a:ext cx="5079200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4.5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0" y="1676400"/>
            <a:ext cx="3429000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b="1" dirty="0">
                <a:solidFill>
                  <a:srgbClr val="FF0000"/>
                </a:solidFill>
              </a:rPr>
              <a:t>Q: </a:t>
            </a:r>
            <a:r>
              <a:rPr lang="en-IE" sz="2800" dirty="0"/>
              <a:t>Could we remove the </a:t>
            </a:r>
            <a:r>
              <a:rPr lang="en-IE" sz="2800" b="1" dirty="0" err="1"/>
              <a:t>yCoordinate</a:t>
            </a:r>
            <a:r>
              <a:rPr lang="en-IE" sz="2800" dirty="0"/>
              <a:t> variable and rework the code to still produce the four lines using the while loop?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0" y="2057399"/>
            <a:ext cx="1568938" cy="3810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8F1D4-66B4-456E-B3C3-36392DAB0043}"/>
              </a:ext>
            </a:extLst>
          </p:cNvPr>
          <p:cNvSpPr/>
          <p:nvPr/>
        </p:nvSpPr>
        <p:spPr>
          <a:xfrm>
            <a:off x="2259623" y="4785518"/>
            <a:ext cx="1550377" cy="31234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89483-E8AD-4E01-BE7D-636CE1B8E044}"/>
              </a:ext>
            </a:extLst>
          </p:cNvPr>
          <p:cNvSpPr/>
          <p:nvPr/>
        </p:nvSpPr>
        <p:spPr>
          <a:xfrm>
            <a:off x="1066800" y="5097859"/>
            <a:ext cx="1568938" cy="31234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0126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1676400"/>
            <a:ext cx="3429000" cy="206210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b="1" dirty="0">
                <a:solidFill>
                  <a:srgbClr val="FF0000"/>
                </a:solidFill>
              </a:rPr>
              <a:t>A:</a:t>
            </a:r>
            <a:r>
              <a:rPr lang="en-IE" sz="3200" dirty="0"/>
              <a:t> Yes. Here is the solution with </a:t>
            </a:r>
            <a:r>
              <a:rPr lang="en-IE" sz="3200" i="1" dirty="0"/>
              <a:t>no</a:t>
            </a:r>
            <a:r>
              <a:rPr lang="en-IE" sz="3200" dirty="0"/>
              <a:t> </a:t>
            </a:r>
            <a:r>
              <a:rPr lang="en-IE" sz="3200" b="1" dirty="0" err="1"/>
              <a:t>yCoordinate</a:t>
            </a:r>
            <a:r>
              <a:rPr lang="en-IE" sz="3200" dirty="0"/>
              <a:t> variable.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12106-5FD7-42C1-9513-B79EED6953A4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6652" t="19676" r="57378" b="48889"/>
          <a:stretch/>
        </p:blipFill>
        <p:spPr>
          <a:xfrm>
            <a:off x="308985" y="2286000"/>
            <a:ext cx="4868430" cy="40353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B9C1681-CA99-4CE2-B7F2-26557189AB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438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48CC93-7B76-4C16-BDEF-42550E0894EE}"/>
              </a:ext>
            </a:extLst>
          </p:cNvPr>
          <p:cNvSpPr txBox="1">
            <a:spLocks/>
          </p:cNvSpPr>
          <p:nvPr/>
        </p:nvSpPr>
        <p:spPr>
          <a:xfrm>
            <a:off x="2947015" y="1633143"/>
            <a:ext cx="45720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This basic while loop, produces this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1DED4-B41A-4E2B-9131-DE340047536C}"/>
              </a:ext>
            </a:extLst>
          </p:cNvPr>
          <p:cNvSpPr/>
          <p:nvPr/>
        </p:nvSpPr>
        <p:spPr>
          <a:xfrm>
            <a:off x="152400" y="3030885"/>
            <a:ext cx="4800600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IE" sz="3200" dirty="0" err="1"/>
              <a:t>int</a:t>
            </a:r>
            <a:r>
              <a:rPr lang="en-IE" sz="3200" dirty="0"/>
              <a:t> </a:t>
            </a:r>
            <a:r>
              <a:rPr lang="en-IE" sz="3200" dirty="0" err="1"/>
              <a:t>i</a:t>
            </a:r>
            <a:r>
              <a:rPr lang="en-IE" sz="3200" dirty="0"/>
              <a:t> = 1;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while (</a:t>
            </a:r>
            <a:r>
              <a:rPr lang="en-IE" sz="3200" dirty="0" err="1"/>
              <a:t>i</a:t>
            </a:r>
            <a:r>
              <a:rPr lang="en-IE" sz="3200" dirty="0"/>
              <a:t> &lt;=5)</a:t>
            </a:r>
          </a:p>
          <a:p>
            <a:pPr lvl="1"/>
            <a:r>
              <a:rPr lang="en-IE" sz="3200" dirty="0"/>
              <a:t>  {</a:t>
            </a:r>
          </a:p>
          <a:p>
            <a:pPr lvl="1"/>
            <a:r>
              <a:rPr lang="en-IE" sz="3200" dirty="0"/>
              <a:t>    </a:t>
            </a:r>
            <a:r>
              <a:rPr lang="en-IE" sz="3200" dirty="0" err="1"/>
              <a:t>println</a:t>
            </a:r>
            <a:r>
              <a:rPr lang="en-IE" sz="3200" dirty="0"/>
              <a:t>("Hello World");</a:t>
            </a:r>
          </a:p>
          <a:p>
            <a:pPr lvl="1"/>
            <a:r>
              <a:rPr lang="en-IE" sz="3200" dirty="0"/>
              <a:t>    </a:t>
            </a:r>
            <a:r>
              <a:rPr lang="en-IE" sz="3200" dirty="0" err="1"/>
              <a:t>i</a:t>
            </a:r>
            <a:r>
              <a:rPr lang="en-IE" sz="3200" dirty="0"/>
              <a:t>++;</a:t>
            </a:r>
          </a:p>
          <a:p>
            <a:pPr lvl="1"/>
            <a:r>
              <a:rPr lang="en-IE" sz="3200" dirty="0"/>
              <a:t> 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0A57B-33E4-4A35-92CE-914468E73391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l="-1" t="75555" r="75887" b="5556"/>
          <a:stretch/>
        </p:blipFill>
        <p:spPr>
          <a:xfrm>
            <a:off x="6096000" y="3838838"/>
            <a:ext cx="2846031" cy="192352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718ADE5-6291-4684-8C1F-1B57D1E1A5F4}"/>
              </a:ext>
            </a:extLst>
          </p:cNvPr>
          <p:cNvSpPr/>
          <p:nvPr/>
        </p:nvSpPr>
        <p:spPr>
          <a:xfrm>
            <a:off x="4953000" y="4419600"/>
            <a:ext cx="1143000" cy="6858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7428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“Hello World” is printed out 10 times.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 to 10 (inclusive) are printed out, one line at a time.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10 to 1 are printed out. 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8944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-fund-1" id="{82CCE168-77CC-814B-8A2F-8520E8A6A75D}" vid="{4B930EE9-D6E6-E64C-A928-F4FAD685DB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b-boolean-cond</Template>
  <TotalTime>1434</TotalTime>
  <Words>844</Words>
  <Application>Microsoft Macintosh PowerPoint</Application>
  <PresentationFormat>On-screen Show (4:3)</PresentationFormat>
  <Paragraphs>169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 Unicode MS</vt:lpstr>
      <vt:lpstr>MS PGothic</vt:lpstr>
      <vt:lpstr>Arial</vt:lpstr>
      <vt:lpstr>Calibri</vt:lpstr>
      <vt:lpstr>Courier New</vt:lpstr>
      <vt:lpstr>Times New Roman</vt:lpstr>
      <vt:lpstr>Trebuchet MS</vt:lpstr>
      <vt:lpstr>a-processing-mouse-event-methods</vt:lpstr>
      <vt:lpstr>Iteration in Programming</vt:lpstr>
      <vt:lpstr>Topics list</vt:lpstr>
      <vt:lpstr>Recap: Boolean conditions</vt:lpstr>
      <vt:lpstr>Repetition in Programming</vt:lpstr>
      <vt:lpstr>Repetition without loop</vt:lpstr>
      <vt:lpstr>Introducing loop form</vt:lpstr>
      <vt:lpstr>Topics list</vt:lpstr>
      <vt:lpstr>Loops in Programming</vt:lpstr>
      <vt:lpstr>while loop pseudo code</vt:lpstr>
      <vt:lpstr>Construction of while loop</vt:lpstr>
      <vt:lpstr>while loop Flowchart</vt:lpstr>
      <vt:lpstr>Processing Example 4.5</vt:lpstr>
      <vt:lpstr>Processing Example 4.5</vt:lpstr>
      <vt:lpstr>Processing Example 4.6</vt:lpstr>
      <vt:lpstr>Some Study Exercises </vt:lpstr>
      <vt:lpstr>Some Study Exercises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Iteration with the While loop</dc:title>
  <dc:creator>Siobhan Drohan</dc:creator>
  <cp:lastModifiedBy>Mairead Meagher</cp:lastModifiedBy>
  <cp:revision>136</cp:revision>
  <dcterms:created xsi:type="dcterms:W3CDTF">2006-08-16T00:00:00Z</dcterms:created>
  <dcterms:modified xsi:type="dcterms:W3CDTF">2025-10-07T16:50:58Z</dcterms:modified>
</cp:coreProperties>
</file>