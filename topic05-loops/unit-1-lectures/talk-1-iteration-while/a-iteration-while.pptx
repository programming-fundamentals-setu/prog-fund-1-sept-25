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363" r:id="rId4"/>
    <p:sldId id="372" r:id="rId5"/>
    <p:sldId id="398" r:id="rId6"/>
    <p:sldId id="391" r:id="rId7"/>
    <p:sldId id="370" r:id="rId8"/>
    <p:sldId id="373" r:id="rId9"/>
    <p:sldId id="396" r:id="rId10"/>
    <p:sldId id="394" r:id="rId11"/>
    <p:sldId id="364" r:id="rId12"/>
    <p:sldId id="382" r:id="rId13"/>
    <p:sldId id="383" r:id="rId14"/>
    <p:sldId id="384" r:id="rId15"/>
    <p:sldId id="397" r:id="rId16"/>
    <p:sldId id="393" r:id="rId17"/>
    <p:sldId id="273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07" autoAdjust="0"/>
    <p:restoredTop sz="80432" autoAdjust="0"/>
  </p:normalViewPr>
  <p:slideViewPr>
    <p:cSldViewPr>
      <p:cViewPr varScale="1">
        <p:scale>
          <a:sx n="95" d="100"/>
          <a:sy n="95" d="100"/>
        </p:scale>
        <p:origin x="21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07/10/2025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73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73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762EAF62-C546-4744-BC24-2CCA716ACD46}" type="slidenum">
              <a:rPr lang="en-GB" altLang="en-US"/>
              <a:pPr/>
              <a:t>4</a:t>
            </a:fld>
            <a:endParaRPr lang="en-GB" altLang="en-US"/>
          </a:p>
        </p:txBody>
      </p:sp>
      <p:sp>
        <p:nvSpPr>
          <p:cNvPr id="57348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9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2281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5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1708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6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883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7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17087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8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We add 20 because its 10 for the height</a:t>
            </a:r>
            <a:r>
              <a:rPr lang="en-US" altLang="en-US" baseline="0" dirty="0"/>
              <a:t> of the rectangle +10 for the gap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01264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7C69B-134E-972F-65DC-A3068766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>
            <a:extLst>
              <a:ext uri="{FF2B5EF4-FFF2-40B4-BE49-F238E27FC236}">
                <a16:creationId xmlns:a16="http://schemas.microsoft.com/office/drawing/2014/main" id="{4E21B5CA-35A1-99BC-A641-FB462467C3C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>
            <a:extLst>
              <a:ext uri="{FF2B5EF4-FFF2-40B4-BE49-F238E27FC236}">
                <a16:creationId xmlns:a16="http://schemas.microsoft.com/office/drawing/2014/main" id="{5C1FC342-FF41-6E2A-BB4B-BA355610C43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>
            <a:extLst>
              <a:ext uri="{FF2B5EF4-FFF2-40B4-BE49-F238E27FC236}">
                <a16:creationId xmlns:a16="http://schemas.microsoft.com/office/drawing/2014/main" id="{D9C08008-A3C8-E2F5-4333-E25DF3D0E1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9</a:t>
            </a:fld>
            <a:endParaRPr lang="en-GB" altLang="en-US"/>
          </a:p>
        </p:txBody>
      </p:sp>
      <p:sp>
        <p:nvSpPr>
          <p:cNvPr id="58372" name="Rectangle 2">
            <a:extLst>
              <a:ext uri="{FF2B5EF4-FFF2-40B4-BE49-F238E27FC236}">
                <a16:creationId xmlns:a16="http://schemas.microsoft.com/office/drawing/2014/main" id="{4A35F14F-42D6-80F9-3082-5A41FD18FE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>
            <a:extLst>
              <a:ext uri="{FF2B5EF4-FFF2-40B4-BE49-F238E27FC236}">
                <a16:creationId xmlns:a16="http://schemas.microsoft.com/office/drawing/2014/main" id="{27700FCA-D79C-C9BE-6B49-C556627799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We add 20 because its 10 for the height</a:t>
            </a:r>
            <a:r>
              <a:rPr lang="en-US" altLang="en-US" baseline="0" dirty="0"/>
              <a:t> of the rectangle +10 for the gap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372104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D00790-568A-44AB-A948-643E31985A48}" type="slidenum">
              <a:rPr lang="en-GB"/>
              <a:pPr/>
              <a:t>12</a:t>
            </a:fld>
            <a:endParaRPr lang="en-GB"/>
          </a:p>
        </p:txBody>
      </p:sp>
      <p:sp>
        <p:nvSpPr>
          <p:cNvPr id="140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1195388" cy="2746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162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614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614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96C53C0E-6DE2-48FF-AFC8-5B6F7D1351EB}" type="slidenum">
              <a:rPr lang="en-GB" altLang="en-US"/>
              <a:pPr/>
              <a:t>13</a:t>
            </a:fld>
            <a:endParaRPr lang="en-GB" altLang="en-US"/>
          </a:p>
        </p:txBody>
      </p:sp>
      <p:sp>
        <p:nvSpPr>
          <p:cNvPr id="614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The “update the LCV” should always update it so that the Boolean condition will eventually evaluation to false. </a:t>
            </a:r>
          </a:p>
        </p:txBody>
      </p:sp>
    </p:spTree>
    <p:extLst>
      <p:ext uri="{BB962C8B-B14F-4D97-AF65-F5344CB8AC3E}">
        <p14:creationId xmlns:p14="http://schemas.microsoft.com/office/powerpoint/2010/main" val="39679978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5206F4-4E20-479E-ABC0-0EB3661565C0}" type="slidenum">
              <a:rPr lang="en-GB"/>
              <a:pPr/>
              <a:t>14</a:t>
            </a:fld>
            <a:endParaRPr lang="en-GB"/>
          </a:p>
        </p:txBody>
      </p:sp>
      <p:sp>
        <p:nvSpPr>
          <p:cNvPr id="160770" name="Rectangle 2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677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71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54B6887-E166-F3DB-E99B-F51B63F48DD3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9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061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A5B5BA-0C0C-7731-B7A3-EE404FC8AD5C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45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21609A-4065-CDBE-386A-95C6F0DE5065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6257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AA70D1-6728-4FFD-9673-39A194FB13F8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27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07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62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03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46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3322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894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647700" y="2286001"/>
            <a:ext cx="78486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717836" y="3657963"/>
            <a:ext cx="7600823" cy="461665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318658" y="6360984"/>
            <a:ext cx="371737" cy="492440"/>
          </a:xfrm>
          <a:prstGeom prst="rect">
            <a:avLst/>
          </a:prstGeom>
        </p:spPr>
        <p:txBody>
          <a:bodyPr/>
          <a:lstStyle>
            <a:lvl1pPr>
              <a:defRPr sz="15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593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381000"/>
            <a:ext cx="77724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219200" y="1828800"/>
            <a:ext cx="36576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5029200" y="1828800"/>
            <a:ext cx="36576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3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070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1641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Iteration in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27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651641" y="21336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>
                <a:solidFill>
                  <a:schemeClr val="tx1">
                    <a:lumMod val="50000"/>
                    <a:lumOff val="50000"/>
                  </a:schemeClr>
                </a:solidFill>
              </a:rPr>
              <a:t>while loops</a:t>
            </a:r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9E9C2-B338-5912-9229-57408CC58111}"/>
              </a:ext>
            </a:extLst>
          </p:cNvPr>
          <p:cNvSpPr txBox="1"/>
          <p:nvPr/>
        </p:nvSpPr>
        <p:spPr>
          <a:xfrm>
            <a:off x="4953000" y="5892225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32F4F-B367-EF47-F2B5-1EABBC730F21}"/>
              </a:ext>
            </a:extLst>
          </p:cNvPr>
          <p:cNvSpPr txBox="1"/>
          <p:nvPr/>
        </p:nvSpPr>
        <p:spPr>
          <a:xfrm>
            <a:off x="2286000" y="3834677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C33EB9-5387-2C64-2BEB-6F444A165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457200" y="2438400"/>
            <a:ext cx="82296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Boolean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true or false e.g.</a:t>
            </a:r>
          </a:p>
          <a:p>
            <a:pPr marL="0" indent="0">
              <a:buNone/>
            </a:pPr>
            <a:r>
              <a:rPr lang="en-IE" sz="2800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	</a:t>
            </a:r>
          </a:p>
          <a:p>
            <a:pPr marL="0" indent="0">
              <a:buNone/>
            </a:pPr>
            <a:endParaRPr lang="en-IE" sz="2800" dirty="0">
              <a:solidFill>
                <a:srgbClr val="FF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Boolean conditions can be used to control:</a:t>
            </a:r>
          </a:p>
          <a:p>
            <a:pPr lvl="1"/>
            <a:r>
              <a:rPr lang="en-IE" dirty="0"/>
              <a:t>Selection i.e. if statements and </a:t>
            </a:r>
          </a:p>
          <a:p>
            <a:pPr lvl="1"/>
            <a:r>
              <a:rPr lang="en-IE" dirty="0"/>
              <a:t>Iteration i.e. loops (we will look at these now).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F9D76E-1F43-422C-E4F4-269CF779AE21}"/>
              </a:ext>
            </a:extLst>
          </p:cNvPr>
          <p:cNvSpPr/>
          <p:nvPr/>
        </p:nvSpPr>
        <p:spPr>
          <a:xfrm>
            <a:off x="2133600" y="2590800"/>
            <a:ext cx="2209800" cy="609600"/>
          </a:xfrm>
          <a:prstGeom prst="rect">
            <a:avLst/>
          </a:prstGeom>
          <a:gradFill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2800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sz="2800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&gt;= 0</a:t>
            </a:r>
          </a:p>
        </p:txBody>
      </p:sp>
    </p:spTree>
    <p:extLst>
      <p:ext uri="{BB962C8B-B14F-4D97-AF65-F5344CB8AC3E}">
        <p14:creationId xmlns:p14="http://schemas.microsoft.com/office/powerpoint/2010/main" val="417895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Repetition in Programming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3000" dirty="0"/>
              <a:t>Computers are very good at repetition.</a:t>
            </a:r>
          </a:p>
          <a:p>
            <a:pPr>
              <a:lnSpc>
                <a:spcPct val="90000"/>
              </a:lnSpc>
            </a:pPr>
            <a:endParaRPr lang="en-US" altLang="en-US" sz="3000" dirty="0"/>
          </a:p>
          <a:p>
            <a:pPr>
              <a:lnSpc>
                <a:spcPct val="90000"/>
              </a:lnSpc>
            </a:pPr>
            <a:r>
              <a:rPr lang="en-US" altLang="en-US" sz="3000" dirty="0"/>
              <a:t>Example: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>
                <a:solidFill>
                  <a:srgbClr val="FF0000"/>
                </a:solidFill>
              </a:rPr>
              <a:t>calculate pay </a:t>
            </a:r>
            <a:r>
              <a:rPr lang="en-US" altLang="en-US" sz="2600" dirty="0"/>
              <a:t>for 1000 employees.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/>
              <a:t>You should use the same </a:t>
            </a:r>
            <a:r>
              <a:rPr lang="en-US" altLang="en-US" sz="2600" dirty="0">
                <a:solidFill>
                  <a:srgbClr val="FF0000"/>
                </a:solidFill>
              </a:rPr>
              <a:t>calculate pay </a:t>
            </a:r>
            <a:r>
              <a:rPr lang="en-US" altLang="en-US" sz="2600" dirty="0"/>
              <a:t>algorithm 1000 times.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/>
              <a:t>You don’t write the </a:t>
            </a:r>
            <a:r>
              <a:rPr lang="en-US" altLang="en-US" sz="2600" dirty="0">
                <a:solidFill>
                  <a:srgbClr val="FF0000"/>
                </a:solidFill>
              </a:rPr>
              <a:t>calculate pay </a:t>
            </a:r>
            <a:r>
              <a:rPr lang="en-US" altLang="en-US" sz="2600" dirty="0"/>
              <a:t>algorithm 1000 times; instead you include it in a loop.</a:t>
            </a:r>
          </a:p>
        </p:txBody>
      </p:sp>
    </p:spTree>
    <p:extLst>
      <p:ext uri="{BB962C8B-B14F-4D97-AF65-F5344CB8AC3E}">
        <p14:creationId xmlns:p14="http://schemas.microsoft.com/office/powerpoint/2010/main" val="165902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Scenario: </a:t>
            </a:r>
            <a:r>
              <a:rPr lang="en-US" dirty="0"/>
              <a:t>Checking Tickets at a Cinema</a:t>
            </a:r>
            <a:endParaRPr lang="en-US" altLang="en-US" dirty="0"/>
          </a:p>
        </p:txBody>
      </p:sp>
      <p:sp>
        <p:nvSpPr>
          <p:cNvPr id="6146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457200" y="2000251"/>
            <a:ext cx="8229600" cy="3394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Imagine you’re working at a cinema. A group of people is coming in for a movie.</a:t>
            </a:r>
            <a:br>
              <a:rPr lang="en-US" dirty="0"/>
            </a:br>
            <a:r>
              <a:rPr lang="en-US" dirty="0"/>
              <a:t>Your job is to:</a:t>
            </a:r>
          </a:p>
          <a:p>
            <a:pPr lvl="1"/>
            <a:r>
              <a:rPr lang="en-US" b="1" dirty="0"/>
              <a:t>Check each person’s ticket</a:t>
            </a:r>
            <a:r>
              <a:rPr lang="en-US" dirty="0"/>
              <a:t> as they enter.</a:t>
            </a:r>
          </a:p>
          <a:p>
            <a:pPr lvl="1"/>
            <a:r>
              <a:rPr lang="en-US" dirty="0"/>
              <a:t>Let them in if they have a valid ticket.</a:t>
            </a:r>
          </a:p>
          <a:p>
            <a:pPr lvl="1"/>
            <a:r>
              <a:rPr lang="en-US" dirty="0"/>
              <a:t>Keep a </a:t>
            </a:r>
            <a:r>
              <a:rPr lang="en-US" b="1" dirty="0"/>
              <a:t>count of how many valid tickets</a:t>
            </a:r>
            <a:r>
              <a:rPr lang="en-US" dirty="0"/>
              <a:t> you check.</a:t>
            </a:r>
          </a:p>
          <a:p>
            <a:pPr lvl="1"/>
            <a:r>
              <a:rPr lang="en-US" dirty="0"/>
              <a:t>Stop when there are </a:t>
            </a:r>
            <a:r>
              <a:rPr lang="en-US" b="1" dirty="0"/>
              <a:t>no more people in the queue (or you have reached a certain number)</a:t>
            </a:r>
            <a:r>
              <a:rPr lang="en-US" dirty="0"/>
              <a:t>.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en-US" dirty="0"/>
          </a:p>
          <a:p>
            <a:pPr lvl="2">
              <a:lnSpc>
                <a:spcPct val="90000"/>
              </a:lnSpc>
              <a:buFontTx/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282506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197" y="517501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altLang="en-US" dirty="0"/>
              <a:t>Form of loop</a:t>
            </a:r>
          </a:p>
        </p:txBody>
      </p:sp>
      <p:pic>
        <p:nvPicPr>
          <p:cNvPr id="1026" name="Picture 2" descr="Generated image">
            <a:extLst>
              <a:ext uri="{FF2B5EF4-FFF2-40B4-BE49-F238E27FC236}">
                <a16:creationId xmlns:a16="http://schemas.microsoft.com/office/drawing/2014/main" id="{80BEBC99-296C-BA29-9792-7C899A3F3C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58" t="11786" r="8625" b="-1"/>
          <a:stretch>
            <a:fillRect/>
          </a:stretch>
        </p:blipFill>
        <p:spPr bwMode="auto">
          <a:xfrm>
            <a:off x="4648204" y="2457450"/>
            <a:ext cx="4038593" cy="2994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BAB425A9-637C-10FB-04F5-EE038AE85297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457200" y="2573435"/>
          <a:ext cx="4038601" cy="25316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681344">
                  <a:extLst>
                    <a:ext uri="{9D8B030D-6E8A-4147-A177-3AD203B41FA5}">
                      <a16:colId xmlns:a16="http://schemas.microsoft.com/office/drawing/2014/main" val="3677942559"/>
                    </a:ext>
                  </a:extLst>
                </a:gridCol>
                <a:gridCol w="2357257">
                  <a:extLst>
                    <a:ext uri="{9D8B030D-6E8A-4147-A177-3AD203B41FA5}">
                      <a16:colId xmlns:a16="http://schemas.microsoft.com/office/drawing/2014/main" val="3751326937"/>
                    </a:ext>
                  </a:extLst>
                </a:gridCol>
              </a:tblGrid>
              <a:tr h="2792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300" b="1" cap="none" spc="0">
                          <a:solidFill>
                            <a:schemeClr val="tx1"/>
                          </a:solidFill>
                        </a:rPr>
                        <a:t>Real-world action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300" b="1" cap="none" spc="0" dirty="0">
                          <a:solidFill>
                            <a:schemeClr val="tx1"/>
                          </a:solidFill>
                        </a:rPr>
                        <a:t>Programming equivalent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2903306"/>
                  </a:ext>
                </a:extLst>
              </a:tr>
              <a:tr h="6656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Repeating ticket checks for each person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Loop that repeats for each input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567467"/>
                  </a:ext>
                </a:extLst>
              </a:tr>
              <a:tr h="472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300" cap="none" spc="0">
                          <a:solidFill>
                            <a:schemeClr val="tx1"/>
                          </a:solidFill>
                        </a:rPr>
                        <a:t>Queue of people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Data to process (e.g., list or unknown number of inputs)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319758"/>
                  </a:ext>
                </a:extLst>
              </a:tr>
              <a:tr h="63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 dirty="0">
                          <a:solidFill>
                            <a:schemeClr val="tx1"/>
                          </a:solidFill>
                        </a:rPr>
                        <a:t>Stop when no more people or reached a certain number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300" cap="none" spc="0">
                          <a:solidFill>
                            <a:schemeClr val="tx1"/>
                          </a:solidFill>
                        </a:rPr>
                        <a:t>Loop termination condition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4145912"/>
                  </a:ext>
                </a:extLst>
              </a:tr>
              <a:tr h="472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300" cap="none" spc="0">
                          <a:solidFill>
                            <a:schemeClr val="tx1"/>
                          </a:solidFill>
                        </a:rPr>
                        <a:t>Counting valid tickets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 dirty="0">
                          <a:solidFill>
                            <a:schemeClr val="tx1"/>
                          </a:solidFill>
                        </a:rPr>
                        <a:t>Using a counter variable inside the loop</a:t>
                      </a:r>
                    </a:p>
                  </a:txBody>
                  <a:tcPr marL="0" marR="47409" marT="23705" marB="2370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234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7026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Repetition without loop</a:t>
            </a:r>
          </a:p>
        </p:txBody>
      </p:sp>
      <p:sp>
        <p:nvSpPr>
          <p:cNvPr id="6146" name="Rectangle 5"/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3058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Print “Hello world” to the screen 4 times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B1C59C-652F-1AFA-444D-A787046EA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847" y="5029200"/>
            <a:ext cx="2527300" cy="133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400CC-8B0D-826E-4D93-93A1281CC352}"/>
              </a:ext>
            </a:extLst>
          </p:cNvPr>
          <p:cNvSpPr/>
          <p:nvPr/>
        </p:nvSpPr>
        <p:spPr>
          <a:xfrm>
            <a:off x="1828800" y="2743200"/>
            <a:ext cx="4038600" cy="15240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</p:txBody>
      </p:sp>
    </p:spTree>
    <p:extLst>
      <p:ext uri="{BB962C8B-B14F-4D97-AF65-F5344CB8AC3E}">
        <p14:creationId xmlns:p14="http://schemas.microsoft.com/office/powerpoint/2010/main" val="101540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Introducing loop form</a:t>
            </a:r>
          </a:p>
        </p:txBody>
      </p:sp>
      <p:sp>
        <p:nvSpPr>
          <p:cNvPr id="6146" name="Rectangle 5"/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305800" cy="510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Print “Hello world” to the screen 4 times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en-US" sz="2800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With a loop:</a:t>
            </a:r>
          </a:p>
          <a:p>
            <a:pPr lvl="5">
              <a:lnSpc>
                <a:spcPct val="90000"/>
              </a:lnSpc>
            </a:pPr>
            <a:endParaRPr lang="en-US" altLang="en-US" sz="1400" dirty="0"/>
          </a:p>
          <a:p>
            <a:pPr lvl="2">
              <a:lnSpc>
                <a:spcPct val="90000"/>
              </a:lnSpc>
            </a:pPr>
            <a:r>
              <a:rPr lang="en-US" altLang="en-US" dirty="0"/>
              <a:t>do this 4 times </a:t>
            </a:r>
            <a:br>
              <a:rPr lang="en-US" altLang="en-US" dirty="0"/>
            </a:br>
            <a:endParaRPr lang="en-US" altLang="en-US" sz="1100" dirty="0"/>
          </a:p>
          <a:p>
            <a:pPr lvl="1">
              <a:lnSpc>
                <a:spcPct val="90000"/>
              </a:lnSpc>
              <a:buNone/>
            </a:pPr>
            <a:r>
              <a:rPr lang="en-IE" dirty="0"/>
              <a:t>			</a:t>
            </a:r>
          </a:p>
          <a:p>
            <a:pPr lvl="1">
              <a:lnSpc>
                <a:spcPct val="90000"/>
              </a:lnSpc>
              <a:buNone/>
            </a:pPr>
            <a:endParaRPr lang="en-IE" b="1" i="1" dirty="0">
              <a:solidFill>
                <a:srgbClr val="0070C0"/>
              </a:solidFill>
            </a:endParaRPr>
          </a:p>
          <a:p>
            <a:pPr lvl="2">
              <a:lnSpc>
                <a:spcPct val="90000"/>
              </a:lnSpc>
              <a:buFontTx/>
              <a:buNone/>
            </a:pPr>
            <a:endParaRPr lang="en-US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B1F3C4-D0A7-4680-A82C-EF5082252A58}"/>
              </a:ext>
            </a:extLst>
          </p:cNvPr>
          <p:cNvSpPr/>
          <p:nvPr/>
        </p:nvSpPr>
        <p:spPr>
          <a:xfrm>
            <a:off x="1905000" y="3543300"/>
            <a:ext cx="3657600" cy="533400"/>
          </a:xfrm>
          <a:prstGeom prst="rect">
            <a:avLst/>
          </a:prstGeom>
          <a:gradFill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B452FF-FE61-4818-10C3-F846CA880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700" y="5249862"/>
            <a:ext cx="25273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8410-A913-071C-F4C8-AD62A293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E7B681B-D241-E2D2-FE84-14022459F65B}"/>
              </a:ext>
            </a:extLst>
          </p:cNvPr>
          <p:cNvSpPr txBox="1"/>
          <p:nvPr/>
        </p:nvSpPr>
        <p:spPr>
          <a:xfrm>
            <a:off x="819150" y="3108545"/>
            <a:ext cx="5372100" cy="1865126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 wrap="square" rtlCol="0">
            <a:spAutoFit/>
          </a:bodyPr>
          <a:lstStyle/>
          <a:p>
            <a:pPr lvl="1">
              <a:lnSpc>
                <a:spcPct val="90000"/>
              </a:lnSpc>
            </a:pPr>
            <a:endParaRPr lang="en-US" altLang="en-US" sz="1400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Set a counter to 1</a:t>
            </a:r>
          </a:p>
          <a:p>
            <a:pPr lvl="1">
              <a:lnSpc>
                <a:spcPct val="90000"/>
              </a:lnSpc>
            </a:pPr>
            <a:endParaRPr lang="en-US" altLang="en-US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do this while counter &lt;= 4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  increase counter by one</a:t>
            </a:r>
          </a:p>
        </p:txBody>
      </p:sp>
      <p:sp>
        <p:nvSpPr>
          <p:cNvPr id="6145" name="Rectangle 2">
            <a:extLst>
              <a:ext uri="{FF2B5EF4-FFF2-40B4-BE49-F238E27FC236}">
                <a16:creationId xmlns:a16="http://schemas.microsoft.com/office/drawing/2014/main" id="{BFA3A5C9-AC3E-2D9F-C696-3B1C8CE229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Introducing loop form</a:t>
            </a:r>
          </a:p>
        </p:txBody>
      </p:sp>
      <p:sp>
        <p:nvSpPr>
          <p:cNvPr id="6146" name="Rectangle 5">
            <a:extLst>
              <a:ext uri="{FF2B5EF4-FFF2-40B4-BE49-F238E27FC236}">
                <a16:creationId xmlns:a16="http://schemas.microsoft.com/office/drawing/2014/main" id="{A708E31E-CD7C-DD9A-9574-F6BEA98CE3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305800" cy="133350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Print “Hello world” to the screen 4 times</a:t>
            </a:r>
          </a:p>
          <a:p>
            <a:pPr>
              <a:lnSpc>
                <a:spcPct val="90000"/>
              </a:lnSpc>
            </a:pPr>
            <a:endParaRPr lang="en-US" sz="2800" dirty="0"/>
          </a:p>
          <a:p>
            <a:pPr>
              <a:lnSpc>
                <a:spcPct val="90000"/>
              </a:lnSpc>
            </a:pPr>
            <a:r>
              <a:rPr lang="en-US" sz="2800" dirty="0"/>
              <a:t>Introduce a counter</a:t>
            </a:r>
            <a:endParaRPr lang="en-I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E08C6D-A546-88FD-BF5E-063D0A6C3BE4}"/>
              </a:ext>
            </a:extLst>
          </p:cNvPr>
          <p:cNvSpPr/>
          <p:nvPr/>
        </p:nvSpPr>
        <p:spPr>
          <a:xfrm>
            <a:off x="1905000" y="4267200"/>
            <a:ext cx="3429000" cy="369608"/>
          </a:xfrm>
          <a:prstGeom prst="rect">
            <a:avLst/>
          </a:prstGeom>
          <a:gradFill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429C34-882B-D95E-2E66-B86667A95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700" y="5249862"/>
            <a:ext cx="25273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4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allAtOnce" animBg="1"/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457200" y="3347712"/>
            <a:ext cx="44196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2715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Loops in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There are three types of loop in (Java) programming:</a:t>
            </a:r>
          </a:p>
          <a:p>
            <a:endParaRPr lang="en-IE" dirty="0"/>
          </a:p>
          <a:p>
            <a:pPr lvl="1"/>
            <a:r>
              <a:rPr lang="en-IE" b="1" dirty="0"/>
              <a:t>while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for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do while</a:t>
            </a:r>
            <a:r>
              <a:rPr lang="en-IE" dirty="0"/>
              <a:t> loops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7448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 </a:t>
            </a:r>
            <a:r>
              <a:rPr lang="en-US" dirty="0"/>
              <a:t>pseudo code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2514600" y="3124200"/>
            <a:ext cx="3200400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>
              <a:spcBef>
                <a:spcPct val="50000"/>
              </a:spcBef>
            </a:pPr>
            <a:r>
              <a:rPr lang="en-US" sz="1600" dirty="0"/>
              <a:t>while(</a:t>
            </a:r>
            <a:r>
              <a:rPr lang="en-US" sz="1600" i="1" dirty="0"/>
              <a:t>loop condition</a:t>
            </a:r>
            <a:r>
              <a:rPr lang="en-US" sz="1600" dirty="0"/>
              <a:t>) {</a:t>
            </a:r>
          </a:p>
          <a:p>
            <a:r>
              <a:rPr lang="en-US" sz="1600" dirty="0"/>
              <a:t>    </a:t>
            </a:r>
            <a:r>
              <a:rPr lang="en-US" sz="1600" i="1" dirty="0"/>
              <a:t>loop body</a:t>
            </a:r>
            <a:endParaRPr lang="en-US" sz="1600" dirty="0"/>
          </a:p>
          <a:p>
            <a:r>
              <a:rPr lang="en-US" sz="1600" dirty="0"/>
              <a:t>} </a:t>
            </a:r>
          </a:p>
        </p:txBody>
      </p:sp>
      <p:sp>
        <p:nvSpPr>
          <p:cNvPr id="18437" name="Text Box 5"/>
          <p:cNvSpPr txBox="1">
            <a:spLocks noChangeArrowheads="1"/>
          </p:cNvSpPr>
          <p:nvPr/>
        </p:nvSpPr>
        <p:spPr bwMode="auto">
          <a:xfrm>
            <a:off x="1500188" y="5500688"/>
            <a:ext cx="6359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latin typeface="Trebuchet MS" pitchFamily="-32" charset="0"/>
              </a:rPr>
              <a:t>while we wish to continue, do the things in the loop body</a:t>
            </a:r>
          </a:p>
        </p:txBody>
      </p:sp>
      <p:sp>
        <p:nvSpPr>
          <p:cNvPr id="18439" name="AutoShape 7"/>
          <p:cNvSpPr>
            <a:spLocks noChangeArrowheads="1"/>
          </p:cNvSpPr>
          <p:nvPr/>
        </p:nvSpPr>
        <p:spPr bwMode="auto">
          <a:xfrm>
            <a:off x="5029200" y="2590800"/>
            <a:ext cx="21336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 err="1">
                <a:solidFill>
                  <a:srgbClr val="A57133"/>
                </a:solidFill>
                <a:latin typeface="Trebuchet MS" pitchFamily="-32" charset="0"/>
              </a:rPr>
              <a:t>boolean</a:t>
            </a:r>
            <a:r>
              <a:rPr lang="en-US" b="0" dirty="0">
                <a:solidFill>
                  <a:srgbClr val="A57133"/>
                </a:solidFill>
                <a:latin typeface="Trebuchet MS" pitchFamily="-32" charset="0"/>
              </a:rPr>
              <a:t> condition</a:t>
            </a:r>
          </a:p>
        </p:txBody>
      </p:sp>
      <p:sp>
        <p:nvSpPr>
          <p:cNvPr id="18440" name="Line 8"/>
          <p:cNvSpPr>
            <a:spLocks noChangeShapeType="1"/>
          </p:cNvSpPr>
          <p:nvPr/>
        </p:nvSpPr>
        <p:spPr bwMode="auto">
          <a:xfrm flipH="1">
            <a:off x="4114800" y="28194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2" name="AutoShape 10"/>
          <p:cNvSpPr>
            <a:spLocks noChangeArrowheads="1"/>
          </p:cNvSpPr>
          <p:nvPr/>
        </p:nvSpPr>
        <p:spPr bwMode="auto">
          <a:xfrm>
            <a:off x="914400" y="2286000"/>
            <a:ext cx="19050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>
                <a:solidFill>
                  <a:srgbClr val="A57133"/>
                </a:solidFill>
              </a:rPr>
              <a:t>while</a:t>
            </a:r>
            <a:r>
              <a:rPr lang="en-US" b="0">
                <a:solidFill>
                  <a:srgbClr val="A57133"/>
                </a:solidFill>
                <a:latin typeface="Times New Roman" pitchFamily="-32" charset="0"/>
              </a:rPr>
              <a:t> </a:t>
            </a:r>
            <a:r>
              <a:rPr lang="en-US" b="0">
                <a:solidFill>
                  <a:srgbClr val="A57133"/>
                </a:solidFill>
                <a:latin typeface="Trebuchet MS" pitchFamily="-32" charset="0"/>
              </a:rPr>
              <a:t>keyword</a:t>
            </a:r>
          </a:p>
        </p:txBody>
      </p:sp>
      <p:sp>
        <p:nvSpPr>
          <p:cNvPr id="18443" name="Line 11"/>
          <p:cNvSpPr>
            <a:spLocks noChangeShapeType="1"/>
          </p:cNvSpPr>
          <p:nvPr/>
        </p:nvSpPr>
        <p:spPr bwMode="auto">
          <a:xfrm>
            <a:off x="1828800" y="27432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5" name="AutoShape 13"/>
          <p:cNvSpPr>
            <a:spLocks noChangeArrowheads="1"/>
          </p:cNvSpPr>
          <p:nvPr/>
        </p:nvSpPr>
        <p:spPr bwMode="auto">
          <a:xfrm>
            <a:off x="5486400" y="3276600"/>
            <a:ext cx="29718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>
                <a:solidFill>
                  <a:srgbClr val="A57133"/>
                </a:solidFill>
                <a:latin typeface="Trebuchet MS" pitchFamily="-32" charset="0"/>
              </a:rPr>
              <a:t>Statements to be repeated</a:t>
            </a:r>
          </a:p>
        </p:txBody>
      </p:sp>
      <p:sp>
        <p:nvSpPr>
          <p:cNvPr id="18446" name="Line 14"/>
          <p:cNvSpPr>
            <a:spLocks noChangeShapeType="1"/>
          </p:cNvSpPr>
          <p:nvPr/>
        </p:nvSpPr>
        <p:spPr bwMode="auto">
          <a:xfrm flipH="1">
            <a:off x="4495800" y="3505200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8" name="AutoShape 16"/>
          <p:cNvSpPr>
            <a:spLocks noChangeArrowheads="1"/>
          </p:cNvSpPr>
          <p:nvPr/>
        </p:nvSpPr>
        <p:spPr bwMode="auto">
          <a:xfrm>
            <a:off x="2338388" y="4495800"/>
            <a:ext cx="4467225" cy="711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b="0" dirty="0">
                <a:solidFill>
                  <a:srgbClr val="A57133"/>
                </a:solidFill>
                <a:latin typeface="Trebuchet MS" pitchFamily="-32" charset="0"/>
              </a:rPr>
              <a:t>Pseudo-code expression of the actions of a while loop</a:t>
            </a:r>
          </a:p>
        </p:txBody>
      </p:sp>
      <p:sp>
        <p:nvSpPr>
          <p:cNvPr id="18450" name="AutoShape 18"/>
          <p:cNvSpPr>
            <a:spLocks noChangeArrowheads="1"/>
          </p:cNvSpPr>
          <p:nvPr/>
        </p:nvSpPr>
        <p:spPr bwMode="auto">
          <a:xfrm>
            <a:off x="2895600" y="1828800"/>
            <a:ext cx="3200400" cy="3810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45791" dir="2021404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>
                <a:solidFill>
                  <a:srgbClr val="A57133"/>
                </a:solidFill>
                <a:latin typeface="Trebuchet MS" pitchFamily="-32" charset="0"/>
              </a:rPr>
              <a:t>General form of a while loop</a:t>
            </a:r>
          </a:p>
        </p:txBody>
      </p:sp>
      <p:sp>
        <p:nvSpPr>
          <p:cNvPr id="18455" name="Rectangle 23"/>
          <p:cNvSpPr>
            <a:spLocks noChangeArrowheads="1"/>
          </p:cNvSpPr>
          <p:nvPr/>
        </p:nvSpPr>
        <p:spPr bwMode="auto">
          <a:xfrm>
            <a:off x="762000" y="1676400"/>
            <a:ext cx="7772400" cy="2590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  <p:sp>
        <p:nvSpPr>
          <p:cNvPr id="18456" name="Rectangle 24"/>
          <p:cNvSpPr>
            <a:spLocks noChangeArrowheads="1"/>
          </p:cNvSpPr>
          <p:nvPr/>
        </p:nvSpPr>
        <p:spPr bwMode="auto">
          <a:xfrm>
            <a:off x="762000" y="4343400"/>
            <a:ext cx="7772400" cy="1981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IE"/>
          </a:p>
        </p:txBody>
      </p:sp>
      <p:sp>
        <p:nvSpPr>
          <p:cNvPr id="18457" name="AutoShape 25"/>
          <p:cNvSpPr>
            <a:spLocks noChangeArrowheads="1"/>
          </p:cNvSpPr>
          <p:nvPr/>
        </p:nvSpPr>
        <p:spPr bwMode="auto">
          <a:xfrm flipH="1" flipV="1">
            <a:off x="1295400" y="3124200"/>
            <a:ext cx="990600" cy="762000"/>
          </a:xfrm>
          <a:prstGeom prst="curvedLeftArrow">
            <a:avLst>
              <a:gd name="adj1" fmla="val 20000"/>
              <a:gd name="adj2" fmla="val 40000"/>
              <a:gd name="adj3" fmla="val 4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4770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7" grpId="0"/>
      <p:bldP spid="18439" grpId="0" animBg="1"/>
      <p:bldP spid="18440" grpId="0" animBg="1"/>
      <p:bldP spid="18442" grpId="0" animBg="1"/>
      <p:bldP spid="18443" grpId="0" animBg="1"/>
      <p:bldP spid="18445" grpId="0" animBg="1"/>
      <p:bldP spid="18446" grpId="0" animBg="1"/>
      <p:bldP spid="18448" grpId="0" animBg="1"/>
      <p:bldP spid="1845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Construction of while loop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82000" cy="3733800"/>
          </a:xfr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Declare and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while(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r>
              <a:rPr lang="en-US" altLang="en-US" dirty="0">
                <a:solidFill>
                  <a:schemeClr val="tx1"/>
                </a:solidFill>
                <a:ea typeface="MS PGothic" pitchFamily="34" charset="-128"/>
              </a:rPr>
              <a:t>is true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)</a:t>
            </a: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{</a:t>
            </a: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</a:t>
            </a:r>
            <a:r>
              <a:rPr lang="en-US" altLang="ja-JP" dirty="0">
                <a:solidFill>
                  <a:srgbClr val="000000"/>
                </a:solidFill>
              </a:rPr>
              <a:t>do the job to be repeated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“update the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}</a:t>
            </a:r>
          </a:p>
        </p:txBody>
      </p:sp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9115425" y="5842000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endParaRPr lang="en-US" altLang="en-US"/>
          </a:p>
        </p:txBody>
      </p:sp>
      <p:sp>
        <p:nvSpPr>
          <p:cNvPr id="4" name="TextBox 3"/>
          <p:cNvSpPr txBox="1"/>
          <p:nvPr/>
        </p:nvSpPr>
        <p:spPr>
          <a:xfrm>
            <a:off x="762000" y="5638800"/>
            <a:ext cx="7772400" cy="584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200" dirty="0"/>
              <a:t>This structure should </a:t>
            </a:r>
            <a:r>
              <a:rPr lang="en-US" sz="3200" u="sng" dirty="0"/>
              <a:t>always</a:t>
            </a:r>
            <a:r>
              <a:rPr lang="en-US" sz="3200" dirty="0"/>
              <a:t> be used</a:t>
            </a:r>
          </a:p>
        </p:txBody>
      </p:sp>
    </p:spTree>
    <p:extLst>
      <p:ext uri="{BB962C8B-B14F-4D97-AF65-F5344CB8AC3E}">
        <p14:creationId xmlns:p14="http://schemas.microsoft.com/office/powerpoint/2010/main" val="1544170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itchFamily="28" charset="0"/>
              </a:rPr>
              <a:t>while</a:t>
            </a:r>
            <a:r>
              <a:rPr lang="en-US" dirty="0"/>
              <a:t> loop Flowchart  </a:t>
            </a:r>
          </a:p>
        </p:txBody>
      </p:sp>
      <p:grpSp>
        <p:nvGrpSpPr>
          <p:cNvPr id="159747" name="Group 3"/>
          <p:cNvGrpSpPr>
            <a:grpSpLocks/>
          </p:cNvGrpSpPr>
          <p:nvPr/>
        </p:nvGrpSpPr>
        <p:grpSpPr bwMode="auto">
          <a:xfrm>
            <a:off x="533400" y="1595439"/>
            <a:ext cx="3810000" cy="3967163"/>
            <a:chOff x="1968" y="1005"/>
            <a:chExt cx="2400" cy="2499"/>
          </a:xfrm>
        </p:grpSpPr>
        <p:sp>
          <p:nvSpPr>
            <p:cNvPr id="159748" name="Rectangle 4"/>
            <p:cNvSpPr>
              <a:spLocks noChangeArrowheads="1"/>
            </p:cNvSpPr>
            <p:nvPr/>
          </p:nvSpPr>
          <p:spPr bwMode="auto">
            <a:xfrm rot="2701371">
              <a:off x="2016" y="1728"/>
              <a:ext cx="720" cy="72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10800000" vert="eaVert" wrap="none" anchor="ctr"/>
            <a:lstStyle/>
            <a:p>
              <a:pPr eaLnBrk="1" hangingPunct="1"/>
              <a:endParaRPr lang="en-US" sz="1800" b="0">
                <a:solidFill>
                  <a:schemeClr val="tx1"/>
                </a:solidFill>
                <a:latin typeface="Times New Roman" pitchFamily="28" charset="0"/>
              </a:endParaRPr>
            </a:p>
          </p:txBody>
        </p:sp>
        <p:sp>
          <p:nvSpPr>
            <p:cNvPr id="159749" name="Rectangle 5"/>
            <p:cNvSpPr>
              <a:spLocks noChangeArrowheads="1"/>
            </p:cNvSpPr>
            <p:nvPr/>
          </p:nvSpPr>
          <p:spPr bwMode="auto">
            <a:xfrm>
              <a:off x="3552" y="1968"/>
              <a:ext cx="816" cy="24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eaLnBrk="1" hangingPunct="1"/>
              <a:r>
                <a:rPr lang="en-US" sz="1800" b="0" dirty="0">
                  <a:solidFill>
                    <a:schemeClr val="tx1"/>
                  </a:solidFill>
                  <a:latin typeface="Times New Roman" pitchFamily="28" charset="0"/>
                </a:rPr>
                <a:t>statement(s)</a:t>
              </a:r>
            </a:p>
          </p:txBody>
        </p:sp>
        <p:sp>
          <p:nvSpPr>
            <p:cNvPr id="159750" name="Text Box 6"/>
            <p:cNvSpPr txBox="1">
              <a:spLocks noChangeArrowheads="1"/>
            </p:cNvSpPr>
            <p:nvPr/>
          </p:nvSpPr>
          <p:spPr bwMode="auto">
            <a:xfrm>
              <a:off x="3024" y="1776"/>
              <a:ext cx="34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sz="1800" b="0">
                  <a:solidFill>
                    <a:schemeClr val="tx1"/>
                  </a:solidFill>
                  <a:latin typeface="Times New Roman" pitchFamily="28" charset="0"/>
                </a:rPr>
                <a:t>true</a:t>
              </a:r>
            </a:p>
          </p:txBody>
        </p:sp>
        <p:sp>
          <p:nvSpPr>
            <p:cNvPr id="159751" name="Line 7"/>
            <p:cNvSpPr>
              <a:spLocks noChangeShapeType="1"/>
            </p:cNvSpPr>
            <p:nvPr/>
          </p:nvSpPr>
          <p:spPr bwMode="auto">
            <a:xfrm>
              <a:off x="2376" y="2592"/>
              <a:ext cx="0" cy="9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cxnSp>
          <p:nvCxnSpPr>
            <p:cNvPr id="159752" name="AutoShape 8"/>
            <p:cNvCxnSpPr>
              <a:cxnSpLocks noChangeShapeType="1"/>
            </p:cNvCxnSpPr>
            <p:nvPr/>
          </p:nvCxnSpPr>
          <p:spPr bwMode="auto">
            <a:xfrm rot="10800000">
              <a:off x="2352" y="1005"/>
              <a:ext cx="1704" cy="960"/>
            </a:xfrm>
            <a:prstGeom prst="bentConnector3">
              <a:avLst>
                <a:gd name="adj1" fmla="val 56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</p:cxnSp>
        <p:sp>
          <p:nvSpPr>
            <p:cNvPr id="159753" name="Line 9"/>
            <p:cNvSpPr>
              <a:spLocks noChangeShapeType="1"/>
            </p:cNvSpPr>
            <p:nvPr/>
          </p:nvSpPr>
          <p:spPr bwMode="auto">
            <a:xfrm>
              <a:off x="2366" y="1008"/>
              <a:ext cx="0" cy="5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9754" name="Text Box 10"/>
            <p:cNvSpPr txBox="1">
              <a:spLocks noChangeArrowheads="1"/>
            </p:cNvSpPr>
            <p:nvPr/>
          </p:nvSpPr>
          <p:spPr bwMode="auto">
            <a:xfrm>
              <a:off x="1968" y="1884"/>
              <a:ext cx="724" cy="4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sz="1800" b="0" dirty="0" err="1">
                  <a:solidFill>
                    <a:schemeClr val="tx1"/>
                  </a:solidFill>
                  <a:latin typeface="Courier New" pitchFamily="28" charset="0"/>
                </a:rPr>
                <a:t>boolean</a:t>
              </a:r>
              <a:endParaRPr lang="en-US" sz="1800" b="0" dirty="0">
                <a:solidFill>
                  <a:schemeClr val="tx1"/>
                </a:solidFill>
                <a:latin typeface="Courier New" pitchFamily="28" charset="0"/>
              </a:endParaRPr>
            </a:p>
            <a:p>
              <a:pPr eaLnBrk="1" hangingPunct="1"/>
              <a:r>
                <a:rPr lang="en-US" sz="1800" b="0" dirty="0">
                  <a:solidFill>
                    <a:schemeClr val="tx1"/>
                  </a:solidFill>
                  <a:latin typeface="Times New Roman" pitchFamily="28" charset="0"/>
                </a:rPr>
                <a:t>condition?</a:t>
              </a:r>
            </a:p>
          </p:txBody>
        </p:sp>
        <p:sp>
          <p:nvSpPr>
            <p:cNvPr id="159755" name="Text Box 11"/>
            <p:cNvSpPr txBox="1">
              <a:spLocks noChangeArrowheads="1"/>
            </p:cNvSpPr>
            <p:nvPr/>
          </p:nvSpPr>
          <p:spPr bwMode="auto">
            <a:xfrm>
              <a:off x="2448" y="2880"/>
              <a:ext cx="3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sz="1800" b="0">
                  <a:solidFill>
                    <a:schemeClr val="tx1"/>
                  </a:solidFill>
                  <a:latin typeface="Times New Roman" pitchFamily="28" charset="0"/>
                </a:rPr>
                <a:t>false</a:t>
              </a:r>
            </a:p>
          </p:txBody>
        </p:sp>
        <p:sp>
          <p:nvSpPr>
            <p:cNvPr id="159756" name="Line 12"/>
            <p:cNvSpPr>
              <a:spLocks noChangeShapeType="1"/>
            </p:cNvSpPr>
            <p:nvPr/>
          </p:nvSpPr>
          <p:spPr bwMode="auto">
            <a:xfrm flipV="1">
              <a:off x="2928" y="2112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D12C581-C7CA-9E6C-7D2C-497F70BCD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520076"/>
            <a:ext cx="1981200" cy="1045357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626826F-3337-1477-D9BC-1B3D3013519F}"/>
              </a:ext>
            </a:extLst>
          </p:cNvPr>
          <p:cNvGrpSpPr/>
          <p:nvPr/>
        </p:nvGrpSpPr>
        <p:grpSpPr>
          <a:xfrm>
            <a:off x="4906777" y="1691385"/>
            <a:ext cx="4096870" cy="2308324"/>
            <a:chOff x="4906777" y="1691385"/>
            <a:chExt cx="4096870" cy="2308324"/>
          </a:xfrm>
        </p:grpSpPr>
        <p:sp>
          <p:nvSpPr>
            <p:cNvPr id="17" name="Text Box 15"/>
            <p:cNvSpPr txBox="1">
              <a:spLocks noChangeArrowheads="1"/>
            </p:cNvSpPr>
            <p:nvPr/>
          </p:nvSpPr>
          <p:spPr bwMode="auto">
            <a:xfrm>
              <a:off x="4906777" y="2060717"/>
              <a:ext cx="4096870" cy="193899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r>
                <a:rPr lang="en-IE" sz="2000" dirty="0"/>
                <a:t>int </a:t>
              </a:r>
              <a:r>
                <a:rPr lang="en-IE" sz="2000" dirty="0" err="1"/>
                <a:t>i</a:t>
              </a:r>
              <a:r>
                <a:rPr lang="en-IE" sz="2000" dirty="0"/>
                <a:t> = 1;</a:t>
              </a:r>
            </a:p>
            <a:p>
              <a:r>
                <a:rPr lang="en-IE" sz="2000" dirty="0"/>
                <a:t>    while (</a:t>
              </a:r>
              <a:r>
                <a:rPr lang="en-IE" sz="2000" dirty="0" err="1"/>
                <a:t>i</a:t>
              </a:r>
              <a:r>
                <a:rPr lang="en-IE" sz="2000" dirty="0"/>
                <a:t> &lt;= 4)</a:t>
              </a:r>
            </a:p>
            <a:p>
              <a:r>
                <a:rPr lang="en-IE" sz="2000" dirty="0"/>
                <a:t>    {</a:t>
              </a:r>
            </a:p>
            <a:p>
              <a:r>
                <a:rPr lang="en-IE" sz="2000" dirty="0"/>
                <a:t>      </a:t>
              </a:r>
              <a:r>
                <a:rPr lang="en-IE" sz="2000" dirty="0" err="1"/>
                <a:t>System.out.println</a:t>
              </a:r>
              <a:r>
                <a:rPr lang="en-IE" sz="2000" dirty="0"/>
                <a:t>("Hello World");</a:t>
              </a:r>
            </a:p>
            <a:p>
              <a:r>
                <a:rPr lang="en-IE" sz="2000" dirty="0"/>
                <a:t>      </a:t>
              </a:r>
              <a:r>
                <a:rPr lang="en-IE" sz="2000" dirty="0" err="1"/>
                <a:t>i</a:t>
              </a:r>
              <a:r>
                <a:rPr lang="en-IE" sz="2000" dirty="0"/>
                <a:t>++;</a:t>
              </a:r>
            </a:p>
            <a:p>
              <a:r>
                <a:rPr lang="en-IE" sz="2000" dirty="0"/>
                <a:t>    }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D6FE69-6856-8C3C-5E56-A513EBA15B50}"/>
                </a:ext>
              </a:extLst>
            </p:cNvPr>
            <p:cNvSpPr txBox="1"/>
            <p:nvPr/>
          </p:nvSpPr>
          <p:spPr>
            <a:xfrm>
              <a:off x="5486400" y="1691385"/>
              <a:ext cx="1905000" cy="369332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Example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8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CE859-309E-DC7D-85BB-42C91F41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2 - Loop using the counter variable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23E2C95-F1BF-4F9F-AA9D-328746FC75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53200" y="5054600"/>
            <a:ext cx="2590800" cy="1803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6BE869-AF97-5CFF-9A0E-4E32798C64EE}"/>
              </a:ext>
            </a:extLst>
          </p:cNvPr>
          <p:cNvSpPr/>
          <p:nvPr/>
        </p:nvSpPr>
        <p:spPr>
          <a:xfrm>
            <a:off x="609600" y="1834776"/>
            <a:ext cx="5943600" cy="281940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ysClr val="windowText" lastClr="000000"/>
                </a:solidFill>
              </a:rPr>
              <a:t>int 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 = 1;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      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while (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 &lt;= 6) {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          </a:t>
            </a:r>
            <a:r>
              <a:rPr lang="en-US" sz="2400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sz="2400" dirty="0">
                <a:solidFill>
                  <a:sysClr val="windowText" lastClr="000000"/>
                </a:solidFill>
              </a:rPr>
              <a:t>("Num : " +  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);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          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++;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896336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Some Study Exercises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51037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IE" dirty="0"/>
              <a:t>Example 1: 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“Hello World” is printed out 10 times. </a:t>
            </a:r>
          </a:p>
          <a:p>
            <a:pPr marL="0" indent="0">
              <a:buNone/>
            </a:pPr>
            <a:r>
              <a:rPr lang="en-IE" dirty="0"/>
              <a:t>Example 2: 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 to 10 (inclusive) are printed out, one line at a time.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10 to 1 are printed out. 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18944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DEC5EC9-CB5B-0EC8-6263-167F6A4DD4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1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49871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-fund-1" id="{82CCE168-77CC-814B-8A2F-8520E8A6A75D}" vid="{4B930EE9-D6E6-E64C-A928-F4FAD685DB7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b-boolean-cond</Template>
  <TotalTime>1500</TotalTime>
  <Words>879</Words>
  <Application>Microsoft Macintosh PowerPoint</Application>
  <PresentationFormat>On-screen Show (4:3)</PresentationFormat>
  <Paragraphs>161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 Unicode MS</vt:lpstr>
      <vt:lpstr>MS PGothic</vt:lpstr>
      <vt:lpstr>Arial</vt:lpstr>
      <vt:lpstr>Calibri</vt:lpstr>
      <vt:lpstr>Courier New</vt:lpstr>
      <vt:lpstr>Times New Roman</vt:lpstr>
      <vt:lpstr>Trebuchet MS</vt:lpstr>
      <vt:lpstr>a-processing-mouse-event-methods</vt:lpstr>
      <vt:lpstr>Iteration in Programming</vt:lpstr>
      <vt:lpstr>Topics list</vt:lpstr>
      <vt:lpstr>Recap: Boolean conditions</vt:lpstr>
      <vt:lpstr>Repetition in Programming</vt:lpstr>
      <vt:lpstr>Scenario: Checking Tickets at a Cinema</vt:lpstr>
      <vt:lpstr>Form of loop</vt:lpstr>
      <vt:lpstr>Repetition without loop</vt:lpstr>
      <vt:lpstr>Introducing loop form</vt:lpstr>
      <vt:lpstr>Introducing loop form</vt:lpstr>
      <vt:lpstr>Topics list</vt:lpstr>
      <vt:lpstr>Loops in Programming</vt:lpstr>
      <vt:lpstr>while loop pseudo code</vt:lpstr>
      <vt:lpstr>Construction of while loop</vt:lpstr>
      <vt:lpstr>while loop Flowchart  </vt:lpstr>
      <vt:lpstr>Example 2 - Loop using the counter variable</vt:lpstr>
      <vt:lpstr>Some Study Exercises 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Iteration with the While loop</dc:title>
  <dc:creator>Siobhan Drohan</dc:creator>
  <cp:lastModifiedBy>Mairead Meagher</cp:lastModifiedBy>
  <cp:revision>144</cp:revision>
  <dcterms:created xsi:type="dcterms:W3CDTF">2006-08-16T00:00:00Z</dcterms:created>
  <dcterms:modified xsi:type="dcterms:W3CDTF">2025-10-07T20:47:27Z</dcterms:modified>
</cp:coreProperties>
</file>