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56" r:id="rId2"/>
    <p:sldId id="257" r:id="rId3"/>
    <p:sldId id="434" r:id="rId4"/>
    <p:sldId id="391" r:id="rId5"/>
    <p:sldId id="423" r:id="rId6"/>
    <p:sldId id="392" r:id="rId7"/>
    <p:sldId id="393" r:id="rId8"/>
    <p:sldId id="426" r:id="rId9"/>
    <p:sldId id="394" r:id="rId10"/>
    <p:sldId id="395" r:id="rId11"/>
    <p:sldId id="398" r:id="rId12"/>
    <p:sldId id="399" r:id="rId13"/>
    <p:sldId id="435" r:id="rId14"/>
    <p:sldId id="401" r:id="rId15"/>
    <p:sldId id="436" r:id="rId16"/>
    <p:sldId id="430" r:id="rId17"/>
    <p:sldId id="432" r:id="rId18"/>
    <p:sldId id="437" r:id="rId19"/>
    <p:sldId id="433" r:id="rId20"/>
    <p:sldId id="273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378" autoAdjust="0"/>
    <p:restoredTop sz="80432" autoAdjust="0"/>
  </p:normalViewPr>
  <p:slideViewPr>
    <p:cSldViewPr>
      <p:cViewPr varScale="1">
        <p:scale>
          <a:sx n="95" d="100"/>
          <a:sy n="95" d="100"/>
        </p:scale>
        <p:origin x="832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C3D141-1E1C-433C-AD3A-CD56CBBB4F9F}" type="datetimeFigureOut">
              <a:rPr lang="en-IE" smtClean="0"/>
              <a:t>07/10/2025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63DB36-5273-45A5-A77C-FE9BE0779D8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34544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Objects First with Java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© David J. Barnes and Michael Kölling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7894B09-ABD4-4EEF-A962-0F0C103FC470}" type="slidenum">
              <a:rPr lang="en-GB"/>
              <a:pPr/>
              <a:t>4</a:t>
            </a:fld>
            <a:endParaRPr lang="en-GB"/>
          </a:p>
        </p:txBody>
      </p:sp>
      <p:sp>
        <p:nvSpPr>
          <p:cNvPr id="163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1195388" cy="2746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0792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sz="1200" dirty="0" err="1"/>
              <a:t>int</a:t>
            </a:r>
            <a:r>
              <a:rPr lang="en-IE" sz="1200" dirty="0"/>
              <a:t> </a:t>
            </a:r>
            <a:r>
              <a:rPr lang="en-IE" sz="1100" dirty="0"/>
              <a:t>yCoordinate</a:t>
            </a:r>
            <a:r>
              <a:rPr lang="en-IE" sz="1200" dirty="0"/>
              <a:t> = 60;</a:t>
            </a:r>
          </a:p>
          <a:p>
            <a:endParaRPr lang="en-IE" sz="1200" dirty="0"/>
          </a:p>
          <a:p>
            <a:r>
              <a:rPr lang="en-IE" sz="1200" dirty="0"/>
              <a:t>size(600, 300);</a:t>
            </a:r>
          </a:p>
          <a:p>
            <a:r>
              <a:rPr lang="en-IE" sz="1200" dirty="0"/>
              <a:t>background(102);</a:t>
            </a:r>
          </a:p>
          <a:p>
            <a:r>
              <a:rPr lang="en-IE" sz="1200" dirty="0"/>
              <a:t>fill(255);</a:t>
            </a:r>
          </a:p>
          <a:p>
            <a:r>
              <a:rPr lang="en-IE" sz="1200" dirty="0" err="1"/>
              <a:t>noStroke</a:t>
            </a:r>
            <a:r>
              <a:rPr lang="en-IE" sz="1200" dirty="0"/>
              <a:t>();</a:t>
            </a:r>
          </a:p>
          <a:p>
            <a:endParaRPr lang="en-IE" sz="1200" dirty="0"/>
          </a:p>
          <a:p>
            <a:r>
              <a:rPr lang="en-IE" sz="1200" dirty="0" err="1"/>
              <a:t>int</a:t>
            </a:r>
            <a:r>
              <a:rPr lang="en-IE" sz="1200" dirty="0"/>
              <a:t> </a:t>
            </a:r>
            <a:r>
              <a:rPr lang="en-IE" sz="1200" dirty="0" err="1"/>
              <a:t>i</a:t>
            </a:r>
            <a:r>
              <a:rPr lang="en-IE" sz="1200" dirty="0"/>
              <a:t> = 0; </a:t>
            </a:r>
          </a:p>
          <a:p>
            <a:r>
              <a:rPr lang="en-IE" sz="1200" dirty="0"/>
              <a:t>while(</a:t>
            </a:r>
            <a:r>
              <a:rPr lang="en-IE" sz="1200" dirty="0" err="1"/>
              <a:t>i</a:t>
            </a:r>
            <a:r>
              <a:rPr lang="en-IE" sz="1200" dirty="0"/>
              <a:t> &lt; 4)</a:t>
            </a:r>
          </a:p>
          <a:p>
            <a:r>
              <a:rPr lang="en-IE" sz="1200" dirty="0"/>
              <a:t>{</a:t>
            </a:r>
          </a:p>
          <a:p>
            <a:r>
              <a:rPr lang="en-IE" sz="1200" dirty="0"/>
              <a:t>    </a:t>
            </a:r>
            <a:r>
              <a:rPr lang="en-IE" sz="1200" dirty="0" err="1"/>
              <a:t>rect</a:t>
            </a:r>
            <a:r>
              <a:rPr lang="en-IE" sz="1200" dirty="0"/>
              <a:t>(50, yCoordinate, 500, 10);</a:t>
            </a:r>
          </a:p>
          <a:p>
            <a:r>
              <a:rPr lang="en-IE" sz="1200" dirty="0"/>
              <a:t>    yCoordinate += 20;</a:t>
            </a:r>
          </a:p>
          <a:p>
            <a:r>
              <a:rPr lang="en-IE" sz="1200" dirty="0"/>
              <a:t>    </a:t>
            </a:r>
            <a:r>
              <a:rPr lang="en-IE" sz="1200" dirty="0" err="1"/>
              <a:t>i</a:t>
            </a:r>
            <a:r>
              <a:rPr lang="en-IE" sz="1200" dirty="0"/>
              <a:t>++;</a:t>
            </a:r>
          </a:p>
          <a:p>
            <a:r>
              <a:rPr lang="en-IE" sz="1200" dirty="0"/>
              <a:t>}</a:t>
            </a:r>
          </a:p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5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951758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IE" sz="2400" dirty="0" err="1"/>
              <a:t>int</a:t>
            </a:r>
            <a:r>
              <a:rPr lang="en-IE" sz="2400" dirty="0"/>
              <a:t> yCoordinate = 60;</a:t>
            </a:r>
          </a:p>
          <a:p>
            <a:pPr lvl="1"/>
            <a:endParaRPr lang="en-IE" sz="2400" dirty="0"/>
          </a:p>
          <a:p>
            <a:pPr lvl="1"/>
            <a:r>
              <a:rPr lang="en-IE" sz="2400" dirty="0"/>
              <a:t>size(600, 300);</a:t>
            </a:r>
          </a:p>
          <a:p>
            <a:pPr lvl="1"/>
            <a:r>
              <a:rPr lang="en-IE" sz="2400" dirty="0"/>
              <a:t>background(102);</a:t>
            </a:r>
          </a:p>
          <a:p>
            <a:pPr lvl="1"/>
            <a:r>
              <a:rPr lang="en-IE" sz="2400" dirty="0"/>
              <a:t>fill(255);</a:t>
            </a:r>
          </a:p>
          <a:p>
            <a:pPr lvl="1"/>
            <a:r>
              <a:rPr lang="en-IE" sz="2400" dirty="0" err="1"/>
              <a:t>noStroke</a:t>
            </a:r>
            <a:r>
              <a:rPr lang="en-IE" sz="2400" dirty="0"/>
              <a:t>();</a:t>
            </a:r>
          </a:p>
          <a:p>
            <a:pPr lvl="1"/>
            <a:endParaRPr lang="en-IE" sz="2400" dirty="0"/>
          </a:p>
          <a:p>
            <a:pPr lvl="1"/>
            <a:r>
              <a:rPr lang="en-IE" sz="2400" dirty="0"/>
              <a:t>for(</a:t>
            </a:r>
            <a:r>
              <a:rPr lang="en-IE" sz="2400" dirty="0" err="1"/>
              <a:t>int</a:t>
            </a:r>
            <a:r>
              <a:rPr lang="en-IE" sz="2400" dirty="0"/>
              <a:t> </a:t>
            </a:r>
            <a:r>
              <a:rPr lang="en-IE" sz="2400" dirty="0" err="1"/>
              <a:t>i</a:t>
            </a:r>
            <a:r>
              <a:rPr lang="en-IE" sz="2400" dirty="0"/>
              <a:t> = 0; </a:t>
            </a:r>
            <a:r>
              <a:rPr lang="en-IE" sz="2400" dirty="0" err="1"/>
              <a:t>i</a:t>
            </a:r>
            <a:r>
              <a:rPr lang="en-IE" sz="2400" dirty="0"/>
              <a:t> &lt; 4; </a:t>
            </a:r>
            <a:r>
              <a:rPr lang="en-IE" sz="2400" dirty="0" err="1"/>
              <a:t>i</a:t>
            </a:r>
            <a:r>
              <a:rPr lang="en-IE" sz="2400" dirty="0"/>
              <a:t>++) </a:t>
            </a:r>
          </a:p>
          <a:p>
            <a:pPr lvl="1"/>
            <a:r>
              <a:rPr lang="en-IE" sz="2400" dirty="0"/>
              <a:t>{</a:t>
            </a:r>
          </a:p>
          <a:p>
            <a:pPr lvl="1"/>
            <a:r>
              <a:rPr lang="en-IE" sz="2400" dirty="0"/>
              <a:t>    </a:t>
            </a:r>
            <a:r>
              <a:rPr lang="en-IE" sz="2400" dirty="0" err="1"/>
              <a:t>rect</a:t>
            </a:r>
            <a:r>
              <a:rPr lang="en-IE" sz="2400" dirty="0"/>
              <a:t>(50, yCoordinate, 500, 10);</a:t>
            </a:r>
          </a:p>
          <a:p>
            <a:pPr lvl="1"/>
            <a:r>
              <a:rPr lang="en-IE" sz="2400" dirty="0"/>
              <a:t>    yCoordinate = yCoordinate + 20;</a:t>
            </a:r>
          </a:p>
          <a:p>
            <a:pPr lvl="1"/>
            <a:r>
              <a:rPr lang="en-IE" sz="2400" dirty="0"/>
              <a:t>}</a:t>
            </a:r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6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9464289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7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04939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8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589235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Objects First with Java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© David J. Barnes and Michael Kölling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F438E75-D771-4949-A2DD-38DCCCFCA310}" type="slidenum">
              <a:rPr lang="en-GB"/>
              <a:pPr/>
              <a:t>10</a:t>
            </a:fld>
            <a:endParaRPr lang="en-GB"/>
          </a:p>
        </p:txBody>
      </p:sp>
      <p:sp>
        <p:nvSpPr>
          <p:cNvPr id="162818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28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IE" sz="1200" dirty="0"/>
              <a:t>for(</a:t>
            </a:r>
            <a:r>
              <a:rPr lang="en-IE" sz="1200" dirty="0" err="1"/>
              <a:t>int</a:t>
            </a:r>
            <a:r>
              <a:rPr lang="en-IE" sz="1200" dirty="0"/>
              <a:t> </a:t>
            </a:r>
            <a:r>
              <a:rPr lang="en-IE" sz="1200" dirty="0" err="1"/>
              <a:t>i</a:t>
            </a:r>
            <a:r>
              <a:rPr lang="en-IE" sz="1200" dirty="0"/>
              <a:t> = 0; </a:t>
            </a:r>
            <a:r>
              <a:rPr lang="en-IE" sz="1200" dirty="0" err="1"/>
              <a:t>i</a:t>
            </a:r>
            <a:r>
              <a:rPr lang="en-IE" sz="1200" dirty="0"/>
              <a:t> &lt; 4; </a:t>
            </a:r>
            <a:r>
              <a:rPr lang="en-IE" sz="1200" dirty="0" err="1"/>
              <a:t>i</a:t>
            </a:r>
            <a:r>
              <a:rPr lang="en-IE" sz="1200" dirty="0"/>
              <a:t>++) </a:t>
            </a:r>
          </a:p>
          <a:p>
            <a:r>
              <a:rPr lang="en-IE" sz="1200" dirty="0"/>
              <a:t>{</a:t>
            </a:r>
          </a:p>
          <a:p>
            <a:r>
              <a:rPr lang="en-IE" sz="1200" dirty="0"/>
              <a:t>    </a:t>
            </a:r>
            <a:r>
              <a:rPr lang="en-IE" sz="1200" dirty="0" err="1"/>
              <a:t>rect</a:t>
            </a:r>
            <a:r>
              <a:rPr lang="en-IE" sz="1200" dirty="0"/>
              <a:t>(50, yCoordinate, 500, 10);</a:t>
            </a:r>
          </a:p>
          <a:p>
            <a:r>
              <a:rPr lang="en-IE" sz="1200" dirty="0"/>
              <a:t>    yCoordinate = yCoordinate + 20;</a:t>
            </a:r>
          </a:p>
          <a:p>
            <a:r>
              <a:rPr lang="en-IE" sz="1200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74811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14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420465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/>
          <p:cNvSpPr>
            <a:spLocks noGrp="1" noChangeArrowheads="1"/>
          </p:cNvSpPr>
          <p:nvPr>
            <p:ph type="hdr" sz="quarter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/>
              <a:t>Objects First with Java</a:t>
            </a:r>
          </a:p>
        </p:txBody>
      </p:sp>
      <p:sp>
        <p:nvSpPr>
          <p:cNvPr id="614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/>
              <a:t>© David J. Barnes and Michael Kölling</a:t>
            </a:r>
          </a:p>
        </p:txBody>
      </p:sp>
      <p:sp>
        <p:nvSpPr>
          <p:cNvPr id="614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fld id="{96C53C0E-6DE2-48FF-AFC8-5B6F7D1351EB}" type="slidenum">
              <a:rPr lang="en-GB" altLang="en-US"/>
              <a:pPr/>
              <a:t>16</a:t>
            </a:fld>
            <a:endParaRPr lang="en-GB" altLang="en-US"/>
          </a:p>
        </p:txBody>
      </p:sp>
      <p:sp>
        <p:nvSpPr>
          <p:cNvPr id="6144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en-US" dirty="0"/>
              <a:t>The “update the LCV” should always update it so that the Boolean condition will eventually evaluation to false. </a:t>
            </a:r>
          </a:p>
        </p:txBody>
      </p:sp>
    </p:spTree>
    <p:extLst>
      <p:ext uri="{BB962C8B-B14F-4D97-AF65-F5344CB8AC3E}">
        <p14:creationId xmlns:p14="http://schemas.microsoft.com/office/powerpoint/2010/main" val="29364548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17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3752523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224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457200" y="1447800"/>
            <a:ext cx="83058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54FA624-7CFC-3CFB-8384-E3FA99B20E94}"/>
              </a:ext>
            </a:extLst>
          </p:cNvPr>
          <p:cNvCxnSpPr/>
          <p:nvPr/>
        </p:nvCxnSpPr>
        <p:spPr>
          <a:xfrm>
            <a:off x="457200" y="1447800"/>
            <a:ext cx="83058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C51F014-A304-3672-EB37-723E4843A104}"/>
              </a:ext>
            </a:extLst>
          </p:cNvPr>
          <p:cNvCxnSpPr/>
          <p:nvPr/>
        </p:nvCxnSpPr>
        <p:spPr>
          <a:xfrm>
            <a:off x="457200" y="1447800"/>
            <a:ext cx="83058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54B6887-E166-F3DB-E99B-F51B63F48DD3}"/>
              </a:ext>
            </a:extLst>
          </p:cNvPr>
          <p:cNvCxnSpPr/>
          <p:nvPr/>
        </p:nvCxnSpPr>
        <p:spPr>
          <a:xfrm>
            <a:off x="457200" y="1447800"/>
            <a:ext cx="83058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FE9957E-0411-FA20-8AEF-A7AF2DE26B64}"/>
              </a:ext>
            </a:extLst>
          </p:cNvPr>
          <p:cNvCxnSpPr/>
          <p:nvPr userDrawn="1"/>
        </p:nvCxnSpPr>
        <p:spPr>
          <a:xfrm>
            <a:off x="457200" y="1447800"/>
            <a:ext cx="83058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84684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607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457200" y="1447800"/>
            <a:ext cx="8305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2A16B-6893-A143-E832-A99D7B6427B3}"/>
              </a:ext>
            </a:extLst>
          </p:cNvPr>
          <p:cNvCxnSpPr/>
          <p:nvPr/>
        </p:nvCxnSpPr>
        <p:spPr>
          <a:xfrm>
            <a:off x="457200" y="1447800"/>
            <a:ext cx="8305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B64861E-C2E3-2C0F-0C43-CF6F042CC211}"/>
              </a:ext>
            </a:extLst>
          </p:cNvPr>
          <p:cNvCxnSpPr/>
          <p:nvPr/>
        </p:nvCxnSpPr>
        <p:spPr>
          <a:xfrm>
            <a:off x="457200" y="1447800"/>
            <a:ext cx="8305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AA5B5BA-0C0C-7731-B7A3-EE404FC8AD5C}"/>
              </a:ext>
            </a:extLst>
          </p:cNvPr>
          <p:cNvCxnSpPr/>
          <p:nvPr/>
        </p:nvCxnSpPr>
        <p:spPr>
          <a:xfrm>
            <a:off x="457200" y="1447800"/>
            <a:ext cx="8305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E9F71F3-9C40-E015-B69F-D840D6025907}"/>
              </a:ext>
            </a:extLst>
          </p:cNvPr>
          <p:cNvCxnSpPr/>
          <p:nvPr userDrawn="1"/>
        </p:nvCxnSpPr>
        <p:spPr>
          <a:xfrm>
            <a:off x="457200" y="1447800"/>
            <a:ext cx="8305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2016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457200" y="1447800"/>
            <a:ext cx="8305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3436290-11E2-F20B-966B-F18296CC48D7}"/>
              </a:ext>
            </a:extLst>
          </p:cNvPr>
          <p:cNvCxnSpPr/>
          <p:nvPr/>
        </p:nvCxnSpPr>
        <p:spPr>
          <a:xfrm>
            <a:off x="457200" y="1447800"/>
            <a:ext cx="8305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921609A-4065-CDBE-386A-95C6F0DE5065}"/>
              </a:ext>
            </a:extLst>
          </p:cNvPr>
          <p:cNvCxnSpPr/>
          <p:nvPr/>
        </p:nvCxnSpPr>
        <p:spPr>
          <a:xfrm>
            <a:off x="457200" y="1447800"/>
            <a:ext cx="8305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16F0E50-D56F-28C2-842F-81C75CD77FFE}"/>
              </a:ext>
            </a:extLst>
          </p:cNvPr>
          <p:cNvCxnSpPr/>
          <p:nvPr userDrawn="1"/>
        </p:nvCxnSpPr>
        <p:spPr>
          <a:xfrm>
            <a:off x="457200" y="1447800"/>
            <a:ext cx="8305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9366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457200" y="1447800"/>
            <a:ext cx="8305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DB4946F-2A50-46DF-D246-8E463A5B9E4E}"/>
              </a:ext>
            </a:extLst>
          </p:cNvPr>
          <p:cNvCxnSpPr/>
          <p:nvPr/>
        </p:nvCxnSpPr>
        <p:spPr>
          <a:xfrm>
            <a:off x="457200" y="1447800"/>
            <a:ext cx="8305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CF61A43-37C0-D158-13BE-1753663F3BEC}"/>
              </a:ext>
            </a:extLst>
          </p:cNvPr>
          <p:cNvCxnSpPr/>
          <p:nvPr/>
        </p:nvCxnSpPr>
        <p:spPr>
          <a:xfrm>
            <a:off x="457200" y="1447800"/>
            <a:ext cx="8305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FAA70D1-6728-4FFD-9673-39A194FB13F8}"/>
              </a:ext>
            </a:extLst>
          </p:cNvPr>
          <p:cNvCxnSpPr/>
          <p:nvPr/>
        </p:nvCxnSpPr>
        <p:spPr>
          <a:xfrm>
            <a:off x="457200" y="1447800"/>
            <a:ext cx="8305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35C5670-F903-5885-1D63-A58C74AE396D}"/>
              </a:ext>
            </a:extLst>
          </p:cNvPr>
          <p:cNvCxnSpPr/>
          <p:nvPr userDrawn="1"/>
        </p:nvCxnSpPr>
        <p:spPr>
          <a:xfrm>
            <a:off x="457200" y="1447800"/>
            <a:ext cx="8305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7609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951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124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136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868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9828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23" name="Shape 2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24" name="Shape 2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6339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Text"/>
          <p:cNvSpPr txBox="1">
            <a:spLocks noGrp="1"/>
          </p:cNvSpPr>
          <p:nvPr>
            <p:ph type="title"/>
          </p:nvPr>
        </p:nvSpPr>
        <p:spPr>
          <a:xfrm>
            <a:off x="647700" y="2286001"/>
            <a:ext cx="7848601" cy="1143001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dirty="0"/>
          </a:p>
        </p:txBody>
      </p:sp>
      <p:sp>
        <p:nvSpPr>
          <p:cNvPr id="16" name="Subtitle"/>
          <p:cNvSpPr txBox="1">
            <a:spLocks noGrp="1"/>
          </p:cNvSpPr>
          <p:nvPr>
            <p:ph type="body" sz="quarter" idx="22"/>
          </p:nvPr>
        </p:nvSpPr>
        <p:spPr>
          <a:xfrm>
            <a:off x="717836" y="3657963"/>
            <a:ext cx="7600823" cy="461665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ctr">
              <a:spcBef>
                <a:spcPts val="0"/>
              </a:spcBef>
              <a:buClrTx/>
              <a:buSzTx/>
              <a:buFontTx/>
              <a:buNone/>
              <a:defRPr>
                <a:solidFill>
                  <a:srgbClr val="2F4468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318658" y="6360984"/>
            <a:ext cx="371737" cy="492440"/>
          </a:xfrm>
          <a:prstGeom prst="rect">
            <a:avLst/>
          </a:prstGeom>
        </p:spPr>
        <p:txBody>
          <a:bodyPr/>
          <a:lstStyle>
            <a:lvl1pPr>
              <a:defRPr sz="15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231597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381000"/>
            <a:ext cx="7772400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219200" y="1828800"/>
            <a:ext cx="3657600" cy="42672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5029200" y="1828800"/>
            <a:ext cx="3657600" cy="4267200"/>
          </a:xfrm>
        </p:spPr>
        <p:txBody>
          <a:bodyPr/>
          <a:lstStyle/>
          <a:p>
            <a:pPr lvl="0"/>
            <a:r>
              <a:rPr lang="en-GB" noProof="0"/>
              <a:t>Click icon to add chart</a:t>
            </a:r>
            <a:endParaRPr lang="en-US" noProof="0"/>
          </a:p>
        </p:txBody>
      </p:sp>
      <p:sp>
        <p:nvSpPr>
          <p:cNvPr id="5" name="Rectangle 102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911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345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1641" y="914400"/>
            <a:ext cx="7772400" cy="1470025"/>
          </a:xfrm>
        </p:spPr>
        <p:txBody>
          <a:bodyPr>
            <a:normAutofit/>
          </a:bodyPr>
          <a:lstStyle/>
          <a:p>
            <a:pPr algn="l"/>
            <a:r>
              <a:rPr lang="en-IE" sz="4000" dirty="0"/>
              <a:t>Iteration in Programming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" y="3810000"/>
            <a:ext cx="1866900" cy="1066800"/>
          </a:xfrm>
        </p:spPr>
        <p:txBody>
          <a:bodyPr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Produced 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by: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727841" y="3124200"/>
            <a:ext cx="762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"/>
          <p:cNvSpPr txBox="1">
            <a:spLocks/>
          </p:cNvSpPr>
          <p:nvPr/>
        </p:nvSpPr>
        <p:spPr>
          <a:xfrm>
            <a:off x="651641" y="2133600"/>
            <a:ext cx="7772400" cy="936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E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for loops, do while loops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7B7F73-17D1-BE92-C21E-3C8679018AFC}"/>
              </a:ext>
            </a:extLst>
          </p:cNvPr>
          <p:cNvSpPr txBox="1"/>
          <p:nvPr/>
        </p:nvSpPr>
        <p:spPr>
          <a:xfrm>
            <a:off x="4953000" y="5892225"/>
            <a:ext cx="40727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600" dirty="0"/>
              <a:t>Department of Computing and Mathematics</a:t>
            </a:r>
          </a:p>
          <a:p>
            <a:r>
              <a:rPr lang="en-IE" sz="1600" dirty="0"/>
              <a:t>http://www.setu.ie/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C3CAAC-29AC-9D43-7BA2-43A91BEB13EF}"/>
              </a:ext>
            </a:extLst>
          </p:cNvPr>
          <p:cNvSpPr txBox="1"/>
          <p:nvPr/>
        </p:nvSpPr>
        <p:spPr>
          <a:xfrm>
            <a:off x="2171700" y="3768720"/>
            <a:ext cx="5562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Dr.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Siobhán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Drohan,</a:t>
            </a:r>
            <a:endParaRPr lang="en-IE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Mairead Meagher,</a:t>
            </a: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Siobhán Roche.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0624D16-DD2C-8131-FD24-58FBB16105A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242" y="5565517"/>
            <a:ext cx="2057400" cy="1153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371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Loops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E" dirty="0"/>
          </a:p>
          <a:p>
            <a:r>
              <a:rPr lang="en-IE" dirty="0"/>
              <a:t>There are three types of loop in programming:	</a:t>
            </a:r>
          </a:p>
          <a:p>
            <a:pPr lvl="1"/>
            <a:r>
              <a:rPr lang="en-IE" dirty="0"/>
              <a:t>while loops:</a:t>
            </a:r>
          </a:p>
          <a:p>
            <a:pPr lvl="2"/>
            <a:r>
              <a:rPr lang="en-US" dirty="0"/>
              <a:t>Counter controlled (n times) - </a:t>
            </a:r>
            <a:r>
              <a:rPr lang="en-IE" dirty="0"/>
              <a:t>covered in previous talk</a:t>
            </a:r>
            <a:endParaRPr lang="en-US" dirty="0"/>
          </a:p>
          <a:p>
            <a:pPr lvl="2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Sentinel based (covered later in the course)</a:t>
            </a:r>
          </a:p>
          <a:p>
            <a:pPr lvl="2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Flag based (covered later in the course) </a:t>
            </a:r>
          </a:p>
          <a:p>
            <a:pPr lvl="2"/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 lvl="1"/>
            <a:r>
              <a:rPr lang="en-IE" dirty="0"/>
              <a:t>for loops (this slide deck)</a:t>
            </a:r>
          </a:p>
          <a:p>
            <a:pPr marL="457200" lvl="1" indent="0">
              <a:buNone/>
            </a:pPr>
            <a:r>
              <a:rPr lang="en-IE" dirty="0"/>
              <a:t>	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 lvl="1"/>
            <a:r>
              <a:rPr lang="en-US" dirty="0"/>
              <a:t>do While loops (this slide deck)</a:t>
            </a:r>
            <a:r>
              <a:rPr lang="en-IE" dirty="0"/>
              <a:t>	</a:t>
            </a:r>
          </a:p>
          <a:p>
            <a:pPr marL="914400" lvl="2" indent="0">
              <a:buNone/>
            </a:pPr>
            <a:endParaRPr lang="en-IE" dirty="0"/>
          </a:p>
          <a:p>
            <a:pPr marL="457200" lvl="1" indent="0">
              <a:buNone/>
            </a:pPr>
            <a:endParaRPr lang="en-IE" dirty="0"/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635913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64A90-9D80-F5D2-E6DE-F2716517F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B44E3-4688-263B-F2C9-B40184E93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45E9B8B-7D8F-B5F3-9902-709D30C429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685800" lvl="2" indent="0">
              <a:buNone/>
            </a:pP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 marL="800100" lvl="1" indent="-457200">
              <a:buAutoNum type="arabicPeriod"/>
            </a:pPr>
            <a:r>
              <a:rPr lang="en-IE" sz="3200" dirty="0"/>
              <a:t>For loops 	</a:t>
            </a:r>
          </a:p>
          <a:p>
            <a:pPr marL="800100" lvl="1" indent="-457200">
              <a:buAutoNum type="arabicPeriod"/>
            </a:pPr>
            <a:endParaRPr lang="en-IE" sz="3200" dirty="0"/>
          </a:p>
          <a:p>
            <a:pPr marL="342900" lvl="1" indent="0">
              <a:buNone/>
            </a:pPr>
            <a:r>
              <a:rPr lang="en-IE" sz="3200" dirty="0"/>
              <a:t>2. Comparison of while and for loops</a:t>
            </a:r>
          </a:p>
          <a:p>
            <a:pPr marL="342900" lvl="1" indent="0">
              <a:buNone/>
            </a:pPr>
            <a:endParaRPr lang="en-US" sz="3200" dirty="0"/>
          </a:p>
          <a:p>
            <a:pPr marL="342900" lvl="1" indent="0">
              <a:buNone/>
            </a:pPr>
            <a:r>
              <a:rPr lang="en-US" sz="3200" dirty="0"/>
              <a:t>3. do while loops (this slide deck)</a:t>
            </a:r>
            <a:r>
              <a:rPr lang="en-IE" sz="3200" dirty="0"/>
              <a:t>	</a:t>
            </a:r>
          </a:p>
          <a:p>
            <a:pPr marL="342900" lvl="1" indent="0">
              <a:buNone/>
            </a:pPr>
            <a:endParaRPr lang="en-IE" sz="3200" dirty="0"/>
          </a:p>
          <a:p>
            <a:pPr marL="342900" lvl="1" indent="0">
              <a:buNone/>
            </a:pPr>
            <a:r>
              <a:rPr lang="en-IE" sz="3200" dirty="0"/>
              <a:t>4. Comparison of while and do while</a:t>
            </a:r>
          </a:p>
          <a:p>
            <a:pPr marL="914400" lvl="2" indent="0">
              <a:buNone/>
            </a:pPr>
            <a:endParaRPr lang="en-IE" sz="3200" dirty="0"/>
          </a:p>
          <a:p>
            <a:pPr marL="457200" lvl="1" indent="0">
              <a:buNone/>
            </a:pPr>
            <a:endParaRPr lang="en-IE" sz="3200" dirty="0"/>
          </a:p>
          <a:p>
            <a:endParaRPr lang="en-IE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943652-35B7-2CC1-A218-59409B12E681}"/>
              </a:ext>
            </a:extLst>
          </p:cNvPr>
          <p:cNvSpPr/>
          <p:nvPr/>
        </p:nvSpPr>
        <p:spPr>
          <a:xfrm>
            <a:off x="609600" y="1981200"/>
            <a:ext cx="2971800" cy="5334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21174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loop pseudo-code</a:t>
            </a:r>
          </a:p>
        </p:txBody>
      </p:sp>
      <p:sp>
        <p:nvSpPr>
          <p:cNvPr id="31748" name="Text Box 4"/>
          <p:cNvSpPr txBox="1">
            <a:spLocks noChangeArrowheads="1"/>
          </p:cNvSpPr>
          <p:nvPr/>
        </p:nvSpPr>
        <p:spPr bwMode="auto">
          <a:xfrm>
            <a:off x="1066800" y="3124200"/>
            <a:ext cx="6971332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dirty="0"/>
              <a:t>for(</a:t>
            </a:r>
            <a:r>
              <a:rPr lang="en-US" sz="2400" i="1" dirty="0">
                <a:solidFill>
                  <a:srgbClr val="FF0000"/>
                </a:solidFill>
              </a:rPr>
              <a:t>initialization</a:t>
            </a:r>
            <a:r>
              <a:rPr lang="en-US" sz="2400" dirty="0"/>
              <a:t>; </a:t>
            </a:r>
            <a:r>
              <a:rPr lang="en-US" sz="2400" i="1" dirty="0" err="1">
                <a:solidFill>
                  <a:srgbClr val="00B050"/>
                </a:solidFill>
              </a:rPr>
              <a:t>boolean</a:t>
            </a:r>
            <a:r>
              <a:rPr lang="en-US" sz="2400" i="1" dirty="0">
                <a:solidFill>
                  <a:srgbClr val="00B050"/>
                </a:solidFill>
              </a:rPr>
              <a:t> condition</a:t>
            </a:r>
            <a:r>
              <a:rPr lang="en-US" sz="2400" dirty="0"/>
              <a:t>; </a:t>
            </a:r>
            <a:r>
              <a:rPr lang="en-US" sz="2400" i="1" dirty="0">
                <a:solidFill>
                  <a:srgbClr val="0070C0"/>
                </a:solidFill>
              </a:rPr>
              <a:t>post-body action</a:t>
            </a:r>
            <a:r>
              <a:rPr lang="en-US" sz="2400" dirty="0"/>
              <a:t>) </a:t>
            </a:r>
          </a:p>
          <a:p>
            <a:r>
              <a:rPr lang="en-US" sz="2400" dirty="0"/>
              <a:t>{</a:t>
            </a:r>
          </a:p>
          <a:p>
            <a:r>
              <a:rPr lang="en-US" sz="2400" dirty="0"/>
              <a:t>      </a:t>
            </a:r>
            <a:r>
              <a:rPr lang="en-US" sz="2400" i="1" dirty="0"/>
              <a:t>statements to be repeated</a:t>
            </a:r>
            <a:endParaRPr lang="en-US" sz="2400" dirty="0"/>
          </a:p>
          <a:p>
            <a:r>
              <a:rPr lang="en-US" sz="2400" dirty="0"/>
              <a:t>}</a:t>
            </a:r>
          </a:p>
        </p:txBody>
      </p:sp>
      <p:sp>
        <p:nvSpPr>
          <p:cNvPr id="31749" name="AutoShape 5"/>
          <p:cNvSpPr>
            <a:spLocks noChangeArrowheads="1"/>
          </p:cNvSpPr>
          <p:nvPr/>
        </p:nvSpPr>
        <p:spPr bwMode="auto">
          <a:xfrm>
            <a:off x="3048000" y="2590800"/>
            <a:ext cx="2930525" cy="407988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>
                    <a:alpha val="50000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b="0">
                <a:solidFill>
                  <a:srgbClr val="A57133"/>
                </a:solidFill>
                <a:latin typeface="Trebuchet MS" pitchFamily="-32" charset="0"/>
              </a:rPr>
              <a:t>General form of a for loop</a:t>
            </a:r>
          </a:p>
        </p:txBody>
      </p:sp>
      <p:sp>
        <p:nvSpPr>
          <p:cNvPr id="31754" name="Rectangle 10"/>
          <p:cNvSpPr>
            <a:spLocks noChangeArrowheads="1"/>
          </p:cNvSpPr>
          <p:nvPr/>
        </p:nvSpPr>
        <p:spPr bwMode="auto">
          <a:xfrm>
            <a:off x="533400" y="2209800"/>
            <a:ext cx="8153400" cy="286232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en-IE" dirty="0"/>
          </a:p>
          <a:p>
            <a:endParaRPr lang="en-IE" dirty="0"/>
          </a:p>
          <a:p>
            <a:endParaRPr lang="en-IE" dirty="0"/>
          </a:p>
          <a:p>
            <a:endParaRPr lang="en-IE" dirty="0"/>
          </a:p>
          <a:p>
            <a:endParaRPr lang="en-IE" dirty="0"/>
          </a:p>
          <a:p>
            <a:endParaRPr lang="en-IE" dirty="0"/>
          </a:p>
          <a:p>
            <a:endParaRPr lang="en-IE" dirty="0"/>
          </a:p>
          <a:p>
            <a:endParaRPr lang="en-IE" dirty="0"/>
          </a:p>
          <a:p>
            <a:endParaRPr lang="en-IE" dirty="0"/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3369550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Recap: Loop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0" y="1676400"/>
            <a:ext cx="3429000" cy="267765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800" dirty="0">
                <a:solidFill>
                  <a:schemeClr val="tx1"/>
                </a:solidFill>
              </a:rPr>
              <a:t>This was a slide from the previous talk.  We used a while loop to repeatedly print “Hello World” to the console.</a:t>
            </a:r>
          </a:p>
        </p:txBody>
      </p:sp>
      <p:sp>
        <p:nvSpPr>
          <p:cNvPr id="4" name="Text Box 15">
            <a:extLst>
              <a:ext uri="{FF2B5EF4-FFF2-40B4-BE49-F238E27FC236}">
                <a16:creationId xmlns:a16="http://schemas.microsoft.com/office/drawing/2014/main" id="{F8388A1B-2772-7185-AC1C-9BFE4BC3DF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2459504"/>
            <a:ext cx="4096870" cy="1938992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r>
              <a:rPr lang="en-IE" sz="2000" dirty="0"/>
              <a:t>int </a:t>
            </a:r>
            <a:r>
              <a:rPr lang="en-IE" sz="2000" dirty="0" err="1"/>
              <a:t>i</a:t>
            </a:r>
            <a:r>
              <a:rPr lang="en-IE" sz="2000" dirty="0"/>
              <a:t> = 1;</a:t>
            </a:r>
          </a:p>
          <a:p>
            <a:r>
              <a:rPr lang="en-IE" sz="2000" dirty="0"/>
              <a:t>    while (</a:t>
            </a:r>
            <a:r>
              <a:rPr lang="en-IE" sz="2000" dirty="0" err="1"/>
              <a:t>i</a:t>
            </a:r>
            <a:r>
              <a:rPr lang="en-IE" sz="2000" dirty="0"/>
              <a:t> &lt;= 4)</a:t>
            </a:r>
          </a:p>
          <a:p>
            <a:r>
              <a:rPr lang="en-IE" sz="2000" dirty="0"/>
              <a:t>    {</a:t>
            </a:r>
          </a:p>
          <a:p>
            <a:r>
              <a:rPr lang="en-IE" sz="2000" dirty="0"/>
              <a:t>      </a:t>
            </a:r>
            <a:r>
              <a:rPr lang="en-IE" sz="2000" dirty="0" err="1"/>
              <a:t>System.out.println</a:t>
            </a:r>
            <a:r>
              <a:rPr lang="en-IE" sz="2000" dirty="0"/>
              <a:t>("Hello World");</a:t>
            </a:r>
          </a:p>
          <a:p>
            <a:r>
              <a:rPr lang="en-IE" sz="2000" dirty="0"/>
              <a:t>      </a:t>
            </a:r>
            <a:r>
              <a:rPr lang="en-IE" sz="2000" dirty="0" err="1"/>
              <a:t>i</a:t>
            </a:r>
            <a:r>
              <a:rPr lang="en-IE" sz="2000" dirty="0"/>
              <a:t>++;</a:t>
            </a:r>
          </a:p>
          <a:p>
            <a:r>
              <a:rPr lang="en-IE" sz="2000" dirty="0"/>
              <a:t>    }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D92743-8CFC-AB94-1BB2-A21AD3968C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7056" y="4953000"/>
            <a:ext cx="3055944" cy="1612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517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For loop – Example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161FD3-51BD-48A5-856E-03210FDF5633}"/>
              </a:ext>
            </a:extLst>
          </p:cNvPr>
          <p:cNvSpPr txBox="1"/>
          <p:nvPr/>
        </p:nvSpPr>
        <p:spPr>
          <a:xfrm>
            <a:off x="304800" y="3810000"/>
            <a:ext cx="6282691" cy="138499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800" dirty="0">
                <a:solidFill>
                  <a:schemeClr val="tx1"/>
                </a:solidFill>
              </a:rPr>
              <a:t>This code does the same as the previous slide, except that we use a different loop:  </a:t>
            </a:r>
            <a:r>
              <a:rPr lang="en-IE" sz="2800" b="1" dirty="0">
                <a:solidFill>
                  <a:srgbClr val="C00000"/>
                </a:solidFill>
              </a:rPr>
              <a:t>for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3E4C56-2F0B-7E42-83F6-04CB316D441A}"/>
              </a:ext>
            </a:extLst>
          </p:cNvPr>
          <p:cNvSpPr/>
          <p:nvPr/>
        </p:nvSpPr>
        <p:spPr>
          <a:xfrm>
            <a:off x="228600" y="1905000"/>
            <a:ext cx="6282691" cy="1676400"/>
          </a:xfrm>
          <a:prstGeom prst="rect">
            <a:avLst/>
          </a:prstGeom>
          <a:gradFill>
            <a:gsLst>
              <a:gs pos="0">
                <a:schemeClr val="accent6">
                  <a:tint val="50000"/>
                  <a:satMod val="300000"/>
                </a:schemeClr>
              </a:gs>
              <a:gs pos="35000">
                <a:schemeClr val="accent6">
                  <a:tint val="37000"/>
                  <a:satMod val="300000"/>
                </a:schemeClr>
              </a:gs>
              <a:gs pos="100000">
                <a:schemeClr val="accent6">
                  <a:tint val="15000"/>
                  <a:satMod val="350000"/>
                </a:schemeClr>
              </a:gs>
            </a:gsLst>
            <a:lin ang="162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 </a:t>
            </a:r>
          </a:p>
          <a:p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for (int </a:t>
            </a:r>
            <a:r>
              <a:rPr lang="en-US" sz="28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</a:t>
            </a:r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= 1; </a:t>
            </a:r>
            <a:r>
              <a:rPr lang="en-US" sz="28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</a:t>
            </a:r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&lt;=4; </a:t>
            </a:r>
            <a:r>
              <a:rPr lang="en-US" sz="28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</a:t>
            </a:r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++) {</a:t>
            </a:r>
          </a:p>
          <a:p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  </a:t>
            </a:r>
            <a:r>
              <a:rPr lang="en-US" sz="28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System.out.println</a:t>
            </a:r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("Hello World");</a:t>
            </a:r>
          </a:p>
          <a:p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}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A02B408-A185-13FE-8821-13F0DD3D8B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7844" y="5110162"/>
            <a:ext cx="25654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009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loop syntax</a:t>
            </a:r>
            <a:endParaRPr lang="en-IE" dirty="0"/>
          </a:p>
        </p:txBody>
      </p:sp>
      <p:sp>
        <p:nvSpPr>
          <p:cNvPr id="10" name="Text Box 4">
            <a:extLst>
              <a:ext uri="{FF2B5EF4-FFF2-40B4-BE49-F238E27FC236}">
                <a16:creationId xmlns:a16="http://schemas.microsoft.com/office/drawing/2014/main" id="{F39CAD09-FDD5-4141-A04C-C1F10DA8B2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3947837"/>
            <a:ext cx="6971332" cy="156966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dirty="0"/>
              <a:t>for(</a:t>
            </a:r>
            <a:r>
              <a:rPr lang="en-US" sz="2400" i="1" dirty="0">
                <a:solidFill>
                  <a:srgbClr val="FF0000"/>
                </a:solidFill>
              </a:rPr>
              <a:t>initialization</a:t>
            </a:r>
            <a:r>
              <a:rPr lang="en-US" sz="2400" dirty="0"/>
              <a:t>; </a:t>
            </a:r>
            <a:r>
              <a:rPr lang="en-US" sz="2400" i="1" dirty="0" err="1">
                <a:solidFill>
                  <a:srgbClr val="00B050"/>
                </a:solidFill>
              </a:rPr>
              <a:t>boolean</a:t>
            </a:r>
            <a:r>
              <a:rPr lang="en-US" sz="2400" i="1" dirty="0">
                <a:solidFill>
                  <a:srgbClr val="00B050"/>
                </a:solidFill>
              </a:rPr>
              <a:t> condition</a:t>
            </a:r>
            <a:r>
              <a:rPr lang="en-US" sz="2400" dirty="0"/>
              <a:t>; </a:t>
            </a:r>
            <a:r>
              <a:rPr lang="en-US" sz="2400" i="1" dirty="0">
                <a:solidFill>
                  <a:srgbClr val="0070C0"/>
                </a:solidFill>
              </a:rPr>
              <a:t>post-body action</a:t>
            </a:r>
            <a:r>
              <a:rPr lang="en-US" sz="2400" dirty="0"/>
              <a:t>) </a:t>
            </a:r>
          </a:p>
          <a:p>
            <a:r>
              <a:rPr lang="en-US" sz="2400" dirty="0"/>
              <a:t>{</a:t>
            </a:r>
          </a:p>
          <a:p>
            <a:r>
              <a:rPr lang="en-US" sz="2400" dirty="0"/>
              <a:t>      </a:t>
            </a:r>
            <a:r>
              <a:rPr lang="en-US" sz="2400" i="1" dirty="0"/>
              <a:t>statements to be repeated</a:t>
            </a:r>
            <a:endParaRPr lang="en-US" sz="2400" dirty="0"/>
          </a:p>
          <a:p>
            <a:r>
              <a:rPr lang="en-US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769603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49ECFF5-B916-9C55-903A-55916606A6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895" y="2471621"/>
            <a:ext cx="7474048" cy="7118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loop syntax</a:t>
            </a:r>
            <a:endParaRPr lang="en-IE" dirty="0"/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2438400" y="3087929"/>
            <a:ext cx="1066800" cy="84263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V="1">
            <a:off x="4343400" y="3109637"/>
            <a:ext cx="838200" cy="8382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cxnSpLocks/>
          </p:cNvCxnSpPr>
          <p:nvPr/>
        </p:nvCxnSpPr>
        <p:spPr>
          <a:xfrm flipV="1">
            <a:off x="6629400" y="3087929"/>
            <a:ext cx="0" cy="82535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Box 4">
            <a:extLst>
              <a:ext uri="{FF2B5EF4-FFF2-40B4-BE49-F238E27FC236}">
                <a16:creationId xmlns:a16="http://schemas.microsoft.com/office/drawing/2014/main" id="{F39CAD09-FDD5-4141-A04C-C1F10DA8B2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8967" y="3871288"/>
            <a:ext cx="6971332" cy="156966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dirty="0"/>
              <a:t>for(</a:t>
            </a:r>
            <a:r>
              <a:rPr lang="en-US" sz="2400" i="1" dirty="0">
                <a:solidFill>
                  <a:srgbClr val="FF0000"/>
                </a:solidFill>
              </a:rPr>
              <a:t>initialization</a:t>
            </a:r>
            <a:r>
              <a:rPr lang="en-US" sz="2400" dirty="0"/>
              <a:t>; </a:t>
            </a:r>
            <a:r>
              <a:rPr lang="en-US" sz="2400" i="1" dirty="0" err="1">
                <a:solidFill>
                  <a:srgbClr val="00B050"/>
                </a:solidFill>
              </a:rPr>
              <a:t>boolean</a:t>
            </a:r>
            <a:r>
              <a:rPr lang="en-US" sz="2400" i="1" dirty="0">
                <a:solidFill>
                  <a:srgbClr val="00B050"/>
                </a:solidFill>
              </a:rPr>
              <a:t> condition</a:t>
            </a:r>
            <a:r>
              <a:rPr lang="en-US" sz="2400" dirty="0"/>
              <a:t>; </a:t>
            </a:r>
            <a:r>
              <a:rPr lang="en-US" sz="2400" i="1" dirty="0">
                <a:solidFill>
                  <a:srgbClr val="0070C0"/>
                </a:solidFill>
              </a:rPr>
              <a:t>post-body action</a:t>
            </a:r>
            <a:r>
              <a:rPr lang="en-US" sz="2400" dirty="0"/>
              <a:t>) </a:t>
            </a:r>
          </a:p>
          <a:p>
            <a:r>
              <a:rPr lang="en-US" sz="2400" dirty="0"/>
              <a:t>{</a:t>
            </a:r>
          </a:p>
          <a:p>
            <a:r>
              <a:rPr lang="en-US" sz="2400" dirty="0"/>
              <a:t>      </a:t>
            </a:r>
            <a:r>
              <a:rPr lang="en-US" sz="2400" i="1" dirty="0"/>
              <a:t>statements to be repeated</a:t>
            </a:r>
            <a:endParaRPr lang="en-US" sz="2400" dirty="0"/>
          </a:p>
          <a:p>
            <a:r>
              <a:rPr lang="en-US" sz="2400" dirty="0"/>
              <a:t>}</a:t>
            </a:r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E99C59F1-1E78-5EF9-10FF-B72638D79CAE}"/>
              </a:ext>
            </a:extLst>
          </p:cNvPr>
          <p:cNvSpPr/>
          <p:nvPr/>
        </p:nvSpPr>
        <p:spPr>
          <a:xfrm>
            <a:off x="1694329" y="2178424"/>
            <a:ext cx="2528047" cy="2218764"/>
          </a:xfrm>
          <a:custGeom>
            <a:avLst/>
            <a:gdLst>
              <a:gd name="connsiteX0" fmla="*/ 0 w 2528047"/>
              <a:gd name="connsiteY0" fmla="*/ 2178423 h 2218764"/>
              <a:gd name="connsiteX1" fmla="*/ 0 w 2528047"/>
              <a:gd name="connsiteY1" fmla="*/ 2178423 h 2218764"/>
              <a:gd name="connsiteX2" fmla="*/ 121024 w 2528047"/>
              <a:gd name="connsiteY2" fmla="*/ 2191870 h 2218764"/>
              <a:gd name="connsiteX3" fmla="*/ 336177 w 2528047"/>
              <a:gd name="connsiteY3" fmla="*/ 2205317 h 2218764"/>
              <a:gd name="connsiteX4" fmla="*/ 497542 w 2528047"/>
              <a:gd name="connsiteY4" fmla="*/ 2218764 h 2218764"/>
              <a:gd name="connsiteX5" fmla="*/ 1264024 w 2528047"/>
              <a:gd name="connsiteY5" fmla="*/ 2205317 h 2218764"/>
              <a:gd name="connsiteX6" fmla="*/ 1331259 w 2528047"/>
              <a:gd name="connsiteY6" fmla="*/ 2191870 h 2218764"/>
              <a:gd name="connsiteX7" fmla="*/ 1519518 w 2528047"/>
              <a:gd name="connsiteY7" fmla="*/ 2178423 h 2218764"/>
              <a:gd name="connsiteX8" fmla="*/ 1627095 w 2528047"/>
              <a:gd name="connsiteY8" fmla="*/ 2151529 h 2218764"/>
              <a:gd name="connsiteX9" fmla="*/ 1653989 w 2528047"/>
              <a:gd name="connsiteY9" fmla="*/ 2111188 h 2218764"/>
              <a:gd name="connsiteX10" fmla="*/ 1680883 w 2528047"/>
              <a:gd name="connsiteY10" fmla="*/ 1976717 h 2218764"/>
              <a:gd name="connsiteX11" fmla="*/ 1694330 w 2528047"/>
              <a:gd name="connsiteY11" fmla="*/ 1815352 h 2218764"/>
              <a:gd name="connsiteX12" fmla="*/ 1694330 w 2528047"/>
              <a:gd name="connsiteY12" fmla="*/ 1411941 h 2218764"/>
              <a:gd name="connsiteX13" fmla="*/ 1761565 w 2528047"/>
              <a:gd name="connsiteY13" fmla="*/ 1290917 h 2218764"/>
              <a:gd name="connsiteX14" fmla="*/ 1842247 w 2528047"/>
              <a:gd name="connsiteY14" fmla="*/ 1210235 h 2218764"/>
              <a:gd name="connsiteX15" fmla="*/ 1869142 w 2528047"/>
              <a:gd name="connsiteY15" fmla="*/ 1183341 h 2218764"/>
              <a:gd name="connsiteX16" fmla="*/ 1909483 w 2528047"/>
              <a:gd name="connsiteY16" fmla="*/ 1156447 h 2218764"/>
              <a:gd name="connsiteX17" fmla="*/ 1936377 w 2528047"/>
              <a:gd name="connsiteY17" fmla="*/ 1129552 h 2218764"/>
              <a:gd name="connsiteX18" fmla="*/ 2017059 w 2528047"/>
              <a:gd name="connsiteY18" fmla="*/ 1075764 h 2218764"/>
              <a:gd name="connsiteX19" fmla="*/ 2057400 w 2528047"/>
              <a:gd name="connsiteY19" fmla="*/ 1048870 h 2218764"/>
              <a:gd name="connsiteX20" fmla="*/ 2124636 w 2528047"/>
              <a:gd name="connsiteY20" fmla="*/ 995082 h 2218764"/>
              <a:gd name="connsiteX21" fmla="*/ 2151530 w 2528047"/>
              <a:gd name="connsiteY21" fmla="*/ 954741 h 2218764"/>
              <a:gd name="connsiteX22" fmla="*/ 2232212 w 2528047"/>
              <a:gd name="connsiteY22" fmla="*/ 927847 h 2218764"/>
              <a:gd name="connsiteX23" fmla="*/ 2339789 w 2528047"/>
              <a:gd name="connsiteY23" fmla="*/ 847164 h 2218764"/>
              <a:gd name="connsiteX24" fmla="*/ 2433918 w 2528047"/>
              <a:gd name="connsiteY24" fmla="*/ 820270 h 2218764"/>
              <a:gd name="connsiteX25" fmla="*/ 2474259 w 2528047"/>
              <a:gd name="connsiteY25" fmla="*/ 806823 h 2218764"/>
              <a:gd name="connsiteX26" fmla="*/ 2407024 w 2528047"/>
              <a:gd name="connsiteY26" fmla="*/ 779929 h 2218764"/>
              <a:gd name="connsiteX27" fmla="*/ 2407024 w 2528047"/>
              <a:gd name="connsiteY27" fmla="*/ 779929 h 2218764"/>
              <a:gd name="connsiteX28" fmla="*/ 2460812 w 2528047"/>
              <a:gd name="connsiteY28" fmla="*/ 618564 h 2218764"/>
              <a:gd name="connsiteX29" fmla="*/ 2474259 w 2528047"/>
              <a:gd name="connsiteY29" fmla="*/ 578223 h 2218764"/>
              <a:gd name="connsiteX30" fmla="*/ 2487706 w 2528047"/>
              <a:gd name="connsiteY30" fmla="*/ 537882 h 2218764"/>
              <a:gd name="connsiteX31" fmla="*/ 2514600 w 2528047"/>
              <a:gd name="connsiteY31" fmla="*/ 497541 h 2218764"/>
              <a:gd name="connsiteX32" fmla="*/ 2528047 w 2528047"/>
              <a:gd name="connsiteY32" fmla="*/ 443752 h 2218764"/>
              <a:gd name="connsiteX33" fmla="*/ 2514600 w 2528047"/>
              <a:gd name="connsiteY33" fmla="*/ 389964 h 2218764"/>
              <a:gd name="connsiteX34" fmla="*/ 2474259 w 2528047"/>
              <a:gd name="connsiteY34" fmla="*/ 309282 h 2218764"/>
              <a:gd name="connsiteX35" fmla="*/ 2433918 w 2528047"/>
              <a:gd name="connsiteY35" fmla="*/ 282388 h 2218764"/>
              <a:gd name="connsiteX36" fmla="*/ 2326342 w 2528047"/>
              <a:gd name="connsiteY36" fmla="*/ 188258 h 2218764"/>
              <a:gd name="connsiteX37" fmla="*/ 2259106 w 2528047"/>
              <a:gd name="connsiteY37" fmla="*/ 121023 h 2218764"/>
              <a:gd name="connsiteX38" fmla="*/ 2178424 w 2528047"/>
              <a:gd name="connsiteY38" fmla="*/ 67235 h 2218764"/>
              <a:gd name="connsiteX39" fmla="*/ 2097742 w 2528047"/>
              <a:gd name="connsiteY39" fmla="*/ 40341 h 2218764"/>
              <a:gd name="connsiteX40" fmla="*/ 1775012 w 2528047"/>
              <a:gd name="connsiteY40" fmla="*/ 13447 h 2218764"/>
              <a:gd name="connsiteX41" fmla="*/ 1385047 w 2528047"/>
              <a:gd name="connsiteY41" fmla="*/ 0 h 2218764"/>
              <a:gd name="connsiteX42" fmla="*/ 510989 w 2528047"/>
              <a:gd name="connsiteY42" fmla="*/ 13447 h 2218764"/>
              <a:gd name="connsiteX43" fmla="*/ 443753 w 2528047"/>
              <a:gd name="connsiteY43" fmla="*/ 26894 h 2218764"/>
              <a:gd name="connsiteX44" fmla="*/ 309283 w 2528047"/>
              <a:gd name="connsiteY44" fmla="*/ 67235 h 2218764"/>
              <a:gd name="connsiteX45" fmla="*/ 268942 w 2528047"/>
              <a:gd name="connsiteY45" fmla="*/ 80682 h 2218764"/>
              <a:gd name="connsiteX46" fmla="*/ 228600 w 2528047"/>
              <a:gd name="connsiteY46" fmla="*/ 94129 h 2218764"/>
              <a:gd name="connsiteX47" fmla="*/ 174812 w 2528047"/>
              <a:gd name="connsiteY47" fmla="*/ 174811 h 2218764"/>
              <a:gd name="connsiteX48" fmla="*/ 147918 w 2528047"/>
              <a:gd name="connsiteY48" fmla="*/ 322729 h 2218764"/>
              <a:gd name="connsiteX49" fmla="*/ 121024 w 2528047"/>
              <a:gd name="connsiteY49" fmla="*/ 497541 h 2218764"/>
              <a:gd name="connsiteX50" fmla="*/ 94130 w 2528047"/>
              <a:gd name="connsiteY50" fmla="*/ 632011 h 2218764"/>
              <a:gd name="connsiteX51" fmla="*/ 67236 w 2528047"/>
              <a:gd name="connsiteY51" fmla="*/ 739588 h 2218764"/>
              <a:gd name="connsiteX52" fmla="*/ 53789 w 2528047"/>
              <a:gd name="connsiteY52" fmla="*/ 793376 h 2218764"/>
              <a:gd name="connsiteX53" fmla="*/ 40342 w 2528047"/>
              <a:gd name="connsiteY53" fmla="*/ 900952 h 2218764"/>
              <a:gd name="connsiteX54" fmla="*/ 53789 w 2528047"/>
              <a:gd name="connsiteY54" fmla="*/ 1183341 h 2218764"/>
              <a:gd name="connsiteX55" fmla="*/ 80683 w 2528047"/>
              <a:gd name="connsiteY55" fmla="*/ 1277470 h 2218764"/>
              <a:gd name="connsiteX56" fmla="*/ 121024 w 2528047"/>
              <a:gd name="connsiteY56" fmla="*/ 1358152 h 2218764"/>
              <a:gd name="connsiteX57" fmla="*/ 80683 w 2528047"/>
              <a:gd name="connsiteY57" fmla="*/ 1721223 h 2218764"/>
              <a:gd name="connsiteX58" fmla="*/ 53789 w 2528047"/>
              <a:gd name="connsiteY58" fmla="*/ 1761564 h 2218764"/>
              <a:gd name="connsiteX59" fmla="*/ 53789 w 2528047"/>
              <a:gd name="connsiteY59" fmla="*/ 2084294 h 2218764"/>
              <a:gd name="connsiteX60" fmla="*/ 80683 w 2528047"/>
              <a:gd name="connsiteY60" fmla="*/ 2124635 h 2218764"/>
              <a:gd name="connsiteX61" fmla="*/ 80683 w 2528047"/>
              <a:gd name="connsiteY61" fmla="*/ 2124635 h 2218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2528047" h="2218764">
                <a:moveTo>
                  <a:pt x="0" y="2178423"/>
                </a:moveTo>
                <a:lnTo>
                  <a:pt x="0" y="2178423"/>
                </a:lnTo>
                <a:cubicBezTo>
                  <a:pt x="40341" y="2182905"/>
                  <a:pt x="80564" y="2188633"/>
                  <a:pt x="121024" y="2191870"/>
                </a:cubicBezTo>
                <a:cubicBezTo>
                  <a:pt x="192653" y="2197600"/>
                  <a:pt x="264502" y="2200197"/>
                  <a:pt x="336177" y="2205317"/>
                </a:cubicBezTo>
                <a:cubicBezTo>
                  <a:pt x="390015" y="2209163"/>
                  <a:pt x="443754" y="2214282"/>
                  <a:pt x="497542" y="2218764"/>
                </a:cubicBezTo>
                <a:lnTo>
                  <a:pt x="1264024" y="2205317"/>
                </a:lnTo>
                <a:cubicBezTo>
                  <a:pt x="1286868" y="2204580"/>
                  <a:pt x="1308529" y="2194263"/>
                  <a:pt x="1331259" y="2191870"/>
                </a:cubicBezTo>
                <a:cubicBezTo>
                  <a:pt x="1393826" y="2185284"/>
                  <a:pt x="1456765" y="2182905"/>
                  <a:pt x="1519518" y="2178423"/>
                </a:cubicBezTo>
                <a:cubicBezTo>
                  <a:pt x="1522866" y="2177753"/>
                  <a:pt x="1613312" y="2162555"/>
                  <a:pt x="1627095" y="2151529"/>
                </a:cubicBezTo>
                <a:cubicBezTo>
                  <a:pt x="1639715" y="2141433"/>
                  <a:pt x="1645024" y="2124635"/>
                  <a:pt x="1653989" y="2111188"/>
                </a:cubicBezTo>
                <a:cubicBezTo>
                  <a:pt x="1667344" y="2057766"/>
                  <a:pt x="1674289" y="2036066"/>
                  <a:pt x="1680883" y="1976717"/>
                </a:cubicBezTo>
                <a:cubicBezTo>
                  <a:pt x="1686843" y="1923072"/>
                  <a:pt x="1689848" y="1869140"/>
                  <a:pt x="1694330" y="1815352"/>
                </a:cubicBezTo>
                <a:cubicBezTo>
                  <a:pt x="1685106" y="1621643"/>
                  <a:pt x="1667826" y="1570965"/>
                  <a:pt x="1694330" y="1411941"/>
                </a:cubicBezTo>
                <a:cubicBezTo>
                  <a:pt x="1701094" y="1371359"/>
                  <a:pt x="1738463" y="1314019"/>
                  <a:pt x="1761565" y="1290917"/>
                </a:cubicBezTo>
                <a:lnTo>
                  <a:pt x="1842247" y="1210235"/>
                </a:lnTo>
                <a:cubicBezTo>
                  <a:pt x="1851212" y="1201270"/>
                  <a:pt x="1858593" y="1190374"/>
                  <a:pt x="1869142" y="1183341"/>
                </a:cubicBezTo>
                <a:cubicBezTo>
                  <a:pt x="1882589" y="1174376"/>
                  <a:pt x="1896863" y="1166543"/>
                  <a:pt x="1909483" y="1156447"/>
                </a:cubicBezTo>
                <a:cubicBezTo>
                  <a:pt x="1919383" y="1148527"/>
                  <a:pt x="1926234" y="1137159"/>
                  <a:pt x="1936377" y="1129552"/>
                </a:cubicBezTo>
                <a:cubicBezTo>
                  <a:pt x="1962235" y="1110158"/>
                  <a:pt x="1990165" y="1093693"/>
                  <a:pt x="2017059" y="1075764"/>
                </a:cubicBezTo>
                <a:cubicBezTo>
                  <a:pt x="2030506" y="1066799"/>
                  <a:pt x="2045972" y="1060298"/>
                  <a:pt x="2057400" y="1048870"/>
                </a:cubicBezTo>
                <a:cubicBezTo>
                  <a:pt x="2095723" y="1010548"/>
                  <a:pt x="2073746" y="1029009"/>
                  <a:pt x="2124636" y="995082"/>
                </a:cubicBezTo>
                <a:cubicBezTo>
                  <a:pt x="2133601" y="981635"/>
                  <a:pt x="2137825" y="963306"/>
                  <a:pt x="2151530" y="954741"/>
                </a:cubicBezTo>
                <a:cubicBezTo>
                  <a:pt x="2175570" y="939716"/>
                  <a:pt x="2232212" y="927847"/>
                  <a:pt x="2232212" y="927847"/>
                </a:cubicBezTo>
                <a:cubicBezTo>
                  <a:pt x="2264070" y="895987"/>
                  <a:pt x="2294169" y="862371"/>
                  <a:pt x="2339789" y="847164"/>
                </a:cubicBezTo>
                <a:cubicBezTo>
                  <a:pt x="2436513" y="814923"/>
                  <a:pt x="2315724" y="854040"/>
                  <a:pt x="2433918" y="820270"/>
                </a:cubicBezTo>
                <a:cubicBezTo>
                  <a:pt x="2447547" y="816376"/>
                  <a:pt x="2460812" y="811305"/>
                  <a:pt x="2474259" y="806823"/>
                </a:cubicBezTo>
                <a:cubicBezTo>
                  <a:pt x="2424410" y="790207"/>
                  <a:pt x="2446596" y="799715"/>
                  <a:pt x="2407024" y="779929"/>
                </a:cubicBezTo>
                <a:lnTo>
                  <a:pt x="2407024" y="779929"/>
                </a:lnTo>
                <a:lnTo>
                  <a:pt x="2460812" y="618564"/>
                </a:lnTo>
                <a:lnTo>
                  <a:pt x="2474259" y="578223"/>
                </a:lnTo>
                <a:cubicBezTo>
                  <a:pt x="2478741" y="564776"/>
                  <a:pt x="2479843" y="549676"/>
                  <a:pt x="2487706" y="537882"/>
                </a:cubicBezTo>
                <a:lnTo>
                  <a:pt x="2514600" y="497541"/>
                </a:lnTo>
                <a:cubicBezTo>
                  <a:pt x="2519082" y="479611"/>
                  <a:pt x="2528047" y="462233"/>
                  <a:pt x="2528047" y="443752"/>
                </a:cubicBezTo>
                <a:cubicBezTo>
                  <a:pt x="2528047" y="425271"/>
                  <a:pt x="2519677" y="407734"/>
                  <a:pt x="2514600" y="389964"/>
                </a:cubicBezTo>
                <a:cubicBezTo>
                  <a:pt x="2505851" y="359341"/>
                  <a:pt x="2497832" y="332855"/>
                  <a:pt x="2474259" y="309282"/>
                </a:cubicBezTo>
                <a:cubicBezTo>
                  <a:pt x="2462831" y="297854"/>
                  <a:pt x="2447365" y="291353"/>
                  <a:pt x="2433918" y="282388"/>
                </a:cubicBezTo>
                <a:cubicBezTo>
                  <a:pt x="2357722" y="168094"/>
                  <a:pt x="2483217" y="345130"/>
                  <a:pt x="2326342" y="188258"/>
                </a:cubicBezTo>
                <a:cubicBezTo>
                  <a:pt x="2303930" y="165846"/>
                  <a:pt x="2285478" y="138604"/>
                  <a:pt x="2259106" y="121023"/>
                </a:cubicBezTo>
                <a:cubicBezTo>
                  <a:pt x="2232212" y="103094"/>
                  <a:pt x="2209088" y="77456"/>
                  <a:pt x="2178424" y="67235"/>
                </a:cubicBezTo>
                <a:lnTo>
                  <a:pt x="2097742" y="40341"/>
                </a:lnTo>
                <a:cubicBezTo>
                  <a:pt x="1969161" y="-2519"/>
                  <a:pt x="2063840" y="25000"/>
                  <a:pt x="1775012" y="13447"/>
                </a:cubicBezTo>
                <a:lnTo>
                  <a:pt x="1385047" y="0"/>
                </a:lnTo>
                <a:lnTo>
                  <a:pt x="510989" y="13447"/>
                </a:lnTo>
                <a:cubicBezTo>
                  <a:pt x="488142" y="14100"/>
                  <a:pt x="466065" y="21936"/>
                  <a:pt x="443753" y="26894"/>
                </a:cubicBezTo>
                <a:cubicBezTo>
                  <a:pt x="382786" y="40442"/>
                  <a:pt x="376323" y="44888"/>
                  <a:pt x="309283" y="67235"/>
                </a:cubicBezTo>
                <a:lnTo>
                  <a:pt x="268942" y="80682"/>
                </a:lnTo>
                <a:lnTo>
                  <a:pt x="228600" y="94129"/>
                </a:lnTo>
                <a:cubicBezTo>
                  <a:pt x="210671" y="121023"/>
                  <a:pt x="181151" y="143116"/>
                  <a:pt x="174812" y="174811"/>
                </a:cubicBezTo>
                <a:cubicBezTo>
                  <a:pt x="160826" y="244744"/>
                  <a:pt x="159387" y="248178"/>
                  <a:pt x="147918" y="322729"/>
                </a:cubicBezTo>
                <a:cubicBezTo>
                  <a:pt x="135594" y="402834"/>
                  <a:pt x="135398" y="420877"/>
                  <a:pt x="121024" y="497541"/>
                </a:cubicBezTo>
                <a:cubicBezTo>
                  <a:pt x="112600" y="542469"/>
                  <a:pt x="105216" y="587665"/>
                  <a:pt x="94130" y="632011"/>
                </a:cubicBezTo>
                <a:lnTo>
                  <a:pt x="67236" y="739588"/>
                </a:lnTo>
                <a:cubicBezTo>
                  <a:pt x="62754" y="757517"/>
                  <a:pt x="56081" y="775038"/>
                  <a:pt x="53789" y="793376"/>
                </a:cubicBezTo>
                <a:lnTo>
                  <a:pt x="40342" y="900952"/>
                </a:lnTo>
                <a:cubicBezTo>
                  <a:pt x="44824" y="995082"/>
                  <a:pt x="46274" y="1089405"/>
                  <a:pt x="53789" y="1183341"/>
                </a:cubicBezTo>
                <a:cubicBezTo>
                  <a:pt x="54610" y="1193599"/>
                  <a:pt x="73712" y="1263529"/>
                  <a:pt x="80683" y="1277470"/>
                </a:cubicBezTo>
                <a:cubicBezTo>
                  <a:pt x="132818" y="1381740"/>
                  <a:pt x="87225" y="1256754"/>
                  <a:pt x="121024" y="1358152"/>
                </a:cubicBezTo>
                <a:cubicBezTo>
                  <a:pt x="120726" y="1364420"/>
                  <a:pt x="133016" y="1642723"/>
                  <a:pt x="80683" y="1721223"/>
                </a:cubicBezTo>
                <a:lnTo>
                  <a:pt x="53789" y="1761564"/>
                </a:lnTo>
                <a:cubicBezTo>
                  <a:pt x="37628" y="1923178"/>
                  <a:pt x="32181" y="1900622"/>
                  <a:pt x="53789" y="2084294"/>
                </a:cubicBezTo>
                <a:cubicBezTo>
                  <a:pt x="59035" y="2128887"/>
                  <a:pt x="56103" y="2124635"/>
                  <a:pt x="80683" y="2124635"/>
                </a:cubicBezTo>
                <a:lnTo>
                  <a:pt x="80683" y="2124635"/>
                </a:lnTo>
              </a:path>
            </a:pathLst>
          </a:custGeom>
          <a:ln w="38100">
            <a:solidFill>
              <a:schemeClr val="accent2">
                <a:shade val="95000"/>
                <a:satMod val="10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9B8C963B-83B0-E0C0-E1AE-4129475554CA}"/>
              </a:ext>
            </a:extLst>
          </p:cNvPr>
          <p:cNvSpPr/>
          <p:nvPr/>
        </p:nvSpPr>
        <p:spPr>
          <a:xfrm>
            <a:off x="3400572" y="2441516"/>
            <a:ext cx="2388336" cy="2076696"/>
          </a:xfrm>
          <a:custGeom>
            <a:avLst/>
            <a:gdLst>
              <a:gd name="connsiteX0" fmla="*/ 1144534 w 2388336"/>
              <a:gd name="connsiteY0" fmla="*/ 5849 h 2076696"/>
              <a:gd name="connsiteX1" fmla="*/ 1144534 w 2388336"/>
              <a:gd name="connsiteY1" fmla="*/ 5849 h 2076696"/>
              <a:gd name="connsiteX2" fmla="*/ 1279004 w 2388336"/>
              <a:gd name="connsiteY2" fmla="*/ 19296 h 2076696"/>
              <a:gd name="connsiteX3" fmla="*/ 2260640 w 2388336"/>
              <a:gd name="connsiteY3" fmla="*/ 46190 h 2076696"/>
              <a:gd name="connsiteX4" fmla="*/ 2300981 w 2388336"/>
              <a:gd name="connsiteY4" fmla="*/ 59637 h 2076696"/>
              <a:gd name="connsiteX5" fmla="*/ 2314428 w 2388336"/>
              <a:gd name="connsiteY5" fmla="*/ 99978 h 2076696"/>
              <a:gd name="connsiteX6" fmla="*/ 2368216 w 2388336"/>
              <a:gd name="connsiteY6" fmla="*/ 180660 h 2076696"/>
              <a:gd name="connsiteX7" fmla="*/ 2368216 w 2388336"/>
              <a:gd name="connsiteY7" fmla="*/ 409260 h 2076696"/>
              <a:gd name="connsiteX8" fmla="*/ 2354769 w 2388336"/>
              <a:gd name="connsiteY8" fmla="*/ 449602 h 2076696"/>
              <a:gd name="connsiteX9" fmla="*/ 2327875 w 2388336"/>
              <a:gd name="connsiteY9" fmla="*/ 489943 h 2076696"/>
              <a:gd name="connsiteX10" fmla="*/ 2287534 w 2388336"/>
              <a:gd name="connsiteY10" fmla="*/ 570625 h 2076696"/>
              <a:gd name="connsiteX11" fmla="*/ 2247193 w 2388336"/>
              <a:gd name="connsiteY11" fmla="*/ 597519 h 2076696"/>
              <a:gd name="connsiteX12" fmla="*/ 2233746 w 2388336"/>
              <a:gd name="connsiteY12" fmla="*/ 637860 h 2076696"/>
              <a:gd name="connsiteX13" fmla="*/ 2274087 w 2388336"/>
              <a:gd name="connsiteY13" fmla="*/ 812672 h 2076696"/>
              <a:gd name="connsiteX14" fmla="*/ 2287534 w 2388336"/>
              <a:gd name="connsiteY14" fmla="*/ 866460 h 2076696"/>
              <a:gd name="connsiteX15" fmla="*/ 2314428 w 2388336"/>
              <a:gd name="connsiteY15" fmla="*/ 1068166 h 2076696"/>
              <a:gd name="connsiteX16" fmla="*/ 2314428 w 2388336"/>
              <a:gd name="connsiteY16" fmla="*/ 1861543 h 2076696"/>
              <a:gd name="connsiteX17" fmla="*/ 2300981 w 2388336"/>
              <a:gd name="connsiteY17" fmla="*/ 1901884 h 2076696"/>
              <a:gd name="connsiteX18" fmla="*/ 2274087 w 2388336"/>
              <a:gd name="connsiteY18" fmla="*/ 1942225 h 2076696"/>
              <a:gd name="connsiteX19" fmla="*/ 2193404 w 2388336"/>
              <a:gd name="connsiteY19" fmla="*/ 1996013 h 2076696"/>
              <a:gd name="connsiteX20" fmla="*/ 2072381 w 2388336"/>
              <a:gd name="connsiteY20" fmla="*/ 2036355 h 2076696"/>
              <a:gd name="connsiteX21" fmla="*/ 1991699 w 2388336"/>
              <a:gd name="connsiteY21" fmla="*/ 2063249 h 2076696"/>
              <a:gd name="connsiteX22" fmla="*/ 1951357 w 2388336"/>
              <a:gd name="connsiteY22" fmla="*/ 2076696 h 2076696"/>
              <a:gd name="connsiteX23" fmla="*/ 1467263 w 2388336"/>
              <a:gd name="connsiteY23" fmla="*/ 2063249 h 2076696"/>
              <a:gd name="connsiteX24" fmla="*/ 1373134 w 2388336"/>
              <a:gd name="connsiteY24" fmla="*/ 2049802 h 2076696"/>
              <a:gd name="connsiteX25" fmla="*/ 1077299 w 2388336"/>
              <a:gd name="connsiteY25" fmla="*/ 2036355 h 2076696"/>
              <a:gd name="connsiteX26" fmla="*/ 324263 w 2388336"/>
              <a:gd name="connsiteY26" fmla="*/ 2022908 h 2076696"/>
              <a:gd name="connsiteX27" fmla="*/ 203240 w 2388336"/>
              <a:gd name="connsiteY27" fmla="*/ 1982566 h 2076696"/>
              <a:gd name="connsiteX28" fmla="*/ 162899 w 2388336"/>
              <a:gd name="connsiteY28" fmla="*/ 1969119 h 2076696"/>
              <a:gd name="connsiteX29" fmla="*/ 122557 w 2388336"/>
              <a:gd name="connsiteY29" fmla="*/ 1942225 h 2076696"/>
              <a:gd name="connsiteX30" fmla="*/ 28428 w 2388336"/>
              <a:gd name="connsiteY30" fmla="*/ 1915331 h 2076696"/>
              <a:gd name="connsiteX31" fmla="*/ 1534 w 2388336"/>
              <a:gd name="connsiteY31" fmla="*/ 1874990 h 2076696"/>
              <a:gd name="connsiteX32" fmla="*/ 28428 w 2388336"/>
              <a:gd name="connsiteY32" fmla="*/ 1659837 h 2076696"/>
              <a:gd name="connsiteX33" fmla="*/ 41875 w 2388336"/>
              <a:gd name="connsiteY33" fmla="*/ 1525366 h 2076696"/>
              <a:gd name="connsiteX34" fmla="*/ 68769 w 2388336"/>
              <a:gd name="connsiteY34" fmla="*/ 1444684 h 2076696"/>
              <a:gd name="connsiteX35" fmla="*/ 149452 w 2388336"/>
              <a:gd name="connsiteY35" fmla="*/ 1390896 h 2076696"/>
              <a:gd name="connsiteX36" fmla="*/ 216687 w 2388336"/>
              <a:gd name="connsiteY36" fmla="*/ 1323660 h 2076696"/>
              <a:gd name="connsiteX37" fmla="*/ 257028 w 2388336"/>
              <a:gd name="connsiteY37" fmla="*/ 1296766 h 2076696"/>
              <a:gd name="connsiteX38" fmla="*/ 297369 w 2388336"/>
              <a:gd name="connsiteY38" fmla="*/ 1256425 h 2076696"/>
              <a:gd name="connsiteX39" fmla="*/ 378052 w 2388336"/>
              <a:gd name="connsiteY39" fmla="*/ 1202637 h 2076696"/>
              <a:gd name="connsiteX40" fmla="*/ 499075 w 2388336"/>
              <a:gd name="connsiteY40" fmla="*/ 1108508 h 2076696"/>
              <a:gd name="connsiteX41" fmla="*/ 579757 w 2388336"/>
              <a:gd name="connsiteY41" fmla="*/ 1068166 h 2076696"/>
              <a:gd name="connsiteX42" fmla="*/ 687334 w 2388336"/>
              <a:gd name="connsiteY42" fmla="*/ 987484 h 2076696"/>
              <a:gd name="connsiteX43" fmla="*/ 727675 w 2388336"/>
              <a:gd name="connsiteY43" fmla="*/ 960590 h 2076696"/>
              <a:gd name="connsiteX44" fmla="*/ 768016 w 2388336"/>
              <a:gd name="connsiteY44" fmla="*/ 933696 h 2076696"/>
              <a:gd name="connsiteX45" fmla="*/ 794910 w 2388336"/>
              <a:gd name="connsiteY45" fmla="*/ 893355 h 2076696"/>
              <a:gd name="connsiteX46" fmla="*/ 848699 w 2388336"/>
              <a:gd name="connsiteY46" fmla="*/ 839566 h 2076696"/>
              <a:gd name="connsiteX47" fmla="*/ 902487 w 2388336"/>
              <a:gd name="connsiteY47" fmla="*/ 758884 h 2076696"/>
              <a:gd name="connsiteX48" fmla="*/ 915934 w 2388336"/>
              <a:gd name="connsiteY48" fmla="*/ 624413 h 2076696"/>
              <a:gd name="connsiteX49" fmla="*/ 929381 w 2388336"/>
              <a:gd name="connsiteY49" fmla="*/ 557178 h 2076696"/>
              <a:gd name="connsiteX50" fmla="*/ 956275 w 2388336"/>
              <a:gd name="connsiteY50" fmla="*/ 274790 h 2076696"/>
              <a:gd name="connsiteX51" fmla="*/ 969722 w 2388336"/>
              <a:gd name="connsiteY51" fmla="*/ 234449 h 2076696"/>
              <a:gd name="connsiteX52" fmla="*/ 996616 w 2388336"/>
              <a:gd name="connsiteY52" fmla="*/ 194108 h 2076696"/>
              <a:gd name="connsiteX53" fmla="*/ 1023510 w 2388336"/>
              <a:gd name="connsiteY53" fmla="*/ 113425 h 2076696"/>
              <a:gd name="connsiteX54" fmla="*/ 1077299 w 2388336"/>
              <a:gd name="connsiteY54" fmla="*/ 46190 h 2076696"/>
              <a:gd name="connsiteX55" fmla="*/ 1144534 w 2388336"/>
              <a:gd name="connsiteY55" fmla="*/ 5849 h 207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2388336" h="2076696">
                <a:moveTo>
                  <a:pt x="1144534" y="5849"/>
                </a:moveTo>
                <a:lnTo>
                  <a:pt x="1144534" y="5849"/>
                </a:lnTo>
                <a:cubicBezTo>
                  <a:pt x="1189357" y="10331"/>
                  <a:pt x="1233972" y="18156"/>
                  <a:pt x="1279004" y="19296"/>
                </a:cubicBezTo>
                <a:cubicBezTo>
                  <a:pt x="1452363" y="23685"/>
                  <a:pt x="1952956" y="-41720"/>
                  <a:pt x="2260640" y="46190"/>
                </a:cubicBezTo>
                <a:cubicBezTo>
                  <a:pt x="2274269" y="50084"/>
                  <a:pt x="2287534" y="55155"/>
                  <a:pt x="2300981" y="59637"/>
                </a:cubicBezTo>
                <a:cubicBezTo>
                  <a:pt x="2305463" y="73084"/>
                  <a:pt x="2307544" y="87587"/>
                  <a:pt x="2314428" y="99978"/>
                </a:cubicBezTo>
                <a:cubicBezTo>
                  <a:pt x="2330125" y="128233"/>
                  <a:pt x="2368216" y="180660"/>
                  <a:pt x="2368216" y="180660"/>
                </a:cubicBezTo>
                <a:cubicBezTo>
                  <a:pt x="2399999" y="276013"/>
                  <a:pt x="2389587" y="227606"/>
                  <a:pt x="2368216" y="409260"/>
                </a:cubicBezTo>
                <a:cubicBezTo>
                  <a:pt x="2366560" y="423338"/>
                  <a:pt x="2361108" y="436924"/>
                  <a:pt x="2354769" y="449602"/>
                </a:cubicBezTo>
                <a:cubicBezTo>
                  <a:pt x="2347542" y="464057"/>
                  <a:pt x="2335103" y="475488"/>
                  <a:pt x="2327875" y="489943"/>
                </a:cubicBezTo>
                <a:cubicBezTo>
                  <a:pt x="2306001" y="533690"/>
                  <a:pt x="2326071" y="532088"/>
                  <a:pt x="2287534" y="570625"/>
                </a:cubicBezTo>
                <a:cubicBezTo>
                  <a:pt x="2276106" y="582053"/>
                  <a:pt x="2260640" y="588554"/>
                  <a:pt x="2247193" y="597519"/>
                </a:cubicBezTo>
                <a:cubicBezTo>
                  <a:pt x="2242711" y="610966"/>
                  <a:pt x="2233746" y="623686"/>
                  <a:pt x="2233746" y="637860"/>
                </a:cubicBezTo>
                <a:cubicBezTo>
                  <a:pt x="2233746" y="731504"/>
                  <a:pt x="2252783" y="727456"/>
                  <a:pt x="2274087" y="812672"/>
                </a:cubicBezTo>
                <a:cubicBezTo>
                  <a:pt x="2278569" y="830601"/>
                  <a:pt x="2283910" y="848338"/>
                  <a:pt x="2287534" y="866460"/>
                </a:cubicBezTo>
                <a:cubicBezTo>
                  <a:pt x="2302624" y="941908"/>
                  <a:pt x="2305458" y="987439"/>
                  <a:pt x="2314428" y="1068166"/>
                </a:cubicBezTo>
                <a:cubicBezTo>
                  <a:pt x="2329580" y="1446972"/>
                  <a:pt x="2337138" y="1441400"/>
                  <a:pt x="2314428" y="1861543"/>
                </a:cubicBezTo>
                <a:cubicBezTo>
                  <a:pt x="2313663" y="1875697"/>
                  <a:pt x="2307320" y="1889206"/>
                  <a:pt x="2300981" y="1901884"/>
                </a:cubicBezTo>
                <a:cubicBezTo>
                  <a:pt x="2293753" y="1916339"/>
                  <a:pt x="2286250" y="1931583"/>
                  <a:pt x="2274087" y="1942225"/>
                </a:cubicBezTo>
                <a:cubicBezTo>
                  <a:pt x="2249761" y="1963510"/>
                  <a:pt x="2224068" y="1985791"/>
                  <a:pt x="2193404" y="1996013"/>
                </a:cubicBezTo>
                <a:lnTo>
                  <a:pt x="2072381" y="2036355"/>
                </a:lnTo>
                <a:lnTo>
                  <a:pt x="1991699" y="2063249"/>
                </a:lnTo>
                <a:lnTo>
                  <a:pt x="1951357" y="2076696"/>
                </a:lnTo>
                <a:lnTo>
                  <a:pt x="1467263" y="2063249"/>
                </a:lnTo>
                <a:cubicBezTo>
                  <a:pt x="1435602" y="2061776"/>
                  <a:pt x="1404754" y="2051983"/>
                  <a:pt x="1373134" y="2049802"/>
                </a:cubicBezTo>
                <a:cubicBezTo>
                  <a:pt x="1274654" y="2043010"/>
                  <a:pt x="1175980" y="2038885"/>
                  <a:pt x="1077299" y="2036355"/>
                </a:cubicBezTo>
                <a:lnTo>
                  <a:pt x="324263" y="2022908"/>
                </a:lnTo>
                <a:lnTo>
                  <a:pt x="203240" y="1982566"/>
                </a:lnTo>
                <a:cubicBezTo>
                  <a:pt x="189793" y="1978084"/>
                  <a:pt x="174693" y="1976981"/>
                  <a:pt x="162899" y="1969119"/>
                </a:cubicBezTo>
                <a:cubicBezTo>
                  <a:pt x="149452" y="1960154"/>
                  <a:pt x="137012" y="1949453"/>
                  <a:pt x="122557" y="1942225"/>
                </a:cubicBezTo>
                <a:cubicBezTo>
                  <a:pt x="103265" y="1932579"/>
                  <a:pt x="45662" y="1919640"/>
                  <a:pt x="28428" y="1915331"/>
                </a:cubicBezTo>
                <a:cubicBezTo>
                  <a:pt x="19463" y="1901884"/>
                  <a:pt x="2609" y="1891115"/>
                  <a:pt x="1534" y="1874990"/>
                </a:cubicBezTo>
                <a:cubicBezTo>
                  <a:pt x="-4774" y="1780367"/>
                  <a:pt x="9180" y="1736829"/>
                  <a:pt x="28428" y="1659837"/>
                </a:cubicBezTo>
                <a:cubicBezTo>
                  <a:pt x="32910" y="1615013"/>
                  <a:pt x="33573" y="1569642"/>
                  <a:pt x="41875" y="1525366"/>
                </a:cubicBezTo>
                <a:cubicBezTo>
                  <a:pt x="47099" y="1497503"/>
                  <a:pt x="45181" y="1460409"/>
                  <a:pt x="68769" y="1444684"/>
                </a:cubicBezTo>
                <a:cubicBezTo>
                  <a:pt x="95663" y="1426755"/>
                  <a:pt x="126596" y="1413752"/>
                  <a:pt x="149452" y="1390896"/>
                </a:cubicBezTo>
                <a:cubicBezTo>
                  <a:pt x="171864" y="1368484"/>
                  <a:pt x="190315" y="1341241"/>
                  <a:pt x="216687" y="1323660"/>
                </a:cubicBezTo>
                <a:cubicBezTo>
                  <a:pt x="230134" y="1314695"/>
                  <a:pt x="244613" y="1307112"/>
                  <a:pt x="257028" y="1296766"/>
                </a:cubicBezTo>
                <a:cubicBezTo>
                  <a:pt x="271637" y="1284592"/>
                  <a:pt x="282358" y="1268100"/>
                  <a:pt x="297369" y="1256425"/>
                </a:cubicBezTo>
                <a:cubicBezTo>
                  <a:pt x="322883" y="1236581"/>
                  <a:pt x="355196" y="1225493"/>
                  <a:pt x="378052" y="1202637"/>
                </a:cubicBezTo>
                <a:cubicBezTo>
                  <a:pt x="441250" y="1139439"/>
                  <a:pt x="402568" y="1172847"/>
                  <a:pt x="499075" y="1108508"/>
                </a:cubicBezTo>
                <a:cubicBezTo>
                  <a:pt x="551212" y="1073749"/>
                  <a:pt x="524082" y="1086724"/>
                  <a:pt x="579757" y="1068166"/>
                </a:cubicBezTo>
                <a:cubicBezTo>
                  <a:pt x="629508" y="1018417"/>
                  <a:pt x="596103" y="1048305"/>
                  <a:pt x="687334" y="987484"/>
                </a:cubicBezTo>
                <a:lnTo>
                  <a:pt x="727675" y="960590"/>
                </a:lnTo>
                <a:lnTo>
                  <a:pt x="768016" y="933696"/>
                </a:lnTo>
                <a:cubicBezTo>
                  <a:pt x="776981" y="920249"/>
                  <a:pt x="784392" y="905626"/>
                  <a:pt x="794910" y="893355"/>
                </a:cubicBezTo>
                <a:cubicBezTo>
                  <a:pt x="811412" y="874103"/>
                  <a:pt x="834634" y="860664"/>
                  <a:pt x="848699" y="839566"/>
                </a:cubicBezTo>
                <a:lnTo>
                  <a:pt x="902487" y="758884"/>
                </a:lnTo>
                <a:cubicBezTo>
                  <a:pt x="906969" y="714060"/>
                  <a:pt x="909980" y="669065"/>
                  <a:pt x="915934" y="624413"/>
                </a:cubicBezTo>
                <a:cubicBezTo>
                  <a:pt x="918955" y="601758"/>
                  <a:pt x="927107" y="579920"/>
                  <a:pt x="929381" y="557178"/>
                </a:cubicBezTo>
                <a:cubicBezTo>
                  <a:pt x="941984" y="431144"/>
                  <a:pt x="932825" y="380314"/>
                  <a:pt x="956275" y="274790"/>
                </a:cubicBezTo>
                <a:cubicBezTo>
                  <a:pt x="959350" y="260953"/>
                  <a:pt x="963383" y="247127"/>
                  <a:pt x="969722" y="234449"/>
                </a:cubicBezTo>
                <a:cubicBezTo>
                  <a:pt x="976950" y="219994"/>
                  <a:pt x="987651" y="207555"/>
                  <a:pt x="996616" y="194108"/>
                </a:cubicBezTo>
                <a:cubicBezTo>
                  <a:pt x="1005581" y="167214"/>
                  <a:pt x="1007785" y="137013"/>
                  <a:pt x="1023510" y="113425"/>
                </a:cubicBezTo>
                <a:cubicBezTo>
                  <a:pt x="1043481" y="83468"/>
                  <a:pt x="1049924" y="68090"/>
                  <a:pt x="1077299" y="46190"/>
                </a:cubicBezTo>
                <a:cubicBezTo>
                  <a:pt x="1162110" y="-21658"/>
                  <a:pt x="1133328" y="12573"/>
                  <a:pt x="1144534" y="5849"/>
                </a:cubicBezTo>
                <a:close/>
              </a:path>
            </a:pathLst>
          </a:custGeom>
          <a:noFill/>
          <a:ln w="412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Freeform 33">
            <a:extLst>
              <a:ext uri="{FF2B5EF4-FFF2-40B4-BE49-F238E27FC236}">
                <a16:creationId xmlns:a16="http://schemas.microsoft.com/office/drawing/2014/main" id="{2C5D60A0-99A6-0C28-CC9F-7F831030ADAB}"/>
              </a:ext>
            </a:extLst>
          </p:cNvPr>
          <p:cNvSpPr/>
          <p:nvPr/>
        </p:nvSpPr>
        <p:spPr>
          <a:xfrm>
            <a:off x="5795682" y="2407024"/>
            <a:ext cx="2300073" cy="2178423"/>
          </a:xfrm>
          <a:custGeom>
            <a:avLst/>
            <a:gdLst>
              <a:gd name="connsiteX0" fmla="*/ 376518 w 2300073"/>
              <a:gd name="connsiteY0" fmla="*/ 26894 h 2178423"/>
              <a:gd name="connsiteX1" fmla="*/ 376518 w 2300073"/>
              <a:gd name="connsiteY1" fmla="*/ 26894 h 2178423"/>
              <a:gd name="connsiteX2" fmla="*/ 510989 w 2300073"/>
              <a:gd name="connsiteY2" fmla="*/ 40341 h 2178423"/>
              <a:gd name="connsiteX3" fmla="*/ 712694 w 2300073"/>
              <a:gd name="connsiteY3" fmla="*/ 13447 h 2178423"/>
              <a:gd name="connsiteX4" fmla="*/ 820271 w 2300073"/>
              <a:gd name="connsiteY4" fmla="*/ 0 h 2178423"/>
              <a:gd name="connsiteX5" fmla="*/ 1465730 w 2300073"/>
              <a:gd name="connsiteY5" fmla="*/ 13447 h 2178423"/>
              <a:gd name="connsiteX6" fmla="*/ 1519518 w 2300073"/>
              <a:gd name="connsiteY6" fmla="*/ 80682 h 2178423"/>
              <a:gd name="connsiteX7" fmla="*/ 1613647 w 2300073"/>
              <a:gd name="connsiteY7" fmla="*/ 188258 h 2178423"/>
              <a:gd name="connsiteX8" fmla="*/ 1680883 w 2300073"/>
              <a:gd name="connsiteY8" fmla="*/ 309282 h 2178423"/>
              <a:gd name="connsiteX9" fmla="*/ 1667436 w 2300073"/>
              <a:gd name="connsiteY9" fmla="*/ 443752 h 2178423"/>
              <a:gd name="connsiteX10" fmla="*/ 1653989 w 2300073"/>
              <a:gd name="connsiteY10" fmla="*/ 484094 h 2178423"/>
              <a:gd name="connsiteX11" fmla="*/ 1627094 w 2300073"/>
              <a:gd name="connsiteY11" fmla="*/ 645458 h 2178423"/>
              <a:gd name="connsiteX12" fmla="*/ 1640542 w 2300073"/>
              <a:gd name="connsiteY12" fmla="*/ 1035423 h 2178423"/>
              <a:gd name="connsiteX13" fmla="*/ 1667436 w 2300073"/>
              <a:gd name="connsiteY13" fmla="*/ 1116105 h 2178423"/>
              <a:gd name="connsiteX14" fmla="*/ 1694330 w 2300073"/>
              <a:gd name="connsiteY14" fmla="*/ 1223682 h 2178423"/>
              <a:gd name="connsiteX15" fmla="*/ 1707777 w 2300073"/>
              <a:gd name="connsiteY15" fmla="*/ 1264023 h 2178423"/>
              <a:gd name="connsiteX16" fmla="*/ 1734671 w 2300073"/>
              <a:gd name="connsiteY16" fmla="*/ 1371600 h 2178423"/>
              <a:gd name="connsiteX17" fmla="*/ 1775012 w 2300073"/>
              <a:gd name="connsiteY17" fmla="*/ 1398494 h 2178423"/>
              <a:gd name="connsiteX18" fmla="*/ 2030506 w 2300073"/>
              <a:gd name="connsiteY18" fmla="*/ 1425388 h 2178423"/>
              <a:gd name="connsiteX19" fmla="*/ 2111189 w 2300073"/>
              <a:gd name="connsiteY19" fmla="*/ 1452282 h 2178423"/>
              <a:gd name="connsiteX20" fmla="*/ 2151530 w 2300073"/>
              <a:gd name="connsiteY20" fmla="*/ 1479176 h 2178423"/>
              <a:gd name="connsiteX21" fmla="*/ 2191871 w 2300073"/>
              <a:gd name="connsiteY21" fmla="*/ 1492623 h 2178423"/>
              <a:gd name="connsiteX22" fmla="*/ 2272553 w 2300073"/>
              <a:gd name="connsiteY22" fmla="*/ 1546411 h 2178423"/>
              <a:gd name="connsiteX23" fmla="*/ 2299447 w 2300073"/>
              <a:gd name="connsiteY23" fmla="*/ 1627094 h 2178423"/>
              <a:gd name="connsiteX24" fmla="*/ 2286000 w 2300073"/>
              <a:gd name="connsiteY24" fmla="*/ 1707776 h 2178423"/>
              <a:gd name="connsiteX25" fmla="*/ 2259106 w 2300073"/>
              <a:gd name="connsiteY25" fmla="*/ 1788458 h 2178423"/>
              <a:gd name="connsiteX26" fmla="*/ 2218765 w 2300073"/>
              <a:gd name="connsiteY26" fmla="*/ 1909482 h 2178423"/>
              <a:gd name="connsiteX27" fmla="*/ 2151530 w 2300073"/>
              <a:gd name="connsiteY27" fmla="*/ 2030505 h 2178423"/>
              <a:gd name="connsiteX28" fmla="*/ 2017059 w 2300073"/>
              <a:gd name="connsiteY28" fmla="*/ 2070847 h 2178423"/>
              <a:gd name="connsiteX29" fmla="*/ 1882589 w 2300073"/>
              <a:gd name="connsiteY29" fmla="*/ 2097741 h 2178423"/>
              <a:gd name="connsiteX30" fmla="*/ 1761565 w 2300073"/>
              <a:gd name="connsiteY30" fmla="*/ 2111188 h 2178423"/>
              <a:gd name="connsiteX31" fmla="*/ 1546412 w 2300073"/>
              <a:gd name="connsiteY31" fmla="*/ 2138082 h 2178423"/>
              <a:gd name="connsiteX32" fmla="*/ 1398494 w 2300073"/>
              <a:gd name="connsiteY32" fmla="*/ 2151529 h 2178423"/>
              <a:gd name="connsiteX33" fmla="*/ 1048871 w 2300073"/>
              <a:gd name="connsiteY33" fmla="*/ 2178423 h 2178423"/>
              <a:gd name="connsiteX34" fmla="*/ 658906 w 2300073"/>
              <a:gd name="connsiteY34" fmla="*/ 2164976 h 2178423"/>
              <a:gd name="connsiteX35" fmla="*/ 537883 w 2300073"/>
              <a:gd name="connsiteY35" fmla="*/ 2138082 h 2178423"/>
              <a:gd name="connsiteX36" fmla="*/ 457200 w 2300073"/>
              <a:gd name="connsiteY36" fmla="*/ 2124635 h 2178423"/>
              <a:gd name="connsiteX37" fmla="*/ 322730 w 2300073"/>
              <a:gd name="connsiteY37" fmla="*/ 2097741 h 2178423"/>
              <a:gd name="connsiteX38" fmla="*/ 242047 w 2300073"/>
              <a:gd name="connsiteY38" fmla="*/ 2070847 h 2178423"/>
              <a:gd name="connsiteX39" fmla="*/ 201706 w 2300073"/>
              <a:gd name="connsiteY39" fmla="*/ 2057400 h 2178423"/>
              <a:gd name="connsiteX40" fmla="*/ 134471 w 2300073"/>
              <a:gd name="connsiteY40" fmla="*/ 2017058 h 2178423"/>
              <a:gd name="connsiteX41" fmla="*/ 53789 w 2300073"/>
              <a:gd name="connsiteY41" fmla="*/ 1976717 h 2178423"/>
              <a:gd name="connsiteX42" fmla="*/ 26894 w 2300073"/>
              <a:gd name="connsiteY42" fmla="*/ 1949823 h 2178423"/>
              <a:gd name="connsiteX43" fmla="*/ 0 w 2300073"/>
              <a:gd name="connsiteY43" fmla="*/ 1869141 h 2178423"/>
              <a:gd name="connsiteX44" fmla="*/ 13447 w 2300073"/>
              <a:gd name="connsiteY44" fmla="*/ 1721223 h 2178423"/>
              <a:gd name="connsiteX45" fmla="*/ 40342 w 2300073"/>
              <a:gd name="connsiteY45" fmla="*/ 1640541 h 2178423"/>
              <a:gd name="connsiteX46" fmla="*/ 67236 w 2300073"/>
              <a:gd name="connsiteY46" fmla="*/ 1559858 h 2178423"/>
              <a:gd name="connsiteX47" fmla="*/ 94130 w 2300073"/>
              <a:gd name="connsiteY47" fmla="*/ 1465729 h 2178423"/>
              <a:gd name="connsiteX48" fmla="*/ 121024 w 2300073"/>
              <a:gd name="connsiteY48" fmla="*/ 1331258 h 2178423"/>
              <a:gd name="connsiteX49" fmla="*/ 134471 w 2300073"/>
              <a:gd name="connsiteY49" fmla="*/ 1290917 h 2178423"/>
              <a:gd name="connsiteX50" fmla="*/ 215153 w 2300073"/>
              <a:gd name="connsiteY50" fmla="*/ 1169894 h 2178423"/>
              <a:gd name="connsiteX51" fmla="*/ 242047 w 2300073"/>
              <a:gd name="connsiteY51" fmla="*/ 1129552 h 2178423"/>
              <a:gd name="connsiteX52" fmla="*/ 268942 w 2300073"/>
              <a:gd name="connsiteY52" fmla="*/ 1035423 h 2178423"/>
              <a:gd name="connsiteX53" fmla="*/ 295836 w 2300073"/>
              <a:gd name="connsiteY53" fmla="*/ 954741 h 2178423"/>
              <a:gd name="connsiteX54" fmla="*/ 322730 w 2300073"/>
              <a:gd name="connsiteY54" fmla="*/ 874058 h 2178423"/>
              <a:gd name="connsiteX55" fmla="*/ 336177 w 2300073"/>
              <a:gd name="connsiteY55" fmla="*/ 833717 h 2178423"/>
              <a:gd name="connsiteX56" fmla="*/ 349624 w 2300073"/>
              <a:gd name="connsiteY56" fmla="*/ 793376 h 2178423"/>
              <a:gd name="connsiteX57" fmla="*/ 376518 w 2300073"/>
              <a:gd name="connsiteY57" fmla="*/ 658905 h 2178423"/>
              <a:gd name="connsiteX58" fmla="*/ 389965 w 2300073"/>
              <a:gd name="connsiteY58" fmla="*/ 591670 h 2178423"/>
              <a:gd name="connsiteX59" fmla="*/ 363071 w 2300073"/>
              <a:gd name="connsiteY59" fmla="*/ 336176 h 2178423"/>
              <a:gd name="connsiteX60" fmla="*/ 336177 w 2300073"/>
              <a:gd name="connsiteY60" fmla="*/ 228600 h 2178423"/>
              <a:gd name="connsiteX61" fmla="*/ 349624 w 2300073"/>
              <a:gd name="connsiteY61" fmla="*/ 53788 h 2178423"/>
              <a:gd name="connsiteX62" fmla="*/ 389965 w 2300073"/>
              <a:gd name="connsiteY62" fmla="*/ 40341 h 2178423"/>
              <a:gd name="connsiteX63" fmla="*/ 349624 w 2300073"/>
              <a:gd name="connsiteY63" fmla="*/ 26894 h 2178423"/>
              <a:gd name="connsiteX64" fmla="*/ 376518 w 2300073"/>
              <a:gd name="connsiteY64" fmla="*/ 26894 h 2178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2300073" h="2178423">
                <a:moveTo>
                  <a:pt x="376518" y="26894"/>
                </a:moveTo>
                <a:lnTo>
                  <a:pt x="376518" y="26894"/>
                </a:lnTo>
                <a:cubicBezTo>
                  <a:pt x="421342" y="31376"/>
                  <a:pt x="465942" y="40341"/>
                  <a:pt x="510989" y="40341"/>
                </a:cubicBezTo>
                <a:cubicBezTo>
                  <a:pt x="631887" y="40341"/>
                  <a:pt x="619711" y="27752"/>
                  <a:pt x="712694" y="13447"/>
                </a:cubicBezTo>
                <a:cubicBezTo>
                  <a:pt x="748412" y="7952"/>
                  <a:pt x="784412" y="4482"/>
                  <a:pt x="820271" y="0"/>
                </a:cubicBezTo>
                <a:cubicBezTo>
                  <a:pt x="1035424" y="4482"/>
                  <a:pt x="1250902" y="810"/>
                  <a:pt x="1465730" y="13447"/>
                </a:cubicBezTo>
                <a:cubicBezTo>
                  <a:pt x="1514247" y="16301"/>
                  <a:pt x="1504133" y="52989"/>
                  <a:pt x="1519518" y="80682"/>
                </a:cubicBezTo>
                <a:cubicBezTo>
                  <a:pt x="1565660" y="163737"/>
                  <a:pt x="1554718" y="148972"/>
                  <a:pt x="1613647" y="188258"/>
                </a:cubicBezTo>
                <a:cubicBezTo>
                  <a:pt x="1675299" y="280735"/>
                  <a:pt x="1657215" y="238277"/>
                  <a:pt x="1680883" y="309282"/>
                </a:cubicBezTo>
                <a:cubicBezTo>
                  <a:pt x="1676401" y="354105"/>
                  <a:pt x="1674286" y="399229"/>
                  <a:pt x="1667436" y="443752"/>
                </a:cubicBezTo>
                <a:cubicBezTo>
                  <a:pt x="1665281" y="457762"/>
                  <a:pt x="1656525" y="470148"/>
                  <a:pt x="1653989" y="484094"/>
                </a:cubicBezTo>
                <a:cubicBezTo>
                  <a:pt x="1612024" y="714904"/>
                  <a:pt x="1662720" y="502966"/>
                  <a:pt x="1627094" y="645458"/>
                </a:cubicBezTo>
                <a:cubicBezTo>
                  <a:pt x="1631577" y="775446"/>
                  <a:pt x="1629434" y="905833"/>
                  <a:pt x="1640542" y="1035423"/>
                </a:cubicBezTo>
                <a:cubicBezTo>
                  <a:pt x="1642963" y="1063668"/>
                  <a:pt x="1658471" y="1089211"/>
                  <a:pt x="1667436" y="1116105"/>
                </a:cubicBezTo>
                <a:cubicBezTo>
                  <a:pt x="1698173" y="1208318"/>
                  <a:pt x="1661877" y="1093872"/>
                  <a:pt x="1694330" y="1223682"/>
                </a:cubicBezTo>
                <a:cubicBezTo>
                  <a:pt x="1697768" y="1237433"/>
                  <a:pt x="1704339" y="1250272"/>
                  <a:pt x="1707777" y="1264023"/>
                </a:cubicBezTo>
                <a:cubicBezTo>
                  <a:pt x="1708690" y="1267676"/>
                  <a:pt x="1723494" y="1357629"/>
                  <a:pt x="1734671" y="1371600"/>
                </a:cubicBezTo>
                <a:cubicBezTo>
                  <a:pt x="1744767" y="1384220"/>
                  <a:pt x="1760557" y="1391266"/>
                  <a:pt x="1775012" y="1398494"/>
                </a:cubicBezTo>
                <a:cubicBezTo>
                  <a:pt x="1842186" y="1432081"/>
                  <a:pt x="2010769" y="1424154"/>
                  <a:pt x="2030506" y="1425388"/>
                </a:cubicBezTo>
                <a:cubicBezTo>
                  <a:pt x="2057400" y="1434353"/>
                  <a:pt x="2087601" y="1436557"/>
                  <a:pt x="2111189" y="1452282"/>
                </a:cubicBezTo>
                <a:cubicBezTo>
                  <a:pt x="2124636" y="1461247"/>
                  <a:pt x="2137075" y="1471948"/>
                  <a:pt x="2151530" y="1479176"/>
                </a:cubicBezTo>
                <a:cubicBezTo>
                  <a:pt x="2164208" y="1485515"/>
                  <a:pt x="2179480" y="1485739"/>
                  <a:pt x="2191871" y="1492623"/>
                </a:cubicBezTo>
                <a:cubicBezTo>
                  <a:pt x="2220126" y="1508320"/>
                  <a:pt x="2272553" y="1546411"/>
                  <a:pt x="2272553" y="1546411"/>
                </a:cubicBezTo>
                <a:cubicBezTo>
                  <a:pt x="2281518" y="1573305"/>
                  <a:pt x="2304108" y="1599131"/>
                  <a:pt x="2299447" y="1627094"/>
                </a:cubicBezTo>
                <a:cubicBezTo>
                  <a:pt x="2294965" y="1653988"/>
                  <a:pt x="2292613" y="1681325"/>
                  <a:pt x="2286000" y="1707776"/>
                </a:cubicBezTo>
                <a:cubicBezTo>
                  <a:pt x="2279124" y="1735278"/>
                  <a:pt x="2268071" y="1761564"/>
                  <a:pt x="2259106" y="1788458"/>
                </a:cubicBezTo>
                <a:lnTo>
                  <a:pt x="2218765" y="1909482"/>
                </a:lnTo>
                <a:cubicBezTo>
                  <a:pt x="2206925" y="1945003"/>
                  <a:pt x="2186208" y="2018946"/>
                  <a:pt x="2151530" y="2030505"/>
                </a:cubicBezTo>
                <a:cubicBezTo>
                  <a:pt x="2104306" y="2046246"/>
                  <a:pt x="2069393" y="2058533"/>
                  <a:pt x="2017059" y="2070847"/>
                </a:cubicBezTo>
                <a:cubicBezTo>
                  <a:pt x="1972563" y="2081317"/>
                  <a:pt x="1928020" y="2092693"/>
                  <a:pt x="1882589" y="2097741"/>
                </a:cubicBezTo>
                <a:lnTo>
                  <a:pt x="1761565" y="2111188"/>
                </a:lnTo>
                <a:cubicBezTo>
                  <a:pt x="1689804" y="2119799"/>
                  <a:pt x="1618391" y="2131539"/>
                  <a:pt x="1546412" y="2138082"/>
                </a:cubicBezTo>
                <a:lnTo>
                  <a:pt x="1398494" y="2151529"/>
                </a:lnTo>
                <a:lnTo>
                  <a:pt x="1048871" y="2178423"/>
                </a:lnTo>
                <a:cubicBezTo>
                  <a:pt x="918883" y="2173941"/>
                  <a:pt x="788747" y="2172614"/>
                  <a:pt x="658906" y="2164976"/>
                </a:cubicBezTo>
                <a:cubicBezTo>
                  <a:pt x="625635" y="2163019"/>
                  <a:pt x="571727" y="2144851"/>
                  <a:pt x="537883" y="2138082"/>
                </a:cubicBezTo>
                <a:cubicBezTo>
                  <a:pt x="511147" y="2132735"/>
                  <a:pt x="483998" y="2129660"/>
                  <a:pt x="457200" y="2124635"/>
                </a:cubicBezTo>
                <a:cubicBezTo>
                  <a:pt x="412272" y="2116211"/>
                  <a:pt x="366095" y="2112196"/>
                  <a:pt x="322730" y="2097741"/>
                </a:cubicBezTo>
                <a:lnTo>
                  <a:pt x="242047" y="2070847"/>
                </a:lnTo>
                <a:lnTo>
                  <a:pt x="201706" y="2057400"/>
                </a:lnTo>
                <a:cubicBezTo>
                  <a:pt x="149177" y="2004869"/>
                  <a:pt x="204294" y="2051970"/>
                  <a:pt x="134471" y="2017058"/>
                </a:cubicBezTo>
                <a:cubicBezTo>
                  <a:pt x="30201" y="1964923"/>
                  <a:pt x="155187" y="2010516"/>
                  <a:pt x="53789" y="1976717"/>
                </a:cubicBezTo>
                <a:cubicBezTo>
                  <a:pt x="44824" y="1967752"/>
                  <a:pt x="32564" y="1961163"/>
                  <a:pt x="26894" y="1949823"/>
                </a:cubicBezTo>
                <a:cubicBezTo>
                  <a:pt x="14216" y="1924467"/>
                  <a:pt x="0" y="1869141"/>
                  <a:pt x="0" y="1869141"/>
                </a:cubicBezTo>
                <a:cubicBezTo>
                  <a:pt x="4482" y="1819835"/>
                  <a:pt x="4843" y="1769979"/>
                  <a:pt x="13447" y="1721223"/>
                </a:cubicBezTo>
                <a:cubicBezTo>
                  <a:pt x="18374" y="1693306"/>
                  <a:pt x="31377" y="1667435"/>
                  <a:pt x="40342" y="1640541"/>
                </a:cubicBezTo>
                <a:lnTo>
                  <a:pt x="67236" y="1559858"/>
                </a:lnTo>
                <a:cubicBezTo>
                  <a:pt x="80052" y="1521408"/>
                  <a:pt x="85687" y="1507943"/>
                  <a:pt x="94130" y="1465729"/>
                </a:cubicBezTo>
                <a:cubicBezTo>
                  <a:pt x="111740" y="1377677"/>
                  <a:pt x="100202" y="1404137"/>
                  <a:pt x="121024" y="1331258"/>
                </a:cubicBezTo>
                <a:cubicBezTo>
                  <a:pt x="124918" y="1317629"/>
                  <a:pt x="127587" y="1303308"/>
                  <a:pt x="134471" y="1290917"/>
                </a:cubicBezTo>
                <a:lnTo>
                  <a:pt x="215153" y="1169894"/>
                </a:lnTo>
                <a:cubicBezTo>
                  <a:pt x="224118" y="1156447"/>
                  <a:pt x="236936" y="1144884"/>
                  <a:pt x="242047" y="1129552"/>
                </a:cubicBezTo>
                <a:cubicBezTo>
                  <a:pt x="287238" y="993978"/>
                  <a:pt x="218286" y="1204271"/>
                  <a:pt x="268942" y="1035423"/>
                </a:cubicBezTo>
                <a:cubicBezTo>
                  <a:pt x="277088" y="1008270"/>
                  <a:pt x="286871" y="981635"/>
                  <a:pt x="295836" y="954741"/>
                </a:cubicBezTo>
                <a:lnTo>
                  <a:pt x="322730" y="874058"/>
                </a:lnTo>
                <a:lnTo>
                  <a:pt x="336177" y="833717"/>
                </a:lnTo>
                <a:cubicBezTo>
                  <a:pt x="340659" y="820270"/>
                  <a:pt x="346844" y="807275"/>
                  <a:pt x="349624" y="793376"/>
                </a:cubicBezTo>
                <a:lnTo>
                  <a:pt x="376518" y="658905"/>
                </a:lnTo>
                <a:lnTo>
                  <a:pt x="389965" y="591670"/>
                </a:lnTo>
                <a:cubicBezTo>
                  <a:pt x="365722" y="203783"/>
                  <a:pt x="401197" y="475970"/>
                  <a:pt x="363071" y="336176"/>
                </a:cubicBezTo>
                <a:cubicBezTo>
                  <a:pt x="353346" y="300516"/>
                  <a:pt x="336177" y="228600"/>
                  <a:pt x="336177" y="228600"/>
                </a:cubicBezTo>
                <a:cubicBezTo>
                  <a:pt x="340659" y="170329"/>
                  <a:pt x="333569" y="109982"/>
                  <a:pt x="349624" y="53788"/>
                </a:cubicBezTo>
                <a:cubicBezTo>
                  <a:pt x="353518" y="40159"/>
                  <a:pt x="389965" y="54515"/>
                  <a:pt x="389965" y="40341"/>
                </a:cubicBezTo>
                <a:cubicBezTo>
                  <a:pt x="389965" y="26167"/>
                  <a:pt x="362302" y="33233"/>
                  <a:pt x="349624" y="26894"/>
                </a:cubicBezTo>
                <a:cubicBezTo>
                  <a:pt x="343954" y="24059"/>
                  <a:pt x="372036" y="26894"/>
                  <a:pt x="376518" y="26894"/>
                </a:cubicBezTo>
                <a:close/>
              </a:path>
            </a:pathLst>
          </a:custGeom>
          <a:noFill/>
          <a:ln w="412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355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3" grpId="0" animBg="1"/>
      <p:bldP spid="3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For loop syntax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22848"/>
              </p:ext>
            </p:extLst>
          </p:nvPr>
        </p:nvGraphicFramePr>
        <p:xfrm>
          <a:off x="266700" y="3581400"/>
          <a:ext cx="8610600" cy="23469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FF0000"/>
                          </a:solidFill>
                        </a:rPr>
                        <a:t>initialization</a:t>
                      </a:r>
                      <a:endParaRPr lang="en-IE" sz="24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3200" b="0" dirty="0"/>
                        <a:t>int </a:t>
                      </a:r>
                      <a:r>
                        <a:rPr lang="en-IE" sz="3200" b="0" dirty="0" err="1"/>
                        <a:t>i</a:t>
                      </a:r>
                      <a:r>
                        <a:rPr lang="en-IE" sz="3200" b="0" dirty="0"/>
                        <a:t> = 1;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dirty="0" err="1"/>
                        <a:t>Initialise</a:t>
                      </a:r>
                      <a:r>
                        <a:rPr lang="en-US" sz="2000" b="0" dirty="0"/>
                        <a:t> a loop control variable</a:t>
                      </a:r>
                      <a:r>
                        <a:rPr lang="en-US" sz="2000" b="0" baseline="0" dirty="0"/>
                        <a:t> (LCV) e.g. </a:t>
                      </a:r>
                      <a:r>
                        <a:rPr lang="en-US" sz="2000" b="0" baseline="0" dirty="0" err="1"/>
                        <a:t>i</a:t>
                      </a:r>
                      <a:r>
                        <a:rPr lang="en-US" sz="2000" b="0" baseline="0" dirty="0"/>
                        <a:t>.</a:t>
                      </a:r>
                    </a:p>
                    <a:p>
                      <a:r>
                        <a:rPr lang="en-US" sz="2000" b="0" dirty="0"/>
                        <a:t>It can include a variable declaration.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err="1">
                          <a:solidFill>
                            <a:srgbClr val="00B050"/>
                          </a:solidFill>
                        </a:rPr>
                        <a:t>boolean</a:t>
                      </a:r>
                      <a:r>
                        <a:rPr lang="en-US" sz="2400" b="1" dirty="0">
                          <a:solidFill>
                            <a:srgbClr val="00B050"/>
                          </a:solidFill>
                        </a:rPr>
                        <a:t> condition</a:t>
                      </a:r>
                      <a:endParaRPr lang="en-IE" sz="24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3200" b="0" dirty="0" err="1"/>
                        <a:t>i</a:t>
                      </a:r>
                      <a:r>
                        <a:rPr lang="en-IE" sz="3200" b="0" dirty="0"/>
                        <a:t> &lt;= 4;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/>
                        <a:t>Is a valid </a:t>
                      </a:r>
                      <a:r>
                        <a:rPr lang="en-US" sz="2000" b="0" dirty="0" err="1"/>
                        <a:t>boolean</a:t>
                      </a:r>
                      <a:r>
                        <a:rPr lang="en-US" sz="2000" b="0" dirty="0"/>
                        <a:t> condition</a:t>
                      </a:r>
                      <a:r>
                        <a:rPr lang="en-US" sz="2000" b="0" baseline="0" dirty="0"/>
                        <a:t> that typically tests the loop control variable (LCV).</a:t>
                      </a:r>
                      <a:endParaRPr lang="en-US" sz="20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0070C0"/>
                          </a:solidFill>
                        </a:rPr>
                        <a:t>post-body 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3200" b="0" dirty="0" err="1"/>
                        <a:t>i</a:t>
                      </a:r>
                      <a:r>
                        <a:rPr lang="en-IE" sz="3200" b="0" dirty="0"/>
                        <a:t>++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/>
                        <a:t>A change to the loop control variable (LCV).</a:t>
                      </a:r>
                    </a:p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/>
                        <a:t>Contains</a:t>
                      </a:r>
                      <a:r>
                        <a:rPr lang="en-US" sz="2000" b="0" baseline="0" dirty="0"/>
                        <a:t> an assignment statement.</a:t>
                      </a:r>
                      <a:endParaRPr lang="en-US" sz="20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DA619F92-D07A-33FB-270D-9645ADFAA9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060292"/>
            <a:ext cx="7474048" cy="711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5601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urier New" pitchFamily="28" charset="0"/>
              </a:rPr>
              <a:t>for</a:t>
            </a:r>
            <a:r>
              <a:rPr lang="en-US" dirty="0"/>
              <a:t> Loop Flowchart</a:t>
            </a:r>
          </a:p>
        </p:txBody>
      </p:sp>
      <p:grpSp>
        <p:nvGrpSpPr>
          <p:cNvPr id="161795" name="Group 3"/>
          <p:cNvGrpSpPr>
            <a:grpSpLocks/>
          </p:cNvGrpSpPr>
          <p:nvPr/>
        </p:nvGrpSpPr>
        <p:grpSpPr bwMode="auto">
          <a:xfrm>
            <a:off x="609600" y="1752600"/>
            <a:ext cx="6483350" cy="4038600"/>
            <a:chOff x="1148" y="1008"/>
            <a:chExt cx="4084" cy="2544"/>
          </a:xfrm>
        </p:grpSpPr>
        <p:sp>
          <p:nvSpPr>
            <p:cNvPr id="161796" name="Rectangle 4"/>
            <p:cNvSpPr>
              <a:spLocks noChangeArrowheads="1"/>
            </p:cNvSpPr>
            <p:nvPr/>
          </p:nvSpPr>
          <p:spPr bwMode="auto">
            <a:xfrm rot="2701371">
              <a:off x="1152" y="1728"/>
              <a:ext cx="720" cy="72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10800000" vert="eaVert" wrap="none" anchor="ctr"/>
            <a:lstStyle/>
            <a:p>
              <a:pPr eaLnBrk="1" hangingPunct="1"/>
              <a:endParaRPr lang="en-US" sz="1800" b="0">
                <a:solidFill>
                  <a:schemeClr val="tx1"/>
                </a:solidFill>
                <a:latin typeface="Times New Roman" pitchFamily="28" charset="0"/>
              </a:endParaRPr>
            </a:p>
          </p:txBody>
        </p:sp>
        <p:sp>
          <p:nvSpPr>
            <p:cNvPr id="161797" name="Rectangle 5"/>
            <p:cNvSpPr>
              <a:spLocks noChangeArrowheads="1"/>
            </p:cNvSpPr>
            <p:nvPr/>
          </p:nvSpPr>
          <p:spPr bwMode="auto">
            <a:xfrm>
              <a:off x="2544" y="1968"/>
              <a:ext cx="1200" cy="24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eaLnBrk="1" hangingPunct="1"/>
              <a:r>
                <a:rPr lang="en-US" sz="1800" b="0" dirty="0">
                  <a:solidFill>
                    <a:schemeClr val="tx1"/>
                  </a:solidFill>
                  <a:latin typeface="Times New Roman" pitchFamily="28" charset="0"/>
                </a:rPr>
                <a:t>statement(s)</a:t>
              </a:r>
            </a:p>
          </p:txBody>
        </p:sp>
        <p:sp>
          <p:nvSpPr>
            <p:cNvPr id="161798" name="Text Box 6"/>
            <p:cNvSpPr txBox="1">
              <a:spLocks noChangeArrowheads="1"/>
            </p:cNvSpPr>
            <p:nvPr/>
          </p:nvSpPr>
          <p:spPr bwMode="auto">
            <a:xfrm>
              <a:off x="2064" y="1881"/>
              <a:ext cx="34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sz="1800" b="0" dirty="0">
                  <a:solidFill>
                    <a:schemeClr val="tx1"/>
                  </a:solidFill>
                  <a:latin typeface="Times New Roman" pitchFamily="28" charset="0"/>
                </a:rPr>
                <a:t>true</a:t>
              </a:r>
            </a:p>
          </p:txBody>
        </p:sp>
        <p:sp>
          <p:nvSpPr>
            <p:cNvPr id="161799" name="Line 7"/>
            <p:cNvSpPr>
              <a:spLocks noChangeShapeType="1"/>
            </p:cNvSpPr>
            <p:nvPr/>
          </p:nvSpPr>
          <p:spPr bwMode="auto">
            <a:xfrm>
              <a:off x="1506" y="2640"/>
              <a:ext cx="0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cxnSp>
          <p:nvCxnSpPr>
            <p:cNvPr id="161800" name="AutoShape 8"/>
            <p:cNvCxnSpPr>
              <a:cxnSpLocks noChangeShapeType="1"/>
              <a:stCxn id="161805" idx="0"/>
            </p:cNvCxnSpPr>
            <p:nvPr/>
          </p:nvCxnSpPr>
          <p:spPr bwMode="auto">
            <a:xfrm rot="5400000" flipH="1">
              <a:off x="2628" y="-36"/>
              <a:ext cx="960" cy="3048"/>
            </a:xfrm>
            <a:prstGeom prst="bentConnector2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</p:cxnSp>
        <p:sp>
          <p:nvSpPr>
            <p:cNvPr id="161801" name="Line 9"/>
            <p:cNvSpPr>
              <a:spLocks noChangeShapeType="1"/>
            </p:cNvSpPr>
            <p:nvPr/>
          </p:nvSpPr>
          <p:spPr bwMode="auto">
            <a:xfrm>
              <a:off x="1536" y="1008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61802" name="Text Box 10"/>
            <p:cNvSpPr txBox="1">
              <a:spLocks noChangeArrowheads="1"/>
            </p:cNvSpPr>
            <p:nvPr/>
          </p:nvSpPr>
          <p:spPr bwMode="auto">
            <a:xfrm>
              <a:off x="1148" y="1884"/>
              <a:ext cx="724" cy="4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sz="1800" b="0" dirty="0" err="1">
                  <a:solidFill>
                    <a:schemeClr val="tx1"/>
                  </a:solidFill>
                  <a:latin typeface="Courier New" pitchFamily="28" charset="0"/>
                </a:rPr>
                <a:t>boolean</a:t>
              </a:r>
              <a:endParaRPr lang="en-US" sz="1800" b="0" dirty="0">
                <a:solidFill>
                  <a:schemeClr val="tx1"/>
                </a:solidFill>
                <a:latin typeface="Courier New" pitchFamily="28" charset="0"/>
              </a:endParaRPr>
            </a:p>
            <a:p>
              <a:pPr eaLnBrk="1" hangingPunct="1"/>
              <a:r>
                <a:rPr lang="en-US" sz="1800" b="0" dirty="0">
                  <a:solidFill>
                    <a:schemeClr val="tx1"/>
                  </a:solidFill>
                  <a:latin typeface="Times New Roman" pitchFamily="28" charset="0"/>
                </a:rPr>
                <a:t>condition?</a:t>
              </a:r>
            </a:p>
          </p:txBody>
        </p:sp>
        <p:sp>
          <p:nvSpPr>
            <p:cNvPr id="161803" name="Text Box 11"/>
            <p:cNvSpPr txBox="1">
              <a:spLocks noChangeArrowheads="1"/>
            </p:cNvSpPr>
            <p:nvPr/>
          </p:nvSpPr>
          <p:spPr bwMode="auto">
            <a:xfrm>
              <a:off x="1536" y="2880"/>
              <a:ext cx="38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sz="1800" b="0" dirty="0">
                  <a:solidFill>
                    <a:schemeClr val="tx1"/>
                  </a:solidFill>
                  <a:latin typeface="Times New Roman" pitchFamily="28" charset="0"/>
                </a:rPr>
                <a:t>false</a:t>
              </a:r>
            </a:p>
          </p:txBody>
        </p:sp>
        <p:sp>
          <p:nvSpPr>
            <p:cNvPr id="161804" name="Line 12"/>
            <p:cNvSpPr>
              <a:spLocks noChangeShapeType="1"/>
            </p:cNvSpPr>
            <p:nvPr/>
          </p:nvSpPr>
          <p:spPr bwMode="auto">
            <a:xfrm flipV="1">
              <a:off x="2064" y="2112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61805" name="Rectangle 13"/>
            <p:cNvSpPr>
              <a:spLocks noChangeArrowheads="1"/>
            </p:cNvSpPr>
            <p:nvPr/>
          </p:nvSpPr>
          <p:spPr bwMode="auto">
            <a:xfrm>
              <a:off x="4032" y="1968"/>
              <a:ext cx="1200" cy="24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eaLnBrk="1" hangingPunct="1"/>
              <a:r>
                <a:rPr lang="en-US" sz="1800" b="0" dirty="0">
                  <a:solidFill>
                    <a:schemeClr val="tx1"/>
                  </a:solidFill>
                  <a:latin typeface="Times New Roman" pitchFamily="28" charset="0"/>
                </a:rPr>
                <a:t>update</a:t>
              </a:r>
            </a:p>
          </p:txBody>
        </p:sp>
        <p:sp>
          <p:nvSpPr>
            <p:cNvPr id="161806" name="Line 14"/>
            <p:cNvSpPr>
              <a:spLocks noChangeShapeType="1"/>
            </p:cNvSpPr>
            <p:nvPr/>
          </p:nvSpPr>
          <p:spPr bwMode="auto">
            <a:xfrm>
              <a:off x="3792" y="2112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7FCC2367-6F6D-57F6-89DE-0CF48EB25FFB}"/>
              </a:ext>
            </a:extLst>
          </p:cNvPr>
          <p:cNvSpPr/>
          <p:nvPr/>
        </p:nvSpPr>
        <p:spPr>
          <a:xfrm>
            <a:off x="2209800" y="3962400"/>
            <a:ext cx="6282691" cy="1676400"/>
          </a:xfrm>
          <a:prstGeom prst="rect">
            <a:avLst/>
          </a:prstGeom>
          <a:gradFill>
            <a:gsLst>
              <a:gs pos="0">
                <a:schemeClr val="accent6">
                  <a:tint val="50000"/>
                  <a:satMod val="300000"/>
                </a:schemeClr>
              </a:gs>
              <a:gs pos="35000">
                <a:schemeClr val="accent6">
                  <a:tint val="37000"/>
                  <a:satMod val="300000"/>
                </a:schemeClr>
              </a:gs>
              <a:gs pos="100000">
                <a:schemeClr val="accent6">
                  <a:tint val="15000"/>
                  <a:satMod val="350000"/>
                </a:schemeClr>
              </a:gs>
            </a:gsLst>
            <a:lin ang="162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 </a:t>
            </a:r>
          </a:p>
          <a:p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for (int </a:t>
            </a:r>
            <a:r>
              <a:rPr lang="en-US" sz="28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</a:t>
            </a:r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= 1; </a:t>
            </a:r>
            <a:r>
              <a:rPr lang="en-US" sz="28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</a:t>
            </a:r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&lt;=4; </a:t>
            </a:r>
            <a:r>
              <a:rPr lang="en-US" sz="28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</a:t>
            </a:r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++) {</a:t>
            </a:r>
          </a:p>
          <a:p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  </a:t>
            </a:r>
            <a:r>
              <a:rPr lang="en-US" sz="28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System.out.println</a:t>
            </a:r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("Hello World");</a:t>
            </a:r>
          </a:p>
          <a:p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}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8717B7-D8A8-823E-7EAC-B6413D0216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153" y="5384800"/>
            <a:ext cx="25654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561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loop:  all parts are optional</a:t>
            </a:r>
          </a:p>
        </p:txBody>
      </p:sp>
      <p:sp>
        <p:nvSpPr>
          <p:cNvPr id="152579" name="Rectangle 3"/>
          <p:cNvSpPr>
            <a:spLocks noGrp="1" noChangeArrowheads="1"/>
          </p:cNvSpPr>
          <p:nvPr>
            <p:ph idx="1"/>
          </p:nvPr>
        </p:nvSpPr>
        <p:spPr>
          <a:xfrm>
            <a:off x="990600" y="1905000"/>
            <a:ext cx="4114800" cy="2438400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Font typeface="Times" pitchFamily="28" charset="0"/>
              <a:buNone/>
            </a:pPr>
            <a:r>
              <a:rPr lang="en-US" dirty="0"/>
              <a:t>for (  ;  ;  )</a:t>
            </a:r>
          </a:p>
          <a:p>
            <a:pPr>
              <a:buFont typeface="Times" pitchFamily="28" charset="0"/>
              <a:buNone/>
            </a:pPr>
            <a:r>
              <a:rPr lang="en-US" dirty="0"/>
              <a:t>{</a:t>
            </a:r>
          </a:p>
          <a:p>
            <a:pPr>
              <a:buFont typeface="Times" pitchFamily="28" charset="0"/>
              <a:buNone/>
            </a:pPr>
            <a:r>
              <a:rPr lang="en-US" dirty="0"/>
              <a:t>      // statements  here</a:t>
            </a:r>
          </a:p>
          <a:p>
            <a:pPr>
              <a:buFont typeface="Times" pitchFamily="28" charset="0"/>
              <a:buNone/>
            </a:pPr>
            <a:r>
              <a:rPr lang="en-US" dirty="0"/>
              <a:t>}</a:t>
            </a:r>
          </a:p>
          <a:p>
            <a:pPr>
              <a:buFont typeface="Times" pitchFamily="28" charset="0"/>
              <a:buNone/>
            </a:pPr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3200400" y="4800600"/>
            <a:ext cx="4724400" cy="64633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Font typeface="Times" pitchFamily="28" charset="0"/>
              <a:buNone/>
            </a:pPr>
            <a:r>
              <a:rPr lang="en-US" sz="3600" dirty="0"/>
              <a:t>This is an infinite loop…</a:t>
            </a:r>
          </a:p>
        </p:txBody>
      </p:sp>
    </p:spTree>
    <p:extLst>
      <p:ext uri="{BB962C8B-B14F-4D97-AF65-F5344CB8AC3E}">
        <p14:creationId xmlns:p14="http://schemas.microsoft.com/office/powerpoint/2010/main" val="3372189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-8965"/>
            <a:ext cx="4191000" cy="1828800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IE" dirty="0"/>
              <a:t>Loops can be </a:t>
            </a:r>
            <a:br>
              <a:rPr lang="en-IE" dirty="0"/>
            </a:br>
            <a:r>
              <a:rPr lang="en-IE" dirty="0"/>
              <a:t>nested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267200" y="4146088"/>
            <a:ext cx="4039069" cy="255454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IE" sz="1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 value of </a:t>
            </a:r>
            <a:r>
              <a:rPr lang="en-IE" sz="1000"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</a:t>
            </a:r>
            <a:r>
              <a:rPr lang="en-IE" sz="1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is: 0 and j is: 0</a:t>
            </a:r>
          </a:p>
          <a:p>
            <a:pPr algn="ctr"/>
            <a:r>
              <a:rPr lang="en-IE" sz="1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 value of </a:t>
            </a:r>
            <a:r>
              <a:rPr lang="en-IE" sz="1000"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</a:t>
            </a:r>
            <a:r>
              <a:rPr lang="en-IE" sz="1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is: 0 and j is: 1</a:t>
            </a:r>
          </a:p>
          <a:p>
            <a:pPr algn="ctr"/>
            <a:r>
              <a:rPr lang="en-IE" sz="1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 value of </a:t>
            </a:r>
            <a:r>
              <a:rPr lang="en-IE" sz="1000"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</a:t>
            </a:r>
            <a:r>
              <a:rPr lang="en-IE" sz="1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is: 0 and j is: 2</a:t>
            </a:r>
          </a:p>
          <a:p>
            <a:pPr algn="ctr"/>
            <a:r>
              <a:rPr lang="en-IE" sz="1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 value of </a:t>
            </a:r>
            <a:r>
              <a:rPr lang="en-IE" sz="1000"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</a:t>
            </a:r>
            <a:r>
              <a:rPr lang="en-IE" sz="1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is: 0 and j is: 3</a:t>
            </a:r>
          </a:p>
          <a:p>
            <a:pPr algn="ctr"/>
            <a:r>
              <a:rPr lang="en-IE" sz="1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 value of </a:t>
            </a:r>
            <a:r>
              <a:rPr lang="en-IE" sz="1000"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</a:t>
            </a:r>
            <a:r>
              <a:rPr lang="en-IE" sz="1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is: 1 and j is: 0</a:t>
            </a:r>
          </a:p>
          <a:p>
            <a:pPr algn="ctr"/>
            <a:r>
              <a:rPr lang="en-IE" sz="1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 value of </a:t>
            </a:r>
            <a:r>
              <a:rPr lang="en-IE" sz="1000"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</a:t>
            </a:r>
            <a:r>
              <a:rPr lang="en-IE" sz="1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is: 1 and j is: 1</a:t>
            </a:r>
          </a:p>
          <a:p>
            <a:pPr algn="ctr"/>
            <a:r>
              <a:rPr lang="en-IE" sz="1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 value of </a:t>
            </a:r>
            <a:r>
              <a:rPr lang="en-IE" sz="1000"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</a:t>
            </a:r>
            <a:r>
              <a:rPr lang="en-IE" sz="1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is: 1 and j is: 2</a:t>
            </a:r>
          </a:p>
          <a:p>
            <a:pPr algn="ctr"/>
            <a:r>
              <a:rPr lang="en-IE" sz="1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 value of </a:t>
            </a:r>
            <a:r>
              <a:rPr lang="en-IE" sz="1000"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</a:t>
            </a:r>
            <a:r>
              <a:rPr lang="en-IE" sz="1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is: 1 and j is: 3</a:t>
            </a:r>
          </a:p>
          <a:p>
            <a:pPr algn="ctr"/>
            <a:r>
              <a:rPr lang="en-IE" sz="1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 value of </a:t>
            </a:r>
            <a:r>
              <a:rPr lang="en-IE" sz="1000"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</a:t>
            </a:r>
            <a:r>
              <a:rPr lang="en-IE" sz="1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is: 2 and j is: 0</a:t>
            </a:r>
          </a:p>
          <a:p>
            <a:pPr algn="ctr"/>
            <a:r>
              <a:rPr lang="en-IE" sz="1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 value of </a:t>
            </a:r>
            <a:r>
              <a:rPr lang="en-IE" sz="1000"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</a:t>
            </a:r>
            <a:r>
              <a:rPr lang="en-IE" sz="1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is: 2 and j is: 1</a:t>
            </a:r>
          </a:p>
          <a:p>
            <a:pPr algn="ctr"/>
            <a:r>
              <a:rPr lang="en-IE" sz="1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 value of </a:t>
            </a:r>
            <a:r>
              <a:rPr lang="en-IE" sz="1000"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</a:t>
            </a:r>
            <a:r>
              <a:rPr lang="en-IE" sz="1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is: 2 and j is: 2</a:t>
            </a:r>
          </a:p>
          <a:p>
            <a:pPr algn="ctr"/>
            <a:r>
              <a:rPr lang="en-IE" sz="1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 value of </a:t>
            </a:r>
            <a:r>
              <a:rPr lang="en-IE" sz="1000"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</a:t>
            </a:r>
            <a:r>
              <a:rPr lang="en-IE" sz="1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is: 2 and j is: 3</a:t>
            </a:r>
          </a:p>
          <a:p>
            <a:pPr algn="ctr"/>
            <a:r>
              <a:rPr lang="en-IE" sz="1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 value of </a:t>
            </a:r>
            <a:r>
              <a:rPr lang="en-IE" sz="1000"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</a:t>
            </a:r>
            <a:r>
              <a:rPr lang="en-IE" sz="1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is: 3 and j is: 0</a:t>
            </a:r>
          </a:p>
          <a:p>
            <a:pPr algn="ctr"/>
            <a:r>
              <a:rPr lang="en-IE" sz="1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 value of </a:t>
            </a:r>
            <a:r>
              <a:rPr lang="en-IE" sz="1000"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</a:t>
            </a:r>
            <a:r>
              <a:rPr lang="en-IE" sz="1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is: 3 and j is: 1</a:t>
            </a:r>
          </a:p>
          <a:p>
            <a:pPr algn="ctr"/>
            <a:r>
              <a:rPr lang="en-IE" sz="1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 value of </a:t>
            </a:r>
            <a:r>
              <a:rPr lang="en-IE" sz="1000"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</a:t>
            </a:r>
            <a:r>
              <a:rPr lang="en-IE" sz="1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is: 3 and j is: 2</a:t>
            </a:r>
          </a:p>
          <a:p>
            <a:pPr algn="ctr"/>
            <a:r>
              <a:rPr lang="en-IE" sz="1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 value of </a:t>
            </a:r>
            <a:r>
              <a:rPr lang="en-IE" sz="1000"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</a:t>
            </a:r>
            <a:r>
              <a:rPr lang="en-IE" sz="1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is: 3 and j is: 3</a:t>
            </a:r>
          </a:p>
        </p:txBody>
      </p:sp>
      <p:sp>
        <p:nvSpPr>
          <p:cNvPr id="6" name="Donut 5"/>
          <p:cNvSpPr/>
          <p:nvPr/>
        </p:nvSpPr>
        <p:spPr>
          <a:xfrm>
            <a:off x="2743200" y="862425"/>
            <a:ext cx="2362200" cy="770965"/>
          </a:xfrm>
          <a:prstGeom prst="donut">
            <a:avLst>
              <a:gd name="adj" fmla="val 7374"/>
            </a:avLst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19BBCC9-7E27-0D71-9BDE-C7E1DB9FE6C1}"/>
              </a:ext>
            </a:extLst>
          </p:cNvPr>
          <p:cNvGrpSpPr/>
          <p:nvPr/>
        </p:nvGrpSpPr>
        <p:grpSpPr>
          <a:xfrm>
            <a:off x="495065" y="1801906"/>
            <a:ext cx="8686800" cy="2308324"/>
            <a:chOff x="457200" y="1874786"/>
            <a:chExt cx="8686800" cy="2308324"/>
          </a:xfrm>
        </p:grpSpPr>
        <p:sp>
          <p:nvSpPr>
            <p:cNvPr id="4" name="Rectangle 3"/>
            <p:cNvSpPr/>
            <p:nvPr/>
          </p:nvSpPr>
          <p:spPr>
            <a:xfrm>
              <a:off x="457200" y="1874786"/>
              <a:ext cx="8686800" cy="2308324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IE" sz="2400" dirty="0"/>
                <a:t>for (int </a:t>
              </a:r>
              <a:r>
                <a:rPr lang="en-IE" sz="2400" dirty="0" err="1"/>
                <a:t>i</a:t>
              </a:r>
              <a:r>
                <a:rPr lang="en-IE" sz="2400" dirty="0"/>
                <a:t>=0; </a:t>
              </a:r>
              <a:r>
                <a:rPr lang="en-IE" sz="2400" dirty="0" err="1"/>
                <a:t>i</a:t>
              </a:r>
              <a:r>
                <a:rPr lang="en-IE" sz="2400" dirty="0"/>
                <a:t> &lt; 4; </a:t>
              </a:r>
              <a:r>
                <a:rPr lang="en-IE" sz="2400" dirty="0" err="1"/>
                <a:t>i</a:t>
              </a:r>
              <a:r>
                <a:rPr lang="en-IE" sz="2400" dirty="0"/>
                <a:t>++){</a:t>
              </a:r>
            </a:p>
            <a:p>
              <a:endParaRPr lang="en-IE" sz="2400" dirty="0"/>
            </a:p>
            <a:p>
              <a:endParaRPr lang="en-IE" sz="2400" dirty="0"/>
            </a:p>
            <a:p>
              <a:endParaRPr lang="en-IE" sz="2400" dirty="0"/>
            </a:p>
            <a:p>
              <a:endParaRPr lang="en-IE" sz="2400" dirty="0"/>
            </a:p>
            <a:p>
              <a:r>
                <a:rPr lang="en-IE" sz="2400" dirty="0"/>
                <a:t>}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D535D48-F204-0A75-0E41-738C39A280FC}"/>
                </a:ext>
              </a:extLst>
            </p:cNvPr>
            <p:cNvSpPr/>
            <p:nvPr/>
          </p:nvSpPr>
          <p:spPr>
            <a:xfrm>
              <a:off x="878072" y="2428783"/>
              <a:ext cx="7010870" cy="1200329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IE" sz="2400" dirty="0"/>
                <a:t>for (int j=0; j &lt; 4; </a:t>
              </a:r>
              <a:r>
                <a:rPr lang="en-IE" sz="2400" dirty="0" err="1"/>
                <a:t>j++</a:t>
              </a:r>
              <a:r>
                <a:rPr lang="en-IE" sz="2400" dirty="0"/>
                <a:t>){</a:t>
              </a:r>
            </a:p>
            <a:p>
              <a:r>
                <a:rPr lang="en-IE" sz="2400" dirty="0"/>
                <a:t>        </a:t>
              </a:r>
              <a:r>
                <a:rPr lang="en-IE" sz="2400" dirty="0" err="1"/>
                <a:t>println</a:t>
              </a:r>
              <a:r>
                <a:rPr lang="en-IE" sz="2400" dirty="0"/>
                <a:t>("The value of </a:t>
              </a:r>
              <a:r>
                <a:rPr lang="en-IE" sz="2400" dirty="0" err="1"/>
                <a:t>i</a:t>
              </a:r>
              <a:r>
                <a:rPr lang="en-IE" sz="2400" dirty="0"/>
                <a:t> is: " + </a:t>
              </a:r>
              <a:r>
                <a:rPr lang="en-IE" sz="2400" dirty="0" err="1"/>
                <a:t>i</a:t>
              </a:r>
              <a:r>
                <a:rPr lang="en-IE" sz="2400" dirty="0"/>
                <a:t> + " and j is: " + j);</a:t>
              </a:r>
            </a:p>
            <a:p>
              <a:r>
                <a:rPr lang="en-IE" sz="2400" dirty="0"/>
                <a:t>       }</a:t>
              </a:r>
            </a:p>
          </p:txBody>
        </p:sp>
      </p:grpSp>
      <p:sp>
        <p:nvSpPr>
          <p:cNvPr id="3" name="Arrow: Right 2">
            <a:extLst>
              <a:ext uri="{FF2B5EF4-FFF2-40B4-BE49-F238E27FC236}">
                <a16:creationId xmlns:a16="http://schemas.microsoft.com/office/drawing/2014/main" id="{2B289B29-6F70-4C60-8CD5-BBC2412CA2AB}"/>
              </a:ext>
            </a:extLst>
          </p:cNvPr>
          <p:cNvSpPr/>
          <p:nvPr/>
        </p:nvSpPr>
        <p:spPr>
          <a:xfrm>
            <a:off x="0" y="2329009"/>
            <a:ext cx="685331" cy="486586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A71AC7F1-E1D1-462E-9B72-37BB57438BA5}"/>
              </a:ext>
            </a:extLst>
          </p:cNvPr>
          <p:cNvSpPr/>
          <p:nvPr/>
        </p:nvSpPr>
        <p:spPr>
          <a:xfrm>
            <a:off x="837730" y="2712774"/>
            <a:ext cx="685331" cy="486586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91125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6" grpId="1" animBg="1"/>
      <p:bldP spid="3" grpId="0" animBg="1"/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267D1-A1E3-B3A0-414F-88FB346F2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DCF62-AC00-7BEE-13AF-1F03A6FF4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6B5620-B5DF-B892-0FA5-99170C7C3E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685800" lvl="2" indent="0">
              <a:buNone/>
            </a:pP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 marL="800100" lvl="1" indent="-457200">
              <a:buAutoNum type="arabicPeriod"/>
            </a:pPr>
            <a:r>
              <a:rPr lang="en-IE" sz="3200" dirty="0"/>
              <a:t>For loops 	</a:t>
            </a:r>
          </a:p>
          <a:p>
            <a:pPr marL="800100" lvl="1" indent="-457200">
              <a:buAutoNum type="arabicPeriod"/>
            </a:pPr>
            <a:endParaRPr lang="en-IE" sz="3200" dirty="0"/>
          </a:p>
          <a:p>
            <a:pPr marL="342900" lvl="1" indent="0">
              <a:buNone/>
            </a:pPr>
            <a:r>
              <a:rPr lang="en-IE" sz="3200" dirty="0"/>
              <a:t>2. Comparison of while and for loops</a:t>
            </a:r>
          </a:p>
          <a:p>
            <a:pPr marL="342900" lvl="1" indent="0">
              <a:buNone/>
            </a:pPr>
            <a:endParaRPr lang="en-US" sz="3200" dirty="0"/>
          </a:p>
          <a:p>
            <a:pPr marL="342900" lvl="1" indent="0">
              <a:buNone/>
            </a:pPr>
            <a:r>
              <a:rPr lang="en-US" sz="3200" dirty="0"/>
              <a:t>3. do while loops (this slide deck)</a:t>
            </a:r>
            <a:r>
              <a:rPr lang="en-IE" sz="3200" dirty="0"/>
              <a:t>	</a:t>
            </a:r>
          </a:p>
          <a:p>
            <a:pPr marL="342900" lvl="1" indent="0">
              <a:buNone/>
            </a:pPr>
            <a:endParaRPr lang="en-IE" sz="3200" dirty="0"/>
          </a:p>
          <a:p>
            <a:pPr marL="342900" lvl="1" indent="0">
              <a:buNone/>
            </a:pPr>
            <a:r>
              <a:rPr lang="en-IE" sz="3200" dirty="0"/>
              <a:t>4. Comparison of while and do while</a:t>
            </a:r>
          </a:p>
          <a:p>
            <a:pPr marL="914400" lvl="2" indent="0">
              <a:buNone/>
            </a:pPr>
            <a:endParaRPr lang="en-IE" sz="3200" dirty="0"/>
          </a:p>
          <a:p>
            <a:pPr marL="457200" lvl="1" indent="0">
              <a:buNone/>
            </a:pPr>
            <a:endParaRPr lang="en-IE" sz="3200" dirty="0"/>
          </a:p>
          <a:p>
            <a:endParaRPr lang="en-IE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D1BFD5-2EFB-B7E7-584C-BCF76A47C9EA}"/>
              </a:ext>
            </a:extLst>
          </p:cNvPr>
          <p:cNvSpPr/>
          <p:nvPr/>
        </p:nvSpPr>
        <p:spPr>
          <a:xfrm>
            <a:off x="838200" y="3162300"/>
            <a:ext cx="6248400" cy="5334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9975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E" dirty="0">
                <a:latin typeface="Courier New" pitchFamily="28" charset="0"/>
              </a:rPr>
              <a:t>     for</a:t>
            </a:r>
            <a:r>
              <a:rPr lang="en-IE" dirty="0"/>
              <a:t> versus </a:t>
            </a:r>
            <a:r>
              <a:rPr lang="en-US" dirty="0">
                <a:latin typeface="Courier New" pitchFamily="28" charset="0"/>
              </a:rPr>
              <a:t>while</a:t>
            </a:r>
            <a:r>
              <a:rPr lang="en-US" dirty="0"/>
              <a:t> </a:t>
            </a:r>
            <a:endParaRPr lang="en-IE" dirty="0"/>
          </a:p>
        </p:txBody>
      </p:sp>
      <p:sp>
        <p:nvSpPr>
          <p:cNvPr id="3" name="Rectangle 2"/>
          <p:cNvSpPr/>
          <p:nvPr/>
        </p:nvSpPr>
        <p:spPr>
          <a:xfrm>
            <a:off x="266699" y="1871752"/>
            <a:ext cx="4686299" cy="150810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300" dirty="0"/>
              <a:t>for(</a:t>
            </a:r>
            <a:r>
              <a:rPr lang="en-IE" sz="2300" b="1" dirty="0">
                <a:solidFill>
                  <a:srgbClr val="FF0000"/>
                </a:solidFill>
              </a:rPr>
              <a:t>int </a:t>
            </a:r>
            <a:r>
              <a:rPr lang="en-IE" sz="2300" b="1" dirty="0" err="1">
                <a:solidFill>
                  <a:srgbClr val="FF0000"/>
                </a:solidFill>
              </a:rPr>
              <a:t>i</a:t>
            </a:r>
            <a:r>
              <a:rPr lang="en-IE" sz="2300" b="1" dirty="0">
                <a:solidFill>
                  <a:srgbClr val="FF0000"/>
                </a:solidFill>
              </a:rPr>
              <a:t> = 1</a:t>
            </a:r>
            <a:r>
              <a:rPr lang="en-IE" sz="2300" dirty="0"/>
              <a:t>; </a:t>
            </a:r>
            <a:r>
              <a:rPr lang="en-IE" sz="2300" b="1" dirty="0" err="1">
                <a:solidFill>
                  <a:srgbClr val="00B050"/>
                </a:solidFill>
              </a:rPr>
              <a:t>i</a:t>
            </a:r>
            <a:r>
              <a:rPr lang="en-IE" sz="2300" b="1" dirty="0">
                <a:solidFill>
                  <a:srgbClr val="00B050"/>
                </a:solidFill>
              </a:rPr>
              <a:t> &lt;= 4</a:t>
            </a:r>
            <a:r>
              <a:rPr lang="en-IE" sz="2300" dirty="0"/>
              <a:t>; </a:t>
            </a:r>
            <a:r>
              <a:rPr lang="en-IE" sz="2300" b="1" dirty="0" err="1">
                <a:solidFill>
                  <a:srgbClr val="0070C0"/>
                </a:solidFill>
              </a:rPr>
              <a:t>i</a:t>
            </a:r>
            <a:r>
              <a:rPr lang="en-IE" sz="2300" b="1" dirty="0">
                <a:solidFill>
                  <a:srgbClr val="0070C0"/>
                </a:solidFill>
              </a:rPr>
              <a:t>++</a:t>
            </a:r>
            <a:r>
              <a:rPr lang="en-IE" sz="2300" dirty="0"/>
              <a:t>) </a:t>
            </a:r>
          </a:p>
          <a:p>
            <a:r>
              <a:rPr lang="en-IE" sz="2300" dirty="0"/>
              <a:t>{</a:t>
            </a:r>
          </a:p>
          <a:p>
            <a:r>
              <a:rPr lang="en-IE" sz="2300" dirty="0"/>
              <a:t>    </a:t>
            </a:r>
            <a:r>
              <a:rPr lang="en-IE" sz="2300" dirty="0" err="1"/>
              <a:t>System.out.println</a:t>
            </a:r>
            <a:r>
              <a:rPr lang="en-IE" sz="2300" dirty="0"/>
              <a:t>(“Hello World”);</a:t>
            </a:r>
          </a:p>
          <a:p>
            <a:r>
              <a:rPr lang="en-IE" sz="2300" dirty="0"/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" y="1504890"/>
            <a:ext cx="3924300" cy="40011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000" dirty="0"/>
              <a:t>for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4211866"/>
            <a:ext cx="4686299" cy="221599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300" b="1" dirty="0">
                <a:solidFill>
                  <a:srgbClr val="FF0000"/>
                </a:solidFill>
              </a:rPr>
              <a:t>int </a:t>
            </a:r>
            <a:r>
              <a:rPr lang="en-IE" sz="2300" b="1" dirty="0" err="1">
                <a:solidFill>
                  <a:srgbClr val="FF0000"/>
                </a:solidFill>
              </a:rPr>
              <a:t>i</a:t>
            </a:r>
            <a:r>
              <a:rPr lang="en-IE" sz="2300" b="1" dirty="0">
                <a:solidFill>
                  <a:srgbClr val="FF0000"/>
                </a:solidFill>
              </a:rPr>
              <a:t> = 1</a:t>
            </a:r>
            <a:r>
              <a:rPr lang="en-IE" sz="2300" dirty="0"/>
              <a:t>; </a:t>
            </a:r>
          </a:p>
          <a:p>
            <a:r>
              <a:rPr lang="en-IE" sz="2300" dirty="0"/>
              <a:t>while(</a:t>
            </a:r>
            <a:r>
              <a:rPr lang="en-IE" sz="2300" b="1" dirty="0" err="1">
                <a:solidFill>
                  <a:srgbClr val="00B050"/>
                </a:solidFill>
              </a:rPr>
              <a:t>i</a:t>
            </a:r>
            <a:r>
              <a:rPr lang="en-IE" sz="2300" b="1" dirty="0">
                <a:solidFill>
                  <a:srgbClr val="00B050"/>
                </a:solidFill>
              </a:rPr>
              <a:t> &lt;= 4</a:t>
            </a:r>
            <a:r>
              <a:rPr lang="en-IE" sz="2300" dirty="0"/>
              <a:t>)</a:t>
            </a:r>
          </a:p>
          <a:p>
            <a:r>
              <a:rPr lang="en-IE" sz="2300" dirty="0"/>
              <a:t>{</a:t>
            </a:r>
          </a:p>
          <a:p>
            <a:r>
              <a:rPr lang="en-IE" sz="2300" dirty="0"/>
              <a:t>    </a:t>
            </a:r>
            <a:r>
              <a:rPr lang="en-IE" sz="2300" dirty="0" err="1"/>
              <a:t>System.out.println</a:t>
            </a:r>
            <a:r>
              <a:rPr lang="en-IE" sz="2300" dirty="0"/>
              <a:t>(“Hello World”);</a:t>
            </a:r>
            <a:r>
              <a:rPr lang="en-IE" sz="2300" b="1" dirty="0">
                <a:solidFill>
                  <a:srgbClr val="00B0F0"/>
                </a:solidFill>
              </a:rPr>
              <a:t>                   </a:t>
            </a:r>
          </a:p>
          <a:p>
            <a:r>
              <a:rPr lang="en-IE" sz="2300" b="1" dirty="0">
                <a:solidFill>
                  <a:srgbClr val="00B0F0"/>
                </a:solidFill>
              </a:rPr>
              <a:t>    </a:t>
            </a:r>
            <a:r>
              <a:rPr lang="en-IE" sz="2300" b="1" dirty="0" err="1">
                <a:solidFill>
                  <a:srgbClr val="0070C0"/>
                </a:solidFill>
              </a:rPr>
              <a:t>i</a:t>
            </a:r>
            <a:r>
              <a:rPr lang="en-IE" sz="2300" b="1" dirty="0">
                <a:solidFill>
                  <a:srgbClr val="0070C0"/>
                </a:solidFill>
              </a:rPr>
              <a:t>++;</a:t>
            </a:r>
          </a:p>
          <a:p>
            <a:r>
              <a:rPr lang="en-IE" sz="2300" dirty="0"/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" y="3867090"/>
            <a:ext cx="4191000" cy="40011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000" dirty="0"/>
              <a:t>while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4952999" y="1524000"/>
            <a:ext cx="4306885" cy="224676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E" sz="2800" dirty="0"/>
              <a:t>Variable </a:t>
            </a:r>
            <a:r>
              <a:rPr lang="en-IE" sz="2800" b="1" dirty="0" err="1">
                <a:solidFill>
                  <a:srgbClr val="FF0000"/>
                </a:solidFill>
              </a:rPr>
              <a:t>i</a:t>
            </a:r>
            <a:r>
              <a:rPr lang="en-IE" sz="2800" b="1" dirty="0">
                <a:solidFill>
                  <a:srgbClr val="FF0000"/>
                </a:solidFill>
              </a:rPr>
              <a:t> </a:t>
            </a:r>
            <a:r>
              <a:rPr lang="en-IE" sz="2800" dirty="0"/>
              <a:t>is the Loop </a:t>
            </a:r>
          </a:p>
          <a:p>
            <a:r>
              <a:rPr lang="en-IE" sz="2800" dirty="0"/>
              <a:t>Control Variable (</a:t>
            </a:r>
            <a:r>
              <a:rPr lang="en-IE" sz="2800" b="1" dirty="0"/>
              <a:t>LCV</a:t>
            </a:r>
            <a:r>
              <a:rPr lang="en-IE" sz="2800" dirty="0"/>
              <a:t>).  </a:t>
            </a:r>
            <a:br>
              <a:rPr lang="en-IE" sz="2800" dirty="0"/>
            </a:br>
            <a:r>
              <a:rPr lang="en-IE" sz="2800" dirty="0"/>
              <a:t>It must be initialised, tested </a:t>
            </a:r>
          </a:p>
          <a:p>
            <a:r>
              <a:rPr lang="en-IE" sz="2800" dirty="0"/>
              <a:t>and changed.</a:t>
            </a:r>
          </a:p>
          <a:p>
            <a:endParaRPr lang="en-IE" sz="2800" b="1" dirty="0">
              <a:solidFill>
                <a:srgbClr val="FF00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952999" y="3505200"/>
            <a:ext cx="4180953" cy="31085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E" sz="2800" b="1" dirty="0">
                <a:solidFill>
                  <a:srgbClr val="FF0000"/>
                </a:solidFill>
              </a:rPr>
              <a:t>int </a:t>
            </a:r>
            <a:r>
              <a:rPr lang="en-IE" sz="2800" b="1" dirty="0" err="1">
                <a:solidFill>
                  <a:srgbClr val="FF0000"/>
                </a:solidFill>
              </a:rPr>
              <a:t>i</a:t>
            </a:r>
            <a:r>
              <a:rPr lang="en-IE" sz="2800" b="1" dirty="0">
                <a:solidFill>
                  <a:srgbClr val="FF0000"/>
                </a:solidFill>
              </a:rPr>
              <a:t> = 1</a:t>
            </a:r>
            <a:r>
              <a:rPr lang="en-IE" sz="2800" dirty="0"/>
              <a:t> is the </a:t>
            </a:r>
            <a:r>
              <a:rPr lang="en-IE" sz="2800" b="1" dirty="0"/>
              <a:t>initialisation</a:t>
            </a:r>
            <a:r>
              <a:rPr lang="en-IE" sz="2800" dirty="0"/>
              <a:t>.</a:t>
            </a:r>
          </a:p>
          <a:p>
            <a:endParaRPr lang="en-IE" sz="2800" b="1" dirty="0">
              <a:solidFill>
                <a:srgbClr val="00B050"/>
              </a:solidFill>
            </a:endParaRPr>
          </a:p>
          <a:p>
            <a:r>
              <a:rPr lang="en-IE" sz="2800" b="1" dirty="0" err="1">
                <a:solidFill>
                  <a:srgbClr val="00B050"/>
                </a:solidFill>
              </a:rPr>
              <a:t>i</a:t>
            </a:r>
            <a:r>
              <a:rPr lang="en-IE" sz="2800" b="1" dirty="0">
                <a:solidFill>
                  <a:srgbClr val="00B050"/>
                </a:solidFill>
              </a:rPr>
              <a:t> &lt;= 4 </a:t>
            </a:r>
            <a:r>
              <a:rPr lang="en-IE" sz="2800" dirty="0"/>
              <a:t>is the </a:t>
            </a:r>
            <a:r>
              <a:rPr lang="en-IE" sz="2800" dirty="0" err="1"/>
              <a:t>boolean</a:t>
            </a:r>
            <a:r>
              <a:rPr lang="en-IE" sz="2800" dirty="0"/>
              <a:t> </a:t>
            </a:r>
          </a:p>
          <a:p>
            <a:r>
              <a:rPr lang="en-IE" sz="2800" dirty="0"/>
              <a:t>condition i.e. the </a:t>
            </a:r>
            <a:r>
              <a:rPr lang="en-IE" sz="2800" b="1" dirty="0"/>
              <a:t>test</a:t>
            </a:r>
          </a:p>
          <a:p>
            <a:endParaRPr lang="en-IE" sz="2800" b="1" dirty="0">
              <a:solidFill>
                <a:srgbClr val="0070C0"/>
              </a:solidFill>
            </a:endParaRPr>
          </a:p>
          <a:p>
            <a:r>
              <a:rPr lang="en-IE" sz="2800" b="1" dirty="0" err="1">
                <a:solidFill>
                  <a:srgbClr val="0070C0"/>
                </a:solidFill>
              </a:rPr>
              <a:t>i</a:t>
            </a:r>
            <a:r>
              <a:rPr lang="en-IE" sz="2800" b="1" dirty="0">
                <a:solidFill>
                  <a:srgbClr val="0070C0"/>
                </a:solidFill>
              </a:rPr>
              <a:t>++ </a:t>
            </a:r>
            <a:r>
              <a:rPr lang="en-IE" sz="2800" dirty="0"/>
              <a:t>is the post-body action </a:t>
            </a:r>
          </a:p>
          <a:p>
            <a:r>
              <a:rPr lang="en-IE" sz="2800" dirty="0"/>
              <a:t>i.e. the </a:t>
            </a:r>
            <a:r>
              <a:rPr lang="en-IE" sz="2800" b="1" dirty="0"/>
              <a:t>change</a:t>
            </a:r>
            <a:r>
              <a:rPr lang="en-IE" sz="2800" dirty="0"/>
              <a:t>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14735CE-B200-E14D-CD31-283C16E0B0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-24004"/>
            <a:ext cx="2347122" cy="1238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20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B4D6A-E3F1-D545-80E6-8004FD0CA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5161F-4D51-2F5A-6156-03F92471A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068E1C1-2CBB-8C57-EF26-9307452D82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685800" lvl="2" indent="0">
              <a:buNone/>
            </a:pP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 marL="800100" lvl="1" indent="-457200">
              <a:buAutoNum type="arabicPeriod"/>
            </a:pPr>
            <a:r>
              <a:rPr lang="en-IE" sz="3200" dirty="0"/>
              <a:t>For loops 	</a:t>
            </a:r>
          </a:p>
          <a:p>
            <a:pPr marL="800100" lvl="1" indent="-457200">
              <a:buAutoNum type="arabicPeriod"/>
            </a:pPr>
            <a:endParaRPr lang="en-IE" sz="3200" dirty="0"/>
          </a:p>
          <a:p>
            <a:pPr marL="342900" lvl="1" indent="0">
              <a:buNone/>
            </a:pPr>
            <a:r>
              <a:rPr lang="en-IE" sz="3200" dirty="0"/>
              <a:t>2. Comparison of while and for loops</a:t>
            </a:r>
          </a:p>
          <a:p>
            <a:pPr marL="342900" lvl="1" indent="0">
              <a:buNone/>
            </a:pPr>
            <a:endParaRPr lang="en-US" sz="3200" dirty="0"/>
          </a:p>
          <a:p>
            <a:pPr marL="342900" lvl="1" indent="0">
              <a:buNone/>
            </a:pPr>
            <a:r>
              <a:rPr lang="en-US" sz="3200" dirty="0"/>
              <a:t>3. do while loops (this slide deck)</a:t>
            </a:r>
            <a:r>
              <a:rPr lang="en-IE" sz="3200" dirty="0"/>
              <a:t>	</a:t>
            </a:r>
          </a:p>
          <a:p>
            <a:pPr marL="342900" lvl="1" indent="0">
              <a:buNone/>
            </a:pPr>
            <a:endParaRPr lang="en-IE" sz="3200" dirty="0"/>
          </a:p>
          <a:p>
            <a:pPr marL="342900" lvl="1" indent="0">
              <a:buNone/>
            </a:pPr>
            <a:r>
              <a:rPr lang="en-IE" sz="3200" dirty="0"/>
              <a:t>4. Comparison of while and do while</a:t>
            </a:r>
          </a:p>
          <a:p>
            <a:pPr marL="914400" lvl="2" indent="0">
              <a:buNone/>
            </a:pPr>
            <a:endParaRPr lang="en-IE" sz="3200" dirty="0"/>
          </a:p>
          <a:p>
            <a:pPr marL="457200" lvl="1" indent="0">
              <a:buNone/>
            </a:pPr>
            <a:endParaRPr lang="en-IE" sz="3200" dirty="0"/>
          </a:p>
          <a:p>
            <a:endParaRPr lang="en-IE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26C235-664A-EE10-04D5-F861E18FE634}"/>
              </a:ext>
            </a:extLst>
          </p:cNvPr>
          <p:cNvSpPr/>
          <p:nvPr/>
        </p:nvSpPr>
        <p:spPr>
          <a:xfrm>
            <a:off x="762000" y="4343400"/>
            <a:ext cx="6248400" cy="5334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0788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Construction of </a:t>
            </a:r>
            <a:r>
              <a:rPr lang="en-US" altLang="en-US" b="1" dirty="0"/>
              <a:t>do</a:t>
            </a:r>
            <a:r>
              <a:rPr lang="en-US" altLang="en-US" dirty="0"/>
              <a:t> loop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85900" y="2057400"/>
            <a:ext cx="6743700" cy="2800350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indent="0" defTabSz="914400">
              <a:buNone/>
            </a:pPr>
            <a:r>
              <a:rPr lang="en-US" altLang="en-US" sz="2300" dirty="0"/>
              <a:t>  Declare and </a:t>
            </a:r>
            <a:r>
              <a:rPr lang="en-US" altLang="en-US" sz="2300" dirty="0" err="1"/>
              <a:t>initialise</a:t>
            </a:r>
            <a:r>
              <a:rPr lang="en-US" altLang="en-US" sz="2300" dirty="0"/>
              <a:t> loop control variable (LCV)</a:t>
            </a:r>
            <a:br>
              <a:rPr lang="en-US" altLang="en-US" sz="2300" dirty="0"/>
            </a:br>
            <a:endParaRPr lang="en-US" altLang="en-US" sz="2300" dirty="0"/>
          </a:p>
          <a:p>
            <a:pPr marL="0" indent="0" defTabSz="914400">
              <a:buNone/>
            </a:pPr>
            <a:r>
              <a:rPr lang="en-US" altLang="en-US" sz="2300" dirty="0"/>
              <a:t>  do {</a:t>
            </a:r>
          </a:p>
          <a:p>
            <a:pPr marL="0" indent="0" defTabSz="914400">
              <a:buNone/>
            </a:pPr>
            <a:r>
              <a:rPr lang="en-US" altLang="en-US" sz="2300" dirty="0"/>
              <a:t>         “</a:t>
            </a:r>
            <a:r>
              <a:rPr lang="en-US" altLang="ja-JP" sz="2300" dirty="0"/>
              <a:t>do the job to be repeated</a:t>
            </a:r>
            <a:r>
              <a:rPr lang="en-US" altLang="en-US" sz="2300" dirty="0"/>
              <a:t>”</a:t>
            </a:r>
            <a:endParaRPr lang="en-US" altLang="ja-JP" sz="2300" dirty="0"/>
          </a:p>
          <a:p>
            <a:pPr marL="0" indent="0" defTabSz="914400">
              <a:buNone/>
            </a:pPr>
            <a:r>
              <a:rPr lang="en-US" altLang="en-US" sz="2300" dirty="0"/>
              <a:t>         “update the LCV”</a:t>
            </a:r>
            <a:endParaRPr lang="en-US" altLang="ja-JP" sz="2300" dirty="0"/>
          </a:p>
          <a:p>
            <a:pPr marL="0" indent="0" defTabSz="914400">
              <a:buNone/>
            </a:pPr>
            <a:r>
              <a:rPr lang="en-US" altLang="en-US" sz="2300" dirty="0"/>
              <a:t>  } while (</a:t>
            </a:r>
            <a:r>
              <a:rPr lang="en-US" altLang="en-US" sz="2300" dirty="0" err="1"/>
              <a:t>boolean</a:t>
            </a:r>
            <a:r>
              <a:rPr lang="en-US" altLang="en-US" sz="2300" dirty="0"/>
              <a:t> condition based on LCV is true);</a:t>
            </a:r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7979570" y="5260159"/>
            <a:ext cx="18473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endParaRPr lang="en-US" altLang="en-US" sz="1350"/>
          </a:p>
        </p:txBody>
      </p:sp>
      <p:sp>
        <p:nvSpPr>
          <p:cNvPr id="4" name="TextBox 3"/>
          <p:cNvSpPr txBox="1"/>
          <p:nvPr/>
        </p:nvSpPr>
        <p:spPr>
          <a:xfrm>
            <a:off x="1714500" y="5086350"/>
            <a:ext cx="5829300" cy="4616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/>
              <a:t>This structure should </a:t>
            </a:r>
            <a:r>
              <a:rPr lang="en-US" sz="2400" u="sng" dirty="0"/>
              <a:t>always</a:t>
            </a:r>
            <a:r>
              <a:rPr lang="en-US" sz="2400" dirty="0"/>
              <a:t> be used</a:t>
            </a:r>
          </a:p>
        </p:txBody>
      </p:sp>
    </p:spTree>
    <p:extLst>
      <p:ext uri="{BB962C8B-B14F-4D97-AF65-F5344CB8AC3E}">
        <p14:creationId xmlns:p14="http://schemas.microsoft.com/office/powerpoint/2010/main" val="23975335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Simple </a:t>
            </a:r>
            <a:r>
              <a:rPr lang="en-IE" b="1" dirty="0"/>
              <a:t>do</a:t>
            </a:r>
            <a:r>
              <a:rPr lang="en-IE" dirty="0"/>
              <a:t> Loop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348CC93-7B76-4C16-BDEF-42550E0894EE}"/>
              </a:ext>
            </a:extLst>
          </p:cNvPr>
          <p:cNvSpPr txBox="1">
            <a:spLocks/>
          </p:cNvSpPr>
          <p:nvPr/>
        </p:nvSpPr>
        <p:spPr>
          <a:xfrm>
            <a:off x="457201" y="2082107"/>
            <a:ext cx="6325061" cy="1028700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E" sz="2400" dirty="0"/>
              <a:t>This basic do loop, produces this output.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11DED4-B41A-4E2B-9131-DE340047536C}"/>
              </a:ext>
            </a:extLst>
          </p:cNvPr>
          <p:cNvSpPr/>
          <p:nvPr/>
        </p:nvSpPr>
        <p:spPr>
          <a:xfrm>
            <a:off x="571501" y="3110807"/>
            <a:ext cx="5372100" cy="2308324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35000">
                <a:schemeClr val="accent6">
                  <a:lumMod val="0"/>
                  <a:lumOff val="100000"/>
                </a:schemeClr>
              </a:gs>
              <a:gs pos="100000">
                <a:schemeClr val="accent6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1"/>
            <a:r>
              <a:rPr lang="en-IE" sz="2400" dirty="0" err="1"/>
              <a:t>int</a:t>
            </a:r>
            <a:r>
              <a:rPr lang="en-IE" sz="2400" dirty="0"/>
              <a:t> </a:t>
            </a:r>
            <a:r>
              <a:rPr lang="en-IE" sz="2400" dirty="0" err="1"/>
              <a:t>i</a:t>
            </a:r>
            <a:r>
              <a:rPr lang="en-IE" sz="2400" dirty="0"/>
              <a:t> = 1;</a:t>
            </a:r>
          </a:p>
          <a:p>
            <a:pPr lvl="1"/>
            <a:endParaRPr lang="en-IE" sz="2400" dirty="0"/>
          </a:p>
          <a:p>
            <a:pPr lvl="1"/>
            <a:r>
              <a:rPr lang="en-IE" sz="2400" dirty="0"/>
              <a:t>  do {</a:t>
            </a:r>
          </a:p>
          <a:p>
            <a:pPr lvl="1"/>
            <a:r>
              <a:rPr lang="en-IE" sz="2400" dirty="0"/>
              <a:t>    </a:t>
            </a:r>
            <a:r>
              <a:rPr lang="en-IE" sz="2400" dirty="0" err="1"/>
              <a:t>System.out.println</a:t>
            </a:r>
            <a:r>
              <a:rPr lang="en-IE" sz="2400" dirty="0"/>
              <a:t>("Hello World");</a:t>
            </a:r>
          </a:p>
          <a:p>
            <a:pPr lvl="1"/>
            <a:r>
              <a:rPr lang="en-IE" sz="2400" dirty="0"/>
              <a:t>    </a:t>
            </a:r>
            <a:r>
              <a:rPr lang="en-IE" sz="2400" dirty="0" err="1"/>
              <a:t>i</a:t>
            </a:r>
            <a:r>
              <a:rPr lang="en-IE" sz="2400" dirty="0"/>
              <a:t>++;</a:t>
            </a:r>
          </a:p>
          <a:p>
            <a:pPr lvl="1"/>
            <a:r>
              <a:rPr lang="en-IE" sz="2400" dirty="0"/>
              <a:t>  } while (</a:t>
            </a:r>
            <a:r>
              <a:rPr lang="en-IE" sz="2400" dirty="0" err="1"/>
              <a:t>i</a:t>
            </a:r>
            <a:r>
              <a:rPr lang="en-IE" sz="2400" dirty="0"/>
              <a:t> &lt;=5);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190A57B-33E4-4A35-92CE-914468E7339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1" t="75555" r="75887" b="5556"/>
          <a:stretch/>
        </p:blipFill>
        <p:spPr>
          <a:xfrm>
            <a:off x="6780877" y="3747194"/>
            <a:ext cx="2134523" cy="1442643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B718ADE5-6291-4684-8C1F-1B57D1E1A5F4}"/>
              </a:ext>
            </a:extLst>
          </p:cNvPr>
          <p:cNvSpPr/>
          <p:nvPr/>
        </p:nvSpPr>
        <p:spPr>
          <a:xfrm>
            <a:off x="5886450" y="4211340"/>
            <a:ext cx="857250" cy="514350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E" sz="1350"/>
          </a:p>
        </p:txBody>
      </p:sp>
    </p:spTree>
    <p:extLst>
      <p:ext uri="{BB962C8B-B14F-4D97-AF65-F5344CB8AC3E}">
        <p14:creationId xmlns:p14="http://schemas.microsoft.com/office/powerpoint/2010/main" val="17311722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B1F12-A70D-8AC6-91F0-E277F0502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81535-8C07-EE4B-BBB6-A45800331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E5CA2D5-6573-A920-2476-140A98420C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685800" lvl="2" indent="0">
              <a:buNone/>
            </a:pP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 marL="800100" lvl="1" indent="-457200">
              <a:buAutoNum type="arabicPeriod"/>
            </a:pPr>
            <a:r>
              <a:rPr lang="en-IE" sz="3200" dirty="0"/>
              <a:t>For loops 	</a:t>
            </a:r>
          </a:p>
          <a:p>
            <a:pPr marL="800100" lvl="1" indent="-457200">
              <a:buAutoNum type="arabicPeriod"/>
            </a:pPr>
            <a:endParaRPr lang="en-IE" sz="3200" dirty="0"/>
          </a:p>
          <a:p>
            <a:pPr marL="342900" lvl="1" indent="0">
              <a:buNone/>
            </a:pPr>
            <a:r>
              <a:rPr lang="en-IE" sz="3200" dirty="0"/>
              <a:t>2. Comparison of while and for loops</a:t>
            </a:r>
          </a:p>
          <a:p>
            <a:pPr marL="342900" lvl="1" indent="0">
              <a:buNone/>
            </a:pPr>
            <a:endParaRPr lang="en-US" sz="3200" dirty="0"/>
          </a:p>
          <a:p>
            <a:pPr marL="342900" lvl="1" indent="0">
              <a:buNone/>
            </a:pPr>
            <a:r>
              <a:rPr lang="en-US" sz="3200" dirty="0"/>
              <a:t>3. do while loops (this slide deck)</a:t>
            </a:r>
            <a:r>
              <a:rPr lang="en-IE" sz="3200" dirty="0"/>
              <a:t>	</a:t>
            </a:r>
          </a:p>
          <a:p>
            <a:pPr marL="342900" lvl="1" indent="0">
              <a:buNone/>
            </a:pPr>
            <a:endParaRPr lang="en-IE" sz="3200" dirty="0"/>
          </a:p>
          <a:p>
            <a:pPr marL="342900" lvl="1" indent="0">
              <a:buNone/>
            </a:pPr>
            <a:r>
              <a:rPr lang="en-IE" sz="3200" dirty="0"/>
              <a:t>4. Comparison of while and do while</a:t>
            </a:r>
          </a:p>
          <a:p>
            <a:pPr marL="914400" lvl="2" indent="0">
              <a:buNone/>
            </a:pPr>
            <a:endParaRPr lang="en-IE" sz="3200" dirty="0"/>
          </a:p>
          <a:p>
            <a:pPr marL="457200" lvl="1" indent="0">
              <a:buNone/>
            </a:pPr>
            <a:endParaRPr lang="en-IE" sz="3200" dirty="0"/>
          </a:p>
          <a:p>
            <a:endParaRPr lang="en-IE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55F82F-F40E-337E-BF07-0EB997FE2F70}"/>
              </a:ext>
            </a:extLst>
          </p:cNvPr>
          <p:cNvSpPr/>
          <p:nvPr/>
        </p:nvSpPr>
        <p:spPr>
          <a:xfrm>
            <a:off x="762000" y="5486400"/>
            <a:ext cx="6248400" cy="5334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29465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F1BA1-7751-124B-8737-9E9C5BFC0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Do versus While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E5FFB5-52AF-4E44-B66A-AD568BE38E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Use a </a:t>
            </a:r>
            <a:r>
              <a:rPr lang="en-GB" b="1" dirty="0"/>
              <a:t>do</a:t>
            </a:r>
            <a:r>
              <a:rPr lang="en-GB" dirty="0"/>
              <a:t> loop </a:t>
            </a:r>
            <a:br>
              <a:rPr lang="en-GB" dirty="0"/>
            </a:br>
            <a:r>
              <a:rPr lang="en-GB" dirty="0"/>
              <a:t>when the code that may be repeated </a:t>
            </a:r>
            <a:br>
              <a:rPr lang="en-GB" dirty="0"/>
            </a:br>
            <a:r>
              <a:rPr lang="en-GB" dirty="0"/>
              <a:t>must be run at least once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Use a </a:t>
            </a:r>
            <a:r>
              <a:rPr lang="en-GB" b="1" dirty="0"/>
              <a:t>while</a:t>
            </a:r>
            <a:r>
              <a:rPr lang="en-GB" dirty="0"/>
              <a:t> loop</a:t>
            </a:r>
            <a:br>
              <a:rPr lang="en-GB" dirty="0"/>
            </a:br>
            <a:r>
              <a:rPr lang="en-GB" dirty="0"/>
              <a:t>when the code that may be repeated </a:t>
            </a:r>
            <a:br>
              <a:rPr lang="en-GB" dirty="0"/>
            </a:br>
            <a:r>
              <a:rPr lang="en-GB" dirty="0"/>
              <a:t>may never run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968080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Questions?</a:t>
            </a:r>
          </a:p>
        </p:txBody>
      </p:sp>
      <p:pic>
        <p:nvPicPr>
          <p:cNvPr id="3074" name="Picture 2" descr="Image result for questio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2057400"/>
            <a:ext cx="4343400" cy="3509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3549871"/>
      </p:ext>
    </p:extLst>
  </p:cSld>
  <p:clrMapOvr>
    <a:masterClrMapping/>
  </p:clrMapOvr>
</p:sld>
</file>

<file path=ppt/theme/theme1.xml><?xml version="1.0" encoding="utf-8"?>
<a:theme xmlns:a="http://schemas.openxmlformats.org/drawingml/2006/main" name="a-processing-mouse-event-metho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og-fund-1" id="{82CCE168-77CC-814B-8A2F-8520E8A6A75D}" vid="{4B930EE9-D6E6-E64C-A928-F4FAD685DB7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a-iteration-while</Template>
  <TotalTime>1576</TotalTime>
  <Words>1234</Words>
  <Application>Microsoft Macintosh PowerPoint</Application>
  <PresentationFormat>On-screen Show (4:3)</PresentationFormat>
  <Paragraphs>244</Paragraphs>
  <Slides>20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 Unicode MS</vt:lpstr>
      <vt:lpstr>Arial</vt:lpstr>
      <vt:lpstr>Calibri</vt:lpstr>
      <vt:lpstr>Courier New</vt:lpstr>
      <vt:lpstr>Times</vt:lpstr>
      <vt:lpstr>Times New Roman</vt:lpstr>
      <vt:lpstr>Trebuchet MS</vt:lpstr>
      <vt:lpstr>a-processing-mouse-event-methods</vt:lpstr>
      <vt:lpstr>Iteration in Programming</vt:lpstr>
      <vt:lpstr>Loops</vt:lpstr>
      <vt:lpstr>Topics</vt:lpstr>
      <vt:lpstr>For loop pseudo-code</vt:lpstr>
      <vt:lpstr>Recap: Loop Example</vt:lpstr>
      <vt:lpstr>For loop – Example 1</vt:lpstr>
      <vt:lpstr>For loop syntax</vt:lpstr>
      <vt:lpstr>For loop syntax</vt:lpstr>
      <vt:lpstr>For loop syntax</vt:lpstr>
      <vt:lpstr>for Loop Flowchart</vt:lpstr>
      <vt:lpstr>For loop:  all parts are optional</vt:lpstr>
      <vt:lpstr>Loops can be  nested</vt:lpstr>
      <vt:lpstr>Topics</vt:lpstr>
      <vt:lpstr>     for versus while </vt:lpstr>
      <vt:lpstr>Topics</vt:lpstr>
      <vt:lpstr>Construction of do loop</vt:lpstr>
      <vt:lpstr>Simple do Loop</vt:lpstr>
      <vt:lpstr>Topics</vt:lpstr>
      <vt:lpstr>Do versus While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Iteration with the for loop</dc:title>
  <dc:creator>Siobhan Drohan</dc:creator>
  <cp:lastModifiedBy>Mairead Meagher</cp:lastModifiedBy>
  <cp:revision>181</cp:revision>
  <dcterms:created xsi:type="dcterms:W3CDTF">2006-08-16T00:00:00Z</dcterms:created>
  <dcterms:modified xsi:type="dcterms:W3CDTF">2025-10-07T21:26:32Z</dcterms:modified>
</cp:coreProperties>
</file>