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91" r:id="rId4"/>
    <p:sldId id="423" r:id="rId5"/>
    <p:sldId id="392" r:id="rId6"/>
    <p:sldId id="393" r:id="rId7"/>
    <p:sldId id="426" r:id="rId8"/>
    <p:sldId id="394" r:id="rId9"/>
    <p:sldId id="395" r:id="rId10"/>
    <p:sldId id="396" r:id="rId11"/>
    <p:sldId id="397" r:id="rId12"/>
    <p:sldId id="398" r:id="rId13"/>
    <p:sldId id="399" r:id="rId14"/>
    <p:sldId id="420" r:id="rId15"/>
    <p:sldId id="401" r:id="rId16"/>
    <p:sldId id="421" r:id="rId17"/>
    <p:sldId id="405" r:id="rId18"/>
    <p:sldId id="424" r:id="rId19"/>
    <p:sldId id="427" r:id="rId20"/>
    <p:sldId id="407" r:id="rId21"/>
    <p:sldId id="408" r:id="rId22"/>
    <p:sldId id="422" r:id="rId23"/>
    <p:sldId id="410" r:id="rId24"/>
    <p:sldId id="425" r:id="rId25"/>
    <p:sldId id="411" r:id="rId26"/>
    <p:sldId id="412" r:id="rId27"/>
    <p:sldId id="414" r:id="rId28"/>
    <p:sldId id="415" r:id="rId29"/>
    <p:sldId id="416" r:id="rId30"/>
    <p:sldId id="417" r:id="rId31"/>
    <p:sldId id="418" r:id="rId32"/>
    <p:sldId id="419" r:id="rId33"/>
    <p:sldId id="27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89" autoAdjust="0"/>
    <p:restoredTop sz="80408" autoAdjust="0"/>
  </p:normalViewPr>
  <p:slideViewPr>
    <p:cSldViewPr>
      <p:cViewPr varScale="1">
        <p:scale>
          <a:sx n="97" d="100"/>
          <a:sy n="97" d="100"/>
        </p:scale>
        <p:origin x="29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18/09/2023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894B09-ABD4-4EEF-A962-0F0C103FC470}" type="slidenum">
              <a:rPr lang="en-GB"/>
              <a:pPr/>
              <a:t>3</a:t>
            </a:fld>
            <a:endParaRPr lang="en-GB"/>
          </a:p>
        </p:txBody>
      </p:sp>
      <p:sp>
        <p:nvSpPr>
          <p:cNvPr id="163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1195388" cy="2746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0792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100" dirty="0"/>
              <a:t>yCoordinate</a:t>
            </a:r>
            <a:r>
              <a:rPr lang="en-IE" sz="1200" dirty="0"/>
              <a:t> = 60;</a:t>
            </a:r>
          </a:p>
          <a:p>
            <a:endParaRPr lang="en-IE" sz="1200" dirty="0"/>
          </a:p>
          <a:p>
            <a:r>
              <a:rPr lang="en-IE" sz="1200" dirty="0"/>
              <a:t>size(600, 300);</a:t>
            </a:r>
          </a:p>
          <a:p>
            <a:r>
              <a:rPr lang="en-IE" sz="1200" dirty="0"/>
              <a:t>background(102);</a:t>
            </a:r>
          </a:p>
          <a:p>
            <a:r>
              <a:rPr lang="en-IE" sz="1200" dirty="0"/>
              <a:t>fill(255);</a:t>
            </a:r>
          </a:p>
          <a:p>
            <a:r>
              <a:rPr lang="en-IE" sz="1200" dirty="0" err="1"/>
              <a:t>noStroke</a:t>
            </a:r>
            <a:r>
              <a:rPr lang="en-IE" sz="1200" dirty="0"/>
              <a:t>();</a:t>
            </a:r>
          </a:p>
          <a:p>
            <a:endParaRPr lang="en-IE" sz="1200" dirty="0"/>
          </a:p>
          <a:p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</a:p>
          <a:p>
            <a:r>
              <a:rPr lang="en-IE" sz="1200" dirty="0"/>
              <a:t>while(</a:t>
            </a:r>
            <a:r>
              <a:rPr lang="en-IE" sz="1200" dirty="0" err="1"/>
              <a:t>i</a:t>
            </a:r>
            <a:r>
              <a:rPr lang="en-IE" sz="1200" dirty="0"/>
              <a:t> &lt; 4)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yCoordinate, 500, 10);</a:t>
            </a:r>
          </a:p>
          <a:p>
            <a:r>
              <a:rPr lang="en-IE" sz="1200" dirty="0"/>
              <a:t>    yCoordinate += 20;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i</a:t>
            </a:r>
            <a:r>
              <a:rPr lang="en-IE" sz="1200" dirty="0"/>
              <a:t>++;</a:t>
            </a:r>
          </a:p>
          <a:p>
            <a:r>
              <a:rPr lang="en-IE" sz="1200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5175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E" sz="2400" dirty="0" err="1"/>
              <a:t>int</a:t>
            </a:r>
            <a:r>
              <a:rPr lang="en-IE" sz="2400" dirty="0"/>
              <a:t> yCoordinate = 60;</a:t>
            </a:r>
          </a:p>
          <a:p>
            <a:pPr lvl="1"/>
            <a:endParaRPr lang="en-IE" sz="2400" dirty="0"/>
          </a:p>
          <a:p>
            <a:pPr lvl="1"/>
            <a:r>
              <a:rPr lang="en-IE" sz="2400" dirty="0"/>
              <a:t>size(600, 300);</a:t>
            </a:r>
          </a:p>
          <a:p>
            <a:pPr lvl="1"/>
            <a:r>
              <a:rPr lang="en-IE" sz="2400" dirty="0"/>
              <a:t>background(102);</a:t>
            </a:r>
          </a:p>
          <a:p>
            <a:pPr lvl="1"/>
            <a:r>
              <a:rPr lang="en-IE" sz="2400" dirty="0"/>
              <a:t>fill(255);</a:t>
            </a:r>
          </a:p>
          <a:p>
            <a:pPr lvl="1"/>
            <a:r>
              <a:rPr lang="en-IE" sz="2400" dirty="0" err="1"/>
              <a:t>noStroke</a:t>
            </a:r>
            <a:r>
              <a:rPr lang="en-IE" sz="2400" dirty="0"/>
              <a:t>();</a:t>
            </a:r>
          </a:p>
          <a:p>
            <a:pPr lvl="1"/>
            <a:endParaRPr lang="en-IE" sz="2400" dirty="0"/>
          </a:p>
          <a:p>
            <a:pPr lvl="1"/>
            <a:r>
              <a:rPr lang="en-IE" sz="2400" dirty="0"/>
              <a:t>for(</a:t>
            </a:r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i</a:t>
            </a:r>
            <a:r>
              <a:rPr lang="en-IE" sz="2400" dirty="0"/>
              <a:t> = 0; </a:t>
            </a:r>
            <a:r>
              <a:rPr lang="en-IE" sz="2400" dirty="0" err="1"/>
              <a:t>i</a:t>
            </a:r>
            <a:r>
              <a:rPr lang="en-IE" sz="2400" dirty="0"/>
              <a:t> &lt; 4; </a:t>
            </a:r>
            <a:r>
              <a:rPr lang="en-IE" sz="2400" dirty="0" err="1"/>
              <a:t>i</a:t>
            </a:r>
            <a:r>
              <a:rPr lang="en-IE" sz="2400" dirty="0"/>
              <a:t>++) </a:t>
            </a:r>
          </a:p>
          <a:p>
            <a:pPr lvl="1"/>
            <a:r>
              <a:rPr lang="en-IE" sz="2400" dirty="0"/>
              <a:t>{</a:t>
            </a:r>
          </a:p>
          <a:p>
            <a:pPr lvl="1"/>
            <a:r>
              <a:rPr lang="en-IE" sz="2400" dirty="0"/>
              <a:t>    </a:t>
            </a:r>
            <a:r>
              <a:rPr lang="en-IE" sz="2400" dirty="0" err="1"/>
              <a:t>rect</a:t>
            </a:r>
            <a:r>
              <a:rPr lang="en-IE" sz="2400" dirty="0"/>
              <a:t>(50, yCoordinate, 500, 10);</a:t>
            </a:r>
          </a:p>
          <a:p>
            <a:pPr lvl="1"/>
            <a:r>
              <a:rPr lang="en-IE" sz="2400" dirty="0"/>
              <a:t>    yCoordinate = yCoordinate + 20;</a:t>
            </a:r>
          </a:p>
          <a:p>
            <a:pPr lvl="1"/>
            <a:r>
              <a:rPr lang="en-IE" sz="2400" dirty="0"/>
              <a:t>}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46428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493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8923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F438E75-D771-4949-A2DD-38DCCCFCA310}" type="slidenum">
              <a:rPr lang="en-GB"/>
              <a:pPr/>
              <a:t>9</a:t>
            </a:fld>
            <a:endParaRPr lang="en-GB"/>
          </a:p>
        </p:txBody>
      </p:sp>
      <p:sp>
        <p:nvSpPr>
          <p:cNvPr id="162818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28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en-IE" sz="1200" dirty="0"/>
              <a:t>for(</a:t>
            </a:r>
            <a:r>
              <a:rPr lang="en-IE" sz="1200" dirty="0" err="1"/>
              <a:t>int</a:t>
            </a:r>
            <a:r>
              <a:rPr lang="en-IE" sz="1200" dirty="0"/>
              <a:t> </a:t>
            </a:r>
            <a:r>
              <a:rPr lang="en-IE" sz="1200" dirty="0" err="1"/>
              <a:t>i</a:t>
            </a:r>
            <a:r>
              <a:rPr lang="en-IE" sz="1200" dirty="0"/>
              <a:t> = 0; </a:t>
            </a:r>
            <a:r>
              <a:rPr lang="en-IE" sz="1200" dirty="0" err="1"/>
              <a:t>i</a:t>
            </a:r>
            <a:r>
              <a:rPr lang="en-IE" sz="1200" dirty="0"/>
              <a:t> &lt; 4; </a:t>
            </a:r>
            <a:r>
              <a:rPr lang="en-IE" sz="1200" dirty="0" err="1"/>
              <a:t>i</a:t>
            </a:r>
            <a:r>
              <a:rPr lang="en-IE" sz="1200" dirty="0"/>
              <a:t>++) </a:t>
            </a:r>
          </a:p>
          <a:p>
            <a:r>
              <a:rPr lang="en-IE" sz="1200" dirty="0"/>
              <a:t>{</a:t>
            </a:r>
          </a:p>
          <a:p>
            <a:r>
              <a:rPr lang="en-IE" sz="1200" dirty="0"/>
              <a:t>    </a:t>
            </a:r>
            <a:r>
              <a:rPr lang="en-IE" sz="1200" dirty="0" err="1"/>
              <a:t>rect</a:t>
            </a:r>
            <a:r>
              <a:rPr lang="en-IE" sz="1200" dirty="0"/>
              <a:t>(50, yCoordinate, 500, 10);</a:t>
            </a:r>
          </a:p>
          <a:p>
            <a:r>
              <a:rPr lang="en-IE" sz="1200" dirty="0"/>
              <a:t>    yCoordinate = yCoordinate + 20;</a:t>
            </a:r>
          </a:p>
          <a:p>
            <a:r>
              <a:rPr lang="en-IE" sz="1200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4811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IE" sz="2400" dirty="0" err="1"/>
              <a:t>int</a:t>
            </a:r>
            <a:r>
              <a:rPr lang="en-IE" sz="2400" dirty="0"/>
              <a:t> yCoordinate = 60;</a:t>
            </a:r>
          </a:p>
          <a:p>
            <a:pPr lvl="1"/>
            <a:endParaRPr lang="en-IE" sz="2400" dirty="0"/>
          </a:p>
          <a:p>
            <a:pPr lvl="1"/>
            <a:r>
              <a:rPr lang="en-IE" sz="2400" dirty="0"/>
              <a:t>size(600, 300);</a:t>
            </a:r>
          </a:p>
          <a:p>
            <a:pPr lvl="1"/>
            <a:r>
              <a:rPr lang="en-IE" sz="2400" dirty="0"/>
              <a:t>background(102);</a:t>
            </a:r>
          </a:p>
          <a:p>
            <a:pPr lvl="1"/>
            <a:r>
              <a:rPr lang="en-IE" sz="2400" dirty="0"/>
              <a:t>fill(255);</a:t>
            </a:r>
          </a:p>
          <a:p>
            <a:pPr lvl="1"/>
            <a:r>
              <a:rPr lang="en-IE" sz="2400" dirty="0" err="1"/>
              <a:t>noStroke</a:t>
            </a:r>
            <a:r>
              <a:rPr lang="en-IE" sz="2400" dirty="0"/>
              <a:t>();</a:t>
            </a:r>
          </a:p>
          <a:p>
            <a:pPr lvl="1"/>
            <a:endParaRPr lang="en-IE" sz="2400" dirty="0"/>
          </a:p>
          <a:p>
            <a:pPr lvl="1"/>
            <a:r>
              <a:rPr lang="en-IE" sz="2400" dirty="0"/>
              <a:t>for(</a:t>
            </a:r>
            <a:r>
              <a:rPr lang="en-IE" sz="2400" dirty="0" err="1"/>
              <a:t>int</a:t>
            </a:r>
            <a:r>
              <a:rPr lang="en-IE" sz="2400" dirty="0"/>
              <a:t> </a:t>
            </a:r>
            <a:r>
              <a:rPr lang="en-IE" sz="2400" dirty="0" err="1"/>
              <a:t>i</a:t>
            </a:r>
            <a:r>
              <a:rPr lang="en-IE" sz="2400" dirty="0"/>
              <a:t> = 0; </a:t>
            </a:r>
            <a:r>
              <a:rPr lang="en-IE" sz="2400" dirty="0" err="1"/>
              <a:t>i</a:t>
            </a:r>
            <a:r>
              <a:rPr lang="en-IE" sz="2400" dirty="0"/>
              <a:t> &lt; 4; </a:t>
            </a:r>
            <a:r>
              <a:rPr lang="en-IE" sz="2400" dirty="0" err="1"/>
              <a:t>i</a:t>
            </a:r>
            <a:r>
              <a:rPr lang="en-IE" sz="2400" dirty="0"/>
              <a:t>++) </a:t>
            </a:r>
          </a:p>
          <a:p>
            <a:pPr lvl="1"/>
            <a:r>
              <a:rPr lang="en-IE" sz="2400" dirty="0"/>
              <a:t>{</a:t>
            </a:r>
          </a:p>
          <a:p>
            <a:pPr lvl="1"/>
            <a:r>
              <a:rPr lang="en-IE" sz="2400" dirty="0"/>
              <a:t>    </a:t>
            </a:r>
            <a:r>
              <a:rPr lang="en-IE" sz="2400" dirty="0" err="1"/>
              <a:t>rect</a:t>
            </a:r>
            <a:r>
              <a:rPr lang="en-IE" sz="2400" dirty="0"/>
              <a:t>(50, yCoordinate, 500, 10);</a:t>
            </a:r>
          </a:p>
          <a:p>
            <a:pPr lvl="1"/>
            <a:r>
              <a:rPr lang="en-IE" sz="2400" dirty="0"/>
              <a:t>    yCoordinate = yCoordinate + 20;</a:t>
            </a:r>
          </a:p>
          <a:p>
            <a:pPr lvl="1"/>
            <a:r>
              <a:rPr lang="en-IE" sz="2400" dirty="0"/>
              <a:t>}</a:t>
            </a:r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64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dirty="0">
                <a:solidFill>
                  <a:schemeClr val="tx1"/>
                </a:solidFill>
              </a:rPr>
              <a:t>size(600, 300);</a:t>
            </a:r>
          </a:p>
          <a:p>
            <a:r>
              <a:rPr lang="en-IE" sz="1200" dirty="0">
                <a:solidFill>
                  <a:schemeClr val="tx1"/>
                </a:solidFill>
              </a:rPr>
              <a:t>background(102);</a:t>
            </a:r>
          </a:p>
          <a:p>
            <a:r>
              <a:rPr lang="en-IE" sz="1200" dirty="0">
                <a:solidFill>
                  <a:schemeClr val="tx1"/>
                </a:solidFill>
              </a:rPr>
              <a:t>fill(255);</a:t>
            </a:r>
          </a:p>
          <a:p>
            <a:r>
              <a:rPr lang="en-IE" sz="1200" dirty="0" err="1">
                <a:solidFill>
                  <a:schemeClr val="tx1"/>
                </a:solidFill>
              </a:rPr>
              <a:t>noStroke</a:t>
            </a:r>
            <a:r>
              <a:rPr lang="en-IE" sz="1200" dirty="0">
                <a:solidFill>
                  <a:schemeClr val="tx1"/>
                </a:solidFill>
              </a:rPr>
              <a:t>();</a:t>
            </a:r>
          </a:p>
          <a:p>
            <a:endParaRPr lang="en-IE" sz="1200" dirty="0">
              <a:solidFill>
                <a:schemeClr val="tx1"/>
              </a:solidFill>
            </a:endParaRPr>
          </a:p>
          <a:p>
            <a:r>
              <a:rPr lang="en-IE" sz="1200" dirty="0">
                <a:solidFill>
                  <a:schemeClr val="tx1"/>
                </a:solidFill>
              </a:rPr>
              <a:t>for(</a:t>
            </a:r>
            <a:r>
              <a:rPr lang="en-IE" sz="1200" dirty="0" err="1">
                <a:solidFill>
                  <a:schemeClr val="tx1"/>
                </a:solidFill>
              </a:rPr>
              <a:t>int</a:t>
            </a:r>
            <a:r>
              <a:rPr lang="en-IE" sz="1200" dirty="0">
                <a:solidFill>
                  <a:schemeClr val="tx1"/>
                </a:solidFill>
              </a:rPr>
              <a:t> </a:t>
            </a:r>
            <a:r>
              <a:rPr lang="en-IE" sz="1200" dirty="0" err="1">
                <a:solidFill>
                  <a:schemeClr val="tx1"/>
                </a:solidFill>
              </a:rPr>
              <a:t>i</a:t>
            </a:r>
            <a:r>
              <a:rPr lang="en-IE" sz="1200" dirty="0">
                <a:solidFill>
                  <a:schemeClr val="tx1"/>
                </a:solidFill>
              </a:rPr>
              <a:t> = 60; </a:t>
            </a:r>
            <a:r>
              <a:rPr lang="en-IE" sz="1200" dirty="0" err="1">
                <a:solidFill>
                  <a:schemeClr val="tx1"/>
                </a:solidFill>
              </a:rPr>
              <a:t>i</a:t>
            </a:r>
            <a:r>
              <a:rPr lang="en-IE" sz="1200" dirty="0">
                <a:solidFill>
                  <a:schemeClr val="tx1"/>
                </a:solidFill>
              </a:rPr>
              <a:t> &lt;= 120; </a:t>
            </a:r>
            <a:r>
              <a:rPr lang="en-IE" sz="1200" dirty="0" err="1">
                <a:solidFill>
                  <a:schemeClr val="tx1"/>
                </a:solidFill>
              </a:rPr>
              <a:t>i</a:t>
            </a:r>
            <a:r>
              <a:rPr lang="en-IE" sz="1200" dirty="0">
                <a:solidFill>
                  <a:schemeClr val="tx1"/>
                </a:solidFill>
              </a:rPr>
              <a:t> = </a:t>
            </a:r>
            <a:r>
              <a:rPr lang="en-IE" sz="1200" dirty="0" err="1">
                <a:solidFill>
                  <a:schemeClr val="tx1"/>
                </a:solidFill>
              </a:rPr>
              <a:t>i</a:t>
            </a:r>
            <a:r>
              <a:rPr lang="en-IE" sz="1200" dirty="0">
                <a:solidFill>
                  <a:schemeClr val="tx1"/>
                </a:solidFill>
              </a:rPr>
              <a:t> + 20) </a:t>
            </a:r>
          </a:p>
          <a:p>
            <a:r>
              <a:rPr lang="en-IE" sz="1200" dirty="0">
                <a:solidFill>
                  <a:schemeClr val="tx1"/>
                </a:solidFill>
              </a:rPr>
              <a:t>{</a:t>
            </a:r>
          </a:p>
          <a:p>
            <a:r>
              <a:rPr lang="en-IE" sz="1200" dirty="0">
                <a:solidFill>
                  <a:schemeClr val="tx1"/>
                </a:solidFill>
              </a:rPr>
              <a:t>    </a:t>
            </a:r>
            <a:r>
              <a:rPr lang="en-IE" sz="1200" dirty="0" err="1">
                <a:solidFill>
                  <a:schemeClr val="tx1"/>
                </a:solidFill>
              </a:rPr>
              <a:t>rect</a:t>
            </a:r>
            <a:r>
              <a:rPr lang="en-IE" sz="1200" dirty="0">
                <a:solidFill>
                  <a:schemeClr val="tx1"/>
                </a:solidFill>
              </a:rPr>
              <a:t>(50, </a:t>
            </a:r>
            <a:r>
              <a:rPr lang="en-IE" sz="1200" dirty="0" err="1">
                <a:solidFill>
                  <a:schemeClr val="tx1"/>
                </a:solidFill>
              </a:rPr>
              <a:t>i</a:t>
            </a:r>
            <a:r>
              <a:rPr lang="en-IE" sz="1200" dirty="0">
                <a:solidFill>
                  <a:schemeClr val="tx1"/>
                </a:solidFill>
              </a:rPr>
              <a:t>, 500, 10);</a:t>
            </a:r>
          </a:p>
          <a:p>
            <a:r>
              <a:rPr lang="en-IE" sz="1200" dirty="0">
                <a:solidFill>
                  <a:schemeClr val="tx1"/>
                </a:solidFill>
              </a:rPr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217321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420465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01070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31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77896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447800"/>
            <a:ext cx="8305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1641" y="914400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Iteration in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727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651641" y="2133600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for loops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B7F73-17D1-BE92-C21E-3C8679018AFC}"/>
              </a:ext>
            </a:extLst>
          </p:cNvPr>
          <p:cNvSpPr txBox="1"/>
          <p:nvPr/>
        </p:nvSpPr>
        <p:spPr>
          <a:xfrm>
            <a:off x="4953000" y="5892225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http://www.setu.ie/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438B99ED-395E-DFC0-E1CF-2D2F32F82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41" y="5501441"/>
            <a:ext cx="2286000" cy="12815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C3CAAC-29AC-9D43-7BA2-43A91BEB13EF}"/>
              </a:ext>
            </a:extLst>
          </p:cNvPr>
          <p:cNvSpPr txBox="1"/>
          <p:nvPr/>
        </p:nvSpPr>
        <p:spPr>
          <a:xfrm>
            <a:off x="2171700" y="3768720"/>
            <a:ext cx="5562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Drohan,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IE" dirty="0"/>
          </a:p>
          <a:p>
            <a:r>
              <a:rPr lang="en-IE" dirty="0"/>
              <a:t>There are three types of loop in programming:	</a:t>
            </a:r>
          </a:p>
          <a:p>
            <a:pPr lvl="1"/>
            <a:r>
              <a:rPr lang="en-IE" dirty="0"/>
              <a:t>while loops:</a:t>
            </a:r>
          </a:p>
          <a:p>
            <a:pPr lvl="2"/>
            <a:r>
              <a:rPr lang="en-US" dirty="0"/>
              <a:t>Counter controlled (n times) - </a:t>
            </a:r>
            <a:r>
              <a:rPr lang="en-IE" dirty="0"/>
              <a:t>covered in previous talk</a:t>
            </a:r>
            <a:endParaRPr lang="en-US" dirty="0"/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Sentinel based (covered later in the course)</a:t>
            </a: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Flag based (covered later in the course) </a:t>
            </a:r>
          </a:p>
          <a:p>
            <a:pPr lvl="2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IE" dirty="0"/>
              <a:t>for loops (this slide deck)</a:t>
            </a:r>
          </a:p>
          <a:p>
            <a:pPr marL="457200" lvl="1" indent="0">
              <a:buNone/>
            </a:pPr>
            <a:r>
              <a:rPr lang="en-IE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do While loops (covered later in the course)</a:t>
            </a:r>
            <a:r>
              <a:rPr lang="en-IE" dirty="0"/>
              <a:t>	</a:t>
            </a:r>
          </a:p>
          <a:p>
            <a:pPr marL="914400" lvl="2" indent="0">
              <a:buNone/>
            </a:pPr>
            <a:endParaRPr lang="en-IE" dirty="0"/>
          </a:p>
          <a:p>
            <a:r>
              <a:rPr lang="en-IE" dirty="0"/>
              <a:t>Comparative use of while and for loops</a:t>
            </a:r>
          </a:p>
          <a:p>
            <a:r>
              <a:rPr lang="en-IE" dirty="0"/>
              <a:t>Lab03 - Challenge 1</a:t>
            </a:r>
          </a:p>
          <a:p>
            <a:r>
              <a:rPr lang="en-IE" dirty="0"/>
              <a:t>Lab03 - Challenge 3	</a:t>
            </a:r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457200" y="3505200"/>
            <a:ext cx="6477000" cy="5334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pseudo-code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1066800" y="3124200"/>
            <a:ext cx="697133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  <p:sp>
        <p:nvSpPr>
          <p:cNvPr id="31749" name="AutoShape 5"/>
          <p:cNvSpPr>
            <a:spLocks noChangeArrowheads="1"/>
          </p:cNvSpPr>
          <p:nvPr/>
        </p:nvSpPr>
        <p:spPr bwMode="auto">
          <a:xfrm>
            <a:off x="3048000" y="2590800"/>
            <a:ext cx="2930525" cy="407988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000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b="0">
                <a:solidFill>
                  <a:srgbClr val="A57133"/>
                </a:solidFill>
                <a:latin typeface="Trebuchet MS" pitchFamily="-32" charset="0"/>
              </a:rPr>
              <a:t>General form of a for loop</a:t>
            </a:r>
          </a:p>
        </p:txBody>
      </p:sp>
      <p:sp>
        <p:nvSpPr>
          <p:cNvPr id="31754" name="Rectangle 10"/>
          <p:cNvSpPr>
            <a:spLocks noChangeArrowheads="1"/>
          </p:cNvSpPr>
          <p:nvPr/>
        </p:nvSpPr>
        <p:spPr bwMode="auto">
          <a:xfrm>
            <a:off x="533400" y="2209800"/>
            <a:ext cx="8153400" cy="28623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33695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Recap: Processing Example 4.5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34000" y="1676400"/>
            <a:ext cx="3429000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>
                <a:solidFill>
                  <a:schemeClr val="tx1"/>
                </a:solidFill>
              </a:rPr>
              <a:t>This was a slide from the previous talk.  We used a while loop to repeatedly print the four rectangles to the display window.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A154EA-15E3-473D-94E7-1034545A22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964" t="19853" r="44731" b="38889"/>
          <a:stretch/>
        </p:blipFill>
        <p:spPr>
          <a:xfrm>
            <a:off x="609599" y="2286000"/>
            <a:ext cx="4702963" cy="381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0551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Processing Example 4.7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605EE0-0768-4D66-9FD9-22FC4C5EE2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6" t="21744" r="46164" b="41111"/>
          <a:stretch/>
        </p:blipFill>
        <p:spPr>
          <a:xfrm>
            <a:off x="367604" y="2209800"/>
            <a:ext cx="5817992" cy="3962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F9417320-641D-49A2-B390-5095D9468B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825952" y="4876800"/>
            <a:ext cx="3131357" cy="1704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8161FD3-51BD-48A5-856E-03210FDF5633}"/>
              </a:ext>
            </a:extLst>
          </p:cNvPr>
          <p:cNvSpPr txBox="1"/>
          <p:nvPr/>
        </p:nvSpPr>
        <p:spPr>
          <a:xfrm>
            <a:off x="5943600" y="1676400"/>
            <a:ext cx="2819400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>
                <a:solidFill>
                  <a:schemeClr val="tx1"/>
                </a:solidFill>
              </a:rPr>
              <a:t>This code does the same as the previous slide, except that we use a different loop:  </a:t>
            </a:r>
            <a:r>
              <a:rPr lang="en-IE" sz="2800" b="1" dirty="0">
                <a:solidFill>
                  <a:srgbClr val="C00000"/>
                </a:solidFill>
              </a:rPr>
              <a:t>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4419600"/>
            <a:ext cx="5410200" cy="18288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5100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syntax</a:t>
            </a:r>
            <a:endParaRPr lang="en-IE" dirty="0"/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F39CAD09-FDD5-4141-A04C-C1F10DA8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47837"/>
            <a:ext cx="6971332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6960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 syntax</a:t>
            </a:r>
            <a:endParaRPr lang="en-IE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2438400" y="3087929"/>
            <a:ext cx="1066800" cy="84263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V="1">
            <a:off x="4343400" y="3109637"/>
            <a:ext cx="838200" cy="838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6248400" y="3075081"/>
            <a:ext cx="381000" cy="838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288856E-74B5-4878-A7EE-6CE14FB9F0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6" t="40770" r="59610" b="53072"/>
          <a:stretch/>
        </p:blipFill>
        <p:spPr>
          <a:xfrm>
            <a:off x="1524000" y="2133600"/>
            <a:ext cx="5701287" cy="901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 Box 4">
            <a:extLst>
              <a:ext uri="{FF2B5EF4-FFF2-40B4-BE49-F238E27FC236}">
                <a16:creationId xmlns:a16="http://schemas.microsoft.com/office/drawing/2014/main" id="{F39CAD09-FDD5-4141-A04C-C1F10DA8B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3947837"/>
            <a:ext cx="6971332" cy="15696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2400" dirty="0"/>
              <a:t>for(</a:t>
            </a:r>
            <a:r>
              <a:rPr lang="en-US" sz="2400" i="1" dirty="0">
                <a:solidFill>
                  <a:srgbClr val="FF0000"/>
                </a:solidFill>
              </a:rPr>
              <a:t>initialization</a:t>
            </a:r>
            <a:r>
              <a:rPr lang="en-US" sz="2400" dirty="0"/>
              <a:t>; </a:t>
            </a:r>
            <a:r>
              <a:rPr lang="en-US" sz="2400" i="1" dirty="0" err="1">
                <a:solidFill>
                  <a:srgbClr val="00B050"/>
                </a:solidFill>
              </a:rPr>
              <a:t>boolean</a:t>
            </a:r>
            <a:r>
              <a:rPr lang="en-US" sz="2400" i="1" dirty="0">
                <a:solidFill>
                  <a:srgbClr val="00B050"/>
                </a:solidFill>
              </a:rPr>
              <a:t> condition</a:t>
            </a:r>
            <a:r>
              <a:rPr lang="en-US" sz="2400" dirty="0"/>
              <a:t>; </a:t>
            </a:r>
            <a:r>
              <a:rPr lang="en-US" sz="2400" i="1" dirty="0">
                <a:solidFill>
                  <a:srgbClr val="0070C0"/>
                </a:solidFill>
              </a:rPr>
              <a:t>post-body action</a:t>
            </a:r>
            <a:r>
              <a:rPr lang="en-US" sz="2400" dirty="0"/>
              <a:t>) </a:t>
            </a:r>
          </a:p>
          <a:p>
            <a:r>
              <a:rPr lang="en-US" sz="2400" dirty="0"/>
              <a:t>{</a:t>
            </a:r>
          </a:p>
          <a:p>
            <a:r>
              <a:rPr lang="en-US" sz="2400" dirty="0"/>
              <a:t>      </a:t>
            </a:r>
            <a:r>
              <a:rPr lang="en-US" sz="2400" i="1" dirty="0"/>
              <a:t>statements to be repeated</a:t>
            </a:r>
            <a:endParaRPr lang="en-US" sz="2400" dirty="0"/>
          </a:p>
          <a:p>
            <a:r>
              <a:rPr lang="en-US" sz="2400" dirty="0"/>
              <a:t>}</a:t>
            </a:r>
          </a:p>
        </p:txBody>
      </p:sp>
      <p:sp>
        <p:nvSpPr>
          <p:cNvPr id="3" name="Freeform 2"/>
          <p:cNvSpPr/>
          <p:nvPr/>
        </p:nvSpPr>
        <p:spPr>
          <a:xfrm>
            <a:off x="1638301" y="2400152"/>
            <a:ext cx="2628900" cy="2070248"/>
          </a:xfrm>
          <a:custGeom>
            <a:avLst/>
            <a:gdLst>
              <a:gd name="connsiteX0" fmla="*/ 2692400 w 2717469"/>
              <a:gd name="connsiteY0" fmla="*/ 25548 h 2070248"/>
              <a:gd name="connsiteX1" fmla="*/ 2679700 w 2717469"/>
              <a:gd name="connsiteY1" fmla="*/ 76348 h 2070248"/>
              <a:gd name="connsiteX2" fmla="*/ 2692400 w 2717469"/>
              <a:gd name="connsiteY2" fmla="*/ 368448 h 2070248"/>
              <a:gd name="connsiteX3" fmla="*/ 2667000 w 2717469"/>
              <a:gd name="connsiteY3" fmla="*/ 444648 h 2070248"/>
              <a:gd name="connsiteX4" fmla="*/ 2628900 w 2717469"/>
              <a:gd name="connsiteY4" fmla="*/ 470048 h 2070248"/>
              <a:gd name="connsiteX5" fmla="*/ 2590800 w 2717469"/>
              <a:gd name="connsiteY5" fmla="*/ 609748 h 2070248"/>
              <a:gd name="connsiteX6" fmla="*/ 2552700 w 2717469"/>
              <a:gd name="connsiteY6" fmla="*/ 635148 h 2070248"/>
              <a:gd name="connsiteX7" fmla="*/ 2527300 w 2717469"/>
              <a:gd name="connsiteY7" fmla="*/ 711348 h 2070248"/>
              <a:gd name="connsiteX8" fmla="*/ 2514600 w 2717469"/>
              <a:gd name="connsiteY8" fmla="*/ 749448 h 2070248"/>
              <a:gd name="connsiteX9" fmla="*/ 2501900 w 2717469"/>
              <a:gd name="connsiteY9" fmla="*/ 800248 h 2070248"/>
              <a:gd name="connsiteX10" fmla="*/ 2324100 w 2717469"/>
              <a:gd name="connsiteY10" fmla="*/ 952648 h 2070248"/>
              <a:gd name="connsiteX11" fmla="*/ 2273300 w 2717469"/>
              <a:gd name="connsiteY11" fmla="*/ 978048 h 2070248"/>
              <a:gd name="connsiteX12" fmla="*/ 2222500 w 2717469"/>
              <a:gd name="connsiteY12" fmla="*/ 1016148 h 2070248"/>
              <a:gd name="connsiteX13" fmla="*/ 2146300 w 2717469"/>
              <a:gd name="connsiteY13" fmla="*/ 1041548 h 2070248"/>
              <a:gd name="connsiteX14" fmla="*/ 2108200 w 2717469"/>
              <a:gd name="connsiteY14" fmla="*/ 1054248 h 2070248"/>
              <a:gd name="connsiteX15" fmla="*/ 1955800 w 2717469"/>
              <a:gd name="connsiteY15" fmla="*/ 1117748 h 2070248"/>
              <a:gd name="connsiteX16" fmla="*/ 1917700 w 2717469"/>
              <a:gd name="connsiteY16" fmla="*/ 1143148 h 2070248"/>
              <a:gd name="connsiteX17" fmla="*/ 1879600 w 2717469"/>
              <a:gd name="connsiteY17" fmla="*/ 1155848 h 2070248"/>
              <a:gd name="connsiteX18" fmla="*/ 1752600 w 2717469"/>
              <a:gd name="connsiteY18" fmla="*/ 1257448 h 2070248"/>
              <a:gd name="connsiteX19" fmla="*/ 1714500 w 2717469"/>
              <a:gd name="connsiteY19" fmla="*/ 1320948 h 2070248"/>
              <a:gd name="connsiteX20" fmla="*/ 1701800 w 2717469"/>
              <a:gd name="connsiteY20" fmla="*/ 1359048 h 2070248"/>
              <a:gd name="connsiteX21" fmla="*/ 1663700 w 2717469"/>
              <a:gd name="connsiteY21" fmla="*/ 1371748 h 2070248"/>
              <a:gd name="connsiteX22" fmla="*/ 1651000 w 2717469"/>
              <a:gd name="connsiteY22" fmla="*/ 1409848 h 2070248"/>
              <a:gd name="connsiteX23" fmla="*/ 1625600 w 2717469"/>
              <a:gd name="connsiteY23" fmla="*/ 1460648 h 2070248"/>
              <a:gd name="connsiteX24" fmla="*/ 1600200 w 2717469"/>
              <a:gd name="connsiteY24" fmla="*/ 1663848 h 2070248"/>
              <a:gd name="connsiteX25" fmla="*/ 1524000 w 2717469"/>
              <a:gd name="connsiteY25" fmla="*/ 2044848 h 2070248"/>
              <a:gd name="connsiteX26" fmla="*/ 1460500 w 2717469"/>
              <a:gd name="connsiteY26" fmla="*/ 2057548 h 2070248"/>
              <a:gd name="connsiteX27" fmla="*/ 1371600 w 2717469"/>
              <a:gd name="connsiteY27" fmla="*/ 2070248 h 2070248"/>
              <a:gd name="connsiteX28" fmla="*/ 647700 w 2717469"/>
              <a:gd name="connsiteY28" fmla="*/ 2044848 h 2070248"/>
              <a:gd name="connsiteX29" fmla="*/ 317500 w 2717469"/>
              <a:gd name="connsiteY29" fmla="*/ 1994048 h 2070248"/>
              <a:gd name="connsiteX30" fmla="*/ 63500 w 2717469"/>
              <a:gd name="connsiteY30" fmla="*/ 1968648 h 2070248"/>
              <a:gd name="connsiteX31" fmla="*/ 25400 w 2717469"/>
              <a:gd name="connsiteY31" fmla="*/ 1955948 h 2070248"/>
              <a:gd name="connsiteX32" fmla="*/ 0 w 2717469"/>
              <a:gd name="connsiteY32" fmla="*/ 1879748 h 2070248"/>
              <a:gd name="connsiteX33" fmla="*/ 25400 w 2717469"/>
              <a:gd name="connsiteY33" fmla="*/ 1790848 h 2070248"/>
              <a:gd name="connsiteX34" fmla="*/ 50800 w 2717469"/>
              <a:gd name="connsiteY34" fmla="*/ 1752748 h 2070248"/>
              <a:gd name="connsiteX35" fmla="*/ 101600 w 2717469"/>
              <a:gd name="connsiteY35" fmla="*/ 1638448 h 2070248"/>
              <a:gd name="connsiteX36" fmla="*/ 139700 w 2717469"/>
              <a:gd name="connsiteY36" fmla="*/ 1613048 h 2070248"/>
              <a:gd name="connsiteX37" fmla="*/ 177800 w 2717469"/>
              <a:gd name="connsiteY37" fmla="*/ 1524148 h 2070248"/>
              <a:gd name="connsiteX38" fmla="*/ 215900 w 2717469"/>
              <a:gd name="connsiteY38" fmla="*/ 1511448 h 2070248"/>
              <a:gd name="connsiteX39" fmla="*/ 355600 w 2717469"/>
              <a:gd name="connsiteY39" fmla="*/ 1409848 h 2070248"/>
              <a:gd name="connsiteX40" fmla="*/ 431800 w 2717469"/>
              <a:gd name="connsiteY40" fmla="*/ 1371748 h 2070248"/>
              <a:gd name="connsiteX41" fmla="*/ 546100 w 2717469"/>
              <a:gd name="connsiteY41" fmla="*/ 1282848 h 2070248"/>
              <a:gd name="connsiteX42" fmla="*/ 609600 w 2717469"/>
              <a:gd name="connsiteY42" fmla="*/ 1270148 h 2070248"/>
              <a:gd name="connsiteX43" fmla="*/ 800100 w 2717469"/>
              <a:gd name="connsiteY43" fmla="*/ 1130448 h 2070248"/>
              <a:gd name="connsiteX44" fmla="*/ 850900 w 2717469"/>
              <a:gd name="connsiteY44" fmla="*/ 1092348 h 2070248"/>
              <a:gd name="connsiteX45" fmla="*/ 889000 w 2717469"/>
              <a:gd name="connsiteY45" fmla="*/ 1079648 h 2070248"/>
              <a:gd name="connsiteX46" fmla="*/ 990600 w 2717469"/>
              <a:gd name="connsiteY46" fmla="*/ 1041548 h 2070248"/>
              <a:gd name="connsiteX47" fmla="*/ 1028700 w 2717469"/>
              <a:gd name="connsiteY47" fmla="*/ 1003448 h 2070248"/>
              <a:gd name="connsiteX48" fmla="*/ 1003300 w 2717469"/>
              <a:gd name="connsiteY48" fmla="*/ 774848 h 2070248"/>
              <a:gd name="connsiteX49" fmla="*/ 965200 w 2717469"/>
              <a:gd name="connsiteY49" fmla="*/ 635148 h 2070248"/>
              <a:gd name="connsiteX50" fmla="*/ 952500 w 2717469"/>
              <a:gd name="connsiteY50" fmla="*/ 584348 h 2070248"/>
              <a:gd name="connsiteX51" fmla="*/ 927100 w 2717469"/>
              <a:gd name="connsiteY51" fmla="*/ 533548 h 2070248"/>
              <a:gd name="connsiteX52" fmla="*/ 876300 w 2717469"/>
              <a:gd name="connsiteY52" fmla="*/ 508148 h 2070248"/>
              <a:gd name="connsiteX53" fmla="*/ 850900 w 2717469"/>
              <a:gd name="connsiteY53" fmla="*/ 470048 h 2070248"/>
              <a:gd name="connsiteX54" fmla="*/ 812800 w 2717469"/>
              <a:gd name="connsiteY54" fmla="*/ 444648 h 2070248"/>
              <a:gd name="connsiteX55" fmla="*/ 774700 w 2717469"/>
              <a:gd name="connsiteY55" fmla="*/ 292248 h 2070248"/>
              <a:gd name="connsiteX56" fmla="*/ 800100 w 2717469"/>
              <a:gd name="connsiteY56" fmla="*/ 127148 h 2070248"/>
              <a:gd name="connsiteX57" fmla="*/ 838200 w 2717469"/>
              <a:gd name="connsiteY57" fmla="*/ 101748 h 2070248"/>
              <a:gd name="connsiteX58" fmla="*/ 990600 w 2717469"/>
              <a:gd name="connsiteY58" fmla="*/ 38248 h 2070248"/>
              <a:gd name="connsiteX59" fmla="*/ 1206500 w 2717469"/>
              <a:gd name="connsiteY59" fmla="*/ 25548 h 2070248"/>
              <a:gd name="connsiteX60" fmla="*/ 2298700 w 2717469"/>
              <a:gd name="connsiteY60" fmla="*/ 148 h 2070248"/>
              <a:gd name="connsiteX61" fmla="*/ 2692400 w 2717469"/>
              <a:gd name="connsiteY61" fmla="*/ 25548 h 2070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717469" h="2070248">
                <a:moveTo>
                  <a:pt x="2692400" y="25548"/>
                </a:moveTo>
                <a:cubicBezTo>
                  <a:pt x="2755900" y="38248"/>
                  <a:pt x="2678611" y="58928"/>
                  <a:pt x="2679700" y="76348"/>
                </a:cubicBezTo>
                <a:cubicBezTo>
                  <a:pt x="2692809" y="286089"/>
                  <a:pt x="2727901" y="167273"/>
                  <a:pt x="2692400" y="368448"/>
                </a:cubicBezTo>
                <a:cubicBezTo>
                  <a:pt x="2687747" y="394815"/>
                  <a:pt x="2689277" y="429796"/>
                  <a:pt x="2667000" y="444648"/>
                </a:cubicBezTo>
                <a:lnTo>
                  <a:pt x="2628900" y="470048"/>
                </a:lnTo>
                <a:cubicBezTo>
                  <a:pt x="2624939" y="489852"/>
                  <a:pt x="2605674" y="599832"/>
                  <a:pt x="2590800" y="609748"/>
                </a:cubicBezTo>
                <a:lnTo>
                  <a:pt x="2552700" y="635148"/>
                </a:lnTo>
                <a:lnTo>
                  <a:pt x="2527300" y="711348"/>
                </a:lnTo>
                <a:cubicBezTo>
                  <a:pt x="2523067" y="724048"/>
                  <a:pt x="2517847" y="736461"/>
                  <a:pt x="2514600" y="749448"/>
                </a:cubicBezTo>
                <a:cubicBezTo>
                  <a:pt x="2510367" y="766381"/>
                  <a:pt x="2512373" y="786284"/>
                  <a:pt x="2501900" y="800248"/>
                </a:cubicBezTo>
                <a:cubicBezTo>
                  <a:pt x="2464404" y="850243"/>
                  <a:pt x="2385534" y="921931"/>
                  <a:pt x="2324100" y="952648"/>
                </a:cubicBezTo>
                <a:cubicBezTo>
                  <a:pt x="2307167" y="961115"/>
                  <a:pt x="2289354" y="968014"/>
                  <a:pt x="2273300" y="978048"/>
                </a:cubicBezTo>
                <a:cubicBezTo>
                  <a:pt x="2255351" y="989266"/>
                  <a:pt x="2241432" y="1006682"/>
                  <a:pt x="2222500" y="1016148"/>
                </a:cubicBezTo>
                <a:cubicBezTo>
                  <a:pt x="2198553" y="1028122"/>
                  <a:pt x="2171700" y="1033081"/>
                  <a:pt x="2146300" y="1041548"/>
                </a:cubicBezTo>
                <a:cubicBezTo>
                  <a:pt x="2133600" y="1045781"/>
                  <a:pt x="2119339" y="1046822"/>
                  <a:pt x="2108200" y="1054248"/>
                </a:cubicBezTo>
                <a:cubicBezTo>
                  <a:pt x="2010574" y="1119332"/>
                  <a:pt x="2062112" y="1100029"/>
                  <a:pt x="1955800" y="1117748"/>
                </a:cubicBezTo>
                <a:cubicBezTo>
                  <a:pt x="1943100" y="1126215"/>
                  <a:pt x="1931352" y="1136322"/>
                  <a:pt x="1917700" y="1143148"/>
                </a:cubicBezTo>
                <a:cubicBezTo>
                  <a:pt x="1905726" y="1149135"/>
                  <a:pt x="1890607" y="1148228"/>
                  <a:pt x="1879600" y="1155848"/>
                </a:cubicBezTo>
                <a:cubicBezTo>
                  <a:pt x="1835026" y="1186707"/>
                  <a:pt x="1752600" y="1257448"/>
                  <a:pt x="1752600" y="1257448"/>
                </a:cubicBezTo>
                <a:cubicBezTo>
                  <a:pt x="1739900" y="1278615"/>
                  <a:pt x="1725539" y="1298870"/>
                  <a:pt x="1714500" y="1320948"/>
                </a:cubicBezTo>
                <a:cubicBezTo>
                  <a:pt x="1708513" y="1332922"/>
                  <a:pt x="1711266" y="1349582"/>
                  <a:pt x="1701800" y="1359048"/>
                </a:cubicBezTo>
                <a:cubicBezTo>
                  <a:pt x="1692334" y="1368514"/>
                  <a:pt x="1676400" y="1367515"/>
                  <a:pt x="1663700" y="1371748"/>
                </a:cubicBezTo>
                <a:cubicBezTo>
                  <a:pt x="1659467" y="1384448"/>
                  <a:pt x="1656273" y="1397543"/>
                  <a:pt x="1651000" y="1409848"/>
                </a:cubicBezTo>
                <a:cubicBezTo>
                  <a:pt x="1643542" y="1427249"/>
                  <a:pt x="1630581" y="1442383"/>
                  <a:pt x="1625600" y="1460648"/>
                </a:cubicBezTo>
                <a:cubicBezTo>
                  <a:pt x="1618805" y="1485565"/>
                  <a:pt x="1601702" y="1650334"/>
                  <a:pt x="1600200" y="1663848"/>
                </a:cubicBezTo>
                <a:cubicBezTo>
                  <a:pt x="1598400" y="1708843"/>
                  <a:pt x="1657514" y="1994780"/>
                  <a:pt x="1524000" y="2044848"/>
                </a:cubicBezTo>
                <a:cubicBezTo>
                  <a:pt x="1503789" y="2052427"/>
                  <a:pt x="1481792" y="2053999"/>
                  <a:pt x="1460500" y="2057548"/>
                </a:cubicBezTo>
                <a:cubicBezTo>
                  <a:pt x="1430973" y="2062469"/>
                  <a:pt x="1401233" y="2066015"/>
                  <a:pt x="1371600" y="2070248"/>
                </a:cubicBezTo>
                <a:cubicBezTo>
                  <a:pt x="1362068" y="2070004"/>
                  <a:pt x="781473" y="2060049"/>
                  <a:pt x="647700" y="2044848"/>
                </a:cubicBezTo>
                <a:cubicBezTo>
                  <a:pt x="537051" y="2032274"/>
                  <a:pt x="428534" y="2002589"/>
                  <a:pt x="317500" y="1994048"/>
                </a:cubicBezTo>
                <a:cubicBezTo>
                  <a:pt x="122554" y="1979052"/>
                  <a:pt x="207041" y="1989154"/>
                  <a:pt x="63500" y="1968648"/>
                </a:cubicBezTo>
                <a:cubicBezTo>
                  <a:pt x="50800" y="1964415"/>
                  <a:pt x="33181" y="1966841"/>
                  <a:pt x="25400" y="1955948"/>
                </a:cubicBezTo>
                <a:cubicBezTo>
                  <a:pt x="9838" y="1934161"/>
                  <a:pt x="0" y="1879748"/>
                  <a:pt x="0" y="1879748"/>
                </a:cubicBezTo>
                <a:cubicBezTo>
                  <a:pt x="4069" y="1863472"/>
                  <a:pt x="16290" y="1809068"/>
                  <a:pt x="25400" y="1790848"/>
                </a:cubicBezTo>
                <a:cubicBezTo>
                  <a:pt x="32226" y="1777196"/>
                  <a:pt x="44601" y="1766696"/>
                  <a:pt x="50800" y="1752748"/>
                </a:cubicBezTo>
                <a:cubicBezTo>
                  <a:pt x="70920" y="1707477"/>
                  <a:pt x="67110" y="1672938"/>
                  <a:pt x="101600" y="1638448"/>
                </a:cubicBezTo>
                <a:cubicBezTo>
                  <a:pt x="112393" y="1627655"/>
                  <a:pt x="127000" y="1621515"/>
                  <a:pt x="139700" y="1613048"/>
                </a:cubicBezTo>
                <a:cubicBezTo>
                  <a:pt x="147290" y="1590278"/>
                  <a:pt x="162107" y="1539841"/>
                  <a:pt x="177800" y="1524148"/>
                </a:cubicBezTo>
                <a:cubicBezTo>
                  <a:pt x="187266" y="1514682"/>
                  <a:pt x="203200" y="1515681"/>
                  <a:pt x="215900" y="1511448"/>
                </a:cubicBezTo>
                <a:cubicBezTo>
                  <a:pt x="288807" y="1438541"/>
                  <a:pt x="224166" y="1497471"/>
                  <a:pt x="355600" y="1409848"/>
                </a:cubicBezTo>
                <a:cubicBezTo>
                  <a:pt x="404839" y="1377022"/>
                  <a:pt x="379220" y="1389275"/>
                  <a:pt x="431800" y="1371748"/>
                </a:cubicBezTo>
                <a:cubicBezTo>
                  <a:pt x="460205" y="1343343"/>
                  <a:pt x="508123" y="1290443"/>
                  <a:pt x="546100" y="1282848"/>
                </a:cubicBezTo>
                <a:lnTo>
                  <a:pt x="609600" y="1270148"/>
                </a:lnTo>
                <a:cubicBezTo>
                  <a:pt x="763550" y="1116198"/>
                  <a:pt x="555831" y="1313650"/>
                  <a:pt x="800100" y="1130448"/>
                </a:cubicBezTo>
                <a:cubicBezTo>
                  <a:pt x="817033" y="1117748"/>
                  <a:pt x="832522" y="1102850"/>
                  <a:pt x="850900" y="1092348"/>
                </a:cubicBezTo>
                <a:cubicBezTo>
                  <a:pt x="862523" y="1085706"/>
                  <a:pt x="876695" y="1084921"/>
                  <a:pt x="889000" y="1079648"/>
                </a:cubicBezTo>
                <a:cubicBezTo>
                  <a:pt x="981976" y="1039801"/>
                  <a:pt x="896942" y="1064963"/>
                  <a:pt x="990600" y="1041548"/>
                </a:cubicBezTo>
                <a:cubicBezTo>
                  <a:pt x="1003300" y="1028848"/>
                  <a:pt x="1027846" y="1021388"/>
                  <a:pt x="1028700" y="1003448"/>
                </a:cubicBezTo>
                <a:cubicBezTo>
                  <a:pt x="1032347" y="926866"/>
                  <a:pt x="1014958" y="850625"/>
                  <a:pt x="1003300" y="774848"/>
                </a:cubicBezTo>
                <a:cubicBezTo>
                  <a:pt x="988208" y="676751"/>
                  <a:pt x="983741" y="700042"/>
                  <a:pt x="965200" y="635148"/>
                </a:cubicBezTo>
                <a:cubicBezTo>
                  <a:pt x="960405" y="618365"/>
                  <a:pt x="958629" y="600691"/>
                  <a:pt x="952500" y="584348"/>
                </a:cubicBezTo>
                <a:cubicBezTo>
                  <a:pt x="945853" y="566621"/>
                  <a:pt x="940487" y="546935"/>
                  <a:pt x="927100" y="533548"/>
                </a:cubicBezTo>
                <a:cubicBezTo>
                  <a:pt x="913713" y="520161"/>
                  <a:pt x="893233" y="516615"/>
                  <a:pt x="876300" y="508148"/>
                </a:cubicBezTo>
                <a:cubicBezTo>
                  <a:pt x="867833" y="495448"/>
                  <a:pt x="861693" y="480841"/>
                  <a:pt x="850900" y="470048"/>
                </a:cubicBezTo>
                <a:cubicBezTo>
                  <a:pt x="840107" y="459255"/>
                  <a:pt x="820890" y="457591"/>
                  <a:pt x="812800" y="444648"/>
                </a:cubicBezTo>
                <a:cubicBezTo>
                  <a:pt x="789930" y="408056"/>
                  <a:pt x="781537" y="333269"/>
                  <a:pt x="774700" y="292248"/>
                </a:cubicBezTo>
                <a:cubicBezTo>
                  <a:pt x="783167" y="237215"/>
                  <a:pt x="782492" y="179971"/>
                  <a:pt x="800100" y="127148"/>
                </a:cubicBezTo>
                <a:cubicBezTo>
                  <a:pt x="804927" y="112668"/>
                  <a:pt x="824800" y="109057"/>
                  <a:pt x="838200" y="101748"/>
                </a:cubicBezTo>
                <a:cubicBezTo>
                  <a:pt x="878304" y="79873"/>
                  <a:pt x="938611" y="43199"/>
                  <a:pt x="990600" y="38248"/>
                </a:cubicBezTo>
                <a:cubicBezTo>
                  <a:pt x="1062366" y="31413"/>
                  <a:pt x="1134455" y="28121"/>
                  <a:pt x="1206500" y="25548"/>
                </a:cubicBezTo>
                <a:cubicBezTo>
                  <a:pt x="1359806" y="20073"/>
                  <a:pt x="2188519" y="1508"/>
                  <a:pt x="2298700" y="148"/>
                </a:cubicBezTo>
                <a:cubicBezTo>
                  <a:pt x="2442622" y="-1629"/>
                  <a:pt x="2628900" y="12848"/>
                  <a:pt x="2692400" y="25548"/>
                </a:cubicBezTo>
                <a:close/>
              </a:path>
            </a:pathLst>
          </a:cu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Freeform 3"/>
          <p:cNvSpPr/>
          <p:nvPr/>
        </p:nvSpPr>
        <p:spPr>
          <a:xfrm>
            <a:off x="3308069" y="2413000"/>
            <a:ext cx="2521231" cy="2032000"/>
          </a:xfrm>
          <a:custGeom>
            <a:avLst/>
            <a:gdLst>
              <a:gd name="connsiteX0" fmla="*/ 1467131 w 2521231"/>
              <a:gd name="connsiteY0" fmla="*/ 101600 h 2032000"/>
              <a:gd name="connsiteX1" fmla="*/ 1390931 w 2521231"/>
              <a:gd name="connsiteY1" fmla="*/ 190500 h 2032000"/>
              <a:gd name="connsiteX2" fmla="*/ 1378231 w 2521231"/>
              <a:gd name="connsiteY2" fmla="*/ 228600 h 2032000"/>
              <a:gd name="connsiteX3" fmla="*/ 1327431 w 2521231"/>
              <a:gd name="connsiteY3" fmla="*/ 304800 h 2032000"/>
              <a:gd name="connsiteX4" fmla="*/ 1302031 w 2521231"/>
              <a:gd name="connsiteY4" fmla="*/ 342900 h 2032000"/>
              <a:gd name="connsiteX5" fmla="*/ 1263931 w 2521231"/>
              <a:gd name="connsiteY5" fmla="*/ 419100 h 2032000"/>
              <a:gd name="connsiteX6" fmla="*/ 1238531 w 2521231"/>
              <a:gd name="connsiteY6" fmla="*/ 469900 h 2032000"/>
              <a:gd name="connsiteX7" fmla="*/ 1225831 w 2521231"/>
              <a:gd name="connsiteY7" fmla="*/ 508000 h 2032000"/>
              <a:gd name="connsiteX8" fmla="*/ 1200431 w 2521231"/>
              <a:gd name="connsiteY8" fmla="*/ 546100 h 2032000"/>
              <a:gd name="connsiteX9" fmla="*/ 1162331 w 2521231"/>
              <a:gd name="connsiteY9" fmla="*/ 635000 h 2032000"/>
              <a:gd name="connsiteX10" fmla="*/ 1136931 w 2521231"/>
              <a:gd name="connsiteY10" fmla="*/ 711200 h 2032000"/>
              <a:gd name="connsiteX11" fmla="*/ 1111531 w 2521231"/>
              <a:gd name="connsiteY11" fmla="*/ 749300 h 2032000"/>
              <a:gd name="connsiteX12" fmla="*/ 1048031 w 2521231"/>
              <a:gd name="connsiteY12" fmla="*/ 863600 h 2032000"/>
              <a:gd name="connsiteX13" fmla="*/ 1009931 w 2521231"/>
              <a:gd name="connsiteY13" fmla="*/ 889000 h 2032000"/>
              <a:gd name="connsiteX14" fmla="*/ 971831 w 2521231"/>
              <a:gd name="connsiteY14" fmla="*/ 927100 h 2032000"/>
              <a:gd name="connsiteX15" fmla="*/ 921031 w 2521231"/>
              <a:gd name="connsiteY15" fmla="*/ 939800 h 2032000"/>
              <a:gd name="connsiteX16" fmla="*/ 870231 w 2521231"/>
              <a:gd name="connsiteY16" fmla="*/ 965200 h 2032000"/>
              <a:gd name="connsiteX17" fmla="*/ 819431 w 2521231"/>
              <a:gd name="connsiteY17" fmla="*/ 1003300 h 2032000"/>
              <a:gd name="connsiteX18" fmla="*/ 781331 w 2521231"/>
              <a:gd name="connsiteY18" fmla="*/ 1041400 h 2032000"/>
              <a:gd name="connsiteX19" fmla="*/ 743231 w 2521231"/>
              <a:gd name="connsiteY19" fmla="*/ 1054100 h 2032000"/>
              <a:gd name="connsiteX20" fmla="*/ 679731 w 2521231"/>
              <a:gd name="connsiteY20" fmla="*/ 1104900 h 2032000"/>
              <a:gd name="connsiteX21" fmla="*/ 616231 w 2521231"/>
              <a:gd name="connsiteY21" fmla="*/ 1130300 h 2032000"/>
              <a:gd name="connsiteX22" fmla="*/ 552731 w 2521231"/>
              <a:gd name="connsiteY22" fmla="*/ 1168400 h 2032000"/>
              <a:gd name="connsiteX23" fmla="*/ 489231 w 2521231"/>
              <a:gd name="connsiteY23" fmla="*/ 1193800 h 2032000"/>
              <a:gd name="connsiteX24" fmla="*/ 400331 w 2521231"/>
              <a:gd name="connsiteY24" fmla="*/ 1244600 h 2032000"/>
              <a:gd name="connsiteX25" fmla="*/ 349531 w 2521231"/>
              <a:gd name="connsiteY25" fmla="*/ 1257300 h 2032000"/>
              <a:gd name="connsiteX26" fmla="*/ 311431 w 2521231"/>
              <a:gd name="connsiteY26" fmla="*/ 1270000 h 2032000"/>
              <a:gd name="connsiteX27" fmla="*/ 273331 w 2521231"/>
              <a:gd name="connsiteY27" fmla="*/ 1308100 h 2032000"/>
              <a:gd name="connsiteX28" fmla="*/ 235231 w 2521231"/>
              <a:gd name="connsiteY28" fmla="*/ 1320800 h 2032000"/>
              <a:gd name="connsiteX29" fmla="*/ 171731 w 2521231"/>
              <a:gd name="connsiteY29" fmla="*/ 1397000 h 2032000"/>
              <a:gd name="connsiteX30" fmla="*/ 159031 w 2521231"/>
              <a:gd name="connsiteY30" fmla="*/ 1435100 h 2032000"/>
              <a:gd name="connsiteX31" fmla="*/ 70131 w 2521231"/>
              <a:gd name="connsiteY31" fmla="*/ 1498600 h 2032000"/>
              <a:gd name="connsiteX32" fmla="*/ 19331 w 2521231"/>
              <a:gd name="connsiteY32" fmla="*/ 1625600 h 2032000"/>
              <a:gd name="connsiteX33" fmla="*/ 19331 w 2521231"/>
              <a:gd name="connsiteY33" fmla="*/ 1968500 h 2032000"/>
              <a:gd name="connsiteX34" fmla="*/ 95531 w 2521231"/>
              <a:gd name="connsiteY34" fmla="*/ 1993900 h 2032000"/>
              <a:gd name="connsiteX35" fmla="*/ 184431 w 2521231"/>
              <a:gd name="connsiteY35" fmla="*/ 2019300 h 2032000"/>
              <a:gd name="connsiteX36" fmla="*/ 489231 w 2521231"/>
              <a:gd name="connsiteY36" fmla="*/ 2032000 h 2032000"/>
              <a:gd name="connsiteX37" fmla="*/ 2076731 w 2521231"/>
              <a:gd name="connsiteY37" fmla="*/ 2019300 h 2032000"/>
              <a:gd name="connsiteX38" fmla="*/ 2203731 w 2521231"/>
              <a:gd name="connsiteY38" fmla="*/ 1993900 h 2032000"/>
              <a:gd name="connsiteX39" fmla="*/ 2241831 w 2521231"/>
              <a:gd name="connsiteY39" fmla="*/ 1955800 h 2032000"/>
              <a:gd name="connsiteX40" fmla="*/ 2254531 w 2521231"/>
              <a:gd name="connsiteY40" fmla="*/ 1917700 h 2032000"/>
              <a:gd name="connsiteX41" fmla="*/ 2279931 w 2521231"/>
              <a:gd name="connsiteY41" fmla="*/ 1689100 h 2032000"/>
              <a:gd name="connsiteX42" fmla="*/ 2318031 w 2521231"/>
              <a:gd name="connsiteY42" fmla="*/ 1384300 h 2032000"/>
              <a:gd name="connsiteX43" fmla="*/ 2356131 w 2521231"/>
              <a:gd name="connsiteY43" fmla="*/ 1231900 h 2032000"/>
              <a:gd name="connsiteX44" fmla="*/ 2368831 w 2521231"/>
              <a:gd name="connsiteY44" fmla="*/ 685800 h 2032000"/>
              <a:gd name="connsiteX45" fmla="*/ 2394231 w 2521231"/>
              <a:gd name="connsiteY45" fmla="*/ 571500 h 2032000"/>
              <a:gd name="connsiteX46" fmla="*/ 2432331 w 2521231"/>
              <a:gd name="connsiteY46" fmla="*/ 393700 h 2032000"/>
              <a:gd name="connsiteX47" fmla="*/ 2445031 w 2521231"/>
              <a:gd name="connsiteY47" fmla="*/ 342900 h 2032000"/>
              <a:gd name="connsiteX48" fmla="*/ 2495831 w 2521231"/>
              <a:gd name="connsiteY48" fmla="*/ 228600 h 2032000"/>
              <a:gd name="connsiteX49" fmla="*/ 2508531 w 2521231"/>
              <a:gd name="connsiteY49" fmla="*/ 177800 h 2032000"/>
              <a:gd name="connsiteX50" fmla="*/ 2521231 w 2521231"/>
              <a:gd name="connsiteY50" fmla="*/ 139700 h 2032000"/>
              <a:gd name="connsiteX51" fmla="*/ 2508531 w 2521231"/>
              <a:gd name="connsiteY51" fmla="*/ 63500 h 2032000"/>
              <a:gd name="connsiteX52" fmla="*/ 2406931 w 2521231"/>
              <a:gd name="connsiteY52" fmla="*/ 0 h 2032000"/>
              <a:gd name="connsiteX53" fmla="*/ 1949731 w 2521231"/>
              <a:gd name="connsiteY53" fmla="*/ 25400 h 2032000"/>
              <a:gd name="connsiteX54" fmla="*/ 1632231 w 2521231"/>
              <a:gd name="connsiteY54" fmla="*/ 38100 h 2032000"/>
              <a:gd name="connsiteX55" fmla="*/ 1556031 w 2521231"/>
              <a:gd name="connsiteY55" fmla="*/ 50800 h 2032000"/>
              <a:gd name="connsiteX56" fmla="*/ 1467131 w 2521231"/>
              <a:gd name="connsiteY56" fmla="*/ 76200 h 2032000"/>
              <a:gd name="connsiteX57" fmla="*/ 1467131 w 2521231"/>
              <a:gd name="connsiteY57" fmla="*/ 101600 h 20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521231" h="2032000">
                <a:moveTo>
                  <a:pt x="1467131" y="101600"/>
                </a:moveTo>
                <a:cubicBezTo>
                  <a:pt x="1454431" y="120650"/>
                  <a:pt x="1410273" y="151816"/>
                  <a:pt x="1390931" y="190500"/>
                </a:cubicBezTo>
                <a:cubicBezTo>
                  <a:pt x="1384944" y="202474"/>
                  <a:pt x="1384732" y="216898"/>
                  <a:pt x="1378231" y="228600"/>
                </a:cubicBezTo>
                <a:cubicBezTo>
                  <a:pt x="1363406" y="255285"/>
                  <a:pt x="1344364" y="279400"/>
                  <a:pt x="1327431" y="304800"/>
                </a:cubicBezTo>
                <a:cubicBezTo>
                  <a:pt x="1318964" y="317500"/>
                  <a:pt x="1306858" y="328420"/>
                  <a:pt x="1302031" y="342900"/>
                </a:cubicBezTo>
                <a:cubicBezTo>
                  <a:pt x="1278746" y="412754"/>
                  <a:pt x="1303322" y="350166"/>
                  <a:pt x="1263931" y="419100"/>
                </a:cubicBezTo>
                <a:cubicBezTo>
                  <a:pt x="1254538" y="435538"/>
                  <a:pt x="1245989" y="452499"/>
                  <a:pt x="1238531" y="469900"/>
                </a:cubicBezTo>
                <a:cubicBezTo>
                  <a:pt x="1233258" y="482205"/>
                  <a:pt x="1231818" y="496026"/>
                  <a:pt x="1225831" y="508000"/>
                </a:cubicBezTo>
                <a:cubicBezTo>
                  <a:pt x="1219005" y="521652"/>
                  <a:pt x="1208898" y="533400"/>
                  <a:pt x="1200431" y="546100"/>
                </a:cubicBezTo>
                <a:cubicBezTo>
                  <a:pt x="1166836" y="680481"/>
                  <a:pt x="1212448" y="522236"/>
                  <a:pt x="1162331" y="635000"/>
                </a:cubicBezTo>
                <a:cubicBezTo>
                  <a:pt x="1151457" y="659466"/>
                  <a:pt x="1145398" y="685800"/>
                  <a:pt x="1136931" y="711200"/>
                </a:cubicBezTo>
                <a:cubicBezTo>
                  <a:pt x="1132104" y="725680"/>
                  <a:pt x="1118357" y="735648"/>
                  <a:pt x="1111531" y="749300"/>
                </a:cubicBezTo>
                <a:cubicBezTo>
                  <a:pt x="1088371" y="795620"/>
                  <a:pt x="1108096" y="823557"/>
                  <a:pt x="1048031" y="863600"/>
                </a:cubicBezTo>
                <a:cubicBezTo>
                  <a:pt x="1035331" y="872067"/>
                  <a:pt x="1021657" y="879229"/>
                  <a:pt x="1009931" y="889000"/>
                </a:cubicBezTo>
                <a:cubicBezTo>
                  <a:pt x="996133" y="900498"/>
                  <a:pt x="987425" y="918189"/>
                  <a:pt x="971831" y="927100"/>
                </a:cubicBezTo>
                <a:cubicBezTo>
                  <a:pt x="956676" y="935760"/>
                  <a:pt x="937374" y="933671"/>
                  <a:pt x="921031" y="939800"/>
                </a:cubicBezTo>
                <a:cubicBezTo>
                  <a:pt x="903304" y="946447"/>
                  <a:pt x="886285" y="955166"/>
                  <a:pt x="870231" y="965200"/>
                </a:cubicBezTo>
                <a:cubicBezTo>
                  <a:pt x="852282" y="976418"/>
                  <a:pt x="835502" y="989525"/>
                  <a:pt x="819431" y="1003300"/>
                </a:cubicBezTo>
                <a:cubicBezTo>
                  <a:pt x="805794" y="1014989"/>
                  <a:pt x="796275" y="1031437"/>
                  <a:pt x="781331" y="1041400"/>
                </a:cubicBezTo>
                <a:cubicBezTo>
                  <a:pt x="770192" y="1048826"/>
                  <a:pt x="755931" y="1049867"/>
                  <a:pt x="743231" y="1054100"/>
                </a:cubicBezTo>
                <a:cubicBezTo>
                  <a:pt x="722064" y="1071033"/>
                  <a:pt x="702975" y="1090954"/>
                  <a:pt x="679731" y="1104900"/>
                </a:cubicBezTo>
                <a:cubicBezTo>
                  <a:pt x="660183" y="1116629"/>
                  <a:pt x="636621" y="1120105"/>
                  <a:pt x="616231" y="1130300"/>
                </a:cubicBezTo>
                <a:cubicBezTo>
                  <a:pt x="594153" y="1141339"/>
                  <a:pt x="574809" y="1157361"/>
                  <a:pt x="552731" y="1168400"/>
                </a:cubicBezTo>
                <a:cubicBezTo>
                  <a:pt x="532341" y="1178595"/>
                  <a:pt x="509621" y="1183605"/>
                  <a:pt x="489231" y="1193800"/>
                </a:cubicBezTo>
                <a:cubicBezTo>
                  <a:pt x="415538" y="1230646"/>
                  <a:pt x="489392" y="1211202"/>
                  <a:pt x="400331" y="1244600"/>
                </a:cubicBezTo>
                <a:cubicBezTo>
                  <a:pt x="383988" y="1250729"/>
                  <a:pt x="366314" y="1252505"/>
                  <a:pt x="349531" y="1257300"/>
                </a:cubicBezTo>
                <a:cubicBezTo>
                  <a:pt x="336659" y="1260978"/>
                  <a:pt x="324131" y="1265767"/>
                  <a:pt x="311431" y="1270000"/>
                </a:cubicBezTo>
                <a:cubicBezTo>
                  <a:pt x="298731" y="1282700"/>
                  <a:pt x="288275" y="1298137"/>
                  <a:pt x="273331" y="1308100"/>
                </a:cubicBezTo>
                <a:cubicBezTo>
                  <a:pt x="262192" y="1315526"/>
                  <a:pt x="244697" y="1311334"/>
                  <a:pt x="235231" y="1320800"/>
                </a:cubicBezTo>
                <a:cubicBezTo>
                  <a:pt x="106327" y="1449704"/>
                  <a:pt x="303528" y="1309135"/>
                  <a:pt x="171731" y="1397000"/>
                </a:cubicBezTo>
                <a:cubicBezTo>
                  <a:pt x="167498" y="1409700"/>
                  <a:pt x="167601" y="1424816"/>
                  <a:pt x="159031" y="1435100"/>
                </a:cubicBezTo>
                <a:cubicBezTo>
                  <a:pt x="149186" y="1446915"/>
                  <a:pt x="87505" y="1487018"/>
                  <a:pt x="70131" y="1498600"/>
                </a:cubicBezTo>
                <a:cubicBezTo>
                  <a:pt x="38744" y="1592761"/>
                  <a:pt x="56705" y="1550853"/>
                  <a:pt x="19331" y="1625600"/>
                </a:cubicBezTo>
                <a:cubicBezTo>
                  <a:pt x="5574" y="1735656"/>
                  <a:pt x="-16245" y="1861773"/>
                  <a:pt x="19331" y="1968500"/>
                </a:cubicBezTo>
                <a:cubicBezTo>
                  <a:pt x="27798" y="1993900"/>
                  <a:pt x="70131" y="1985433"/>
                  <a:pt x="95531" y="1993900"/>
                </a:cubicBezTo>
                <a:cubicBezTo>
                  <a:pt x="116833" y="2001001"/>
                  <a:pt x="164135" y="2017850"/>
                  <a:pt x="184431" y="2019300"/>
                </a:cubicBezTo>
                <a:cubicBezTo>
                  <a:pt x="285861" y="2026545"/>
                  <a:pt x="387631" y="2027767"/>
                  <a:pt x="489231" y="2032000"/>
                </a:cubicBezTo>
                <a:lnTo>
                  <a:pt x="2076731" y="2019300"/>
                </a:lnTo>
                <a:cubicBezTo>
                  <a:pt x="2137883" y="2018373"/>
                  <a:pt x="2155569" y="2009954"/>
                  <a:pt x="2203731" y="1993900"/>
                </a:cubicBezTo>
                <a:cubicBezTo>
                  <a:pt x="2216431" y="1981200"/>
                  <a:pt x="2231868" y="1970744"/>
                  <a:pt x="2241831" y="1955800"/>
                </a:cubicBezTo>
                <a:cubicBezTo>
                  <a:pt x="2249257" y="1944661"/>
                  <a:pt x="2252638" y="1930952"/>
                  <a:pt x="2254531" y="1917700"/>
                </a:cubicBezTo>
                <a:cubicBezTo>
                  <a:pt x="2265374" y="1841802"/>
                  <a:pt x="2272990" y="1765454"/>
                  <a:pt x="2279931" y="1689100"/>
                </a:cubicBezTo>
                <a:cubicBezTo>
                  <a:pt x="2315426" y="1298658"/>
                  <a:pt x="2266438" y="1659462"/>
                  <a:pt x="2318031" y="1384300"/>
                </a:cubicBezTo>
                <a:cubicBezTo>
                  <a:pt x="2343322" y="1249414"/>
                  <a:pt x="2312480" y="1341028"/>
                  <a:pt x="2356131" y="1231900"/>
                </a:cubicBezTo>
                <a:cubicBezTo>
                  <a:pt x="2360364" y="1049867"/>
                  <a:pt x="2358344" y="867580"/>
                  <a:pt x="2368831" y="685800"/>
                </a:cubicBezTo>
                <a:cubicBezTo>
                  <a:pt x="2371079" y="646835"/>
                  <a:pt x="2385940" y="609639"/>
                  <a:pt x="2394231" y="571500"/>
                </a:cubicBezTo>
                <a:cubicBezTo>
                  <a:pt x="2407107" y="512271"/>
                  <a:pt x="2417630" y="452502"/>
                  <a:pt x="2432331" y="393700"/>
                </a:cubicBezTo>
                <a:cubicBezTo>
                  <a:pt x="2436564" y="376767"/>
                  <a:pt x="2439511" y="359459"/>
                  <a:pt x="2445031" y="342900"/>
                </a:cubicBezTo>
                <a:cubicBezTo>
                  <a:pt x="2514540" y="134373"/>
                  <a:pt x="2429444" y="405631"/>
                  <a:pt x="2495831" y="228600"/>
                </a:cubicBezTo>
                <a:cubicBezTo>
                  <a:pt x="2501960" y="212257"/>
                  <a:pt x="2503736" y="194583"/>
                  <a:pt x="2508531" y="177800"/>
                </a:cubicBezTo>
                <a:cubicBezTo>
                  <a:pt x="2512209" y="164928"/>
                  <a:pt x="2516998" y="152400"/>
                  <a:pt x="2521231" y="139700"/>
                </a:cubicBezTo>
                <a:cubicBezTo>
                  <a:pt x="2516998" y="114300"/>
                  <a:pt x="2518989" y="87031"/>
                  <a:pt x="2508531" y="63500"/>
                </a:cubicBezTo>
                <a:cubicBezTo>
                  <a:pt x="2490946" y="23934"/>
                  <a:pt x="2440606" y="13470"/>
                  <a:pt x="2406931" y="0"/>
                </a:cubicBezTo>
                <a:lnTo>
                  <a:pt x="1949731" y="25400"/>
                </a:lnTo>
                <a:cubicBezTo>
                  <a:pt x="1843941" y="30603"/>
                  <a:pt x="1737929" y="31281"/>
                  <a:pt x="1632231" y="38100"/>
                </a:cubicBezTo>
                <a:cubicBezTo>
                  <a:pt x="1606534" y="39758"/>
                  <a:pt x="1581281" y="45750"/>
                  <a:pt x="1556031" y="50800"/>
                </a:cubicBezTo>
                <a:cubicBezTo>
                  <a:pt x="1516164" y="58773"/>
                  <a:pt x="1503444" y="64096"/>
                  <a:pt x="1467131" y="76200"/>
                </a:cubicBezTo>
                <a:cubicBezTo>
                  <a:pt x="1438410" y="119281"/>
                  <a:pt x="1479831" y="82550"/>
                  <a:pt x="1467131" y="101600"/>
                </a:cubicBezTo>
                <a:close/>
              </a:path>
            </a:pathLst>
          </a:custGeom>
          <a:noFill/>
          <a:ln w="31750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5676900" y="2362200"/>
            <a:ext cx="2349500" cy="2057299"/>
          </a:xfrm>
          <a:custGeom>
            <a:avLst/>
            <a:gdLst>
              <a:gd name="connsiteX0" fmla="*/ 558800 w 2349500"/>
              <a:gd name="connsiteY0" fmla="*/ 101600 h 2057299"/>
              <a:gd name="connsiteX1" fmla="*/ 508000 w 2349500"/>
              <a:gd name="connsiteY1" fmla="*/ 139700 h 2057299"/>
              <a:gd name="connsiteX2" fmla="*/ 469900 w 2349500"/>
              <a:gd name="connsiteY2" fmla="*/ 165100 h 2057299"/>
              <a:gd name="connsiteX3" fmla="*/ 406400 w 2349500"/>
              <a:gd name="connsiteY3" fmla="*/ 241300 h 2057299"/>
              <a:gd name="connsiteX4" fmla="*/ 381000 w 2349500"/>
              <a:gd name="connsiteY4" fmla="*/ 292100 h 2057299"/>
              <a:gd name="connsiteX5" fmla="*/ 368300 w 2349500"/>
              <a:gd name="connsiteY5" fmla="*/ 342900 h 2057299"/>
              <a:gd name="connsiteX6" fmla="*/ 355600 w 2349500"/>
              <a:gd name="connsiteY6" fmla="*/ 1016000 h 2057299"/>
              <a:gd name="connsiteX7" fmla="*/ 330200 w 2349500"/>
              <a:gd name="connsiteY7" fmla="*/ 1066800 h 2057299"/>
              <a:gd name="connsiteX8" fmla="*/ 317500 w 2349500"/>
              <a:gd name="connsiteY8" fmla="*/ 1130300 h 2057299"/>
              <a:gd name="connsiteX9" fmla="*/ 292100 w 2349500"/>
              <a:gd name="connsiteY9" fmla="*/ 1206500 h 2057299"/>
              <a:gd name="connsiteX10" fmla="*/ 266700 w 2349500"/>
              <a:gd name="connsiteY10" fmla="*/ 1308100 h 2057299"/>
              <a:gd name="connsiteX11" fmla="*/ 254000 w 2349500"/>
              <a:gd name="connsiteY11" fmla="*/ 1346200 h 2057299"/>
              <a:gd name="connsiteX12" fmla="*/ 203200 w 2349500"/>
              <a:gd name="connsiteY12" fmla="*/ 1422400 h 2057299"/>
              <a:gd name="connsiteX13" fmla="*/ 165100 w 2349500"/>
              <a:gd name="connsiteY13" fmla="*/ 1447800 h 2057299"/>
              <a:gd name="connsiteX14" fmla="*/ 139700 w 2349500"/>
              <a:gd name="connsiteY14" fmla="*/ 1485900 h 2057299"/>
              <a:gd name="connsiteX15" fmla="*/ 101600 w 2349500"/>
              <a:gd name="connsiteY15" fmla="*/ 1498600 h 2057299"/>
              <a:gd name="connsiteX16" fmla="*/ 88900 w 2349500"/>
              <a:gd name="connsiteY16" fmla="*/ 1536700 h 2057299"/>
              <a:gd name="connsiteX17" fmla="*/ 50800 w 2349500"/>
              <a:gd name="connsiteY17" fmla="*/ 1574800 h 2057299"/>
              <a:gd name="connsiteX18" fmla="*/ 25400 w 2349500"/>
              <a:gd name="connsiteY18" fmla="*/ 1701800 h 2057299"/>
              <a:gd name="connsiteX19" fmla="*/ 0 w 2349500"/>
              <a:gd name="connsiteY19" fmla="*/ 1892300 h 2057299"/>
              <a:gd name="connsiteX20" fmla="*/ 12700 w 2349500"/>
              <a:gd name="connsiteY20" fmla="*/ 1981200 h 2057299"/>
              <a:gd name="connsiteX21" fmla="*/ 76200 w 2349500"/>
              <a:gd name="connsiteY21" fmla="*/ 2006600 h 2057299"/>
              <a:gd name="connsiteX22" fmla="*/ 203200 w 2349500"/>
              <a:gd name="connsiteY22" fmla="*/ 2019300 h 2057299"/>
              <a:gd name="connsiteX23" fmla="*/ 1384300 w 2349500"/>
              <a:gd name="connsiteY23" fmla="*/ 2032000 h 2057299"/>
              <a:gd name="connsiteX24" fmla="*/ 1714500 w 2349500"/>
              <a:gd name="connsiteY24" fmla="*/ 2044700 h 2057299"/>
              <a:gd name="connsiteX25" fmla="*/ 2273300 w 2349500"/>
              <a:gd name="connsiteY25" fmla="*/ 2019300 h 2057299"/>
              <a:gd name="connsiteX26" fmla="*/ 2336800 w 2349500"/>
              <a:gd name="connsiteY26" fmla="*/ 1943100 h 2057299"/>
              <a:gd name="connsiteX27" fmla="*/ 2349500 w 2349500"/>
              <a:gd name="connsiteY27" fmla="*/ 1905000 h 2057299"/>
              <a:gd name="connsiteX28" fmla="*/ 2324100 w 2349500"/>
              <a:gd name="connsiteY28" fmla="*/ 1752600 h 2057299"/>
              <a:gd name="connsiteX29" fmla="*/ 2247900 w 2349500"/>
              <a:gd name="connsiteY29" fmla="*/ 1676400 h 2057299"/>
              <a:gd name="connsiteX30" fmla="*/ 2171700 w 2349500"/>
              <a:gd name="connsiteY30" fmla="*/ 1612900 h 2057299"/>
              <a:gd name="connsiteX31" fmla="*/ 2095500 w 2349500"/>
              <a:gd name="connsiteY31" fmla="*/ 1536700 h 2057299"/>
              <a:gd name="connsiteX32" fmla="*/ 2006600 w 2349500"/>
              <a:gd name="connsiteY32" fmla="*/ 1460500 h 2057299"/>
              <a:gd name="connsiteX33" fmla="*/ 1968500 w 2349500"/>
              <a:gd name="connsiteY33" fmla="*/ 1397000 h 2057299"/>
              <a:gd name="connsiteX34" fmla="*/ 1917700 w 2349500"/>
              <a:gd name="connsiteY34" fmla="*/ 1320800 h 2057299"/>
              <a:gd name="connsiteX35" fmla="*/ 1879600 w 2349500"/>
              <a:gd name="connsiteY35" fmla="*/ 1257300 h 2057299"/>
              <a:gd name="connsiteX36" fmla="*/ 1803400 w 2349500"/>
              <a:gd name="connsiteY36" fmla="*/ 1181100 h 2057299"/>
              <a:gd name="connsiteX37" fmla="*/ 1790700 w 2349500"/>
              <a:gd name="connsiteY37" fmla="*/ 1143000 h 2057299"/>
              <a:gd name="connsiteX38" fmla="*/ 1765300 w 2349500"/>
              <a:gd name="connsiteY38" fmla="*/ 1104900 h 2057299"/>
              <a:gd name="connsiteX39" fmla="*/ 1727200 w 2349500"/>
              <a:gd name="connsiteY39" fmla="*/ 1041400 h 2057299"/>
              <a:gd name="connsiteX40" fmla="*/ 1701800 w 2349500"/>
              <a:gd name="connsiteY40" fmla="*/ 1003300 h 2057299"/>
              <a:gd name="connsiteX41" fmla="*/ 1625600 w 2349500"/>
              <a:gd name="connsiteY41" fmla="*/ 876300 h 2057299"/>
              <a:gd name="connsiteX42" fmla="*/ 1600200 w 2349500"/>
              <a:gd name="connsiteY42" fmla="*/ 774700 h 2057299"/>
              <a:gd name="connsiteX43" fmla="*/ 1549400 w 2349500"/>
              <a:gd name="connsiteY43" fmla="*/ 660400 h 2057299"/>
              <a:gd name="connsiteX44" fmla="*/ 1511300 w 2349500"/>
              <a:gd name="connsiteY44" fmla="*/ 558800 h 2057299"/>
              <a:gd name="connsiteX45" fmla="*/ 1473200 w 2349500"/>
              <a:gd name="connsiteY45" fmla="*/ 520700 h 2057299"/>
              <a:gd name="connsiteX46" fmla="*/ 1447800 w 2349500"/>
              <a:gd name="connsiteY46" fmla="*/ 381000 h 2057299"/>
              <a:gd name="connsiteX47" fmla="*/ 1435100 w 2349500"/>
              <a:gd name="connsiteY47" fmla="*/ 317500 h 2057299"/>
              <a:gd name="connsiteX48" fmla="*/ 1409700 w 2349500"/>
              <a:gd name="connsiteY48" fmla="*/ 241300 h 2057299"/>
              <a:gd name="connsiteX49" fmla="*/ 1397000 w 2349500"/>
              <a:gd name="connsiteY49" fmla="*/ 177800 h 2057299"/>
              <a:gd name="connsiteX50" fmla="*/ 1358900 w 2349500"/>
              <a:gd name="connsiteY50" fmla="*/ 88900 h 2057299"/>
              <a:gd name="connsiteX51" fmla="*/ 1295400 w 2349500"/>
              <a:gd name="connsiteY51" fmla="*/ 12700 h 2057299"/>
              <a:gd name="connsiteX52" fmla="*/ 1257300 w 2349500"/>
              <a:gd name="connsiteY52" fmla="*/ 0 h 2057299"/>
              <a:gd name="connsiteX53" fmla="*/ 927100 w 2349500"/>
              <a:gd name="connsiteY53" fmla="*/ 12700 h 2057299"/>
              <a:gd name="connsiteX54" fmla="*/ 723900 w 2349500"/>
              <a:gd name="connsiteY54" fmla="*/ 25400 h 2057299"/>
              <a:gd name="connsiteX55" fmla="*/ 685800 w 2349500"/>
              <a:gd name="connsiteY55" fmla="*/ 50800 h 2057299"/>
              <a:gd name="connsiteX56" fmla="*/ 609600 w 2349500"/>
              <a:gd name="connsiteY56" fmla="*/ 76200 h 2057299"/>
              <a:gd name="connsiteX57" fmla="*/ 558800 w 2349500"/>
              <a:gd name="connsiteY57" fmla="*/ 101600 h 2057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2349500" h="2057299">
                <a:moveTo>
                  <a:pt x="558800" y="101600"/>
                </a:moveTo>
                <a:cubicBezTo>
                  <a:pt x="541867" y="112183"/>
                  <a:pt x="525224" y="127397"/>
                  <a:pt x="508000" y="139700"/>
                </a:cubicBezTo>
                <a:cubicBezTo>
                  <a:pt x="495580" y="148572"/>
                  <a:pt x="481626" y="155329"/>
                  <a:pt x="469900" y="165100"/>
                </a:cubicBezTo>
                <a:cubicBezTo>
                  <a:pt x="441245" y="188979"/>
                  <a:pt x="424564" y="209514"/>
                  <a:pt x="406400" y="241300"/>
                </a:cubicBezTo>
                <a:cubicBezTo>
                  <a:pt x="397007" y="257738"/>
                  <a:pt x="387647" y="274373"/>
                  <a:pt x="381000" y="292100"/>
                </a:cubicBezTo>
                <a:cubicBezTo>
                  <a:pt x="374871" y="308443"/>
                  <a:pt x="372533" y="325967"/>
                  <a:pt x="368300" y="342900"/>
                </a:cubicBezTo>
                <a:cubicBezTo>
                  <a:pt x="364067" y="567267"/>
                  <a:pt x="367395" y="791904"/>
                  <a:pt x="355600" y="1016000"/>
                </a:cubicBezTo>
                <a:cubicBezTo>
                  <a:pt x="354605" y="1034906"/>
                  <a:pt x="336187" y="1048839"/>
                  <a:pt x="330200" y="1066800"/>
                </a:cubicBezTo>
                <a:cubicBezTo>
                  <a:pt x="323374" y="1087278"/>
                  <a:pt x="323180" y="1109475"/>
                  <a:pt x="317500" y="1130300"/>
                </a:cubicBezTo>
                <a:cubicBezTo>
                  <a:pt x="310455" y="1156131"/>
                  <a:pt x="298594" y="1180525"/>
                  <a:pt x="292100" y="1206500"/>
                </a:cubicBezTo>
                <a:cubicBezTo>
                  <a:pt x="283633" y="1240367"/>
                  <a:pt x="277739" y="1274982"/>
                  <a:pt x="266700" y="1308100"/>
                </a:cubicBezTo>
                <a:cubicBezTo>
                  <a:pt x="262467" y="1320800"/>
                  <a:pt x="260501" y="1334498"/>
                  <a:pt x="254000" y="1346200"/>
                </a:cubicBezTo>
                <a:cubicBezTo>
                  <a:pt x="239175" y="1372885"/>
                  <a:pt x="228600" y="1405467"/>
                  <a:pt x="203200" y="1422400"/>
                </a:cubicBezTo>
                <a:lnTo>
                  <a:pt x="165100" y="1447800"/>
                </a:lnTo>
                <a:cubicBezTo>
                  <a:pt x="156633" y="1460500"/>
                  <a:pt x="151619" y="1476365"/>
                  <a:pt x="139700" y="1485900"/>
                </a:cubicBezTo>
                <a:cubicBezTo>
                  <a:pt x="129247" y="1494263"/>
                  <a:pt x="111066" y="1489134"/>
                  <a:pt x="101600" y="1498600"/>
                </a:cubicBezTo>
                <a:cubicBezTo>
                  <a:pt x="92134" y="1508066"/>
                  <a:pt x="96326" y="1525561"/>
                  <a:pt x="88900" y="1536700"/>
                </a:cubicBezTo>
                <a:cubicBezTo>
                  <a:pt x="78937" y="1551644"/>
                  <a:pt x="63500" y="1562100"/>
                  <a:pt x="50800" y="1574800"/>
                </a:cubicBezTo>
                <a:cubicBezTo>
                  <a:pt x="27702" y="1644095"/>
                  <a:pt x="42078" y="1593393"/>
                  <a:pt x="25400" y="1701800"/>
                </a:cubicBezTo>
                <a:cubicBezTo>
                  <a:pt x="2597" y="1850017"/>
                  <a:pt x="21201" y="1701488"/>
                  <a:pt x="0" y="1892300"/>
                </a:cubicBezTo>
                <a:cubicBezTo>
                  <a:pt x="4233" y="1921933"/>
                  <a:pt x="-3904" y="1956293"/>
                  <a:pt x="12700" y="1981200"/>
                </a:cubicBezTo>
                <a:cubicBezTo>
                  <a:pt x="25346" y="2000168"/>
                  <a:pt x="53846" y="2002129"/>
                  <a:pt x="76200" y="2006600"/>
                </a:cubicBezTo>
                <a:cubicBezTo>
                  <a:pt x="117918" y="2014944"/>
                  <a:pt x="160664" y="2018474"/>
                  <a:pt x="203200" y="2019300"/>
                </a:cubicBezTo>
                <a:lnTo>
                  <a:pt x="1384300" y="2032000"/>
                </a:lnTo>
                <a:cubicBezTo>
                  <a:pt x="1494367" y="2036233"/>
                  <a:pt x="1604352" y="2044700"/>
                  <a:pt x="1714500" y="2044700"/>
                </a:cubicBezTo>
                <a:cubicBezTo>
                  <a:pt x="2209504" y="2044700"/>
                  <a:pt x="2073504" y="2085899"/>
                  <a:pt x="2273300" y="2019300"/>
                </a:cubicBezTo>
                <a:cubicBezTo>
                  <a:pt x="2301387" y="1991213"/>
                  <a:pt x="2319119" y="1978463"/>
                  <a:pt x="2336800" y="1943100"/>
                </a:cubicBezTo>
                <a:cubicBezTo>
                  <a:pt x="2342787" y="1931126"/>
                  <a:pt x="2345267" y="1917700"/>
                  <a:pt x="2349500" y="1905000"/>
                </a:cubicBezTo>
                <a:cubicBezTo>
                  <a:pt x="2341033" y="1854200"/>
                  <a:pt x="2345016" y="1799662"/>
                  <a:pt x="2324100" y="1752600"/>
                </a:cubicBezTo>
                <a:cubicBezTo>
                  <a:pt x="2309511" y="1719775"/>
                  <a:pt x="2273300" y="1701800"/>
                  <a:pt x="2247900" y="1676400"/>
                </a:cubicBezTo>
                <a:cubicBezTo>
                  <a:pt x="2199007" y="1627507"/>
                  <a:pt x="2224744" y="1648263"/>
                  <a:pt x="2171700" y="1612900"/>
                </a:cubicBezTo>
                <a:cubicBezTo>
                  <a:pt x="2126986" y="1545829"/>
                  <a:pt x="2169013" y="1599711"/>
                  <a:pt x="2095500" y="1536700"/>
                </a:cubicBezTo>
                <a:cubicBezTo>
                  <a:pt x="1971677" y="1430566"/>
                  <a:pt x="2155155" y="1571916"/>
                  <a:pt x="2006600" y="1460500"/>
                </a:cubicBezTo>
                <a:cubicBezTo>
                  <a:pt x="1993900" y="1439333"/>
                  <a:pt x="1981752" y="1417825"/>
                  <a:pt x="1968500" y="1397000"/>
                </a:cubicBezTo>
                <a:cubicBezTo>
                  <a:pt x="1952111" y="1371246"/>
                  <a:pt x="1933406" y="1346977"/>
                  <a:pt x="1917700" y="1320800"/>
                </a:cubicBezTo>
                <a:cubicBezTo>
                  <a:pt x="1905000" y="1299633"/>
                  <a:pt x="1895231" y="1276405"/>
                  <a:pt x="1879600" y="1257300"/>
                </a:cubicBezTo>
                <a:cubicBezTo>
                  <a:pt x="1856853" y="1229499"/>
                  <a:pt x="1803400" y="1181100"/>
                  <a:pt x="1803400" y="1181100"/>
                </a:cubicBezTo>
                <a:cubicBezTo>
                  <a:pt x="1799167" y="1168400"/>
                  <a:pt x="1796687" y="1154974"/>
                  <a:pt x="1790700" y="1143000"/>
                </a:cubicBezTo>
                <a:cubicBezTo>
                  <a:pt x="1783874" y="1129348"/>
                  <a:pt x="1773390" y="1117843"/>
                  <a:pt x="1765300" y="1104900"/>
                </a:cubicBezTo>
                <a:cubicBezTo>
                  <a:pt x="1752217" y="1083968"/>
                  <a:pt x="1740283" y="1062332"/>
                  <a:pt x="1727200" y="1041400"/>
                </a:cubicBezTo>
                <a:cubicBezTo>
                  <a:pt x="1719110" y="1028457"/>
                  <a:pt x="1709800" y="1016299"/>
                  <a:pt x="1701800" y="1003300"/>
                </a:cubicBezTo>
                <a:cubicBezTo>
                  <a:pt x="1675926" y="961255"/>
                  <a:pt x="1625600" y="876300"/>
                  <a:pt x="1625600" y="876300"/>
                </a:cubicBezTo>
                <a:cubicBezTo>
                  <a:pt x="1618146" y="839029"/>
                  <a:pt x="1614845" y="808871"/>
                  <a:pt x="1600200" y="774700"/>
                </a:cubicBezTo>
                <a:cubicBezTo>
                  <a:pt x="1542476" y="640010"/>
                  <a:pt x="1608478" y="817941"/>
                  <a:pt x="1549400" y="660400"/>
                </a:cubicBezTo>
                <a:cubicBezTo>
                  <a:pt x="1538318" y="630847"/>
                  <a:pt x="1526641" y="583345"/>
                  <a:pt x="1511300" y="558800"/>
                </a:cubicBezTo>
                <a:cubicBezTo>
                  <a:pt x="1501781" y="543570"/>
                  <a:pt x="1485900" y="533400"/>
                  <a:pt x="1473200" y="520700"/>
                </a:cubicBezTo>
                <a:cubicBezTo>
                  <a:pt x="1443866" y="286026"/>
                  <a:pt x="1477166" y="498465"/>
                  <a:pt x="1447800" y="381000"/>
                </a:cubicBezTo>
                <a:cubicBezTo>
                  <a:pt x="1442565" y="360059"/>
                  <a:pt x="1440780" y="338325"/>
                  <a:pt x="1435100" y="317500"/>
                </a:cubicBezTo>
                <a:cubicBezTo>
                  <a:pt x="1428055" y="291669"/>
                  <a:pt x="1414951" y="267554"/>
                  <a:pt x="1409700" y="241300"/>
                </a:cubicBezTo>
                <a:cubicBezTo>
                  <a:pt x="1405467" y="220133"/>
                  <a:pt x="1402235" y="198741"/>
                  <a:pt x="1397000" y="177800"/>
                </a:cubicBezTo>
                <a:cubicBezTo>
                  <a:pt x="1389084" y="146138"/>
                  <a:pt x="1375054" y="117169"/>
                  <a:pt x="1358900" y="88900"/>
                </a:cubicBezTo>
                <a:cubicBezTo>
                  <a:pt x="1344483" y="63670"/>
                  <a:pt x="1319646" y="28864"/>
                  <a:pt x="1295400" y="12700"/>
                </a:cubicBezTo>
                <a:cubicBezTo>
                  <a:pt x="1284261" y="5274"/>
                  <a:pt x="1270000" y="4233"/>
                  <a:pt x="1257300" y="0"/>
                </a:cubicBezTo>
                <a:lnTo>
                  <a:pt x="927100" y="12700"/>
                </a:lnTo>
                <a:cubicBezTo>
                  <a:pt x="859311" y="15928"/>
                  <a:pt x="790935" y="14816"/>
                  <a:pt x="723900" y="25400"/>
                </a:cubicBezTo>
                <a:cubicBezTo>
                  <a:pt x="708823" y="27781"/>
                  <a:pt x="699748" y="44601"/>
                  <a:pt x="685800" y="50800"/>
                </a:cubicBezTo>
                <a:cubicBezTo>
                  <a:pt x="661334" y="61674"/>
                  <a:pt x="609600" y="76200"/>
                  <a:pt x="609600" y="76200"/>
                </a:cubicBezTo>
                <a:cubicBezTo>
                  <a:pt x="579504" y="121345"/>
                  <a:pt x="575733" y="91017"/>
                  <a:pt x="558800" y="101600"/>
                </a:cubicBezTo>
                <a:close/>
              </a:path>
            </a:pathLst>
          </a:cu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35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For loop syntax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150143"/>
              </p:ext>
            </p:extLst>
          </p:nvPr>
        </p:nvGraphicFramePr>
        <p:xfrm>
          <a:off x="266700" y="3581400"/>
          <a:ext cx="8610600" cy="23469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initialization</a:t>
                      </a:r>
                      <a:endParaRPr lang="en-IE" sz="24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int</a:t>
                      </a:r>
                      <a:r>
                        <a:rPr lang="en-IE" sz="3200" b="0" dirty="0"/>
                        <a:t> </a:t>
                      </a:r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 = 0;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/>
                        <a:t>Initialise</a:t>
                      </a:r>
                      <a:r>
                        <a:rPr lang="en-US" sz="2000" b="0" dirty="0"/>
                        <a:t> a loop control variable</a:t>
                      </a:r>
                      <a:r>
                        <a:rPr lang="en-US" sz="2000" b="0" baseline="0" dirty="0"/>
                        <a:t> (LCV) e.g. </a:t>
                      </a:r>
                      <a:r>
                        <a:rPr lang="en-US" sz="2000" b="0" baseline="0" dirty="0" err="1"/>
                        <a:t>i</a:t>
                      </a:r>
                      <a:r>
                        <a:rPr lang="en-US" sz="2000" b="0" baseline="0" dirty="0"/>
                        <a:t>.</a:t>
                      </a:r>
                    </a:p>
                    <a:p>
                      <a:r>
                        <a:rPr lang="en-US" sz="2000" b="0" dirty="0"/>
                        <a:t>It can include a variable declaration.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solidFill>
                            <a:srgbClr val="00B050"/>
                          </a:solidFill>
                        </a:rPr>
                        <a:t>boolean</a:t>
                      </a:r>
                      <a:r>
                        <a:rPr lang="en-US" sz="2400" b="1" dirty="0">
                          <a:solidFill>
                            <a:srgbClr val="00B050"/>
                          </a:solidFill>
                        </a:rPr>
                        <a:t> condition</a:t>
                      </a:r>
                      <a:endParaRPr lang="en-IE" sz="2400" b="1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 &lt; 4;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Is a valid </a:t>
                      </a:r>
                      <a:r>
                        <a:rPr lang="en-US" sz="2000" b="0" dirty="0" err="1"/>
                        <a:t>boolean</a:t>
                      </a:r>
                      <a:r>
                        <a:rPr lang="en-US" sz="2000" b="0" dirty="0"/>
                        <a:t> condition</a:t>
                      </a:r>
                      <a:r>
                        <a:rPr lang="en-US" sz="2000" b="0" baseline="0" dirty="0"/>
                        <a:t> that typically tests the loop control variable (LCV).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0070C0"/>
                          </a:solidFill>
                        </a:rPr>
                        <a:t>post-body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3200" b="0" dirty="0" err="1"/>
                        <a:t>i</a:t>
                      </a:r>
                      <a:r>
                        <a:rPr lang="en-IE" sz="3200" b="0" dirty="0"/>
                        <a:t>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A change to the loop control variable (LCV).</a:t>
                      </a:r>
                    </a:p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/>
                        <a:t>Contains</a:t>
                      </a:r>
                      <a:r>
                        <a:rPr lang="en-US" sz="2000" b="0" baseline="0" dirty="0"/>
                        <a:t> an assignment statement.</a:t>
                      </a:r>
                      <a:endParaRPr lang="en-US" sz="20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2A92FC2-2504-453E-9EEB-B56CCDBE47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776" t="40770" r="59610" b="53072"/>
          <a:stretch/>
        </p:blipFill>
        <p:spPr>
          <a:xfrm>
            <a:off x="1524000" y="2133600"/>
            <a:ext cx="5701287" cy="9011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7560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urier New" pitchFamily="28" charset="0"/>
              </a:rPr>
              <a:t>for</a:t>
            </a:r>
            <a:r>
              <a:rPr lang="en-US" dirty="0"/>
              <a:t> Loop Flowchart</a:t>
            </a:r>
          </a:p>
        </p:txBody>
      </p:sp>
      <p:grpSp>
        <p:nvGrpSpPr>
          <p:cNvPr id="161795" name="Group 3"/>
          <p:cNvGrpSpPr>
            <a:grpSpLocks/>
          </p:cNvGrpSpPr>
          <p:nvPr/>
        </p:nvGrpSpPr>
        <p:grpSpPr bwMode="auto">
          <a:xfrm>
            <a:off x="609600" y="1752600"/>
            <a:ext cx="6483350" cy="4038600"/>
            <a:chOff x="1148" y="1008"/>
            <a:chExt cx="4084" cy="2544"/>
          </a:xfrm>
        </p:grpSpPr>
        <p:sp>
          <p:nvSpPr>
            <p:cNvPr id="161796" name="Rectangle 4"/>
            <p:cNvSpPr>
              <a:spLocks noChangeArrowheads="1"/>
            </p:cNvSpPr>
            <p:nvPr/>
          </p:nvSpPr>
          <p:spPr bwMode="auto">
            <a:xfrm rot="2701371">
              <a:off x="1152" y="1728"/>
              <a:ext cx="720" cy="72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10800000" vert="eaVert" wrap="none" anchor="ctr"/>
            <a:lstStyle/>
            <a:p>
              <a:pPr eaLnBrk="1" hangingPunct="1"/>
              <a:endParaRPr lang="en-US" sz="1800" b="0">
                <a:solidFill>
                  <a:schemeClr val="tx1"/>
                </a:solidFill>
                <a:latin typeface="Times New Roman" pitchFamily="28" charset="0"/>
              </a:endParaRPr>
            </a:p>
          </p:txBody>
        </p:sp>
        <p:sp>
          <p:nvSpPr>
            <p:cNvPr id="161797" name="Rectangle 5"/>
            <p:cNvSpPr>
              <a:spLocks noChangeArrowheads="1"/>
            </p:cNvSpPr>
            <p:nvPr/>
          </p:nvSpPr>
          <p:spPr bwMode="auto">
            <a:xfrm>
              <a:off x="2544" y="1968"/>
              <a:ext cx="1200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statement(s)</a:t>
              </a:r>
            </a:p>
          </p:txBody>
        </p:sp>
        <p:sp>
          <p:nvSpPr>
            <p:cNvPr id="161798" name="Text Box 6"/>
            <p:cNvSpPr txBox="1">
              <a:spLocks noChangeArrowheads="1"/>
            </p:cNvSpPr>
            <p:nvPr/>
          </p:nvSpPr>
          <p:spPr bwMode="auto">
            <a:xfrm>
              <a:off x="2064" y="1881"/>
              <a:ext cx="34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true</a:t>
              </a:r>
            </a:p>
          </p:txBody>
        </p:sp>
        <p:sp>
          <p:nvSpPr>
            <p:cNvPr id="161799" name="Line 7"/>
            <p:cNvSpPr>
              <a:spLocks noChangeShapeType="1"/>
            </p:cNvSpPr>
            <p:nvPr/>
          </p:nvSpPr>
          <p:spPr bwMode="auto">
            <a:xfrm>
              <a:off x="1506" y="2640"/>
              <a:ext cx="0" cy="9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cxnSp>
          <p:nvCxnSpPr>
            <p:cNvPr id="161800" name="AutoShape 8"/>
            <p:cNvCxnSpPr>
              <a:cxnSpLocks noChangeShapeType="1"/>
              <a:stCxn id="161805" idx="0"/>
            </p:cNvCxnSpPr>
            <p:nvPr/>
          </p:nvCxnSpPr>
          <p:spPr bwMode="auto">
            <a:xfrm rot="5400000" flipH="1">
              <a:off x="2628" y="-36"/>
              <a:ext cx="960" cy="3048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</p:spPr>
        </p:cxnSp>
        <p:sp>
          <p:nvSpPr>
            <p:cNvPr id="161801" name="Line 9"/>
            <p:cNvSpPr>
              <a:spLocks noChangeShapeType="1"/>
            </p:cNvSpPr>
            <p:nvPr/>
          </p:nvSpPr>
          <p:spPr bwMode="auto">
            <a:xfrm>
              <a:off x="1536" y="1008"/>
              <a:ext cx="0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802" name="Text Box 10"/>
            <p:cNvSpPr txBox="1">
              <a:spLocks noChangeArrowheads="1"/>
            </p:cNvSpPr>
            <p:nvPr/>
          </p:nvSpPr>
          <p:spPr bwMode="auto">
            <a:xfrm>
              <a:off x="1148" y="1884"/>
              <a:ext cx="724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 err="1">
                  <a:solidFill>
                    <a:schemeClr val="tx1"/>
                  </a:solidFill>
                  <a:latin typeface="Courier New" pitchFamily="28" charset="0"/>
                </a:rPr>
                <a:t>boolean</a:t>
              </a:r>
              <a:endParaRPr lang="en-US" sz="1800" b="0" dirty="0">
                <a:solidFill>
                  <a:schemeClr val="tx1"/>
                </a:solidFill>
                <a:latin typeface="Courier New" pitchFamily="28" charset="0"/>
              </a:endParaRPr>
            </a:p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condition?</a:t>
              </a:r>
            </a:p>
          </p:txBody>
        </p:sp>
        <p:sp>
          <p:nvSpPr>
            <p:cNvPr id="161803" name="Text Box 11"/>
            <p:cNvSpPr txBox="1">
              <a:spLocks noChangeArrowheads="1"/>
            </p:cNvSpPr>
            <p:nvPr/>
          </p:nvSpPr>
          <p:spPr bwMode="auto">
            <a:xfrm>
              <a:off x="1536" y="2880"/>
              <a:ext cx="388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false</a:t>
              </a:r>
            </a:p>
          </p:txBody>
        </p:sp>
        <p:sp>
          <p:nvSpPr>
            <p:cNvPr id="161804" name="Line 12"/>
            <p:cNvSpPr>
              <a:spLocks noChangeShapeType="1"/>
            </p:cNvSpPr>
            <p:nvPr/>
          </p:nvSpPr>
          <p:spPr bwMode="auto">
            <a:xfrm flipV="1">
              <a:off x="2064" y="2112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61805" name="Rectangle 13"/>
            <p:cNvSpPr>
              <a:spLocks noChangeArrowheads="1"/>
            </p:cNvSpPr>
            <p:nvPr/>
          </p:nvSpPr>
          <p:spPr bwMode="auto">
            <a:xfrm>
              <a:off x="4032" y="1968"/>
              <a:ext cx="1200" cy="24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eaLnBrk="1" hangingPunct="1"/>
              <a:r>
                <a:rPr lang="en-US" sz="1800" b="0" dirty="0">
                  <a:solidFill>
                    <a:schemeClr val="tx1"/>
                  </a:solidFill>
                  <a:latin typeface="Times New Roman" pitchFamily="28" charset="0"/>
                </a:rPr>
                <a:t>update</a:t>
              </a:r>
            </a:p>
          </p:txBody>
        </p:sp>
        <p:sp>
          <p:nvSpPr>
            <p:cNvPr id="161806" name="Line 14"/>
            <p:cNvSpPr>
              <a:spLocks noChangeShapeType="1"/>
            </p:cNvSpPr>
            <p:nvPr/>
          </p:nvSpPr>
          <p:spPr bwMode="auto">
            <a:xfrm>
              <a:off x="3792" y="2112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723B5B4C-5F7B-4330-A1F6-DE4B2FE0B8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6" t="41676" r="46164" b="41111"/>
          <a:stretch/>
        </p:blipFill>
        <p:spPr>
          <a:xfrm>
            <a:off x="2542088" y="4128172"/>
            <a:ext cx="6234940" cy="19678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7359587" y="5886450"/>
            <a:ext cx="1784413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1561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499AB30-C7A9-4272-93DA-285DA970BB2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76" t="21744" r="46164" b="41111"/>
          <a:stretch/>
        </p:blipFill>
        <p:spPr>
          <a:xfrm>
            <a:off x="367604" y="2209800"/>
            <a:ext cx="5817992" cy="3962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E" dirty="0"/>
              <a:t>Returning to: Processing Example 4.7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943600" y="4800600"/>
            <a:ext cx="3078986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82893" y="1524000"/>
            <a:ext cx="3200400" cy="310854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rgbClr val="FF0000"/>
                </a:solidFill>
              </a:rPr>
              <a:t>Q: </a:t>
            </a:r>
            <a:r>
              <a:rPr lang="en-IE" sz="2800" dirty="0"/>
              <a:t>Do we need the </a:t>
            </a:r>
            <a:r>
              <a:rPr lang="en-IE" sz="2800" dirty="0">
                <a:solidFill>
                  <a:srgbClr val="FF0000"/>
                </a:solidFill>
              </a:rPr>
              <a:t>yCoordinate</a:t>
            </a:r>
            <a:r>
              <a:rPr lang="en-IE" sz="2800" dirty="0"/>
              <a:t> variable?  </a:t>
            </a:r>
            <a:br>
              <a:rPr lang="en-IE" sz="2800" dirty="0"/>
            </a:br>
            <a:endParaRPr lang="en-IE" sz="2800" dirty="0"/>
          </a:p>
          <a:p>
            <a:r>
              <a:rPr lang="en-IE" sz="2800" dirty="0"/>
              <a:t>Can you think of a different approach using a </a:t>
            </a:r>
            <a:r>
              <a:rPr lang="en-IE" sz="2800" dirty="0">
                <a:solidFill>
                  <a:srgbClr val="FF0000"/>
                </a:solidFill>
              </a:rPr>
              <a:t>for</a:t>
            </a:r>
            <a:r>
              <a:rPr lang="en-IE" sz="2800" dirty="0"/>
              <a:t> loop?</a:t>
            </a:r>
          </a:p>
        </p:txBody>
      </p:sp>
    </p:spTree>
    <p:extLst>
      <p:ext uri="{BB962C8B-B14F-4D97-AF65-F5344CB8AC3E}">
        <p14:creationId xmlns:p14="http://schemas.microsoft.com/office/powerpoint/2010/main" val="3961348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Processing Example 4.8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362E5-1DEF-4DBC-83A2-88E09180F9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13" t="21552" r="45207" b="50000"/>
          <a:stretch/>
        </p:blipFill>
        <p:spPr>
          <a:xfrm>
            <a:off x="340008" y="3095246"/>
            <a:ext cx="5728432" cy="29245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C4A911D8-2C9B-4629-A0C1-A3C82006CC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5943600" y="4572000"/>
            <a:ext cx="3078986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C20509-9C70-4031-8446-4B72F8172C54}"/>
              </a:ext>
            </a:extLst>
          </p:cNvPr>
          <p:cNvSpPr txBox="1"/>
          <p:nvPr/>
        </p:nvSpPr>
        <p:spPr>
          <a:xfrm>
            <a:off x="5867400" y="1600200"/>
            <a:ext cx="3200400" cy="267765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b="1" dirty="0">
                <a:solidFill>
                  <a:srgbClr val="FF0000"/>
                </a:solidFill>
              </a:rPr>
              <a:t>A: </a:t>
            </a:r>
            <a:r>
              <a:rPr lang="en-IE" sz="2800" dirty="0"/>
              <a:t>We can eliminate the </a:t>
            </a:r>
            <a:r>
              <a:rPr lang="en-IE" sz="2800" dirty="0">
                <a:solidFill>
                  <a:srgbClr val="FF0000"/>
                </a:solidFill>
              </a:rPr>
              <a:t>yCoordinate</a:t>
            </a:r>
            <a:r>
              <a:rPr lang="en-IE" sz="2800" dirty="0"/>
              <a:t> variable by setting the </a:t>
            </a:r>
            <a:r>
              <a:rPr lang="en-IE" sz="2800" dirty="0" err="1">
                <a:solidFill>
                  <a:srgbClr val="FF0000"/>
                </a:solidFill>
              </a:rPr>
              <a:t>i</a:t>
            </a:r>
            <a:r>
              <a:rPr lang="en-IE" sz="2800" dirty="0"/>
              <a:t> variable to 60 and incrementing it by 20.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2324102" y="2939028"/>
            <a:ext cx="3543298" cy="1709172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A135FF-E8EA-4C0D-B542-03511FB564CD}"/>
              </a:ext>
            </a:extLst>
          </p:cNvPr>
          <p:cNvCxnSpPr>
            <a:cxnSpLocks/>
          </p:cNvCxnSpPr>
          <p:nvPr/>
        </p:nvCxnSpPr>
        <p:spPr>
          <a:xfrm flipH="1">
            <a:off x="5257801" y="4229100"/>
            <a:ext cx="1219199" cy="452315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7413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loop:  all parts are optional</a:t>
            </a:r>
          </a:p>
        </p:txBody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90600" y="1905000"/>
            <a:ext cx="4114800" cy="2438400"/>
          </a:xfr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buFont typeface="Times" pitchFamily="28" charset="0"/>
              <a:buNone/>
            </a:pPr>
            <a:r>
              <a:rPr lang="en-US" dirty="0"/>
              <a:t>for (  ;  ;  )</a:t>
            </a:r>
          </a:p>
          <a:p>
            <a:pPr>
              <a:buFont typeface="Times" pitchFamily="28" charset="0"/>
              <a:buNone/>
            </a:pPr>
            <a:r>
              <a:rPr lang="en-US" dirty="0"/>
              <a:t>{</a:t>
            </a:r>
          </a:p>
          <a:p>
            <a:pPr>
              <a:buFont typeface="Times" pitchFamily="28" charset="0"/>
              <a:buNone/>
            </a:pPr>
            <a:r>
              <a:rPr lang="en-US" dirty="0"/>
              <a:t>      // statements  here</a:t>
            </a:r>
          </a:p>
          <a:p>
            <a:pPr>
              <a:buFont typeface="Times" pitchFamily="28" charset="0"/>
              <a:buNone/>
            </a:pPr>
            <a:r>
              <a:rPr lang="en-US" dirty="0"/>
              <a:t>}</a:t>
            </a:r>
          </a:p>
          <a:p>
            <a:pPr>
              <a:buFont typeface="Times" pitchFamily="28" charset="0"/>
              <a:buNone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3200400" y="4800600"/>
            <a:ext cx="4724400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Font typeface="Times" pitchFamily="28" charset="0"/>
              <a:buNone/>
            </a:pPr>
            <a:r>
              <a:rPr lang="en-US" sz="3600" dirty="0"/>
              <a:t>This is an infinite loop…</a:t>
            </a:r>
          </a:p>
        </p:txBody>
      </p:sp>
    </p:spTree>
    <p:extLst>
      <p:ext uri="{BB962C8B-B14F-4D97-AF65-F5344CB8AC3E}">
        <p14:creationId xmlns:p14="http://schemas.microsoft.com/office/powerpoint/2010/main" val="33721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609600"/>
            <a:ext cx="4191000" cy="18288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E" dirty="0"/>
              <a:t>For loops can be nested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5029200"/>
            <a:ext cx="8686800" cy="156966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200" dirty="0"/>
              <a:t>for (</a:t>
            </a:r>
            <a:r>
              <a:rPr lang="en-IE" sz="3200" dirty="0" err="1"/>
              <a:t>int</a:t>
            </a:r>
            <a:r>
              <a:rPr lang="en-IE" sz="3200" dirty="0"/>
              <a:t> </a:t>
            </a:r>
            <a:r>
              <a:rPr lang="en-IE" sz="3200" dirty="0" err="1"/>
              <a:t>i</a:t>
            </a:r>
            <a:r>
              <a:rPr lang="en-IE" sz="3200" dirty="0"/>
              <a:t>=0; </a:t>
            </a:r>
            <a:r>
              <a:rPr lang="en-IE" sz="3200" dirty="0" err="1"/>
              <a:t>i</a:t>
            </a:r>
            <a:r>
              <a:rPr lang="en-IE" sz="3200" dirty="0"/>
              <a:t> &lt; 4; </a:t>
            </a:r>
            <a:r>
              <a:rPr lang="en-IE" sz="3200" dirty="0" err="1"/>
              <a:t>i</a:t>
            </a:r>
            <a:r>
              <a:rPr lang="en-IE" sz="3200" dirty="0"/>
              <a:t>++)</a:t>
            </a:r>
          </a:p>
          <a:p>
            <a:r>
              <a:rPr lang="en-IE" sz="3200" dirty="0"/>
              <a:t>     for (</a:t>
            </a:r>
            <a:r>
              <a:rPr lang="en-IE" sz="3200" dirty="0" err="1"/>
              <a:t>int</a:t>
            </a:r>
            <a:r>
              <a:rPr lang="en-IE" sz="3200" dirty="0"/>
              <a:t> j=0; j &lt; 4; </a:t>
            </a:r>
            <a:r>
              <a:rPr lang="en-IE" sz="3200" dirty="0" err="1"/>
              <a:t>j++</a:t>
            </a:r>
            <a:r>
              <a:rPr lang="en-IE" sz="3200" dirty="0"/>
              <a:t>)</a:t>
            </a:r>
          </a:p>
          <a:p>
            <a:r>
              <a:rPr lang="en-IE" sz="3200" dirty="0"/>
              <a:t>        </a:t>
            </a:r>
            <a:r>
              <a:rPr lang="en-IE" sz="3200" dirty="0" err="1"/>
              <a:t>println</a:t>
            </a:r>
            <a:r>
              <a:rPr lang="en-IE" sz="3200" dirty="0"/>
              <a:t>("The value of </a:t>
            </a:r>
            <a:r>
              <a:rPr lang="en-IE" sz="3200" dirty="0" err="1"/>
              <a:t>i</a:t>
            </a:r>
            <a:r>
              <a:rPr lang="en-IE" sz="3200" dirty="0"/>
              <a:t> is: " + </a:t>
            </a:r>
            <a:r>
              <a:rPr lang="en-IE" sz="3200" dirty="0" err="1"/>
              <a:t>i</a:t>
            </a:r>
            <a:r>
              <a:rPr lang="en-IE" sz="3200" dirty="0"/>
              <a:t> + " and j is: " + j);</a:t>
            </a:r>
          </a:p>
        </p:txBody>
      </p:sp>
      <p:sp>
        <p:nvSpPr>
          <p:cNvPr id="5" name="Rectangle 4"/>
          <p:cNvSpPr/>
          <p:nvPr/>
        </p:nvSpPr>
        <p:spPr>
          <a:xfrm>
            <a:off x="4419600" y="434400"/>
            <a:ext cx="4495800" cy="550920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0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1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2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0 and j is: 3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0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1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2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1 and j is: 3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0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1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2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2 and j is: 3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0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1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2</a:t>
            </a:r>
          </a:p>
          <a:p>
            <a:pPr algn="ctr"/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 value of </a:t>
            </a:r>
            <a:r>
              <a:rPr lang="en-IE" sz="2200" dirty="0" err="1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IE" sz="22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is: 3 and j is: 3</a:t>
            </a:r>
          </a:p>
        </p:txBody>
      </p:sp>
      <p:sp>
        <p:nvSpPr>
          <p:cNvPr id="6" name="Donut 5"/>
          <p:cNvSpPr/>
          <p:nvPr/>
        </p:nvSpPr>
        <p:spPr>
          <a:xfrm>
            <a:off x="1219200" y="1515035"/>
            <a:ext cx="2362200" cy="770965"/>
          </a:xfrm>
          <a:prstGeom prst="donut">
            <a:avLst>
              <a:gd name="adj" fmla="val 7374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2B289B29-6F70-4C60-8CD5-BBC2412CA2AB}"/>
              </a:ext>
            </a:extLst>
          </p:cNvPr>
          <p:cNvSpPr/>
          <p:nvPr/>
        </p:nvSpPr>
        <p:spPr>
          <a:xfrm>
            <a:off x="-355365" y="5029200"/>
            <a:ext cx="685331" cy="4865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A71AC7F1-E1D1-462E-9B72-37BB57438BA5}"/>
              </a:ext>
            </a:extLst>
          </p:cNvPr>
          <p:cNvSpPr/>
          <p:nvPr/>
        </p:nvSpPr>
        <p:spPr>
          <a:xfrm>
            <a:off x="152400" y="5570737"/>
            <a:ext cx="685331" cy="486586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9112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IE" dirty="0"/>
          </a:p>
          <a:p>
            <a:r>
              <a:rPr lang="en-IE" dirty="0"/>
              <a:t>There are three types of loop in programming:	</a:t>
            </a:r>
          </a:p>
          <a:p>
            <a:pPr lvl="1"/>
            <a:r>
              <a:rPr lang="en-IE" dirty="0"/>
              <a:t>While loops:</a:t>
            </a:r>
          </a:p>
          <a:p>
            <a:pPr lvl="2"/>
            <a:r>
              <a:rPr lang="en-US" dirty="0"/>
              <a:t>Counter controlled (n times) - </a:t>
            </a:r>
            <a:r>
              <a:rPr lang="en-IE" dirty="0"/>
              <a:t>covered in previous talk</a:t>
            </a:r>
            <a:endParaRPr lang="en-US" dirty="0"/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Sentinel based (covered later in the course)</a:t>
            </a: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Flag based (covered later in the course) </a:t>
            </a:r>
          </a:p>
          <a:p>
            <a:pPr lvl="2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IE" dirty="0"/>
              <a:t>For loops (this slide deck)</a:t>
            </a:r>
          </a:p>
          <a:p>
            <a:pPr marL="457200" lvl="1" indent="0">
              <a:buNone/>
            </a:pPr>
            <a:r>
              <a:rPr lang="en-IE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Do While loops (covered later in the course)</a:t>
            </a:r>
            <a:r>
              <a:rPr lang="en-IE" dirty="0"/>
              <a:t>	</a:t>
            </a:r>
          </a:p>
          <a:p>
            <a:pPr marL="914400" lvl="2" indent="0">
              <a:buNone/>
            </a:pPr>
            <a:endParaRPr lang="en-IE" dirty="0"/>
          </a:p>
          <a:p>
            <a:r>
              <a:rPr lang="en-IE" dirty="0"/>
              <a:t>Comparative use of while and for loops</a:t>
            </a:r>
          </a:p>
          <a:p>
            <a:r>
              <a:rPr lang="en-IE" dirty="0"/>
              <a:t>Lab03 - Challenge 1</a:t>
            </a:r>
          </a:p>
          <a:p>
            <a:r>
              <a:rPr lang="en-IE" dirty="0"/>
              <a:t>Lab03 - Challenge 3	</a:t>
            </a:r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762000" y="4724400"/>
            <a:ext cx="5905500" cy="381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94998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E" dirty="0">
                <a:latin typeface="Courier New" pitchFamily="28" charset="0"/>
              </a:rPr>
              <a:t>     for</a:t>
            </a:r>
            <a:r>
              <a:rPr lang="en-IE" dirty="0"/>
              <a:t> versus </a:t>
            </a:r>
            <a:r>
              <a:rPr lang="en-US" dirty="0">
                <a:latin typeface="Courier New" pitchFamily="28" charset="0"/>
              </a:rPr>
              <a:t>while</a:t>
            </a:r>
            <a:r>
              <a:rPr lang="en-US" dirty="0"/>
              <a:t> </a:t>
            </a:r>
            <a:endParaRPr lang="en-IE" dirty="0"/>
          </a:p>
        </p:txBody>
      </p:sp>
      <p:sp>
        <p:nvSpPr>
          <p:cNvPr id="3" name="Rectangle 2"/>
          <p:cNvSpPr/>
          <p:nvPr/>
        </p:nvSpPr>
        <p:spPr>
          <a:xfrm>
            <a:off x="266700" y="1871752"/>
            <a:ext cx="4267200" cy="186204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300" dirty="0"/>
              <a:t>for(</a:t>
            </a:r>
            <a:r>
              <a:rPr lang="en-IE" sz="2300" b="1" dirty="0" err="1">
                <a:solidFill>
                  <a:srgbClr val="FF0000"/>
                </a:solidFill>
              </a:rPr>
              <a:t>int</a:t>
            </a:r>
            <a:r>
              <a:rPr lang="en-IE" sz="2300" b="1" dirty="0">
                <a:solidFill>
                  <a:srgbClr val="FF0000"/>
                </a:solidFill>
              </a:rPr>
              <a:t> </a:t>
            </a:r>
            <a:r>
              <a:rPr lang="en-IE" sz="2300" b="1" dirty="0" err="1">
                <a:solidFill>
                  <a:srgbClr val="FF0000"/>
                </a:solidFill>
              </a:rPr>
              <a:t>i</a:t>
            </a:r>
            <a:r>
              <a:rPr lang="en-IE" sz="2300" b="1" dirty="0">
                <a:solidFill>
                  <a:srgbClr val="FF0000"/>
                </a:solidFill>
              </a:rPr>
              <a:t> = 0</a:t>
            </a:r>
            <a:r>
              <a:rPr lang="en-IE" sz="2300" dirty="0"/>
              <a:t>; </a:t>
            </a:r>
            <a:r>
              <a:rPr lang="en-IE" sz="2300" b="1" dirty="0" err="1">
                <a:solidFill>
                  <a:srgbClr val="00B050"/>
                </a:solidFill>
              </a:rPr>
              <a:t>i</a:t>
            </a:r>
            <a:r>
              <a:rPr lang="en-IE" sz="2300" b="1" dirty="0">
                <a:solidFill>
                  <a:srgbClr val="00B050"/>
                </a:solidFill>
              </a:rPr>
              <a:t> &lt; 4</a:t>
            </a:r>
            <a:r>
              <a:rPr lang="en-IE" sz="2300" dirty="0"/>
              <a:t>; </a:t>
            </a:r>
            <a:r>
              <a:rPr lang="en-IE" sz="2300" b="1" dirty="0" err="1">
                <a:solidFill>
                  <a:srgbClr val="0070C0"/>
                </a:solidFill>
              </a:rPr>
              <a:t>i</a:t>
            </a:r>
            <a:r>
              <a:rPr lang="en-IE" sz="2300" b="1" dirty="0">
                <a:solidFill>
                  <a:srgbClr val="0070C0"/>
                </a:solidFill>
              </a:rPr>
              <a:t>++</a:t>
            </a:r>
            <a:r>
              <a:rPr lang="en-IE" sz="2300" dirty="0"/>
              <a:t>) </a:t>
            </a:r>
          </a:p>
          <a:p>
            <a:r>
              <a:rPr lang="en-IE" sz="2300" dirty="0"/>
              <a:t>{</a:t>
            </a:r>
          </a:p>
          <a:p>
            <a:r>
              <a:rPr lang="en-IE" sz="2300" dirty="0"/>
              <a:t>    </a:t>
            </a:r>
            <a:r>
              <a:rPr lang="en-IE" sz="2300" dirty="0" err="1"/>
              <a:t>rect</a:t>
            </a:r>
            <a:r>
              <a:rPr lang="en-IE" sz="2300" dirty="0"/>
              <a:t>(50, yCoordinate, 500, 10);</a:t>
            </a:r>
          </a:p>
          <a:p>
            <a:r>
              <a:rPr lang="en-IE" sz="2300" dirty="0"/>
              <a:t>    yCoordinate += 20;</a:t>
            </a:r>
          </a:p>
          <a:p>
            <a:r>
              <a:rPr lang="en-IE" sz="23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" y="1504890"/>
            <a:ext cx="392430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/>
              <a:t>Processing Example 4.7(for loop)</a:t>
            </a:r>
          </a:p>
        </p:txBody>
      </p:sp>
      <p:sp>
        <p:nvSpPr>
          <p:cNvPr id="6" name="Rectangle 5"/>
          <p:cNvSpPr/>
          <p:nvPr/>
        </p:nvSpPr>
        <p:spPr>
          <a:xfrm>
            <a:off x="285750" y="4211866"/>
            <a:ext cx="4343400" cy="2569934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300" b="1" dirty="0" err="1">
                <a:solidFill>
                  <a:srgbClr val="FF0000"/>
                </a:solidFill>
              </a:rPr>
              <a:t>int</a:t>
            </a:r>
            <a:r>
              <a:rPr lang="en-IE" sz="2300" b="1" dirty="0">
                <a:solidFill>
                  <a:srgbClr val="FF0000"/>
                </a:solidFill>
              </a:rPr>
              <a:t> </a:t>
            </a:r>
            <a:r>
              <a:rPr lang="en-IE" sz="2300" b="1" dirty="0" err="1">
                <a:solidFill>
                  <a:srgbClr val="FF0000"/>
                </a:solidFill>
              </a:rPr>
              <a:t>i</a:t>
            </a:r>
            <a:r>
              <a:rPr lang="en-IE" sz="2300" b="1" dirty="0">
                <a:solidFill>
                  <a:srgbClr val="FF0000"/>
                </a:solidFill>
              </a:rPr>
              <a:t> = 0</a:t>
            </a:r>
            <a:r>
              <a:rPr lang="en-IE" sz="2300" dirty="0"/>
              <a:t>; </a:t>
            </a:r>
          </a:p>
          <a:p>
            <a:r>
              <a:rPr lang="en-IE" sz="2300" dirty="0"/>
              <a:t>while(</a:t>
            </a:r>
            <a:r>
              <a:rPr lang="en-IE" sz="2300" b="1" dirty="0" err="1">
                <a:solidFill>
                  <a:srgbClr val="00B050"/>
                </a:solidFill>
              </a:rPr>
              <a:t>i</a:t>
            </a:r>
            <a:r>
              <a:rPr lang="en-IE" sz="2300" b="1" dirty="0">
                <a:solidFill>
                  <a:srgbClr val="00B050"/>
                </a:solidFill>
              </a:rPr>
              <a:t> &lt; 4</a:t>
            </a:r>
            <a:r>
              <a:rPr lang="en-IE" sz="2300" dirty="0"/>
              <a:t>)</a:t>
            </a:r>
          </a:p>
          <a:p>
            <a:r>
              <a:rPr lang="en-IE" sz="2300" dirty="0"/>
              <a:t>{</a:t>
            </a:r>
          </a:p>
          <a:p>
            <a:r>
              <a:rPr lang="en-IE" sz="2300" dirty="0"/>
              <a:t>    </a:t>
            </a:r>
            <a:r>
              <a:rPr lang="en-IE" sz="2300" dirty="0" err="1"/>
              <a:t>rect</a:t>
            </a:r>
            <a:r>
              <a:rPr lang="en-IE" sz="2300" dirty="0"/>
              <a:t>(50, yCoordinate, 500, 10);</a:t>
            </a:r>
          </a:p>
          <a:p>
            <a:r>
              <a:rPr lang="en-IE" sz="2300" dirty="0"/>
              <a:t>    yCoordinate += 20;</a:t>
            </a:r>
          </a:p>
          <a:p>
            <a:r>
              <a:rPr lang="en-IE" sz="2300" b="1" dirty="0">
                <a:solidFill>
                  <a:srgbClr val="00B0F0"/>
                </a:solidFill>
              </a:rPr>
              <a:t>    </a:t>
            </a:r>
            <a:r>
              <a:rPr lang="en-IE" sz="2300" b="1" dirty="0" err="1">
                <a:solidFill>
                  <a:srgbClr val="0070C0"/>
                </a:solidFill>
              </a:rPr>
              <a:t>i</a:t>
            </a:r>
            <a:r>
              <a:rPr lang="en-IE" sz="2300" b="1" dirty="0">
                <a:solidFill>
                  <a:srgbClr val="0070C0"/>
                </a:solidFill>
              </a:rPr>
              <a:t>++;</a:t>
            </a:r>
          </a:p>
          <a:p>
            <a:r>
              <a:rPr lang="en-IE" sz="2300" dirty="0"/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" y="3867090"/>
            <a:ext cx="419100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000" dirty="0"/>
              <a:t>Processing Example 4.5 (while loop)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" t="19703" r="59867" b="48404"/>
          <a:stretch/>
        </p:blipFill>
        <p:spPr bwMode="auto">
          <a:xfrm>
            <a:off x="457200" y="228600"/>
            <a:ext cx="2099309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4952999" y="1524000"/>
            <a:ext cx="4306885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2800" dirty="0"/>
              <a:t>Variable </a:t>
            </a:r>
            <a:r>
              <a:rPr lang="en-IE" sz="2800" b="1" dirty="0" err="1">
                <a:solidFill>
                  <a:srgbClr val="FF0000"/>
                </a:solidFill>
              </a:rPr>
              <a:t>i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dirty="0"/>
              <a:t>is the Loop </a:t>
            </a:r>
          </a:p>
          <a:p>
            <a:r>
              <a:rPr lang="en-IE" sz="2800" dirty="0"/>
              <a:t>Control Variable (</a:t>
            </a:r>
            <a:r>
              <a:rPr lang="en-IE" sz="2800" b="1" dirty="0"/>
              <a:t>LCV</a:t>
            </a:r>
            <a:r>
              <a:rPr lang="en-IE" sz="2800" dirty="0"/>
              <a:t>).  </a:t>
            </a:r>
            <a:br>
              <a:rPr lang="en-IE" sz="2800" dirty="0"/>
            </a:br>
            <a:r>
              <a:rPr lang="en-IE" sz="2800" dirty="0"/>
              <a:t>It must be initialised, tested </a:t>
            </a:r>
          </a:p>
          <a:p>
            <a:r>
              <a:rPr lang="en-IE" sz="2800" dirty="0"/>
              <a:t>and changed.</a:t>
            </a:r>
          </a:p>
          <a:p>
            <a:endParaRPr lang="en-IE" sz="2800" b="1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952999" y="3505200"/>
            <a:ext cx="4180953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E" sz="2800" b="1" dirty="0" err="1">
                <a:solidFill>
                  <a:srgbClr val="FF0000"/>
                </a:solidFill>
              </a:rPr>
              <a:t>int</a:t>
            </a:r>
            <a:r>
              <a:rPr lang="en-IE" sz="2800" b="1" dirty="0">
                <a:solidFill>
                  <a:srgbClr val="FF0000"/>
                </a:solidFill>
              </a:rPr>
              <a:t> </a:t>
            </a:r>
            <a:r>
              <a:rPr lang="en-IE" sz="2800" b="1" dirty="0" err="1">
                <a:solidFill>
                  <a:srgbClr val="FF0000"/>
                </a:solidFill>
              </a:rPr>
              <a:t>i</a:t>
            </a:r>
            <a:r>
              <a:rPr lang="en-IE" sz="2800" b="1" dirty="0">
                <a:solidFill>
                  <a:srgbClr val="FF0000"/>
                </a:solidFill>
              </a:rPr>
              <a:t> = 0</a:t>
            </a:r>
            <a:r>
              <a:rPr lang="en-IE" sz="2800" dirty="0"/>
              <a:t> is the </a:t>
            </a:r>
            <a:r>
              <a:rPr lang="en-IE" sz="2800" b="1" dirty="0"/>
              <a:t>initialisation</a:t>
            </a:r>
            <a:r>
              <a:rPr lang="en-IE" sz="2800" dirty="0"/>
              <a:t>.</a:t>
            </a:r>
          </a:p>
          <a:p>
            <a:endParaRPr lang="en-IE" sz="2800" b="1" dirty="0">
              <a:solidFill>
                <a:srgbClr val="00B050"/>
              </a:solidFill>
            </a:endParaRPr>
          </a:p>
          <a:p>
            <a:r>
              <a:rPr lang="en-IE" sz="2800" b="1" dirty="0" err="1">
                <a:solidFill>
                  <a:srgbClr val="00B050"/>
                </a:solidFill>
              </a:rPr>
              <a:t>i</a:t>
            </a:r>
            <a:r>
              <a:rPr lang="en-IE" sz="2800" b="1" dirty="0">
                <a:solidFill>
                  <a:srgbClr val="00B050"/>
                </a:solidFill>
              </a:rPr>
              <a:t> &lt; 4 </a:t>
            </a:r>
            <a:r>
              <a:rPr lang="en-IE" sz="2800" dirty="0"/>
              <a:t>is the </a:t>
            </a:r>
            <a:r>
              <a:rPr lang="en-IE" sz="2800" dirty="0" err="1"/>
              <a:t>boolean</a:t>
            </a:r>
            <a:r>
              <a:rPr lang="en-IE" sz="2800" dirty="0"/>
              <a:t> </a:t>
            </a:r>
          </a:p>
          <a:p>
            <a:r>
              <a:rPr lang="en-IE" sz="2800" dirty="0"/>
              <a:t>condition i.e. the </a:t>
            </a:r>
            <a:r>
              <a:rPr lang="en-IE" sz="2800" b="1" dirty="0"/>
              <a:t>test</a:t>
            </a:r>
          </a:p>
          <a:p>
            <a:endParaRPr lang="en-IE" sz="2800" b="1" dirty="0">
              <a:solidFill>
                <a:srgbClr val="0070C0"/>
              </a:solidFill>
            </a:endParaRPr>
          </a:p>
          <a:p>
            <a:r>
              <a:rPr lang="en-IE" sz="2800" b="1" dirty="0" err="1">
                <a:solidFill>
                  <a:srgbClr val="0070C0"/>
                </a:solidFill>
              </a:rPr>
              <a:t>i</a:t>
            </a:r>
            <a:r>
              <a:rPr lang="en-IE" sz="2800" b="1" dirty="0">
                <a:solidFill>
                  <a:srgbClr val="0070C0"/>
                </a:solidFill>
              </a:rPr>
              <a:t>++ </a:t>
            </a:r>
            <a:r>
              <a:rPr lang="en-IE" sz="2800" dirty="0"/>
              <a:t>is the post-body action </a:t>
            </a:r>
          </a:p>
          <a:p>
            <a:r>
              <a:rPr lang="en-IE" sz="2800" dirty="0"/>
              <a:t>i.e. the </a:t>
            </a:r>
            <a:r>
              <a:rPr lang="en-IE" sz="2800" b="1" dirty="0"/>
              <a:t>change</a:t>
            </a:r>
            <a:r>
              <a:rPr lang="en-IE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02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IE" dirty="0"/>
          </a:p>
          <a:p>
            <a:r>
              <a:rPr lang="en-IE" dirty="0"/>
              <a:t>There are three types of loop in programming:	</a:t>
            </a:r>
          </a:p>
          <a:p>
            <a:pPr lvl="1"/>
            <a:r>
              <a:rPr lang="en-IE" dirty="0"/>
              <a:t>While loops:</a:t>
            </a:r>
          </a:p>
          <a:p>
            <a:pPr lvl="2"/>
            <a:r>
              <a:rPr lang="en-US" dirty="0"/>
              <a:t>Counter controlled (n times) - </a:t>
            </a:r>
            <a:r>
              <a:rPr lang="en-IE" dirty="0"/>
              <a:t>covered in previous talk</a:t>
            </a:r>
            <a:endParaRPr lang="en-US" dirty="0"/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Sentinel based (covered later in the course)</a:t>
            </a: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Flag based (covered later in the course) </a:t>
            </a:r>
          </a:p>
          <a:p>
            <a:pPr lvl="2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IE" dirty="0"/>
              <a:t>For loops (this slide deck)</a:t>
            </a:r>
          </a:p>
          <a:p>
            <a:pPr marL="457200" lvl="1" indent="0">
              <a:buNone/>
            </a:pPr>
            <a:r>
              <a:rPr lang="en-IE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Do While loops (covered later in the course)</a:t>
            </a:r>
            <a:r>
              <a:rPr lang="en-IE" dirty="0"/>
              <a:t>	</a:t>
            </a:r>
          </a:p>
          <a:p>
            <a:pPr marL="914400" lvl="2" indent="0">
              <a:buNone/>
            </a:pPr>
            <a:endParaRPr lang="en-IE" dirty="0"/>
          </a:p>
          <a:p>
            <a:r>
              <a:rPr lang="en-IE" dirty="0"/>
              <a:t>Comparative use of while and for loops</a:t>
            </a:r>
          </a:p>
          <a:p>
            <a:r>
              <a:rPr lang="en-IE" dirty="0"/>
              <a:t>Lab03 - Challenge 1</a:t>
            </a:r>
          </a:p>
          <a:p>
            <a:r>
              <a:rPr lang="en-IE" dirty="0"/>
              <a:t>Lab03 - Challenge 3	</a:t>
            </a:r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609600" y="5105400"/>
            <a:ext cx="3352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37932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1 – bouncing ball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431800" y="1453813"/>
            <a:ext cx="7874000" cy="13849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E" sz="2800" dirty="0"/>
              <a:t>Draw a continuously bouncing ball. (vertical only)  </a:t>
            </a:r>
          </a:p>
          <a:p>
            <a:pPr marL="457200" indent="-457200">
              <a:buFont typeface="Arial" charset="0"/>
              <a:buChar char="•"/>
            </a:pPr>
            <a:r>
              <a:rPr lang="en-IE" sz="2800" dirty="0"/>
              <a:t>the</a:t>
            </a:r>
            <a:r>
              <a:rPr lang="en-IE" sz="2800" b="1" dirty="0"/>
              <a:t> </a:t>
            </a:r>
            <a:r>
              <a:rPr lang="en-IE" sz="2800" b="1" dirty="0" err="1"/>
              <a:t>xCoordinate</a:t>
            </a:r>
            <a:r>
              <a:rPr lang="en-IE" sz="2800" b="1" dirty="0"/>
              <a:t> </a:t>
            </a:r>
            <a:r>
              <a:rPr lang="en-IE" sz="2800" dirty="0"/>
              <a:t>remains the </a:t>
            </a:r>
            <a:r>
              <a:rPr lang="en-IE" sz="2800" b="1" dirty="0"/>
              <a:t>same </a:t>
            </a:r>
            <a:r>
              <a:rPr lang="en-IE" sz="2800" dirty="0"/>
              <a:t>value </a:t>
            </a:r>
            <a:br>
              <a:rPr lang="en-IE" sz="2800" dirty="0"/>
            </a:br>
            <a:r>
              <a:rPr lang="en-IE" sz="2800" dirty="0"/>
              <a:t>the </a:t>
            </a:r>
            <a:r>
              <a:rPr lang="en-IE" sz="2800" b="1" dirty="0" err="1"/>
              <a:t>yCoordinate</a:t>
            </a:r>
            <a:r>
              <a:rPr lang="en-IE" sz="2800" dirty="0"/>
              <a:t> will </a:t>
            </a:r>
            <a:r>
              <a:rPr lang="en-IE" sz="2800" b="1" dirty="0"/>
              <a:t>change</a:t>
            </a:r>
            <a:r>
              <a:rPr lang="en-IE" sz="2800" dirty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6" t="19010" r="26647" b="24219"/>
          <a:stretch/>
        </p:blipFill>
        <p:spPr bwMode="auto">
          <a:xfrm>
            <a:off x="5994327" y="3352800"/>
            <a:ext cx="2692473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431800" y="4180344"/>
            <a:ext cx="861060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sz="2800" dirty="0"/>
              <a:t>Assumptions: </a:t>
            </a:r>
          </a:p>
          <a:p>
            <a:pPr marL="457200" indent="-457200">
              <a:buFont typeface="Arial" charset="0"/>
              <a:buChar char="•"/>
            </a:pPr>
            <a:r>
              <a:rPr lang="en-IE" sz="2800" dirty="0"/>
              <a:t>display window is </a:t>
            </a:r>
            <a:r>
              <a:rPr lang="en-IE" sz="2800" b="1" dirty="0"/>
              <a:t>500 x 400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ball is </a:t>
            </a:r>
            <a:r>
              <a:rPr lang="en-IE" sz="2800" b="1" dirty="0"/>
              <a:t>100</a:t>
            </a:r>
            <a:r>
              <a:rPr lang="en-IE" sz="2800" dirty="0"/>
              <a:t> in diameter.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static </a:t>
            </a:r>
            <a:r>
              <a:rPr lang="en-IE" sz="2800" b="1" dirty="0"/>
              <a:t>xCoordinate</a:t>
            </a:r>
            <a:r>
              <a:rPr lang="en-IE" sz="2800" dirty="0"/>
              <a:t> is 250.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b="1" dirty="0"/>
              <a:t>background</a:t>
            </a:r>
            <a:r>
              <a:rPr lang="en-IE" sz="2800" dirty="0"/>
              <a:t> is called in the draw() method.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starting </a:t>
            </a:r>
            <a:r>
              <a:rPr lang="en-IE" sz="2800" b="1" dirty="0"/>
              <a:t>yCoordinate is 300</a:t>
            </a:r>
            <a:r>
              <a:rPr lang="en-IE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463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6" t="19010" r="26647" b="24219"/>
          <a:stretch/>
        </p:blipFill>
        <p:spPr bwMode="auto">
          <a:xfrm>
            <a:off x="5994327" y="3352800"/>
            <a:ext cx="2692473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31800" y="4180344"/>
            <a:ext cx="8610600" cy="181588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sz="2800" dirty="0"/>
              <a:t>Assumptions: </a:t>
            </a:r>
          </a:p>
          <a:p>
            <a:pPr marL="457200" indent="-457200">
              <a:buFont typeface="Arial" charset="0"/>
              <a:buChar char="•"/>
            </a:pPr>
            <a:r>
              <a:rPr lang="en-IE" sz="2800" dirty="0"/>
              <a:t>display window is </a:t>
            </a:r>
            <a:r>
              <a:rPr lang="en-IE" sz="2800" b="1" dirty="0"/>
              <a:t>500 x 400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ball is </a:t>
            </a:r>
            <a:r>
              <a:rPr lang="en-IE" sz="2800" b="1" dirty="0"/>
              <a:t>100</a:t>
            </a:r>
            <a:r>
              <a:rPr lang="en-IE" sz="2800" dirty="0"/>
              <a:t> in diameter.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static </a:t>
            </a:r>
            <a:r>
              <a:rPr lang="en-IE" sz="2800" b="1" dirty="0"/>
              <a:t>xCoordinate</a:t>
            </a:r>
            <a:r>
              <a:rPr lang="en-IE" sz="2800" dirty="0"/>
              <a:t> is 250.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0163"/>
            <a:ext cx="3581400" cy="26776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float yCoordinate = 300;</a:t>
            </a:r>
          </a:p>
          <a:p>
            <a:endParaRPr lang="en-IE" sz="2400" dirty="0"/>
          </a:p>
          <a:p>
            <a:r>
              <a:rPr lang="en-IE" sz="2400" dirty="0"/>
              <a:t>void setup() {</a:t>
            </a:r>
          </a:p>
          <a:p>
            <a:r>
              <a:rPr lang="en-IE" sz="2400" dirty="0"/>
              <a:t>  size(500,400);</a:t>
            </a:r>
          </a:p>
          <a:p>
            <a:r>
              <a:rPr lang="en-IE" sz="2400" dirty="0"/>
              <a:t>  fill(255, 10, 10);</a:t>
            </a:r>
          </a:p>
          <a:p>
            <a:r>
              <a:rPr lang="en-IE" sz="2400" dirty="0"/>
              <a:t>  stroke(255);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8600" y="1447463"/>
            <a:ext cx="4076700" cy="13234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void draw() { </a:t>
            </a:r>
          </a:p>
          <a:p>
            <a:r>
              <a:rPr lang="en-IE" sz="2000" dirty="0"/>
              <a:t>   background(0);</a:t>
            </a:r>
          </a:p>
          <a:p>
            <a:r>
              <a:rPr lang="en-IE" sz="2000" dirty="0"/>
              <a:t>   ellipse(250, yCoordinate, 100, 100);</a:t>
            </a:r>
          </a:p>
          <a:p>
            <a:r>
              <a:rPr lang="en-IE" sz="2000" dirty="0"/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H="1" flipV="1">
            <a:off x="2438401" y="2770902"/>
            <a:ext cx="1828799" cy="195349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V="1">
            <a:off x="2057400" y="2438400"/>
            <a:ext cx="5334000" cy="2667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V="1">
            <a:off x="4267200" y="2438400"/>
            <a:ext cx="838200" cy="31242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2449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1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76" t="19010" r="26647" b="24219"/>
          <a:stretch/>
        </p:blipFill>
        <p:spPr bwMode="auto">
          <a:xfrm>
            <a:off x="5994327" y="3352800"/>
            <a:ext cx="2692473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31800" y="4180344"/>
            <a:ext cx="8610600" cy="26776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E" sz="2800" dirty="0"/>
              <a:t>Assumptions: </a:t>
            </a:r>
          </a:p>
          <a:p>
            <a:pPr marL="457200" indent="-457200">
              <a:buFont typeface="Arial" charset="0"/>
              <a:buChar char="•"/>
            </a:pPr>
            <a:r>
              <a:rPr lang="en-IE" sz="2800" dirty="0"/>
              <a:t>display window is </a:t>
            </a:r>
            <a:r>
              <a:rPr lang="en-IE" sz="2800" b="1" dirty="0"/>
              <a:t>500 x 400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ball is </a:t>
            </a:r>
            <a:r>
              <a:rPr lang="en-IE" sz="2800" b="1" dirty="0"/>
              <a:t>100</a:t>
            </a:r>
            <a:r>
              <a:rPr lang="en-IE" sz="2800" dirty="0"/>
              <a:t> in diameter.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static </a:t>
            </a:r>
            <a:r>
              <a:rPr lang="en-IE" sz="2800" b="1" dirty="0"/>
              <a:t>xCoordinate</a:t>
            </a:r>
            <a:r>
              <a:rPr lang="en-IE" sz="2800" dirty="0"/>
              <a:t> is 250.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b="1" dirty="0"/>
              <a:t>background</a:t>
            </a:r>
            <a:r>
              <a:rPr lang="en-IE" sz="2800" dirty="0"/>
              <a:t> is called in the draw() method.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starting </a:t>
            </a:r>
            <a:r>
              <a:rPr lang="en-IE" sz="2800" b="1" dirty="0"/>
              <a:t>yCoordinate is 300</a:t>
            </a:r>
            <a:r>
              <a:rPr lang="en-IE" sz="2800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0163"/>
            <a:ext cx="3581400" cy="26776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float yCoordinate = 300;</a:t>
            </a:r>
          </a:p>
          <a:p>
            <a:endParaRPr lang="en-IE" sz="2400" dirty="0"/>
          </a:p>
          <a:p>
            <a:r>
              <a:rPr lang="en-IE" sz="2400" dirty="0"/>
              <a:t>void setup() {</a:t>
            </a:r>
          </a:p>
          <a:p>
            <a:r>
              <a:rPr lang="en-IE" sz="2400" dirty="0"/>
              <a:t>  size(500,400);</a:t>
            </a:r>
          </a:p>
          <a:p>
            <a:r>
              <a:rPr lang="en-IE" sz="2400" dirty="0"/>
              <a:t>  fill(255, 10, 10);</a:t>
            </a:r>
          </a:p>
          <a:p>
            <a:r>
              <a:rPr lang="en-IE" sz="2400" dirty="0"/>
              <a:t>  stroke(255);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8600" y="1447463"/>
            <a:ext cx="4076700" cy="13234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000" dirty="0"/>
              <a:t>void draw() { </a:t>
            </a:r>
          </a:p>
          <a:p>
            <a:r>
              <a:rPr lang="en-IE" sz="2000" dirty="0"/>
              <a:t>   background(0);</a:t>
            </a:r>
          </a:p>
          <a:p>
            <a:r>
              <a:rPr lang="en-IE" sz="2000" dirty="0"/>
              <a:t>   ellipse(250, yCoordinate, 100, 100);</a:t>
            </a:r>
          </a:p>
          <a:p>
            <a:r>
              <a:rPr lang="en-IE" sz="2000" dirty="0"/>
              <a:t>}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H="1" flipV="1">
            <a:off x="4267200" y="1981200"/>
            <a:ext cx="1524000" cy="3962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V="1">
            <a:off x="3048000" y="1828800"/>
            <a:ext cx="228600" cy="4572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9790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5400"/>
            <a:ext cx="3581400" cy="29238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float yCoordinate = 300;</a:t>
            </a:r>
          </a:p>
          <a:p>
            <a:r>
              <a:rPr lang="en-IE" sz="2400" b="1" dirty="0" err="1">
                <a:solidFill>
                  <a:srgbClr val="FF0000"/>
                </a:solidFill>
              </a:rPr>
              <a:t>boolean</a:t>
            </a:r>
            <a:r>
              <a:rPr lang="en-IE" sz="2400" b="1" dirty="0">
                <a:solidFill>
                  <a:srgbClr val="FF0000"/>
                </a:solidFill>
              </a:rPr>
              <a:t> </a:t>
            </a:r>
            <a:r>
              <a:rPr lang="en-IE" sz="2400" b="1" dirty="0" err="1">
                <a:solidFill>
                  <a:srgbClr val="FF0000"/>
                </a:solidFill>
              </a:rPr>
              <a:t>bounceUp</a:t>
            </a:r>
            <a:r>
              <a:rPr lang="en-IE" sz="2400" b="1" dirty="0">
                <a:solidFill>
                  <a:srgbClr val="FF0000"/>
                </a:solidFill>
              </a:rPr>
              <a:t> = false</a:t>
            </a:r>
            <a:r>
              <a:rPr lang="en-IE" sz="2400" dirty="0">
                <a:solidFill>
                  <a:srgbClr val="FF0000"/>
                </a:solidFill>
              </a:rPr>
              <a:t>;</a:t>
            </a:r>
          </a:p>
          <a:p>
            <a:endParaRPr lang="en-IE" sz="900" dirty="0"/>
          </a:p>
          <a:p>
            <a:r>
              <a:rPr lang="en-IE" sz="2400" dirty="0"/>
              <a:t>void setup() {</a:t>
            </a:r>
          </a:p>
          <a:p>
            <a:r>
              <a:rPr lang="en-IE" sz="2400" dirty="0"/>
              <a:t>  size(500,400);</a:t>
            </a:r>
          </a:p>
          <a:p>
            <a:r>
              <a:rPr lang="en-IE" sz="2400" dirty="0"/>
              <a:t>  fill(255, 10, 10);</a:t>
            </a:r>
          </a:p>
          <a:p>
            <a:r>
              <a:rPr lang="en-IE" sz="2400" dirty="0"/>
              <a:t>  stroke(255);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4038600" y="1295400"/>
            <a:ext cx="4800600" cy="338554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void draw() { </a:t>
            </a:r>
          </a:p>
          <a:p>
            <a:r>
              <a:rPr lang="en-IE" sz="2400" dirty="0"/>
              <a:t>   background(0);</a:t>
            </a:r>
          </a:p>
          <a:p>
            <a:r>
              <a:rPr lang="en-IE" sz="2400" dirty="0"/>
              <a:t>   ellipse(250, yCoordinate, 100, 100);</a:t>
            </a:r>
          </a:p>
          <a:p>
            <a:endParaRPr lang="en-IE" sz="800" dirty="0"/>
          </a:p>
          <a:p>
            <a:r>
              <a:rPr lang="en-IE" sz="2400" dirty="0">
                <a:solidFill>
                  <a:srgbClr val="00B050"/>
                </a:solidFill>
              </a:rPr>
              <a:t>   if (</a:t>
            </a:r>
            <a:r>
              <a:rPr lang="en-IE" sz="2400" b="1" dirty="0" err="1">
                <a:solidFill>
                  <a:srgbClr val="00B050"/>
                </a:solidFill>
              </a:rPr>
              <a:t>bounceUp</a:t>
            </a:r>
            <a:r>
              <a:rPr lang="en-IE" sz="2400" dirty="0">
                <a:solidFill>
                  <a:srgbClr val="00B050"/>
                </a:solidFill>
              </a:rPr>
              <a:t>)</a:t>
            </a:r>
          </a:p>
          <a:p>
            <a:r>
              <a:rPr lang="en-IE" sz="2400" dirty="0"/>
              <a:t>     // code to bounce the ball up</a:t>
            </a:r>
          </a:p>
          <a:p>
            <a:endParaRPr lang="en-IE" sz="800" dirty="0"/>
          </a:p>
          <a:p>
            <a:r>
              <a:rPr lang="en-IE" sz="2400" dirty="0"/>
              <a:t>   if </a:t>
            </a:r>
            <a:r>
              <a:rPr lang="en-IE" sz="2400" dirty="0">
                <a:solidFill>
                  <a:srgbClr val="0070C0"/>
                </a:solidFill>
              </a:rPr>
              <a:t>(!</a:t>
            </a:r>
            <a:r>
              <a:rPr lang="en-IE" sz="2400" b="1" dirty="0" err="1">
                <a:solidFill>
                  <a:srgbClr val="0070C0"/>
                </a:solidFill>
              </a:rPr>
              <a:t>bounceUp</a:t>
            </a:r>
            <a:r>
              <a:rPr lang="en-IE" sz="2400" dirty="0">
                <a:solidFill>
                  <a:srgbClr val="0070C0"/>
                </a:solidFill>
              </a:rPr>
              <a:t>)</a:t>
            </a:r>
          </a:p>
          <a:p>
            <a:r>
              <a:rPr lang="en-IE" sz="2400" dirty="0"/>
              <a:t>      // code when ball is falling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535031"/>
            <a:ext cx="9372600" cy="2677656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We need to track whether the ball is bouncing up or falling. 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To do this, we will use a </a:t>
            </a:r>
            <a:r>
              <a:rPr lang="en-IE" sz="2800" dirty="0" err="1"/>
              <a:t>boolean</a:t>
            </a:r>
            <a:r>
              <a:rPr lang="en-IE" sz="2800" dirty="0"/>
              <a:t> variable </a:t>
            </a:r>
            <a:r>
              <a:rPr lang="en-IE" sz="2800" b="1" dirty="0" err="1">
                <a:solidFill>
                  <a:srgbClr val="FF0000"/>
                </a:solidFill>
              </a:rPr>
              <a:t>bounceUp</a:t>
            </a:r>
            <a:r>
              <a:rPr lang="en-IE" sz="2800" dirty="0"/>
              <a:t>.  </a:t>
            </a:r>
            <a:br>
              <a:rPr lang="en-IE" sz="2800" dirty="0"/>
            </a:br>
            <a:r>
              <a:rPr lang="en-IE" sz="2800" dirty="0"/>
              <a:t>It will be: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b="1" dirty="0">
                <a:solidFill>
                  <a:srgbClr val="00B050"/>
                </a:solidFill>
              </a:rPr>
              <a:t>true</a:t>
            </a:r>
            <a:r>
              <a:rPr lang="en-IE" sz="2800" dirty="0"/>
              <a:t> if the ball is bouncing up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E" sz="2800" b="1" dirty="0">
                <a:solidFill>
                  <a:srgbClr val="0070C0"/>
                </a:solidFill>
              </a:rPr>
              <a:t>false</a:t>
            </a:r>
            <a:r>
              <a:rPr lang="en-IE" sz="2800" dirty="0"/>
              <a:t> if the ball is falling and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08681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150" y="304800"/>
            <a:ext cx="8229600" cy="1143000"/>
          </a:xfrm>
        </p:spPr>
        <p:txBody>
          <a:bodyPr>
            <a:normAutofit/>
          </a:bodyPr>
          <a:lstStyle/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228600" y="1066800"/>
            <a:ext cx="3733800" cy="3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float yCoordinate = 300;</a:t>
            </a:r>
          </a:p>
          <a:p>
            <a:r>
              <a:rPr lang="en-IE" sz="2400" dirty="0" err="1"/>
              <a:t>boolean</a:t>
            </a:r>
            <a:r>
              <a:rPr lang="en-IE" sz="2400" dirty="0"/>
              <a:t> </a:t>
            </a:r>
            <a:r>
              <a:rPr lang="en-IE" sz="2400" dirty="0" err="1"/>
              <a:t>bounceUp</a:t>
            </a:r>
            <a:r>
              <a:rPr lang="en-IE" sz="2400" dirty="0"/>
              <a:t> = false;</a:t>
            </a:r>
          </a:p>
          <a:p>
            <a:endParaRPr lang="en-IE" sz="2400" dirty="0"/>
          </a:p>
          <a:p>
            <a:r>
              <a:rPr lang="en-IE" sz="2400" dirty="0"/>
              <a:t>void setup() {</a:t>
            </a:r>
          </a:p>
          <a:p>
            <a:r>
              <a:rPr lang="en-IE" sz="2400" dirty="0"/>
              <a:t>  size(500,400);</a:t>
            </a:r>
          </a:p>
          <a:p>
            <a:r>
              <a:rPr lang="en-IE" sz="2400" dirty="0"/>
              <a:t>  fill(255, 10, 10);</a:t>
            </a:r>
          </a:p>
          <a:p>
            <a:r>
              <a:rPr lang="en-IE" sz="2400" dirty="0"/>
              <a:t>  stroke(255);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0" y="0"/>
            <a:ext cx="5257800" cy="698652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void draw() { </a:t>
            </a:r>
          </a:p>
          <a:p>
            <a:r>
              <a:rPr lang="en-IE" sz="2400" dirty="0"/>
              <a:t>   background(0);</a:t>
            </a:r>
          </a:p>
          <a:p>
            <a:r>
              <a:rPr lang="en-IE" sz="2400" dirty="0"/>
              <a:t>   ellipse(250, yCoordinate, 100, 100);</a:t>
            </a:r>
          </a:p>
          <a:p>
            <a:endParaRPr lang="en-IE" sz="800" dirty="0"/>
          </a:p>
          <a:p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   //ball is bouncing up</a:t>
            </a:r>
          </a:p>
          <a:p>
            <a:r>
              <a:rPr lang="en-IE" sz="2400" dirty="0"/>
              <a:t>   if (</a:t>
            </a:r>
            <a:r>
              <a:rPr lang="en-IE" sz="2400" dirty="0" err="1"/>
              <a:t>bounceUp</a:t>
            </a:r>
            <a:r>
              <a:rPr lang="en-IE" sz="2400" dirty="0"/>
              <a:t>){</a:t>
            </a:r>
          </a:p>
          <a:p>
            <a:r>
              <a:rPr lang="en-IE" sz="2400" b="1" dirty="0"/>
              <a:t>     if (yCoordinate &gt; 100)</a:t>
            </a:r>
          </a:p>
          <a:p>
            <a:r>
              <a:rPr lang="en-IE" sz="2400" b="1" dirty="0"/>
              <a:t>         yCoordinate = yCoordinate - 1;</a:t>
            </a:r>
          </a:p>
          <a:p>
            <a:r>
              <a:rPr lang="en-IE" sz="2400" b="1" dirty="0"/>
              <a:t>     else</a:t>
            </a:r>
          </a:p>
          <a:p>
            <a:r>
              <a:rPr lang="en-IE" sz="2400" b="1" dirty="0"/>
              <a:t>         </a:t>
            </a:r>
            <a:r>
              <a:rPr lang="en-IE" sz="2400" b="1" dirty="0" err="1"/>
              <a:t>bounceUp</a:t>
            </a:r>
            <a:r>
              <a:rPr lang="en-IE" sz="2400" b="1" dirty="0"/>
              <a:t> = false;</a:t>
            </a:r>
          </a:p>
          <a:p>
            <a:r>
              <a:rPr lang="en-IE" sz="2400" dirty="0"/>
              <a:t>   }</a:t>
            </a:r>
          </a:p>
          <a:p>
            <a:endParaRPr lang="en-IE" sz="800" dirty="0"/>
          </a:p>
          <a:p>
            <a:r>
              <a:rPr lang="en-IE" sz="2400" dirty="0"/>
              <a:t>   </a:t>
            </a:r>
            <a:r>
              <a:rPr lang="en-IE" sz="2400" dirty="0">
                <a:solidFill>
                  <a:schemeClr val="bg1">
                    <a:lumMod val="50000"/>
                  </a:schemeClr>
                </a:solidFill>
              </a:rPr>
              <a:t>//ball is falling down     </a:t>
            </a:r>
          </a:p>
          <a:p>
            <a:r>
              <a:rPr lang="en-IE" sz="2400" dirty="0"/>
              <a:t>   if (!</a:t>
            </a:r>
            <a:r>
              <a:rPr lang="en-IE" sz="2400" dirty="0" err="1"/>
              <a:t>bounceUp</a:t>
            </a:r>
            <a:r>
              <a:rPr lang="en-IE" sz="2400" dirty="0"/>
              <a:t>){</a:t>
            </a:r>
          </a:p>
          <a:p>
            <a:r>
              <a:rPr lang="en-IE" sz="2400" dirty="0"/>
              <a:t>     </a:t>
            </a:r>
            <a:r>
              <a:rPr lang="en-IE" sz="2400" b="1" dirty="0"/>
              <a:t>if (yCoordinate &lt;= 350)</a:t>
            </a:r>
          </a:p>
          <a:p>
            <a:r>
              <a:rPr lang="en-IE" sz="2400" b="1" dirty="0"/>
              <a:t>         yCoordinate = yCoordinate + 1;</a:t>
            </a:r>
          </a:p>
          <a:p>
            <a:r>
              <a:rPr lang="en-IE" sz="2400" b="1" dirty="0"/>
              <a:t>     else</a:t>
            </a:r>
          </a:p>
          <a:p>
            <a:r>
              <a:rPr lang="en-IE" sz="2400" b="1" dirty="0"/>
              <a:t>         </a:t>
            </a:r>
            <a:r>
              <a:rPr lang="en-IE" sz="2400" b="1" dirty="0" err="1"/>
              <a:t>bounceUp</a:t>
            </a:r>
            <a:r>
              <a:rPr lang="en-IE" sz="2400" b="1" dirty="0"/>
              <a:t> = true;</a:t>
            </a:r>
          </a:p>
          <a:p>
            <a:r>
              <a:rPr lang="en-IE" sz="2400" dirty="0"/>
              <a:t>   }   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2400" y="1218694"/>
            <a:ext cx="4705350" cy="259130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3975100" y="3962400"/>
            <a:ext cx="4705350" cy="2591306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8847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Topics list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IE" dirty="0"/>
          </a:p>
          <a:p>
            <a:r>
              <a:rPr lang="en-IE" dirty="0"/>
              <a:t>There are three types of loop in programming:	</a:t>
            </a:r>
          </a:p>
          <a:p>
            <a:pPr lvl="1"/>
            <a:r>
              <a:rPr lang="en-IE" dirty="0"/>
              <a:t>While loops:</a:t>
            </a:r>
          </a:p>
          <a:p>
            <a:pPr lvl="2"/>
            <a:r>
              <a:rPr lang="en-US" dirty="0"/>
              <a:t>Counter controlled (n times) - </a:t>
            </a:r>
            <a:r>
              <a:rPr lang="en-IE" dirty="0"/>
              <a:t>covered in previous talk</a:t>
            </a:r>
            <a:endParaRPr lang="en-US" dirty="0"/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Sentinel based (covered later in the course)</a:t>
            </a: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Flag based (covered later in the course) </a:t>
            </a:r>
          </a:p>
          <a:p>
            <a:pPr lvl="2"/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IE" dirty="0"/>
              <a:t>For loops (this slide deck)</a:t>
            </a:r>
          </a:p>
          <a:p>
            <a:pPr marL="457200" lvl="1" indent="0">
              <a:buNone/>
            </a:pPr>
            <a:r>
              <a:rPr lang="en-IE" dirty="0"/>
              <a:t>	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Do While loops (covered later in the course)</a:t>
            </a:r>
            <a:r>
              <a:rPr lang="en-IE" dirty="0"/>
              <a:t>	</a:t>
            </a:r>
          </a:p>
          <a:p>
            <a:pPr marL="914400" lvl="2" indent="0">
              <a:buNone/>
            </a:pPr>
            <a:endParaRPr lang="en-IE" dirty="0"/>
          </a:p>
          <a:p>
            <a:r>
              <a:rPr lang="en-IE" dirty="0"/>
              <a:t>Comparative use of while and for loops</a:t>
            </a:r>
          </a:p>
          <a:p>
            <a:r>
              <a:rPr lang="en-IE" dirty="0"/>
              <a:t>Lab03 - Challenge 1</a:t>
            </a:r>
          </a:p>
          <a:p>
            <a:r>
              <a:rPr lang="en-IE" dirty="0"/>
              <a:t>Lab03 - Challenge 3	</a:t>
            </a:r>
          </a:p>
          <a:p>
            <a:pPr marL="457200" lvl="1" indent="0">
              <a:buNone/>
            </a:pPr>
            <a:endParaRPr lang="en-IE" dirty="0"/>
          </a:p>
          <a:p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609600" y="5486400"/>
            <a:ext cx="335280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14725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24000"/>
            <a:ext cx="8229600" cy="31085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In a new sketch, draw a </a:t>
            </a:r>
            <a:r>
              <a:rPr lang="en-IE" sz="2800" b="1" dirty="0"/>
              <a:t>vertical line </a:t>
            </a:r>
            <a:r>
              <a:rPr lang="en-IE" sz="2800" dirty="0"/>
              <a:t>that is the height of your display window.</a:t>
            </a:r>
            <a:br>
              <a:rPr lang="en-IE" sz="2800" dirty="0"/>
            </a:b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It starts in the left most position of your display window and </a:t>
            </a:r>
            <a:r>
              <a:rPr lang="en-IE" sz="2800" b="1" dirty="0"/>
              <a:t>moves right, pixel by pixel</a:t>
            </a:r>
            <a:r>
              <a:rPr lang="en-IE" sz="2800" dirty="0"/>
              <a:t>, </a:t>
            </a:r>
            <a:br>
              <a:rPr lang="en-IE" sz="2800" dirty="0"/>
            </a:br>
            <a:r>
              <a:rPr lang="en-IE" sz="2800" dirty="0"/>
              <a:t>until it reaches the right hand side of your display window.  </a:t>
            </a:r>
          </a:p>
        </p:txBody>
      </p:sp>
    </p:spTree>
    <p:extLst>
      <p:ext uri="{BB962C8B-B14F-4D97-AF65-F5344CB8AC3E}">
        <p14:creationId xmlns:p14="http://schemas.microsoft.com/office/powerpoint/2010/main" val="3300421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24000"/>
            <a:ext cx="8229600" cy="310854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Upon reaching the right hand side, the vertical line should </a:t>
            </a:r>
            <a:r>
              <a:rPr lang="en-IE" sz="2800" b="1" dirty="0"/>
              <a:t>reverse direction</a:t>
            </a:r>
            <a:r>
              <a:rPr lang="en-IE" sz="2800" dirty="0"/>
              <a:t> and return, pixel by pixel, to the left hand side of the display window.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As your vertical line is continually traversing the display window, your </a:t>
            </a:r>
            <a:r>
              <a:rPr lang="en-IE" sz="2800" b="1" dirty="0"/>
              <a:t>grayscale background should be varying</a:t>
            </a:r>
            <a:r>
              <a:rPr lang="en-IE" sz="2800" dirty="0"/>
              <a:t> very slightly in colour. </a:t>
            </a:r>
          </a:p>
        </p:txBody>
      </p:sp>
    </p:spTree>
    <p:extLst>
      <p:ext uri="{BB962C8B-B14F-4D97-AF65-F5344CB8AC3E}">
        <p14:creationId xmlns:p14="http://schemas.microsoft.com/office/powerpoint/2010/main" val="759603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76400"/>
            <a:ext cx="5715000" cy="181588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E" sz="2800" dirty="0"/>
              <a:t>Assumptions: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Window size 300x400.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Background is initially set to 120.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Stroke weight is 4</a:t>
            </a:r>
          </a:p>
        </p:txBody>
      </p:sp>
      <p:sp>
        <p:nvSpPr>
          <p:cNvPr id="4" name="Rectangle 3"/>
          <p:cNvSpPr/>
          <p:nvPr/>
        </p:nvSpPr>
        <p:spPr>
          <a:xfrm>
            <a:off x="4343400" y="3200400"/>
            <a:ext cx="4572000" cy="353943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E" sz="2800" dirty="0"/>
              <a:t>float background = 120;</a:t>
            </a:r>
          </a:p>
          <a:p>
            <a:endParaRPr lang="en-IE" sz="2800" dirty="0"/>
          </a:p>
          <a:p>
            <a:r>
              <a:rPr lang="en-IE" sz="2800" dirty="0"/>
              <a:t>void </a:t>
            </a:r>
            <a:r>
              <a:rPr lang="en-IE" sz="2800" b="1" dirty="0"/>
              <a:t>setup</a:t>
            </a:r>
            <a:r>
              <a:rPr lang="en-IE" sz="2800" dirty="0"/>
              <a:t>()</a:t>
            </a:r>
          </a:p>
          <a:p>
            <a:r>
              <a:rPr lang="en-IE" sz="2800" dirty="0"/>
              <a:t>{</a:t>
            </a:r>
          </a:p>
          <a:p>
            <a:r>
              <a:rPr lang="en-IE" sz="2800" dirty="0"/>
              <a:t>    size(300,400);</a:t>
            </a:r>
          </a:p>
          <a:p>
            <a:r>
              <a:rPr lang="en-IE" sz="2800" dirty="0"/>
              <a:t>    background(background);</a:t>
            </a:r>
          </a:p>
          <a:p>
            <a:r>
              <a:rPr lang="en-IE" sz="2800" dirty="0"/>
              <a:t>    </a:t>
            </a:r>
            <a:r>
              <a:rPr lang="en-IE" sz="2800" dirty="0" err="1"/>
              <a:t>strokeWeight</a:t>
            </a:r>
            <a:r>
              <a:rPr lang="en-IE" sz="2800" dirty="0"/>
              <a:t>(4);</a:t>
            </a:r>
          </a:p>
          <a:p>
            <a:r>
              <a:rPr lang="en-IE" sz="2800" dirty="0"/>
              <a:t>}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>
            <a:off x="4114800" y="2438400"/>
            <a:ext cx="609600" cy="2743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>
            <a:off x="5638800" y="2819400"/>
            <a:ext cx="1828800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>
            <a:off x="3505200" y="3449420"/>
            <a:ext cx="1295400" cy="26465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H="1">
            <a:off x="7315200" y="3581400"/>
            <a:ext cx="152400" cy="1905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112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437045"/>
            <a:ext cx="5029200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Draw a </a:t>
            </a:r>
            <a:r>
              <a:rPr lang="en-IE" sz="2800" b="1" dirty="0"/>
              <a:t>vertical line </a:t>
            </a:r>
            <a:r>
              <a:rPr lang="en-IE" sz="2800" dirty="0"/>
              <a:t>that is the height of your display window.</a:t>
            </a:r>
            <a:br>
              <a:rPr lang="en-IE" sz="2800" dirty="0"/>
            </a:br>
            <a:endParaRPr lang="en-IE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E" sz="2800" dirty="0"/>
              <a:t>Call background to </a:t>
            </a:r>
            <a:r>
              <a:rPr lang="en-IE" sz="2800" b="1" dirty="0"/>
              <a:t>clear the previously drawn line</a:t>
            </a:r>
            <a:r>
              <a:rPr lang="en-IE" sz="28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436436"/>
            <a:ext cx="6381750" cy="22467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void </a:t>
            </a:r>
            <a:r>
              <a:rPr lang="en-IE" sz="2800" b="1" dirty="0"/>
              <a:t>draw</a:t>
            </a:r>
            <a:r>
              <a:rPr lang="en-IE" sz="2800" dirty="0"/>
              <a:t>()</a:t>
            </a:r>
          </a:p>
          <a:p>
            <a:r>
              <a:rPr lang="en-IE" sz="2800" dirty="0"/>
              <a:t>{</a:t>
            </a:r>
          </a:p>
          <a:p>
            <a:r>
              <a:rPr lang="en-IE" sz="2800" dirty="0"/>
              <a:t>  background(background);</a:t>
            </a:r>
          </a:p>
          <a:p>
            <a:r>
              <a:rPr lang="en-IE" sz="2800" dirty="0"/>
              <a:t>  line (xCoordinate, 0, xCoordinate, height);</a:t>
            </a:r>
          </a:p>
          <a:p>
            <a:r>
              <a:rPr lang="en-IE" sz="2800" dirty="0"/>
              <a:t>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43525" y="2356021"/>
            <a:ext cx="3714750" cy="304698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float background = 120;</a:t>
            </a:r>
          </a:p>
          <a:p>
            <a:r>
              <a:rPr lang="en-IE" sz="2400" b="1" dirty="0"/>
              <a:t>float xCoordinate = 0.0;</a:t>
            </a:r>
          </a:p>
          <a:p>
            <a:endParaRPr lang="en-IE" sz="2400" dirty="0"/>
          </a:p>
          <a:p>
            <a:r>
              <a:rPr lang="en-IE" sz="2400" dirty="0"/>
              <a:t>void </a:t>
            </a:r>
            <a:r>
              <a:rPr lang="en-IE" sz="2400" b="1" dirty="0"/>
              <a:t>setup</a:t>
            </a:r>
            <a:r>
              <a:rPr lang="en-IE" sz="2400" dirty="0"/>
              <a:t>(){</a:t>
            </a:r>
          </a:p>
          <a:p>
            <a:r>
              <a:rPr lang="en-IE" sz="2400" dirty="0"/>
              <a:t>    size(300,400);</a:t>
            </a:r>
          </a:p>
          <a:p>
            <a:r>
              <a:rPr lang="en-IE" sz="2400" dirty="0"/>
              <a:t>    background(background);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strokeWeight</a:t>
            </a:r>
            <a:r>
              <a:rPr lang="en-IE" sz="2400" dirty="0"/>
              <a:t>(4);</a:t>
            </a:r>
          </a:p>
          <a:p>
            <a:r>
              <a:rPr lang="en-IE" sz="2400" dirty="0"/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H="1">
            <a:off x="4572000" y="3032947"/>
            <a:ext cx="1881188" cy="2881296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H="1">
            <a:off x="3124200" y="3008688"/>
            <a:ext cx="3207543" cy="290555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558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1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24000"/>
            <a:ext cx="8267700" cy="124649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E" sz="2500" dirty="0"/>
              <a:t>This vertical line should start in the left most position of your display window and </a:t>
            </a:r>
            <a:r>
              <a:rPr lang="en-IE" sz="2500" b="1" dirty="0"/>
              <a:t>move right, pixel by pixel</a:t>
            </a:r>
            <a:r>
              <a:rPr lang="en-IE" sz="2500" dirty="0"/>
              <a:t>, until it reaches the right hand side of your display window.  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150" y="4267200"/>
            <a:ext cx="8286750" cy="224676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void draw(){</a:t>
            </a:r>
          </a:p>
          <a:p>
            <a:r>
              <a:rPr lang="en-IE" sz="2800" dirty="0"/>
              <a:t> </a:t>
            </a:r>
            <a:r>
              <a:rPr lang="en-IE" sz="2800" b="1" dirty="0"/>
              <a:t> xCoordinate = xCoordinate + 1; </a:t>
            </a:r>
          </a:p>
          <a:p>
            <a:r>
              <a:rPr lang="en-IE" sz="2800" b="1" dirty="0"/>
              <a:t> </a:t>
            </a:r>
            <a:r>
              <a:rPr lang="en-IE" sz="2800" dirty="0"/>
              <a:t> background(background);</a:t>
            </a:r>
          </a:p>
          <a:p>
            <a:r>
              <a:rPr lang="en-IE" sz="2800" dirty="0"/>
              <a:t>  line (xCoordinate, 0, xCoordinate, height);</a:t>
            </a:r>
          </a:p>
          <a:p>
            <a:r>
              <a:rPr lang="en-IE" sz="2800" dirty="0"/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H="1">
            <a:off x="4038600" y="2286000"/>
            <a:ext cx="381000" cy="25146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6452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24000"/>
            <a:ext cx="7981950" cy="129266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E" sz="2600" dirty="0"/>
              <a:t>As your vertical line is continually traversing the display window, your </a:t>
            </a:r>
            <a:r>
              <a:rPr lang="en-IE" sz="2600" b="1" dirty="0"/>
              <a:t>grayscale background </a:t>
            </a:r>
            <a:r>
              <a:rPr lang="en-IE" sz="2600" dirty="0"/>
              <a:t>should be </a:t>
            </a:r>
            <a:r>
              <a:rPr lang="en-IE" sz="2600" b="1" dirty="0"/>
              <a:t>varying </a:t>
            </a:r>
            <a:r>
              <a:rPr lang="en-IE" sz="2600" dirty="0"/>
              <a:t>very slightly </a:t>
            </a:r>
            <a:r>
              <a:rPr lang="en-IE" sz="2600" b="1" dirty="0"/>
              <a:t>in colour.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400" y="3810000"/>
            <a:ext cx="8286750" cy="267765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800" dirty="0"/>
              <a:t>void draw(){</a:t>
            </a:r>
          </a:p>
          <a:p>
            <a:r>
              <a:rPr lang="en-IE" sz="2800" dirty="0"/>
              <a:t> </a:t>
            </a:r>
            <a:r>
              <a:rPr lang="en-IE" sz="2800" b="1" dirty="0"/>
              <a:t>  </a:t>
            </a:r>
            <a:r>
              <a:rPr lang="en-IE" sz="2800" dirty="0"/>
              <a:t>xCoordinate = xCoordinate + 1; </a:t>
            </a:r>
          </a:p>
          <a:p>
            <a:r>
              <a:rPr lang="en-IE" sz="2800" dirty="0"/>
              <a:t>   </a:t>
            </a:r>
            <a:r>
              <a:rPr lang="en-IE" sz="2800" b="1" dirty="0"/>
              <a:t>background = background + 0.5;</a:t>
            </a:r>
          </a:p>
          <a:p>
            <a:r>
              <a:rPr lang="en-IE" sz="2800" b="1" dirty="0"/>
              <a:t>   </a:t>
            </a:r>
            <a:r>
              <a:rPr lang="en-IE" sz="2800" dirty="0"/>
              <a:t>background(background);</a:t>
            </a:r>
          </a:p>
          <a:p>
            <a:r>
              <a:rPr lang="en-IE" sz="2800" dirty="0"/>
              <a:t>   line (xCoordinate, 0, xCoordinate, height);</a:t>
            </a:r>
          </a:p>
          <a:p>
            <a:r>
              <a:rPr lang="en-IE" sz="2800" dirty="0"/>
              <a:t>}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H="1">
            <a:off x="5105400" y="2410976"/>
            <a:ext cx="1905000" cy="238962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345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524000"/>
            <a:ext cx="8305800" cy="563231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Upon reaching the right hand side, the vertical line should </a:t>
            </a:r>
            <a:r>
              <a:rPr lang="en-IE" sz="2400" b="1" dirty="0"/>
              <a:t>reverse direction </a:t>
            </a:r>
            <a:r>
              <a:rPr lang="en-IE" sz="2400" dirty="0"/>
              <a:t>and return, pixel by pixel, to the left hand side of the display window.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We need to keep track of the direction that the line should be moving </a:t>
            </a:r>
            <a:br>
              <a:rPr lang="en-IE" sz="2400" dirty="0"/>
            </a:br>
            <a:r>
              <a:rPr lang="en-IE" sz="2400" dirty="0"/>
              <a:t>i.e. is it going left-to-right, or has it reversed direction and gone from right-to-left?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400" dirty="0"/>
              <a:t>We will use a </a:t>
            </a:r>
            <a:r>
              <a:rPr lang="en-IE" sz="2400" dirty="0" err="1"/>
              <a:t>boolean</a:t>
            </a:r>
            <a:r>
              <a:rPr lang="en-IE" sz="2400" dirty="0"/>
              <a:t> variable to do this: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400" dirty="0" err="1"/>
              <a:t>boolean</a:t>
            </a:r>
            <a:r>
              <a:rPr lang="en-IE" sz="2400" dirty="0"/>
              <a:t> </a:t>
            </a:r>
            <a:r>
              <a:rPr lang="en-IE" sz="2400" b="1" dirty="0" err="1"/>
              <a:t>reverseDirection</a:t>
            </a:r>
            <a:r>
              <a:rPr lang="en-IE" sz="2400" dirty="0"/>
              <a:t> will be initially set to false. indicating a left-to-right direction.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400" b="1" dirty="0"/>
              <a:t>false</a:t>
            </a:r>
            <a:r>
              <a:rPr lang="en-IE" sz="2400" dirty="0"/>
              <a:t> indicates a </a:t>
            </a:r>
            <a:r>
              <a:rPr lang="en-IE" sz="2400" b="1" dirty="0"/>
              <a:t>left-to-right direction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400" b="1" dirty="0"/>
              <a:t>true</a:t>
            </a:r>
            <a:r>
              <a:rPr lang="en-IE" sz="2400" dirty="0"/>
              <a:t> indicates a </a:t>
            </a:r>
            <a:r>
              <a:rPr lang="en-IE" sz="2400" b="1" dirty="0"/>
              <a:t>right-to-left direction</a:t>
            </a:r>
            <a:r>
              <a:rPr lang="en-IE" sz="2400" dirty="0"/>
              <a:t>.</a:t>
            </a:r>
          </a:p>
          <a:p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254362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Lab03 – </a:t>
            </a:r>
            <a:br>
              <a:rPr lang="en-IE" dirty="0"/>
            </a:br>
            <a:r>
              <a:rPr lang="en-IE" dirty="0"/>
              <a:t>Challenge 3 </a:t>
            </a:r>
          </a:p>
        </p:txBody>
      </p:sp>
      <p:sp>
        <p:nvSpPr>
          <p:cNvPr id="5" name="Rectangle 4"/>
          <p:cNvSpPr/>
          <p:nvPr/>
        </p:nvSpPr>
        <p:spPr>
          <a:xfrm>
            <a:off x="95250" y="1524000"/>
            <a:ext cx="8286750" cy="526297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void draw()</a:t>
            </a:r>
          </a:p>
          <a:p>
            <a:r>
              <a:rPr lang="en-IE" sz="2400" dirty="0"/>
              <a:t>{</a:t>
            </a:r>
          </a:p>
          <a:p>
            <a:r>
              <a:rPr lang="en-IE" sz="2400" dirty="0"/>
              <a:t> </a:t>
            </a:r>
            <a:r>
              <a:rPr lang="en-IE" sz="2400" b="1" dirty="0"/>
              <a:t>if (!</a:t>
            </a:r>
            <a:r>
              <a:rPr lang="en-IE" sz="2400" b="1" dirty="0" err="1"/>
              <a:t>reverseDirection</a:t>
            </a:r>
            <a:r>
              <a:rPr lang="en-IE" sz="2400" b="1" dirty="0"/>
              <a:t>){  </a:t>
            </a:r>
          </a:p>
          <a:p>
            <a:r>
              <a:rPr lang="en-IE" sz="2400" dirty="0"/>
              <a:t>     background = background + 0.5;</a:t>
            </a:r>
          </a:p>
          <a:p>
            <a:r>
              <a:rPr lang="en-IE" sz="2400" dirty="0"/>
              <a:t>     xCoordinate = xCoordinate + 1; </a:t>
            </a:r>
          </a:p>
          <a:p>
            <a:r>
              <a:rPr lang="en-IE" sz="2400" dirty="0"/>
              <a:t>  }</a:t>
            </a:r>
          </a:p>
          <a:p>
            <a:r>
              <a:rPr lang="en-IE" sz="2400" b="1" dirty="0"/>
              <a:t>  else{</a:t>
            </a:r>
          </a:p>
          <a:p>
            <a:r>
              <a:rPr lang="en-IE" sz="2400" dirty="0"/>
              <a:t>    background = background - 0.5;</a:t>
            </a:r>
          </a:p>
          <a:p>
            <a:r>
              <a:rPr lang="en-IE" sz="2400" dirty="0"/>
              <a:t>    xCoordinate = xCoordinate - 1; </a:t>
            </a:r>
          </a:p>
          <a:p>
            <a:r>
              <a:rPr lang="en-IE" sz="2400" dirty="0"/>
              <a:t>  }</a:t>
            </a:r>
            <a:r>
              <a:rPr lang="en-IE" sz="2400" b="1" dirty="0"/>
              <a:t>   </a:t>
            </a:r>
          </a:p>
          <a:p>
            <a:endParaRPr lang="en-IE" sz="2400" b="1" dirty="0"/>
          </a:p>
          <a:p>
            <a:r>
              <a:rPr lang="en-IE" sz="2400" b="1" dirty="0"/>
              <a:t>  </a:t>
            </a:r>
            <a:r>
              <a:rPr lang="en-IE" sz="2400" dirty="0"/>
              <a:t>background(background);</a:t>
            </a:r>
          </a:p>
          <a:p>
            <a:r>
              <a:rPr lang="en-IE" sz="2400" dirty="0"/>
              <a:t>  line (xCoordinate, 0, xCoordinate, height);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4638675" y="0"/>
            <a:ext cx="4467225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float background = 120;</a:t>
            </a:r>
          </a:p>
          <a:p>
            <a:r>
              <a:rPr lang="en-IE" sz="2400" dirty="0"/>
              <a:t>float xCoordinate = 0.0;</a:t>
            </a:r>
          </a:p>
          <a:p>
            <a:r>
              <a:rPr lang="en-IE" sz="2400" b="1" dirty="0" err="1"/>
              <a:t>boolean</a:t>
            </a:r>
            <a:r>
              <a:rPr lang="en-IE" sz="2400" b="1" dirty="0"/>
              <a:t> </a:t>
            </a:r>
            <a:r>
              <a:rPr lang="en-IE" sz="2400" b="1" dirty="0" err="1"/>
              <a:t>reverseDirection</a:t>
            </a:r>
            <a:r>
              <a:rPr lang="en-IE" sz="2400" b="1" dirty="0"/>
              <a:t> = false;</a:t>
            </a:r>
          </a:p>
          <a:p>
            <a:endParaRPr lang="en-IE" sz="2400" b="1" dirty="0"/>
          </a:p>
          <a:p>
            <a:r>
              <a:rPr lang="en-IE" sz="2400" dirty="0"/>
              <a:t>void setup(){</a:t>
            </a:r>
          </a:p>
          <a:p>
            <a:r>
              <a:rPr lang="en-IE" sz="2400" dirty="0"/>
              <a:t>    size(300,400);</a:t>
            </a:r>
          </a:p>
          <a:p>
            <a:r>
              <a:rPr lang="en-IE" sz="2400" dirty="0"/>
              <a:t>    background(background);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strokeWeight</a:t>
            </a:r>
            <a:r>
              <a:rPr lang="en-IE" sz="2400" dirty="0"/>
              <a:t>(4);</a:t>
            </a:r>
          </a:p>
          <a:p>
            <a:r>
              <a:rPr lang="en-IE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60277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Lab03 - Challenge 3 – Moving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973282"/>
            <a:ext cx="8305800" cy="397031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But, we have no code written that will set the flag to true e.g.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800" dirty="0"/>
          </a:p>
          <a:p>
            <a:r>
              <a:rPr lang="en-IE" sz="2800" b="1"/>
              <a:t>		reverseDirection</a:t>
            </a:r>
            <a:r>
              <a:rPr lang="en-IE" sz="2800" b="1" dirty="0"/>
              <a:t> = true;</a:t>
            </a:r>
            <a:r>
              <a:rPr lang="en-IE" sz="2800" dirty="0"/>
              <a:t>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Under what circumstances should the flag be set to true?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800" dirty="0"/>
              <a:t>And when should it be set back to false?</a:t>
            </a:r>
          </a:p>
        </p:txBody>
      </p:sp>
    </p:spTree>
    <p:extLst>
      <p:ext uri="{BB962C8B-B14F-4D97-AF65-F5344CB8AC3E}">
        <p14:creationId xmlns:p14="http://schemas.microsoft.com/office/powerpoint/2010/main" val="74493690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5250" y="0"/>
            <a:ext cx="8286750" cy="674030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void draw(){</a:t>
            </a:r>
          </a:p>
          <a:p>
            <a:r>
              <a:rPr lang="en-IE" sz="2400" b="1" dirty="0"/>
              <a:t> if (xCoordinate == width)</a:t>
            </a:r>
          </a:p>
          <a:p>
            <a:r>
              <a:rPr lang="en-IE" sz="2400" b="1" dirty="0"/>
              <a:t>     </a:t>
            </a:r>
            <a:r>
              <a:rPr lang="en-IE" sz="2400" b="1" dirty="0" err="1"/>
              <a:t>reverseDirection</a:t>
            </a:r>
            <a:r>
              <a:rPr lang="en-IE" sz="2400" b="1" dirty="0"/>
              <a:t> = true;</a:t>
            </a:r>
          </a:p>
          <a:p>
            <a:r>
              <a:rPr lang="en-IE" sz="2400" b="1" dirty="0"/>
              <a:t>  if (xCoordinate == 0)</a:t>
            </a:r>
          </a:p>
          <a:p>
            <a:r>
              <a:rPr lang="en-IE" sz="2400" b="1" dirty="0"/>
              <a:t>     </a:t>
            </a:r>
            <a:r>
              <a:rPr lang="en-IE" sz="2400" b="1" dirty="0" err="1"/>
              <a:t>reverseDirection</a:t>
            </a:r>
            <a:r>
              <a:rPr lang="en-IE" sz="2400" b="1" dirty="0"/>
              <a:t> = false;</a:t>
            </a:r>
          </a:p>
          <a:p>
            <a:r>
              <a:rPr lang="en-IE" sz="2400" dirty="0"/>
              <a:t> </a:t>
            </a:r>
          </a:p>
          <a:p>
            <a:r>
              <a:rPr lang="en-IE" sz="2400" dirty="0"/>
              <a:t>if (!</a:t>
            </a:r>
            <a:r>
              <a:rPr lang="en-IE" sz="2400" dirty="0" err="1"/>
              <a:t>reverseDirection</a:t>
            </a:r>
            <a:r>
              <a:rPr lang="en-IE" sz="2400" dirty="0"/>
              <a:t>){  </a:t>
            </a:r>
          </a:p>
          <a:p>
            <a:r>
              <a:rPr lang="en-IE" sz="2400" dirty="0"/>
              <a:t>     background = background + 0.5;</a:t>
            </a:r>
          </a:p>
          <a:p>
            <a:r>
              <a:rPr lang="en-IE" sz="2400" dirty="0"/>
              <a:t>     xCoordinate = xCoordinate + 1; </a:t>
            </a:r>
          </a:p>
          <a:p>
            <a:r>
              <a:rPr lang="en-IE" sz="2400" dirty="0"/>
              <a:t>  }</a:t>
            </a:r>
          </a:p>
          <a:p>
            <a:r>
              <a:rPr lang="en-IE" sz="2400" dirty="0"/>
              <a:t>  else{</a:t>
            </a:r>
          </a:p>
          <a:p>
            <a:r>
              <a:rPr lang="en-IE" sz="2400" dirty="0"/>
              <a:t>    background = background - 0.5;</a:t>
            </a:r>
          </a:p>
          <a:p>
            <a:r>
              <a:rPr lang="en-IE" sz="2400" dirty="0"/>
              <a:t>    xCoordinate = xCoordinate - 1; </a:t>
            </a:r>
          </a:p>
          <a:p>
            <a:r>
              <a:rPr lang="en-IE" sz="2400" dirty="0"/>
              <a:t>  }</a:t>
            </a:r>
            <a:r>
              <a:rPr lang="en-IE" sz="2400" b="1" dirty="0"/>
              <a:t>   </a:t>
            </a:r>
          </a:p>
          <a:p>
            <a:endParaRPr lang="en-IE" sz="2400" b="1" dirty="0"/>
          </a:p>
          <a:p>
            <a:r>
              <a:rPr lang="en-IE" sz="2400" b="1" dirty="0"/>
              <a:t>  </a:t>
            </a:r>
            <a:r>
              <a:rPr lang="en-IE" sz="2400" dirty="0"/>
              <a:t>background(background);</a:t>
            </a:r>
          </a:p>
          <a:p>
            <a:r>
              <a:rPr lang="en-IE" sz="2400" dirty="0"/>
              <a:t>  line (xCoordinate, 0, xCoordinate, height);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4638675" y="0"/>
            <a:ext cx="4467225" cy="34163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2400" dirty="0"/>
              <a:t>float background = 120;</a:t>
            </a:r>
          </a:p>
          <a:p>
            <a:r>
              <a:rPr lang="en-IE" sz="2400" dirty="0"/>
              <a:t>float xCoordinate = 0.0;</a:t>
            </a:r>
          </a:p>
          <a:p>
            <a:r>
              <a:rPr lang="en-IE" sz="2400" b="1" dirty="0" err="1"/>
              <a:t>boolean</a:t>
            </a:r>
            <a:r>
              <a:rPr lang="en-IE" sz="2400" b="1" dirty="0"/>
              <a:t> </a:t>
            </a:r>
            <a:r>
              <a:rPr lang="en-IE" sz="2400" b="1" dirty="0" err="1"/>
              <a:t>reverseDirection</a:t>
            </a:r>
            <a:r>
              <a:rPr lang="en-IE" sz="2400" b="1" dirty="0"/>
              <a:t> = false;</a:t>
            </a:r>
          </a:p>
          <a:p>
            <a:endParaRPr lang="en-IE" sz="2400" b="1" dirty="0"/>
          </a:p>
          <a:p>
            <a:r>
              <a:rPr lang="en-IE" sz="2400" dirty="0"/>
              <a:t>void setup(){</a:t>
            </a:r>
          </a:p>
          <a:p>
            <a:r>
              <a:rPr lang="en-IE" sz="2400" dirty="0"/>
              <a:t>    size(300,400);</a:t>
            </a:r>
          </a:p>
          <a:p>
            <a:r>
              <a:rPr lang="en-IE" sz="2400" dirty="0"/>
              <a:t>    background(background);</a:t>
            </a:r>
          </a:p>
          <a:p>
            <a:r>
              <a:rPr lang="en-IE" sz="2400" dirty="0"/>
              <a:t>    </a:t>
            </a:r>
            <a:r>
              <a:rPr lang="en-IE" sz="2400" dirty="0" err="1"/>
              <a:t>strokeWeight</a:t>
            </a:r>
            <a:r>
              <a:rPr lang="en-IE" sz="2400" dirty="0"/>
              <a:t>(4);</a:t>
            </a:r>
          </a:p>
          <a:p>
            <a:r>
              <a:rPr lang="en-IE" sz="2400" dirty="0"/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412507"/>
            <a:ext cx="3810000" cy="1568693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3253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057400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1366</TotalTime>
  <Words>2514</Words>
  <Application>Microsoft Macintosh PowerPoint</Application>
  <PresentationFormat>On-screen Show (4:3)</PresentationFormat>
  <Paragraphs>454</Paragraphs>
  <Slides>33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 Unicode MS</vt:lpstr>
      <vt:lpstr>Times</vt:lpstr>
      <vt:lpstr>Arial</vt:lpstr>
      <vt:lpstr>Calibri</vt:lpstr>
      <vt:lpstr>Courier New</vt:lpstr>
      <vt:lpstr>Times New Roman</vt:lpstr>
      <vt:lpstr>Trebuchet MS</vt:lpstr>
      <vt:lpstr>Office Theme</vt:lpstr>
      <vt:lpstr>Iteration in Programming</vt:lpstr>
      <vt:lpstr>Topics list</vt:lpstr>
      <vt:lpstr>For loop pseudo-code</vt:lpstr>
      <vt:lpstr>Recap: Processing Example 4.5</vt:lpstr>
      <vt:lpstr>Processing Example 4.7</vt:lpstr>
      <vt:lpstr>For loop syntax</vt:lpstr>
      <vt:lpstr>For loop syntax</vt:lpstr>
      <vt:lpstr>For loop syntax</vt:lpstr>
      <vt:lpstr>for Loop Flowchart</vt:lpstr>
      <vt:lpstr>Returning to: Processing Example 4.7</vt:lpstr>
      <vt:lpstr>Processing Example 4.8</vt:lpstr>
      <vt:lpstr>For loop:  all parts are optional</vt:lpstr>
      <vt:lpstr>For loops can be nested</vt:lpstr>
      <vt:lpstr>Topics list</vt:lpstr>
      <vt:lpstr>     for versus while </vt:lpstr>
      <vt:lpstr>Topics list</vt:lpstr>
      <vt:lpstr>Lab03 - Challenge 1 – bouncing ball</vt:lpstr>
      <vt:lpstr>Lab03 - Challenge 1</vt:lpstr>
      <vt:lpstr>Lab03 - Challenge 1</vt:lpstr>
      <vt:lpstr>Lab03 - Challenge 1</vt:lpstr>
      <vt:lpstr>PowerPoint Presentation</vt:lpstr>
      <vt:lpstr>Topics list</vt:lpstr>
      <vt:lpstr>Lab03 - Challenge 3 – Moving Line</vt:lpstr>
      <vt:lpstr>Lab03 - Challenge 3 – Moving Line</vt:lpstr>
      <vt:lpstr>Lab03 - Challenge 3 – Moving Line</vt:lpstr>
      <vt:lpstr>Lab03 - Challenge 3 – Moving Line</vt:lpstr>
      <vt:lpstr>Lab03 - Challenge 3 – Moving Line</vt:lpstr>
      <vt:lpstr>Lab03 - Challenge 3 – Moving Line</vt:lpstr>
      <vt:lpstr>Lab03 - Challenge 3 – Moving Line</vt:lpstr>
      <vt:lpstr>Lab03 –  Challenge 3 </vt:lpstr>
      <vt:lpstr>Lab03 - Challenge 3 – Moving Line</vt:lpstr>
      <vt:lpstr>PowerPoint Presentation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Iteration with the for loop</dc:title>
  <dc:creator>Siobhan Drohan</dc:creator>
  <cp:lastModifiedBy>Mairead Meagher</cp:lastModifiedBy>
  <cp:revision>177</cp:revision>
  <dcterms:created xsi:type="dcterms:W3CDTF">2006-08-16T00:00:00Z</dcterms:created>
  <dcterms:modified xsi:type="dcterms:W3CDTF">2023-09-18T12:50:47Z</dcterms:modified>
</cp:coreProperties>
</file>