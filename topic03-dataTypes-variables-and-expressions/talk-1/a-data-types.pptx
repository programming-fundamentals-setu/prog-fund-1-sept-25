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5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72" r:id="rId4"/>
    <p:sldId id="299" r:id="rId5"/>
    <p:sldId id="349" r:id="rId6"/>
    <p:sldId id="273" r:id="rId7"/>
    <p:sldId id="351" r:id="rId8"/>
    <p:sldId id="350" r:id="rId9"/>
    <p:sldId id="275" r:id="rId10"/>
    <p:sldId id="352" r:id="rId11"/>
    <p:sldId id="276" r:id="rId12"/>
    <p:sldId id="327" r:id="rId13"/>
    <p:sldId id="277" r:id="rId14"/>
    <p:sldId id="353" r:id="rId15"/>
    <p:sldId id="296" r:id="rId16"/>
    <p:sldId id="285" r:id="rId17"/>
    <p:sldId id="284" r:id="rId18"/>
    <p:sldId id="300" r:id="rId19"/>
    <p:sldId id="295" r:id="rId20"/>
    <p:sldId id="274" r:id="rId21"/>
    <p:sldId id="297" r:id="rId22"/>
    <p:sldId id="34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6"/>
    <p:restoredTop sz="94744"/>
  </p:normalViewPr>
  <p:slideViewPr>
    <p:cSldViewPr>
      <p:cViewPr varScale="1">
        <p:scale>
          <a:sx n="75" d="100"/>
          <a:sy n="75" d="100"/>
        </p:scale>
        <p:origin x="176" y="10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name our variables beginning with a letter and typically containing only letters (no special characters).</a:t>
            </a:r>
          </a:p>
          <a:p>
            <a:endParaRPr lang="en-IE" dirty="0"/>
          </a:p>
          <a:p>
            <a:r>
              <a:rPr lang="en-IE" dirty="0" err="1"/>
              <a:t>CamelCase</a:t>
            </a:r>
            <a:r>
              <a:rPr lang="en-IE" dirty="0"/>
              <a:t> for variables and function names that have multiple words. We capitalize each word except the first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6356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57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FF930-7A3E-E440-99D2-D88CF4C2A3B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57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594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Operations…e.g. I cannot divide “I Love Programming” by ‘S’.  </a:t>
            </a:r>
          </a:p>
          <a:p>
            <a:endParaRPr lang="en-IE" dirty="0"/>
          </a:p>
          <a:p>
            <a:r>
              <a:rPr lang="en-IE" dirty="0"/>
              <a:t>E.g. Mathematical operations are only available on numeric types.  </a:t>
            </a:r>
          </a:p>
          <a:p>
            <a:r>
              <a:rPr lang="en-IE" dirty="0"/>
              <a:t>E.g. I cannot add ‘S’ to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9596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EB1270-B5B3-C54B-92FD-A65FDB01CB4B}" type="slidenum">
              <a:rPr lang="en-US"/>
              <a:pPr/>
              <a:t>9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55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BE41AF-339D-7A42-9D51-2FDDE25D24AD}" type="slidenum">
              <a:rPr lang="en-US"/>
              <a:pPr/>
              <a:t>11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4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449FA9-01C0-0243-BC2B-8E67C5F55CA8}" type="slidenum">
              <a:rPr lang="en-US"/>
              <a:pPr/>
              <a:t>13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usually show them how the minimum and max values for byte are calculated e.g. </a:t>
            </a:r>
          </a:p>
          <a:p>
            <a:r>
              <a:rPr lang="en-US" dirty="0"/>
              <a:t>8-bit is 2 to the power of 8 = 256</a:t>
            </a:r>
          </a:p>
          <a:p>
            <a:endParaRPr lang="en-US" dirty="0"/>
          </a:p>
          <a:p>
            <a:r>
              <a:rPr lang="en-US" dirty="0"/>
              <a:t>To spread this value over the negative/positive number range, divide by two = 128.  so -128 range up to +127, with 0 being on the “positive size”. </a:t>
            </a:r>
          </a:p>
          <a:p>
            <a:r>
              <a:rPr lang="en-US" dirty="0"/>
              <a:t>Then they can always work out the min/max values for the other whole numbers.  </a:t>
            </a:r>
          </a:p>
        </p:txBody>
      </p:sp>
    </p:spTree>
    <p:extLst>
      <p:ext uri="{BB962C8B-B14F-4D97-AF65-F5344CB8AC3E}">
        <p14:creationId xmlns:p14="http://schemas.microsoft.com/office/powerpoint/2010/main" val="3203946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19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19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A42CBBF-813F-C24A-9B84-B001A2F9FD3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38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78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7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7873945-15D1-0D4D-A39F-AD56662E53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write method in BlueJ;</a:t>
            </a:r>
          </a:p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first: do it wrong</a:t>
            </a:r>
          </a:p>
        </p:txBody>
      </p:sp>
    </p:spTree>
    <p:extLst>
      <p:ext uri="{BB962C8B-B14F-4D97-AF65-F5344CB8AC3E}">
        <p14:creationId xmlns:p14="http://schemas.microsoft.com/office/powerpoint/2010/main" val="1089921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8397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4180958-73CC-0144-BCE8-529C91825BE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20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70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706122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51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842234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295009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5353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3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6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039843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87663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88044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10341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88244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01981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505796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0053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80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61" r:id="rId6"/>
    <p:sldLayoutId id="2147483962" r:id="rId7"/>
    <p:sldLayoutId id="2147483963" r:id="rId8"/>
    <p:sldLayoutId id="2147483964" r:id="rId9"/>
    <p:sldLayoutId id="2147483965" r:id="rId10"/>
    <p:sldLayoutId id="2147483966" r:id="rId11"/>
    <p:sldLayoutId id="2147483967" r:id="rId12"/>
    <p:sldLayoutId id="2147483968" r:id="rId13"/>
    <p:sldLayoutId id="2147483969" r:id="rId14"/>
    <p:sldLayoutId id="2147483970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algn="l"/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Variables, Data Types &amp; Arithmetic Operators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549516"/>
            <a:ext cx="10134430" cy="584775"/>
          </a:xfrm>
        </p:spPr>
        <p:txBody>
          <a:bodyPr/>
          <a:lstStyle/>
          <a:p>
            <a:pPr eaLnBrk="1" hangingPunct="1">
              <a:defRPr/>
            </a:pPr>
            <a:endParaRPr lang="en-GB" dirty="0">
              <a:ea typeface="+mn-ea"/>
              <a:cs typeface="+mn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7448" y="1600201"/>
            <a:ext cx="4343400" cy="5334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In Programming, variables: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are created (defined) in your programs.</a:t>
            </a:r>
          </a:p>
          <a:p>
            <a:r>
              <a:rPr lang="en-IE" dirty="0"/>
              <a:t>are used to store data (whose value can change over time).</a:t>
            </a:r>
          </a:p>
          <a:p>
            <a:r>
              <a:rPr lang="en-IE" dirty="0"/>
              <a:t>have a data type.</a:t>
            </a:r>
          </a:p>
          <a:p>
            <a:r>
              <a:rPr lang="en-IE" dirty="0"/>
              <a:t>have a name.</a:t>
            </a:r>
          </a:p>
          <a:p>
            <a:r>
              <a:rPr lang="en-IE" dirty="0"/>
              <a:t>are a VERY important programming concept.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624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Variable names…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458200" cy="4525963"/>
          </a:xfrm>
        </p:spPr>
        <p:txBody>
          <a:bodyPr>
            <a:noAutofit/>
          </a:bodyPr>
          <a:lstStyle/>
          <a:p>
            <a:r>
              <a:rPr lang="en-IE" sz="2500" dirty="0"/>
              <a:t>Are case-sensitive. </a:t>
            </a:r>
          </a:p>
          <a:p>
            <a:r>
              <a:rPr lang="en-IE" sz="2500" dirty="0"/>
              <a:t>Begin with either:</a:t>
            </a:r>
          </a:p>
          <a:p>
            <a:pPr lvl="1"/>
            <a:r>
              <a:rPr lang="en-IE" sz="2500" dirty="0"/>
              <a:t>a </a:t>
            </a:r>
            <a:r>
              <a:rPr lang="en-IE" sz="2500" b="1" dirty="0"/>
              <a:t>letter (preferable)</a:t>
            </a:r>
            <a:r>
              <a:rPr lang="en-IE" sz="2500" dirty="0"/>
              <a:t>, </a:t>
            </a:r>
          </a:p>
          <a:p>
            <a:pPr lvl="1"/>
            <a:r>
              <a:rPr lang="en-IE" sz="2500" dirty="0"/>
              <a:t>the dollar sign "$", or</a:t>
            </a:r>
          </a:p>
          <a:p>
            <a:pPr lvl="1"/>
            <a:r>
              <a:rPr lang="en-IE" sz="2500" dirty="0"/>
              <a:t>the underscore character "_". </a:t>
            </a:r>
          </a:p>
          <a:p>
            <a:r>
              <a:rPr lang="en-IE" sz="2500" dirty="0"/>
              <a:t>Can contain letters, digits, dollar signs, or underscore characters. </a:t>
            </a:r>
          </a:p>
          <a:p>
            <a:r>
              <a:rPr lang="en-IE" sz="2500" dirty="0"/>
              <a:t>Can be any length you choose.</a:t>
            </a:r>
          </a:p>
          <a:p>
            <a:r>
              <a:rPr lang="en-IE" sz="2500" dirty="0"/>
              <a:t>Must not be a </a:t>
            </a:r>
            <a:r>
              <a:rPr lang="en-IE" sz="2500" b="1" dirty="0"/>
              <a:t>keyword or reserved word </a:t>
            </a:r>
            <a:r>
              <a:rPr lang="en-IE" sz="2500" dirty="0"/>
              <a:t>e.g. </a:t>
            </a:r>
            <a:r>
              <a:rPr lang="en-IE" sz="2500" dirty="0" err="1"/>
              <a:t>int</a:t>
            </a:r>
            <a:r>
              <a:rPr lang="en-IE" sz="2500" dirty="0"/>
              <a:t>, while, etc.</a:t>
            </a:r>
          </a:p>
          <a:p>
            <a:r>
              <a:rPr lang="en-IE" sz="2500" dirty="0"/>
              <a:t>Cannot contain white spaces.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84252" y="6519446"/>
            <a:ext cx="8991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dirty="0"/>
              <a:t>https://docs.oracle.com/javase/tutorial/java/nutsandbolts/variables.html</a:t>
            </a:r>
          </a:p>
        </p:txBody>
      </p:sp>
    </p:spTree>
    <p:extLst>
      <p:ext uri="{BB962C8B-B14F-4D97-AF65-F5344CB8AC3E}">
        <p14:creationId xmlns:p14="http://schemas.microsoft.com/office/powerpoint/2010/main" val="74999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Variable names should be carefully chosen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E" sz="2800" dirty="0"/>
              <a:t>Use full words instead of cryptic abbreviations e.g.</a:t>
            </a:r>
          </a:p>
          <a:p>
            <a:pPr lvl="1"/>
            <a:r>
              <a:rPr lang="en-IE" sz="2400" dirty="0">
                <a:sym typeface="Wingdings" panose="05000000000000000000" pitchFamily="2" charset="2"/>
              </a:rPr>
              <a:t>v</a:t>
            </a:r>
            <a:r>
              <a:rPr lang="en-IE" sz="2400" dirty="0"/>
              <a:t>ariables named </a:t>
            </a:r>
            <a:r>
              <a:rPr lang="en-IE" sz="2400" dirty="0">
                <a:solidFill>
                  <a:srgbClr val="FF0000"/>
                </a:solidFill>
              </a:rPr>
              <a:t>speed</a:t>
            </a:r>
            <a:r>
              <a:rPr lang="en-IE" sz="2400" dirty="0"/>
              <a:t> and </a:t>
            </a:r>
            <a:r>
              <a:rPr lang="en-IE" sz="2400" dirty="0">
                <a:solidFill>
                  <a:srgbClr val="FF0000"/>
                </a:solidFill>
              </a:rPr>
              <a:t>gear</a:t>
            </a:r>
            <a:r>
              <a:rPr lang="en-IE" sz="2400" dirty="0"/>
              <a:t> are much more intuitive than abbreviated versions, such as </a:t>
            </a:r>
            <a:r>
              <a:rPr lang="en-IE" sz="2400" dirty="0">
                <a:solidFill>
                  <a:srgbClr val="FF0000"/>
                </a:solidFill>
              </a:rPr>
              <a:t>s </a:t>
            </a:r>
            <a:r>
              <a:rPr lang="en-IE" sz="2400" dirty="0"/>
              <a:t>and</a:t>
            </a:r>
            <a:r>
              <a:rPr lang="en-IE" sz="2400" dirty="0">
                <a:solidFill>
                  <a:srgbClr val="FF0000"/>
                </a:solidFill>
              </a:rPr>
              <a:t> g</a:t>
            </a:r>
            <a:r>
              <a:rPr lang="en-IE" sz="2400" dirty="0"/>
              <a:t>. </a:t>
            </a:r>
            <a:endParaRPr lang="en-IE" dirty="0"/>
          </a:p>
          <a:p>
            <a:endParaRPr lang="en-IE" sz="2800" dirty="0"/>
          </a:p>
          <a:p>
            <a:r>
              <a:rPr lang="en-IE" sz="2800" dirty="0"/>
              <a:t>If the name consists of:</a:t>
            </a:r>
          </a:p>
          <a:p>
            <a:pPr lvl="1"/>
            <a:r>
              <a:rPr lang="en-IE" sz="2400" dirty="0"/>
              <a:t>only one word, </a:t>
            </a:r>
          </a:p>
          <a:p>
            <a:pPr lvl="2"/>
            <a:r>
              <a:rPr lang="en-IE" sz="2000" dirty="0"/>
              <a:t>spell that word in all lowercase letters e.g. </a:t>
            </a:r>
            <a:r>
              <a:rPr lang="en-IE" sz="2000" dirty="0">
                <a:solidFill>
                  <a:srgbClr val="FF0000"/>
                </a:solidFill>
              </a:rPr>
              <a:t>ratio</a:t>
            </a:r>
            <a:r>
              <a:rPr lang="en-IE" sz="2000" dirty="0"/>
              <a:t>.</a:t>
            </a:r>
          </a:p>
          <a:p>
            <a:pPr lvl="1"/>
            <a:r>
              <a:rPr lang="en-IE" sz="2400" dirty="0"/>
              <a:t>more than one word, </a:t>
            </a:r>
          </a:p>
          <a:p>
            <a:pPr lvl="2"/>
            <a:r>
              <a:rPr lang="en-IE" sz="2000" dirty="0"/>
              <a:t>capitalise the first letter of each subsequent word e.g. </a:t>
            </a:r>
            <a:r>
              <a:rPr lang="en-IE" sz="2000" dirty="0" err="1">
                <a:solidFill>
                  <a:srgbClr val="FF0000"/>
                </a:solidFill>
              </a:rPr>
              <a:t>gearRatio</a:t>
            </a:r>
            <a:r>
              <a:rPr lang="en-IE" sz="2000" dirty="0"/>
              <a:t> and </a:t>
            </a:r>
            <a:r>
              <a:rPr lang="en-IE" sz="2000" dirty="0" err="1">
                <a:solidFill>
                  <a:srgbClr val="FF0000"/>
                </a:solidFill>
              </a:rPr>
              <a:t>currentGear</a:t>
            </a:r>
            <a:r>
              <a:rPr lang="en-IE" sz="2000" dirty="0"/>
              <a:t>. </a:t>
            </a:r>
          </a:p>
          <a:p>
            <a:pPr lvl="2"/>
            <a:r>
              <a:rPr lang="en-IE" sz="2000" dirty="0"/>
              <a:t>This is called </a:t>
            </a:r>
            <a:r>
              <a:rPr lang="en-IE" sz="2000" b="1" dirty="0" err="1"/>
              <a:t>camelCase</a:t>
            </a:r>
            <a:endParaRPr lang="en-IE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1584252" y="6519446"/>
            <a:ext cx="8991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600" dirty="0"/>
              <a:t>https://docs.oracle.com/javase/tutorial/java/nutsandbolts/variables.html</a:t>
            </a:r>
          </a:p>
        </p:txBody>
      </p:sp>
    </p:spTree>
    <p:extLst>
      <p:ext uri="{BB962C8B-B14F-4D97-AF65-F5344CB8AC3E}">
        <p14:creationId xmlns:p14="http://schemas.microsoft.com/office/powerpoint/2010/main" val="71069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Kinds of variables so far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Fields are one sort of variable.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store values through the life of an object.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accessible throughout the class.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800" dirty="0">
              <a:ea typeface="MS PGothic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Parameters are another sort of variable: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receive values from outside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help a method complete its task.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Each call to the method receives a fresh set of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Parameter values are short lived.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800" dirty="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4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75D4-3D37-977D-D493-AE9621F0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EF8-89DF-103C-98E3-EC6157CD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C46B9D-56B3-6D1D-52E0-7592F3E24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FAFBC5-AA6A-30A5-5FE5-9B2B07AFAB2C}"/>
              </a:ext>
            </a:extLst>
          </p:cNvPr>
          <p:cNvSpPr/>
          <p:nvPr/>
        </p:nvSpPr>
        <p:spPr>
          <a:xfrm>
            <a:off x="1127448" y="2420888"/>
            <a:ext cx="4343400" cy="5334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272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>
            <a:normAutofit fontScale="70000" lnSpcReduction="20000"/>
          </a:bodyPr>
          <a:lstStyle/>
          <a:p>
            <a:r>
              <a:rPr lang="en-IE" dirty="0"/>
              <a:t>In Java, when we define a variable, we </a:t>
            </a:r>
            <a:r>
              <a:rPr lang="en-IE" b="1" u="sng" dirty="0"/>
              <a:t>have</a:t>
            </a:r>
            <a:r>
              <a:rPr lang="en-IE" dirty="0"/>
              <a:t> to give it a data type.</a:t>
            </a:r>
          </a:p>
          <a:p>
            <a:endParaRPr lang="en-IE" dirty="0"/>
          </a:p>
          <a:p>
            <a:r>
              <a:rPr lang="en-IE" dirty="0"/>
              <a:t>The data type defines the </a:t>
            </a:r>
            <a:r>
              <a:rPr lang="en-IE" b="1" u="sng" dirty="0"/>
              <a:t>kinds of values</a:t>
            </a:r>
            <a:r>
              <a:rPr lang="en-IE" b="1" dirty="0"/>
              <a:t> </a:t>
            </a:r>
            <a:r>
              <a:rPr lang="en-IE" dirty="0"/>
              <a:t>(data) that can be stored in the variable e.g. </a:t>
            </a:r>
          </a:p>
          <a:p>
            <a:pPr lvl="2"/>
            <a:r>
              <a:rPr lang="en-IE" sz="2900" dirty="0"/>
              <a:t>- 456</a:t>
            </a:r>
          </a:p>
          <a:p>
            <a:pPr lvl="2"/>
            <a:r>
              <a:rPr lang="en-IE" sz="2900" dirty="0"/>
              <a:t>2</a:t>
            </a:r>
          </a:p>
          <a:p>
            <a:pPr lvl="2"/>
            <a:r>
              <a:rPr lang="en-IE" sz="2900" dirty="0"/>
              <a:t>45.7897</a:t>
            </a:r>
          </a:p>
          <a:p>
            <a:pPr lvl="2"/>
            <a:r>
              <a:rPr lang="en-IE" sz="2900" dirty="0"/>
              <a:t>I Love Programming</a:t>
            </a:r>
          </a:p>
          <a:p>
            <a:pPr lvl="2"/>
            <a:r>
              <a:rPr lang="en-IE" sz="2900" dirty="0"/>
              <a:t>S</a:t>
            </a:r>
          </a:p>
          <a:p>
            <a:pPr lvl="2"/>
            <a:r>
              <a:rPr lang="en-IE" sz="2900" dirty="0"/>
              <a:t>true</a:t>
            </a:r>
          </a:p>
          <a:p>
            <a:pPr marL="914400" lvl="2" indent="0">
              <a:buNone/>
            </a:pPr>
            <a:endParaRPr lang="en-IE" sz="2900" dirty="0"/>
          </a:p>
          <a:p>
            <a:r>
              <a:rPr lang="en-US" dirty="0"/>
              <a:t>The data type also determines the </a:t>
            </a:r>
            <a:r>
              <a:rPr lang="en-US" b="1" u="sng" dirty="0"/>
              <a:t>operations</a:t>
            </a:r>
            <a:r>
              <a:rPr lang="en-US" dirty="0"/>
              <a:t> that may be performed on it.</a:t>
            </a:r>
          </a:p>
        </p:txBody>
      </p:sp>
    </p:spTree>
    <p:extLst>
      <p:ext uri="{BB962C8B-B14F-4D97-AF65-F5344CB8AC3E}">
        <p14:creationId xmlns:p14="http://schemas.microsoft.com/office/powerpoint/2010/main" val="213401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Java uses two kinds of data types:</a:t>
            </a:r>
          </a:p>
          <a:p>
            <a:pPr lvl="1"/>
            <a:r>
              <a:rPr lang="en-US" b="1" dirty="0"/>
              <a:t>Primitive</a:t>
            </a:r>
            <a:r>
              <a:rPr lang="en-US" dirty="0"/>
              <a:t> types</a:t>
            </a:r>
          </a:p>
          <a:p>
            <a:pPr lvl="1"/>
            <a:r>
              <a:rPr lang="en-US" b="1" dirty="0"/>
              <a:t>Object</a:t>
            </a:r>
            <a:r>
              <a:rPr lang="en-US" dirty="0"/>
              <a:t> types</a:t>
            </a:r>
          </a:p>
          <a:p>
            <a:pPr lvl="1"/>
            <a:endParaRPr lang="en-US" dirty="0"/>
          </a:p>
          <a:p>
            <a:r>
              <a:rPr lang="en-US" dirty="0"/>
              <a:t>We are only looking at </a:t>
            </a:r>
            <a:r>
              <a:rPr lang="en-US" b="1" dirty="0">
                <a:solidFill>
                  <a:srgbClr val="FF0000"/>
                </a:solidFill>
              </a:rPr>
              <a:t>Primitive</a:t>
            </a:r>
            <a:r>
              <a:rPr lang="en-US" dirty="0"/>
              <a:t> types now; we will cover Object types later in the module.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807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0B56-4274-3996-B9A4-D0D1DD35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3DE4-D4C3-4D27-27B1-D7A9B9B8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E95968-0380-5A5B-A4D0-2C50F89C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Java’s Primitive Data Types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Arithmetic operators.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2F5CA-7A69-6BF9-74E6-CDF4F7004449}"/>
              </a:ext>
            </a:extLst>
          </p:cNvPr>
          <p:cNvSpPr/>
          <p:nvPr/>
        </p:nvSpPr>
        <p:spPr>
          <a:xfrm>
            <a:off x="1055440" y="3329782"/>
            <a:ext cx="4608512" cy="1755402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957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Java’s Primitive Data Types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Java programming language supports </a:t>
            </a:r>
            <a:r>
              <a:rPr lang="en-US" u="sng" dirty="0"/>
              <a:t>eight</a:t>
            </a:r>
            <a:r>
              <a:rPr lang="en-US" dirty="0"/>
              <a:t>  primitive data types. </a:t>
            </a:r>
          </a:p>
          <a:p>
            <a:pPr>
              <a:buFont typeface="Wingdings" charset="2"/>
              <a:buNone/>
            </a:pPr>
            <a:endParaRPr lang="en-US" dirty="0"/>
          </a:p>
          <a:p>
            <a:r>
              <a:rPr lang="en-US" dirty="0"/>
              <a:t>A primitive type is predefined by the language and is named by a </a:t>
            </a:r>
            <a:r>
              <a:rPr lang="en-US" u="sng" dirty="0"/>
              <a:t>reserved keyword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 primitive type is highlighted red when it is typed into the PDE e.g.</a:t>
            </a:r>
          </a:p>
          <a:p>
            <a:pPr marL="0" indent="0">
              <a:buNone/>
            </a:pPr>
            <a:r>
              <a:rPr lang="en-US" sz="3800" dirty="0"/>
              <a:t>	</a:t>
            </a:r>
            <a:r>
              <a:rPr lang="en-US" sz="2800" b="1" dirty="0" err="1">
                <a:solidFill>
                  <a:srgbClr val="FF0000"/>
                </a:solidFill>
                <a:latin typeface="Anonymous" pitchFamily="49" charset="0"/>
              </a:rPr>
              <a:t>int</a:t>
            </a:r>
            <a:r>
              <a:rPr lang="en-US" sz="2800" b="1" dirty="0">
                <a:solidFill>
                  <a:srgbClr val="FF0000"/>
                </a:solidFill>
                <a:latin typeface="Anonymous" pitchFamily="49" charset="0"/>
              </a:rPr>
              <a:t> </a:t>
            </a:r>
            <a:r>
              <a:rPr lang="en-US" sz="2800" b="1" dirty="0" err="1">
                <a:latin typeface="Anonymous" pitchFamily="49" charset="0"/>
              </a:rPr>
              <a:t>numberOfItems</a:t>
            </a:r>
            <a:r>
              <a:rPr lang="en-US" sz="2800" b="1" dirty="0">
                <a:latin typeface="Anonymous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Anonymous" pitchFamily="49" charset="0"/>
              </a:rPr>
              <a:t>	</a:t>
            </a:r>
            <a:r>
              <a:rPr lang="en-US" sz="2800" b="1" dirty="0" err="1">
                <a:solidFill>
                  <a:srgbClr val="FF0000"/>
                </a:solidFill>
                <a:latin typeface="Anonymous" pitchFamily="49" charset="0"/>
              </a:rPr>
              <a:t>boolean</a:t>
            </a:r>
            <a:r>
              <a:rPr lang="en-US" sz="2800" b="1" dirty="0">
                <a:solidFill>
                  <a:srgbClr val="FF0000"/>
                </a:solidFill>
                <a:latin typeface="Anonymous" pitchFamily="49" charset="0"/>
              </a:rPr>
              <a:t> </a:t>
            </a:r>
            <a:r>
              <a:rPr lang="en-US" sz="2800" b="1" dirty="0" err="1">
                <a:latin typeface="Anonymous" pitchFamily="49" charset="0"/>
              </a:rPr>
              <a:t>isAlive</a:t>
            </a:r>
            <a:endParaRPr lang="en-US" sz="2800" b="1" dirty="0">
              <a:latin typeface="Anonymous" pitchFamily="49" charset="0"/>
            </a:endParaRPr>
          </a:p>
          <a:p>
            <a:pPr marL="0" indent="0">
              <a:buNone/>
            </a:pPr>
            <a:r>
              <a:rPr lang="en-US" sz="2800" b="1" dirty="0">
                <a:latin typeface="Anonymous" pitchFamily="49" charset="0"/>
              </a:rPr>
              <a:t>	</a:t>
            </a:r>
            <a:r>
              <a:rPr lang="en-US" sz="2800" b="1" dirty="0">
                <a:solidFill>
                  <a:srgbClr val="FF0000"/>
                </a:solidFill>
                <a:latin typeface="Anonymous" pitchFamily="49" charset="0"/>
              </a:rPr>
              <a:t>float</a:t>
            </a:r>
            <a:r>
              <a:rPr lang="en-US" sz="2800" b="1" dirty="0">
                <a:latin typeface="Anonymous" pitchFamily="49" charset="0"/>
              </a:rPr>
              <a:t> </a:t>
            </a:r>
            <a:r>
              <a:rPr lang="en-US" sz="2800" b="1" dirty="0" err="1">
                <a:latin typeface="Anonymous" pitchFamily="49" charset="0"/>
              </a:rPr>
              <a:t>sizeOfSquare</a:t>
            </a:r>
            <a:r>
              <a:rPr lang="en-US" sz="2800" b="1" dirty="0">
                <a:latin typeface="Anonymous" pitchFamily="49" charset="0"/>
              </a:rPr>
              <a:t>;</a:t>
            </a:r>
            <a:endParaRPr lang="en-US" sz="3800" b="1" dirty="0"/>
          </a:p>
          <a:p>
            <a:pPr lvl="1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15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Variables.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2. Data Types.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0" indent="0">
              <a:buNone/>
            </a:pPr>
            <a:r>
              <a:rPr lang="en-IE" dirty="0"/>
              <a:t>3. Java’s Primitive Data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Whole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Decimal numbers.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E" dirty="0"/>
              <a:t>Others.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0" indent="0">
              <a:buNone/>
            </a:pPr>
            <a:r>
              <a:rPr lang="en-IE" dirty="0"/>
              <a:t>4. Arithmetic operators.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5440" y="3905515"/>
            <a:ext cx="4343400" cy="16002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Left Arrow 2"/>
          <p:cNvSpPr/>
          <p:nvPr/>
        </p:nvSpPr>
        <p:spPr>
          <a:xfrm>
            <a:off x="5067300" y="3956315"/>
            <a:ext cx="2057400" cy="2286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96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Java’s Primitive Data Types (whole numbers)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52600" y="1752600"/>
          <a:ext cx="8686800" cy="470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Byte-size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Minimum value</a:t>
                      </a:r>
                      <a:r>
                        <a:rPr lang="en-IE" baseline="0" dirty="0"/>
                        <a:t> (inclusive)</a:t>
                      </a:r>
                      <a:endParaRPr lang="en-I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Maximum value </a:t>
                      </a:r>
                      <a:r>
                        <a:rPr lang="en-IE" baseline="0" dirty="0"/>
                        <a:t>(inclusive)</a:t>
                      </a:r>
                      <a:endParaRPr lang="en-I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Typical Use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byte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127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Useful in applications where memory savings apply.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short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16-bit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32,767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E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endParaRPr lang="en-IE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32-bit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2,147,483,647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choice.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IE" sz="2400" dirty="0">
                          <a:solidFill>
                            <a:srgbClr val="FF0000"/>
                          </a:solidFill>
                        </a:rPr>
                        <a:t>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400" dirty="0"/>
                        <a:t>64-bit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-9,223,372,036,854,775,808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9,223,372,036,854,775,807</a:t>
                      </a:r>
                      <a:endParaRPr lang="en-IE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Used when you need a data type</a:t>
                      </a:r>
                      <a:r>
                        <a:rPr lang="en-IE" sz="24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a range of values larger than that provided by int.</a:t>
                      </a:r>
                      <a:endParaRPr lang="en-IE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Doughnut 2">
            <a:extLst>
              <a:ext uri="{FF2B5EF4-FFF2-40B4-BE49-F238E27FC236}">
                <a16:creationId xmlns:a16="http://schemas.microsoft.com/office/drawing/2014/main" id="{F72AED47-39AD-FA4F-D38B-A8137ACAE7E5}"/>
              </a:ext>
            </a:extLst>
          </p:cNvPr>
          <p:cNvSpPr/>
          <p:nvPr/>
        </p:nvSpPr>
        <p:spPr>
          <a:xfrm>
            <a:off x="983432" y="3717032"/>
            <a:ext cx="2160240" cy="864096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0309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21DA-5DD8-793A-428D-D32F8FB9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TO HERE – </a:t>
            </a:r>
            <a:r>
              <a:rPr lang="en-US"/>
              <a:t>add from 24 data types®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9363A-0174-92D8-A922-DA33A082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35D6E-BC64-E645-B9D9-7619AB7C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0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Scope highlighting</a:t>
            </a:r>
          </a:p>
        </p:txBody>
      </p:sp>
      <p:pic>
        <p:nvPicPr>
          <p:cNvPr id="79874" name="Picture 5" descr="fig2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02" y="1628800"/>
            <a:ext cx="5690196" cy="48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>
                <a:ea typeface="MS PGothic" charset="-128"/>
              </a:rPr>
              <a:t>Scope and lifetime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Each block defines a new scope.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Class, method and statement.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Scopes may be nested:</a:t>
            </a:r>
          </a:p>
          <a:p>
            <a:pPr lvl="1" eaLnBrk="1" hangingPunct="1"/>
            <a:r>
              <a:rPr lang="en-US" altLang="en-US" dirty="0">
                <a:ea typeface="MS PGothic" charset="-128"/>
              </a:rPr>
              <a:t>statement block inside another block inside a method body inside a class body.</a:t>
            </a:r>
          </a:p>
          <a:p>
            <a:pPr marL="382588"/>
            <a:r>
              <a:rPr lang="en-US" altLang="en-US" dirty="0">
                <a:ea typeface="MS PGothic" charset="-128"/>
              </a:rPr>
              <a:t>Scope is static (textual).</a:t>
            </a:r>
          </a:p>
          <a:p>
            <a:pPr marL="382588"/>
            <a:r>
              <a:rPr lang="en-US" altLang="en-US" dirty="0">
                <a:ea typeface="MS PGothic" charset="-128"/>
              </a:rPr>
              <a:t>Lifetime is dynamic (runtime).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To think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4C516-31C6-8219-05F9-CC7C5BE8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ea"/>
                <a:cs typeface="+mj-cs"/>
              </a:rPr>
              <a:t>How could we write a method to ‘refund’ an excess balance?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return the value in balance.</a:t>
            </a:r>
          </a:p>
          <a:p>
            <a:pPr lvl="1"/>
            <a:r>
              <a:rPr lang="en-US" dirty="0">
                <a:ea typeface="+mj-ea"/>
                <a:cs typeface="+mj-cs"/>
              </a:rPr>
              <a:t>We need to set the balance to zero.</a:t>
            </a:r>
          </a:p>
          <a:p>
            <a:r>
              <a:rPr lang="en-US" dirty="0">
                <a:ea typeface="+mj-ea"/>
                <a:cs typeface="+mj-cs"/>
              </a:rPr>
              <a:t>How can we do the first without losing the value in balance?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Unsuccessful attempt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71664" y="1984654"/>
            <a:ext cx="66287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Return the amount left.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5475547"/>
            <a:ext cx="9371733" cy="830997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It looks logical, but the language does not allow it.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A method will terminate immediately after executing a return statement! </a:t>
            </a:r>
          </a:p>
        </p:txBody>
      </p:sp>
    </p:spTree>
    <p:extLst>
      <p:ext uri="{BB962C8B-B14F-4D97-AF65-F5344CB8AC3E}">
        <p14:creationId xmlns:p14="http://schemas.microsoft.com/office/powerpoint/2010/main" val="110569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Local variables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ea typeface="MS PGothic" charset="-128"/>
              </a:rPr>
              <a:t>Methods can define their own, </a:t>
            </a:r>
            <a:r>
              <a:rPr lang="en-US" altLang="en-US" sz="3600" i="1" dirty="0">
                <a:ea typeface="MS PGothic" charset="-128"/>
              </a:rPr>
              <a:t>local</a:t>
            </a:r>
            <a:r>
              <a:rPr lang="en-US" altLang="en-US" sz="3600" dirty="0">
                <a:ea typeface="MS PGothic" charset="-128"/>
              </a:rPr>
              <a:t>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Short lived, like parameters.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method sets their values – unlike parameters, they do not receive external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Used for </a:t>
            </a:r>
            <a:r>
              <a:rPr lang="ja-JP" altLang="en-US" sz="3200">
                <a:ea typeface="MS PGothic" charset="-128"/>
              </a:rPr>
              <a:t>‘</a:t>
            </a:r>
            <a:r>
              <a:rPr lang="en-US" altLang="ja-JP" sz="3200" dirty="0">
                <a:ea typeface="MS PGothic" charset="-128"/>
              </a:rPr>
              <a:t>temporary</a:t>
            </a:r>
            <a:r>
              <a:rPr lang="ja-JP" altLang="en-US" sz="3200">
                <a:ea typeface="MS PGothic" charset="-128"/>
              </a:rPr>
              <a:t>’</a:t>
            </a:r>
            <a:r>
              <a:rPr lang="en-US" altLang="ja-JP" sz="3200" dirty="0">
                <a:ea typeface="MS PGothic" charset="-128"/>
              </a:rPr>
              <a:t> calculation and storage.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exist only as long as the method is being executed.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only accessible from within the method.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They are defined within a particular </a:t>
            </a:r>
            <a:r>
              <a:rPr lang="en-US" altLang="en-US" sz="3200" i="1" dirty="0">
                <a:ea typeface="MS PGothic" charset="-128"/>
              </a:rPr>
              <a:t>scope</a:t>
            </a:r>
            <a:r>
              <a:rPr lang="en-US" altLang="en-US" sz="3200" dirty="0">
                <a:ea typeface="MS PGothic" charset="-128"/>
              </a:rPr>
              <a:t>.</a:t>
            </a:r>
          </a:p>
          <a:p>
            <a:endParaRPr lang="en-GB" altLang="en-US" sz="5400" dirty="0">
              <a:ea typeface="MS PGothic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Local variables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4648200" y="2638428"/>
            <a:ext cx="641393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refundBalance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=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    return </a:t>
            </a:r>
            <a:r>
              <a:rPr lang="en-US" altLang="en-US" sz="2800" dirty="0" err="1">
                <a:solidFill>
                  <a:schemeClr val="tx1"/>
                </a:solidFill>
                <a:latin typeface="Courier New" charset="0"/>
              </a:rPr>
              <a:t>amountToRefund</a:t>
            </a: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575434" y="3095382"/>
            <a:ext cx="26805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b="0" dirty="0">
                <a:solidFill>
                  <a:srgbClr val="A57133"/>
                </a:solidFill>
              </a:rPr>
              <a:t>A local variable</a:t>
            </a:r>
          </a:p>
        </p:txBody>
      </p:sp>
      <p:sp>
        <p:nvSpPr>
          <p:cNvPr id="82950" name="AutoShape 6"/>
          <p:cNvSpPr>
            <a:spLocks noChangeArrowheads="1"/>
          </p:cNvSpPr>
          <p:nvPr/>
        </p:nvSpPr>
        <p:spPr bwMode="auto">
          <a:xfrm>
            <a:off x="1243553" y="3789040"/>
            <a:ext cx="2209800" cy="2362200"/>
          </a:xfrm>
          <a:prstGeom prst="irregularSeal1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703512" y="4509120"/>
            <a:ext cx="15327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No visibility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modifier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>
            <a:off x="3863752" y="3717032"/>
            <a:ext cx="1584176" cy="0"/>
          </a:xfrm>
          <a:prstGeom prst="line">
            <a:avLst/>
          </a:prstGeom>
          <a:noFill/>
          <a:ln w="38100">
            <a:solidFill>
              <a:schemeClr val="accent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Scope and lifetime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scope of a field is its whole class.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lifetime of a field is the lifetime of its containing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scope of a local variable is the block in which it is declared.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lifetime of a local variable is the time of execution of the block in which it is declared.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021528B-859B-0F0C-6479-D9428D8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7.2|16|9.7"/>
</p:tagLst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a-class-definitions</Template>
  <TotalTime>1675</TotalTime>
  <Words>1226</Words>
  <Application>Microsoft Macintosh PowerPoint</Application>
  <PresentationFormat>Widescreen</PresentationFormat>
  <Paragraphs>228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MS PGothic</vt:lpstr>
      <vt:lpstr>Anonymous</vt:lpstr>
      <vt:lpstr>Arial</vt:lpstr>
      <vt:lpstr>Calibri</vt:lpstr>
      <vt:lpstr>Courier New</vt:lpstr>
      <vt:lpstr>Lucida Grande</vt:lpstr>
      <vt:lpstr>Times New Roman</vt:lpstr>
      <vt:lpstr>Wingdings</vt:lpstr>
      <vt:lpstr>a-processing-mouse-event-methods</vt:lpstr>
      <vt:lpstr>Variables, Data Types &amp; Arithmetic Operators</vt:lpstr>
      <vt:lpstr>Topics list</vt:lpstr>
      <vt:lpstr>Variables</vt:lpstr>
      <vt:lpstr>Variable names…</vt:lpstr>
      <vt:lpstr>Variable names should be carefully chosen</vt:lpstr>
      <vt:lpstr>Kinds of variables so far</vt:lpstr>
      <vt:lpstr>Topics list</vt:lpstr>
      <vt:lpstr>Data Types</vt:lpstr>
      <vt:lpstr>Data Types </vt:lpstr>
      <vt:lpstr>Topics list</vt:lpstr>
      <vt:lpstr> Java’s Primitive Data Types</vt:lpstr>
      <vt:lpstr>Topics list</vt:lpstr>
      <vt:lpstr>Java’s Primitive Data Types (whole numbers)</vt:lpstr>
      <vt:lpstr>TO HERE – add from 24 data types®</vt:lpstr>
      <vt:lpstr>Scope highlighting</vt:lpstr>
      <vt:lpstr>Scope and lifetime</vt:lpstr>
      <vt:lpstr>To think about</vt:lpstr>
      <vt:lpstr>Unsuccessful attempt</vt:lpstr>
      <vt:lpstr>Local variables</vt:lpstr>
      <vt:lpstr>Local variables</vt:lpstr>
      <vt:lpstr>Scope and lifetime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183</cp:revision>
  <cp:lastPrinted>2003-09-01T07:04:41Z</cp:lastPrinted>
  <dcterms:created xsi:type="dcterms:W3CDTF">2009-04-22T19:24:48Z</dcterms:created>
  <dcterms:modified xsi:type="dcterms:W3CDTF">2025-09-23T21:03:44Z</dcterms:modified>
  <cp:category/>
</cp:coreProperties>
</file>