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5" r:id="rId1"/>
  </p:sldMasterIdLst>
  <p:notesMasterIdLst>
    <p:notesMasterId r:id="rId14"/>
  </p:notesMasterIdLst>
  <p:handoutMasterIdLst>
    <p:handoutMasterId r:id="rId15"/>
  </p:handoutMasterIdLst>
  <p:sldIdLst>
    <p:sldId id="256" r:id="rId2"/>
    <p:sldId id="377" r:id="rId3"/>
    <p:sldId id="284" r:id="rId4"/>
    <p:sldId id="300" r:id="rId5"/>
    <p:sldId id="295" r:id="rId6"/>
    <p:sldId id="274" r:id="rId7"/>
    <p:sldId id="378" r:id="rId8"/>
    <p:sldId id="371" r:id="rId9"/>
    <p:sldId id="373" r:id="rId10"/>
    <p:sldId id="285" r:id="rId11"/>
    <p:sldId id="297" r:id="rId12"/>
    <p:sldId id="34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C5C"/>
    <a:srgbClr val="7F6F5E"/>
    <a:srgbClr val="C81D2B"/>
    <a:srgbClr val="1A3170"/>
    <a:srgbClr val="A57133"/>
    <a:srgbClr val="007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1458"/>
  </p:normalViewPr>
  <p:slideViewPr>
    <p:cSldViewPr>
      <p:cViewPr varScale="1">
        <p:scale>
          <a:sx n="87" d="100"/>
          <a:sy n="87" d="100"/>
        </p:scale>
        <p:origin x="509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782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782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07873945-15D1-0D4D-A39F-AD56662E5318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78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778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  <p:txBody>
          <a:bodyPr/>
          <a:lstStyle/>
          <a:p>
            <a:r>
              <a:rPr lang="en-US" altLang="en-US" sz="1600">
                <a:latin typeface="Lucida Grande" charset="0"/>
                <a:ea typeface="ＭＳ Ｐゴシック" charset="-128"/>
                <a:sym typeface="Lucida Grande" charset="0"/>
              </a:rPr>
              <a:t>write method in BlueJ;</a:t>
            </a:r>
          </a:p>
          <a:p>
            <a:r>
              <a:rPr lang="en-US" altLang="en-US" sz="1600">
                <a:latin typeface="Lucida Grande" charset="0"/>
                <a:ea typeface="ＭＳ Ｐゴシック" charset="-128"/>
                <a:sym typeface="Lucida Grande" charset="0"/>
              </a:rPr>
              <a:t>first: do it wrong</a:t>
            </a:r>
          </a:p>
        </p:txBody>
      </p:sp>
    </p:spTree>
    <p:extLst>
      <p:ext uri="{BB962C8B-B14F-4D97-AF65-F5344CB8AC3E}">
        <p14:creationId xmlns:p14="http://schemas.microsoft.com/office/powerpoint/2010/main" val="1089921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397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39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4180958-73CC-0144-BCE8-529C91825BE5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39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707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EFD2CC-C5C9-994E-897A-55750BC69004}" type="slidenum">
              <a:rPr lang="en-GB" altLang="en-US" smtClean="0"/>
              <a:pPr>
                <a:defRPr/>
              </a:pPr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50190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192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192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9A42CBBF-813F-C24A-9B84-B001A2F9FD36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10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19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38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706122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513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842234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295009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53533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3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764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039843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87663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880449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710341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882446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201981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25057962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400534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80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7" r:id="rId2"/>
    <p:sldLayoutId id="2147483958" r:id="rId3"/>
    <p:sldLayoutId id="2147483959" r:id="rId4"/>
    <p:sldLayoutId id="2147483960" r:id="rId5"/>
    <p:sldLayoutId id="2147483961" r:id="rId6"/>
    <p:sldLayoutId id="2147483962" r:id="rId7"/>
    <p:sldLayoutId id="2147483963" r:id="rId8"/>
    <p:sldLayoutId id="2147483964" r:id="rId9"/>
    <p:sldLayoutId id="2147483965" r:id="rId10"/>
    <p:sldLayoutId id="2147483966" r:id="rId11"/>
    <p:sldLayoutId id="2147483967" r:id="rId12"/>
    <p:sldLayoutId id="2147483968" r:id="rId13"/>
    <p:sldLayoutId id="2147483969" r:id="rId14"/>
    <p:sldLayoutId id="2147483970" r:id="rId15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 algn="l"/>
            <a:r>
              <a:rPr lang="en-I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Local Variables and Scope of Variables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quarter" idx="22"/>
          </p:nvPr>
        </p:nvSpPr>
        <p:spPr>
          <a:xfrm>
            <a:off x="98936" y="1549516"/>
            <a:ext cx="10134430" cy="584775"/>
          </a:xfrm>
        </p:spPr>
        <p:txBody>
          <a:bodyPr/>
          <a:lstStyle/>
          <a:p>
            <a:pPr eaLnBrk="1" hangingPunct="1">
              <a:defRPr/>
            </a:pPr>
            <a:endParaRPr lang="en-GB" dirty="0">
              <a:ea typeface="+mn-ea"/>
              <a:cs typeface="+mn-cs"/>
            </a:endParaRP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by:</a:t>
            </a:r>
            <a:endParaRPr lang="en-IE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C52B6A4-97C1-5BF3-8F44-19C73FB40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286" y="952499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17F48-C739-69EF-C7AA-BBA32486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F30B0-5058-822C-2534-12D3C5CE3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ECE3B2-0A7A-83A5-18B7-FBC9774CC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sz="4000" dirty="0"/>
              <a:t>Local variables.</a:t>
            </a:r>
          </a:p>
          <a:p>
            <a:pPr marL="514350" indent="-514350">
              <a:buFont typeface="+mj-lt"/>
              <a:buAutoNum type="arabicPeriod"/>
            </a:pPr>
            <a:endParaRPr lang="en-IE" sz="4000" dirty="0"/>
          </a:p>
          <a:p>
            <a:pPr marL="514350" indent="-514350">
              <a:buFont typeface="+mj-lt"/>
              <a:buAutoNum type="arabicPeriod"/>
            </a:pPr>
            <a:r>
              <a:rPr lang="en-IE" sz="4000" dirty="0"/>
              <a:t>Scope of variables.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EF1519-B24C-A61D-D815-2F6E7CBDFDE7}"/>
              </a:ext>
            </a:extLst>
          </p:cNvPr>
          <p:cNvSpPr/>
          <p:nvPr/>
        </p:nvSpPr>
        <p:spPr>
          <a:xfrm>
            <a:off x="609600" y="1567994"/>
            <a:ext cx="3830216" cy="693003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9739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To think about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4C516-31C6-8219-05F9-CC7C5BE8D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ea"/>
                <a:cs typeface="+mj-cs"/>
              </a:rPr>
              <a:t>How could we write a method to ‘refund’ an excess balance?</a:t>
            </a:r>
          </a:p>
          <a:p>
            <a:pPr lvl="1"/>
            <a:r>
              <a:rPr lang="en-US" dirty="0">
                <a:ea typeface="+mj-ea"/>
                <a:cs typeface="+mj-cs"/>
              </a:rPr>
              <a:t>We need to return the value in balance.</a:t>
            </a:r>
          </a:p>
          <a:p>
            <a:pPr lvl="1"/>
            <a:r>
              <a:rPr lang="en-US" dirty="0">
                <a:ea typeface="+mj-ea"/>
                <a:cs typeface="+mj-cs"/>
              </a:rPr>
              <a:t>We need to set the balance to zero.</a:t>
            </a:r>
          </a:p>
          <a:p>
            <a:r>
              <a:rPr lang="en-US" dirty="0">
                <a:ea typeface="+mj-ea"/>
                <a:cs typeface="+mj-cs"/>
              </a:rPr>
              <a:t>How can we do the first without losing the value in balance?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Unsuccessful attempt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071664" y="1984654"/>
            <a:ext cx="6628738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public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refundBalance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// Return the amount left.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return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// Clear the balance.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400" y="5475547"/>
            <a:ext cx="9371733" cy="830997"/>
          </a:xfrm>
          <a:prstGeom prst="rect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It looks logical, but the language does not allow it.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 method will terminate immediately after executing a return statement! </a:t>
            </a:r>
          </a:p>
        </p:txBody>
      </p:sp>
    </p:spTree>
    <p:extLst>
      <p:ext uri="{BB962C8B-B14F-4D97-AF65-F5344CB8AC3E}">
        <p14:creationId xmlns:p14="http://schemas.microsoft.com/office/powerpoint/2010/main" val="110569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Local variables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600" dirty="0">
                <a:ea typeface="MS PGothic" charset="-128"/>
              </a:rPr>
              <a:t>Methods can define their own, </a:t>
            </a:r>
            <a:r>
              <a:rPr lang="en-US" altLang="en-US" sz="3600" i="1" dirty="0">
                <a:ea typeface="MS PGothic" charset="-128"/>
              </a:rPr>
              <a:t>local</a:t>
            </a:r>
            <a:r>
              <a:rPr lang="en-US" altLang="en-US" sz="3600" dirty="0">
                <a:ea typeface="MS PGothic" charset="-128"/>
              </a:rPr>
              <a:t> variables: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Short lived, like parameters.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 method sets their values – unlike parameters, they do not receive external values.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Used for </a:t>
            </a:r>
            <a:r>
              <a:rPr lang="ja-JP" altLang="en-US" sz="3200">
                <a:ea typeface="MS PGothic" charset="-128"/>
              </a:rPr>
              <a:t>‘</a:t>
            </a:r>
            <a:r>
              <a:rPr lang="en-US" altLang="ja-JP" sz="3200" dirty="0">
                <a:ea typeface="MS PGothic" charset="-128"/>
              </a:rPr>
              <a:t>temporary</a:t>
            </a:r>
            <a:r>
              <a:rPr lang="ja-JP" altLang="en-US" sz="3200">
                <a:ea typeface="MS PGothic" charset="-128"/>
              </a:rPr>
              <a:t>’</a:t>
            </a:r>
            <a:r>
              <a:rPr lang="en-US" altLang="ja-JP" sz="3200" dirty="0">
                <a:ea typeface="MS PGothic" charset="-128"/>
              </a:rPr>
              <a:t> calculation and storage.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exist only as long as the method is being executed.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are only accessible from within the method.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are defined within a particular </a:t>
            </a:r>
            <a:r>
              <a:rPr lang="en-US" altLang="en-US" sz="3200" i="1" dirty="0">
                <a:ea typeface="MS PGothic" charset="-128"/>
              </a:rPr>
              <a:t>scope</a:t>
            </a:r>
            <a:r>
              <a:rPr lang="en-US" altLang="en-US" sz="3200" dirty="0">
                <a:ea typeface="MS PGothic" charset="-128"/>
              </a:rPr>
              <a:t>.</a:t>
            </a:r>
          </a:p>
          <a:p>
            <a:endParaRPr lang="en-GB" altLang="en-US" sz="5400" dirty="0">
              <a:ea typeface="MS PGothic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Local variables</a:t>
            </a:r>
          </a:p>
        </p:txBody>
      </p:sp>
      <p:sp>
        <p:nvSpPr>
          <p:cNvPr id="82947" name="Text Box 3"/>
          <p:cNvSpPr txBox="1">
            <a:spLocks noChangeArrowheads="1"/>
          </p:cNvSpPr>
          <p:nvPr/>
        </p:nvSpPr>
        <p:spPr bwMode="auto">
          <a:xfrm>
            <a:off x="4648200" y="2638428"/>
            <a:ext cx="6413935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public int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refundBalance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=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return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1575434" y="3095382"/>
            <a:ext cx="26805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b="0" dirty="0">
                <a:solidFill>
                  <a:srgbClr val="A57133"/>
                </a:solidFill>
              </a:rPr>
              <a:t>A local variable</a:t>
            </a:r>
          </a:p>
        </p:txBody>
      </p:sp>
      <p:sp>
        <p:nvSpPr>
          <p:cNvPr id="82950" name="AutoShape 6"/>
          <p:cNvSpPr>
            <a:spLocks noChangeArrowheads="1"/>
          </p:cNvSpPr>
          <p:nvPr/>
        </p:nvSpPr>
        <p:spPr bwMode="auto">
          <a:xfrm>
            <a:off x="1243553" y="3789040"/>
            <a:ext cx="2209800" cy="2362200"/>
          </a:xfrm>
          <a:prstGeom prst="irregularSeal1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endParaRPr lang="en-GB" altLang="en-US"/>
          </a:p>
        </p:txBody>
      </p:sp>
      <p:sp>
        <p:nvSpPr>
          <p:cNvPr id="82951" name="Text Box 7"/>
          <p:cNvSpPr txBox="1">
            <a:spLocks noChangeArrowheads="1"/>
          </p:cNvSpPr>
          <p:nvPr/>
        </p:nvSpPr>
        <p:spPr bwMode="auto">
          <a:xfrm>
            <a:off x="1703512" y="4509120"/>
            <a:ext cx="15327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No visibility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modifier</a:t>
            </a:r>
          </a:p>
        </p:txBody>
      </p:sp>
      <p:sp>
        <p:nvSpPr>
          <p:cNvPr id="82952" name="Line 8"/>
          <p:cNvSpPr>
            <a:spLocks noChangeShapeType="1"/>
          </p:cNvSpPr>
          <p:nvPr/>
        </p:nvSpPr>
        <p:spPr bwMode="auto">
          <a:xfrm>
            <a:off x="3863752" y="3717032"/>
            <a:ext cx="1584176" cy="0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67E94-1E81-62EA-45B8-32E8C1D84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D2F2-7D85-704D-73A6-DF3360ADB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EFC85F-9C89-C898-F098-B40C94B40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sz="4000" dirty="0"/>
              <a:t>Local variables.</a:t>
            </a:r>
          </a:p>
          <a:p>
            <a:pPr marL="514350" indent="-514350">
              <a:buFont typeface="+mj-lt"/>
              <a:buAutoNum type="arabicPeriod"/>
            </a:pPr>
            <a:endParaRPr lang="en-IE" sz="4000" dirty="0"/>
          </a:p>
          <a:p>
            <a:pPr marL="514350" indent="-514350">
              <a:buFont typeface="+mj-lt"/>
              <a:buAutoNum type="arabicPeriod"/>
            </a:pPr>
            <a:r>
              <a:rPr lang="en-IE" sz="4000" dirty="0"/>
              <a:t>Scope of variables.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8560AD-7EE2-247F-827C-275EFA4045CB}"/>
              </a:ext>
            </a:extLst>
          </p:cNvPr>
          <p:cNvSpPr/>
          <p:nvPr/>
        </p:nvSpPr>
        <p:spPr>
          <a:xfrm>
            <a:off x="611268" y="3082498"/>
            <a:ext cx="4620636" cy="693003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0752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497BC0A-69EA-8943-B754-86476F97F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Variables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14DAD-4B25-40D1-B0D4-D93D4C15D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900E19-5D43-883E-DED1-4771A2A0D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45917"/>
            <a:ext cx="7772400" cy="525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75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0822C-C350-BC86-1C74-42AB079E2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5686AE1-C100-73FA-916B-1A5D8BA90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Variables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7CA28-1B7F-91D9-48A9-C572F923F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389F1C-8F19-736A-4131-02CCB6582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916832"/>
            <a:ext cx="7772400" cy="5254180"/>
          </a:xfrm>
          <a:prstGeom prst="rect">
            <a:avLst/>
          </a:prstGeom>
        </p:spPr>
      </p:pic>
      <p:sp>
        <p:nvSpPr>
          <p:cNvPr id="3" name="Frame 2">
            <a:extLst>
              <a:ext uri="{FF2B5EF4-FFF2-40B4-BE49-F238E27FC236}">
                <a16:creationId xmlns:a16="http://schemas.microsoft.com/office/drawing/2014/main" id="{A549F872-1CC5-E022-D444-CF1B354AE732}"/>
              </a:ext>
            </a:extLst>
          </p:cNvPr>
          <p:cNvSpPr/>
          <p:nvPr/>
        </p:nvSpPr>
        <p:spPr>
          <a:xfrm>
            <a:off x="1919536" y="3073628"/>
            <a:ext cx="7772400" cy="3883764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Line Callout 2 (Border and Accent Bar) 3">
            <a:extLst>
              <a:ext uri="{FF2B5EF4-FFF2-40B4-BE49-F238E27FC236}">
                <a16:creationId xmlns:a16="http://schemas.microsoft.com/office/drawing/2014/main" id="{56B5B196-E1AF-9CED-7951-6E60B699EE34}"/>
              </a:ext>
            </a:extLst>
          </p:cNvPr>
          <p:cNvSpPr/>
          <p:nvPr/>
        </p:nvSpPr>
        <p:spPr>
          <a:xfrm>
            <a:off x="8184232" y="980728"/>
            <a:ext cx="1797968" cy="1386810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8851"/>
              <a:gd name="adj6" fmla="val -11710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Outer block – </a:t>
            </a:r>
            <a:r>
              <a:rPr lang="en-US" dirty="0" err="1">
                <a:solidFill>
                  <a:srgbClr val="FF0000"/>
                </a:solidFill>
              </a:rPr>
              <a:t>instanceVar</a:t>
            </a:r>
            <a:r>
              <a:rPr lang="en-US" dirty="0"/>
              <a:t> is available throughout this block</a:t>
            </a: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8CA8011A-34CD-9465-115E-910C4C2E0291}"/>
              </a:ext>
            </a:extLst>
          </p:cNvPr>
          <p:cNvSpPr/>
          <p:nvPr/>
        </p:nvSpPr>
        <p:spPr>
          <a:xfrm>
            <a:off x="2639616" y="3949662"/>
            <a:ext cx="6408712" cy="1927610"/>
          </a:xfrm>
          <a:prstGeom prst="fram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Line Callout 2 (Border and Accent Bar) 9">
            <a:extLst>
              <a:ext uri="{FF2B5EF4-FFF2-40B4-BE49-F238E27FC236}">
                <a16:creationId xmlns:a16="http://schemas.microsoft.com/office/drawing/2014/main" id="{B6D904CE-C6F0-BF29-0F81-16B36CC736E6}"/>
              </a:ext>
            </a:extLst>
          </p:cNvPr>
          <p:cNvSpPr/>
          <p:nvPr/>
        </p:nvSpPr>
        <p:spPr>
          <a:xfrm>
            <a:off x="7104112" y="3140968"/>
            <a:ext cx="2587824" cy="808694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2248"/>
              <a:gd name="adj6" fmla="val -5457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Method block – </a:t>
            </a:r>
            <a:r>
              <a:rPr lang="en-US" dirty="0">
                <a:solidFill>
                  <a:srgbClr val="FF0000"/>
                </a:solidFill>
              </a:rPr>
              <a:t>param</a:t>
            </a:r>
            <a:r>
              <a:rPr lang="en-US" dirty="0"/>
              <a:t> and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localVar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are both available here </a:t>
            </a:r>
          </a:p>
        </p:txBody>
      </p:sp>
    </p:spTree>
    <p:extLst>
      <p:ext uri="{BB962C8B-B14F-4D97-AF65-F5344CB8AC3E}">
        <p14:creationId xmlns:p14="http://schemas.microsoft.com/office/powerpoint/2010/main" val="112845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>
                <a:ea typeface="MS PGothic" charset="-128"/>
              </a:rPr>
              <a:t>Scope and lifetime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Each block defines a new scope.</a:t>
            </a:r>
          </a:p>
          <a:p>
            <a:pPr lvl="1" eaLnBrk="1" hangingPunct="1"/>
            <a:r>
              <a:rPr lang="en-US" altLang="en-US" dirty="0">
                <a:ea typeface="MS PGothic" charset="-128"/>
              </a:rPr>
              <a:t>Class, method and statement.</a:t>
            </a:r>
          </a:p>
          <a:p>
            <a:pPr marL="382588"/>
            <a:r>
              <a:rPr lang="en-US" altLang="en-US" dirty="0">
                <a:ea typeface="MS PGothic" charset="-128"/>
              </a:rPr>
              <a:t>Scopes may be nested:</a:t>
            </a:r>
          </a:p>
          <a:p>
            <a:pPr lvl="1" eaLnBrk="1" hangingPunct="1"/>
            <a:r>
              <a:rPr lang="en-US" altLang="en-US" dirty="0">
                <a:ea typeface="MS PGothic" charset="-128"/>
              </a:rPr>
              <a:t>statement block inside another block inside a method body inside a class body.</a:t>
            </a:r>
          </a:p>
          <a:p>
            <a:pPr marL="382588"/>
            <a:r>
              <a:rPr lang="en-US" altLang="en-US" dirty="0">
                <a:ea typeface="MS PGothic" charset="-128"/>
              </a:rPr>
              <a:t>Scope is static (textual).</a:t>
            </a:r>
          </a:p>
          <a:p>
            <a:pPr marL="382588"/>
            <a:r>
              <a:rPr lang="en-US" altLang="en-US" dirty="0">
                <a:ea typeface="MS PGothic" charset="-128"/>
              </a:rPr>
              <a:t>Lifetime is dynamic (runtime).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Scope and lifetime</a:t>
            </a:r>
          </a:p>
        </p:txBody>
      </p:sp>
      <p:sp>
        <p:nvSpPr>
          <p:cNvPr id="8499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The scope of a field is its whole class.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The lifetime of a field is the lifetime of its containing object.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The scope of a local variable is the block in which it is declared.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The lifetime of a local variable is the time of execution of the block in which it is declared.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4021528B-859B-0F0C-6479-D9428D88B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a-class-definitions</Template>
  <TotalTime>0</TotalTime>
  <Words>465</Words>
  <Application>Microsoft Office PowerPoint</Application>
  <PresentationFormat>Widescreen</PresentationFormat>
  <Paragraphs>84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MS PGothic</vt:lpstr>
      <vt:lpstr>Arial</vt:lpstr>
      <vt:lpstr>Calibri</vt:lpstr>
      <vt:lpstr>Courier New</vt:lpstr>
      <vt:lpstr>Lucida Grande</vt:lpstr>
      <vt:lpstr>Times New Roman</vt:lpstr>
      <vt:lpstr>a-processing-mouse-event-methods</vt:lpstr>
      <vt:lpstr>Local Variables and Scope of Variables</vt:lpstr>
      <vt:lpstr>Topics list</vt:lpstr>
      <vt:lpstr>To think about</vt:lpstr>
      <vt:lpstr>Unsuccessful attempt</vt:lpstr>
      <vt:lpstr>Local variables</vt:lpstr>
      <vt:lpstr>Local variables</vt:lpstr>
      <vt:lpstr>Topics list</vt:lpstr>
      <vt:lpstr>Scope of Variables</vt:lpstr>
      <vt:lpstr>Scope of Variables</vt:lpstr>
      <vt:lpstr>Scope and lifetime</vt:lpstr>
      <vt:lpstr>Scope and lifetime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First With Java - Chapter 2</dc:title>
  <dc:subject/>
  <dc:creator>David J. Barnes, Michael Kölling</dc:creator>
  <cp:keywords/>
  <dc:description>Copyright © David J. Barnes, Michael Kölling</dc:description>
  <cp:lastModifiedBy>Siobhan Roche</cp:lastModifiedBy>
  <cp:revision>195</cp:revision>
  <cp:lastPrinted>2003-09-01T07:04:41Z</cp:lastPrinted>
  <dcterms:created xsi:type="dcterms:W3CDTF">2009-04-22T19:24:48Z</dcterms:created>
  <dcterms:modified xsi:type="dcterms:W3CDTF">2025-10-06T09:50:43Z</dcterms:modified>
  <cp:category/>
</cp:coreProperties>
</file>