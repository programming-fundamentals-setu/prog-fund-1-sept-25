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55" r:id="rId1"/>
  </p:sldMasterIdLst>
  <p:notesMasterIdLst>
    <p:notesMasterId r:id="rId33"/>
  </p:notesMasterIdLst>
  <p:handoutMasterIdLst>
    <p:handoutMasterId r:id="rId34"/>
  </p:handoutMasterIdLst>
  <p:sldIdLst>
    <p:sldId id="256" r:id="rId2"/>
    <p:sldId id="257" r:id="rId3"/>
    <p:sldId id="272" r:id="rId4"/>
    <p:sldId id="299" r:id="rId5"/>
    <p:sldId id="349" r:id="rId6"/>
    <p:sldId id="273" r:id="rId7"/>
    <p:sldId id="356" r:id="rId8"/>
    <p:sldId id="286" r:id="rId9"/>
    <p:sldId id="358" r:id="rId10"/>
    <p:sldId id="359" r:id="rId11"/>
    <p:sldId id="360" r:id="rId12"/>
    <p:sldId id="357" r:id="rId13"/>
    <p:sldId id="350" r:id="rId14"/>
    <p:sldId id="275" r:id="rId15"/>
    <p:sldId id="276" r:id="rId16"/>
    <p:sldId id="361" r:id="rId17"/>
    <p:sldId id="277" r:id="rId18"/>
    <p:sldId id="362" r:id="rId19"/>
    <p:sldId id="363" r:id="rId20"/>
    <p:sldId id="364" r:id="rId21"/>
    <p:sldId id="367" r:id="rId22"/>
    <p:sldId id="370" r:id="rId23"/>
    <p:sldId id="278" r:id="rId24"/>
    <p:sldId id="368" r:id="rId25"/>
    <p:sldId id="369" r:id="rId26"/>
    <p:sldId id="373" r:id="rId27"/>
    <p:sldId id="279" r:id="rId28"/>
    <p:sldId id="371" r:id="rId29"/>
    <p:sldId id="307" r:id="rId30"/>
    <p:sldId id="372" r:id="rId31"/>
    <p:sldId id="347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F6F5E"/>
    <a:srgbClr val="C81D2B"/>
    <a:srgbClr val="1A3170"/>
    <a:srgbClr val="A57133"/>
    <a:srgbClr val="007E4F"/>
    <a:srgbClr val="009C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083"/>
    <p:restoredTop sz="91408"/>
  </p:normalViewPr>
  <p:slideViewPr>
    <p:cSldViewPr>
      <p:cViewPr varScale="1">
        <p:scale>
          <a:sx n="97" d="100"/>
          <a:sy n="97" d="100"/>
        </p:scale>
        <p:origin x="224" y="42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57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68580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defRPr sz="1200" b="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GB"/>
              <a:t>Objects First with Java</a:t>
            </a:r>
          </a:p>
        </p:txBody>
      </p:sp>
      <p:sp>
        <p:nvSpPr>
          <p:cNvPr id="4710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53340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4710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486400" y="8686800"/>
            <a:ext cx="13716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BD304B27-EDAE-2B42-B931-F4A43A4E72E1}" type="slidenum">
              <a:rPr lang="en-GB" altLang="en-US"/>
              <a:pPr>
                <a:defRPr/>
              </a:pPr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60599150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defRPr sz="1200" b="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GB"/>
              <a:t>Objects First with Java</a:t>
            </a:r>
          </a:p>
        </p:txBody>
      </p:sp>
      <p:sp>
        <p:nvSpPr>
          <p:cNvPr id="4301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b="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4301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</a:p>
        </p:txBody>
      </p:sp>
      <p:sp>
        <p:nvSpPr>
          <p:cNvPr id="4301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4301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86EFD2CC-C5C9-994E-897A-55750BC69004}" type="slidenum">
              <a:rPr lang="en-GB" altLang="en-US"/>
              <a:pPr>
                <a:defRPr/>
              </a:pPr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806599796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18434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1843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7FE2BB65-6B68-B449-A95C-B1A6D9CE7C69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1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1843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22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73158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We will name our variables beginning with a letter and typically containing only letters (no special characters).</a:t>
            </a:r>
          </a:p>
          <a:p>
            <a:endParaRPr lang="en-IE" dirty="0"/>
          </a:p>
          <a:p>
            <a:r>
              <a:rPr lang="en-IE" dirty="0" err="1"/>
              <a:t>CamelCase</a:t>
            </a:r>
            <a:r>
              <a:rPr lang="en-IE" dirty="0"/>
              <a:t> for variables and function names that have multiple words. We capitalize each word except the first</a:t>
            </a:r>
          </a:p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4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863568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7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75778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7577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7FEFF930-7A3E-E440-99D2-D88CF4C2A3B9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6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7578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59398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715942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Operations…e.g. I cannot divide “I Love Programming” by ‘S’.  </a:t>
            </a:r>
          </a:p>
          <a:p>
            <a:endParaRPr lang="en-IE" dirty="0"/>
          </a:p>
          <a:p>
            <a:r>
              <a:rPr lang="en-IE" dirty="0"/>
              <a:t>E.g. Mathematical operations are only available on numeric types.  </a:t>
            </a:r>
          </a:p>
          <a:p>
            <a:r>
              <a:rPr lang="en-IE" dirty="0"/>
              <a:t>E.g. I cannot add ‘S’ to true.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13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495963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2EB1270-B5B3-C54B-92FD-A65FDB01CB4B}" type="slidenum">
              <a:rPr lang="en-US"/>
              <a:pPr/>
              <a:t>14</a:t>
            </a:fld>
            <a:endParaRPr lang="en-US"/>
          </a:p>
        </p:txBody>
      </p:sp>
      <p:sp>
        <p:nvSpPr>
          <p:cNvPr id="337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1555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EBE41AF-339D-7A42-9D51-2FDDE25D24AD}" type="slidenum">
              <a:rPr lang="en-US"/>
              <a:pPr/>
              <a:t>15</a:t>
            </a:fld>
            <a:endParaRPr lang="en-US"/>
          </a:p>
        </p:txBody>
      </p:sp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00428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F449FA9-01C0-0243-BC2B-8E67C5F55CA8}" type="slidenum">
              <a:rPr lang="en-US"/>
              <a:pPr/>
              <a:t>17</a:t>
            </a:fld>
            <a:endParaRPr lang="en-US"/>
          </a:p>
        </p:txBody>
      </p:sp>
      <p:sp>
        <p:nvSpPr>
          <p:cNvPr id="419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usually show them how the minimum and max values for byte are calculated e.g. </a:t>
            </a:r>
          </a:p>
          <a:p>
            <a:r>
              <a:rPr lang="en-US" dirty="0"/>
              <a:t>8-bit is 2 to the power of 8 = 256</a:t>
            </a:r>
          </a:p>
          <a:p>
            <a:endParaRPr lang="en-US" dirty="0"/>
          </a:p>
          <a:p>
            <a:r>
              <a:rPr lang="en-US" dirty="0"/>
              <a:t>To spread this value over the negative/positive number range, divide by two = 128.  so -128 range up to +127, with 0 being on the “positive size”. </a:t>
            </a:r>
          </a:p>
          <a:p>
            <a:r>
              <a:rPr lang="en-US" dirty="0"/>
              <a:t>Then they can always work out the min/max values for the other whole numbers.  </a:t>
            </a:r>
          </a:p>
        </p:txBody>
      </p:sp>
    </p:spTree>
    <p:extLst>
      <p:ext uri="{BB962C8B-B14F-4D97-AF65-F5344CB8AC3E}">
        <p14:creationId xmlns:p14="http://schemas.microsoft.com/office/powerpoint/2010/main" val="32039460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F449FA9-01C0-0243-BC2B-8E67C5F55CA8}" type="slidenum">
              <a:rPr lang="en-US"/>
              <a:pPr/>
              <a:t>23</a:t>
            </a:fld>
            <a:endParaRPr lang="en-US"/>
          </a:p>
        </p:txBody>
      </p:sp>
      <p:sp>
        <p:nvSpPr>
          <p:cNvPr id="419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7368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DDBB281-C514-8742-9D24-3A3D1BD36245}" type="slidenum">
              <a:rPr lang="en-US"/>
              <a:pPr/>
              <a:t>27</a:t>
            </a:fld>
            <a:endParaRPr lang="en-US"/>
          </a:p>
        </p:txBody>
      </p:sp>
      <p:sp>
        <p:nvSpPr>
          <p:cNvPr id="430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30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7011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2706122"/>
      </p:ext>
    </p:extLst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5513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1842234"/>
      </p:ext>
    </p:extLst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5295009"/>
      </p:ext>
    </p:extLst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253533"/>
      </p:ext>
    </p:extLst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1398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97644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3039843"/>
      </p:ext>
    </p:extLst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87663"/>
      </p:ext>
    </p:extLst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3880449"/>
      </p:ext>
    </p:extLst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710341"/>
      </p:ext>
    </p:extLst>
  </p:cSld>
  <p:clrMapOvr>
    <a:masterClrMapping/>
  </p:clrMapOvr>
  <p:hf sldNum="0"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2882446"/>
      </p:ext>
    </p:extLst>
  </p:cSld>
  <p:clrMapOvr>
    <a:masterClrMapping/>
  </p:clrMapOvr>
  <p:hf sldNum="0"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863600" y="2286000"/>
            <a:ext cx="10464801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957115" y="3465604"/>
            <a:ext cx="10134430" cy="846384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F4468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1544" y="6360984"/>
            <a:ext cx="495649" cy="49244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2019814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625600" y="1828800"/>
            <a:ext cx="4876800" cy="4267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6705600" y="1828800"/>
            <a:ext cx="4876800" cy="4267200"/>
          </a:xfrm>
        </p:spPr>
        <p:txBody>
          <a:bodyPr/>
          <a:lstStyle/>
          <a:p>
            <a:pPr lvl="0"/>
            <a:r>
              <a:rPr lang="en-GB" noProof="0"/>
              <a:t>Click icon to add chart</a:t>
            </a:r>
            <a:endParaRPr lang="en-US" noProof="0"/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400534"/>
      </p:ext>
    </p:extLst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10/16/25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7809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56" r:id="rId1"/>
    <p:sldLayoutId id="2147483957" r:id="rId2"/>
    <p:sldLayoutId id="2147483958" r:id="rId3"/>
    <p:sldLayoutId id="2147483959" r:id="rId4"/>
    <p:sldLayoutId id="2147483960" r:id="rId5"/>
    <p:sldLayoutId id="2147483961" r:id="rId6"/>
    <p:sldLayoutId id="2147483962" r:id="rId7"/>
    <p:sldLayoutId id="2147483963" r:id="rId8"/>
    <p:sldLayoutId id="2147483964" r:id="rId9"/>
    <p:sldLayoutId id="2147483965" r:id="rId10"/>
    <p:sldLayoutId id="2147483966" r:id="rId11"/>
    <p:sldLayoutId id="2147483967" r:id="rId12"/>
    <p:sldLayoutId id="2147483968" r:id="rId13"/>
    <p:sldLayoutId id="2147483970" r:id="rId14"/>
  </p:sldLayoutIdLst>
  <p:hf sldNum="0"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://en.wikipedia.org/wiki/List_of_Unicode_characters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09446" y="380999"/>
            <a:ext cx="10464801" cy="1143001"/>
          </a:xfrm>
        </p:spPr>
        <p:txBody>
          <a:bodyPr>
            <a:normAutofit/>
          </a:bodyPr>
          <a:lstStyle/>
          <a:p>
            <a:pPr algn="l"/>
            <a:r>
              <a:rPr lang="en-I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Variables, Data Types &amp; Arithmetic Operators</a:t>
            </a:r>
          </a:p>
        </p:txBody>
      </p:sp>
      <p:sp>
        <p:nvSpPr>
          <p:cNvPr id="17411" name="Text Box 4"/>
          <p:cNvSpPr txBox="1">
            <a:spLocks noChangeArrowheads="1"/>
          </p:cNvSpPr>
          <p:nvPr/>
        </p:nvSpPr>
        <p:spPr bwMode="auto">
          <a:xfrm>
            <a:off x="10050463" y="6537328"/>
            <a:ext cx="365806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0" dirty="0">
                <a:solidFill>
                  <a:schemeClr val="tx1"/>
                </a:solidFill>
              </a:rPr>
              <a:t>7.0</a:t>
            </a: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921513C8-B0FF-BA55-A698-0A8D7677585F}"/>
              </a:ext>
            </a:extLst>
          </p:cNvPr>
          <p:cNvSpPr txBox="1">
            <a:spLocks/>
          </p:cNvSpPr>
          <p:nvPr/>
        </p:nvSpPr>
        <p:spPr>
          <a:xfrm>
            <a:off x="1596259" y="3809999"/>
            <a:ext cx="1866900" cy="106680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/>
              <a:t>by:</a:t>
            </a:r>
            <a:endParaRPr lang="en-IE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E0755C-E815-5AA3-D4B2-32A9F0530610}"/>
              </a:ext>
            </a:extLst>
          </p:cNvPr>
          <p:cNvSpPr txBox="1"/>
          <p:nvPr/>
        </p:nvSpPr>
        <p:spPr>
          <a:xfrm>
            <a:off x="7620000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2BA0C4-2BF0-58D8-E3BD-B3765AC49632}"/>
              </a:ext>
            </a:extLst>
          </p:cNvPr>
          <p:cNvSpPr txBox="1"/>
          <p:nvPr/>
        </p:nvSpPr>
        <p:spPr>
          <a:xfrm>
            <a:off x="3647728" y="3876597"/>
            <a:ext cx="5562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Meagher,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Siobhán Roche.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8FA2458C-C466-1502-FE9B-6FD66EA775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286" y="952499"/>
            <a:ext cx="3524354" cy="2689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E2B1F59-647C-8E2F-55D1-2E9A13AFAC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242" y="5565517"/>
            <a:ext cx="2057400" cy="1153391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E" dirty="0"/>
              <a:t>Variables.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 Keywords, tokens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Data Types.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Java’s Primitive Data Types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Whole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Decimal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Others.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Arithmetic operators.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27448" y="1600201"/>
            <a:ext cx="1440160" cy="388639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35913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E" dirty="0"/>
              <a:t>In Programming, variables:</a:t>
            </a:r>
          </a:p>
          <a:p>
            <a:pPr marL="0" indent="0">
              <a:buNone/>
            </a:pPr>
            <a:endParaRPr lang="en-IE" dirty="0"/>
          </a:p>
          <a:p>
            <a:r>
              <a:rPr lang="en-IE" dirty="0"/>
              <a:t>are created (defined) in your programs.</a:t>
            </a:r>
          </a:p>
          <a:p>
            <a:r>
              <a:rPr lang="en-IE" dirty="0"/>
              <a:t>are used to store data (whose value can change over time).</a:t>
            </a:r>
          </a:p>
          <a:p>
            <a:r>
              <a:rPr lang="en-IE" dirty="0"/>
              <a:t>have a data type.</a:t>
            </a:r>
          </a:p>
          <a:p>
            <a:r>
              <a:rPr lang="en-IE" dirty="0"/>
              <a:t>have a name.</a:t>
            </a:r>
          </a:p>
          <a:p>
            <a:r>
              <a:rPr lang="en-IE" dirty="0"/>
              <a:t>are a VERY important programming concept.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16246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Variable names…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8458200" cy="4525963"/>
          </a:xfrm>
        </p:spPr>
        <p:txBody>
          <a:bodyPr>
            <a:noAutofit/>
          </a:bodyPr>
          <a:lstStyle/>
          <a:p>
            <a:r>
              <a:rPr lang="en-IE" sz="2500" dirty="0"/>
              <a:t>Are case-sensitive. </a:t>
            </a:r>
          </a:p>
          <a:p>
            <a:r>
              <a:rPr lang="en-IE" sz="2500" dirty="0"/>
              <a:t>Begin with either:</a:t>
            </a:r>
          </a:p>
          <a:p>
            <a:pPr lvl="1"/>
            <a:r>
              <a:rPr lang="en-IE" sz="2500" dirty="0"/>
              <a:t>a </a:t>
            </a:r>
            <a:r>
              <a:rPr lang="en-IE" sz="2500" b="1" dirty="0"/>
              <a:t>letter (preferable)</a:t>
            </a:r>
            <a:r>
              <a:rPr lang="en-IE" sz="2500" dirty="0"/>
              <a:t>, </a:t>
            </a:r>
          </a:p>
          <a:p>
            <a:pPr lvl="1"/>
            <a:r>
              <a:rPr lang="en-IE" sz="2500" dirty="0"/>
              <a:t>the dollar sign "$", or</a:t>
            </a:r>
          </a:p>
          <a:p>
            <a:pPr lvl="1"/>
            <a:r>
              <a:rPr lang="en-IE" sz="2500" dirty="0"/>
              <a:t>the underscore character "_". </a:t>
            </a:r>
          </a:p>
          <a:p>
            <a:r>
              <a:rPr lang="en-IE" sz="2500" dirty="0"/>
              <a:t>Can contain letters, digits, dollar signs, or underscore characters. </a:t>
            </a:r>
          </a:p>
          <a:p>
            <a:r>
              <a:rPr lang="en-IE" sz="2500" dirty="0"/>
              <a:t>Can be any length you choose.</a:t>
            </a:r>
          </a:p>
          <a:p>
            <a:r>
              <a:rPr lang="en-IE" sz="2500" dirty="0"/>
              <a:t>Must not be a </a:t>
            </a:r>
            <a:r>
              <a:rPr lang="en-IE" sz="2500" b="1" dirty="0"/>
              <a:t>keyword or reserved word </a:t>
            </a:r>
            <a:r>
              <a:rPr lang="en-IE" sz="2500" dirty="0"/>
              <a:t>e.g. </a:t>
            </a:r>
            <a:r>
              <a:rPr lang="en-IE" sz="2500" dirty="0" err="1"/>
              <a:t>int</a:t>
            </a:r>
            <a:r>
              <a:rPr lang="en-IE" sz="2500" dirty="0"/>
              <a:t>, while, etc.</a:t>
            </a:r>
          </a:p>
          <a:p>
            <a:r>
              <a:rPr lang="en-IE" sz="2500" dirty="0"/>
              <a:t>Cannot contain white spaces.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1584252" y="6519446"/>
            <a:ext cx="89916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IE" sz="1600" dirty="0"/>
              <a:t>https://docs.oracle.com/javase/tutorial/java/nutsandbolts/variables.html</a:t>
            </a:r>
          </a:p>
        </p:txBody>
      </p:sp>
    </p:spTree>
    <p:extLst>
      <p:ext uri="{BB962C8B-B14F-4D97-AF65-F5344CB8AC3E}">
        <p14:creationId xmlns:p14="http://schemas.microsoft.com/office/powerpoint/2010/main" val="749991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Variable names should be carefully chosen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IE" sz="2800" dirty="0"/>
              <a:t>Use full words instead of cryptic abbreviations e.g.</a:t>
            </a:r>
          </a:p>
          <a:p>
            <a:pPr lvl="1"/>
            <a:r>
              <a:rPr lang="en-IE" sz="2400" dirty="0">
                <a:sym typeface="Wingdings" panose="05000000000000000000" pitchFamily="2" charset="2"/>
              </a:rPr>
              <a:t>v</a:t>
            </a:r>
            <a:r>
              <a:rPr lang="en-IE" sz="2400" dirty="0"/>
              <a:t>ariables named </a:t>
            </a:r>
            <a:r>
              <a:rPr lang="en-IE" sz="2400" dirty="0">
                <a:solidFill>
                  <a:srgbClr val="FF0000"/>
                </a:solidFill>
              </a:rPr>
              <a:t>speed</a:t>
            </a:r>
            <a:r>
              <a:rPr lang="en-IE" sz="2400" dirty="0"/>
              <a:t> and </a:t>
            </a:r>
            <a:r>
              <a:rPr lang="en-IE" sz="2400" dirty="0">
                <a:solidFill>
                  <a:srgbClr val="FF0000"/>
                </a:solidFill>
              </a:rPr>
              <a:t>gear</a:t>
            </a:r>
            <a:r>
              <a:rPr lang="en-IE" sz="2400" dirty="0"/>
              <a:t> are much more intuitive than abbreviated versions, such as </a:t>
            </a:r>
            <a:r>
              <a:rPr lang="en-IE" sz="2400" dirty="0">
                <a:solidFill>
                  <a:srgbClr val="FF0000"/>
                </a:solidFill>
              </a:rPr>
              <a:t>s </a:t>
            </a:r>
            <a:r>
              <a:rPr lang="en-IE" sz="2400" dirty="0"/>
              <a:t>and</a:t>
            </a:r>
            <a:r>
              <a:rPr lang="en-IE" sz="2400" dirty="0">
                <a:solidFill>
                  <a:srgbClr val="FF0000"/>
                </a:solidFill>
              </a:rPr>
              <a:t> g</a:t>
            </a:r>
            <a:r>
              <a:rPr lang="en-IE" sz="2400" dirty="0"/>
              <a:t>. </a:t>
            </a:r>
            <a:endParaRPr lang="en-IE" dirty="0"/>
          </a:p>
          <a:p>
            <a:endParaRPr lang="en-IE" sz="2800" dirty="0"/>
          </a:p>
          <a:p>
            <a:r>
              <a:rPr lang="en-IE" sz="2800" dirty="0"/>
              <a:t>If the name consists of:</a:t>
            </a:r>
          </a:p>
          <a:p>
            <a:pPr lvl="1"/>
            <a:r>
              <a:rPr lang="en-IE" sz="2400" dirty="0"/>
              <a:t>only one word, </a:t>
            </a:r>
          </a:p>
          <a:p>
            <a:pPr lvl="2"/>
            <a:r>
              <a:rPr lang="en-IE" sz="2000" dirty="0"/>
              <a:t>spell that word in all lowercase letters e.g. </a:t>
            </a:r>
            <a:r>
              <a:rPr lang="en-IE" sz="2000" dirty="0">
                <a:solidFill>
                  <a:srgbClr val="FF0000"/>
                </a:solidFill>
              </a:rPr>
              <a:t>ratio</a:t>
            </a:r>
            <a:r>
              <a:rPr lang="en-IE" sz="2000" dirty="0"/>
              <a:t>.</a:t>
            </a:r>
          </a:p>
          <a:p>
            <a:pPr lvl="1"/>
            <a:r>
              <a:rPr lang="en-IE" sz="2400" dirty="0"/>
              <a:t>more than one word, </a:t>
            </a:r>
          </a:p>
          <a:p>
            <a:pPr lvl="2"/>
            <a:r>
              <a:rPr lang="en-IE" sz="2000" dirty="0"/>
              <a:t>capitalise the first letter of each subsequent word e.g. </a:t>
            </a:r>
            <a:r>
              <a:rPr lang="en-IE" sz="2000" dirty="0" err="1">
                <a:solidFill>
                  <a:srgbClr val="FF0000"/>
                </a:solidFill>
              </a:rPr>
              <a:t>gearRatio</a:t>
            </a:r>
            <a:r>
              <a:rPr lang="en-IE" sz="2000" dirty="0"/>
              <a:t> and </a:t>
            </a:r>
            <a:r>
              <a:rPr lang="en-IE" sz="2000" dirty="0" err="1">
                <a:solidFill>
                  <a:srgbClr val="FF0000"/>
                </a:solidFill>
              </a:rPr>
              <a:t>currentGear</a:t>
            </a:r>
            <a:r>
              <a:rPr lang="en-IE" sz="2000" dirty="0"/>
              <a:t>. </a:t>
            </a:r>
          </a:p>
          <a:p>
            <a:pPr lvl="2"/>
            <a:r>
              <a:rPr lang="en-IE" sz="2000" dirty="0"/>
              <a:t>This is called </a:t>
            </a:r>
            <a:r>
              <a:rPr lang="en-IE" sz="2000" b="1" dirty="0" err="1"/>
              <a:t>camelCase</a:t>
            </a:r>
            <a:endParaRPr lang="en-IE" sz="2000" b="1" dirty="0"/>
          </a:p>
        </p:txBody>
      </p:sp>
      <p:sp>
        <p:nvSpPr>
          <p:cNvPr id="4" name="Rectangle 3"/>
          <p:cNvSpPr/>
          <p:nvPr/>
        </p:nvSpPr>
        <p:spPr>
          <a:xfrm>
            <a:off x="1584252" y="6519446"/>
            <a:ext cx="89916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IE" sz="1600" dirty="0"/>
              <a:t>https://docs.oracle.com/javase/tutorial/java/nutsandbolts/variables.html</a:t>
            </a:r>
          </a:p>
        </p:txBody>
      </p:sp>
    </p:spTree>
    <p:extLst>
      <p:ext uri="{BB962C8B-B14F-4D97-AF65-F5344CB8AC3E}">
        <p14:creationId xmlns:p14="http://schemas.microsoft.com/office/powerpoint/2010/main" val="710699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>
                <a:ea typeface="MS PGothic" charset="-128"/>
              </a:rPr>
              <a:t>Kinds of variables so far</a:t>
            </a:r>
          </a:p>
        </p:txBody>
      </p:sp>
      <p:sp>
        <p:nvSpPr>
          <p:cNvPr id="74754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</a:pPr>
            <a:r>
              <a:rPr lang="en-US" altLang="en-US" sz="3200" dirty="0">
                <a:ea typeface="MS PGothic" charset="-128"/>
              </a:rPr>
              <a:t>Fields are one sort of variable.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800" dirty="0">
                <a:ea typeface="MS PGothic" charset="-128"/>
              </a:rPr>
              <a:t>They store values through the life of an object.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800" dirty="0">
                <a:ea typeface="MS PGothic" charset="-128"/>
              </a:rPr>
              <a:t>They are accessible throughout the class.</a:t>
            </a:r>
          </a:p>
          <a:p>
            <a:pPr marL="457200" lvl="1" indent="0" eaLnBrk="1" hangingPunct="1">
              <a:lnSpc>
                <a:spcPct val="90000"/>
              </a:lnSpc>
              <a:buNone/>
            </a:pPr>
            <a:endParaRPr lang="en-US" altLang="en-US" sz="2800" dirty="0">
              <a:ea typeface="MS PGothic" charset="-128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en-US" sz="3200" dirty="0">
                <a:ea typeface="MS PGothic" charset="-128"/>
              </a:rPr>
              <a:t>Parameters are another sort of variable: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800" dirty="0">
                <a:ea typeface="MS PGothic" charset="-128"/>
              </a:rPr>
              <a:t>They receive values from outside the method.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800" dirty="0">
                <a:ea typeface="MS PGothic" charset="-128"/>
              </a:rPr>
              <a:t>They help a method complete its task.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800" dirty="0">
                <a:ea typeface="MS PGothic" charset="-128"/>
              </a:rPr>
              <a:t>Each call to the method receives a fresh set of values.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800" dirty="0">
                <a:ea typeface="MS PGothic" charset="-128"/>
              </a:rPr>
              <a:t>Parameter values are short lived.</a:t>
            </a:r>
          </a:p>
          <a:p>
            <a:pPr marL="457200" lvl="1" indent="0" eaLnBrk="1" hangingPunct="1">
              <a:lnSpc>
                <a:spcPct val="90000"/>
              </a:lnSpc>
              <a:buNone/>
            </a:pPr>
            <a:endParaRPr lang="en-US" altLang="en-US" sz="2800" dirty="0">
              <a:ea typeface="MS PGothic" charset="-128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47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47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47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47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47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47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47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47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7475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475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7475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7475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7475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7475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7475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475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754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850A6-40FF-E2A4-1B6D-CB1A0DAA6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BC679-3968-1F7F-0E1B-80EE515CD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9735C08-AE6B-B365-B94B-AB822A2856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E" dirty="0"/>
              <a:t>Variables.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 Keywords, tokens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Data Types.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Java’s Primitive Data Types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Whole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Decimal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Others.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Arithmetic operators.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782BB8A-D393-1643-ACD9-F0115E05AEFB}"/>
              </a:ext>
            </a:extLst>
          </p:cNvPr>
          <p:cNvSpPr/>
          <p:nvPr/>
        </p:nvSpPr>
        <p:spPr>
          <a:xfrm>
            <a:off x="1127448" y="2276872"/>
            <a:ext cx="2664296" cy="388639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80101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en-US" dirty="0">
                <a:ea typeface="MS PGothic" charset="-128"/>
              </a:rPr>
              <a:t>Java Keywords</a:t>
            </a:r>
          </a:p>
        </p:txBody>
      </p:sp>
      <p:sp>
        <p:nvSpPr>
          <p:cNvPr id="29698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altLang="en-US" dirty="0">
                <a:ea typeface="MS PGothic" charset="-128"/>
              </a:rPr>
              <a:t>Words with a special meaning in the language, </a:t>
            </a:r>
            <a:r>
              <a:rPr lang="en-GB" altLang="en-US" dirty="0" err="1">
                <a:ea typeface="MS PGothic" charset="-128"/>
              </a:rPr>
              <a:t>e.g</a:t>
            </a:r>
            <a:r>
              <a:rPr lang="en-GB" altLang="en-US" dirty="0">
                <a:ea typeface="MS PGothic" charset="-128"/>
              </a:rPr>
              <a:t>:</a:t>
            </a:r>
          </a:p>
          <a:p>
            <a:pPr lvl="1"/>
            <a:r>
              <a:rPr lang="en-GB" altLang="en-US" b="1" dirty="0">
                <a:latin typeface="Courier New" charset="0"/>
                <a:ea typeface="MS PGothic" charset="-128"/>
              </a:rPr>
              <a:t>public</a:t>
            </a:r>
          </a:p>
          <a:p>
            <a:pPr lvl="1"/>
            <a:r>
              <a:rPr lang="en-GB" altLang="en-US" b="1" dirty="0">
                <a:latin typeface="Courier New" charset="0"/>
                <a:ea typeface="MS PGothic" charset="-128"/>
              </a:rPr>
              <a:t>class</a:t>
            </a:r>
          </a:p>
          <a:p>
            <a:pPr lvl="1"/>
            <a:r>
              <a:rPr lang="en-GB" altLang="en-US" b="1" dirty="0">
                <a:latin typeface="Courier New" charset="0"/>
                <a:ea typeface="MS PGothic" charset="-128"/>
              </a:rPr>
              <a:t>private</a:t>
            </a:r>
          </a:p>
          <a:p>
            <a:pPr lvl="1"/>
            <a:r>
              <a:rPr lang="en-GB" altLang="en-US" b="1" dirty="0">
                <a:latin typeface="Courier New" charset="0"/>
                <a:ea typeface="MS PGothic" charset="-128"/>
              </a:rPr>
              <a:t>int</a:t>
            </a:r>
          </a:p>
          <a:p>
            <a:r>
              <a:rPr lang="en-GB" altLang="en-US" dirty="0">
                <a:ea typeface="MS PGothic" charset="-128"/>
              </a:rPr>
              <a:t>Also known as </a:t>
            </a:r>
            <a:r>
              <a:rPr lang="en-GB" altLang="en-US" i="1" dirty="0">
                <a:ea typeface="MS PGothic" charset="-128"/>
              </a:rPr>
              <a:t>reserved words</a:t>
            </a:r>
            <a:r>
              <a:rPr lang="en-GB" altLang="en-US" dirty="0">
                <a:ea typeface="MS PGothic" charset="-128"/>
              </a:rPr>
              <a:t>.</a:t>
            </a:r>
          </a:p>
          <a:p>
            <a:r>
              <a:rPr lang="en-GB" altLang="en-US" dirty="0">
                <a:ea typeface="MS PGothic" charset="-128"/>
              </a:rPr>
              <a:t>Special words that the Java language keeps for itself.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96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96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96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96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96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96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96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96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96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96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96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96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96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96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698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Rectangle 2"/>
          <p:cNvSpPr>
            <a:spLocks noGrp="1" noChangeArrowheads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 anchor="ctr">
            <a:normAutofit/>
          </a:bodyPr>
          <a:lstStyle/>
          <a:p>
            <a:r>
              <a:rPr lang="en-GB" altLang="en-US" dirty="0"/>
              <a:t>Keywords – list </a:t>
            </a:r>
          </a:p>
        </p:txBody>
      </p:sp>
      <p:sp>
        <p:nvSpPr>
          <p:cNvPr id="29707" name="Footer Placeholder 3">
            <a:extLst>
              <a:ext uri="{FF2B5EF4-FFF2-40B4-BE49-F238E27FC236}">
                <a16:creationId xmlns:a16="http://schemas.microsoft.com/office/drawing/2014/main" id="{A7F1B9FE-14A3-70D7-6264-B8ADE5886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51D97D-9F87-6B5D-B67B-1A8CCD37FC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0A86C0-0F5C-6C3F-B887-B7187F2594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408" y="2132856"/>
            <a:ext cx="10959169" cy="345874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en-US" dirty="0">
                <a:ea typeface="MS PGothic" charset="-128"/>
              </a:rPr>
              <a:t>Keywords (technical description)</a:t>
            </a:r>
          </a:p>
        </p:txBody>
      </p:sp>
      <p:sp>
        <p:nvSpPr>
          <p:cNvPr id="29698" name="Rectangle 3"/>
          <p:cNvSpPr>
            <a:spLocks noGrp="1" noChangeArrowheads="1"/>
          </p:cNvSpPr>
          <p:nvPr>
            <p:ph idx="1"/>
          </p:nvPr>
        </p:nvSpPr>
        <p:spPr>
          <a:xfrm>
            <a:off x="609600" y="1488749"/>
            <a:ext cx="10972800" cy="4525963"/>
          </a:xfrm>
        </p:spPr>
        <p:txBody>
          <a:bodyPr>
            <a:normAutofit fontScale="92500" lnSpcReduction="20000"/>
          </a:bodyPr>
          <a:lstStyle/>
          <a:p>
            <a:r>
              <a:rPr lang="en-IE" dirty="0"/>
              <a:t>A </a:t>
            </a:r>
            <a:r>
              <a:rPr lang="en-IE" b="1" dirty="0"/>
              <a:t>reserved word</a:t>
            </a:r>
            <a:r>
              <a:rPr lang="en-IE" dirty="0"/>
              <a:t> (or keyword) in Java is a </a:t>
            </a:r>
            <a:r>
              <a:rPr lang="en-IE" b="1" dirty="0"/>
              <a:t>token </a:t>
            </a:r>
            <a:r>
              <a:rPr lang="en-IE" dirty="0"/>
              <a:t>that has a predefined meaning in the language’s grammar and cannot be redefined or used as an identifier.</a:t>
            </a:r>
          </a:p>
          <a:p>
            <a:endParaRPr lang="en-IE" dirty="0"/>
          </a:p>
          <a:p>
            <a:r>
              <a:rPr lang="en-IE" dirty="0"/>
              <a:t>They are part of the Java specification.</a:t>
            </a:r>
          </a:p>
          <a:p>
            <a:endParaRPr lang="en-IE" dirty="0"/>
          </a:p>
          <a:p>
            <a:r>
              <a:rPr lang="en-IE" dirty="0"/>
              <a:t>They are case-sensitive (e.g., Class is not the same as class).</a:t>
            </a:r>
          </a:p>
          <a:p>
            <a:endParaRPr lang="en-IE" dirty="0"/>
          </a:p>
          <a:p>
            <a:r>
              <a:rPr lang="en-IE" dirty="0"/>
              <a:t>Using a reserved word as an identifier results in a compile-time error.</a:t>
            </a:r>
          </a:p>
        </p:txBody>
      </p:sp>
      <p:sp>
        <p:nvSpPr>
          <p:cNvPr id="2" name="Line Callout 1 (Border and Accent Bar) 1">
            <a:extLst>
              <a:ext uri="{FF2B5EF4-FFF2-40B4-BE49-F238E27FC236}">
                <a16:creationId xmlns:a16="http://schemas.microsoft.com/office/drawing/2014/main" id="{33DFBCD9-8C44-EFFF-8019-8437032D8374}"/>
              </a:ext>
            </a:extLst>
          </p:cNvPr>
          <p:cNvSpPr/>
          <p:nvPr/>
        </p:nvSpPr>
        <p:spPr>
          <a:xfrm>
            <a:off x="9782200" y="8316"/>
            <a:ext cx="1800200" cy="1224136"/>
          </a:xfrm>
          <a:prstGeom prst="accentBorderCallout1">
            <a:avLst>
              <a:gd name="adj1" fmla="val 18750"/>
              <a:gd name="adj2" fmla="val -8333"/>
              <a:gd name="adj3" fmla="val 128062"/>
              <a:gd name="adj4" fmla="val -9618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 token is small meaningful piece of code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96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96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96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96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96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96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96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96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3E27C-68C2-C763-5A5A-9CFA2D99D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tokens – let’s </a:t>
            </a:r>
            <a:r>
              <a:rPr lang="en-US" b="1" dirty="0" err="1"/>
              <a:t>tokenise</a:t>
            </a:r>
            <a:r>
              <a:rPr lang="en-US" dirty="0"/>
              <a:t> a </a:t>
            </a:r>
            <a:r>
              <a:rPr lang="en-US" dirty="0" err="1"/>
              <a:t>stmt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8E4090-0156-912F-7FE0-77C6E04684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4AB3976-0788-7610-76D5-5F1856F3CCAB}"/>
              </a:ext>
            </a:extLst>
          </p:cNvPr>
          <p:cNvSpPr/>
          <p:nvPr/>
        </p:nvSpPr>
        <p:spPr>
          <a:xfrm>
            <a:off x="1565423" y="2675050"/>
            <a:ext cx="3090417" cy="1690054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200" dirty="0">
                <a:solidFill>
                  <a:schemeClr val="tx1"/>
                </a:solidFill>
              </a:rPr>
              <a:t>int age = 21</a:t>
            </a:r>
            <a:r>
              <a:rPr lang="en-US" sz="2400" dirty="0">
                <a:solidFill>
                  <a:schemeClr val="tx1"/>
                </a:solidFill>
              </a:rPr>
              <a:t>;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Line Callout 1 (Border and Accent Bar) 5">
            <a:extLst>
              <a:ext uri="{FF2B5EF4-FFF2-40B4-BE49-F238E27FC236}">
                <a16:creationId xmlns:a16="http://schemas.microsoft.com/office/drawing/2014/main" id="{FC7E84E6-84F9-F3CC-D3F4-372157E87CB7}"/>
              </a:ext>
            </a:extLst>
          </p:cNvPr>
          <p:cNvSpPr/>
          <p:nvPr/>
        </p:nvSpPr>
        <p:spPr>
          <a:xfrm>
            <a:off x="449299" y="1612431"/>
            <a:ext cx="2232248" cy="752876"/>
          </a:xfrm>
          <a:prstGeom prst="accentBorderCallout1">
            <a:avLst>
              <a:gd name="adj1" fmla="val 18750"/>
              <a:gd name="adj2" fmla="val -8333"/>
              <a:gd name="adj3" fmla="val 250495"/>
              <a:gd name="adj4" fmla="val 5810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int (a reserved word)</a:t>
            </a:r>
          </a:p>
        </p:txBody>
      </p:sp>
      <p:sp>
        <p:nvSpPr>
          <p:cNvPr id="9" name="Line Callout 1 (Border and Accent Bar) 8">
            <a:extLst>
              <a:ext uri="{FF2B5EF4-FFF2-40B4-BE49-F238E27FC236}">
                <a16:creationId xmlns:a16="http://schemas.microsoft.com/office/drawing/2014/main" id="{725D20E6-6F3F-C54B-EB8B-65C8EA85F349}"/>
              </a:ext>
            </a:extLst>
          </p:cNvPr>
          <p:cNvSpPr/>
          <p:nvPr/>
        </p:nvSpPr>
        <p:spPr>
          <a:xfrm>
            <a:off x="2416200" y="5622515"/>
            <a:ext cx="2671688" cy="752876"/>
          </a:xfrm>
          <a:prstGeom prst="accentBorderCallout1">
            <a:avLst>
              <a:gd name="adj1" fmla="val 18750"/>
              <a:gd name="adj2" fmla="val -8333"/>
              <a:gd name="adj3" fmla="val -263080"/>
              <a:gd name="adj4" fmla="val 939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age (a variable name)</a:t>
            </a:r>
          </a:p>
        </p:txBody>
      </p:sp>
      <p:sp>
        <p:nvSpPr>
          <p:cNvPr id="10" name="Line Callout 1 (Border and Accent Bar) 9">
            <a:extLst>
              <a:ext uri="{FF2B5EF4-FFF2-40B4-BE49-F238E27FC236}">
                <a16:creationId xmlns:a16="http://schemas.microsoft.com/office/drawing/2014/main" id="{32C5C039-2107-E686-DBF5-6753455D0921}"/>
              </a:ext>
            </a:extLst>
          </p:cNvPr>
          <p:cNvSpPr/>
          <p:nvPr/>
        </p:nvSpPr>
        <p:spPr>
          <a:xfrm>
            <a:off x="4511824" y="1612431"/>
            <a:ext cx="2232248" cy="752876"/>
          </a:xfrm>
          <a:prstGeom prst="accentBorderCallout1">
            <a:avLst>
              <a:gd name="adj1" fmla="val 18750"/>
              <a:gd name="adj2" fmla="val -8333"/>
              <a:gd name="adj3" fmla="val 231083"/>
              <a:gd name="adj4" fmla="val -6600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= (an operator)</a:t>
            </a:r>
          </a:p>
        </p:txBody>
      </p:sp>
      <p:sp>
        <p:nvSpPr>
          <p:cNvPr id="11" name="Line Callout 1 (Border and Accent Bar) 10">
            <a:extLst>
              <a:ext uri="{FF2B5EF4-FFF2-40B4-BE49-F238E27FC236}">
                <a16:creationId xmlns:a16="http://schemas.microsoft.com/office/drawing/2014/main" id="{D5B37883-F2A5-4555-7F72-3A467BD9B095}"/>
              </a:ext>
            </a:extLst>
          </p:cNvPr>
          <p:cNvSpPr/>
          <p:nvPr/>
        </p:nvSpPr>
        <p:spPr>
          <a:xfrm>
            <a:off x="8803692" y="5051015"/>
            <a:ext cx="1944216" cy="1143000"/>
          </a:xfrm>
          <a:prstGeom prst="accentBorderCallout1">
            <a:avLst>
              <a:gd name="adj1" fmla="val 18750"/>
              <a:gd name="adj2" fmla="val -8333"/>
              <a:gd name="adj3" fmla="val -116242"/>
              <a:gd name="adj4" fmla="val -27404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21 =(a literal value)</a:t>
            </a:r>
          </a:p>
        </p:txBody>
      </p:sp>
      <p:sp>
        <p:nvSpPr>
          <p:cNvPr id="12" name="Line Callout 1 (Border and Accent Bar) 11">
            <a:extLst>
              <a:ext uri="{FF2B5EF4-FFF2-40B4-BE49-F238E27FC236}">
                <a16:creationId xmlns:a16="http://schemas.microsoft.com/office/drawing/2014/main" id="{18DC195D-9D1B-7DFD-7C75-BDB0F96C297C}"/>
              </a:ext>
            </a:extLst>
          </p:cNvPr>
          <p:cNvSpPr/>
          <p:nvPr/>
        </p:nvSpPr>
        <p:spPr>
          <a:xfrm>
            <a:off x="8826277" y="3316967"/>
            <a:ext cx="1944215" cy="1142999"/>
          </a:xfrm>
          <a:prstGeom prst="accentBorderCallout1">
            <a:avLst>
              <a:gd name="adj1" fmla="val 18750"/>
              <a:gd name="adj2" fmla="val -8333"/>
              <a:gd name="adj3" fmla="val 24605"/>
              <a:gd name="adj4" fmla="val -25998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; (a separator)</a:t>
            </a:r>
          </a:p>
        </p:txBody>
      </p:sp>
    </p:spTree>
    <p:extLst>
      <p:ext uri="{BB962C8B-B14F-4D97-AF65-F5344CB8AC3E}">
        <p14:creationId xmlns:p14="http://schemas.microsoft.com/office/powerpoint/2010/main" val="3951597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8028B-4A4D-F743-8435-C4FC9CC8C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76F33-0319-66D6-BF45-D3B54FD98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3FE2F77-FC70-3B31-3AB1-64A6461EDF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E" dirty="0"/>
              <a:t>Variables.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 Keywords, tokens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Data Types.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Java’s Primitive Data Types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Whole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Decimal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Others.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Arithmetic operators.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BE5764E-4A13-630E-7CE0-246E24ADC8B2}"/>
              </a:ext>
            </a:extLst>
          </p:cNvPr>
          <p:cNvSpPr/>
          <p:nvPr/>
        </p:nvSpPr>
        <p:spPr>
          <a:xfrm>
            <a:off x="1127448" y="2924944"/>
            <a:ext cx="1800200" cy="388639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960566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600200"/>
            <a:ext cx="10560496" cy="4983162"/>
          </a:xfrm>
        </p:spPr>
        <p:txBody>
          <a:bodyPr>
            <a:noAutofit/>
          </a:bodyPr>
          <a:lstStyle/>
          <a:p>
            <a:r>
              <a:rPr lang="en-IE" sz="2800" dirty="0"/>
              <a:t>In Java, when we define a variable, we </a:t>
            </a:r>
            <a:r>
              <a:rPr lang="en-IE" sz="2800" b="1" u="sng" dirty="0"/>
              <a:t>have</a:t>
            </a:r>
            <a:r>
              <a:rPr lang="en-IE" sz="2800" dirty="0"/>
              <a:t> to give it a data type.</a:t>
            </a:r>
          </a:p>
          <a:p>
            <a:endParaRPr lang="en-IE" sz="2800" dirty="0"/>
          </a:p>
          <a:p>
            <a:r>
              <a:rPr lang="en-IE" sz="2800" dirty="0"/>
              <a:t>The data type defines the </a:t>
            </a:r>
            <a:r>
              <a:rPr lang="en-IE" sz="2800" b="1" u="sng" dirty="0"/>
              <a:t>kinds of values</a:t>
            </a:r>
            <a:r>
              <a:rPr lang="en-IE" sz="2800" b="1" dirty="0"/>
              <a:t> </a:t>
            </a:r>
            <a:r>
              <a:rPr lang="en-IE" sz="2800" dirty="0"/>
              <a:t>(data) that can be stored in the variable e.g. </a:t>
            </a:r>
          </a:p>
          <a:p>
            <a:pPr lvl="2"/>
            <a:r>
              <a:rPr lang="en-IE" sz="2800" dirty="0"/>
              <a:t>- 456</a:t>
            </a:r>
          </a:p>
          <a:p>
            <a:pPr lvl="2"/>
            <a:r>
              <a:rPr lang="en-IE" sz="2800" dirty="0"/>
              <a:t>2</a:t>
            </a:r>
          </a:p>
          <a:p>
            <a:pPr lvl="2"/>
            <a:r>
              <a:rPr lang="en-IE" sz="2800" dirty="0"/>
              <a:t>45.7897</a:t>
            </a:r>
          </a:p>
          <a:p>
            <a:pPr marL="914400" lvl="2" indent="0">
              <a:buNone/>
            </a:pPr>
            <a:endParaRPr lang="en-IE" sz="2800" dirty="0"/>
          </a:p>
          <a:p>
            <a:r>
              <a:rPr lang="en-US" sz="2800" dirty="0"/>
              <a:t>The data type also determines the </a:t>
            </a:r>
            <a:r>
              <a:rPr lang="en-US" sz="2800" b="1" u="sng" dirty="0"/>
              <a:t>operations</a:t>
            </a:r>
            <a:r>
              <a:rPr lang="en-US" sz="2800" dirty="0"/>
              <a:t> that may be performed on it.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569317-95B6-AEA3-8D40-0A99CC3F8C03}"/>
              </a:ext>
            </a:extLst>
          </p:cNvPr>
          <p:cNvSpPr txBox="1"/>
          <p:nvPr/>
        </p:nvSpPr>
        <p:spPr>
          <a:xfrm>
            <a:off x="3575720" y="3595807"/>
            <a:ext cx="10225136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en-IE" sz="2800" dirty="0"/>
              <a:t>I Love Programming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en-IE" sz="2800" dirty="0"/>
              <a:t>S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en-IE" sz="2800" dirty="0"/>
              <a:t>true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4019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 </a:t>
            </a:r>
          </a:p>
        </p:txBody>
      </p:sp>
      <p:sp>
        <p:nvSpPr>
          <p:cNvPr id="317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r>
              <a:rPr lang="en-US" dirty="0"/>
              <a:t>Java uses two kinds of data types:</a:t>
            </a:r>
          </a:p>
          <a:p>
            <a:pPr lvl="1"/>
            <a:r>
              <a:rPr lang="en-US" b="1" dirty="0"/>
              <a:t>Primitive</a:t>
            </a:r>
            <a:r>
              <a:rPr lang="en-US" dirty="0"/>
              <a:t> types</a:t>
            </a:r>
          </a:p>
          <a:p>
            <a:pPr lvl="1"/>
            <a:r>
              <a:rPr lang="en-US" b="1" dirty="0"/>
              <a:t>Object</a:t>
            </a:r>
            <a:r>
              <a:rPr lang="en-US" dirty="0"/>
              <a:t> types</a:t>
            </a:r>
          </a:p>
          <a:p>
            <a:pPr lvl="1"/>
            <a:endParaRPr lang="en-US" dirty="0"/>
          </a:p>
          <a:p>
            <a:r>
              <a:rPr lang="en-US" dirty="0"/>
              <a:t>We are only looking at </a:t>
            </a:r>
            <a:r>
              <a:rPr lang="en-US" b="1" dirty="0">
                <a:solidFill>
                  <a:srgbClr val="FF0000"/>
                </a:solidFill>
              </a:rPr>
              <a:t>Primitive</a:t>
            </a:r>
            <a:r>
              <a:rPr lang="en-US" dirty="0"/>
              <a:t> types now; we will cover Object types later in the module.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8080756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Java’s Primitive Data Types</a:t>
            </a:r>
          </a:p>
        </p:txBody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Java programming language supports </a:t>
            </a:r>
            <a:r>
              <a:rPr lang="en-US" u="sng" dirty="0"/>
              <a:t>eight</a:t>
            </a:r>
            <a:r>
              <a:rPr lang="en-US" dirty="0"/>
              <a:t>  primitive data types. </a:t>
            </a:r>
          </a:p>
          <a:p>
            <a:pPr>
              <a:buFont typeface="Wingdings" charset="2"/>
              <a:buNone/>
            </a:pPr>
            <a:endParaRPr lang="en-US" dirty="0"/>
          </a:p>
          <a:p>
            <a:r>
              <a:rPr lang="en-US" dirty="0"/>
              <a:t>A primitive type is predefined by the language and is named by a </a:t>
            </a:r>
            <a:r>
              <a:rPr lang="en-US" u="sng" dirty="0"/>
              <a:t>reserved keyword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/>
              <a:t>A primitive type is highlighted red when it is typed into the </a:t>
            </a:r>
            <a:r>
              <a:rPr lang="en-US" dirty="0" err="1"/>
              <a:t>BlueJ</a:t>
            </a:r>
            <a:r>
              <a:rPr lang="en-US" dirty="0"/>
              <a:t> editor e.g.</a:t>
            </a:r>
          </a:p>
          <a:p>
            <a:pPr marL="0" indent="0">
              <a:buNone/>
            </a:pPr>
            <a:r>
              <a:rPr lang="en-US" sz="3800" dirty="0"/>
              <a:t>	</a:t>
            </a:r>
            <a:r>
              <a:rPr lang="en-US" sz="2800" b="1" dirty="0" err="1">
                <a:solidFill>
                  <a:srgbClr val="FF0000"/>
                </a:solidFill>
                <a:latin typeface="Anonymous" pitchFamily="49" charset="0"/>
              </a:rPr>
              <a:t>int</a:t>
            </a:r>
            <a:r>
              <a:rPr lang="en-US" sz="2800" b="1" dirty="0">
                <a:solidFill>
                  <a:srgbClr val="FF0000"/>
                </a:solidFill>
                <a:latin typeface="Anonymous" pitchFamily="49" charset="0"/>
              </a:rPr>
              <a:t> </a:t>
            </a:r>
            <a:r>
              <a:rPr lang="en-US" sz="2800" b="1" dirty="0" err="1">
                <a:latin typeface="Anonymous" pitchFamily="49" charset="0"/>
              </a:rPr>
              <a:t>numberOfItems</a:t>
            </a:r>
            <a:r>
              <a:rPr lang="en-US" sz="2800" b="1" dirty="0">
                <a:latin typeface="Anonymous" pitchFamily="49" charset="0"/>
              </a:rPr>
              <a:t>;</a:t>
            </a:r>
          </a:p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  <a:latin typeface="Anonymous" pitchFamily="49" charset="0"/>
              </a:rPr>
              <a:t>	</a:t>
            </a:r>
            <a:r>
              <a:rPr lang="en-US" sz="2800" b="1" dirty="0" err="1">
                <a:solidFill>
                  <a:srgbClr val="FF0000"/>
                </a:solidFill>
                <a:latin typeface="Anonymous" pitchFamily="49" charset="0"/>
              </a:rPr>
              <a:t>boolean</a:t>
            </a:r>
            <a:r>
              <a:rPr lang="en-US" sz="2800" b="1" dirty="0">
                <a:solidFill>
                  <a:srgbClr val="FF0000"/>
                </a:solidFill>
                <a:latin typeface="Anonymous" pitchFamily="49" charset="0"/>
              </a:rPr>
              <a:t> </a:t>
            </a:r>
            <a:r>
              <a:rPr lang="en-US" sz="2800" b="1" dirty="0" err="1">
                <a:latin typeface="Anonymous" pitchFamily="49" charset="0"/>
              </a:rPr>
              <a:t>isAlive</a:t>
            </a:r>
            <a:endParaRPr lang="en-US" sz="2800" b="1" dirty="0">
              <a:latin typeface="Anonymous" pitchFamily="49" charset="0"/>
            </a:endParaRPr>
          </a:p>
          <a:p>
            <a:pPr marL="0" indent="0">
              <a:buNone/>
            </a:pPr>
            <a:r>
              <a:rPr lang="en-US" sz="2800" b="1" dirty="0">
                <a:latin typeface="Anonymous" pitchFamily="49" charset="0"/>
              </a:rPr>
              <a:t>	</a:t>
            </a:r>
            <a:r>
              <a:rPr lang="en-US" sz="2800" b="1" dirty="0">
                <a:solidFill>
                  <a:srgbClr val="FF0000"/>
                </a:solidFill>
                <a:latin typeface="Anonymous" pitchFamily="49" charset="0"/>
              </a:rPr>
              <a:t>float</a:t>
            </a:r>
            <a:r>
              <a:rPr lang="en-US" sz="2800" b="1" dirty="0">
                <a:latin typeface="Anonymous" pitchFamily="49" charset="0"/>
              </a:rPr>
              <a:t> </a:t>
            </a:r>
            <a:r>
              <a:rPr lang="en-US" sz="2800" b="1" dirty="0" err="1">
                <a:latin typeface="Anonymous" pitchFamily="49" charset="0"/>
              </a:rPr>
              <a:t>sizeOfSquare</a:t>
            </a:r>
            <a:r>
              <a:rPr lang="en-US" sz="2800" b="1" dirty="0">
                <a:latin typeface="Anonymous" pitchFamily="49" charset="0"/>
              </a:rPr>
              <a:t>;</a:t>
            </a:r>
            <a:endParaRPr lang="en-US" sz="3800" b="1" dirty="0"/>
          </a:p>
          <a:p>
            <a:pPr lvl="1"/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4915602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8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8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8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8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86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86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86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86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86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86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86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86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7D312-90AE-8F5E-F1F6-EB010F72A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0D404-E3C5-80CA-6DE7-12F3855D6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1076467-04CD-802E-5F6A-2A407CC06E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E" dirty="0"/>
              <a:t>Variables.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 Keywords, tokens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Data Types.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Java’s Primitive Data Types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Whole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Decimal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Others.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Arithmetic operators.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2AF2C8-72BC-404B-59A2-06E737042482}"/>
              </a:ext>
            </a:extLst>
          </p:cNvPr>
          <p:cNvSpPr/>
          <p:nvPr/>
        </p:nvSpPr>
        <p:spPr>
          <a:xfrm>
            <a:off x="1055440" y="4293096"/>
            <a:ext cx="3240360" cy="964703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3" name="Left Arrow 2">
            <a:extLst>
              <a:ext uri="{FF2B5EF4-FFF2-40B4-BE49-F238E27FC236}">
                <a16:creationId xmlns:a16="http://schemas.microsoft.com/office/drawing/2014/main" id="{D05BEE3B-8495-0439-3468-9AD2468F0451}"/>
              </a:ext>
            </a:extLst>
          </p:cNvPr>
          <p:cNvSpPr/>
          <p:nvPr/>
        </p:nvSpPr>
        <p:spPr>
          <a:xfrm>
            <a:off x="4511824" y="4293096"/>
            <a:ext cx="2057400" cy="228600"/>
          </a:xfrm>
          <a:prstGeom prst="lef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3039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Java’s Primitive Data Types (whole numbers)</a:t>
            </a:r>
          </a:p>
        </p:txBody>
      </p:sp>
      <p:sp>
        <p:nvSpPr>
          <p:cNvPr id="378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  <a:p>
            <a:endParaRPr lang="en-US" dirty="0"/>
          </a:p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752600" y="1752600"/>
          <a:ext cx="8686800" cy="470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Type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Byte-size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Minimum value</a:t>
                      </a:r>
                      <a:r>
                        <a:rPr lang="en-IE" baseline="0" dirty="0"/>
                        <a:t> (inclusive)</a:t>
                      </a:r>
                      <a:endParaRPr lang="en-IE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Maximum value </a:t>
                      </a:r>
                      <a:r>
                        <a:rPr lang="en-IE" baseline="0" dirty="0"/>
                        <a:t>(inclusive)</a:t>
                      </a:r>
                      <a:endParaRPr lang="en-IE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Typical Use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2320">
                <a:tc>
                  <a:txBody>
                    <a:bodyPr/>
                    <a:lstStyle/>
                    <a:p>
                      <a:pPr algn="l"/>
                      <a:r>
                        <a:rPr lang="en-IE" sz="2400" dirty="0">
                          <a:solidFill>
                            <a:srgbClr val="FF0000"/>
                          </a:solidFill>
                        </a:rPr>
                        <a:t>byte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IE" sz="2400" dirty="0"/>
                        <a:t>8-bit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127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Useful in applications where memory savings apply.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 algn="l"/>
                      <a:r>
                        <a:rPr lang="en-IE" sz="2400" dirty="0">
                          <a:solidFill>
                            <a:srgbClr val="FF0000"/>
                          </a:solidFill>
                        </a:rPr>
                        <a:t>short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IE" sz="2400" dirty="0"/>
                        <a:t>16-bit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-32,768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32,767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IE" sz="2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 algn="l"/>
                      <a:r>
                        <a:rPr lang="en-IE" sz="2400" dirty="0" err="1">
                          <a:solidFill>
                            <a:srgbClr val="FF0000"/>
                          </a:solidFill>
                        </a:rPr>
                        <a:t>int</a:t>
                      </a:r>
                      <a:endParaRPr lang="en-IE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IE" sz="2400" dirty="0"/>
                        <a:t>32-bit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-2,147,483,648</a:t>
                      </a:r>
                      <a:endParaRPr lang="en-IE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2,147,483,647</a:t>
                      </a:r>
                      <a:endParaRPr lang="en-IE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Default</a:t>
                      </a:r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choice.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 algn="l"/>
                      <a:r>
                        <a:rPr lang="en-IE" sz="2400" dirty="0">
                          <a:solidFill>
                            <a:srgbClr val="FF0000"/>
                          </a:solidFill>
                        </a:rPr>
                        <a:t>long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E" sz="2400" dirty="0"/>
                        <a:t>64-bit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-9,223,372,036,854,775,808</a:t>
                      </a:r>
                      <a:endParaRPr lang="en-IE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9,223,372,036,854,775,807</a:t>
                      </a:r>
                      <a:endParaRPr lang="en-IE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Used when you need a data type</a:t>
                      </a:r>
                      <a:r>
                        <a:rPr lang="en-IE" sz="24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with a range of values larger than that provided by int.</a:t>
                      </a:r>
                      <a:endParaRPr lang="en-IE" sz="2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Doughnut 2">
            <a:extLst>
              <a:ext uri="{FF2B5EF4-FFF2-40B4-BE49-F238E27FC236}">
                <a16:creationId xmlns:a16="http://schemas.microsoft.com/office/drawing/2014/main" id="{F72AED47-39AD-FA4F-D38B-A8137ACAE7E5}"/>
              </a:ext>
            </a:extLst>
          </p:cNvPr>
          <p:cNvSpPr/>
          <p:nvPr/>
        </p:nvSpPr>
        <p:spPr>
          <a:xfrm>
            <a:off x="983432" y="3717032"/>
            <a:ext cx="2160240" cy="864096"/>
          </a:xfrm>
          <a:prstGeom prst="donu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Line Callout 1 (Border and Accent Bar) 3">
            <a:extLst>
              <a:ext uri="{FF2B5EF4-FFF2-40B4-BE49-F238E27FC236}">
                <a16:creationId xmlns:a16="http://schemas.microsoft.com/office/drawing/2014/main" id="{509CE2AD-4300-5E78-4DB0-DA411A69A70C}"/>
              </a:ext>
            </a:extLst>
          </p:cNvPr>
          <p:cNvSpPr/>
          <p:nvPr/>
        </p:nvSpPr>
        <p:spPr>
          <a:xfrm>
            <a:off x="348444" y="5314657"/>
            <a:ext cx="2808312" cy="1256079"/>
          </a:xfrm>
          <a:prstGeom prst="accentBorderCallout1">
            <a:avLst>
              <a:gd name="adj1" fmla="val 18750"/>
              <a:gd name="adj2" fmla="val -8333"/>
              <a:gd name="adj3" fmla="val -67454"/>
              <a:gd name="adj4" fmla="val 33388"/>
            </a:avLst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We will mostly use int for whole numbers</a:t>
            </a:r>
          </a:p>
        </p:txBody>
      </p:sp>
    </p:spTree>
    <p:extLst>
      <p:ext uri="{BB962C8B-B14F-4D97-AF65-F5344CB8AC3E}">
        <p14:creationId xmlns:p14="http://schemas.microsoft.com/office/powerpoint/2010/main" val="85903099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FF1B9-FBE7-7C3A-2EAC-613F23232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Declaring variables of a specific type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A36335-4F2F-1A1D-C8B2-2EFEB6DE1A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6405E61-3380-23D3-C016-A56308DD0A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070" y="1700808"/>
            <a:ext cx="9419860" cy="4443124"/>
          </a:xfrm>
          <a:prstGeom prst="rect">
            <a:avLst/>
          </a:prstGeom>
        </p:spPr>
      </p:pic>
      <p:sp>
        <p:nvSpPr>
          <p:cNvPr id="9" name="Doughnut 8">
            <a:extLst>
              <a:ext uri="{FF2B5EF4-FFF2-40B4-BE49-F238E27FC236}">
                <a16:creationId xmlns:a16="http://schemas.microsoft.com/office/drawing/2014/main" id="{ED338675-C25D-3EA9-77CD-BF0B829369E4}"/>
              </a:ext>
            </a:extLst>
          </p:cNvPr>
          <p:cNvSpPr/>
          <p:nvPr/>
        </p:nvSpPr>
        <p:spPr>
          <a:xfrm>
            <a:off x="1199456" y="3429000"/>
            <a:ext cx="4680520" cy="1728192"/>
          </a:xfrm>
          <a:prstGeom prst="donu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7846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95555-B3F3-95AB-C800-60CA487F2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8480" y="227014"/>
            <a:ext cx="10972800" cy="1143000"/>
          </a:xfrm>
        </p:spPr>
        <p:txBody>
          <a:bodyPr/>
          <a:lstStyle/>
          <a:p>
            <a:r>
              <a:rPr lang="en-US" dirty="0"/>
              <a:t>Declaring variables of a specific type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6E6C25-FF12-70EB-E455-8EBCB0428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014E27D-BB66-686F-69C4-B1C73E320C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7468" y="1581939"/>
            <a:ext cx="9577064" cy="5049047"/>
          </a:xfrm>
          <a:prstGeom prst="rect">
            <a:avLst/>
          </a:prstGeom>
        </p:spPr>
      </p:pic>
      <p:sp>
        <p:nvSpPr>
          <p:cNvPr id="10" name="Frame 9">
            <a:extLst>
              <a:ext uri="{FF2B5EF4-FFF2-40B4-BE49-F238E27FC236}">
                <a16:creationId xmlns:a16="http://schemas.microsoft.com/office/drawing/2014/main" id="{DB575705-881E-A512-DAAC-6068C4BFFE54}"/>
              </a:ext>
            </a:extLst>
          </p:cNvPr>
          <p:cNvSpPr/>
          <p:nvPr/>
        </p:nvSpPr>
        <p:spPr>
          <a:xfrm>
            <a:off x="1919536" y="5226335"/>
            <a:ext cx="8964996" cy="805979"/>
          </a:xfrm>
          <a:prstGeom prst="fram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Frame 10">
            <a:extLst>
              <a:ext uri="{FF2B5EF4-FFF2-40B4-BE49-F238E27FC236}">
                <a16:creationId xmlns:a16="http://schemas.microsoft.com/office/drawing/2014/main" id="{7630E112-F0D9-DE22-2379-01320B5098DE}"/>
              </a:ext>
            </a:extLst>
          </p:cNvPr>
          <p:cNvSpPr/>
          <p:nvPr/>
        </p:nvSpPr>
        <p:spPr>
          <a:xfrm>
            <a:off x="1919536" y="4420356"/>
            <a:ext cx="8964996" cy="805979"/>
          </a:xfrm>
          <a:prstGeom prst="fra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Line Callout 1 (Border and Accent Bar) 4">
            <a:extLst>
              <a:ext uri="{FF2B5EF4-FFF2-40B4-BE49-F238E27FC236}">
                <a16:creationId xmlns:a16="http://schemas.microsoft.com/office/drawing/2014/main" id="{93889B07-AE43-C27E-5ED7-8A13D5EBEFD9}"/>
              </a:ext>
            </a:extLst>
          </p:cNvPr>
          <p:cNvSpPr/>
          <p:nvPr/>
        </p:nvSpPr>
        <p:spPr>
          <a:xfrm>
            <a:off x="8256240" y="3001051"/>
            <a:ext cx="2880320" cy="1207380"/>
          </a:xfrm>
          <a:prstGeom prst="accentBorderCallout1">
            <a:avLst>
              <a:gd name="adj1" fmla="val 18750"/>
              <a:gd name="adj2" fmla="val -8333"/>
              <a:gd name="adj3" fmla="val 118326"/>
              <a:gd name="adj4" fmla="val -8473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We can assign a value at the same time as declaration. This is called </a:t>
            </a:r>
            <a:r>
              <a:rPr lang="en-US" dirty="0">
                <a:solidFill>
                  <a:srgbClr val="FF0000"/>
                </a:solidFill>
              </a:rPr>
              <a:t>defining the variable</a:t>
            </a:r>
          </a:p>
        </p:txBody>
      </p:sp>
    </p:spTree>
    <p:extLst>
      <p:ext uri="{BB962C8B-B14F-4D97-AF65-F5344CB8AC3E}">
        <p14:creationId xmlns:p14="http://schemas.microsoft.com/office/powerpoint/2010/main" val="3548708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84510-90E5-1EB5-72D8-563038777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Declaring variables – some errors - 1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73A5430-6101-8C0B-5627-6075E6B0B8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/>
          <a:p>
            <a:r>
              <a:rPr lang="en-US" sz="4000" dirty="0"/>
              <a:t>Data types are case sensitive </a:t>
            </a:r>
          </a:p>
          <a:p>
            <a:pPr lvl="1"/>
            <a:r>
              <a:rPr lang="en-US" sz="3200" dirty="0">
                <a:solidFill>
                  <a:srgbClr val="FF0000"/>
                </a:solidFill>
              </a:rPr>
              <a:t>Int</a:t>
            </a:r>
            <a:r>
              <a:rPr lang="en-US" sz="3200" dirty="0"/>
              <a:t> is not valid</a:t>
            </a:r>
          </a:p>
          <a:p>
            <a:pPr lvl="1"/>
            <a:r>
              <a:rPr lang="en-US" sz="3200" dirty="0">
                <a:solidFill>
                  <a:srgbClr val="00B050"/>
                </a:solidFill>
              </a:rPr>
              <a:t>int</a:t>
            </a:r>
            <a:r>
              <a:rPr lang="en-US" sz="3200" dirty="0"/>
              <a:t> is valid</a:t>
            </a:r>
          </a:p>
        </p:txBody>
      </p:sp>
      <p:sp>
        <p:nvSpPr>
          <p:cNvPr id="6" name="Line Callout 1 (Border and Accent Bar) 5">
            <a:extLst>
              <a:ext uri="{FF2B5EF4-FFF2-40B4-BE49-F238E27FC236}">
                <a16:creationId xmlns:a16="http://schemas.microsoft.com/office/drawing/2014/main" id="{ECBED942-406C-2E81-FA26-A03AA949CD0D}"/>
              </a:ext>
            </a:extLst>
          </p:cNvPr>
          <p:cNvSpPr/>
          <p:nvPr/>
        </p:nvSpPr>
        <p:spPr>
          <a:xfrm>
            <a:off x="6193368" y="1535113"/>
            <a:ext cx="5389033" cy="63976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GB" sz="1900" b="1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If you right-click on red underline, </a:t>
            </a:r>
            <a:r>
              <a:rPr lang="en-GB" sz="1900" b="1" kern="1200" dirty="0" err="1">
                <a:solidFill>
                  <a:schemeClr val="bg1"/>
                </a:solidFill>
                <a:latin typeface="+mn-lt"/>
                <a:ea typeface="+mn-ea"/>
                <a:cs typeface="+mn-cs"/>
              </a:rPr>
              <a:t>BlueJ</a:t>
            </a:r>
            <a:r>
              <a:rPr lang="en-GB" sz="1900" b="1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 will help you fix the error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AF089B1-63C5-3535-2257-1B724C8357C5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/>
          <a:srcRect r="7595" b="-3"/>
          <a:stretch>
            <a:fillRect/>
          </a:stretch>
        </p:blipFill>
        <p:spPr>
          <a:xfrm>
            <a:off x="6193368" y="2174875"/>
            <a:ext cx="5389033" cy="3951288"/>
          </a:xfrm>
          <a:prstGeom prst="rect">
            <a:avLst/>
          </a:prstGeom>
          <a:noFill/>
        </p:spPr>
      </p:pic>
      <p:sp>
        <p:nvSpPr>
          <p:cNvPr id="15" name="Footer Placeholder 6">
            <a:extLst>
              <a:ext uri="{FF2B5EF4-FFF2-40B4-BE49-F238E27FC236}">
                <a16:creationId xmlns:a16="http://schemas.microsoft.com/office/drawing/2014/main" id="{1DC98A19-719C-024E-976B-D1302E406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Line Callout 1 (Border and Accent Bar) 6">
            <a:extLst>
              <a:ext uri="{FF2B5EF4-FFF2-40B4-BE49-F238E27FC236}">
                <a16:creationId xmlns:a16="http://schemas.microsoft.com/office/drawing/2014/main" id="{7F4BAF34-8F93-763F-AD1C-C5224BD167C9}"/>
              </a:ext>
            </a:extLst>
          </p:cNvPr>
          <p:cNvSpPr/>
          <p:nvPr/>
        </p:nvSpPr>
        <p:spPr>
          <a:xfrm>
            <a:off x="4007768" y="4839402"/>
            <a:ext cx="1609536" cy="1666058"/>
          </a:xfrm>
          <a:prstGeom prst="accentBorderCallout1">
            <a:avLst>
              <a:gd name="adj1" fmla="val 15701"/>
              <a:gd name="adj2" fmla="val 103186"/>
              <a:gd name="adj3" fmla="val 7814"/>
              <a:gd name="adj4" fmla="val 223631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GB" b="1" dirty="0">
                <a:solidFill>
                  <a:schemeClr val="tx1"/>
                </a:solidFill>
              </a:rPr>
              <a:t>Red underline indicates that there is a syntax error. </a:t>
            </a:r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110D0A74-82AA-AF2F-E846-395ED8E72C95}"/>
              </a:ext>
            </a:extLst>
          </p:cNvPr>
          <p:cNvSpPr/>
          <p:nvPr/>
        </p:nvSpPr>
        <p:spPr>
          <a:xfrm rot="1548875">
            <a:off x="10013313" y="2044955"/>
            <a:ext cx="484632" cy="2952328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619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build="p"/>
      <p:bldP spid="6" grpId="0" animBg="1"/>
      <p:bldP spid="7" grpId="0" animBg="1"/>
      <p:bldP spid="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FEF6A1B6-5BB0-141D-92F7-56C4126B05B8}"/>
              </a:ext>
            </a:extLst>
          </p:cNvPr>
          <p:cNvSpPr txBox="1">
            <a:spLocks/>
          </p:cNvSpPr>
          <p:nvPr/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spcAft>
                <a:spcPts val="600"/>
              </a:spcAft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Declaring variables – some errors - 2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9D40B67E-BEC1-0DF1-23DA-6F34C2B2A2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07368" y="2708920"/>
            <a:ext cx="5384800" cy="4525963"/>
          </a:xfrm>
        </p:spPr>
        <p:txBody>
          <a:bodyPr/>
          <a:lstStyle/>
          <a:p>
            <a:r>
              <a:rPr lang="en-US" dirty="0"/>
              <a:t>You can only have one declaration of any variable in a context.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24B22CE-4054-9142-1DC0-975F7B9AB8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292" y="1838047"/>
            <a:ext cx="6544057" cy="4040955"/>
          </a:xfrm>
          <a:prstGeom prst="rect">
            <a:avLst/>
          </a:prstGeom>
          <a:noFill/>
        </p:spPr>
      </p:pic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BCF0BC1E-BB31-0BF1-7837-35A52FAF9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9314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B53BA-DD11-31F9-4F42-F5080AD95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D581B-E0EE-6F64-CD56-F00EFE6C8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C600019-935E-A74B-5C5D-BEDC1D8332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E" dirty="0"/>
              <a:t>Variables.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 Keywords, tokens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Data Types.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Java’s Primitive Data Types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Whole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Decimal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Others.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Arithmetic operators.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6DEC47B-C82E-88AE-1FDE-6F52EF2FCF2C}"/>
              </a:ext>
            </a:extLst>
          </p:cNvPr>
          <p:cNvSpPr/>
          <p:nvPr/>
        </p:nvSpPr>
        <p:spPr>
          <a:xfrm>
            <a:off x="1055440" y="4293096"/>
            <a:ext cx="3240360" cy="964703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3" name="Left Arrow 2">
            <a:extLst>
              <a:ext uri="{FF2B5EF4-FFF2-40B4-BE49-F238E27FC236}">
                <a16:creationId xmlns:a16="http://schemas.microsoft.com/office/drawing/2014/main" id="{33A6DFA6-341A-7144-71E0-46FF98841964}"/>
              </a:ext>
            </a:extLst>
          </p:cNvPr>
          <p:cNvSpPr/>
          <p:nvPr/>
        </p:nvSpPr>
        <p:spPr>
          <a:xfrm>
            <a:off x="4511824" y="4661147"/>
            <a:ext cx="2057400" cy="228600"/>
          </a:xfrm>
          <a:prstGeom prst="lef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45563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Java’s Primitive Data Types (decimal numbers)</a:t>
            </a:r>
          </a:p>
        </p:txBody>
      </p:sp>
      <p:sp>
        <p:nvSpPr>
          <p:cNvPr id="378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  <a:p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81200" y="1676400"/>
          <a:ext cx="8305800" cy="40300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14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8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287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44508">
                <a:tc>
                  <a:txBody>
                    <a:bodyPr/>
                    <a:lstStyle/>
                    <a:p>
                      <a:r>
                        <a:rPr lang="en-IE" dirty="0"/>
                        <a:t>Type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Byte-size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Minimum value</a:t>
                      </a:r>
                      <a:r>
                        <a:rPr lang="en-IE" baseline="0" dirty="0"/>
                        <a:t> (inclusive)</a:t>
                      </a:r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Maximum value </a:t>
                      </a:r>
                      <a:r>
                        <a:rPr lang="en-IE" baseline="0" dirty="0"/>
                        <a:t>(inclusive)</a:t>
                      </a:r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Typical Use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60454">
                <a:tc>
                  <a:txBody>
                    <a:bodyPr/>
                    <a:lstStyle/>
                    <a:p>
                      <a:endParaRPr lang="en-IE" sz="2000" dirty="0">
                        <a:solidFill>
                          <a:srgbClr val="FF0000"/>
                        </a:solidFill>
                      </a:endParaRPr>
                    </a:p>
                    <a:p>
                      <a:r>
                        <a:rPr lang="en-IE" sz="2000" dirty="0">
                          <a:solidFill>
                            <a:srgbClr val="FF0000"/>
                          </a:solidFill>
                        </a:rPr>
                        <a:t>float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IE" sz="2000" dirty="0"/>
                    </a:p>
                    <a:p>
                      <a:r>
                        <a:rPr lang="en-IE" sz="2000" dirty="0"/>
                        <a:t>32-bit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 gridSpan="2"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IE" sz="2000" i="1" kern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l" defTabSz="914400" rtl="0" eaLnBrk="1" latinLnBrk="0" hangingPunct="1"/>
                      <a:endParaRPr lang="en-IE" sz="2000" i="1" kern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l" defTabSz="914400" rtl="0" eaLnBrk="1" latinLnBrk="0" hangingPunct="1"/>
                      <a:r>
                        <a:rPr lang="en-IE" sz="2000" i="1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Beyond the scope of this lecture .  </a:t>
                      </a:r>
                    </a:p>
                    <a:p>
                      <a:pPr marL="0" algn="l" defTabSz="914400" rtl="0" eaLnBrk="1" latinLnBrk="0" hangingPunct="1"/>
                      <a:endParaRPr lang="en-IE" sz="2000" i="1" kern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l" defTabSz="914400" rtl="0" eaLnBrk="1" latinLnBrk="0" hangingPunct="1"/>
                      <a:r>
                        <a:rPr lang="en-IE" sz="2000" i="1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There is also a loss of precision in</a:t>
                      </a:r>
                      <a:r>
                        <a:rPr lang="en-IE" sz="2000" i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 this data-type that we will cover in later lectures.</a:t>
                      </a:r>
                      <a:endParaRPr lang="en-IE" sz="2000" i="1" kern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 hMerge="1"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IE" sz="2400" i="1" kern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Useful in applications where memory savings apply.</a:t>
                      </a:r>
                    </a:p>
                    <a:p>
                      <a:pPr marL="0" algn="l" defTabSz="914400" rtl="0" eaLnBrk="1" latinLnBrk="0" hangingPunct="1"/>
                      <a:endParaRPr lang="en-IE" sz="2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l" defTabSz="914400" rtl="0" eaLnBrk="1" latinLnBrk="0" hangingPunct="1"/>
                      <a:r>
                        <a:rPr lang="en-IE" sz="2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Default choice</a:t>
                      </a:r>
                      <a:r>
                        <a:rPr lang="en-IE" sz="20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when using </a:t>
                      </a:r>
                      <a:r>
                        <a:rPr lang="en-IE" sz="2000" b="1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Processing</a:t>
                      </a:r>
                      <a:r>
                        <a:rPr lang="en-IE" sz="20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endParaRPr lang="en-IE" sz="2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60454">
                <a:tc>
                  <a:txBody>
                    <a:bodyPr/>
                    <a:lstStyle/>
                    <a:p>
                      <a:endParaRPr lang="en-IE" sz="2000" dirty="0">
                        <a:solidFill>
                          <a:srgbClr val="FF0000"/>
                        </a:solidFill>
                      </a:endParaRPr>
                    </a:p>
                    <a:p>
                      <a:r>
                        <a:rPr lang="en-IE" sz="2000" dirty="0">
                          <a:solidFill>
                            <a:srgbClr val="FF0000"/>
                          </a:solidFill>
                        </a:rPr>
                        <a:t>double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IE" sz="2000" dirty="0"/>
                    </a:p>
                    <a:p>
                      <a:r>
                        <a:rPr lang="en-IE" sz="2000" dirty="0"/>
                        <a:t>64-bit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 vMerge="1"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IE" sz="2400" i="1" kern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IE" sz="2400" i="1" kern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Default</a:t>
                      </a:r>
                      <a:r>
                        <a:rPr lang="en-IE" sz="20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choice when programming </a:t>
                      </a:r>
                      <a:r>
                        <a:rPr lang="en-IE" sz="2000" b="1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Java apps.</a:t>
                      </a:r>
                      <a:endParaRPr lang="en-IE" sz="20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82879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1DF8CE2D-64D5-8C44-1C6B-E49F80023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r>
              <a:rPr lang="en-US" dirty="0"/>
              <a:t>Declaring/defining a floating point field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0DB33BE-7416-B8C3-AA88-C98FFFA517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1" y="2174875"/>
            <a:ext cx="4406280" cy="3486373"/>
          </a:xfrm>
        </p:spPr>
        <p:txBody>
          <a:bodyPr>
            <a:normAutofit/>
          </a:bodyPr>
          <a:lstStyle/>
          <a:p>
            <a:r>
              <a:rPr lang="en-US" dirty="0"/>
              <a:t>Use float  or double for non-integer numbers. </a:t>
            </a:r>
          </a:p>
          <a:p>
            <a:endParaRPr lang="en-US" dirty="0"/>
          </a:p>
          <a:p>
            <a:r>
              <a:rPr lang="en-US" dirty="0"/>
              <a:t>When assigning numbers, use the f or d suffix with float or double. </a:t>
            </a:r>
          </a:p>
        </p:txBody>
      </p:sp>
      <p:sp>
        <p:nvSpPr>
          <p:cNvPr id="17" name="Footer Placeholder 6">
            <a:extLst>
              <a:ext uri="{FF2B5EF4-FFF2-40B4-BE49-F238E27FC236}">
                <a16:creationId xmlns:a16="http://schemas.microsoft.com/office/drawing/2014/main" id="{F9AA7C96-5B74-4925-8330-6278678D8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</p:spPr>
        <p:txBody>
          <a:bodyPr/>
          <a:lstStyle/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508AC95-3D65-8B6B-AE02-BE33DAE2E9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3952" y="1648073"/>
            <a:ext cx="6413500" cy="401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06315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DAB0CD6-34CB-6B7B-C4FE-0760782C4D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5360" y="2204859"/>
            <a:ext cx="3326160" cy="2160245"/>
          </a:xfrm>
        </p:spPr>
        <p:txBody>
          <a:bodyPr/>
          <a:lstStyle/>
          <a:p>
            <a:r>
              <a:rPr lang="en-US" dirty="0"/>
              <a:t>Cannot assign a non-integer value to an integer variable. 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A3DEBA28-6C4F-ACC8-1BF3-27FAB5B545E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3819448" y="1772816"/>
            <a:ext cx="8453440" cy="3816424"/>
          </a:xfrm>
          <a:prstGeom prst="rect">
            <a:avLst/>
          </a:prstGeom>
        </p:spPr>
      </p:pic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1CEA2F2-9BCF-3453-9560-7BA703793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B35FB4E3-9F3B-F931-6D6E-484DCF43A5B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spcAft>
                <a:spcPts val="600"/>
              </a:spcAft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Declaring variables – some errors - 3</a:t>
            </a:r>
          </a:p>
        </p:txBody>
      </p:sp>
    </p:spTree>
    <p:extLst>
      <p:ext uri="{BB962C8B-B14F-4D97-AF65-F5344CB8AC3E}">
        <p14:creationId xmlns:p14="http://schemas.microsoft.com/office/powerpoint/2010/main" val="2149008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077DE-E7DD-6444-798C-7E63BF4BA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9C3C8-B1E1-49D9-3602-274237F81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C3FAC64-F396-4275-C25B-32C453D80F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E" dirty="0"/>
              <a:t>Variables.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 Keywords, tokens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Data Types.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Java’s Primitive Data Types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Whole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Decimal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Others.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Arithmetic operators.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E188FD5-6984-F35F-9644-97A439C7C546}"/>
              </a:ext>
            </a:extLst>
          </p:cNvPr>
          <p:cNvSpPr/>
          <p:nvPr/>
        </p:nvSpPr>
        <p:spPr>
          <a:xfrm>
            <a:off x="1055440" y="4293096"/>
            <a:ext cx="3240360" cy="964703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3" name="Left Arrow 2">
            <a:extLst>
              <a:ext uri="{FF2B5EF4-FFF2-40B4-BE49-F238E27FC236}">
                <a16:creationId xmlns:a16="http://schemas.microsoft.com/office/drawing/2014/main" id="{6F24353F-2838-F5D9-16BA-D48AB34B0F54}"/>
              </a:ext>
            </a:extLst>
          </p:cNvPr>
          <p:cNvSpPr/>
          <p:nvPr/>
        </p:nvSpPr>
        <p:spPr>
          <a:xfrm>
            <a:off x="4511824" y="4972572"/>
            <a:ext cx="2057400" cy="228600"/>
          </a:xfrm>
          <a:prstGeom prst="lef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9901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Java’s Primitive Data Types (others)</a:t>
            </a:r>
          </a:p>
        </p:txBody>
      </p:sp>
      <p:sp>
        <p:nvSpPr>
          <p:cNvPr id="3686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endParaRPr lang="en-US" dirty="0"/>
          </a:p>
          <a:p>
            <a:pPr>
              <a:lnSpc>
                <a:spcPct val="80000"/>
              </a:lnSpc>
            </a:pPr>
            <a:endParaRPr lang="en-US" sz="2800" dirty="0"/>
          </a:p>
          <a:p>
            <a:pPr>
              <a:lnSpc>
                <a:spcPct val="80000"/>
              </a:lnSpc>
            </a:pPr>
            <a:endParaRPr lang="en-US" sz="2800" dirty="0"/>
          </a:p>
          <a:p>
            <a:pPr>
              <a:lnSpc>
                <a:spcPct val="80000"/>
              </a:lnSpc>
            </a:pPr>
            <a:endParaRPr lang="en-US" sz="2800" dirty="0"/>
          </a:p>
          <a:p>
            <a:pPr>
              <a:lnSpc>
                <a:spcPct val="80000"/>
              </a:lnSpc>
            </a:pPr>
            <a:endParaRPr lang="en-US" sz="2800" dirty="0"/>
          </a:p>
          <a:p>
            <a:pPr>
              <a:lnSpc>
                <a:spcPct val="80000"/>
              </a:lnSpc>
            </a:pPr>
            <a:endParaRPr lang="en-US" sz="2800" dirty="0"/>
          </a:p>
          <a:p>
            <a:pPr>
              <a:lnSpc>
                <a:spcPct val="80000"/>
              </a:lnSpc>
            </a:pPr>
            <a:endParaRPr lang="en-US" sz="2800" dirty="0"/>
          </a:p>
          <a:p>
            <a:pPr>
              <a:lnSpc>
                <a:spcPct val="80000"/>
              </a:lnSpc>
            </a:pPr>
            <a:endParaRPr lang="en-US" sz="2800" dirty="0"/>
          </a:p>
          <a:p>
            <a:pPr>
              <a:lnSpc>
                <a:spcPct val="80000"/>
              </a:lnSpc>
            </a:pPr>
            <a:r>
              <a:rPr lang="en-US" sz="2800" dirty="0"/>
              <a:t>We will go into more detail on these two data types in later lectures.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9600" y="1828800"/>
          <a:ext cx="11049001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5626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r>
                        <a:rPr lang="en-IE" dirty="0"/>
                        <a:t>Type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Byte-size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Minimum value</a:t>
                      </a:r>
                      <a:r>
                        <a:rPr lang="en-IE" baseline="0" dirty="0"/>
                        <a:t> (inclusive)</a:t>
                      </a:r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Maximum value </a:t>
                      </a:r>
                      <a:r>
                        <a:rPr lang="en-IE" baseline="0" dirty="0"/>
                        <a:t>(inclusive)</a:t>
                      </a:r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Typical Use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r>
                        <a:rPr lang="en-IE" sz="2400" dirty="0">
                          <a:solidFill>
                            <a:srgbClr val="FF0000"/>
                          </a:solidFill>
                        </a:rPr>
                        <a:t>char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dirty="0"/>
                        <a:t>16-bit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'\u0000'</a:t>
                      </a:r>
                    </a:p>
                    <a:p>
                      <a:pPr marL="0" algn="l" defTabSz="914400" rtl="0" eaLnBrk="1" latinLnBrk="0" hangingPunct="1"/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(or 0) 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'\</a:t>
                      </a:r>
                      <a:r>
                        <a:rPr lang="en-IE" sz="2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uffff</a:t>
                      </a:r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 </a:t>
                      </a:r>
                    </a:p>
                    <a:p>
                      <a:pPr marL="0" algn="l" defTabSz="914400" rtl="0" eaLnBrk="1" latinLnBrk="0" hangingPunct="1"/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(or 65,535)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Represents a Unicode character.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endParaRPr lang="en-IE" sz="2400" dirty="0">
                        <a:solidFill>
                          <a:srgbClr val="FF0000"/>
                        </a:solidFill>
                      </a:endParaRPr>
                    </a:p>
                    <a:p>
                      <a:r>
                        <a:rPr lang="en-IE" sz="2400" dirty="0" err="1">
                          <a:solidFill>
                            <a:srgbClr val="FF0000"/>
                          </a:solidFill>
                        </a:rPr>
                        <a:t>boolean</a:t>
                      </a:r>
                      <a:endParaRPr lang="en-IE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E" sz="2400" dirty="0"/>
                    </a:p>
                    <a:p>
                      <a:pPr algn="ctr"/>
                      <a:r>
                        <a:rPr lang="en-IE" sz="2400" dirty="0"/>
                        <a:t>1-bit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IE" sz="2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ctr" defTabSz="914400" rtl="0" eaLnBrk="1" latinLnBrk="0" hangingPunct="1"/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n/a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IE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Holds either </a:t>
                      </a:r>
                      <a:r>
                        <a:rPr lang="en-IE" sz="24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or </a:t>
                      </a:r>
                      <a:r>
                        <a:rPr lang="en-IE" sz="24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false</a:t>
                      </a:r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b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and is typically used as a flag.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Rectangle 1"/>
          <p:cNvSpPr/>
          <p:nvPr/>
        </p:nvSpPr>
        <p:spPr>
          <a:xfrm>
            <a:off x="2019300" y="6248400"/>
            <a:ext cx="81534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IE" sz="2400" dirty="0">
                <a:hlinkClick r:id="rId3"/>
              </a:rPr>
              <a:t>http://en.wikipedia.org/wiki/List_of_Unicode_characters</a:t>
            </a:r>
            <a:endParaRPr lang="en-IE" sz="2400" dirty="0"/>
          </a:p>
        </p:txBody>
      </p:sp>
    </p:spTree>
    <p:extLst>
      <p:ext uri="{BB962C8B-B14F-4D97-AF65-F5344CB8AC3E}">
        <p14:creationId xmlns:p14="http://schemas.microsoft.com/office/powerpoint/2010/main" val="327474517"/>
      </p:ext>
    </p:extLst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94D03-749A-69EA-2B38-FAE12360B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C8A0E-3DAD-6540-19D4-905730A8B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8BBB4CB-6AD9-8BCB-7511-F243E657AC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E" dirty="0"/>
              <a:t>Variables.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 Keywords, tokens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Data Types.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Java’s Primitive Data Types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Whole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Decimal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Others.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Arithmetic operators.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0C083B6-BB08-AB84-AD99-15C4D8CEA08F}"/>
              </a:ext>
            </a:extLst>
          </p:cNvPr>
          <p:cNvSpPr/>
          <p:nvPr/>
        </p:nvSpPr>
        <p:spPr>
          <a:xfrm>
            <a:off x="609600" y="5445224"/>
            <a:ext cx="3326160" cy="576064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012230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Arithmetic Operators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2E628E40-3168-D0C8-765E-F580E2893A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59623651"/>
                  </p:ext>
                </p:extLst>
              </p:nvPr>
            </p:nvGraphicFramePr>
            <p:xfrm>
              <a:off x="767408" y="1412776"/>
              <a:ext cx="11007516" cy="5212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669172">
                      <a:extLst>
                        <a:ext uri="{9D8B030D-6E8A-4147-A177-3AD203B41FA5}">
                          <a16:colId xmlns:a16="http://schemas.microsoft.com/office/drawing/2014/main" val="2846493749"/>
                        </a:ext>
                      </a:extLst>
                    </a:gridCol>
                    <a:gridCol w="3669172">
                      <a:extLst>
                        <a:ext uri="{9D8B030D-6E8A-4147-A177-3AD203B41FA5}">
                          <a16:colId xmlns:a16="http://schemas.microsoft.com/office/drawing/2014/main" val="4029540119"/>
                        </a:ext>
                      </a:extLst>
                    </a:gridCol>
                    <a:gridCol w="3669172">
                      <a:extLst>
                        <a:ext uri="{9D8B030D-6E8A-4147-A177-3AD203B41FA5}">
                          <a16:colId xmlns:a16="http://schemas.microsoft.com/office/drawing/2014/main" val="4127282100"/>
                        </a:ext>
                      </a:extLst>
                    </a:gridCol>
                  </a:tblGrid>
                  <a:tr h="47666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2800" dirty="0"/>
                            <a:t>Arithmetic</a:t>
                          </a:r>
                          <a:r>
                            <a:rPr lang="en-IE" sz="2800" baseline="0" dirty="0"/>
                            <a:t> Operator</a:t>
                          </a:r>
                          <a:endParaRPr lang="en-IE" sz="2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2800" dirty="0"/>
                            <a:t>Explanation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2800" dirty="0"/>
                            <a:t>Example(s)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457214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5400" dirty="0"/>
                            <a:t>+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IE" sz="2800" dirty="0"/>
                            <a:t>Addition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E" sz="2800" dirty="0"/>
                            <a:t>6 + 2</a:t>
                          </a:r>
                        </a:p>
                        <a:p>
                          <a:r>
                            <a:rPr lang="en-IE" sz="2800" dirty="0" err="1"/>
                            <a:t>amountOwed</a:t>
                          </a:r>
                          <a:r>
                            <a:rPr lang="en-IE" sz="2800" baseline="0" dirty="0"/>
                            <a:t>  + 10</a:t>
                          </a:r>
                          <a:endParaRPr lang="en-IE" sz="28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984736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5400" dirty="0"/>
                            <a:t>-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IE" sz="2800" dirty="0"/>
                            <a:t>Subtraction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E" sz="2800" dirty="0"/>
                            <a:t>6 – 2</a:t>
                          </a:r>
                        </a:p>
                        <a:p>
                          <a:r>
                            <a:rPr lang="en-IE" sz="2800" dirty="0" err="1"/>
                            <a:t>amountOwed</a:t>
                          </a:r>
                          <a:r>
                            <a:rPr lang="en-IE" sz="2800" dirty="0"/>
                            <a:t>  – 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165219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5400" dirty="0"/>
                            <a:t>*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IE" sz="2800" dirty="0"/>
                            <a:t>Multiplication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E" sz="2800" dirty="0"/>
                            <a:t>6 * 2</a:t>
                          </a:r>
                        </a:p>
                        <a:p>
                          <a:r>
                            <a:rPr lang="en-IE" sz="2800" dirty="0" err="1"/>
                            <a:t>amountOwed</a:t>
                          </a:r>
                          <a:r>
                            <a:rPr lang="en-IE" sz="2800" dirty="0"/>
                            <a:t> </a:t>
                          </a:r>
                          <a:r>
                            <a:rPr lang="en-IE" sz="2800" baseline="0" dirty="0"/>
                            <a:t> *</a:t>
                          </a:r>
                          <a:r>
                            <a:rPr lang="en-IE" sz="2800" dirty="0"/>
                            <a:t> 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83602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5400" dirty="0"/>
                            <a:t>/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IE" sz="2800" dirty="0"/>
                            <a:t>Division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E" sz="2800" dirty="0"/>
                            <a:t>6 / 2</a:t>
                          </a:r>
                        </a:p>
                        <a:p>
                          <a:r>
                            <a:rPr lang="en-IE" sz="2800" dirty="0" err="1"/>
                            <a:t>amountOwed</a:t>
                          </a:r>
                          <a:r>
                            <a:rPr lang="en-IE" sz="2800" dirty="0"/>
                            <a:t> </a:t>
                          </a:r>
                          <a:r>
                            <a:rPr lang="en-IE" sz="2800" baseline="0" dirty="0"/>
                            <a:t> / </a:t>
                          </a:r>
                          <a:r>
                            <a:rPr lang="en-IE" sz="2800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701664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algn="ctr" defTabSz="914400" rtl="0" eaLnBrk="1" latinLnBrk="0" hangingPunct="1"/>
                          <a:r>
                            <a:rPr lang="en-US" sz="54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%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l" defTabSz="914400" rtl="0" eaLnBrk="1" latinLnBrk="0" hangingPunct="1"/>
                          <a:r>
                            <a:rPr lang="en-US" sz="2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Remainder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l" defTabSz="914400" rtl="0" eaLnBrk="1" latinLnBrk="0" hangingPunct="1"/>
                          <a:r>
                            <a:rPr lang="en-US" sz="2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16 % 5 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i="1" kern="1200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→</m:t>
                              </m:r>
                            </m:oMath>
                          </a14:m>
                          <a:r>
                            <a:rPr lang="en-US" sz="2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4534869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2E628E40-3168-D0C8-765E-F580E2893A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59623651"/>
                  </p:ext>
                </p:extLst>
              </p:nvPr>
            </p:nvGraphicFramePr>
            <p:xfrm>
              <a:off x="767408" y="1412776"/>
              <a:ext cx="11007516" cy="5212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669172">
                      <a:extLst>
                        <a:ext uri="{9D8B030D-6E8A-4147-A177-3AD203B41FA5}">
                          <a16:colId xmlns:a16="http://schemas.microsoft.com/office/drawing/2014/main" val="2846493749"/>
                        </a:ext>
                      </a:extLst>
                    </a:gridCol>
                    <a:gridCol w="3669172">
                      <a:extLst>
                        <a:ext uri="{9D8B030D-6E8A-4147-A177-3AD203B41FA5}">
                          <a16:colId xmlns:a16="http://schemas.microsoft.com/office/drawing/2014/main" val="4029540119"/>
                        </a:ext>
                      </a:extLst>
                    </a:gridCol>
                    <a:gridCol w="3669172">
                      <a:extLst>
                        <a:ext uri="{9D8B030D-6E8A-4147-A177-3AD203B41FA5}">
                          <a16:colId xmlns:a16="http://schemas.microsoft.com/office/drawing/2014/main" val="4127282100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2800" dirty="0"/>
                            <a:t>Arithmetic</a:t>
                          </a:r>
                          <a:r>
                            <a:rPr lang="en-IE" sz="2800" baseline="0" dirty="0"/>
                            <a:t> Operator</a:t>
                          </a:r>
                          <a:endParaRPr lang="en-IE" sz="2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2800" dirty="0"/>
                            <a:t>Explanation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2800" dirty="0"/>
                            <a:t>Example(s)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45721465"/>
                      </a:ext>
                    </a:extLst>
                  </a:tr>
                  <a:tr h="9448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5400" dirty="0"/>
                            <a:t>+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IE" sz="2800" dirty="0"/>
                            <a:t>Addition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E" sz="2800" dirty="0"/>
                            <a:t>6 + 2</a:t>
                          </a:r>
                        </a:p>
                        <a:p>
                          <a:r>
                            <a:rPr lang="en-IE" sz="2800" dirty="0" err="1"/>
                            <a:t>amountOwed</a:t>
                          </a:r>
                          <a:r>
                            <a:rPr lang="en-IE" sz="2800" baseline="0" dirty="0"/>
                            <a:t>  + 10</a:t>
                          </a:r>
                          <a:endParaRPr lang="en-IE" sz="28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9847360"/>
                      </a:ext>
                    </a:extLst>
                  </a:tr>
                  <a:tr h="9448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5400" dirty="0"/>
                            <a:t>-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IE" sz="2800" dirty="0"/>
                            <a:t>Subtraction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E" sz="2800" dirty="0"/>
                            <a:t>6 – 2</a:t>
                          </a:r>
                        </a:p>
                        <a:p>
                          <a:r>
                            <a:rPr lang="en-IE" sz="2800" dirty="0" err="1"/>
                            <a:t>amountOwed</a:t>
                          </a:r>
                          <a:r>
                            <a:rPr lang="en-IE" sz="2800" dirty="0"/>
                            <a:t>  – 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16521978"/>
                      </a:ext>
                    </a:extLst>
                  </a:tr>
                  <a:tr h="9448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5400" dirty="0"/>
                            <a:t>*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IE" sz="2800" dirty="0"/>
                            <a:t>Multiplication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E" sz="2800" dirty="0"/>
                            <a:t>6 * 2</a:t>
                          </a:r>
                        </a:p>
                        <a:p>
                          <a:r>
                            <a:rPr lang="en-IE" sz="2800" dirty="0" err="1"/>
                            <a:t>amountOwed</a:t>
                          </a:r>
                          <a:r>
                            <a:rPr lang="en-IE" sz="2800" dirty="0"/>
                            <a:t> </a:t>
                          </a:r>
                          <a:r>
                            <a:rPr lang="en-IE" sz="2800" baseline="0" dirty="0"/>
                            <a:t> *</a:t>
                          </a:r>
                          <a:r>
                            <a:rPr lang="en-IE" sz="2800" dirty="0"/>
                            <a:t> 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8360200"/>
                      </a:ext>
                    </a:extLst>
                  </a:tr>
                  <a:tr h="9448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5400" dirty="0"/>
                            <a:t>/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IE" sz="2800" dirty="0"/>
                            <a:t>Division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E" sz="2800" dirty="0"/>
                            <a:t>6 / 2</a:t>
                          </a:r>
                        </a:p>
                        <a:p>
                          <a:r>
                            <a:rPr lang="en-IE" sz="2800" dirty="0" err="1"/>
                            <a:t>amountOwed</a:t>
                          </a:r>
                          <a:r>
                            <a:rPr lang="en-IE" sz="2800" dirty="0"/>
                            <a:t> </a:t>
                          </a:r>
                          <a:r>
                            <a:rPr lang="en-IE" sz="2800" baseline="0" dirty="0"/>
                            <a:t> / </a:t>
                          </a:r>
                          <a:r>
                            <a:rPr lang="en-IE" sz="2800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70166474"/>
                      </a:ext>
                    </a:extLst>
                  </a:tr>
                  <a:tr h="914400">
                    <a:tc>
                      <a:txBody>
                        <a:bodyPr/>
                        <a:lstStyle/>
                        <a:p>
                          <a:pPr marL="0" algn="ctr" defTabSz="914400" rtl="0" eaLnBrk="1" latinLnBrk="0" hangingPunct="1"/>
                          <a:r>
                            <a:rPr lang="en-US" sz="54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%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l" defTabSz="914400" rtl="0" eaLnBrk="1" latinLnBrk="0" hangingPunct="1"/>
                          <a:r>
                            <a:rPr lang="en-US" sz="2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Remainder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692" t="-477778" r="-692" b="-41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4534869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8505631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B363B-E1B5-4F30-1479-C74AD057A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Note on division ‘\’ – integer or ‘normal’ division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54306A-B543-DBF9-D4E9-50917F4D74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1143001"/>
          </a:xfrm>
          <a:ln w="412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pPr marL="0" indent="0">
              <a:buNone/>
            </a:pPr>
            <a:r>
              <a:rPr lang="en-US" dirty="0"/>
              <a:t>When we use the ‘/’ operator , how it behaves depends on the type of the two operands :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5364DD-6506-67E1-E575-3F79605D62C6}"/>
              </a:ext>
            </a:extLst>
          </p:cNvPr>
          <p:cNvSpPr/>
          <p:nvPr/>
        </p:nvSpPr>
        <p:spPr>
          <a:xfrm>
            <a:off x="407368" y="3685077"/>
            <a:ext cx="1080120" cy="859444"/>
          </a:xfrm>
          <a:prstGeom prst="rect">
            <a:avLst/>
          </a:prstGeom>
          <a:solidFill>
            <a:srgbClr val="FFC00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x / 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3EE1A0A-23F1-3C06-AB66-FFD5F52021D3}"/>
              </a:ext>
            </a:extLst>
          </p:cNvPr>
          <p:cNvSpPr/>
          <p:nvPr/>
        </p:nvSpPr>
        <p:spPr>
          <a:xfrm>
            <a:off x="2515934" y="3021901"/>
            <a:ext cx="1080120" cy="859444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 and y are integers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90F9CE8-093E-F951-78C0-97D3D7DDDB53}"/>
              </a:ext>
            </a:extLst>
          </p:cNvPr>
          <p:cNvSpPr/>
          <p:nvPr/>
        </p:nvSpPr>
        <p:spPr>
          <a:xfrm>
            <a:off x="4475796" y="2857497"/>
            <a:ext cx="1318356" cy="1143001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 </a:t>
            </a:r>
            <a:r>
              <a:rPr lang="en-US" dirty="0">
                <a:sym typeface="Wingdings" pitchFamily="2" charset="2"/>
              </a:rPr>
              <a:t> 10</a:t>
            </a:r>
          </a:p>
          <a:p>
            <a:pPr algn="ctr"/>
            <a:r>
              <a:rPr lang="en-US" dirty="0">
                <a:sym typeface="Wingdings" pitchFamily="2" charset="2"/>
              </a:rPr>
              <a:t>y  6  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4D500FD-42AE-1178-D1B8-A97195C5529D}"/>
              </a:ext>
            </a:extLst>
          </p:cNvPr>
          <p:cNvSpPr/>
          <p:nvPr/>
        </p:nvSpPr>
        <p:spPr>
          <a:xfrm>
            <a:off x="6717497" y="2720579"/>
            <a:ext cx="2412646" cy="1462087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x / y</a:t>
            </a:r>
            <a:endParaRPr lang="en-US" sz="2800" dirty="0">
              <a:sym typeface="Wingdings" pitchFamily="2" charset="2"/>
            </a:endParaRPr>
          </a:p>
          <a:p>
            <a:pPr algn="ctr"/>
            <a:r>
              <a:rPr lang="en-US" sz="2800" dirty="0"/>
              <a:t>10 / 6</a:t>
            </a:r>
            <a:endParaRPr lang="en-US" dirty="0">
              <a:sym typeface="Wingdings" pitchFamily="2" charset="2"/>
            </a:endParaRPr>
          </a:p>
          <a:p>
            <a:pPr algn="ctr"/>
            <a:endParaRPr lang="en-US" dirty="0">
              <a:sym typeface="Wingdings" pitchFamily="2" charset="2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310995D-2665-0785-9C7D-9C986DEB4BF4}"/>
              </a:ext>
            </a:extLst>
          </p:cNvPr>
          <p:cNvSpPr/>
          <p:nvPr/>
        </p:nvSpPr>
        <p:spPr>
          <a:xfrm>
            <a:off x="10200456" y="2731891"/>
            <a:ext cx="1969368" cy="1462087"/>
          </a:xfrm>
          <a:prstGeom prst="rect">
            <a:avLst/>
          </a:prstGeom>
          <a:solidFill>
            <a:srgbClr val="FFC00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ym typeface="Wingdings" pitchFamily="2" charset="2"/>
              </a:rPr>
              <a:t>1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0A573E2-9C95-6617-6BD1-9B6FF8B247A4}"/>
              </a:ext>
            </a:extLst>
          </p:cNvPr>
          <p:cNvCxnSpPr>
            <a:stCxn id="7" idx="3"/>
          </p:cNvCxnSpPr>
          <p:nvPr/>
        </p:nvCxnSpPr>
        <p:spPr>
          <a:xfrm flipV="1">
            <a:off x="1487488" y="3428997"/>
            <a:ext cx="1028446" cy="685802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2AF1EF4-8438-0CBB-82A9-DF1377EFFF3F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3596054" y="3428997"/>
            <a:ext cx="879742" cy="1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FEDC211-5E56-9A05-3A94-605339656DA5}"/>
              </a:ext>
            </a:extLst>
          </p:cNvPr>
          <p:cNvCxnSpPr>
            <a:cxnSpLocks/>
          </p:cNvCxnSpPr>
          <p:nvPr/>
        </p:nvCxnSpPr>
        <p:spPr>
          <a:xfrm>
            <a:off x="5794152" y="3428997"/>
            <a:ext cx="923345" cy="0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AD057B4-A1D2-FB55-8147-1BE9B907ABC0}"/>
              </a:ext>
            </a:extLst>
          </p:cNvPr>
          <p:cNvCxnSpPr>
            <a:cxnSpLocks/>
          </p:cNvCxnSpPr>
          <p:nvPr/>
        </p:nvCxnSpPr>
        <p:spPr>
          <a:xfrm>
            <a:off x="9130143" y="3428997"/>
            <a:ext cx="1070313" cy="0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CE29678A-8B62-0583-34FE-296554AE8A27}"/>
              </a:ext>
            </a:extLst>
          </p:cNvPr>
          <p:cNvSpPr/>
          <p:nvPr/>
        </p:nvSpPr>
        <p:spPr>
          <a:xfrm>
            <a:off x="2515934" y="4964997"/>
            <a:ext cx="1308850" cy="1172073"/>
          </a:xfrm>
          <a:prstGeom prst="rect">
            <a:avLst/>
          </a:prstGeom>
          <a:solidFill>
            <a:srgbClr val="00B05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Either x or y or both are non-integers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13CAD2F-092E-57C3-7BBD-69088AD04EFD}"/>
              </a:ext>
            </a:extLst>
          </p:cNvPr>
          <p:cNvSpPr/>
          <p:nvPr/>
        </p:nvSpPr>
        <p:spPr>
          <a:xfrm>
            <a:off x="4570739" y="4964996"/>
            <a:ext cx="1318356" cy="1143001"/>
          </a:xfrm>
          <a:prstGeom prst="rect">
            <a:avLst/>
          </a:prstGeom>
          <a:solidFill>
            <a:srgbClr val="00B05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 </a:t>
            </a:r>
            <a:r>
              <a:rPr lang="en-US" dirty="0">
                <a:sym typeface="Wingdings" pitchFamily="2" charset="2"/>
              </a:rPr>
              <a:t> 10.0</a:t>
            </a:r>
          </a:p>
          <a:p>
            <a:pPr algn="ctr"/>
            <a:r>
              <a:rPr lang="en-US" dirty="0">
                <a:sym typeface="Wingdings" pitchFamily="2" charset="2"/>
              </a:rPr>
              <a:t>y  6  </a:t>
            </a:r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B484DB1-3BBE-EEF5-8631-9A58C532B6FB}"/>
              </a:ext>
            </a:extLst>
          </p:cNvPr>
          <p:cNvSpPr/>
          <p:nvPr/>
        </p:nvSpPr>
        <p:spPr>
          <a:xfrm>
            <a:off x="6827295" y="4805452"/>
            <a:ext cx="2412646" cy="1462087"/>
          </a:xfrm>
          <a:prstGeom prst="rect">
            <a:avLst/>
          </a:prstGeom>
          <a:solidFill>
            <a:srgbClr val="00B050"/>
          </a:solidFill>
          <a:ln>
            <a:solidFill>
              <a:srgbClr val="009C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x / y</a:t>
            </a:r>
            <a:endParaRPr lang="en-US" sz="2800" dirty="0">
              <a:sym typeface="Wingdings" pitchFamily="2" charset="2"/>
            </a:endParaRPr>
          </a:p>
          <a:p>
            <a:pPr algn="ctr"/>
            <a:r>
              <a:rPr lang="en-US" sz="2800" dirty="0"/>
              <a:t>10.0 / 6</a:t>
            </a:r>
            <a:endParaRPr lang="en-US" dirty="0">
              <a:sym typeface="Wingdings" pitchFamily="2" charset="2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B63FFA4-3E94-E271-4CA1-0CB42A2CC370}"/>
              </a:ext>
            </a:extLst>
          </p:cNvPr>
          <p:cNvSpPr/>
          <p:nvPr/>
        </p:nvSpPr>
        <p:spPr>
          <a:xfrm>
            <a:off x="10163977" y="4819989"/>
            <a:ext cx="1969368" cy="1462087"/>
          </a:xfrm>
          <a:prstGeom prst="rect">
            <a:avLst/>
          </a:prstGeom>
          <a:solidFill>
            <a:srgbClr val="FFC00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ym typeface="Wingdings" pitchFamily="2" charset="2"/>
              </a:rPr>
              <a:t>1.666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E6C5B0C-6C76-A4B4-C512-1C3226D6DE99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487488" y="4114799"/>
            <a:ext cx="1028446" cy="1257295"/>
          </a:xfrm>
          <a:prstGeom prst="straightConnector1">
            <a:avLst/>
          </a:prstGeom>
          <a:ln w="412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0256DCC-BFD8-D081-D864-A3C871D6B9BE}"/>
              </a:ext>
            </a:extLst>
          </p:cNvPr>
          <p:cNvCxnSpPr>
            <a:cxnSpLocks/>
          </p:cNvCxnSpPr>
          <p:nvPr/>
        </p:nvCxnSpPr>
        <p:spPr>
          <a:xfrm>
            <a:off x="3690997" y="5457119"/>
            <a:ext cx="879742" cy="1"/>
          </a:xfrm>
          <a:prstGeom prst="straightConnector1">
            <a:avLst/>
          </a:prstGeom>
          <a:ln w="412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335F5D9-3536-8840-A056-49D410894477}"/>
              </a:ext>
            </a:extLst>
          </p:cNvPr>
          <p:cNvCxnSpPr>
            <a:cxnSpLocks/>
          </p:cNvCxnSpPr>
          <p:nvPr/>
        </p:nvCxnSpPr>
        <p:spPr>
          <a:xfrm>
            <a:off x="5903950" y="5536495"/>
            <a:ext cx="923345" cy="0"/>
          </a:xfrm>
          <a:prstGeom prst="straightConnector1">
            <a:avLst/>
          </a:prstGeom>
          <a:ln w="412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7EEF296-5500-4098-F8DD-D4D8891ADBB3}"/>
              </a:ext>
            </a:extLst>
          </p:cNvPr>
          <p:cNvCxnSpPr>
            <a:cxnSpLocks/>
          </p:cNvCxnSpPr>
          <p:nvPr/>
        </p:nvCxnSpPr>
        <p:spPr>
          <a:xfrm>
            <a:off x="9130143" y="5372094"/>
            <a:ext cx="1070313" cy="0"/>
          </a:xfrm>
          <a:prstGeom prst="straightConnector1">
            <a:avLst/>
          </a:prstGeom>
          <a:ln w="412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4857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4021528B-859B-0F0C-6479-D9428D88B2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800" y="1325562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50328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2.8|7.2|16|9.7"/>
</p:tagLst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a-class-definitions</Template>
  <TotalTime>2179</TotalTime>
  <Words>1538</Words>
  <Application>Microsoft Macintosh PowerPoint</Application>
  <PresentationFormat>Widescreen</PresentationFormat>
  <Paragraphs>359</Paragraphs>
  <Slides>31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40" baseType="lpstr">
      <vt:lpstr>MS PGothic</vt:lpstr>
      <vt:lpstr>Anonymous</vt:lpstr>
      <vt:lpstr>Arial</vt:lpstr>
      <vt:lpstr>Calibri</vt:lpstr>
      <vt:lpstr>Cambria Math</vt:lpstr>
      <vt:lpstr>Courier New</vt:lpstr>
      <vt:lpstr>Times New Roman</vt:lpstr>
      <vt:lpstr>Wingdings</vt:lpstr>
      <vt:lpstr>a-processing-mouse-event-methods</vt:lpstr>
      <vt:lpstr>Variables, Data Types &amp; Arithmetic Operators</vt:lpstr>
      <vt:lpstr>Topics list</vt:lpstr>
      <vt:lpstr>Variables</vt:lpstr>
      <vt:lpstr>Variable names…</vt:lpstr>
      <vt:lpstr>Variable names should be carefully chosen</vt:lpstr>
      <vt:lpstr>Kinds of variables so far</vt:lpstr>
      <vt:lpstr>Topics list</vt:lpstr>
      <vt:lpstr>Java Keywords</vt:lpstr>
      <vt:lpstr>Keywords – list </vt:lpstr>
      <vt:lpstr>Keywords (technical description)</vt:lpstr>
      <vt:lpstr>Example of tokens – let’s tokenise a stmt</vt:lpstr>
      <vt:lpstr>Topics list</vt:lpstr>
      <vt:lpstr>Data Types</vt:lpstr>
      <vt:lpstr>Data Types </vt:lpstr>
      <vt:lpstr> Java’s Primitive Data Types</vt:lpstr>
      <vt:lpstr>Topics list</vt:lpstr>
      <vt:lpstr>Java’s Primitive Data Types (whole numbers)</vt:lpstr>
      <vt:lpstr>Declaring variables of a specific type</vt:lpstr>
      <vt:lpstr>Declaring variables of a specific type</vt:lpstr>
      <vt:lpstr>Declaring variables – some errors - 1</vt:lpstr>
      <vt:lpstr>PowerPoint Presentation</vt:lpstr>
      <vt:lpstr>Topics list</vt:lpstr>
      <vt:lpstr>Java’s Primitive Data Types (decimal numbers)</vt:lpstr>
      <vt:lpstr>Declaring/defining a floating point field</vt:lpstr>
      <vt:lpstr>Declaring variables – some errors - 3</vt:lpstr>
      <vt:lpstr>Topics list</vt:lpstr>
      <vt:lpstr>Java’s Primitive Data Types (others)</vt:lpstr>
      <vt:lpstr>Topics list</vt:lpstr>
      <vt:lpstr>Arithmetic Operators </vt:lpstr>
      <vt:lpstr>Note on division ‘\’ – integer or ‘normal’ division</vt:lpstr>
      <vt:lpstr>Questions?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Objects First With Java - Chapter 2</dc:title>
  <dc:subject/>
  <dc:creator>David J. Barnes, Michael Kölling</dc:creator>
  <cp:keywords/>
  <dc:description>Copyright © David J. Barnes, Michael Kölling</dc:description>
  <cp:lastModifiedBy>Mairead Meagher</cp:lastModifiedBy>
  <cp:revision>197</cp:revision>
  <cp:lastPrinted>2003-09-01T07:04:41Z</cp:lastPrinted>
  <dcterms:created xsi:type="dcterms:W3CDTF">2009-04-22T19:24:48Z</dcterms:created>
  <dcterms:modified xsi:type="dcterms:W3CDTF">2025-10-16T21:34:51Z</dcterms:modified>
  <cp:category/>
</cp:coreProperties>
</file>