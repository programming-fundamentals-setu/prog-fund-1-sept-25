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5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72" r:id="rId4"/>
    <p:sldId id="299" r:id="rId5"/>
    <p:sldId id="349" r:id="rId6"/>
    <p:sldId id="273" r:id="rId7"/>
    <p:sldId id="356" r:id="rId8"/>
    <p:sldId id="286" r:id="rId9"/>
    <p:sldId id="358" r:id="rId10"/>
    <p:sldId id="359" r:id="rId11"/>
    <p:sldId id="360" r:id="rId12"/>
    <p:sldId id="357" r:id="rId13"/>
    <p:sldId id="350" r:id="rId14"/>
    <p:sldId id="275" r:id="rId15"/>
    <p:sldId id="276" r:id="rId16"/>
    <p:sldId id="361" r:id="rId17"/>
    <p:sldId id="277" r:id="rId18"/>
    <p:sldId id="362" r:id="rId19"/>
    <p:sldId id="363" r:id="rId20"/>
    <p:sldId id="364" r:id="rId21"/>
    <p:sldId id="367" r:id="rId22"/>
    <p:sldId id="370" r:id="rId23"/>
    <p:sldId id="278" r:id="rId24"/>
    <p:sldId id="368" r:id="rId25"/>
    <p:sldId id="369" r:id="rId26"/>
    <p:sldId id="371" r:id="rId27"/>
    <p:sldId id="296" r:id="rId28"/>
    <p:sldId id="285" r:id="rId29"/>
    <p:sldId id="284" r:id="rId30"/>
    <p:sldId id="300" r:id="rId31"/>
    <p:sldId id="295" r:id="rId32"/>
    <p:sldId id="274" r:id="rId33"/>
    <p:sldId id="297" r:id="rId34"/>
    <p:sldId id="34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3"/>
    <p:restoredTop sz="94638"/>
  </p:normalViewPr>
  <p:slideViewPr>
    <p:cSldViewPr>
      <p:cViewPr varScale="1">
        <p:scale>
          <a:sx n="91" d="100"/>
          <a:sy n="91" d="100"/>
        </p:scale>
        <p:origin x="200" y="6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will name our variables beginning with a letter and typically containing only letters (no special characters).</a:t>
            </a:r>
          </a:p>
          <a:p>
            <a:endParaRPr lang="en-IE" dirty="0"/>
          </a:p>
          <a:p>
            <a:r>
              <a:rPr lang="en-IE" dirty="0" err="1"/>
              <a:t>CamelCase</a:t>
            </a:r>
            <a:r>
              <a:rPr lang="en-IE" dirty="0"/>
              <a:t> for variables and function names that have multiple words. We capitalize each word except the first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6356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57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FF930-7A3E-E440-99D2-D88CF4C2A3B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594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Operations…e.g. I cannot divide “I Love Programming” by ‘S’.  </a:t>
            </a:r>
          </a:p>
          <a:p>
            <a:endParaRPr lang="en-IE" dirty="0"/>
          </a:p>
          <a:p>
            <a:r>
              <a:rPr lang="en-IE" dirty="0"/>
              <a:t>E.g. Mathematical operations are only available on numeric types.  </a:t>
            </a:r>
          </a:p>
          <a:p>
            <a:r>
              <a:rPr lang="en-IE" dirty="0"/>
              <a:t>E.g. I cannot add ‘S’ to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9596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EB1270-B5B3-C54B-92FD-A65FDB01CB4B}" type="slidenum">
              <a:rPr lang="en-US"/>
              <a:pPr/>
              <a:t>14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55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BE41AF-339D-7A42-9D51-2FDDE25D24AD}" type="slidenum">
              <a:rPr lang="en-US"/>
              <a:pPr/>
              <a:t>15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4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449FA9-01C0-0243-BC2B-8E67C5F55CA8}" type="slidenum">
              <a:rPr lang="en-US"/>
              <a:pPr/>
              <a:t>17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usually show them how the minimum and max values for byte are calculated e.g. </a:t>
            </a:r>
          </a:p>
          <a:p>
            <a:r>
              <a:rPr lang="en-US" dirty="0"/>
              <a:t>8-bit is 2 to the power of 8 = 256</a:t>
            </a:r>
          </a:p>
          <a:p>
            <a:endParaRPr lang="en-US" dirty="0"/>
          </a:p>
          <a:p>
            <a:r>
              <a:rPr lang="en-US" dirty="0"/>
              <a:t>To spread this value over the negative/positive number range, divide by two = 128.  so -128 range up to +127, with 0 being on the “positive size”. </a:t>
            </a:r>
          </a:p>
          <a:p>
            <a:r>
              <a:rPr lang="en-US" dirty="0"/>
              <a:t>Then they can always work out the min/max values for the other whole numbers.  </a:t>
            </a:r>
          </a:p>
        </p:txBody>
      </p:sp>
    </p:spTree>
    <p:extLst>
      <p:ext uri="{BB962C8B-B14F-4D97-AF65-F5344CB8AC3E}">
        <p14:creationId xmlns:p14="http://schemas.microsoft.com/office/powerpoint/2010/main" val="3203946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449FA9-01C0-0243-BC2B-8E67C5F55CA8}" type="slidenum">
              <a:rPr lang="en-US"/>
              <a:pPr/>
              <a:t>23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36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19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19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A42CBBF-813F-C24A-9B84-B001A2F9FD3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28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38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78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78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7873945-15D1-0D4D-A39F-AD56662E531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/>
          <a:lstStyle/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write method in BlueJ;</a:t>
            </a:r>
          </a:p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first: do it wrong</a:t>
            </a:r>
          </a:p>
        </p:txBody>
      </p:sp>
    </p:spTree>
    <p:extLst>
      <p:ext uri="{BB962C8B-B14F-4D97-AF65-F5344CB8AC3E}">
        <p14:creationId xmlns:p14="http://schemas.microsoft.com/office/powerpoint/2010/main" val="1089921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39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39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4180958-73CC-0144-BCE8-529C91825BE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70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706122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51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842234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295009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5353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3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6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039843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87663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880449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710341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88244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01981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505796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00534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80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  <p:sldLayoutId id="2147483967" r:id="rId12"/>
    <p:sldLayoutId id="2147483968" r:id="rId13"/>
    <p:sldLayoutId id="2147483969" r:id="rId14"/>
    <p:sldLayoutId id="2147483970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algn="l"/>
            <a:r>
              <a:rPr lang="en-I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Variables, Data Types &amp; Arithmetic Operators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549516"/>
            <a:ext cx="10134430" cy="584775"/>
          </a:xfrm>
        </p:spPr>
        <p:txBody>
          <a:bodyPr/>
          <a:lstStyle/>
          <a:p>
            <a:pPr eaLnBrk="1" hangingPunct="1">
              <a:defRPr/>
            </a:pPr>
            <a:endParaRPr lang="en-GB" dirty="0">
              <a:ea typeface="+mn-ea"/>
              <a:cs typeface="+mn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by:</a:t>
            </a:r>
            <a:endParaRPr lang="en-I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Variables.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 Keywords, tokens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Data Types.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Java’s Primitive Data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Whole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Decimal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Others.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Arithmetic operators.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448" y="1600201"/>
            <a:ext cx="1440160" cy="388639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In Programming, variables: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are created (defined) in your programs.</a:t>
            </a:r>
          </a:p>
          <a:p>
            <a:r>
              <a:rPr lang="en-IE" dirty="0"/>
              <a:t>are used to store data (whose value can change over time).</a:t>
            </a:r>
          </a:p>
          <a:p>
            <a:r>
              <a:rPr lang="en-IE" dirty="0"/>
              <a:t>have a data type.</a:t>
            </a:r>
          </a:p>
          <a:p>
            <a:r>
              <a:rPr lang="en-IE" dirty="0"/>
              <a:t>have a name.</a:t>
            </a:r>
          </a:p>
          <a:p>
            <a:r>
              <a:rPr lang="en-IE" dirty="0"/>
              <a:t>are a VERY important programming concept.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624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Variable names…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458200" cy="4525963"/>
          </a:xfrm>
        </p:spPr>
        <p:txBody>
          <a:bodyPr>
            <a:noAutofit/>
          </a:bodyPr>
          <a:lstStyle/>
          <a:p>
            <a:r>
              <a:rPr lang="en-IE" sz="2500" dirty="0"/>
              <a:t>Are case-sensitive. </a:t>
            </a:r>
          </a:p>
          <a:p>
            <a:r>
              <a:rPr lang="en-IE" sz="2500" dirty="0"/>
              <a:t>Begin with either:</a:t>
            </a:r>
          </a:p>
          <a:p>
            <a:pPr lvl="1"/>
            <a:r>
              <a:rPr lang="en-IE" sz="2500" dirty="0"/>
              <a:t>a </a:t>
            </a:r>
            <a:r>
              <a:rPr lang="en-IE" sz="2500" b="1" dirty="0"/>
              <a:t>letter (preferable)</a:t>
            </a:r>
            <a:r>
              <a:rPr lang="en-IE" sz="2500" dirty="0"/>
              <a:t>, </a:t>
            </a:r>
          </a:p>
          <a:p>
            <a:pPr lvl="1"/>
            <a:r>
              <a:rPr lang="en-IE" sz="2500" dirty="0"/>
              <a:t>the dollar sign "$", or</a:t>
            </a:r>
          </a:p>
          <a:p>
            <a:pPr lvl="1"/>
            <a:r>
              <a:rPr lang="en-IE" sz="2500" dirty="0"/>
              <a:t>the underscore character "_". </a:t>
            </a:r>
          </a:p>
          <a:p>
            <a:r>
              <a:rPr lang="en-IE" sz="2500" dirty="0"/>
              <a:t>Can contain letters, digits, dollar signs, or underscore characters. </a:t>
            </a:r>
          </a:p>
          <a:p>
            <a:r>
              <a:rPr lang="en-IE" sz="2500" dirty="0"/>
              <a:t>Can be any length you choose.</a:t>
            </a:r>
          </a:p>
          <a:p>
            <a:r>
              <a:rPr lang="en-IE" sz="2500" dirty="0"/>
              <a:t>Must not be a </a:t>
            </a:r>
            <a:r>
              <a:rPr lang="en-IE" sz="2500" b="1" dirty="0"/>
              <a:t>keyword or reserved word </a:t>
            </a:r>
            <a:r>
              <a:rPr lang="en-IE" sz="2500" dirty="0"/>
              <a:t>e.g. </a:t>
            </a:r>
            <a:r>
              <a:rPr lang="en-IE" sz="2500" dirty="0" err="1"/>
              <a:t>int</a:t>
            </a:r>
            <a:r>
              <a:rPr lang="en-IE" sz="2500" dirty="0"/>
              <a:t>, while, etc.</a:t>
            </a:r>
          </a:p>
          <a:p>
            <a:r>
              <a:rPr lang="en-IE" sz="2500" dirty="0"/>
              <a:t>Cannot contain white spaces.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84252" y="6519446"/>
            <a:ext cx="8991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00" dirty="0"/>
              <a:t>https://docs.oracle.com/javase/tutorial/java/nutsandbolts/variables.html</a:t>
            </a:r>
          </a:p>
        </p:txBody>
      </p:sp>
    </p:spTree>
    <p:extLst>
      <p:ext uri="{BB962C8B-B14F-4D97-AF65-F5344CB8AC3E}">
        <p14:creationId xmlns:p14="http://schemas.microsoft.com/office/powerpoint/2010/main" val="74999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Variable names should be carefully chosen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E" sz="2800" dirty="0"/>
              <a:t>Use full words instead of cryptic abbreviations e.g.</a:t>
            </a:r>
          </a:p>
          <a:p>
            <a:pPr lvl="1"/>
            <a:r>
              <a:rPr lang="en-IE" sz="2400" dirty="0">
                <a:sym typeface="Wingdings" panose="05000000000000000000" pitchFamily="2" charset="2"/>
              </a:rPr>
              <a:t>v</a:t>
            </a:r>
            <a:r>
              <a:rPr lang="en-IE" sz="2400" dirty="0"/>
              <a:t>ariables named </a:t>
            </a:r>
            <a:r>
              <a:rPr lang="en-IE" sz="2400" dirty="0">
                <a:solidFill>
                  <a:srgbClr val="FF0000"/>
                </a:solidFill>
              </a:rPr>
              <a:t>speed</a:t>
            </a:r>
            <a:r>
              <a:rPr lang="en-IE" sz="2400" dirty="0"/>
              <a:t> and </a:t>
            </a:r>
            <a:r>
              <a:rPr lang="en-IE" sz="2400" dirty="0">
                <a:solidFill>
                  <a:srgbClr val="FF0000"/>
                </a:solidFill>
              </a:rPr>
              <a:t>gear</a:t>
            </a:r>
            <a:r>
              <a:rPr lang="en-IE" sz="2400" dirty="0"/>
              <a:t> are much more intuitive than abbreviated versions, such as </a:t>
            </a:r>
            <a:r>
              <a:rPr lang="en-IE" sz="2400" dirty="0">
                <a:solidFill>
                  <a:srgbClr val="FF0000"/>
                </a:solidFill>
              </a:rPr>
              <a:t>s </a:t>
            </a:r>
            <a:r>
              <a:rPr lang="en-IE" sz="2400" dirty="0"/>
              <a:t>and</a:t>
            </a:r>
            <a:r>
              <a:rPr lang="en-IE" sz="2400" dirty="0">
                <a:solidFill>
                  <a:srgbClr val="FF0000"/>
                </a:solidFill>
              </a:rPr>
              <a:t> g</a:t>
            </a:r>
            <a:r>
              <a:rPr lang="en-IE" sz="2400" dirty="0"/>
              <a:t>. </a:t>
            </a:r>
            <a:endParaRPr lang="en-IE" dirty="0"/>
          </a:p>
          <a:p>
            <a:endParaRPr lang="en-IE" sz="2800" dirty="0"/>
          </a:p>
          <a:p>
            <a:r>
              <a:rPr lang="en-IE" sz="2800" dirty="0"/>
              <a:t>If the name consists of:</a:t>
            </a:r>
          </a:p>
          <a:p>
            <a:pPr lvl="1"/>
            <a:r>
              <a:rPr lang="en-IE" sz="2400" dirty="0"/>
              <a:t>only one word, </a:t>
            </a:r>
          </a:p>
          <a:p>
            <a:pPr lvl="2"/>
            <a:r>
              <a:rPr lang="en-IE" sz="2000" dirty="0"/>
              <a:t>spell that word in all lowercase letters e.g. </a:t>
            </a:r>
            <a:r>
              <a:rPr lang="en-IE" sz="2000" dirty="0">
                <a:solidFill>
                  <a:srgbClr val="FF0000"/>
                </a:solidFill>
              </a:rPr>
              <a:t>ratio</a:t>
            </a:r>
            <a:r>
              <a:rPr lang="en-IE" sz="2000" dirty="0"/>
              <a:t>.</a:t>
            </a:r>
          </a:p>
          <a:p>
            <a:pPr lvl="1"/>
            <a:r>
              <a:rPr lang="en-IE" sz="2400" dirty="0"/>
              <a:t>more than one word, </a:t>
            </a:r>
          </a:p>
          <a:p>
            <a:pPr lvl="2"/>
            <a:r>
              <a:rPr lang="en-IE" sz="2000" dirty="0"/>
              <a:t>capitalise the first letter of each subsequent word e.g. </a:t>
            </a:r>
            <a:r>
              <a:rPr lang="en-IE" sz="2000" dirty="0" err="1">
                <a:solidFill>
                  <a:srgbClr val="FF0000"/>
                </a:solidFill>
              </a:rPr>
              <a:t>gearRatio</a:t>
            </a:r>
            <a:r>
              <a:rPr lang="en-IE" sz="2000" dirty="0"/>
              <a:t> and </a:t>
            </a:r>
            <a:r>
              <a:rPr lang="en-IE" sz="2000" dirty="0" err="1">
                <a:solidFill>
                  <a:srgbClr val="FF0000"/>
                </a:solidFill>
              </a:rPr>
              <a:t>currentGear</a:t>
            </a:r>
            <a:r>
              <a:rPr lang="en-IE" sz="2000" dirty="0"/>
              <a:t>. </a:t>
            </a:r>
          </a:p>
          <a:p>
            <a:pPr lvl="2"/>
            <a:r>
              <a:rPr lang="en-IE" sz="2000" dirty="0"/>
              <a:t>This is called </a:t>
            </a:r>
            <a:r>
              <a:rPr lang="en-IE" sz="2000" b="1" dirty="0" err="1"/>
              <a:t>camelCase</a:t>
            </a:r>
            <a:endParaRPr lang="en-IE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1584252" y="6519446"/>
            <a:ext cx="8991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00" dirty="0"/>
              <a:t>https://docs.oracle.com/javase/tutorial/java/nutsandbolts/variables.html</a:t>
            </a:r>
          </a:p>
        </p:txBody>
      </p:sp>
    </p:spTree>
    <p:extLst>
      <p:ext uri="{BB962C8B-B14F-4D97-AF65-F5344CB8AC3E}">
        <p14:creationId xmlns:p14="http://schemas.microsoft.com/office/powerpoint/2010/main" val="71069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Kinds of variables so far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Fields are one sort of variable.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store values through the life of an object.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are accessible throughout the class.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800" dirty="0">
              <a:ea typeface="MS PGothic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Parameters are another sort of variable: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receive values from outside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help a method complete its task.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Each call to the method receives a fresh set of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Parameter values are short lived.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800" dirty="0">
              <a:ea typeface="MS P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50A6-40FF-E2A4-1B6D-CB1A0DAA6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C679-3968-1F7F-0E1B-80EE515CD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735C08-AE6B-B365-B94B-AB822A285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Variables.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 Keywords, tokens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Data Types.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Java’s Primitive Data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Whole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Decimal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Others.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Arithmetic operators.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2BB8A-D393-1643-ACD9-F0115E05AEFB}"/>
              </a:ext>
            </a:extLst>
          </p:cNvPr>
          <p:cNvSpPr/>
          <p:nvPr/>
        </p:nvSpPr>
        <p:spPr>
          <a:xfrm>
            <a:off x="1127448" y="2276872"/>
            <a:ext cx="2664296" cy="388639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010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Java Keywords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dirty="0">
                <a:ea typeface="MS PGothic" charset="-128"/>
              </a:rPr>
              <a:t>Words with a special meaning in the language, </a:t>
            </a:r>
            <a:r>
              <a:rPr lang="en-GB" altLang="en-US" dirty="0" err="1">
                <a:ea typeface="MS PGothic" charset="-128"/>
              </a:rPr>
              <a:t>e.g</a:t>
            </a:r>
            <a:r>
              <a:rPr lang="en-GB" altLang="en-US" dirty="0">
                <a:ea typeface="MS PGothic" charset="-128"/>
              </a:rPr>
              <a:t>: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public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class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private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int</a:t>
            </a:r>
          </a:p>
          <a:p>
            <a:r>
              <a:rPr lang="en-GB" altLang="en-US" dirty="0">
                <a:ea typeface="MS PGothic" charset="-128"/>
              </a:rPr>
              <a:t>Also known as </a:t>
            </a:r>
            <a:r>
              <a:rPr lang="en-GB" altLang="en-US" i="1" dirty="0">
                <a:ea typeface="MS PGothic" charset="-128"/>
              </a:rPr>
              <a:t>reserved words</a:t>
            </a:r>
            <a:r>
              <a:rPr lang="en-GB" altLang="en-US" dirty="0">
                <a:ea typeface="MS PGothic" charset="-128"/>
              </a:rPr>
              <a:t>.</a:t>
            </a:r>
          </a:p>
          <a:p>
            <a:r>
              <a:rPr lang="en-GB" altLang="en-US" dirty="0">
                <a:ea typeface="MS PGothic" charset="-128"/>
              </a:rPr>
              <a:t>Special words that the Java language keeps for itself.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Keywords – list </a:t>
            </a:r>
          </a:p>
        </p:txBody>
      </p:sp>
      <p:sp>
        <p:nvSpPr>
          <p:cNvPr id="29707" name="Footer Placeholder 3">
            <a:extLst>
              <a:ext uri="{FF2B5EF4-FFF2-40B4-BE49-F238E27FC236}">
                <a16:creationId xmlns:a16="http://schemas.microsoft.com/office/drawing/2014/main" id="{A7F1B9FE-14A3-70D7-6264-B8ADE588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1D97D-9F87-6B5D-B67B-1A8CCD37F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A86C0-0F5C-6C3F-B887-B7187F259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2132856"/>
            <a:ext cx="10959169" cy="3458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Keywords (technical description)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8749"/>
            <a:ext cx="10972800" cy="4525963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A </a:t>
            </a:r>
            <a:r>
              <a:rPr lang="en-IE" b="1" dirty="0"/>
              <a:t>reserved word</a:t>
            </a:r>
            <a:r>
              <a:rPr lang="en-IE" dirty="0"/>
              <a:t> (or keyword) in Java is a </a:t>
            </a:r>
            <a:r>
              <a:rPr lang="en-IE" b="1" dirty="0"/>
              <a:t>token </a:t>
            </a:r>
            <a:r>
              <a:rPr lang="en-IE" dirty="0"/>
              <a:t>that has a predefined meaning in the language’s grammar and cannot be redefined or used as an identifier.</a:t>
            </a:r>
          </a:p>
          <a:p>
            <a:endParaRPr lang="en-IE" dirty="0"/>
          </a:p>
          <a:p>
            <a:r>
              <a:rPr lang="en-IE" dirty="0"/>
              <a:t>They are part of the Java specification.</a:t>
            </a:r>
          </a:p>
          <a:p>
            <a:endParaRPr lang="en-IE" dirty="0"/>
          </a:p>
          <a:p>
            <a:r>
              <a:rPr lang="en-IE" dirty="0"/>
              <a:t>They are case-sensitive (e.g., Class is not the same as class).</a:t>
            </a:r>
          </a:p>
          <a:p>
            <a:endParaRPr lang="en-IE" dirty="0"/>
          </a:p>
          <a:p>
            <a:r>
              <a:rPr lang="en-IE" dirty="0"/>
              <a:t>Using a reserved word as an identifier results in a compile-time error.</a:t>
            </a:r>
          </a:p>
        </p:txBody>
      </p:sp>
      <p:sp>
        <p:nvSpPr>
          <p:cNvPr id="2" name="Line Callout 1 (Border and Accent Bar) 1">
            <a:extLst>
              <a:ext uri="{FF2B5EF4-FFF2-40B4-BE49-F238E27FC236}">
                <a16:creationId xmlns:a16="http://schemas.microsoft.com/office/drawing/2014/main" id="{33DFBCD9-8C44-EFFF-8019-8437032D8374}"/>
              </a:ext>
            </a:extLst>
          </p:cNvPr>
          <p:cNvSpPr/>
          <p:nvPr/>
        </p:nvSpPr>
        <p:spPr>
          <a:xfrm>
            <a:off x="9782200" y="8316"/>
            <a:ext cx="1800200" cy="1224136"/>
          </a:xfrm>
          <a:prstGeom prst="accentBorderCallout1">
            <a:avLst>
              <a:gd name="adj1" fmla="val 18750"/>
              <a:gd name="adj2" fmla="val -8333"/>
              <a:gd name="adj3" fmla="val 128062"/>
              <a:gd name="adj4" fmla="val -961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token is small meaningful piece of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E27C-68C2-C763-5A5A-9CFA2D99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tokens – let’s </a:t>
            </a:r>
            <a:r>
              <a:rPr lang="en-US" b="1" dirty="0" err="1"/>
              <a:t>tokenise</a:t>
            </a:r>
            <a:r>
              <a:rPr lang="en-US" dirty="0"/>
              <a:t> a </a:t>
            </a:r>
            <a:r>
              <a:rPr lang="en-US" dirty="0" err="1"/>
              <a:t>stmt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E4090-0156-912F-7FE0-77C6E046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AB3976-0788-7610-76D5-5F1856F3CCAB}"/>
              </a:ext>
            </a:extLst>
          </p:cNvPr>
          <p:cNvSpPr/>
          <p:nvPr/>
        </p:nvSpPr>
        <p:spPr>
          <a:xfrm>
            <a:off x="1565423" y="2675050"/>
            <a:ext cx="3090417" cy="16900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</a:rPr>
              <a:t>int age = 21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Line Callout 1 (Border and Accent Bar) 5">
            <a:extLst>
              <a:ext uri="{FF2B5EF4-FFF2-40B4-BE49-F238E27FC236}">
                <a16:creationId xmlns:a16="http://schemas.microsoft.com/office/drawing/2014/main" id="{FC7E84E6-84F9-F3CC-D3F4-372157E87CB7}"/>
              </a:ext>
            </a:extLst>
          </p:cNvPr>
          <p:cNvSpPr/>
          <p:nvPr/>
        </p:nvSpPr>
        <p:spPr>
          <a:xfrm>
            <a:off x="449299" y="1612431"/>
            <a:ext cx="2232248" cy="752876"/>
          </a:xfrm>
          <a:prstGeom prst="accentBorderCallout1">
            <a:avLst>
              <a:gd name="adj1" fmla="val 18750"/>
              <a:gd name="adj2" fmla="val -8333"/>
              <a:gd name="adj3" fmla="val 250495"/>
              <a:gd name="adj4" fmla="val 581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 (a reserved word)</a:t>
            </a:r>
          </a:p>
        </p:txBody>
      </p:sp>
      <p:sp>
        <p:nvSpPr>
          <p:cNvPr id="9" name="Line Callout 1 (Border and Accent Bar) 8">
            <a:extLst>
              <a:ext uri="{FF2B5EF4-FFF2-40B4-BE49-F238E27FC236}">
                <a16:creationId xmlns:a16="http://schemas.microsoft.com/office/drawing/2014/main" id="{725D20E6-6F3F-C54B-EB8B-65C8EA85F349}"/>
              </a:ext>
            </a:extLst>
          </p:cNvPr>
          <p:cNvSpPr/>
          <p:nvPr/>
        </p:nvSpPr>
        <p:spPr>
          <a:xfrm>
            <a:off x="2416200" y="5622515"/>
            <a:ext cx="2671688" cy="752876"/>
          </a:xfrm>
          <a:prstGeom prst="accentBorderCallout1">
            <a:avLst>
              <a:gd name="adj1" fmla="val 18750"/>
              <a:gd name="adj2" fmla="val -8333"/>
              <a:gd name="adj3" fmla="val -263080"/>
              <a:gd name="adj4" fmla="val 93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age (a variable name)</a:t>
            </a:r>
          </a:p>
        </p:txBody>
      </p:sp>
      <p:sp>
        <p:nvSpPr>
          <p:cNvPr id="10" name="Line Callout 1 (Border and Accent Bar) 9">
            <a:extLst>
              <a:ext uri="{FF2B5EF4-FFF2-40B4-BE49-F238E27FC236}">
                <a16:creationId xmlns:a16="http://schemas.microsoft.com/office/drawing/2014/main" id="{32C5C039-2107-E686-DBF5-6753455D0921}"/>
              </a:ext>
            </a:extLst>
          </p:cNvPr>
          <p:cNvSpPr/>
          <p:nvPr/>
        </p:nvSpPr>
        <p:spPr>
          <a:xfrm>
            <a:off x="4511824" y="1612431"/>
            <a:ext cx="2232248" cy="752876"/>
          </a:xfrm>
          <a:prstGeom prst="accentBorderCallout1">
            <a:avLst>
              <a:gd name="adj1" fmla="val 18750"/>
              <a:gd name="adj2" fmla="val -8333"/>
              <a:gd name="adj3" fmla="val 231083"/>
              <a:gd name="adj4" fmla="val -660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= (an operator)</a:t>
            </a:r>
          </a:p>
        </p:txBody>
      </p:sp>
      <p:sp>
        <p:nvSpPr>
          <p:cNvPr id="11" name="Line Callout 1 (Border and Accent Bar) 10">
            <a:extLst>
              <a:ext uri="{FF2B5EF4-FFF2-40B4-BE49-F238E27FC236}">
                <a16:creationId xmlns:a16="http://schemas.microsoft.com/office/drawing/2014/main" id="{D5B37883-F2A5-4555-7F72-3A467BD9B095}"/>
              </a:ext>
            </a:extLst>
          </p:cNvPr>
          <p:cNvSpPr/>
          <p:nvPr/>
        </p:nvSpPr>
        <p:spPr>
          <a:xfrm>
            <a:off x="8803692" y="5051015"/>
            <a:ext cx="1944216" cy="1143000"/>
          </a:xfrm>
          <a:prstGeom prst="accentBorderCallout1">
            <a:avLst>
              <a:gd name="adj1" fmla="val 18750"/>
              <a:gd name="adj2" fmla="val -8333"/>
              <a:gd name="adj3" fmla="val -116242"/>
              <a:gd name="adj4" fmla="val -2740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 =(a literal value)</a:t>
            </a:r>
          </a:p>
        </p:txBody>
      </p:sp>
      <p:sp>
        <p:nvSpPr>
          <p:cNvPr id="12" name="Line Callout 1 (Border and Accent Bar) 11">
            <a:extLst>
              <a:ext uri="{FF2B5EF4-FFF2-40B4-BE49-F238E27FC236}">
                <a16:creationId xmlns:a16="http://schemas.microsoft.com/office/drawing/2014/main" id="{18DC195D-9D1B-7DFD-7C75-BDB0F96C297C}"/>
              </a:ext>
            </a:extLst>
          </p:cNvPr>
          <p:cNvSpPr/>
          <p:nvPr/>
        </p:nvSpPr>
        <p:spPr>
          <a:xfrm>
            <a:off x="8826277" y="3316967"/>
            <a:ext cx="1944215" cy="1142999"/>
          </a:xfrm>
          <a:prstGeom prst="accentBorderCallout1">
            <a:avLst>
              <a:gd name="adj1" fmla="val 18750"/>
              <a:gd name="adj2" fmla="val -8333"/>
              <a:gd name="adj3" fmla="val 24605"/>
              <a:gd name="adj4" fmla="val -2599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; (a separator)</a:t>
            </a:r>
          </a:p>
        </p:txBody>
      </p:sp>
    </p:spTree>
    <p:extLst>
      <p:ext uri="{BB962C8B-B14F-4D97-AF65-F5344CB8AC3E}">
        <p14:creationId xmlns:p14="http://schemas.microsoft.com/office/powerpoint/2010/main" val="395159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8028B-4A4D-F743-8435-C4FC9CC8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6F33-0319-66D6-BF45-D3B54FD9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FE2F77-FC70-3B31-3AB1-64A6461ED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Variables.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 Keywords, tokens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Data Types.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Java’s Primitive Data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Whole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Decimal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Others.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Arithmetic operators.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E5764E-4A13-630E-7CE0-246E24ADC8B2}"/>
              </a:ext>
            </a:extLst>
          </p:cNvPr>
          <p:cNvSpPr/>
          <p:nvPr/>
        </p:nvSpPr>
        <p:spPr>
          <a:xfrm>
            <a:off x="1127448" y="2924944"/>
            <a:ext cx="1800200" cy="388639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056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10560496" cy="4983162"/>
          </a:xfrm>
        </p:spPr>
        <p:txBody>
          <a:bodyPr>
            <a:noAutofit/>
          </a:bodyPr>
          <a:lstStyle/>
          <a:p>
            <a:r>
              <a:rPr lang="en-IE" sz="2800" dirty="0"/>
              <a:t>In Java, when we define a variable, we </a:t>
            </a:r>
            <a:r>
              <a:rPr lang="en-IE" sz="2800" b="1" u="sng" dirty="0"/>
              <a:t>have</a:t>
            </a:r>
            <a:r>
              <a:rPr lang="en-IE" sz="2800" dirty="0"/>
              <a:t> to give it a data type.</a:t>
            </a:r>
          </a:p>
          <a:p>
            <a:endParaRPr lang="en-IE" sz="2800" dirty="0"/>
          </a:p>
          <a:p>
            <a:r>
              <a:rPr lang="en-IE" sz="2800" dirty="0"/>
              <a:t>The data type defines the </a:t>
            </a:r>
            <a:r>
              <a:rPr lang="en-IE" sz="2800" b="1" u="sng" dirty="0"/>
              <a:t>kinds of values</a:t>
            </a:r>
            <a:r>
              <a:rPr lang="en-IE" sz="2800" b="1" dirty="0"/>
              <a:t> </a:t>
            </a:r>
            <a:r>
              <a:rPr lang="en-IE" sz="2800" dirty="0"/>
              <a:t>(data) that can be stored in the variable e.g. </a:t>
            </a:r>
          </a:p>
          <a:p>
            <a:pPr lvl="2"/>
            <a:r>
              <a:rPr lang="en-IE" sz="2800" dirty="0"/>
              <a:t>- 456</a:t>
            </a:r>
          </a:p>
          <a:p>
            <a:pPr lvl="2"/>
            <a:r>
              <a:rPr lang="en-IE" sz="2800" dirty="0"/>
              <a:t>2</a:t>
            </a:r>
          </a:p>
          <a:p>
            <a:pPr lvl="2"/>
            <a:r>
              <a:rPr lang="en-IE" sz="2800" dirty="0"/>
              <a:t>45.7897</a:t>
            </a:r>
          </a:p>
          <a:p>
            <a:pPr marL="914400" lvl="2" indent="0">
              <a:buNone/>
            </a:pPr>
            <a:endParaRPr lang="en-IE" sz="2800" dirty="0"/>
          </a:p>
          <a:p>
            <a:r>
              <a:rPr lang="en-US" sz="2800" dirty="0"/>
              <a:t>The data type also determines the </a:t>
            </a:r>
            <a:r>
              <a:rPr lang="en-US" sz="2800" b="1" u="sng" dirty="0"/>
              <a:t>operations</a:t>
            </a:r>
            <a:r>
              <a:rPr lang="en-US" sz="2800" dirty="0"/>
              <a:t> that may be performed on 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69317-95B6-AEA3-8D40-0A99CC3F8C03}"/>
              </a:ext>
            </a:extLst>
          </p:cNvPr>
          <p:cNvSpPr txBox="1"/>
          <p:nvPr/>
        </p:nvSpPr>
        <p:spPr>
          <a:xfrm>
            <a:off x="3287688" y="4149080"/>
            <a:ext cx="1022513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E" sz="2800" dirty="0"/>
              <a:t>I Love Programming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E" sz="2800" dirty="0"/>
              <a:t>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E" sz="2800" dirty="0"/>
              <a:t>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01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Java uses two kinds of data types:</a:t>
            </a:r>
          </a:p>
          <a:p>
            <a:pPr lvl="1"/>
            <a:r>
              <a:rPr lang="en-US" b="1" dirty="0"/>
              <a:t>Primitive</a:t>
            </a:r>
            <a:r>
              <a:rPr lang="en-US" dirty="0"/>
              <a:t> types</a:t>
            </a:r>
          </a:p>
          <a:p>
            <a:pPr lvl="1"/>
            <a:r>
              <a:rPr lang="en-US" b="1" dirty="0"/>
              <a:t>Object</a:t>
            </a:r>
            <a:r>
              <a:rPr lang="en-US" dirty="0"/>
              <a:t> types</a:t>
            </a:r>
          </a:p>
          <a:p>
            <a:pPr lvl="1"/>
            <a:endParaRPr lang="en-US" dirty="0"/>
          </a:p>
          <a:p>
            <a:r>
              <a:rPr lang="en-US" dirty="0"/>
              <a:t>We are only looking at </a:t>
            </a:r>
            <a:r>
              <a:rPr lang="en-US" b="1" dirty="0">
                <a:solidFill>
                  <a:srgbClr val="FF0000"/>
                </a:solidFill>
              </a:rPr>
              <a:t>Primitive</a:t>
            </a:r>
            <a:r>
              <a:rPr lang="en-US" dirty="0"/>
              <a:t> types now; we will cover Object types later in the module.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08075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Java’s Primitive Data Types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Java programming language supports </a:t>
            </a:r>
            <a:r>
              <a:rPr lang="en-US" u="sng" dirty="0"/>
              <a:t>eight</a:t>
            </a:r>
            <a:r>
              <a:rPr lang="en-US" dirty="0"/>
              <a:t>  primitive data types. </a:t>
            </a:r>
          </a:p>
          <a:p>
            <a:pPr>
              <a:buFont typeface="Wingdings" charset="2"/>
              <a:buNone/>
            </a:pPr>
            <a:endParaRPr lang="en-US" dirty="0"/>
          </a:p>
          <a:p>
            <a:r>
              <a:rPr lang="en-US" dirty="0"/>
              <a:t>A primitive type is predefined by the language and is named by a </a:t>
            </a:r>
            <a:r>
              <a:rPr lang="en-US" u="sng" dirty="0"/>
              <a:t>reserved keyword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A primitive type is highlighted red when it is typed into the </a:t>
            </a:r>
            <a:r>
              <a:rPr lang="en-US" dirty="0" err="1"/>
              <a:t>BlueJ</a:t>
            </a:r>
            <a:r>
              <a:rPr lang="en-US" dirty="0"/>
              <a:t> editor e.g.</a:t>
            </a:r>
          </a:p>
          <a:p>
            <a:pPr marL="0" indent="0">
              <a:buNone/>
            </a:pPr>
            <a:r>
              <a:rPr lang="en-US" sz="3800" dirty="0"/>
              <a:t>	</a:t>
            </a:r>
            <a:r>
              <a:rPr lang="en-US" sz="2800" b="1" dirty="0" err="1">
                <a:solidFill>
                  <a:srgbClr val="FF0000"/>
                </a:solidFill>
                <a:latin typeface="Anonymous" pitchFamily="49" charset="0"/>
              </a:rPr>
              <a:t>int</a:t>
            </a:r>
            <a:r>
              <a:rPr lang="en-US" sz="2800" b="1" dirty="0">
                <a:solidFill>
                  <a:srgbClr val="FF0000"/>
                </a:solidFill>
                <a:latin typeface="Anonymous" pitchFamily="49" charset="0"/>
              </a:rPr>
              <a:t> </a:t>
            </a:r>
            <a:r>
              <a:rPr lang="en-US" sz="2800" b="1" dirty="0" err="1">
                <a:latin typeface="Anonymous" pitchFamily="49" charset="0"/>
              </a:rPr>
              <a:t>numberOfItems</a:t>
            </a:r>
            <a:r>
              <a:rPr lang="en-US" sz="2800" b="1" dirty="0">
                <a:latin typeface="Anonymous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nonymous" pitchFamily="49" charset="0"/>
              </a:rPr>
              <a:t>	</a:t>
            </a:r>
            <a:r>
              <a:rPr lang="en-US" sz="2800" b="1" dirty="0" err="1">
                <a:solidFill>
                  <a:srgbClr val="FF0000"/>
                </a:solidFill>
                <a:latin typeface="Anonymous" pitchFamily="49" charset="0"/>
              </a:rPr>
              <a:t>boolean</a:t>
            </a:r>
            <a:r>
              <a:rPr lang="en-US" sz="2800" b="1" dirty="0">
                <a:solidFill>
                  <a:srgbClr val="FF0000"/>
                </a:solidFill>
                <a:latin typeface="Anonymous" pitchFamily="49" charset="0"/>
              </a:rPr>
              <a:t> </a:t>
            </a:r>
            <a:r>
              <a:rPr lang="en-US" sz="2800" b="1" dirty="0" err="1">
                <a:latin typeface="Anonymous" pitchFamily="49" charset="0"/>
              </a:rPr>
              <a:t>isAlive</a:t>
            </a:r>
            <a:endParaRPr lang="en-US" sz="2800" b="1" dirty="0">
              <a:latin typeface="Anonymous" pitchFamily="49" charset="0"/>
            </a:endParaRPr>
          </a:p>
          <a:p>
            <a:pPr marL="0" indent="0">
              <a:buNone/>
            </a:pPr>
            <a:r>
              <a:rPr lang="en-US" sz="2800" b="1" dirty="0">
                <a:latin typeface="Anonymous" pitchFamily="49" charset="0"/>
              </a:rPr>
              <a:t>	</a:t>
            </a:r>
            <a:r>
              <a:rPr lang="en-US" sz="2800" b="1" dirty="0">
                <a:solidFill>
                  <a:srgbClr val="FF0000"/>
                </a:solidFill>
                <a:latin typeface="Anonymous" pitchFamily="49" charset="0"/>
              </a:rPr>
              <a:t>float</a:t>
            </a:r>
            <a:r>
              <a:rPr lang="en-US" sz="2800" b="1" dirty="0">
                <a:latin typeface="Anonymous" pitchFamily="49" charset="0"/>
              </a:rPr>
              <a:t> </a:t>
            </a:r>
            <a:r>
              <a:rPr lang="en-US" sz="2800" b="1" dirty="0" err="1">
                <a:latin typeface="Anonymous" pitchFamily="49" charset="0"/>
              </a:rPr>
              <a:t>sizeOfSquare</a:t>
            </a:r>
            <a:r>
              <a:rPr lang="en-US" sz="2800" b="1" dirty="0">
                <a:latin typeface="Anonymous" pitchFamily="49" charset="0"/>
              </a:rPr>
              <a:t>;</a:t>
            </a:r>
            <a:endParaRPr lang="en-US" sz="3800" b="1" dirty="0"/>
          </a:p>
          <a:p>
            <a:pPr lvl="1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915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D312-90AE-8F5E-F1F6-EB010F72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D404-E3C5-80CA-6DE7-12F3855D6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076467-04CD-802E-5F6A-2A407CC06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Variables.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 Keywords, tokens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Data Types.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Java’s Primitive Data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Whole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Decimal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Others.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Arithmetic operators.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2AF2C8-72BC-404B-59A2-06E737042482}"/>
              </a:ext>
            </a:extLst>
          </p:cNvPr>
          <p:cNvSpPr/>
          <p:nvPr/>
        </p:nvSpPr>
        <p:spPr>
          <a:xfrm>
            <a:off x="1055440" y="4293096"/>
            <a:ext cx="3240360" cy="964703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Left Arrow 2">
            <a:extLst>
              <a:ext uri="{FF2B5EF4-FFF2-40B4-BE49-F238E27FC236}">
                <a16:creationId xmlns:a16="http://schemas.microsoft.com/office/drawing/2014/main" id="{D05BEE3B-8495-0439-3468-9AD2468F0451}"/>
              </a:ext>
            </a:extLst>
          </p:cNvPr>
          <p:cNvSpPr/>
          <p:nvPr/>
        </p:nvSpPr>
        <p:spPr>
          <a:xfrm>
            <a:off x="4511824" y="4293096"/>
            <a:ext cx="20574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03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Java’s Primitive Data Types (whole numbers)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752600" y="1752600"/>
          <a:ext cx="8686800" cy="470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Byte-size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Minimum value</a:t>
                      </a:r>
                      <a:r>
                        <a:rPr lang="en-IE" baseline="0" dirty="0"/>
                        <a:t> (inclusive)</a:t>
                      </a:r>
                      <a:endParaRPr lang="en-IE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Maximum value </a:t>
                      </a:r>
                      <a:r>
                        <a:rPr lang="en-IE" baseline="0" dirty="0"/>
                        <a:t>(inclusive)</a:t>
                      </a:r>
                      <a:endParaRPr lang="en-IE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Typical Use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algn="l"/>
                      <a:r>
                        <a:rPr lang="en-IE" sz="2400" dirty="0">
                          <a:solidFill>
                            <a:srgbClr val="FF0000"/>
                          </a:solidFill>
                        </a:rPr>
                        <a:t>byte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127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Useful in applications where memory savings apply.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IE" sz="2400" dirty="0">
                          <a:solidFill>
                            <a:srgbClr val="FF0000"/>
                          </a:solidFill>
                        </a:rPr>
                        <a:t>short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16-bit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32,767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E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IE" sz="2400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endParaRPr lang="en-IE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32-bit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2,147,483,647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choice.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IE" sz="2400" dirty="0">
                          <a:solidFill>
                            <a:srgbClr val="FF0000"/>
                          </a:solidFill>
                        </a:rPr>
                        <a:t>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64-bit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-9,223,372,036,854,775,808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9,223,372,036,854,775,807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when you need a data type</a:t>
                      </a:r>
                      <a:r>
                        <a:rPr lang="en-IE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with a range of values larger than that provided by int.</a:t>
                      </a:r>
                      <a:endParaRPr lang="en-IE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oughnut 2">
            <a:extLst>
              <a:ext uri="{FF2B5EF4-FFF2-40B4-BE49-F238E27FC236}">
                <a16:creationId xmlns:a16="http://schemas.microsoft.com/office/drawing/2014/main" id="{F72AED47-39AD-FA4F-D38B-A8137ACAE7E5}"/>
              </a:ext>
            </a:extLst>
          </p:cNvPr>
          <p:cNvSpPr/>
          <p:nvPr/>
        </p:nvSpPr>
        <p:spPr>
          <a:xfrm>
            <a:off x="983432" y="3717032"/>
            <a:ext cx="2160240" cy="864096"/>
          </a:xfrm>
          <a:prstGeom prst="donu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Line Callout 1 (Border and Accent Bar) 3">
            <a:extLst>
              <a:ext uri="{FF2B5EF4-FFF2-40B4-BE49-F238E27FC236}">
                <a16:creationId xmlns:a16="http://schemas.microsoft.com/office/drawing/2014/main" id="{509CE2AD-4300-5E78-4DB0-DA411A69A70C}"/>
              </a:ext>
            </a:extLst>
          </p:cNvPr>
          <p:cNvSpPr/>
          <p:nvPr/>
        </p:nvSpPr>
        <p:spPr>
          <a:xfrm>
            <a:off x="1991544" y="7317431"/>
            <a:ext cx="2808312" cy="1256079"/>
          </a:xfrm>
          <a:prstGeom prst="accentBorderCallout1">
            <a:avLst>
              <a:gd name="adj1" fmla="val 18750"/>
              <a:gd name="adj2" fmla="val -8333"/>
              <a:gd name="adj3" fmla="val -207363"/>
              <a:gd name="adj4" fmla="val -12909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 will mostly use int for whole numbers</a:t>
            </a:r>
          </a:p>
        </p:txBody>
      </p:sp>
    </p:spTree>
    <p:extLst>
      <p:ext uri="{BB962C8B-B14F-4D97-AF65-F5344CB8AC3E}">
        <p14:creationId xmlns:p14="http://schemas.microsoft.com/office/powerpoint/2010/main" val="8590309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F1B9-FBE7-7C3A-2EAC-613F2323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variables of a specific type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A36335-4F2F-1A1D-C8B2-2EFEB6DE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405E61-3380-23D3-C016-A56308DD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070" y="1700808"/>
            <a:ext cx="9419860" cy="4443124"/>
          </a:xfrm>
          <a:prstGeom prst="rect">
            <a:avLst/>
          </a:prstGeom>
        </p:spPr>
      </p:pic>
      <p:sp>
        <p:nvSpPr>
          <p:cNvPr id="9" name="Doughnut 8">
            <a:extLst>
              <a:ext uri="{FF2B5EF4-FFF2-40B4-BE49-F238E27FC236}">
                <a16:creationId xmlns:a16="http://schemas.microsoft.com/office/drawing/2014/main" id="{ED338675-C25D-3EA9-77CD-BF0B829369E4}"/>
              </a:ext>
            </a:extLst>
          </p:cNvPr>
          <p:cNvSpPr/>
          <p:nvPr/>
        </p:nvSpPr>
        <p:spPr>
          <a:xfrm>
            <a:off x="1199456" y="3429000"/>
            <a:ext cx="4680520" cy="1728192"/>
          </a:xfrm>
          <a:prstGeom prst="don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84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5555-B3F3-95AB-C800-60CA487F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80" y="227014"/>
            <a:ext cx="10972800" cy="1143000"/>
          </a:xfrm>
        </p:spPr>
        <p:txBody>
          <a:bodyPr/>
          <a:lstStyle/>
          <a:p>
            <a:r>
              <a:rPr lang="en-US" dirty="0"/>
              <a:t>Declaring variables of a specific type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E6C25-FF12-70EB-E455-8EBCB0428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14E27D-BB66-686F-69C4-B1C73E320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68" y="1581939"/>
            <a:ext cx="9577064" cy="5049047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DB575705-881E-A512-DAAC-6068C4BFFE54}"/>
              </a:ext>
            </a:extLst>
          </p:cNvPr>
          <p:cNvSpPr/>
          <p:nvPr/>
        </p:nvSpPr>
        <p:spPr>
          <a:xfrm>
            <a:off x="1919536" y="5226335"/>
            <a:ext cx="8964996" cy="805979"/>
          </a:xfrm>
          <a:prstGeom prst="fram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7630E112-F0D9-DE22-2379-01320B5098DE}"/>
              </a:ext>
            </a:extLst>
          </p:cNvPr>
          <p:cNvSpPr/>
          <p:nvPr/>
        </p:nvSpPr>
        <p:spPr>
          <a:xfrm>
            <a:off x="1919536" y="4420356"/>
            <a:ext cx="8964996" cy="805979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Line Callout 1 (Border and Accent Bar) 4">
            <a:extLst>
              <a:ext uri="{FF2B5EF4-FFF2-40B4-BE49-F238E27FC236}">
                <a16:creationId xmlns:a16="http://schemas.microsoft.com/office/drawing/2014/main" id="{93889B07-AE43-C27E-5ED7-8A13D5EBEFD9}"/>
              </a:ext>
            </a:extLst>
          </p:cNvPr>
          <p:cNvSpPr/>
          <p:nvPr/>
        </p:nvSpPr>
        <p:spPr>
          <a:xfrm>
            <a:off x="8256240" y="3001051"/>
            <a:ext cx="2880320" cy="1207380"/>
          </a:xfrm>
          <a:prstGeom prst="accentBorderCallout1">
            <a:avLst>
              <a:gd name="adj1" fmla="val 18750"/>
              <a:gd name="adj2" fmla="val -8333"/>
              <a:gd name="adj3" fmla="val 118326"/>
              <a:gd name="adj4" fmla="val -8473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can assign a value at the same time as declaration. This is called </a:t>
            </a:r>
            <a:r>
              <a:rPr lang="en-US" dirty="0">
                <a:solidFill>
                  <a:srgbClr val="FF0000"/>
                </a:solidFill>
              </a:rPr>
              <a:t>defining the variable</a:t>
            </a:r>
          </a:p>
        </p:txBody>
      </p:sp>
    </p:spTree>
    <p:extLst>
      <p:ext uri="{BB962C8B-B14F-4D97-AF65-F5344CB8AC3E}">
        <p14:creationId xmlns:p14="http://schemas.microsoft.com/office/powerpoint/2010/main" val="354870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84510-90E5-1EB5-72D8-563038777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Declaring variables – some errors - 1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73A5430-6101-8C0B-5627-6075E6B0B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/>
          <a:p>
            <a:r>
              <a:rPr lang="en-US" sz="4000" dirty="0"/>
              <a:t>Data types are case sensitive 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Int</a:t>
            </a:r>
            <a:r>
              <a:rPr lang="en-US" sz="3200" dirty="0"/>
              <a:t> is not valid</a:t>
            </a:r>
          </a:p>
          <a:p>
            <a:pPr lvl="1"/>
            <a:r>
              <a:rPr lang="en-US" sz="3200" dirty="0">
                <a:solidFill>
                  <a:srgbClr val="00B050"/>
                </a:solidFill>
              </a:rPr>
              <a:t>int</a:t>
            </a:r>
            <a:r>
              <a:rPr lang="en-US" sz="3200" dirty="0"/>
              <a:t> is valid</a:t>
            </a:r>
          </a:p>
        </p:txBody>
      </p:sp>
      <p:sp>
        <p:nvSpPr>
          <p:cNvPr id="6" name="Line Callout 1 (Border and Accent Bar) 5">
            <a:extLst>
              <a:ext uri="{FF2B5EF4-FFF2-40B4-BE49-F238E27FC236}">
                <a16:creationId xmlns:a16="http://schemas.microsoft.com/office/drawing/2014/main" id="{ECBED942-406C-2E81-FA26-A03AA949CD0D}"/>
              </a:ext>
            </a:extLst>
          </p:cNvPr>
          <p:cNvSpPr/>
          <p:nvPr/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GB" sz="19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If you right-click on red underline, </a:t>
            </a:r>
            <a:r>
              <a:rPr lang="en-GB" sz="1900" b="1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BlueJ</a:t>
            </a:r>
            <a:r>
              <a:rPr lang="en-GB" sz="19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will help you fix the error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F089B1-63C5-3535-2257-1B724C8357C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r="7595" b="-3"/>
          <a:stretch>
            <a:fillRect/>
          </a:stretch>
        </p:blipFill>
        <p:spPr>
          <a:xfrm>
            <a:off x="6193368" y="2174875"/>
            <a:ext cx="5389033" cy="3951288"/>
          </a:xfrm>
          <a:prstGeom prst="rect">
            <a:avLst/>
          </a:prstGeom>
          <a:noFill/>
        </p:spPr>
      </p:pic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1DC98A19-719C-024E-976B-D1302E40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Line Callout 1 (Border and Accent Bar) 6">
            <a:extLst>
              <a:ext uri="{FF2B5EF4-FFF2-40B4-BE49-F238E27FC236}">
                <a16:creationId xmlns:a16="http://schemas.microsoft.com/office/drawing/2014/main" id="{7F4BAF34-8F93-763F-AD1C-C5224BD167C9}"/>
              </a:ext>
            </a:extLst>
          </p:cNvPr>
          <p:cNvSpPr/>
          <p:nvPr/>
        </p:nvSpPr>
        <p:spPr>
          <a:xfrm>
            <a:off x="4007768" y="4839402"/>
            <a:ext cx="1609536" cy="1666058"/>
          </a:xfrm>
          <a:prstGeom prst="accentBorderCallout1">
            <a:avLst>
              <a:gd name="adj1" fmla="val 15701"/>
              <a:gd name="adj2" fmla="val 103186"/>
              <a:gd name="adj3" fmla="val 7814"/>
              <a:gd name="adj4" fmla="val 22363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GB" b="1" dirty="0">
                <a:solidFill>
                  <a:schemeClr val="tx1"/>
                </a:solidFill>
              </a:rPr>
              <a:t>Red underline indicates that there is a syntax error. 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110D0A74-82AA-AF2F-E846-395ED8E72C95}"/>
              </a:ext>
            </a:extLst>
          </p:cNvPr>
          <p:cNvSpPr/>
          <p:nvPr/>
        </p:nvSpPr>
        <p:spPr>
          <a:xfrm rot="1548875">
            <a:off x="10013313" y="2044955"/>
            <a:ext cx="484632" cy="29523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1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EF6A1B6-5BB0-141D-92F7-56C4126B05B8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Declaring variables – some errors - 2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D40B67E-BEC1-0DF1-23DA-6F34C2B2A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368" y="2708920"/>
            <a:ext cx="5384800" cy="4525963"/>
          </a:xfrm>
        </p:spPr>
        <p:txBody>
          <a:bodyPr/>
          <a:lstStyle/>
          <a:p>
            <a:r>
              <a:rPr lang="en-US" dirty="0"/>
              <a:t>You can only have one declaration of any variable in a context.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4B22CE-4054-9142-1DC0-975F7B9AB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292" y="1838047"/>
            <a:ext cx="6544057" cy="4040955"/>
          </a:xfrm>
          <a:prstGeom prst="rect">
            <a:avLst/>
          </a:prstGeom>
          <a:noFill/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CF0BC1E-BB31-0BF1-7837-35A52FAF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31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53BA-DD11-31F9-4F42-F5080AD95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581B-E0EE-6F64-CD56-F00EFE6C8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600019-935E-A74B-5C5D-BEDC1D833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Variables.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 Keywords, tokens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Data Types.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Java’s Primitive Data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Whole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Decimal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Others.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Arithmetic operators.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DEC47B-C82E-88AE-1FDE-6F52EF2FCF2C}"/>
              </a:ext>
            </a:extLst>
          </p:cNvPr>
          <p:cNvSpPr/>
          <p:nvPr/>
        </p:nvSpPr>
        <p:spPr>
          <a:xfrm>
            <a:off x="1055440" y="4293096"/>
            <a:ext cx="3240360" cy="964703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Left Arrow 2">
            <a:extLst>
              <a:ext uri="{FF2B5EF4-FFF2-40B4-BE49-F238E27FC236}">
                <a16:creationId xmlns:a16="http://schemas.microsoft.com/office/drawing/2014/main" id="{33A6DFA6-341A-7144-71E0-46FF98841964}"/>
              </a:ext>
            </a:extLst>
          </p:cNvPr>
          <p:cNvSpPr/>
          <p:nvPr/>
        </p:nvSpPr>
        <p:spPr>
          <a:xfrm>
            <a:off x="4511824" y="4661147"/>
            <a:ext cx="20574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55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Java’s Primitive Data Types (decimal numbers)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676400"/>
          <a:ext cx="8305800" cy="403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8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4508">
                <a:tc>
                  <a:txBody>
                    <a:bodyPr/>
                    <a:lstStyle/>
                    <a:p>
                      <a:r>
                        <a:rPr lang="en-IE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Byte-size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Minimum value</a:t>
                      </a:r>
                      <a:r>
                        <a:rPr lang="en-IE" baseline="0" dirty="0"/>
                        <a:t> (inclusive)</a:t>
                      </a:r>
                      <a:endParaRPr lang="en-I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Maximum value </a:t>
                      </a:r>
                      <a:r>
                        <a:rPr lang="en-IE" baseline="0" dirty="0"/>
                        <a:t>(inclusive)</a:t>
                      </a:r>
                      <a:endParaRPr lang="en-I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Typical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454">
                <a:tc>
                  <a:txBody>
                    <a:bodyPr/>
                    <a:lstStyle/>
                    <a:p>
                      <a:endParaRPr lang="en-IE" sz="20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IE" sz="2000" dirty="0">
                          <a:solidFill>
                            <a:srgbClr val="FF0000"/>
                          </a:solidFill>
                        </a:rPr>
                        <a:t>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E" sz="2000" dirty="0"/>
                    </a:p>
                    <a:p>
                      <a:r>
                        <a:rPr lang="en-IE" sz="2000" dirty="0"/>
                        <a:t>32-bit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E" sz="2000" i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IE" sz="2000" i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E" sz="2000" i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Beyond the scope of this lecture .  </a:t>
                      </a:r>
                    </a:p>
                    <a:p>
                      <a:pPr marL="0" algn="l" defTabSz="914400" rtl="0" eaLnBrk="1" latinLnBrk="0" hangingPunct="1"/>
                      <a:endParaRPr lang="en-IE" sz="2000" i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E" sz="2000" i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There is also a loss of precision in</a:t>
                      </a:r>
                      <a:r>
                        <a:rPr lang="en-IE" sz="2000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this data-type that we will cover in later lectures.</a:t>
                      </a:r>
                      <a:endParaRPr lang="en-IE" sz="2000" i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E" sz="2400" i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Useful in applications where memory savings apply.</a:t>
                      </a:r>
                    </a:p>
                    <a:p>
                      <a:pPr marL="0" algn="l" defTabSz="914400" rtl="0" eaLnBrk="1" latinLnBrk="0" hangingPunct="1"/>
                      <a:endParaRPr lang="en-IE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E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Default choice</a:t>
                      </a:r>
                      <a:r>
                        <a:rPr lang="en-IE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when using </a:t>
                      </a:r>
                      <a:r>
                        <a:rPr lang="en-IE" sz="2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Processing</a:t>
                      </a:r>
                      <a:r>
                        <a:rPr lang="en-IE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en-IE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454">
                <a:tc>
                  <a:txBody>
                    <a:bodyPr/>
                    <a:lstStyle/>
                    <a:p>
                      <a:endParaRPr lang="en-IE" sz="20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IE" sz="2000" dirty="0">
                          <a:solidFill>
                            <a:srgbClr val="FF0000"/>
                          </a:solidFill>
                        </a:rPr>
                        <a:t>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E" sz="2000" dirty="0"/>
                    </a:p>
                    <a:p>
                      <a:r>
                        <a:rPr lang="en-IE" sz="2000" dirty="0"/>
                        <a:t>64-bit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E" sz="2400" i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E" sz="2400" i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  <a:r>
                        <a:rPr lang="en-IE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choice when programming </a:t>
                      </a:r>
                      <a:r>
                        <a:rPr lang="en-IE" sz="20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 apps.</a:t>
                      </a:r>
                      <a:endParaRPr lang="en-IE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287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DF8CE2D-64D5-8C44-1C6B-E49F8002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/>
              <a:t>Declaring/defining a floating point field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DB33BE-7416-B8C3-AA88-C98FFFA51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4406280" cy="3486373"/>
          </a:xfrm>
        </p:spPr>
        <p:txBody>
          <a:bodyPr>
            <a:normAutofit/>
          </a:bodyPr>
          <a:lstStyle/>
          <a:p>
            <a:r>
              <a:rPr lang="en-US" dirty="0"/>
              <a:t>Use float  or double for non-integer numbers. </a:t>
            </a:r>
          </a:p>
          <a:p>
            <a:endParaRPr lang="en-US" dirty="0"/>
          </a:p>
          <a:p>
            <a:r>
              <a:rPr lang="en-US" dirty="0"/>
              <a:t>When assigning numbers, use the f or d suffix with float or double. </a:t>
            </a:r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F9AA7C96-5B74-4925-8330-6278678D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8E3FC8-EA5F-3324-A362-1C224D8D6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1724248"/>
            <a:ext cx="68580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31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DAB0CD6-34CB-6B7B-C4FE-0760782C4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2204859"/>
            <a:ext cx="3326160" cy="4525963"/>
          </a:xfrm>
        </p:spPr>
        <p:txBody>
          <a:bodyPr/>
          <a:lstStyle/>
          <a:p>
            <a:r>
              <a:rPr lang="en-US" dirty="0"/>
              <a:t>Cannot assign a non-integer value to an integer variable.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3DEBA28-6C4F-ACC8-1BF3-27FAB5B545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19448" y="1772816"/>
            <a:ext cx="8453440" cy="381642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CEA2F2-9BCF-3453-9560-7BA70379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35FB4E3-9F3B-F931-6D6E-484DCF43A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Declaring variables – some errors - 3</a:t>
            </a:r>
          </a:p>
        </p:txBody>
      </p:sp>
    </p:spTree>
    <p:extLst>
      <p:ext uri="{BB962C8B-B14F-4D97-AF65-F5344CB8AC3E}">
        <p14:creationId xmlns:p14="http://schemas.microsoft.com/office/powerpoint/2010/main" val="2149008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97BC0A-69EA-8943-B754-86476F97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Variables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14DAD-4B25-40D1-B0D4-D93D4C15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900E19-5D43-883E-DED1-4771A2A0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5917"/>
            <a:ext cx="7772400" cy="525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75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Scope highlighting</a:t>
            </a:r>
          </a:p>
        </p:txBody>
      </p:sp>
      <p:pic>
        <p:nvPicPr>
          <p:cNvPr id="79874" name="Picture 5" descr="fig2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02" y="1628800"/>
            <a:ext cx="5690196" cy="48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>
                <a:ea typeface="MS PGothic" charset="-128"/>
              </a:rPr>
              <a:t>Scope and lifetime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Each block defines a new scope.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Class, method and statement.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Scopes may be nested: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statement block inside another block inside a method body inside a class body.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 is static (textual).</a:t>
            </a:r>
          </a:p>
          <a:p>
            <a:pPr marL="382588"/>
            <a:r>
              <a:rPr lang="en-US" altLang="en-US" dirty="0">
                <a:ea typeface="MS PGothic" charset="-128"/>
              </a:rPr>
              <a:t>Lifetime is dynamic (runtime).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To think about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4C516-31C6-8219-05F9-CC7C5BE8D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ea"/>
                <a:cs typeface="+mj-cs"/>
              </a:rPr>
              <a:t>How could we write a method to ‘refund’ an excess balance?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return the value in balance.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set the balance to zero.</a:t>
            </a:r>
          </a:p>
          <a:p>
            <a:r>
              <a:rPr lang="en-US" dirty="0">
                <a:ea typeface="+mj-ea"/>
                <a:cs typeface="+mj-cs"/>
              </a:rPr>
              <a:t>How can we do the first without losing the value in balance?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Unsuccessful attempt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71664" y="1984654"/>
            <a:ext cx="6628738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Return the amount left.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Clear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400" y="5475547"/>
            <a:ext cx="9371733" cy="830997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It looks logical, but the language does not allow it.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 method will terminate immediately after executing a return statement! </a:t>
            </a:r>
          </a:p>
        </p:txBody>
      </p:sp>
    </p:spTree>
    <p:extLst>
      <p:ext uri="{BB962C8B-B14F-4D97-AF65-F5344CB8AC3E}">
        <p14:creationId xmlns:p14="http://schemas.microsoft.com/office/powerpoint/2010/main" val="110569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Local variables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>
                <a:ea typeface="MS PGothic" charset="-128"/>
              </a:rPr>
              <a:t>Methods can define their own, </a:t>
            </a:r>
            <a:r>
              <a:rPr lang="en-US" altLang="en-US" sz="3600" i="1" dirty="0">
                <a:ea typeface="MS PGothic" charset="-128"/>
              </a:rPr>
              <a:t>local</a:t>
            </a:r>
            <a:r>
              <a:rPr lang="en-US" altLang="en-US" sz="3600" dirty="0">
                <a:ea typeface="MS PGothic" charset="-128"/>
              </a:rPr>
              <a:t>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Short lived, like parameters.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method sets their values – unlike parameters, they do not receive external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Used for </a:t>
            </a:r>
            <a:r>
              <a:rPr lang="ja-JP" altLang="en-US" sz="3200">
                <a:ea typeface="MS PGothic" charset="-128"/>
              </a:rPr>
              <a:t>‘</a:t>
            </a:r>
            <a:r>
              <a:rPr lang="en-US" altLang="ja-JP" sz="3200" dirty="0">
                <a:ea typeface="MS PGothic" charset="-128"/>
              </a:rPr>
              <a:t>temporary</a:t>
            </a:r>
            <a:r>
              <a:rPr lang="ja-JP" altLang="en-US" sz="3200">
                <a:ea typeface="MS PGothic" charset="-128"/>
              </a:rPr>
              <a:t>’</a:t>
            </a:r>
            <a:r>
              <a:rPr lang="en-US" altLang="ja-JP" sz="3200" dirty="0">
                <a:ea typeface="MS PGothic" charset="-128"/>
              </a:rPr>
              <a:t> calculation and storage.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exist only as long as the method is being executed.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only accessible from within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defined within a particular </a:t>
            </a:r>
            <a:r>
              <a:rPr lang="en-US" altLang="en-US" sz="3200" i="1" dirty="0">
                <a:ea typeface="MS PGothic" charset="-128"/>
              </a:rPr>
              <a:t>scope</a:t>
            </a:r>
            <a:r>
              <a:rPr lang="en-US" altLang="en-US" sz="3200" dirty="0">
                <a:ea typeface="MS PGothic" charset="-128"/>
              </a:rPr>
              <a:t>.</a:t>
            </a:r>
          </a:p>
          <a:p>
            <a:endParaRPr lang="en-GB" altLang="en-US" sz="5400" dirty="0">
              <a:ea typeface="MS PGothic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Local variables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4648200" y="2638428"/>
            <a:ext cx="641393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int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=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575434" y="3095382"/>
            <a:ext cx="26805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b="0" dirty="0">
                <a:solidFill>
                  <a:srgbClr val="A57133"/>
                </a:solidFill>
              </a:rPr>
              <a:t>A local variable</a:t>
            </a:r>
          </a:p>
        </p:txBody>
      </p:sp>
      <p:sp>
        <p:nvSpPr>
          <p:cNvPr id="82950" name="AutoShape 6"/>
          <p:cNvSpPr>
            <a:spLocks noChangeArrowheads="1"/>
          </p:cNvSpPr>
          <p:nvPr/>
        </p:nvSpPr>
        <p:spPr bwMode="auto">
          <a:xfrm>
            <a:off x="1243553" y="3789040"/>
            <a:ext cx="2209800" cy="2362200"/>
          </a:xfrm>
          <a:prstGeom prst="irregularSeal1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1703512" y="4509120"/>
            <a:ext cx="15327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No visibility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modifier</a:t>
            </a:r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3863752" y="3717032"/>
            <a:ext cx="1584176" cy="0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Scope and lifetime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scope of a field is its whole class.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lifetime of a field is the lifetime of its containing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scope of a local variable is the block in which it is declared.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lifetime of a local variable is the time of execution of the block in which it is declared.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021528B-859B-0F0C-6479-D9428D88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7.2|16|9.7"/>
</p:tagLst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a-class-definitions</Template>
  <TotalTime>2112</TotalTime>
  <Words>1638</Words>
  <Application>Microsoft Macintosh PowerPoint</Application>
  <PresentationFormat>Widescreen</PresentationFormat>
  <Paragraphs>321</Paragraphs>
  <Slides>34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MS PGothic</vt:lpstr>
      <vt:lpstr>Anonymous</vt:lpstr>
      <vt:lpstr>Arial</vt:lpstr>
      <vt:lpstr>Calibri</vt:lpstr>
      <vt:lpstr>Courier New</vt:lpstr>
      <vt:lpstr>Lucida Grande</vt:lpstr>
      <vt:lpstr>Times New Roman</vt:lpstr>
      <vt:lpstr>Wingdings</vt:lpstr>
      <vt:lpstr>a-processing-mouse-event-methods</vt:lpstr>
      <vt:lpstr>Variables, Data Types &amp; Arithmetic Operators</vt:lpstr>
      <vt:lpstr>Topics list</vt:lpstr>
      <vt:lpstr>Variables</vt:lpstr>
      <vt:lpstr>Variable names…</vt:lpstr>
      <vt:lpstr>Variable names should be carefully chosen</vt:lpstr>
      <vt:lpstr>Kinds of variables so far</vt:lpstr>
      <vt:lpstr>Topics list</vt:lpstr>
      <vt:lpstr>Java Keywords</vt:lpstr>
      <vt:lpstr>Keywords – list </vt:lpstr>
      <vt:lpstr>Keywords (technical description)</vt:lpstr>
      <vt:lpstr>Example of tokens – let’s tokenise a stmt</vt:lpstr>
      <vt:lpstr>Topics list</vt:lpstr>
      <vt:lpstr>Data Types</vt:lpstr>
      <vt:lpstr>Data Types </vt:lpstr>
      <vt:lpstr> Java’s Primitive Data Types</vt:lpstr>
      <vt:lpstr>Topics list</vt:lpstr>
      <vt:lpstr>Java’s Primitive Data Types (whole numbers)</vt:lpstr>
      <vt:lpstr>Declaring variables of a specific type</vt:lpstr>
      <vt:lpstr>Declaring variables of a specific type</vt:lpstr>
      <vt:lpstr>Declaring variables – some errors - 1</vt:lpstr>
      <vt:lpstr>PowerPoint Presentation</vt:lpstr>
      <vt:lpstr>Topics list</vt:lpstr>
      <vt:lpstr>Java’s Primitive Data Types (decimal numbers)</vt:lpstr>
      <vt:lpstr>Declaring/defining a floating point field</vt:lpstr>
      <vt:lpstr>Declaring variables – some errors - 3</vt:lpstr>
      <vt:lpstr>Scope of Variables</vt:lpstr>
      <vt:lpstr>Scope highlighting</vt:lpstr>
      <vt:lpstr>Scope and lifetime</vt:lpstr>
      <vt:lpstr>To think about</vt:lpstr>
      <vt:lpstr>Unsuccessful attempt</vt:lpstr>
      <vt:lpstr>Local variables</vt:lpstr>
      <vt:lpstr>Local variables</vt:lpstr>
      <vt:lpstr>Scope and lifetime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192</cp:revision>
  <cp:lastPrinted>2003-09-01T07:04:41Z</cp:lastPrinted>
  <dcterms:created xsi:type="dcterms:W3CDTF">2009-04-22T19:24:48Z</dcterms:created>
  <dcterms:modified xsi:type="dcterms:W3CDTF">2025-09-25T20:13:12Z</dcterms:modified>
  <cp:category/>
</cp:coreProperties>
</file>