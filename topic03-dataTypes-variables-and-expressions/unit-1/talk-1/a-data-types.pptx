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5" r:id="rId1"/>
  </p:sldMasterIdLst>
  <p:notesMasterIdLst>
    <p:notesMasterId r:id="rId31"/>
  </p:notesMasterIdLst>
  <p:handoutMasterIdLst>
    <p:handoutMasterId r:id="rId32"/>
  </p:handoutMasterIdLst>
  <p:sldIdLst>
    <p:sldId id="256" r:id="rId2"/>
    <p:sldId id="257" r:id="rId3"/>
    <p:sldId id="272" r:id="rId4"/>
    <p:sldId id="299" r:id="rId5"/>
    <p:sldId id="349" r:id="rId6"/>
    <p:sldId id="273" r:id="rId7"/>
    <p:sldId id="356" r:id="rId8"/>
    <p:sldId id="286" r:id="rId9"/>
    <p:sldId id="358" r:id="rId10"/>
    <p:sldId id="359" r:id="rId11"/>
    <p:sldId id="360" r:id="rId12"/>
    <p:sldId id="357" r:id="rId13"/>
    <p:sldId id="350" r:id="rId14"/>
    <p:sldId id="275" r:id="rId15"/>
    <p:sldId id="276" r:id="rId16"/>
    <p:sldId id="361" r:id="rId17"/>
    <p:sldId id="277" r:id="rId18"/>
    <p:sldId id="362" r:id="rId19"/>
    <p:sldId id="363" r:id="rId20"/>
    <p:sldId id="364" r:id="rId21"/>
    <p:sldId id="367" r:id="rId22"/>
    <p:sldId id="370" r:id="rId23"/>
    <p:sldId id="278" r:id="rId24"/>
    <p:sldId id="368" r:id="rId25"/>
    <p:sldId id="369" r:id="rId26"/>
    <p:sldId id="371" r:id="rId27"/>
    <p:sldId id="307" r:id="rId28"/>
    <p:sldId id="372" r:id="rId29"/>
    <p:sldId id="34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F5E"/>
    <a:srgbClr val="C81D2B"/>
    <a:srgbClr val="1A3170"/>
    <a:srgbClr val="A57133"/>
    <a:srgbClr val="007E4F"/>
    <a:srgbClr val="009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689"/>
    <p:restoredTop sz="91408"/>
  </p:normalViewPr>
  <p:slideViewPr>
    <p:cSldViewPr>
      <p:cViewPr varScale="1">
        <p:scale>
          <a:sx n="99" d="100"/>
          <a:sy n="99" d="100"/>
        </p:scale>
        <p:origin x="208" y="3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We will name our variables beginning with a letter and typically containing only letters (no special characters).</a:t>
            </a:r>
          </a:p>
          <a:p>
            <a:endParaRPr lang="en-IE" dirty="0"/>
          </a:p>
          <a:p>
            <a:r>
              <a:rPr lang="en-IE" dirty="0" err="1"/>
              <a:t>CamelCase</a:t>
            </a:r>
            <a:r>
              <a:rPr lang="en-IE" dirty="0"/>
              <a:t> for variables and function names that have multiple words. We capitalize each word except the first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86356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577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FF930-7A3E-E440-99D2-D88CF4C2A3B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57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939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159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Operations…e.g. I cannot divide “I Love Programming” by ‘S’.  </a:t>
            </a:r>
          </a:p>
          <a:p>
            <a:endParaRPr lang="en-IE" dirty="0"/>
          </a:p>
          <a:p>
            <a:r>
              <a:rPr lang="en-IE" dirty="0"/>
              <a:t>E.g. Mathematical operations are only available on numeric types.  </a:t>
            </a:r>
          </a:p>
          <a:p>
            <a:r>
              <a:rPr lang="en-IE" dirty="0"/>
              <a:t>E.g. I cannot add ‘S’ to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9596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EB1270-B5B3-C54B-92FD-A65FDB01CB4B}" type="slidenum">
              <a:rPr lang="en-US"/>
              <a:pPr/>
              <a:t>14</a:t>
            </a:fld>
            <a:endParaRPr lang="en-US"/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155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BE41AF-339D-7A42-9D51-2FDDE25D24AD}" type="slidenum">
              <a:rPr lang="en-US"/>
              <a:pPr/>
              <a:t>15</a:t>
            </a:fld>
            <a:endParaRPr lang="en-US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4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17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usually show them how the minimum and max values for byte are calculated e.g. </a:t>
            </a:r>
          </a:p>
          <a:p>
            <a:r>
              <a:rPr lang="en-US" dirty="0"/>
              <a:t>8-bit is 2 to the power of 8 = 256</a:t>
            </a:r>
          </a:p>
          <a:p>
            <a:endParaRPr lang="en-US" dirty="0"/>
          </a:p>
          <a:p>
            <a:r>
              <a:rPr lang="en-US" dirty="0"/>
              <a:t>To spread this value over the negative/positive number range, divide by two = 128.  so -128 range up to +127, with 0 being on the “positive size”. </a:t>
            </a:r>
          </a:p>
          <a:p>
            <a:r>
              <a:rPr lang="en-US" dirty="0"/>
              <a:t>Then they can always work out the min/max values for the other whole numbers.  </a:t>
            </a:r>
          </a:p>
        </p:txBody>
      </p:sp>
    </p:spTree>
    <p:extLst>
      <p:ext uri="{BB962C8B-B14F-4D97-AF65-F5344CB8AC3E}">
        <p14:creationId xmlns:p14="http://schemas.microsoft.com/office/powerpoint/2010/main" val="32039460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23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36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70612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42234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95009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53533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3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764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039843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87663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880449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710341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882446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01981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00534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80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3957" r:id="rId2"/>
    <p:sldLayoutId id="2147483958" r:id="rId3"/>
    <p:sldLayoutId id="2147483959" r:id="rId4"/>
    <p:sldLayoutId id="2147483960" r:id="rId5"/>
    <p:sldLayoutId id="2147483961" r:id="rId6"/>
    <p:sldLayoutId id="2147483962" r:id="rId7"/>
    <p:sldLayoutId id="2147483963" r:id="rId8"/>
    <p:sldLayoutId id="2147483964" r:id="rId9"/>
    <p:sldLayoutId id="2147483965" r:id="rId10"/>
    <p:sldLayoutId id="2147483966" r:id="rId11"/>
    <p:sldLayoutId id="2147483967" r:id="rId12"/>
    <p:sldLayoutId id="2147483968" r:id="rId13"/>
    <p:sldLayoutId id="2147483970" r:id="rId14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Variables, Data Types &amp; Arithmetic Operators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549516"/>
            <a:ext cx="10134430" cy="584775"/>
          </a:xfrm>
        </p:spPr>
        <p:txBody>
          <a:bodyPr/>
          <a:lstStyle/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by:</a:t>
            </a:r>
            <a:endParaRPr lang="en-I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448" y="1600201"/>
            <a:ext cx="144016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In Programming, variables: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are created (defined) in your programs.</a:t>
            </a:r>
          </a:p>
          <a:p>
            <a:r>
              <a:rPr lang="en-IE" dirty="0"/>
              <a:t>are used to store data (whose value can change over time).</a:t>
            </a:r>
          </a:p>
          <a:p>
            <a:r>
              <a:rPr lang="en-IE" dirty="0"/>
              <a:t>have a data type.</a:t>
            </a:r>
          </a:p>
          <a:p>
            <a:r>
              <a:rPr lang="en-IE" dirty="0"/>
              <a:t>have a name.</a:t>
            </a:r>
          </a:p>
          <a:p>
            <a:r>
              <a:rPr lang="en-IE" dirty="0"/>
              <a:t>are a VERY important programming concept.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624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 names…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458200" cy="4525963"/>
          </a:xfrm>
        </p:spPr>
        <p:txBody>
          <a:bodyPr>
            <a:noAutofit/>
          </a:bodyPr>
          <a:lstStyle/>
          <a:p>
            <a:r>
              <a:rPr lang="en-IE" sz="2500" dirty="0"/>
              <a:t>Are case-sensitive. </a:t>
            </a:r>
          </a:p>
          <a:p>
            <a:r>
              <a:rPr lang="en-IE" sz="2500" dirty="0"/>
              <a:t>Begin with either:</a:t>
            </a:r>
          </a:p>
          <a:p>
            <a:pPr lvl="1"/>
            <a:r>
              <a:rPr lang="en-IE" sz="2500" dirty="0"/>
              <a:t>a </a:t>
            </a:r>
            <a:r>
              <a:rPr lang="en-IE" sz="2500" b="1" dirty="0"/>
              <a:t>letter (preferable)</a:t>
            </a:r>
            <a:r>
              <a:rPr lang="en-IE" sz="2500" dirty="0"/>
              <a:t>, </a:t>
            </a:r>
          </a:p>
          <a:p>
            <a:pPr lvl="1"/>
            <a:r>
              <a:rPr lang="en-IE" sz="2500" dirty="0"/>
              <a:t>the dollar sign "$", or</a:t>
            </a:r>
          </a:p>
          <a:p>
            <a:pPr lvl="1"/>
            <a:r>
              <a:rPr lang="en-IE" sz="2500" dirty="0"/>
              <a:t>the underscore character "_". </a:t>
            </a:r>
          </a:p>
          <a:p>
            <a:r>
              <a:rPr lang="en-IE" sz="2500" dirty="0"/>
              <a:t>Can contain letters, digits, dollar signs, or underscore characters. </a:t>
            </a:r>
          </a:p>
          <a:p>
            <a:r>
              <a:rPr lang="en-IE" sz="2500" dirty="0"/>
              <a:t>Can be any length you choose.</a:t>
            </a:r>
          </a:p>
          <a:p>
            <a:r>
              <a:rPr lang="en-IE" sz="2500" dirty="0"/>
              <a:t>Must not be a </a:t>
            </a:r>
            <a:r>
              <a:rPr lang="en-IE" sz="2500" b="1" dirty="0"/>
              <a:t>keyword or reserved word </a:t>
            </a:r>
            <a:r>
              <a:rPr lang="en-IE" sz="2500" dirty="0"/>
              <a:t>e.g. </a:t>
            </a:r>
            <a:r>
              <a:rPr lang="en-IE" sz="2500" dirty="0" err="1"/>
              <a:t>int</a:t>
            </a:r>
            <a:r>
              <a:rPr lang="en-IE" sz="2500" dirty="0"/>
              <a:t>, while, etc.</a:t>
            </a:r>
          </a:p>
          <a:p>
            <a:r>
              <a:rPr lang="en-IE" sz="2500" dirty="0"/>
              <a:t>Cannot contain white spaces.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49991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Variable names should be carefully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E" sz="2800" dirty="0"/>
              <a:t>Use full words instead of cryptic abbreviations e.g.</a:t>
            </a:r>
          </a:p>
          <a:p>
            <a:pPr lvl="1"/>
            <a:r>
              <a:rPr lang="en-IE" sz="2400" dirty="0">
                <a:sym typeface="Wingdings" panose="05000000000000000000" pitchFamily="2" charset="2"/>
              </a:rPr>
              <a:t>v</a:t>
            </a:r>
            <a:r>
              <a:rPr lang="en-IE" sz="2400" dirty="0"/>
              <a:t>ariables named </a:t>
            </a:r>
            <a:r>
              <a:rPr lang="en-IE" sz="2400" dirty="0">
                <a:solidFill>
                  <a:srgbClr val="FF0000"/>
                </a:solidFill>
              </a:rPr>
              <a:t>speed</a:t>
            </a:r>
            <a:r>
              <a:rPr lang="en-IE" sz="2400" dirty="0"/>
              <a:t> and </a:t>
            </a:r>
            <a:r>
              <a:rPr lang="en-IE" sz="2400" dirty="0">
                <a:solidFill>
                  <a:srgbClr val="FF0000"/>
                </a:solidFill>
              </a:rPr>
              <a:t>gear</a:t>
            </a:r>
            <a:r>
              <a:rPr lang="en-IE" sz="2400" dirty="0"/>
              <a:t> are much more intuitive than abbreviated versions, such as </a:t>
            </a:r>
            <a:r>
              <a:rPr lang="en-IE" sz="2400" dirty="0">
                <a:solidFill>
                  <a:srgbClr val="FF0000"/>
                </a:solidFill>
              </a:rPr>
              <a:t>s </a:t>
            </a:r>
            <a:r>
              <a:rPr lang="en-IE" sz="2400" dirty="0"/>
              <a:t>and</a:t>
            </a:r>
            <a:r>
              <a:rPr lang="en-IE" sz="2400" dirty="0">
                <a:solidFill>
                  <a:srgbClr val="FF0000"/>
                </a:solidFill>
              </a:rPr>
              <a:t> g</a:t>
            </a:r>
            <a:r>
              <a:rPr lang="en-IE" sz="2400" dirty="0"/>
              <a:t>. </a:t>
            </a:r>
            <a:endParaRPr lang="en-IE" dirty="0"/>
          </a:p>
          <a:p>
            <a:endParaRPr lang="en-IE" sz="2800" dirty="0"/>
          </a:p>
          <a:p>
            <a:r>
              <a:rPr lang="en-IE" sz="2800" dirty="0"/>
              <a:t>If the name consists of:</a:t>
            </a:r>
          </a:p>
          <a:p>
            <a:pPr lvl="1"/>
            <a:r>
              <a:rPr lang="en-IE" sz="2400" dirty="0"/>
              <a:t>only one word, </a:t>
            </a:r>
          </a:p>
          <a:p>
            <a:pPr lvl="2"/>
            <a:r>
              <a:rPr lang="en-IE" sz="2000" dirty="0"/>
              <a:t>spell that word in all lowercase letters e.g. </a:t>
            </a:r>
            <a:r>
              <a:rPr lang="en-IE" sz="2000" dirty="0">
                <a:solidFill>
                  <a:srgbClr val="FF0000"/>
                </a:solidFill>
              </a:rPr>
              <a:t>ratio</a:t>
            </a:r>
            <a:r>
              <a:rPr lang="en-IE" sz="2000" dirty="0"/>
              <a:t>.</a:t>
            </a:r>
          </a:p>
          <a:p>
            <a:pPr lvl="1"/>
            <a:r>
              <a:rPr lang="en-IE" sz="2400" dirty="0"/>
              <a:t>more than one word, </a:t>
            </a:r>
          </a:p>
          <a:p>
            <a:pPr lvl="2"/>
            <a:r>
              <a:rPr lang="en-IE" sz="2000" dirty="0"/>
              <a:t>capitalise the first letter of each subsequent word e.g. </a:t>
            </a:r>
            <a:r>
              <a:rPr lang="en-IE" sz="2000" dirty="0" err="1">
                <a:solidFill>
                  <a:srgbClr val="FF0000"/>
                </a:solidFill>
              </a:rPr>
              <a:t>gearRatio</a:t>
            </a:r>
            <a:r>
              <a:rPr lang="en-IE" sz="2000" dirty="0"/>
              <a:t> and </a:t>
            </a:r>
            <a:r>
              <a:rPr lang="en-IE" sz="2000" dirty="0" err="1">
                <a:solidFill>
                  <a:srgbClr val="FF0000"/>
                </a:solidFill>
              </a:rPr>
              <a:t>currentGear</a:t>
            </a:r>
            <a:r>
              <a:rPr lang="en-IE" sz="2000" dirty="0"/>
              <a:t>. </a:t>
            </a:r>
          </a:p>
          <a:p>
            <a:pPr lvl="2"/>
            <a:r>
              <a:rPr lang="en-IE" sz="2000" dirty="0"/>
              <a:t>This is called </a:t>
            </a:r>
            <a:r>
              <a:rPr lang="en-IE" sz="2000" b="1" dirty="0" err="1"/>
              <a:t>camelCase</a:t>
            </a:r>
            <a:endParaRPr lang="en-IE" sz="2000" b="1" dirty="0"/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1069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>
                <a:ea typeface="MS PGothic" charset="-128"/>
              </a:rPr>
              <a:t>Kinds of variables so far</a:t>
            </a:r>
          </a:p>
        </p:txBody>
      </p:sp>
      <p:sp>
        <p:nvSpPr>
          <p:cNvPr id="7475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Fields are one sort of variable.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store values through the life of an object.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are accessible throughout the class.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Parameters are another sort of variable: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receive values from outside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help a method complete its task.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Each call to the method receives a fresh set of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Parameter values are short lived.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850A6-40FF-E2A4-1B6D-CB1A0DAA6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BC679-3968-1F7F-0E1B-80EE515C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735C08-AE6B-B365-B94B-AB822A285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82BB8A-D393-1643-ACD9-F0115E05AEFB}"/>
              </a:ext>
            </a:extLst>
          </p:cNvPr>
          <p:cNvSpPr/>
          <p:nvPr/>
        </p:nvSpPr>
        <p:spPr>
          <a:xfrm>
            <a:off x="1127448" y="2276872"/>
            <a:ext cx="2664296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010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Java Keywords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altLang="en-US" dirty="0">
                <a:ea typeface="MS PGothic" charset="-128"/>
              </a:rPr>
              <a:t>Words with a special meaning in the language, </a:t>
            </a:r>
            <a:r>
              <a:rPr lang="en-GB" altLang="en-US" dirty="0" err="1">
                <a:ea typeface="MS PGothic" charset="-128"/>
              </a:rPr>
              <a:t>e.g</a:t>
            </a:r>
            <a:r>
              <a:rPr lang="en-GB" altLang="en-US" dirty="0">
                <a:ea typeface="MS PGothic" charset="-128"/>
              </a:rPr>
              <a:t>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public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class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private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int</a:t>
            </a:r>
          </a:p>
          <a:p>
            <a:r>
              <a:rPr lang="en-GB" altLang="en-US" dirty="0">
                <a:ea typeface="MS PGothic" charset="-128"/>
              </a:rPr>
              <a:t>Also known as </a:t>
            </a:r>
            <a:r>
              <a:rPr lang="en-GB" altLang="en-US" i="1" dirty="0">
                <a:ea typeface="MS PGothic" charset="-128"/>
              </a:rPr>
              <a:t>reserved words</a:t>
            </a:r>
            <a:r>
              <a:rPr lang="en-GB" altLang="en-US" dirty="0">
                <a:ea typeface="MS PGothic" charset="-128"/>
              </a:rPr>
              <a:t>.</a:t>
            </a:r>
          </a:p>
          <a:p>
            <a:r>
              <a:rPr lang="en-GB" altLang="en-US" dirty="0">
                <a:ea typeface="MS PGothic" charset="-128"/>
              </a:rPr>
              <a:t>Special words that the Java language keeps for itself.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Keywords – list </a:t>
            </a:r>
          </a:p>
        </p:txBody>
      </p:sp>
      <p:sp>
        <p:nvSpPr>
          <p:cNvPr id="29707" name="Footer Placeholder 3">
            <a:extLst>
              <a:ext uri="{FF2B5EF4-FFF2-40B4-BE49-F238E27FC236}">
                <a16:creationId xmlns:a16="http://schemas.microsoft.com/office/drawing/2014/main" id="{A7F1B9FE-14A3-70D7-6264-B8ADE588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51D97D-9F87-6B5D-B67B-1A8CCD37F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A86C0-0F5C-6C3F-B887-B7187F259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2132856"/>
            <a:ext cx="10959169" cy="3458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Keywords (technical description)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488749"/>
            <a:ext cx="10972800" cy="4525963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A </a:t>
            </a:r>
            <a:r>
              <a:rPr lang="en-IE" b="1" dirty="0"/>
              <a:t>reserved word</a:t>
            </a:r>
            <a:r>
              <a:rPr lang="en-IE" dirty="0"/>
              <a:t> (or keyword) in Java is a </a:t>
            </a:r>
            <a:r>
              <a:rPr lang="en-IE" b="1" dirty="0"/>
              <a:t>token </a:t>
            </a:r>
            <a:r>
              <a:rPr lang="en-IE" dirty="0"/>
              <a:t>that has a predefined meaning in the language’s grammar and cannot be redefined or used as an identifier.</a:t>
            </a:r>
          </a:p>
          <a:p>
            <a:endParaRPr lang="en-IE" dirty="0"/>
          </a:p>
          <a:p>
            <a:r>
              <a:rPr lang="en-IE" dirty="0"/>
              <a:t>They are part of the Java specification.</a:t>
            </a:r>
          </a:p>
          <a:p>
            <a:endParaRPr lang="en-IE" dirty="0"/>
          </a:p>
          <a:p>
            <a:r>
              <a:rPr lang="en-IE" dirty="0"/>
              <a:t>They are case-sensitive (e.g., Class is not the same as class).</a:t>
            </a:r>
          </a:p>
          <a:p>
            <a:endParaRPr lang="en-IE" dirty="0"/>
          </a:p>
          <a:p>
            <a:r>
              <a:rPr lang="en-IE" dirty="0"/>
              <a:t>Using a reserved word as an identifier results in a compile-time error.</a:t>
            </a:r>
          </a:p>
        </p:txBody>
      </p:sp>
      <p:sp>
        <p:nvSpPr>
          <p:cNvPr id="2" name="Line Callout 1 (Border and Accent Bar) 1">
            <a:extLst>
              <a:ext uri="{FF2B5EF4-FFF2-40B4-BE49-F238E27FC236}">
                <a16:creationId xmlns:a16="http://schemas.microsoft.com/office/drawing/2014/main" id="{33DFBCD9-8C44-EFFF-8019-8437032D8374}"/>
              </a:ext>
            </a:extLst>
          </p:cNvPr>
          <p:cNvSpPr/>
          <p:nvPr/>
        </p:nvSpPr>
        <p:spPr>
          <a:xfrm>
            <a:off x="9782200" y="8316"/>
            <a:ext cx="1800200" cy="1224136"/>
          </a:xfrm>
          <a:prstGeom prst="accentBorderCallout1">
            <a:avLst>
              <a:gd name="adj1" fmla="val 18750"/>
              <a:gd name="adj2" fmla="val -8333"/>
              <a:gd name="adj3" fmla="val 128062"/>
              <a:gd name="adj4" fmla="val -961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token is small meaningful piece of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3E27C-68C2-C763-5A5A-9CFA2D99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tokens – let’s </a:t>
            </a:r>
            <a:r>
              <a:rPr lang="en-US" b="1" dirty="0" err="1"/>
              <a:t>tokenise</a:t>
            </a:r>
            <a:r>
              <a:rPr lang="en-US" dirty="0"/>
              <a:t> a </a:t>
            </a:r>
            <a:r>
              <a:rPr lang="en-US" dirty="0" err="1"/>
              <a:t>stmt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E4090-0156-912F-7FE0-77C6E0468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AB3976-0788-7610-76D5-5F1856F3CCAB}"/>
              </a:ext>
            </a:extLst>
          </p:cNvPr>
          <p:cNvSpPr/>
          <p:nvPr/>
        </p:nvSpPr>
        <p:spPr>
          <a:xfrm>
            <a:off x="1565423" y="2675050"/>
            <a:ext cx="3090417" cy="16900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int age = 21</a:t>
            </a:r>
            <a:r>
              <a:rPr lang="en-US" sz="2400" dirty="0">
                <a:solidFill>
                  <a:schemeClr val="tx1"/>
                </a:solidFill>
              </a:rPr>
              <a:t>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FC7E84E6-84F9-F3CC-D3F4-372157E87CB7}"/>
              </a:ext>
            </a:extLst>
          </p:cNvPr>
          <p:cNvSpPr/>
          <p:nvPr/>
        </p:nvSpPr>
        <p:spPr>
          <a:xfrm>
            <a:off x="449299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50495"/>
              <a:gd name="adj4" fmla="val 581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int (a reserved word)</a:t>
            </a:r>
          </a:p>
        </p:txBody>
      </p:sp>
      <p:sp>
        <p:nvSpPr>
          <p:cNvPr id="9" name="Line Callout 1 (Border and Accent Bar) 8">
            <a:extLst>
              <a:ext uri="{FF2B5EF4-FFF2-40B4-BE49-F238E27FC236}">
                <a16:creationId xmlns:a16="http://schemas.microsoft.com/office/drawing/2014/main" id="{725D20E6-6F3F-C54B-EB8B-65C8EA85F349}"/>
              </a:ext>
            </a:extLst>
          </p:cNvPr>
          <p:cNvSpPr/>
          <p:nvPr/>
        </p:nvSpPr>
        <p:spPr>
          <a:xfrm>
            <a:off x="2416200" y="5622515"/>
            <a:ext cx="2671688" cy="752876"/>
          </a:xfrm>
          <a:prstGeom prst="accentBorderCallout1">
            <a:avLst>
              <a:gd name="adj1" fmla="val 18750"/>
              <a:gd name="adj2" fmla="val -8333"/>
              <a:gd name="adj3" fmla="val -263080"/>
              <a:gd name="adj4" fmla="val 939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 (a variable name)</a:t>
            </a:r>
          </a:p>
        </p:txBody>
      </p:sp>
      <p:sp>
        <p:nvSpPr>
          <p:cNvPr id="10" name="Line Callout 1 (Border and Accent Bar) 9">
            <a:extLst>
              <a:ext uri="{FF2B5EF4-FFF2-40B4-BE49-F238E27FC236}">
                <a16:creationId xmlns:a16="http://schemas.microsoft.com/office/drawing/2014/main" id="{32C5C039-2107-E686-DBF5-6753455D0921}"/>
              </a:ext>
            </a:extLst>
          </p:cNvPr>
          <p:cNvSpPr/>
          <p:nvPr/>
        </p:nvSpPr>
        <p:spPr>
          <a:xfrm>
            <a:off x="4511824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31083"/>
              <a:gd name="adj4" fmla="val -660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= (an operator)</a:t>
            </a:r>
          </a:p>
        </p:txBody>
      </p:sp>
      <p:sp>
        <p:nvSpPr>
          <p:cNvPr id="11" name="Line Callout 1 (Border and Accent Bar) 10">
            <a:extLst>
              <a:ext uri="{FF2B5EF4-FFF2-40B4-BE49-F238E27FC236}">
                <a16:creationId xmlns:a16="http://schemas.microsoft.com/office/drawing/2014/main" id="{D5B37883-F2A5-4555-7F72-3A467BD9B095}"/>
              </a:ext>
            </a:extLst>
          </p:cNvPr>
          <p:cNvSpPr/>
          <p:nvPr/>
        </p:nvSpPr>
        <p:spPr>
          <a:xfrm>
            <a:off x="8803692" y="5051015"/>
            <a:ext cx="1944216" cy="1143000"/>
          </a:xfrm>
          <a:prstGeom prst="accentBorderCallout1">
            <a:avLst>
              <a:gd name="adj1" fmla="val 18750"/>
              <a:gd name="adj2" fmla="val -8333"/>
              <a:gd name="adj3" fmla="val -116242"/>
              <a:gd name="adj4" fmla="val -2740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21 =(a literal value)</a:t>
            </a:r>
          </a:p>
        </p:txBody>
      </p:sp>
      <p:sp>
        <p:nvSpPr>
          <p:cNvPr id="12" name="Line Callout 1 (Border and Accent Bar) 11">
            <a:extLst>
              <a:ext uri="{FF2B5EF4-FFF2-40B4-BE49-F238E27FC236}">
                <a16:creationId xmlns:a16="http://schemas.microsoft.com/office/drawing/2014/main" id="{18DC195D-9D1B-7DFD-7C75-BDB0F96C297C}"/>
              </a:ext>
            </a:extLst>
          </p:cNvPr>
          <p:cNvSpPr/>
          <p:nvPr/>
        </p:nvSpPr>
        <p:spPr>
          <a:xfrm>
            <a:off x="8826277" y="3316967"/>
            <a:ext cx="1944215" cy="1142999"/>
          </a:xfrm>
          <a:prstGeom prst="accentBorderCallout1">
            <a:avLst>
              <a:gd name="adj1" fmla="val 18750"/>
              <a:gd name="adj2" fmla="val -8333"/>
              <a:gd name="adj3" fmla="val 24605"/>
              <a:gd name="adj4" fmla="val -2599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; (a separator)</a:t>
            </a:r>
          </a:p>
        </p:txBody>
      </p:sp>
    </p:spTree>
    <p:extLst>
      <p:ext uri="{BB962C8B-B14F-4D97-AF65-F5344CB8AC3E}">
        <p14:creationId xmlns:p14="http://schemas.microsoft.com/office/powerpoint/2010/main" val="3951597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8028B-4A4D-F743-8435-C4FC9CC8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6F33-0319-66D6-BF45-D3B54FD98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FE2F77-FC70-3B31-3AB1-64A6461ED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E5764E-4A13-630E-7CE0-246E24ADC8B2}"/>
              </a:ext>
            </a:extLst>
          </p:cNvPr>
          <p:cNvSpPr/>
          <p:nvPr/>
        </p:nvSpPr>
        <p:spPr>
          <a:xfrm>
            <a:off x="1127448" y="2924944"/>
            <a:ext cx="180020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6056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00200"/>
            <a:ext cx="10560496" cy="4983162"/>
          </a:xfrm>
        </p:spPr>
        <p:txBody>
          <a:bodyPr>
            <a:noAutofit/>
          </a:bodyPr>
          <a:lstStyle/>
          <a:p>
            <a:r>
              <a:rPr lang="en-IE" sz="2800" dirty="0"/>
              <a:t>In Java, when we define a variable, we </a:t>
            </a:r>
            <a:r>
              <a:rPr lang="en-IE" sz="2800" b="1" u="sng" dirty="0"/>
              <a:t>have</a:t>
            </a:r>
            <a:r>
              <a:rPr lang="en-IE" sz="2800" dirty="0"/>
              <a:t> to give it a data type.</a:t>
            </a:r>
          </a:p>
          <a:p>
            <a:endParaRPr lang="en-IE" sz="2800" dirty="0"/>
          </a:p>
          <a:p>
            <a:r>
              <a:rPr lang="en-IE" sz="2800" dirty="0"/>
              <a:t>The data type defines the </a:t>
            </a:r>
            <a:r>
              <a:rPr lang="en-IE" sz="2800" b="1" u="sng" dirty="0"/>
              <a:t>kinds of values</a:t>
            </a:r>
            <a:r>
              <a:rPr lang="en-IE" sz="2800" b="1" dirty="0"/>
              <a:t> </a:t>
            </a:r>
            <a:r>
              <a:rPr lang="en-IE" sz="2800" dirty="0"/>
              <a:t>(data) that can be stored in the variable e.g. </a:t>
            </a:r>
          </a:p>
          <a:p>
            <a:pPr lvl="2"/>
            <a:r>
              <a:rPr lang="en-IE" sz="2800" dirty="0"/>
              <a:t>- 456</a:t>
            </a:r>
          </a:p>
          <a:p>
            <a:pPr lvl="2"/>
            <a:r>
              <a:rPr lang="en-IE" sz="2800" dirty="0"/>
              <a:t>2</a:t>
            </a:r>
          </a:p>
          <a:p>
            <a:pPr lvl="2"/>
            <a:r>
              <a:rPr lang="en-IE" sz="2800" dirty="0"/>
              <a:t>45.7897</a:t>
            </a:r>
          </a:p>
          <a:p>
            <a:pPr marL="914400" lvl="2" indent="0">
              <a:buNone/>
            </a:pPr>
            <a:endParaRPr lang="en-IE" sz="2800" dirty="0"/>
          </a:p>
          <a:p>
            <a:r>
              <a:rPr lang="en-US" sz="2800" dirty="0"/>
              <a:t>The data type also determines the </a:t>
            </a:r>
            <a:r>
              <a:rPr lang="en-US" sz="2800" b="1" u="sng" dirty="0"/>
              <a:t>operations</a:t>
            </a:r>
            <a:r>
              <a:rPr lang="en-US" sz="2800" dirty="0"/>
              <a:t> that may be performed on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569317-95B6-AEA3-8D40-0A99CC3F8C03}"/>
              </a:ext>
            </a:extLst>
          </p:cNvPr>
          <p:cNvSpPr txBox="1"/>
          <p:nvPr/>
        </p:nvSpPr>
        <p:spPr>
          <a:xfrm>
            <a:off x="3575720" y="3595807"/>
            <a:ext cx="1022513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I Love Programming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true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01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Java uses two kinds of data types:</a:t>
            </a:r>
          </a:p>
          <a:p>
            <a:pPr lvl="1"/>
            <a:r>
              <a:rPr lang="en-US" b="1" dirty="0"/>
              <a:t>Primitive</a:t>
            </a:r>
            <a:r>
              <a:rPr lang="en-US" dirty="0"/>
              <a:t> types</a:t>
            </a:r>
          </a:p>
          <a:p>
            <a:pPr lvl="1"/>
            <a:r>
              <a:rPr lang="en-US" b="1" dirty="0"/>
              <a:t>Object</a:t>
            </a:r>
            <a:r>
              <a:rPr lang="en-US" dirty="0"/>
              <a:t> types</a:t>
            </a:r>
          </a:p>
          <a:p>
            <a:pPr lvl="1"/>
            <a:endParaRPr lang="en-US" dirty="0"/>
          </a:p>
          <a:p>
            <a:r>
              <a:rPr lang="en-US" dirty="0"/>
              <a:t>We are only looking at </a:t>
            </a:r>
            <a:r>
              <a:rPr lang="en-US" b="1" dirty="0">
                <a:solidFill>
                  <a:srgbClr val="FF0000"/>
                </a:solidFill>
              </a:rPr>
              <a:t>Primitive</a:t>
            </a:r>
            <a:r>
              <a:rPr lang="en-US" dirty="0"/>
              <a:t> types now; we will cover Object types later in the module.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075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Java’s Primitive Data Types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programming language supports </a:t>
            </a:r>
            <a:r>
              <a:rPr lang="en-US" u="sng" dirty="0"/>
              <a:t>eight</a:t>
            </a:r>
            <a:r>
              <a:rPr lang="en-US" dirty="0"/>
              <a:t>  primitive data types. </a:t>
            </a:r>
          </a:p>
          <a:p>
            <a:pPr>
              <a:buFont typeface="Wingdings" charset="2"/>
              <a:buNone/>
            </a:pPr>
            <a:endParaRPr lang="en-US" dirty="0"/>
          </a:p>
          <a:p>
            <a:r>
              <a:rPr lang="en-US" dirty="0"/>
              <a:t>A primitive type is predefined by the language and is named by a </a:t>
            </a:r>
            <a:r>
              <a:rPr lang="en-US" u="sng" dirty="0"/>
              <a:t>reserved keyword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 primitive type is highlighted red when it is typed into the </a:t>
            </a:r>
            <a:r>
              <a:rPr lang="en-US" dirty="0" err="1"/>
              <a:t>BlueJ</a:t>
            </a:r>
            <a:r>
              <a:rPr lang="en-US" dirty="0"/>
              <a:t> editor e.g.</a:t>
            </a:r>
          </a:p>
          <a:p>
            <a:pPr marL="0" indent="0">
              <a:buNone/>
            </a:pPr>
            <a:r>
              <a:rPr lang="en-US" sz="3800" dirty="0"/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int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numberOfItems</a:t>
            </a:r>
            <a:r>
              <a:rPr lang="en-US" sz="2800" b="1" dirty="0">
                <a:latin typeface="Anonymous" pitchFamily="49" charset="0"/>
              </a:rPr>
              <a:t>;</a:t>
            </a:r>
          </a:p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Anonymous" pitchFamily="49" charset="0"/>
              </a:rPr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boolean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isAlive</a:t>
            </a:r>
            <a:endParaRPr lang="en-US" sz="2800" b="1" dirty="0">
              <a:latin typeface="Anonymous" pitchFamily="49" charset="0"/>
            </a:endParaRPr>
          </a:p>
          <a:p>
            <a:pPr marL="0" indent="0">
              <a:buNone/>
            </a:pPr>
            <a:r>
              <a:rPr lang="en-US" sz="2800" b="1" dirty="0">
                <a:latin typeface="Anonymous" pitchFamily="49" charset="0"/>
              </a:rPr>
              <a:t>	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float</a:t>
            </a:r>
            <a:r>
              <a:rPr lang="en-US" sz="2800" b="1" dirty="0"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sizeOfSquare</a:t>
            </a:r>
            <a:r>
              <a:rPr lang="en-US" sz="2800" b="1" dirty="0">
                <a:latin typeface="Anonymous" pitchFamily="49" charset="0"/>
              </a:rPr>
              <a:t>;</a:t>
            </a:r>
            <a:endParaRPr lang="en-US" sz="3800" b="1" dirty="0"/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91560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7D312-90AE-8F5E-F1F6-EB010F72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D404-E3C5-80CA-6DE7-12F3855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076467-04CD-802E-5F6A-2A407CC06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2AF2C8-72BC-404B-59A2-06E737042482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D05BEE3B-8495-0439-3468-9AD2468F0451}"/>
              </a:ext>
            </a:extLst>
          </p:cNvPr>
          <p:cNvSpPr/>
          <p:nvPr/>
        </p:nvSpPr>
        <p:spPr>
          <a:xfrm>
            <a:off x="4511824" y="4293096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03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(whole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752600" y="1752600"/>
          <a:ext cx="8686800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Byte-size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Typical Use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232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byte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127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short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16-bit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32,767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 err="1">
                          <a:solidFill>
                            <a:srgbClr val="FF0000"/>
                          </a:solidFill>
                        </a:rPr>
                        <a:t>int</a:t>
                      </a:r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32-bit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-2,147,483,648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2,147,483,647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long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64-bit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-9,223,372,036,854,775,808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9,223,372,036,854,775,807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 when you need a data type</a:t>
                      </a:r>
                      <a:r>
                        <a:rPr lang="en-IE" sz="24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with a range of values larger than that provided by int.</a:t>
                      </a:r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Doughnut 2">
            <a:extLst>
              <a:ext uri="{FF2B5EF4-FFF2-40B4-BE49-F238E27FC236}">
                <a16:creationId xmlns:a16="http://schemas.microsoft.com/office/drawing/2014/main" id="{F72AED47-39AD-FA4F-D38B-A8137ACAE7E5}"/>
              </a:ext>
            </a:extLst>
          </p:cNvPr>
          <p:cNvSpPr/>
          <p:nvPr/>
        </p:nvSpPr>
        <p:spPr>
          <a:xfrm>
            <a:off x="983432" y="3717032"/>
            <a:ext cx="2160240" cy="864096"/>
          </a:xfrm>
          <a:prstGeom prst="donu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Line Callout 1 (Border and Accent Bar) 3">
            <a:extLst>
              <a:ext uri="{FF2B5EF4-FFF2-40B4-BE49-F238E27FC236}">
                <a16:creationId xmlns:a16="http://schemas.microsoft.com/office/drawing/2014/main" id="{509CE2AD-4300-5E78-4DB0-DA411A69A70C}"/>
              </a:ext>
            </a:extLst>
          </p:cNvPr>
          <p:cNvSpPr/>
          <p:nvPr/>
        </p:nvSpPr>
        <p:spPr>
          <a:xfrm>
            <a:off x="348444" y="5314657"/>
            <a:ext cx="2808312" cy="1256079"/>
          </a:xfrm>
          <a:prstGeom prst="accentBorderCallout1">
            <a:avLst>
              <a:gd name="adj1" fmla="val 18750"/>
              <a:gd name="adj2" fmla="val -8333"/>
              <a:gd name="adj3" fmla="val -67454"/>
              <a:gd name="adj4" fmla="val 33388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will mostly use int for whole numbers</a:t>
            </a:r>
          </a:p>
        </p:txBody>
      </p:sp>
    </p:spTree>
    <p:extLst>
      <p:ext uri="{BB962C8B-B14F-4D97-AF65-F5344CB8AC3E}">
        <p14:creationId xmlns:p14="http://schemas.microsoft.com/office/powerpoint/2010/main" val="8590309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F1B9-FBE7-7C3A-2EAC-613F2323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36335-4F2F-1A1D-C8B2-2EFEB6DE1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405E61-3380-23D3-C016-A56308DD0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0" y="1700808"/>
            <a:ext cx="9419860" cy="4443124"/>
          </a:xfrm>
          <a:prstGeom prst="rect">
            <a:avLst/>
          </a:prstGeom>
        </p:spPr>
      </p:pic>
      <p:sp>
        <p:nvSpPr>
          <p:cNvPr id="9" name="Doughnut 8">
            <a:extLst>
              <a:ext uri="{FF2B5EF4-FFF2-40B4-BE49-F238E27FC236}">
                <a16:creationId xmlns:a16="http://schemas.microsoft.com/office/drawing/2014/main" id="{ED338675-C25D-3EA9-77CD-BF0B829369E4}"/>
              </a:ext>
            </a:extLst>
          </p:cNvPr>
          <p:cNvSpPr/>
          <p:nvPr/>
        </p:nvSpPr>
        <p:spPr>
          <a:xfrm>
            <a:off x="1199456" y="3429000"/>
            <a:ext cx="4680520" cy="1728192"/>
          </a:xfrm>
          <a:prstGeom prst="don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84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5555-B3F3-95AB-C800-60CA487F2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480" y="227014"/>
            <a:ext cx="10972800" cy="1143000"/>
          </a:xfrm>
        </p:spPr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6E6C25-FF12-70EB-E455-8EBCB0428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14E27D-BB66-686F-69C4-B1C73E320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468" y="1581939"/>
            <a:ext cx="9577064" cy="5049047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DB575705-881E-A512-DAAC-6068C4BFFE54}"/>
              </a:ext>
            </a:extLst>
          </p:cNvPr>
          <p:cNvSpPr/>
          <p:nvPr/>
        </p:nvSpPr>
        <p:spPr>
          <a:xfrm>
            <a:off x="1919536" y="5226335"/>
            <a:ext cx="8964996" cy="805979"/>
          </a:xfrm>
          <a:prstGeom prst="fram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630E112-F0D9-DE22-2379-01320B5098DE}"/>
              </a:ext>
            </a:extLst>
          </p:cNvPr>
          <p:cNvSpPr/>
          <p:nvPr/>
        </p:nvSpPr>
        <p:spPr>
          <a:xfrm>
            <a:off x="1919536" y="4420356"/>
            <a:ext cx="8964996" cy="805979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Line Callout 1 (Border and Accent Bar) 4">
            <a:extLst>
              <a:ext uri="{FF2B5EF4-FFF2-40B4-BE49-F238E27FC236}">
                <a16:creationId xmlns:a16="http://schemas.microsoft.com/office/drawing/2014/main" id="{93889B07-AE43-C27E-5ED7-8A13D5EBEFD9}"/>
              </a:ext>
            </a:extLst>
          </p:cNvPr>
          <p:cNvSpPr/>
          <p:nvPr/>
        </p:nvSpPr>
        <p:spPr>
          <a:xfrm>
            <a:off x="8256240" y="3001051"/>
            <a:ext cx="2880320" cy="1207380"/>
          </a:xfrm>
          <a:prstGeom prst="accentBorderCallout1">
            <a:avLst>
              <a:gd name="adj1" fmla="val 18750"/>
              <a:gd name="adj2" fmla="val -8333"/>
              <a:gd name="adj3" fmla="val 118326"/>
              <a:gd name="adj4" fmla="val -847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can assign a value at the same time as declaration. This is called </a:t>
            </a:r>
            <a:r>
              <a:rPr lang="en-US" dirty="0">
                <a:solidFill>
                  <a:srgbClr val="FF0000"/>
                </a:solidFill>
              </a:rPr>
              <a:t>defining the variable</a:t>
            </a:r>
          </a:p>
        </p:txBody>
      </p:sp>
    </p:spTree>
    <p:extLst>
      <p:ext uri="{BB962C8B-B14F-4D97-AF65-F5344CB8AC3E}">
        <p14:creationId xmlns:p14="http://schemas.microsoft.com/office/powerpoint/2010/main" val="3548708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84510-90E5-1EB5-72D8-563038777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Declaring variables – some errors - 1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73A5430-6101-8C0B-5627-6075E6B0B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/>
          <a:p>
            <a:r>
              <a:rPr lang="en-US" sz="4000" dirty="0"/>
              <a:t>Data types are case sensitive </a:t>
            </a:r>
          </a:p>
          <a:p>
            <a:pPr lvl="1"/>
            <a:r>
              <a:rPr lang="en-US" sz="3200" dirty="0">
                <a:solidFill>
                  <a:srgbClr val="FF0000"/>
                </a:solidFill>
              </a:rPr>
              <a:t>Int</a:t>
            </a:r>
            <a:r>
              <a:rPr lang="en-US" sz="3200" dirty="0"/>
              <a:t> is not valid</a:t>
            </a:r>
          </a:p>
          <a:p>
            <a:pPr lvl="1"/>
            <a:r>
              <a:rPr lang="en-US" sz="3200" dirty="0">
                <a:solidFill>
                  <a:srgbClr val="00B050"/>
                </a:solidFill>
              </a:rPr>
              <a:t>int</a:t>
            </a:r>
            <a:r>
              <a:rPr lang="en-US" sz="3200" dirty="0"/>
              <a:t> is valid</a:t>
            </a: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ECBED942-406C-2E81-FA26-A03AA949CD0D}"/>
              </a:ext>
            </a:extLst>
          </p:cNvPr>
          <p:cNvSpPr/>
          <p:nvPr/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right-click on red underline, </a:t>
            </a:r>
            <a:r>
              <a:rPr lang="en-GB" sz="1900" b="1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BlueJ</a:t>
            </a: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will help you fix the error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F089B1-63C5-3535-2257-1B724C8357C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r="7595" b="-3"/>
          <a:stretch>
            <a:fillRect/>
          </a:stretch>
        </p:blipFill>
        <p:spPr>
          <a:xfrm>
            <a:off x="6193368" y="2174875"/>
            <a:ext cx="5389033" cy="3951288"/>
          </a:xfrm>
          <a:prstGeom prst="rect">
            <a:avLst/>
          </a:prstGeom>
          <a:noFill/>
        </p:spPr>
      </p:pic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1DC98A19-719C-024E-976B-D1302E4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Line Callout 1 (Border and Accent Bar) 6">
            <a:extLst>
              <a:ext uri="{FF2B5EF4-FFF2-40B4-BE49-F238E27FC236}">
                <a16:creationId xmlns:a16="http://schemas.microsoft.com/office/drawing/2014/main" id="{7F4BAF34-8F93-763F-AD1C-C5224BD167C9}"/>
              </a:ext>
            </a:extLst>
          </p:cNvPr>
          <p:cNvSpPr/>
          <p:nvPr/>
        </p:nvSpPr>
        <p:spPr>
          <a:xfrm>
            <a:off x="4007768" y="4839402"/>
            <a:ext cx="1609536" cy="1666058"/>
          </a:xfrm>
          <a:prstGeom prst="accentBorderCallout1">
            <a:avLst>
              <a:gd name="adj1" fmla="val 15701"/>
              <a:gd name="adj2" fmla="val 103186"/>
              <a:gd name="adj3" fmla="val 7814"/>
              <a:gd name="adj4" fmla="val 223631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b="1" dirty="0">
                <a:solidFill>
                  <a:schemeClr val="tx1"/>
                </a:solidFill>
              </a:rPr>
              <a:t>Red underline indicates that there is a syntax error. 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110D0A74-82AA-AF2F-E846-395ED8E72C95}"/>
              </a:ext>
            </a:extLst>
          </p:cNvPr>
          <p:cNvSpPr/>
          <p:nvPr/>
        </p:nvSpPr>
        <p:spPr>
          <a:xfrm rot="1548875">
            <a:off x="10013313" y="2044955"/>
            <a:ext cx="484632" cy="295232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1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EF6A1B6-5BB0-141D-92F7-56C4126B05B8}"/>
              </a:ext>
            </a:extLst>
          </p:cNvPr>
          <p:cNvSpPr txBox="1">
            <a:spLocks/>
          </p:cNvSpPr>
          <p:nvPr/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Declaring variables – some errors - 2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0B67E-BEC1-0DF1-23DA-6F34C2B2A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7368" y="2708920"/>
            <a:ext cx="5384800" cy="4525963"/>
          </a:xfrm>
        </p:spPr>
        <p:txBody>
          <a:bodyPr/>
          <a:lstStyle/>
          <a:p>
            <a:r>
              <a:rPr lang="en-US" dirty="0"/>
              <a:t>You can only have one declaration of any variable in a context.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4B22CE-4054-9142-1DC0-975F7B9AB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292" y="1838047"/>
            <a:ext cx="6544057" cy="4040955"/>
          </a:xfrm>
          <a:prstGeom prst="rect">
            <a:avLst/>
          </a:prstGeom>
          <a:noFill/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CF0BC1E-BB31-0BF1-7837-35A52FAF9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931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53BA-DD11-31F9-4F42-F5080AD95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D581B-E0EE-6F64-CD56-F00EFE6C8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600019-935E-A74B-5C5D-BEDC1D833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EC47B-C82E-88AE-1FDE-6F52EF2FCF2C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33A6DFA6-341A-7144-71E0-46FF98841964}"/>
              </a:ext>
            </a:extLst>
          </p:cNvPr>
          <p:cNvSpPr/>
          <p:nvPr/>
        </p:nvSpPr>
        <p:spPr>
          <a:xfrm>
            <a:off x="4511824" y="4661147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55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(decimal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676400"/>
          <a:ext cx="8305800" cy="403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8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87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4508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32-bit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Beyond the scope of this lecture .  </a:t>
                      </a: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There is also a loss of precision in</a:t>
                      </a:r>
                      <a:r>
                        <a:rPr lang="en-IE" sz="2000" i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 this data-type that we will cover in later lectures.</a:t>
                      </a:r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  <a:p>
                      <a:pPr marL="0" algn="l" defTabSz="914400" rtl="0" eaLnBrk="1" latinLnBrk="0" hangingPunct="1"/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 choice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when using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Processing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double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64-bit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 when programming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Java apps.</a:t>
                      </a:r>
                      <a:endParaRPr lang="en-IE" sz="20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287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1DF8CE2D-64D5-8C44-1C6B-E49F80023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 dirty="0"/>
              <a:t>Declaring/defining a floating point field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0DB33BE-7416-B8C3-AA88-C98FFFA51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1" y="2174875"/>
            <a:ext cx="4406280" cy="3486373"/>
          </a:xfrm>
        </p:spPr>
        <p:txBody>
          <a:bodyPr>
            <a:normAutofit/>
          </a:bodyPr>
          <a:lstStyle/>
          <a:p>
            <a:r>
              <a:rPr lang="en-US" dirty="0"/>
              <a:t>Use float  or double for non-integer numbers. </a:t>
            </a:r>
          </a:p>
          <a:p>
            <a:endParaRPr lang="en-US" dirty="0"/>
          </a:p>
          <a:p>
            <a:r>
              <a:rPr lang="en-US" dirty="0"/>
              <a:t>When assigning numbers, use the f or d suffix with float or double. </a:t>
            </a:r>
          </a:p>
        </p:txBody>
      </p: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F9AA7C96-5B74-4925-8330-6278678D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08AC95-3D65-8B6B-AE02-BE33DAE2E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952" y="1648073"/>
            <a:ext cx="6413500" cy="401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631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DAB0CD6-34CB-6B7B-C4FE-0760782C4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2204859"/>
            <a:ext cx="3326160" cy="2160245"/>
          </a:xfrm>
        </p:spPr>
        <p:txBody>
          <a:bodyPr/>
          <a:lstStyle/>
          <a:p>
            <a:r>
              <a:rPr lang="en-US" dirty="0"/>
              <a:t>Cannot assign a non-integer value to an integer variable. 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3DEBA28-6C4F-ACC8-1BF3-27FAB5B545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819448" y="1772816"/>
            <a:ext cx="8453440" cy="3816424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CEA2F2-9BCF-3453-9560-7BA703793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35FB4E3-9F3B-F931-6D6E-484DCF43A5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Declaring variables – some errors - 3</a:t>
            </a:r>
          </a:p>
        </p:txBody>
      </p:sp>
    </p:spTree>
    <p:extLst>
      <p:ext uri="{BB962C8B-B14F-4D97-AF65-F5344CB8AC3E}">
        <p14:creationId xmlns:p14="http://schemas.microsoft.com/office/powerpoint/2010/main" val="214900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94D03-749A-69EA-2B38-FAE12360B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8A0E-3DAD-6540-19D4-905730A8B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BBB4CB-6AD9-8BCB-7511-F243E657A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C083B6-BB08-AB84-AD99-15C4D8CEA08F}"/>
              </a:ext>
            </a:extLst>
          </p:cNvPr>
          <p:cNvSpPr/>
          <p:nvPr/>
        </p:nvSpPr>
        <p:spPr>
          <a:xfrm>
            <a:off x="609600" y="5445224"/>
            <a:ext cx="3326160" cy="57606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1223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4766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16 % 5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i="1" kern="1200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2" t="-477778" r="-692" b="-4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56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B363B-E1B5-4F30-1479-C74AD057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Note on division ‘\’ – integer or ‘normal’ 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4306A-B543-DBF9-D4E9-50917F4D7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1143001"/>
          </a:xfr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marL="0" indent="0">
              <a:buNone/>
            </a:pPr>
            <a:r>
              <a:rPr lang="en-US" dirty="0"/>
              <a:t>When we use the ‘/’ operator , how it behaves depends on the type of the two operands :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5364DD-6506-67E1-E575-3F79605D62C6}"/>
              </a:ext>
            </a:extLst>
          </p:cNvPr>
          <p:cNvSpPr/>
          <p:nvPr/>
        </p:nvSpPr>
        <p:spPr>
          <a:xfrm>
            <a:off x="407368" y="3685077"/>
            <a:ext cx="1080120" cy="859444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x / 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EE1A0A-23F1-3C06-AB66-FFD5F52021D3}"/>
              </a:ext>
            </a:extLst>
          </p:cNvPr>
          <p:cNvSpPr/>
          <p:nvPr/>
        </p:nvSpPr>
        <p:spPr>
          <a:xfrm>
            <a:off x="2515934" y="3021901"/>
            <a:ext cx="1080120" cy="859444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and y are integers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0F9CE8-093E-F951-78C0-97D3D7DDDB53}"/>
              </a:ext>
            </a:extLst>
          </p:cNvPr>
          <p:cNvSpPr/>
          <p:nvPr/>
        </p:nvSpPr>
        <p:spPr>
          <a:xfrm>
            <a:off x="4475796" y="2857497"/>
            <a:ext cx="1318356" cy="1143001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</a:t>
            </a:r>
            <a:r>
              <a:rPr lang="en-US" dirty="0">
                <a:sym typeface="Wingdings" pitchFamily="2" charset="2"/>
              </a:rPr>
              <a:t> 10</a:t>
            </a:r>
          </a:p>
          <a:p>
            <a:pPr algn="ctr"/>
            <a:r>
              <a:rPr lang="en-US" dirty="0">
                <a:sym typeface="Wingdings" pitchFamily="2" charset="2"/>
              </a:rPr>
              <a:t>y  6  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D500FD-42AE-1178-D1B8-A97195C5529D}"/>
              </a:ext>
            </a:extLst>
          </p:cNvPr>
          <p:cNvSpPr/>
          <p:nvPr/>
        </p:nvSpPr>
        <p:spPr>
          <a:xfrm>
            <a:off x="6717497" y="2720579"/>
            <a:ext cx="2412646" cy="1462087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x / y</a:t>
            </a:r>
            <a:endParaRPr lang="en-US" sz="2800" dirty="0">
              <a:sym typeface="Wingdings" pitchFamily="2" charset="2"/>
            </a:endParaRPr>
          </a:p>
          <a:p>
            <a:pPr algn="ctr"/>
            <a:r>
              <a:rPr lang="en-US" sz="2800" dirty="0"/>
              <a:t>10 / 6</a:t>
            </a:r>
            <a:endParaRPr lang="en-US" dirty="0">
              <a:sym typeface="Wingdings" pitchFamily="2" charset="2"/>
            </a:endParaRPr>
          </a:p>
          <a:p>
            <a:pPr algn="ctr"/>
            <a:endParaRPr lang="en-US" dirty="0">
              <a:sym typeface="Wingdings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10995D-2665-0785-9C7D-9C986DEB4BF4}"/>
              </a:ext>
            </a:extLst>
          </p:cNvPr>
          <p:cNvSpPr/>
          <p:nvPr/>
        </p:nvSpPr>
        <p:spPr>
          <a:xfrm>
            <a:off x="10200456" y="2731891"/>
            <a:ext cx="1969368" cy="1462087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" pitchFamily="2" charset="2"/>
              </a:rPr>
              <a:t>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A573E2-9C95-6617-6BD1-9B6FF8B247A4}"/>
              </a:ext>
            </a:extLst>
          </p:cNvPr>
          <p:cNvCxnSpPr>
            <a:stCxn id="7" idx="3"/>
          </p:cNvCxnSpPr>
          <p:nvPr/>
        </p:nvCxnSpPr>
        <p:spPr>
          <a:xfrm flipV="1">
            <a:off x="1487488" y="3428997"/>
            <a:ext cx="1028446" cy="68580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AF1EF4-8438-0CBB-82A9-DF1377EFFF3F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596054" y="3428997"/>
            <a:ext cx="879742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EDC211-5E56-9A05-3A94-605339656DA5}"/>
              </a:ext>
            </a:extLst>
          </p:cNvPr>
          <p:cNvCxnSpPr>
            <a:cxnSpLocks/>
          </p:cNvCxnSpPr>
          <p:nvPr/>
        </p:nvCxnSpPr>
        <p:spPr>
          <a:xfrm>
            <a:off x="5794152" y="3428997"/>
            <a:ext cx="923345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D057B4-A1D2-FB55-8147-1BE9B907ABC0}"/>
              </a:ext>
            </a:extLst>
          </p:cNvPr>
          <p:cNvCxnSpPr>
            <a:cxnSpLocks/>
          </p:cNvCxnSpPr>
          <p:nvPr/>
        </p:nvCxnSpPr>
        <p:spPr>
          <a:xfrm>
            <a:off x="9130143" y="3428997"/>
            <a:ext cx="1070313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29678A-8B62-0583-34FE-296554AE8A27}"/>
              </a:ext>
            </a:extLst>
          </p:cNvPr>
          <p:cNvSpPr/>
          <p:nvPr/>
        </p:nvSpPr>
        <p:spPr>
          <a:xfrm>
            <a:off x="2515934" y="4964997"/>
            <a:ext cx="1308850" cy="1172073"/>
          </a:xfrm>
          <a:prstGeom prst="rect">
            <a:avLst/>
          </a:prstGeom>
          <a:solidFill>
            <a:srgbClr val="00B05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Either x or y or bot are non-integers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3CAD2F-092E-57C3-7BBD-69088AD04EFD}"/>
              </a:ext>
            </a:extLst>
          </p:cNvPr>
          <p:cNvSpPr/>
          <p:nvPr/>
        </p:nvSpPr>
        <p:spPr>
          <a:xfrm>
            <a:off x="4570739" y="4964996"/>
            <a:ext cx="1318356" cy="1143001"/>
          </a:xfrm>
          <a:prstGeom prst="rect">
            <a:avLst/>
          </a:prstGeom>
          <a:solidFill>
            <a:srgbClr val="00B05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</a:t>
            </a:r>
            <a:r>
              <a:rPr lang="en-US" dirty="0">
                <a:sym typeface="Wingdings" pitchFamily="2" charset="2"/>
              </a:rPr>
              <a:t> 10.0</a:t>
            </a:r>
          </a:p>
          <a:p>
            <a:pPr algn="ctr"/>
            <a:r>
              <a:rPr lang="en-US" dirty="0">
                <a:sym typeface="Wingdings" pitchFamily="2" charset="2"/>
              </a:rPr>
              <a:t>y  6  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484DB1-3BBE-EEF5-8631-9A58C532B6FB}"/>
              </a:ext>
            </a:extLst>
          </p:cNvPr>
          <p:cNvSpPr/>
          <p:nvPr/>
        </p:nvSpPr>
        <p:spPr>
          <a:xfrm>
            <a:off x="6827295" y="4805452"/>
            <a:ext cx="2412646" cy="1462087"/>
          </a:xfrm>
          <a:prstGeom prst="rect">
            <a:avLst/>
          </a:prstGeom>
          <a:solidFill>
            <a:srgbClr val="00B050"/>
          </a:solidFill>
          <a:ln>
            <a:solidFill>
              <a:srgbClr val="009C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x / y</a:t>
            </a:r>
            <a:endParaRPr lang="en-US" sz="2800" dirty="0">
              <a:sym typeface="Wingdings" pitchFamily="2" charset="2"/>
            </a:endParaRPr>
          </a:p>
          <a:p>
            <a:pPr algn="ctr"/>
            <a:r>
              <a:rPr lang="en-US" sz="2800" dirty="0"/>
              <a:t>10.0 / 6</a:t>
            </a:r>
            <a:endParaRPr lang="en-US" dirty="0">
              <a:sym typeface="Wingdings" pitchFamily="2" charset="2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B63FFA4-3E94-E271-4CA1-0CB42A2CC370}"/>
              </a:ext>
            </a:extLst>
          </p:cNvPr>
          <p:cNvSpPr/>
          <p:nvPr/>
        </p:nvSpPr>
        <p:spPr>
          <a:xfrm>
            <a:off x="10163977" y="4819989"/>
            <a:ext cx="1969368" cy="1462087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" pitchFamily="2" charset="2"/>
              </a:rPr>
              <a:t>1.666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E6C5B0C-6C76-A4B4-C512-1C3226D6DE9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487488" y="4114799"/>
            <a:ext cx="1028446" cy="1257295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256DCC-BFD8-D081-D864-A3C871D6B9BE}"/>
              </a:ext>
            </a:extLst>
          </p:cNvPr>
          <p:cNvCxnSpPr>
            <a:cxnSpLocks/>
          </p:cNvCxnSpPr>
          <p:nvPr/>
        </p:nvCxnSpPr>
        <p:spPr>
          <a:xfrm>
            <a:off x="3690997" y="5457119"/>
            <a:ext cx="879742" cy="1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35F5D9-3536-8840-A056-49D410894477}"/>
              </a:ext>
            </a:extLst>
          </p:cNvPr>
          <p:cNvCxnSpPr>
            <a:cxnSpLocks/>
          </p:cNvCxnSpPr>
          <p:nvPr/>
        </p:nvCxnSpPr>
        <p:spPr>
          <a:xfrm>
            <a:off x="5903950" y="5536495"/>
            <a:ext cx="923345" cy="0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EF296-5500-4098-F8DD-D4D8891ADBB3}"/>
              </a:ext>
            </a:extLst>
          </p:cNvPr>
          <p:cNvCxnSpPr>
            <a:cxnSpLocks/>
          </p:cNvCxnSpPr>
          <p:nvPr/>
        </p:nvCxnSpPr>
        <p:spPr>
          <a:xfrm>
            <a:off x="9130143" y="5372094"/>
            <a:ext cx="1070313" cy="0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85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8|7.2|16|9.7"/>
</p:tagLst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2171</TotalTime>
  <Words>1418</Words>
  <Application>Microsoft Macintosh PowerPoint</Application>
  <PresentationFormat>Widescreen</PresentationFormat>
  <Paragraphs>314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MS PGothic</vt:lpstr>
      <vt:lpstr>Anonymous</vt:lpstr>
      <vt:lpstr>Arial</vt:lpstr>
      <vt:lpstr>Calibri</vt:lpstr>
      <vt:lpstr>Cambria Math</vt:lpstr>
      <vt:lpstr>Courier New</vt:lpstr>
      <vt:lpstr>Times New Roman</vt:lpstr>
      <vt:lpstr>Wingdings</vt:lpstr>
      <vt:lpstr>a-processing-mouse-event-methods</vt:lpstr>
      <vt:lpstr>Variables, Data Types &amp; Arithmetic Operators</vt:lpstr>
      <vt:lpstr>Topics list</vt:lpstr>
      <vt:lpstr>Variables</vt:lpstr>
      <vt:lpstr>Variable names…</vt:lpstr>
      <vt:lpstr>Variable names should be carefully chosen</vt:lpstr>
      <vt:lpstr>Kinds of variables so far</vt:lpstr>
      <vt:lpstr>Topics list</vt:lpstr>
      <vt:lpstr>Java Keywords</vt:lpstr>
      <vt:lpstr>Keywords – list </vt:lpstr>
      <vt:lpstr>Keywords (technical description)</vt:lpstr>
      <vt:lpstr>Example of tokens – let’s tokenise a stmt</vt:lpstr>
      <vt:lpstr>Topics list</vt:lpstr>
      <vt:lpstr>Data Types</vt:lpstr>
      <vt:lpstr>Data Types </vt:lpstr>
      <vt:lpstr> Java’s Primitive Data Types</vt:lpstr>
      <vt:lpstr>Topics list</vt:lpstr>
      <vt:lpstr>Java’s Primitive Data Types (whole numbers)</vt:lpstr>
      <vt:lpstr>Declaring variables of a specific type</vt:lpstr>
      <vt:lpstr>Declaring variables of a specific type</vt:lpstr>
      <vt:lpstr>Declaring variables – some errors - 1</vt:lpstr>
      <vt:lpstr>PowerPoint Presentation</vt:lpstr>
      <vt:lpstr>Topics list</vt:lpstr>
      <vt:lpstr>Java’s Primitive Data Types (decimal numbers)</vt:lpstr>
      <vt:lpstr>Declaring/defining a floating point field</vt:lpstr>
      <vt:lpstr>Declaring variables – some errors - 3</vt:lpstr>
      <vt:lpstr>Topics list</vt:lpstr>
      <vt:lpstr>Arithmetic Operators </vt:lpstr>
      <vt:lpstr>Note on division ‘\’ – integer or ‘normal’ division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195</cp:revision>
  <cp:lastPrinted>2003-09-01T07:04:41Z</cp:lastPrinted>
  <dcterms:created xsi:type="dcterms:W3CDTF">2009-04-22T19:24:48Z</dcterms:created>
  <dcterms:modified xsi:type="dcterms:W3CDTF">2025-09-28T17:31:42Z</dcterms:modified>
  <cp:category/>
</cp:coreProperties>
</file>