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5" r:id="rId1"/>
  </p:sldMasterIdLst>
  <p:notesMasterIdLst>
    <p:notesMasterId r:id="rId33"/>
  </p:notesMasterIdLst>
  <p:handoutMasterIdLst>
    <p:handoutMasterId r:id="rId34"/>
  </p:handoutMasterIdLst>
  <p:sldIdLst>
    <p:sldId id="256" r:id="rId2"/>
    <p:sldId id="257" r:id="rId3"/>
    <p:sldId id="272" r:id="rId4"/>
    <p:sldId id="299" r:id="rId5"/>
    <p:sldId id="349" r:id="rId6"/>
    <p:sldId id="273" r:id="rId7"/>
    <p:sldId id="356" r:id="rId8"/>
    <p:sldId id="286" r:id="rId9"/>
    <p:sldId id="358" r:id="rId10"/>
    <p:sldId id="359" r:id="rId11"/>
    <p:sldId id="360" r:id="rId12"/>
    <p:sldId id="357" r:id="rId13"/>
    <p:sldId id="350" r:id="rId14"/>
    <p:sldId id="275" r:id="rId15"/>
    <p:sldId id="276" r:id="rId16"/>
    <p:sldId id="361" r:id="rId17"/>
    <p:sldId id="277" r:id="rId18"/>
    <p:sldId id="362" r:id="rId19"/>
    <p:sldId id="363" r:id="rId20"/>
    <p:sldId id="364" r:id="rId21"/>
    <p:sldId id="365" r:id="rId22"/>
    <p:sldId id="353" r:id="rId23"/>
    <p:sldId id="278" r:id="rId24"/>
    <p:sldId id="296" r:id="rId25"/>
    <p:sldId id="285" r:id="rId26"/>
    <p:sldId id="284" r:id="rId27"/>
    <p:sldId id="300" r:id="rId28"/>
    <p:sldId id="295" r:id="rId29"/>
    <p:sldId id="274" r:id="rId30"/>
    <p:sldId id="297" r:id="rId31"/>
    <p:sldId id="347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6F5E"/>
    <a:srgbClr val="C81D2B"/>
    <a:srgbClr val="1A3170"/>
    <a:srgbClr val="A57133"/>
    <a:srgbClr val="007E4F"/>
    <a:srgbClr val="009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499"/>
    <p:restoredTop sz="94660"/>
  </p:normalViewPr>
  <p:slideViewPr>
    <p:cSldViewPr>
      <p:cViewPr varScale="1">
        <p:scale>
          <a:sx n="76" d="100"/>
          <a:sy n="76" d="100"/>
        </p:scale>
        <p:origin x="232" y="10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86400" y="8686800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BD304B27-EDAE-2B42-B931-F4A43A4E72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605991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30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30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30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86EFD2CC-C5C9-994E-897A-55750BC6900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06599796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We will name our variables beginning with a letter and typically containing only letters (no special characters).</a:t>
            </a:r>
          </a:p>
          <a:p>
            <a:endParaRPr lang="en-IE" dirty="0"/>
          </a:p>
          <a:p>
            <a:r>
              <a:rPr lang="en-IE" dirty="0" err="1"/>
              <a:t>CamelCase</a:t>
            </a:r>
            <a:r>
              <a:rPr lang="en-IE" dirty="0"/>
              <a:t> for variables and function names that have multiple words. We capitalize each word except the first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863568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7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5778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577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FF930-7A3E-E440-99D2-D88CF4C2A3B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6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578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9398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15942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Operations…e.g. I cannot divide “I Love Programming” by ‘S’.  </a:t>
            </a:r>
          </a:p>
          <a:p>
            <a:endParaRPr lang="en-IE" dirty="0"/>
          </a:p>
          <a:p>
            <a:r>
              <a:rPr lang="en-IE" dirty="0"/>
              <a:t>E.g. Mathematical operations are only available on numeric types.  </a:t>
            </a:r>
          </a:p>
          <a:p>
            <a:r>
              <a:rPr lang="en-IE" dirty="0"/>
              <a:t>E.g. I cannot add ‘S’ to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95963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2EB1270-B5B3-C54B-92FD-A65FDB01CB4B}" type="slidenum">
              <a:rPr lang="en-US"/>
              <a:pPr/>
              <a:t>14</a:t>
            </a:fld>
            <a:endParaRPr lang="en-US"/>
          </a:p>
        </p:txBody>
      </p:sp>
      <p:sp>
        <p:nvSpPr>
          <p:cNvPr id="337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1555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EBE41AF-339D-7A42-9D51-2FDDE25D24AD}" type="slidenum">
              <a:rPr lang="en-US"/>
              <a:pPr/>
              <a:t>15</a:t>
            </a:fld>
            <a:endParaRPr lang="en-US"/>
          </a:p>
        </p:txBody>
      </p:sp>
      <p:sp>
        <p:nvSpPr>
          <p:cNvPr id="348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42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F449FA9-01C0-0243-BC2B-8E67C5F55CA8}" type="slidenum">
              <a:rPr lang="en-US"/>
              <a:pPr/>
              <a:t>17</a:t>
            </a:fld>
            <a:endParaRPr lang="en-US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usually show them how the minimum and max values for byte are calculated e.g. </a:t>
            </a:r>
          </a:p>
          <a:p>
            <a:r>
              <a:rPr lang="en-US" dirty="0"/>
              <a:t>8-bit is 2 to the power of 8 = 256</a:t>
            </a:r>
          </a:p>
          <a:p>
            <a:endParaRPr lang="en-US" dirty="0"/>
          </a:p>
          <a:p>
            <a:r>
              <a:rPr lang="en-US" dirty="0"/>
              <a:t>To spread this value over the negative/positive number range, divide by two = 128.  so -128 range up to +127, with 0 being on the “positive size”. </a:t>
            </a:r>
          </a:p>
          <a:p>
            <a:r>
              <a:rPr lang="en-US" dirty="0"/>
              <a:t>Then they can always work out the min/max values for the other whole numbers.  </a:t>
            </a:r>
          </a:p>
        </p:txBody>
      </p:sp>
    </p:spTree>
    <p:extLst>
      <p:ext uri="{BB962C8B-B14F-4D97-AF65-F5344CB8AC3E}">
        <p14:creationId xmlns:p14="http://schemas.microsoft.com/office/powerpoint/2010/main" val="32039460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F449FA9-01C0-0243-BC2B-8E67C5F55CA8}" type="slidenum">
              <a:rPr lang="en-US"/>
              <a:pPr/>
              <a:t>23</a:t>
            </a:fld>
            <a:endParaRPr lang="en-US"/>
          </a:p>
        </p:txBody>
      </p:sp>
      <p:sp>
        <p:nvSpPr>
          <p:cNvPr id="4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368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1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81922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8192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9A42CBBF-813F-C24A-9B84-B001A2F9FD36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25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8192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6042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7380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5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77826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7782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07873945-15D1-0D4D-A39F-AD56662E5318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26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7782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7782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="" xmlns:a14="http://schemas.microsoft.com/office/drawing/2010/main" val="1"/>
            </a:ext>
          </a:extLst>
        </p:spPr>
        <p:txBody>
          <a:bodyPr/>
          <a:lstStyle/>
          <a:p>
            <a:r>
              <a:rPr lang="en-US" altLang="en-US" sz="1600">
                <a:latin typeface="Lucida Grande" charset="0"/>
                <a:ea typeface="ＭＳ Ｐゴシック" charset="-128"/>
                <a:sym typeface="Lucida Grande" charset="0"/>
              </a:rPr>
              <a:t>write method in BlueJ;</a:t>
            </a:r>
          </a:p>
          <a:p>
            <a:r>
              <a:rPr lang="en-US" altLang="en-US" sz="1600">
                <a:latin typeface="Lucida Grande" charset="0"/>
                <a:ea typeface="ＭＳ Ｐゴシック" charset="-128"/>
                <a:sym typeface="Lucida Grande" charset="0"/>
              </a:rPr>
              <a:t>first: do it wrong</a:t>
            </a:r>
          </a:p>
        </p:txBody>
      </p:sp>
    </p:spTree>
    <p:extLst>
      <p:ext uri="{BB962C8B-B14F-4D97-AF65-F5344CB8AC3E}">
        <p14:creationId xmlns:p14="http://schemas.microsoft.com/office/powerpoint/2010/main" val="10899210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69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83970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8397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4180958-73CC-0144-BCE8-529C91825BE5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29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8397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6144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8707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706122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5513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842234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5295009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53533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39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9/24/25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9764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3039843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87663"/>
      </p:ext>
    </p:extLst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3880449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710341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2882446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201981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225057962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00534"/>
      </p:ext>
    </p:extLst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7809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6" r:id="rId1"/>
    <p:sldLayoutId id="2147483957" r:id="rId2"/>
    <p:sldLayoutId id="2147483958" r:id="rId3"/>
    <p:sldLayoutId id="2147483959" r:id="rId4"/>
    <p:sldLayoutId id="2147483960" r:id="rId5"/>
    <p:sldLayoutId id="2147483961" r:id="rId6"/>
    <p:sldLayoutId id="2147483962" r:id="rId7"/>
    <p:sldLayoutId id="2147483963" r:id="rId8"/>
    <p:sldLayoutId id="2147483964" r:id="rId9"/>
    <p:sldLayoutId id="2147483965" r:id="rId10"/>
    <p:sldLayoutId id="2147483966" r:id="rId11"/>
    <p:sldLayoutId id="2147483967" r:id="rId12"/>
    <p:sldLayoutId id="2147483968" r:id="rId13"/>
    <p:sldLayoutId id="2147483969" r:id="rId14"/>
    <p:sldLayoutId id="2147483970" r:id="rId15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 algn="l"/>
            <a:r>
              <a:rPr lang="en-I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Variables, Data Types &amp; Arithmetic Operators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quarter" idx="22"/>
          </p:nvPr>
        </p:nvSpPr>
        <p:spPr>
          <a:xfrm>
            <a:off x="98936" y="1549516"/>
            <a:ext cx="10134430" cy="584775"/>
          </a:xfrm>
        </p:spPr>
        <p:txBody>
          <a:bodyPr/>
          <a:lstStyle/>
          <a:p>
            <a:pPr eaLnBrk="1" hangingPunct="1">
              <a:defRPr/>
            </a:pPr>
            <a:endParaRPr lang="en-GB" dirty="0">
              <a:ea typeface="+mn-ea"/>
              <a:cs typeface="+mn-cs"/>
            </a:endParaRP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/>
              <a:t>by:</a:t>
            </a:r>
            <a:endParaRPr lang="en-IE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3C52B6A4-97C1-5BF3-8F44-19C73FB401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7448" y="1600201"/>
            <a:ext cx="1440160" cy="38863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In Programming, variables: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are created (defined) in your programs.</a:t>
            </a:r>
          </a:p>
          <a:p>
            <a:r>
              <a:rPr lang="en-IE" dirty="0"/>
              <a:t>are used to store data (whose value can change over time).</a:t>
            </a:r>
          </a:p>
          <a:p>
            <a:r>
              <a:rPr lang="en-IE" dirty="0"/>
              <a:t>have a data type.</a:t>
            </a:r>
          </a:p>
          <a:p>
            <a:r>
              <a:rPr lang="en-IE" dirty="0"/>
              <a:t>have a name.</a:t>
            </a:r>
          </a:p>
          <a:p>
            <a:r>
              <a:rPr lang="en-IE" dirty="0"/>
              <a:t>are a VERY important programming concept.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16246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Variable names…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458200" cy="4525963"/>
          </a:xfrm>
        </p:spPr>
        <p:txBody>
          <a:bodyPr>
            <a:noAutofit/>
          </a:bodyPr>
          <a:lstStyle/>
          <a:p>
            <a:r>
              <a:rPr lang="en-IE" sz="2500" dirty="0"/>
              <a:t>Are case-sensitive. </a:t>
            </a:r>
          </a:p>
          <a:p>
            <a:r>
              <a:rPr lang="en-IE" sz="2500" dirty="0"/>
              <a:t>Begin with either:</a:t>
            </a:r>
          </a:p>
          <a:p>
            <a:pPr lvl="1"/>
            <a:r>
              <a:rPr lang="en-IE" sz="2500" dirty="0"/>
              <a:t>a </a:t>
            </a:r>
            <a:r>
              <a:rPr lang="en-IE" sz="2500" b="1" dirty="0"/>
              <a:t>letter (preferable)</a:t>
            </a:r>
            <a:r>
              <a:rPr lang="en-IE" sz="2500" dirty="0"/>
              <a:t>, </a:t>
            </a:r>
          </a:p>
          <a:p>
            <a:pPr lvl="1"/>
            <a:r>
              <a:rPr lang="en-IE" sz="2500" dirty="0"/>
              <a:t>the dollar sign "$", or</a:t>
            </a:r>
          </a:p>
          <a:p>
            <a:pPr lvl="1"/>
            <a:r>
              <a:rPr lang="en-IE" sz="2500" dirty="0"/>
              <a:t>the underscore character "_". </a:t>
            </a:r>
          </a:p>
          <a:p>
            <a:r>
              <a:rPr lang="en-IE" sz="2500" dirty="0"/>
              <a:t>Can contain letters, digits, dollar signs, or underscore characters. </a:t>
            </a:r>
          </a:p>
          <a:p>
            <a:r>
              <a:rPr lang="en-IE" sz="2500" dirty="0"/>
              <a:t>Can be any length you choose.</a:t>
            </a:r>
          </a:p>
          <a:p>
            <a:r>
              <a:rPr lang="en-IE" sz="2500" dirty="0"/>
              <a:t>Must not be a </a:t>
            </a:r>
            <a:r>
              <a:rPr lang="en-IE" sz="2500" b="1" dirty="0"/>
              <a:t>keyword or reserved word </a:t>
            </a:r>
            <a:r>
              <a:rPr lang="en-IE" sz="2500" dirty="0"/>
              <a:t>e.g. </a:t>
            </a:r>
            <a:r>
              <a:rPr lang="en-IE" sz="2500" dirty="0" err="1"/>
              <a:t>int</a:t>
            </a:r>
            <a:r>
              <a:rPr lang="en-IE" sz="2500" dirty="0"/>
              <a:t>, while, etc.</a:t>
            </a:r>
          </a:p>
          <a:p>
            <a:r>
              <a:rPr lang="en-IE" sz="2500" dirty="0"/>
              <a:t>Cannot contain white spaces.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1584252" y="6519446"/>
            <a:ext cx="89916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E" sz="1600" dirty="0"/>
              <a:t>https://docs.oracle.com/javase/tutorial/java/nutsandbolts/variables.html</a:t>
            </a:r>
          </a:p>
        </p:txBody>
      </p:sp>
    </p:spTree>
    <p:extLst>
      <p:ext uri="{BB962C8B-B14F-4D97-AF65-F5344CB8AC3E}">
        <p14:creationId xmlns:p14="http://schemas.microsoft.com/office/powerpoint/2010/main" val="749991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Variable names should be carefully chosen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IE" sz="2800" dirty="0"/>
              <a:t>Use full words instead of cryptic abbreviations e.g.</a:t>
            </a:r>
          </a:p>
          <a:p>
            <a:pPr lvl="1"/>
            <a:r>
              <a:rPr lang="en-IE" sz="2400" dirty="0">
                <a:sym typeface="Wingdings" panose="05000000000000000000" pitchFamily="2" charset="2"/>
              </a:rPr>
              <a:t>v</a:t>
            </a:r>
            <a:r>
              <a:rPr lang="en-IE" sz="2400" dirty="0"/>
              <a:t>ariables named </a:t>
            </a:r>
            <a:r>
              <a:rPr lang="en-IE" sz="2400" dirty="0">
                <a:solidFill>
                  <a:srgbClr val="FF0000"/>
                </a:solidFill>
              </a:rPr>
              <a:t>speed</a:t>
            </a:r>
            <a:r>
              <a:rPr lang="en-IE" sz="2400" dirty="0"/>
              <a:t> and </a:t>
            </a:r>
            <a:r>
              <a:rPr lang="en-IE" sz="2400" dirty="0">
                <a:solidFill>
                  <a:srgbClr val="FF0000"/>
                </a:solidFill>
              </a:rPr>
              <a:t>gear</a:t>
            </a:r>
            <a:r>
              <a:rPr lang="en-IE" sz="2400" dirty="0"/>
              <a:t> are much more intuitive than abbreviated versions, such as </a:t>
            </a:r>
            <a:r>
              <a:rPr lang="en-IE" sz="2400" dirty="0">
                <a:solidFill>
                  <a:srgbClr val="FF0000"/>
                </a:solidFill>
              </a:rPr>
              <a:t>s </a:t>
            </a:r>
            <a:r>
              <a:rPr lang="en-IE" sz="2400" dirty="0"/>
              <a:t>and</a:t>
            </a:r>
            <a:r>
              <a:rPr lang="en-IE" sz="2400" dirty="0">
                <a:solidFill>
                  <a:srgbClr val="FF0000"/>
                </a:solidFill>
              </a:rPr>
              <a:t> g</a:t>
            </a:r>
            <a:r>
              <a:rPr lang="en-IE" sz="2400" dirty="0"/>
              <a:t>. </a:t>
            </a:r>
            <a:endParaRPr lang="en-IE" dirty="0"/>
          </a:p>
          <a:p>
            <a:endParaRPr lang="en-IE" sz="2800" dirty="0"/>
          </a:p>
          <a:p>
            <a:r>
              <a:rPr lang="en-IE" sz="2800" dirty="0"/>
              <a:t>If the name consists of:</a:t>
            </a:r>
          </a:p>
          <a:p>
            <a:pPr lvl="1"/>
            <a:r>
              <a:rPr lang="en-IE" sz="2400" dirty="0"/>
              <a:t>only one word, </a:t>
            </a:r>
          </a:p>
          <a:p>
            <a:pPr lvl="2"/>
            <a:r>
              <a:rPr lang="en-IE" sz="2000" dirty="0"/>
              <a:t>spell that word in all lowercase letters e.g. </a:t>
            </a:r>
            <a:r>
              <a:rPr lang="en-IE" sz="2000" dirty="0">
                <a:solidFill>
                  <a:srgbClr val="FF0000"/>
                </a:solidFill>
              </a:rPr>
              <a:t>ratio</a:t>
            </a:r>
            <a:r>
              <a:rPr lang="en-IE" sz="2000" dirty="0"/>
              <a:t>.</a:t>
            </a:r>
          </a:p>
          <a:p>
            <a:pPr lvl="1"/>
            <a:r>
              <a:rPr lang="en-IE" sz="2400" dirty="0"/>
              <a:t>more than one word, </a:t>
            </a:r>
          </a:p>
          <a:p>
            <a:pPr lvl="2"/>
            <a:r>
              <a:rPr lang="en-IE" sz="2000" dirty="0"/>
              <a:t>capitalise the first letter of each subsequent word e.g. </a:t>
            </a:r>
            <a:r>
              <a:rPr lang="en-IE" sz="2000" dirty="0" err="1">
                <a:solidFill>
                  <a:srgbClr val="FF0000"/>
                </a:solidFill>
              </a:rPr>
              <a:t>gearRatio</a:t>
            </a:r>
            <a:r>
              <a:rPr lang="en-IE" sz="2000" dirty="0"/>
              <a:t> and </a:t>
            </a:r>
            <a:r>
              <a:rPr lang="en-IE" sz="2000" dirty="0" err="1">
                <a:solidFill>
                  <a:srgbClr val="FF0000"/>
                </a:solidFill>
              </a:rPr>
              <a:t>currentGear</a:t>
            </a:r>
            <a:r>
              <a:rPr lang="en-IE" sz="2000" dirty="0"/>
              <a:t>. </a:t>
            </a:r>
          </a:p>
          <a:p>
            <a:pPr lvl="2"/>
            <a:r>
              <a:rPr lang="en-IE" sz="2000" dirty="0"/>
              <a:t>This is called </a:t>
            </a:r>
            <a:r>
              <a:rPr lang="en-IE" sz="2000" b="1" dirty="0" err="1"/>
              <a:t>camelCase</a:t>
            </a:r>
            <a:endParaRPr lang="en-IE" sz="2000" b="1" dirty="0"/>
          </a:p>
        </p:txBody>
      </p:sp>
      <p:sp>
        <p:nvSpPr>
          <p:cNvPr id="4" name="Rectangle 3"/>
          <p:cNvSpPr/>
          <p:nvPr/>
        </p:nvSpPr>
        <p:spPr>
          <a:xfrm>
            <a:off x="1584252" y="6519446"/>
            <a:ext cx="89916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E" sz="1600" dirty="0"/>
              <a:t>https://docs.oracle.com/javase/tutorial/java/nutsandbolts/variables.html</a:t>
            </a:r>
          </a:p>
        </p:txBody>
      </p:sp>
    </p:spTree>
    <p:extLst>
      <p:ext uri="{BB962C8B-B14F-4D97-AF65-F5344CB8AC3E}">
        <p14:creationId xmlns:p14="http://schemas.microsoft.com/office/powerpoint/2010/main" val="71069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>
                <a:ea typeface="MS PGothic" charset="-128"/>
              </a:rPr>
              <a:t>Kinds of variables so far</a:t>
            </a:r>
          </a:p>
        </p:txBody>
      </p:sp>
      <p:sp>
        <p:nvSpPr>
          <p:cNvPr id="74754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Fields are one sort of variable.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store values through the life of an object.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are accessible throughout the class.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en-US" sz="2800" dirty="0">
              <a:ea typeface="MS PGothic" charset="-128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Parameters are another sort of variable: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receive values from outside the method.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They help a method complete its task.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Each call to the method receives a fresh set of values.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>
                <a:ea typeface="MS PGothic" charset="-128"/>
              </a:rPr>
              <a:t>Parameter values are short lived.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en-US" sz="2800" dirty="0">
              <a:ea typeface="MS PGothic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4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47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4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47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47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47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47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47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47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475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47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475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747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7475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47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475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75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850A6-40FF-E2A4-1B6D-CB1A0DAA6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BC679-3968-1F7F-0E1B-80EE515CD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735C08-AE6B-B365-B94B-AB822A285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82BB8A-D393-1643-ACD9-F0115E05AEFB}"/>
              </a:ext>
            </a:extLst>
          </p:cNvPr>
          <p:cNvSpPr/>
          <p:nvPr/>
        </p:nvSpPr>
        <p:spPr>
          <a:xfrm>
            <a:off x="1127448" y="2276872"/>
            <a:ext cx="1800200" cy="38863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8010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Keywords</a:t>
            </a:r>
          </a:p>
        </p:txBody>
      </p:sp>
      <p:sp>
        <p:nvSpPr>
          <p:cNvPr id="2969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altLang="en-US" dirty="0">
                <a:ea typeface="MS PGothic" charset="-128"/>
              </a:rPr>
              <a:t>Words with a special meaning in the language, </a:t>
            </a:r>
            <a:r>
              <a:rPr lang="en-GB" altLang="en-US" dirty="0" err="1">
                <a:ea typeface="MS PGothic" charset="-128"/>
              </a:rPr>
              <a:t>e.g</a:t>
            </a:r>
            <a:r>
              <a:rPr lang="en-GB" altLang="en-US" dirty="0">
                <a:ea typeface="MS PGothic" charset="-128"/>
              </a:rPr>
              <a:t>: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public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class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private</a:t>
            </a:r>
          </a:p>
          <a:p>
            <a:pPr lvl="1"/>
            <a:r>
              <a:rPr lang="en-GB" altLang="en-US" b="1" dirty="0">
                <a:latin typeface="Courier New" charset="0"/>
                <a:ea typeface="MS PGothic" charset="-128"/>
              </a:rPr>
              <a:t>int</a:t>
            </a:r>
          </a:p>
          <a:p>
            <a:r>
              <a:rPr lang="en-GB" altLang="en-US" dirty="0">
                <a:ea typeface="MS PGothic" charset="-128"/>
              </a:rPr>
              <a:t>Also known as </a:t>
            </a:r>
            <a:r>
              <a:rPr lang="en-GB" altLang="en-US" i="1" dirty="0">
                <a:ea typeface="MS PGothic" charset="-128"/>
              </a:rPr>
              <a:t>reserved words</a:t>
            </a:r>
            <a:r>
              <a:rPr lang="en-GB" altLang="en-US" dirty="0">
                <a:ea typeface="MS PGothic" charset="-128"/>
              </a:rPr>
              <a:t>.</a:t>
            </a:r>
          </a:p>
          <a:p>
            <a:r>
              <a:rPr lang="en-GB" altLang="en-US" dirty="0">
                <a:ea typeface="MS PGothic" charset="-128"/>
              </a:rPr>
              <a:t>Special words that the Java language keeps for itself.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8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GB" altLang="en-US" dirty="0"/>
              <a:t>Keywords – list </a:t>
            </a:r>
          </a:p>
        </p:txBody>
      </p:sp>
      <p:sp>
        <p:nvSpPr>
          <p:cNvPr id="29707" name="Footer Placeholder 3">
            <a:extLst>
              <a:ext uri="{FF2B5EF4-FFF2-40B4-BE49-F238E27FC236}">
                <a16:creationId xmlns:a16="http://schemas.microsoft.com/office/drawing/2014/main" id="{A7F1B9FE-14A3-70D7-6264-B8ADE5886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51D97D-9F87-6B5D-B67B-1A8CCD37F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A86C0-0F5C-6C3F-B887-B7187F259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08" y="2132856"/>
            <a:ext cx="10959169" cy="3458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Keywords (technical description)</a:t>
            </a:r>
          </a:p>
        </p:txBody>
      </p:sp>
      <p:sp>
        <p:nvSpPr>
          <p:cNvPr id="29698" name="Rectangle 3"/>
          <p:cNvSpPr>
            <a:spLocks noGrp="1" noChangeArrowheads="1"/>
          </p:cNvSpPr>
          <p:nvPr>
            <p:ph idx="1"/>
          </p:nvPr>
        </p:nvSpPr>
        <p:spPr>
          <a:xfrm>
            <a:off x="609600" y="1488749"/>
            <a:ext cx="10972800" cy="4525963"/>
          </a:xfrm>
        </p:spPr>
        <p:txBody>
          <a:bodyPr>
            <a:normAutofit fontScale="92500" lnSpcReduction="20000"/>
          </a:bodyPr>
          <a:lstStyle/>
          <a:p>
            <a:r>
              <a:rPr lang="en-IE" dirty="0"/>
              <a:t>A </a:t>
            </a:r>
            <a:r>
              <a:rPr lang="en-IE" b="1" dirty="0"/>
              <a:t>reserved word</a:t>
            </a:r>
            <a:r>
              <a:rPr lang="en-IE" dirty="0"/>
              <a:t> (or keyword) in Java is a </a:t>
            </a:r>
            <a:r>
              <a:rPr lang="en-IE" b="1" dirty="0"/>
              <a:t>token </a:t>
            </a:r>
            <a:r>
              <a:rPr lang="en-IE" dirty="0"/>
              <a:t>that has a predefined meaning in the language’s grammar and cannot be redefined or used as an identifier.</a:t>
            </a:r>
          </a:p>
          <a:p>
            <a:endParaRPr lang="en-IE" dirty="0"/>
          </a:p>
          <a:p>
            <a:r>
              <a:rPr lang="en-IE" dirty="0"/>
              <a:t>They are part of the Java specification.</a:t>
            </a:r>
          </a:p>
          <a:p>
            <a:endParaRPr lang="en-IE" dirty="0"/>
          </a:p>
          <a:p>
            <a:r>
              <a:rPr lang="en-IE" dirty="0"/>
              <a:t>They are case-sensitive (e.g., Class is not the same as class).</a:t>
            </a:r>
          </a:p>
          <a:p>
            <a:endParaRPr lang="en-IE" dirty="0"/>
          </a:p>
          <a:p>
            <a:r>
              <a:rPr lang="en-IE" dirty="0"/>
              <a:t>Using a reserved word as an identifier results in a compile-time error.</a:t>
            </a:r>
          </a:p>
        </p:txBody>
      </p:sp>
      <p:sp>
        <p:nvSpPr>
          <p:cNvPr id="2" name="Line Callout 1 (Border and Accent Bar) 1">
            <a:extLst>
              <a:ext uri="{FF2B5EF4-FFF2-40B4-BE49-F238E27FC236}">
                <a16:creationId xmlns:a16="http://schemas.microsoft.com/office/drawing/2014/main" id="{33DFBCD9-8C44-EFFF-8019-8437032D8374}"/>
              </a:ext>
            </a:extLst>
          </p:cNvPr>
          <p:cNvSpPr/>
          <p:nvPr/>
        </p:nvSpPr>
        <p:spPr>
          <a:xfrm>
            <a:off x="9782200" y="8316"/>
            <a:ext cx="1800200" cy="1224136"/>
          </a:xfrm>
          <a:prstGeom prst="accentBorderCallout1">
            <a:avLst>
              <a:gd name="adj1" fmla="val 18750"/>
              <a:gd name="adj2" fmla="val -8333"/>
              <a:gd name="adj3" fmla="val 128062"/>
              <a:gd name="adj4" fmla="val -9618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 token is small meaningful piece of code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3E27C-68C2-C763-5A5A-9CFA2D99D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tokens – let’s </a:t>
            </a:r>
            <a:r>
              <a:rPr lang="en-US" b="1" dirty="0" err="1"/>
              <a:t>tokenise</a:t>
            </a:r>
            <a:r>
              <a:rPr lang="en-US" dirty="0"/>
              <a:t> a </a:t>
            </a:r>
            <a:r>
              <a:rPr lang="en-US" dirty="0" err="1"/>
              <a:t>stmt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8E4090-0156-912F-7FE0-77C6E0468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4AB3976-0788-7610-76D5-5F1856F3CCAB}"/>
              </a:ext>
            </a:extLst>
          </p:cNvPr>
          <p:cNvSpPr/>
          <p:nvPr/>
        </p:nvSpPr>
        <p:spPr>
          <a:xfrm>
            <a:off x="1565423" y="2675050"/>
            <a:ext cx="3090417" cy="169005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int age = 21</a:t>
            </a:r>
            <a:r>
              <a:rPr lang="en-US" sz="2400" dirty="0">
                <a:solidFill>
                  <a:schemeClr val="tx1"/>
                </a:solidFill>
              </a:rPr>
              <a:t>;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Line Callout 1 (Border and Accent Bar) 5">
            <a:extLst>
              <a:ext uri="{FF2B5EF4-FFF2-40B4-BE49-F238E27FC236}">
                <a16:creationId xmlns:a16="http://schemas.microsoft.com/office/drawing/2014/main" id="{FC7E84E6-84F9-F3CC-D3F4-372157E87CB7}"/>
              </a:ext>
            </a:extLst>
          </p:cNvPr>
          <p:cNvSpPr/>
          <p:nvPr/>
        </p:nvSpPr>
        <p:spPr>
          <a:xfrm>
            <a:off x="449299" y="1612431"/>
            <a:ext cx="2232248" cy="752876"/>
          </a:xfrm>
          <a:prstGeom prst="accentBorderCallout1">
            <a:avLst>
              <a:gd name="adj1" fmla="val 18750"/>
              <a:gd name="adj2" fmla="val -8333"/>
              <a:gd name="adj3" fmla="val 250495"/>
              <a:gd name="adj4" fmla="val 5810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int (a reserved word)</a:t>
            </a:r>
          </a:p>
        </p:txBody>
      </p:sp>
      <p:sp>
        <p:nvSpPr>
          <p:cNvPr id="9" name="Line Callout 1 (Border and Accent Bar) 8">
            <a:extLst>
              <a:ext uri="{FF2B5EF4-FFF2-40B4-BE49-F238E27FC236}">
                <a16:creationId xmlns:a16="http://schemas.microsoft.com/office/drawing/2014/main" id="{725D20E6-6F3F-C54B-EB8B-65C8EA85F349}"/>
              </a:ext>
            </a:extLst>
          </p:cNvPr>
          <p:cNvSpPr/>
          <p:nvPr/>
        </p:nvSpPr>
        <p:spPr>
          <a:xfrm>
            <a:off x="2416200" y="5622515"/>
            <a:ext cx="2671688" cy="752876"/>
          </a:xfrm>
          <a:prstGeom prst="accentBorderCallout1">
            <a:avLst>
              <a:gd name="adj1" fmla="val 18750"/>
              <a:gd name="adj2" fmla="val -8333"/>
              <a:gd name="adj3" fmla="val -263080"/>
              <a:gd name="adj4" fmla="val 939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age (a variable name)</a:t>
            </a:r>
          </a:p>
        </p:txBody>
      </p:sp>
      <p:sp>
        <p:nvSpPr>
          <p:cNvPr id="10" name="Line Callout 1 (Border and Accent Bar) 9">
            <a:extLst>
              <a:ext uri="{FF2B5EF4-FFF2-40B4-BE49-F238E27FC236}">
                <a16:creationId xmlns:a16="http://schemas.microsoft.com/office/drawing/2014/main" id="{32C5C039-2107-E686-DBF5-6753455D0921}"/>
              </a:ext>
            </a:extLst>
          </p:cNvPr>
          <p:cNvSpPr/>
          <p:nvPr/>
        </p:nvSpPr>
        <p:spPr>
          <a:xfrm>
            <a:off x="4511824" y="1612431"/>
            <a:ext cx="2232248" cy="752876"/>
          </a:xfrm>
          <a:prstGeom prst="accentBorderCallout1">
            <a:avLst>
              <a:gd name="adj1" fmla="val 18750"/>
              <a:gd name="adj2" fmla="val -8333"/>
              <a:gd name="adj3" fmla="val 231083"/>
              <a:gd name="adj4" fmla="val -6600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= (an operator)</a:t>
            </a:r>
          </a:p>
        </p:txBody>
      </p:sp>
      <p:sp>
        <p:nvSpPr>
          <p:cNvPr id="11" name="Line Callout 1 (Border and Accent Bar) 10">
            <a:extLst>
              <a:ext uri="{FF2B5EF4-FFF2-40B4-BE49-F238E27FC236}">
                <a16:creationId xmlns:a16="http://schemas.microsoft.com/office/drawing/2014/main" id="{D5B37883-F2A5-4555-7F72-3A467BD9B095}"/>
              </a:ext>
            </a:extLst>
          </p:cNvPr>
          <p:cNvSpPr/>
          <p:nvPr/>
        </p:nvSpPr>
        <p:spPr>
          <a:xfrm>
            <a:off x="8803692" y="5051015"/>
            <a:ext cx="1944216" cy="1143000"/>
          </a:xfrm>
          <a:prstGeom prst="accentBorderCallout1">
            <a:avLst>
              <a:gd name="adj1" fmla="val 18750"/>
              <a:gd name="adj2" fmla="val -8333"/>
              <a:gd name="adj3" fmla="val -116242"/>
              <a:gd name="adj4" fmla="val -2740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21 =(a literal value)</a:t>
            </a:r>
          </a:p>
        </p:txBody>
      </p:sp>
      <p:sp>
        <p:nvSpPr>
          <p:cNvPr id="12" name="Line Callout 1 (Border and Accent Bar) 11">
            <a:extLst>
              <a:ext uri="{FF2B5EF4-FFF2-40B4-BE49-F238E27FC236}">
                <a16:creationId xmlns:a16="http://schemas.microsoft.com/office/drawing/2014/main" id="{18DC195D-9D1B-7DFD-7C75-BDB0F96C297C}"/>
              </a:ext>
            </a:extLst>
          </p:cNvPr>
          <p:cNvSpPr/>
          <p:nvPr/>
        </p:nvSpPr>
        <p:spPr>
          <a:xfrm>
            <a:off x="8826277" y="3316967"/>
            <a:ext cx="1944215" cy="1142999"/>
          </a:xfrm>
          <a:prstGeom prst="accentBorderCallout1">
            <a:avLst>
              <a:gd name="adj1" fmla="val 18750"/>
              <a:gd name="adj2" fmla="val -8333"/>
              <a:gd name="adj3" fmla="val 24605"/>
              <a:gd name="adj4" fmla="val -25998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; (a separator)</a:t>
            </a:r>
          </a:p>
        </p:txBody>
      </p:sp>
    </p:spTree>
    <p:extLst>
      <p:ext uri="{BB962C8B-B14F-4D97-AF65-F5344CB8AC3E}">
        <p14:creationId xmlns:p14="http://schemas.microsoft.com/office/powerpoint/2010/main" val="3951597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8028B-4A4D-F743-8435-C4FC9CC8C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76F33-0319-66D6-BF45-D3B54FD98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3FE2F77-FC70-3B31-3AB1-64A6461ED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E5764E-4A13-630E-7CE0-246E24ADC8B2}"/>
              </a:ext>
            </a:extLst>
          </p:cNvPr>
          <p:cNvSpPr/>
          <p:nvPr/>
        </p:nvSpPr>
        <p:spPr>
          <a:xfrm>
            <a:off x="1127448" y="2924944"/>
            <a:ext cx="1800200" cy="38863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60566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800600"/>
          </a:xfrm>
        </p:spPr>
        <p:txBody>
          <a:bodyPr>
            <a:normAutofit fontScale="70000" lnSpcReduction="20000"/>
          </a:bodyPr>
          <a:lstStyle/>
          <a:p>
            <a:r>
              <a:rPr lang="en-IE" dirty="0"/>
              <a:t>In Java, when we define a variable, we </a:t>
            </a:r>
            <a:r>
              <a:rPr lang="en-IE" b="1" u="sng" dirty="0"/>
              <a:t>have</a:t>
            </a:r>
            <a:r>
              <a:rPr lang="en-IE" dirty="0"/>
              <a:t> to give it a data type.</a:t>
            </a:r>
          </a:p>
          <a:p>
            <a:endParaRPr lang="en-IE" dirty="0"/>
          </a:p>
          <a:p>
            <a:r>
              <a:rPr lang="en-IE" dirty="0"/>
              <a:t>The data type defines the </a:t>
            </a:r>
            <a:r>
              <a:rPr lang="en-IE" b="1" u="sng" dirty="0"/>
              <a:t>kinds of values</a:t>
            </a:r>
            <a:r>
              <a:rPr lang="en-IE" b="1" dirty="0"/>
              <a:t> </a:t>
            </a:r>
            <a:r>
              <a:rPr lang="en-IE" dirty="0"/>
              <a:t>(data) that can be stored in the variable e.g. </a:t>
            </a:r>
          </a:p>
          <a:p>
            <a:pPr lvl="2"/>
            <a:r>
              <a:rPr lang="en-IE" sz="2900" dirty="0"/>
              <a:t>- 456</a:t>
            </a:r>
          </a:p>
          <a:p>
            <a:pPr lvl="2"/>
            <a:r>
              <a:rPr lang="en-IE" sz="2900" dirty="0"/>
              <a:t>2</a:t>
            </a:r>
          </a:p>
          <a:p>
            <a:pPr lvl="2"/>
            <a:r>
              <a:rPr lang="en-IE" sz="2900" dirty="0"/>
              <a:t>45.7897</a:t>
            </a:r>
          </a:p>
          <a:p>
            <a:pPr lvl="2"/>
            <a:r>
              <a:rPr lang="en-IE" sz="2900" dirty="0"/>
              <a:t>I Love Programming</a:t>
            </a:r>
          </a:p>
          <a:p>
            <a:pPr lvl="2"/>
            <a:r>
              <a:rPr lang="en-IE" sz="2900" dirty="0"/>
              <a:t>S</a:t>
            </a:r>
          </a:p>
          <a:p>
            <a:pPr lvl="2"/>
            <a:r>
              <a:rPr lang="en-IE" sz="2900" dirty="0"/>
              <a:t>true</a:t>
            </a:r>
          </a:p>
          <a:p>
            <a:pPr marL="914400" lvl="2" indent="0">
              <a:buNone/>
            </a:pPr>
            <a:endParaRPr lang="en-IE" sz="2900" dirty="0"/>
          </a:p>
          <a:p>
            <a:r>
              <a:rPr lang="en-US" dirty="0"/>
              <a:t>The data type also determines the </a:t>
            </a:r>
            <a:r>
              <a:rPr lang="en-US" b="1" u="sng" dirty="0"/>
              <a:t>operations</a:t>
            </a:r>
            <a:r>
              <a:rPr lang="en-US" dirty="0"/>
              <a:t> that may be performed on it.</a:t>
            </a:r>
          </a:p>
        </p:txBody>
      </p:sp>
    </p:spTree>
    <p:extLst>
      <p:ext uri="{BB962C8B-B14F-4D97-AF65-F5344CB8AC3E}">
        <p14:creationId xmlns:p14="http://schemas.microsoft.com/office/powerpoint/2010/main" val="2134019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Java uses two kinds of data types:</a:t>
            </a:r>
          </a:p>
          <a:p>
            <a:pPr lvl="1"/>
            <a:r>
              <a:rPr lang="en-US" b="1" dirty="0"/>
              <a:t>Primitive</a:t>
            </a:r>
            <a:r>
              <a:rPr lang="en-US" dirty="0"/>
              <a:t> types</a:t>
            </a:r>
          </a:p>
          <a:p>
            <a:pPr lvl="1"/>
            <a:r>
              <a:rPr lang="en-US" b="1" dirty="0"/>
              <a:t>Object</a:t>
            </a:r>
            <a:r>
              <a:rPr lang="en-US" dirty="0"/>
              <a:t> types</a:t>
            </a:r>
          </a:p>
          <a:p>
            <a:pPr lvl="1"/>
            <a:endParaRPr lang="en-US" dirty="0"/>
          </a:p>
          <a:p>
            <a:r>
              <a:rPr lang="en-US" dirty="0"/>
              <a:t>We are only looking at </a:t>
            </a:r>
            <a:r>
              <a:rPr lang="en-US" b="1" dirty="0">
                <a:solidFill>
                  <a:srgbClr val="FF0000"/>
                </a:solidFill>
              </a:rPr>
              <a:t>Primitive</a:t>
            </a:r>
            <a:r>
              <a:rPr lang="en-US" dirty="0"/>
              <a:t> types now; we will cover Object types later in the module.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08075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Java’s Primitive Data Types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programming language supports </a:t>
            </a:r>
            <a:r>
              <a:rPr lang="en-US" u="sng" dirty="0"/>
              <a:t>eight</a:t>
            </a:r>
            <a:r>
              <a:rPr lang="en-US" dirty="0"/>
              <a:t>  primitive data types. </a:t>
            </a:r>
          </a:p>
          <a:p>
            <a:pPr>
              <a:buFont typeface="Wingdings" charset="2"/>
              <a:buNone/>
            </a:pPr>
            <a:endParaRPr lang="en-US" dirty="0"/>
          </a:p>
          <a:p>
            <a:r>
              <a:rPr lang="en-US" dirty="0"/>
              <a:t>A primitive type is predefined by the language and is named by a </a:t>
            </a:r>
            <a:r>
              <a:rPr lang="en-US" u="sng" dirty="0"/>
              <a:t>reserved keyword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A primitive type is highlighted red when it is typed into the </a:t>
            </a:r>
            <a:r>
              <a:rPr lang="en-US" dirty="0" err="1"/>
              <a:t>BlueJ</a:t>
            </a:r>
            <a:r>
              <a:rPr lang="en-US" dirty="0"/>
              <a:t> editor e.g.</a:t>
            </a:r>
          </a:p>
          <a:p>
            <a:pPr marL="0" indent="0">
              <a:buNone/>
            </a:pPr>
            <a:r>
              <a:rPr lang="en-US" sz="3800" dirty="0"/>
              <a:t>	</a:t>
            </a:r>
            <a:r>
              <a:rPr lang="en-US" sz="2800" b="1" dirty="0" err="1">
                <a:solidFill>
                  <a:srgbClr val="FF0000"/>
                </a:solidFill>
                <a:latin typeface="Anonymous" pitchFamily="49" charset="0"/>
              </a:rPr>
              <a:t>int</a:t>
            </a:r>
            <a:r>
              <a:rPr lang="en-US" sz="2800" b="1" dirty="0">
                <a:solidFill>
                  <a:srgbClr val="FF0000"/>
                </a:solidFill>
                <a:latin typeface="Anonymous" pitchFamily="49" charset="0"/>
              </a:rPr>
              <a:t> </a:t>
            </a:r>
            <a:r>
              <a:rPr lang="en-US" sz="2800" b="1" dirty="0" err="1">
                <a:latin typeface="Anonymous" pitchFamily="49" charset="0"/>
              </a:rPr>
              <a:t>numberOfItems</a:t>
            </a:r>
            <a:r>
              <a:rPr lang="en-US" sz="2800" b="1" dirty="0">
                <a:latin typeface="Anonymous" pitchFamily="49" charset="0"/>
              </a:rPr>
              <a:t>;</a:t>
            </a:r>
          </a:p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Anonymous" pitchFamily="49" charset="0"/>
              </a:rPr>
              <a:t>	</a:t>
            </a:r>
            <a:r>
              <a:rPr lang="en-US" sz="2800" b="1" dirty="0" err="1">
                <a:solidFill>
                  <a:srgbClr val="FF0000"/>
                </a:solidFill>
                <a:latin typeface="Anonymous" pitchFamily="49" charset="0"/>
              </a:rPr>
              <a:t>boolean</a:t>
            </a:r>
            <a:r>
              <a:rPr lang="en-US" sz="2800" b="1" dirty="0">
                <a:solidFill>
                  <a:srgbClr val="FF0000"/>
                </a:solidFill>
                <a:latin typeface="Anonymous" pitchFamily="49" charset="0"/>
              </a:rPr>
              <a:t> </a:t>
            </a:r>
            <a:r>
              <a:rPr lang="en-US" sz="2800" b="1" dirty="0" err="1">
                <a:latin typeface="Anonymous" pitchFamily="49" charset="0"/>
              </a:rPr>
              <a:t>isAlive</a:t>
            </a:r>
            <a:endParaRPr lang="en-US" sz="2800" b="1" dirty="0">
              <a:latin typeface="Anonymous" pitchFamily="49" charset="0"/>
            </a:endParaRPr>
          </a:p>
          <a:p>
            <a:pPr marL="0" indent="0">
              <a:buNone/>
            </a:pPr>
            <a:r>
              <a:rPr lang="en-US" sz="2800" b="1" dirty="0">
                <a:latin typeface="Anonymous" pitchFamily="49" charset="0"/>
              </a:rPr>
              <a:t>	</a:t>
            </a:r>
            <a:r>
              <a:rPr lang="en-US" sz="2800" b="1" dirty="0">
                <a:solidFill>
                  <a:srgbClr val="FF0000"/>
                </a:solidFill>
                <a:latin typeface="Anonymous" pitchFamily="49" charset="0"/>
              </a:rPr>
              <a:t>float</a:t>
            </a:r>
            <a:r>
              <a:rPr lang="en-US" sz="2800" b="1" dirty="0">
                <a:latin typeface="Anonymous" pitchFamily="49" charset="0"/>
              </a:rPr>
              <a:t> </a:t>
            </a:r>
            <a:r>
              <a:rPr lang="en-US" sz="2800" b="1" dirty="0" err="1">
                <a:latin typeface="Anonymous" pitchFamily="49" charset="0"/>
              </a:rPr>
              <a:t>sizeOfSquare</a:t>
            </a:r>
            <a:r>
              <a:rPr lang="en-US" sz="2800" b="1" dirty="0">
                <a:latin typeface="Anonymous" pitchFamily="49" charset="0"/>
              </a:rPr>
              <a:t>;</a:t>
            </a:r>
            <a:endParaRPr lang="en-US" sz="3800" b="1" dirty="0"/>
          </a:p>
          <a:p>
            <a:pPr lvl="1"/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491560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7D312-90AE-8F5E-F1F6-EB010F72A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0D404-E3C5-80CA-6DE7-12F3855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1076467-04CD-802E-5F6A-2A407CC06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Variables.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 Keywords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Data Types.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Java’s Primitive Data Types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Whole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Decimal numbers.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Others.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Arithmetic operators.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2AF2C8-72BC-404B-59A2-06E737042482}"/>
              </a:ext>
            </a:extLst>
          </p:cNvPr>
          <p:cNvSpPr/>
          <p:nvPr/>
        </p:nvSpPr>
        <p:spPr>
          <a:xfrm>
            <a:off x="1055440" y="4293096"/>
            <a:ext cx="3240360" cy="96470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Left Arrow 2">
            <a:extLst>
              <a:ext uri="{FF2B5EF4-FFF2-40B4-BE49-F238E27FC236}">
                <a16:creationId xmlns:a16="http://schemas.microsoft.com/office/drawing/2014/main" id="{D05BEE3B-8495-0439-3468-9AD2468F0451}"/>
              </a:ext>
            </a:extLst>
          </p:cNvPr>
          <p:cNvSpPr/>
          <p:nvPr/>
        </p:nvSpPr>
        <p:spPr>
          <a:xfrm>
            <a:off x="4511824" y="4293096"/>
            <a:ext cx="2057400" cy="228600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3039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Java’s Primitive Data Types (whole numbers)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752600" y="1752600"/>
          <a:ext cx="8686800" cy="470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Byte-size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Minimum value</a:t>
                      </a:r>
                      <a:r>
                        <a:rPr lang="en-IE" baseline="0" dirty="0"/>
                        <a:t> (inclusive)</a:t>
                      </a:r>
                      <a:endParaRPr lang="en-I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Maximum value </a:t>
                      </a:r>
                      <a:r>
                        <a:rPr lang="en-IE" baseline="0" dirty="0"/>
                        <a:t>(inclusive)</a:t>
                      </a:r>
                      <a:endParaRPr lang="en-I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Typical Use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2320">
                <a:tc>
                  <a:txBody>
                    <a:bodyPr/>
                    <a:lstStyle/>
                    <a:p>
                      <a:pPr algn="l"/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byte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8-bit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127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Useful in applications where memory savings apply.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short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16-bit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-32,768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32,767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n-IE" sz="2400" dirty="0" err="1">
                          <a:solidFill>
                            <a:srgbClr val="FF0000"/>
                          </a:solidFill>
                        </a:rPr>
                        <a:t>int</a:t>
                      </a:r>
                      <a:endParaRPr lang="en-IE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32-bit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-2,147,483,648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2,147,483,647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</a:t>
                      </a:r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choice.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algn="l"/>
                      <a:r>
                        <a:rPr lang="en-IE" sz="2400" dirty="0">
                          <a:solidFill>
                            <a:srgbClr val="FF0000"/>
                          </a:solidFill>
                        </a:rPr>
                        <a:t>long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sz="2400" dirty="0"/>
                        <a:t>64-bit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-9,223,372,036,854,775,808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9,223,372,036,854,775,807</a:t>
                      </a:r>
                      <a:endParaRPr lang="en-IE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Used when you need a data type</a:t>
                      </a:r>
                      <a:r>
                        <a:rPr lang="en-IE" sz="24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with a range of values larger than that provided by int.</a:t>
                      </a:r>
                      <a:endParaRPr lang="en-IE" sz="2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Doughnut 2">
            <a:extLst>
              <a:ext uri="{FF2B5EF4-FFF2-40B4-BE49-F238E27FC236}">
                <a16:creationId xmlns:a16="http://schemas.microsoft.com/office/drawing/2014/main" id="{F72AED47-39AD-FA4F-D38B-A8137ACAE7E5}"/>
              </a:ext>
            </a:extLst>
          </p:cNvPr>
          <p:cNvSpPr/>
          <p:nvPr/>
        </p:nvSpPr>
        <p:spPr>
          <a:xfrm>
            <a:off x="983432" y="3717032"/>
            <a:ext cx="2160240" cy="864096"/>
          </a:xfrm>
          <a:prstGeom prst="donu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Line Callout 1 (Border and Accent Bar) 3">
            <a:extLst>
              <a:ext uri="{FF2B5EF4-FFF2-40B4-BE49-F238E27FC236}">
                <a16:creationId xmlns:a16="http://schemas.microsoft.com/office/drawing/2014/main" id="{509CE2AD-4300-5E78-4DB0-DA411A69A70C}"/>
              </a:ext>
            </a:extLst>
          </p:cNvPr>
          <p:cNvSpPr/>
          <p:nvPr/>
        </p:nvSpPr>
        <p:spPr>
          <a:xfrm>
            <a:off x="1991544" y="7317431"/>
            <a:ext cx="2808312" cy="1256079"/>
          </a:xfrm>
          <a:prstGeom prst="accentBorderCallout1">
            <a:avLst>
              <a:gd name="adj1" fmla="val 18750"/>
              <a:gd name="adj2" fmla="val -8333"/>
              <a:gd name="adj3" fmla="val -207363"/>
              <a:gd name="adj4" fmla="val -12909"/>
            </a:avLst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We will mostly use int for whole numbers</a:t>
            </a:r>
          </a:p>
        </p:txBody>
      </p:sp>
    </p:spTree>
    <p:extLst>
      <p:ext uri="{BB962C8B-B14F-4D97-AF65-F5344CB8AC3E}">
        <p14:creationId xmlns:p14="http://schemas.microsoft.com/office/powerpoint/2010/main" val="85903099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FF1B9-FBE7-7C3A-2EAC-613F2323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Declaring variables of a specific type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A36335-4F2F-1A1D-C8B2-2EFEB6DE1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405E61-3380-23D3-C016-A56308DD0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70" y="1700808"/>
            <a:ext cx="9419860" cy="4443124"/>
          </a:xfrm>
          <a:prstGeom prst="rect">
            <a:avLst/>
          </a:prstGeom>
        </p:spPr>
      </p:pic>
      <p:sp>
        <p:nvSpPr>
          <p:cNvPr id="9" name="Doughnut 8">
            <a:extLst>
              <a:ext uri="{FF2B5EF4-FFF2-40B4-BE49-F238E27FC236}">
                <a16:creationId xmlns:a16="http://schemas.microsoft.com/office/drawing/2014/main" id="{ED338675-C25D-3EA9-77CD-BF0B829369E4}"/>
              </a:ext>
            </a:extLst>
          </p:cNvPr>
          <p:cNvSpPr/>
          <p:nvPr/>
        </p:nvSpPr>
        <p:spPr>
          <a:xfrm>
            <a:off x="1199456" y="3429000"/>
            <a:ext cx="4680520" cy="1728192"/>
          </a:xfrm>
          <a:prstGeom prst="donu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784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95555-B3F3-95AB-C800-60CA487F2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480" y="227014"/>
            <a:ext cx="10972800" cy="1143000"/>
          </a:xfrm>
        </p:spPr>
        <p:txBody>
          <a:bodyPr/>
          <a:lstStyle/>
          <a:p>
            <a:r>
              <a:rPr lang="en-US" dirty="0"/>
              <a:t>Declaring variables of a specific type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6E6C25-FF12-70EB-E455-8EBCB0428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14E27D-BB66-686F-69C4-B1C73E320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468" y="1581939"/>
            <a:ext cx="9577064" cy="5049047"/>
          </a:xfrm>
          <a:prstGeom prst="rect">
            <a:avLst/>
          </a:prstGeom>
        </p:spPr>
      </p:pic>
      <p:sp>
        <p:nvSpPr>
          <p:cNvPr id="10" name="Frame 9">
            <a:extLst>
              <a:ext uri="{FF2B5EF4-FFF2-40B4-BE49-F238E27FC236}">
                <a16:creationId xmlns:a16="http://schemas.microsoft.com/office/drawing/2014/main" id="{DB575705-881E-A512-DAAC-6068C4BFFE54}"/>
              </a:ext>
            </a:extLst>
          </p:cNvPr>
          <p:cNvSpPr/>
          <p:nvPr/>
        </p:nvSpPr>
        <p:spPr>
          <a:xfrm>
            <a:off x="1919536" y="5226335"/>
            <a:ext cx="8964996" cy="805979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7630E112-F0D9-DE22-2379-01320B5098DE}"/>
              </a:ext>
            </a:extLst>
          </p:cNvPr>
          <p:cNvSpPr/>
          <p:nvPr/>
        </p:nvSpPr>
        <p:spPr>
          <a:xfrm>
            <a:off x="1919536" y="4420356"/>
            <a:ext cx="8964996" cy="805979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8708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84510-90E5-1EB5-72D8-563038777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Declaring variables – some errors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73A5430-6101-8C0B-5627-6075E6B0B8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/>
          <a:p>
            <a:r>
              <a:rPr lang="en-US" sz="4000" dirty="0"/>
              <a:t>Data types are case sensitive </a:t>
            </a:r>
          </a:p>
          <a:p>
            <a:pPr lvl="1"/>
            <a:r>
              <a:rPr lang="en-US" sz="3200" dirty="0">
                <a:solidFill>
                  <a:srgbClr val="FF0000"/>
                </a:solidFill>
              </a:rPr>
              <a:t>Int</a:t>
            </a:r>
            <a:r>
              <a:rPr lang="en-US" sz="3200" dirty="0"/>
              <a:t> is not valid</a:t>
            </a:r>
          </a:p>
          <a:p>
            <a:pPr lvl="1"/>
            <a:r>
              <a:rPr lang="en-US" sz="3200" dirty="0">
                <a:solidFill>
                  <a:srgbClr val="00B050"/>
                </a:solidFill>
              </a:rPr>
              <a:t>int</a:t>
            </a:r>
            <a:r>
              <a:rPr lang="en-US" sz="3200" dirty="0"/>
              <a:t> is valid</a:t>
            </a:r>
          </a:p>
        </p:txBody>
      </p:sp>
      <p:sp>
        <p:nvSpPr>
          <p:cNvPr id="6" name="Line Callout 1 (Border and Accent Bar) 5">
            <a:extLst>
              <a:ext uri="{FF2B5EF4-FFF2-40B4-BE49-F238E27FC236}">
                <a16:creationId xmlns:a16="http://schemas.microsoft.com/office/drawing/2014/main" id="{ECBED942-406C-2E81-FA26-A03AA949CD0D}"/>
              </a:ext>
            </a:extLst>
          </p:cNvPr>
          <p:cNvSpPr/>
          <p:nvPr/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GB" sz="19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If you right-click on red underline, </a:t>
            </a:r>
            <a:r>
              <a:rPr lang="en-GB" sz="1900" b="1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BlueJ</a:t>
            </a:r>
            <a:r>
              <a:rPr lang="en-GB" sz="19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will help you fix the error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F089B1-63C5-3535-2257-1B724C8357C5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rcRect r="7595" b="-3"/>
          <a:stretch>
            <a:fillRect/>
          </a:stretch>
        </p:blipFill>
        <p:spPr>
          <a:xfrm>
            <a:off x="6193368" y="2174875"/>
            <a:ext cx="5389033" cy="3951288"/>
          </a:xfrm>
          <a:prstGeom prst="rect">
            <a:avLst/>
          </a:prstGeom>
          <a:noFill/>
        </p:spPr>
      </p:pic>
      <p:sp>
        <p:nvSpPr>
          <p:cNvPr id="15" name="Footer Placeholder 6">
            <a:extLst>
              <a:ext uri="{FF2B5EF4-FFF2-40B4-BE49-F238E27FC236}">
                <a16:creationId xmlns:a16="http://schemas.microsoft.com/office/drawing/2014/main" id="{1DC98A19-719C-024E-976B-D1302E406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Line Callout 1 (Border and Accent Bar) 6">
            <a:extLst>
              <a:ext uri="{FF2B5EF4-FFF2-40B4-BE49-F238E27FC236}">
                <a16:creationId xmlns:a16="http://schemas.microsoft.com/office/drawing/2014/main" id="{7F4BAF34-8F93-763F-AD1C-C5224BD167C9}"/>
              </a:ext>
            </a:extLst>
          </p:cNvPr>
          <p:cNvSpPr/>
          <p:nvPr/>
        </p:nvSpPr>
        <p:spPr>
          <a:xfrm>
            <a:off x="4007768" y="4839402"/>
            <a:ext cx="1609536" cy="1666058"/>
          </a:xfrm>
          <a:prstGeom prst="accentBorderCallout1">
            <a:avLst>
              <a:gd name="adj1" fmla="val 15701"/>
              <a:gd name="adj2" fmla="val 103186"/>
              <a:gd name="adj3" fmla="val 7814"/>
              <a:gd name="adj4" fmla="val 223631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GB" b="1" dirty="0">
                <a:solidFill>
                  <a:schemeClr val="tx1"/>
                </a:solidFill>
              </a:rPr>
              <a:t>Red underline indicates that there is a syntax error. 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110D0A74-82AA-AF2F-E846-395ED8E72C95}"/>
              </a:ext>
            </a:extLst>
          </p:cNvPr>
          <p:cNvSpPr/>
          <p:nvPr/>
        </p:nvSpPr>
        <p:spPr>
          <a:xfrm rot="1548875">
            <a:off x="10013313" y="2044955"/>
            <a:ext cx="484632" cy="295232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619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6" grpId="0" animBg="1"/>
      <p:bldP spid="7" grpId="0" animBg="1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1B7D-6408-6AAF-9FE9-2DBEFFC23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E5011-B997-D155-FBF8-7E98AEC9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Declaring variables – some errors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7DD95E6-8529-66C8-DB8D-B07C7E1C1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/>
          <a:p>
            <a:r>
              <a:rPr lang="en-US" sz="4000" dirty="0"/>
              <a:t>Data types are case sensitive </a:t>
            </a:r>
          </a:p>
          <a:p>
            <a:pPr lvl="1"/>
            <a:r>
              <a:rPr lang="en-US" sz="3200" dirty="0">
                <a:solidFill>
                  <a:srgbClr val="FF0000"/>
                </a:solidFill>
              </a:rPr>
              <a:t>Int</a:t>
            </a:r>
            <a:r>
              <a:rPr lang="en-US" sz="3200" dirty="0"/>
              <a:t> is not valid</a:t>
            </a:r>
          </a:p>
          <a:p>
            <a:pPr lvl="1"/>
            <a:r>
              <a:rPr lang="en-US" sz="3200" dirty="0">
                <a:solidFill>
                  <a:srgbClr val="00B050"/>
                </a:solidFill>
              </a:rPr>
              <a:t>int</a:t>
            </a:r>
            <a:r>
              <a:rPr lang="en-US" sz="3200" dirty="0"/>
              <a:t> is valid</a:t>
            </a:r>
          </a:p>
        </p:txBody>
      </p:sp>
      <p:sp>
        <p:nvSpPr>
          <p:cNvPr id="6" name="Line Callout 1 (Border and Accent Bar) 5">
            <a:extLst>
              <a:ext uri="{FF2B5EF4-FFF2-40B4-BE49-F238E27FC236}">
                <a16:creationId xmlns:a16="http://schemas.microsoft.com/office/drawing/2014/main" id="{3613A1D1-12F3-997E-5767-1A0E1F4626A9}"/>
              </a:ext>
            </a:extLst>
          </p:cNvPr>
          <p:cNvSpPr/>
          <p:nvPr/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GB" sz="19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If you right-click on red underline, </a:t>
            </a:r>
            <a:r>
              <a:rPr lang="en-GB" sz="1900" b="1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BlueJ</a:t>
            </a:r>
            <a:r>
              <a:rPr lang="en-GB" sz="19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will help you fix the error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2CD089C-FD9F-9530-82E3-CCDCE810E1D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rcRect r="7595" b="-3"/>
          <a:stretch>
            <a:fillRect/>
          </a:stretch>
        </p:blipFill>
        <p:spPr>
          <a:xfrm>
            <a:off x="6193368" y="2174875"/>
            <a:ext cx="5389033" cy="3951288"/>
          </a:xfrm>
          <a:prstGeom prst="rect">
            <a:avLst/>
          </a:prstGeom>
          <a:noFill/>
        </p:spPr>
      </p:pic>
      <p:sp>
        <p:nvSpPr>
          <p:cNvPr id="15" name="Footer Placeholder 6">
            <a:extLst>
              <a:ext uri="{FF2B5EF4-FFF2-40B4-BE49-F238E27FC236}">
                <a16:creationId xmlns:a16="http://schemas.microsoft.com/office/drawing/2014/main" id="{E0E6A47A-05DD-8E5C-AC1E-645A0E712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Line Callout 1 (Border and Accent Bar) 6">
            <a:extLst>
              <a:ext uri="{FF2B5EF4-FFF2-40B4-BE49-F238E27FC236}">
                <a16:creationId xmlns:a16="http://schemas.microsoft.com/office/drawing/2014/main" id="{D096155B-6A9F-AD68-CC58-188CEFAC942F}"/>
              </a:ext>
            </a:extLst>
          </p:cNvPr>
          <p:cNvSpPr/>
          <p:nvPr/>
        </p:nvSpPr>
        <p:spPr>
          <a:xfrm>
            <a:off x="4007768" y="4839402"/>
            <a:ext cx="1609536" cy="1666058"/>
          </a:xfrm>
          <a:prstGeom prst="accentBorderCallout1">
            <a:avLst>
              <a:gd name="adj1" fmla="val 15701"/>
              <a:gd name="adj2" fmla="val 103186"/>
              <a:gd name="adj3" fmla="val 7814"/>
              <a:gd name="adj4" fmla="val 223631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90000"/>
              </a:lnSpc>
              <a:spcBef>
                <a:spcPct val="20000"/>
              </a:spcBef>
            </a:pPr>
            <a:r>
              <a:rPr lang="en-GB" b="1" dirty="0">
                <a:solidFill>
                  <a:schemeClr val="tx1"/>
                </a:solidFill>
              </a:rPr>
              <a:t>Red underline indicates that there is a syntax error. 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A883E77A-4E53-95B9-FD2D-3505F0A86354}"/>
              </a:ext>
            </a:extLst>
          </p:cNvPr>
          <p:cNvSpPr/>
          <p:nvPr/>
        </p:nvSpPr>
        <p:spPr>
          <a:xfrm rot="1548875">
            <a:off x="10013313" y="2044955"/>
            <a:ext cx="484632" cy="295232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85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  <p:bldP spid="6" grpId="0" animBg="1"/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021DA-5DD8-793A-428D-D32F8FB9E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/>
              <a:t>TO HERE – </a:t>
            </a:r>
            <a:r>
              <a:rPr lang="en-US"/>
              <a:t>add from 24 data types®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9363A-0174-92D8-A922-DA33A0826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C35D6E-BC64-E645-B9D9-7619AB7C6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3101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Java’s Primitive Data Types (decimal numbers)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81200" y="1676400"/>
          <a:ext cx="8305800" cy="403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8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87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4508">
                <a:tc>
                  <a:txBody>
                    <a:bodyPr/>
                    <a:lstStyle/>
                    <a:p>
                      <a:r>
                        <a:rPr lang="en-IE" dirty="0"/>
                        <a:t>Type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Byte-size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Minimum value</a:t>
                      </a:r>
                      <a:r>
                        <a:rPr lang="en-IE" baseline="0" dirty="0"/>
                        <a:t> 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Maximum value </a:t>
                      </a:r>
                      <a:r>
                        <a:rPr lang="en-IE" baseline="0" dirty="0"/>
                        <a:t>(inclusive)</a:t>
                      </a:r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Typical Use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0454">
                <a:tc>
                  <a:txBody>
                    <a:bodyPr/>
                    <a:lstStyle/>
                    <a:p>
                      <a:endParaRPr lang="en-IE" sz="2000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IE" sz="2000" dirty="0">
                          <a:solidFill>
                            <a:srgbClr val="FF0000"/>
                          </a:solidFill>
                        </a:rPr>
                        <a:t>float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E" sz="2000" dirty="0"/>
                    </a:p>
                    <a:p>
                      <a:r>
                        <a:rPr lang="en-IE" sz="2000" dirty="0"/>
                        <a:t>32-bit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i="1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Beyond the scope of this lecture .  </a:t>
                      </a:r>
                    </a:p>
                    <a:p>
                      <a:pPr marL="0" algn="l" defTabSz="914400" rtl="0" eaLnBrk="1" latinLnBrk="0" hangingPunct="1"/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i="1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There is also a loss of precision in</a:t>
                      </a:r>
                      <a:r>
                        <a:rPr lang="en-IE" sz="2000" i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 this data-type that we will cover in later lectures.</a:t>
                      </a:r>
                      <a:endParaRPr lang="en-IE" sz="20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 h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Useful in applications where memory savings apply.</a:t>
                      </a:r>
                    </a:p>
                    <a:p>
                      <a:pPr marL="0" algn="l" defTabSz="914400" rtl="0" eaLnBrk="1" latinLnBrk="0" hangingPunct="1"/>
                      <a:endParaRPr lang="en-IE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 choice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when using </a:t>
                      </a:r>
                      <a:r>
                        <a:rPr lang="en-IE" sz="2000" b="1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Processing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en-IE" sz="2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60454">
                <a:tc>
                  <a:txBody>
                    <a:bodyPr/>
                    <a:lstStyle/>
                    <a:p>
                      <a:endParaRPr lang="en-IE" sz="2000" dirty="0">
                        <a:solidFill>
                          <a:srgbClr val="FF0000"/>
                        </a:solidFill>
                      </a:endParaRPr>
                    </a:p>
                    <a:p>
                      <a:r>
                        <a:rPr lang="en-IE" sz="2000" dirty="0">
                          <a:solidFill>
                            <a:srgbClr val="FF0000"/>
                          </a:solidFill>
                        </a:rPr>
                        <a:t>double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IE" sz="2000" dirty="0"/>
                    </a:p>
                    <a:p>
                      <a:r>
                        <a:rPr lang="en-IE" sz="2000" dirty="0"/>
                        <a:t>64-bit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IE" sz="2400" i="1" kern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IE" sz="2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Default</a:t>
                      </a:r>
                      <a:r>
                        <a:rPr lang="en-IE" sz="20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choice when programming </a:t>
                      </a:r>
                      <a:r>
                        <a:rPr lang="en-IE" sz="2000" b="1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Java apps.</a:t>
                      </a:r>
                      <a:endParaRPr lang="en-IE" sz="20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82879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3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>
                <a:ea typeface="MS PGothic" charset="-128"/>
              </a:rPr>
              <a:t>Scope highlighting</a:t>
            </a:r>
          </a:p>
        </p:txBody>
      </p:sp>
      <p:pic>
        <p:nvPicPr>
          <p:cNvPr id="79874" name="Picture 5" descr="fig2-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0902" y="1628800"/>
            <a:ext cx="5690196" cy="4895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7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/>
            <a:r>
              <a:rPr lang="en-US" altLang="en-US">
                <a:ea typeface="MS PGothic" charset="-128"/>
              </a:rPr>
              <a:t>Scope and lifetime</a:t>
            </a:r>
          </a:p>
        </p:txBody>
      </p:sp>
      <p:sp>
        <p:nvSpPr>
          <p:cNvPr id="80898" name="Rectangle 3"/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/>
            <a:r>
              <a:rPr lang="en-US" altLang="en-US" dirty="0">
                <a:ea typeface="MS PGothic" charset="-128"/>
              </a:rPr>
              <a:t>Each block defines a new scope.</a:t>
            </a:r>
          </a:p>
          <a:p>
            <a:pPr lvl="1" eaLnBrk="1" hangingPunct="1"/>
            <a:r>
              <a:rPr lang="en-US" altLang="en-US" dirty="0">
                <a:ea typeface="MS PGothic" charset="-128"/>
              </a:rPr>
              <a:t>Class, method and statement.</a:t>
            </a:r>
          </a:p>
          <a:p>
            <a:pPr marL="382588"/>
            <a:r>
              <a:rPr lang="en-US" altLang="en-US" dirty="0">
                <a:ea typeface="MS PGothic" charset="-128"/>
              </a:rPr>
              <a:t>Scopes may be nested:</a:t>
            </a:r>
          </a:p>
          <a:p>
            <a:pPr lvl="1" eaLnBrk="1" hangingPunct="1"/>
            <a:r>
              <a:rPr lang="en-US" altLang="en-US" dirty="0">
                <a:ea typeface="MS PGothic" charset="-128"/>
              </a:rPr>
              <a:t>statement block inside another block inside a method body inside a class body.</a:t>
            </a:r>
          </a:p>
          <a:p>
            <a:pPr marL="382588"/>
            <a:r>
              <a:rPr lang="en-US" altLang="en-US" dirty="0">
                <a:ea typeface="MS PGothic" charset="-128"/>
              </a:rPr>
              <a:t>Scope is static (textual).</a:t>
            </a:r>
          </a:p>
          <a:p>
            <a:pPr marL="382588"/>
            <a:r>
              <a:rPr lang="en-US" altLang="en-US" dirty="0">
                <a:ea typeface="MS PGothic" charset="-128"/>
              </a:rPr>
              <a:t>Lifetime is dynamic (runtime).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898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To think about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54C516-31C6-8219-05F9-CC7C5BE8D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ea typeface="+mj-ea"/>
                <a:cs typeface="+mj-cs"/>
              </a:rPr>
              <a:t>How could we write a method to ‘refund’ an excess balance?</a:t>
            </a:r>
          </a:p>
          <a:p>
            <a:pPr lvl="1"/>
            <a:r>
              <a:rPr lang="en-US" dirty="0">
                <a:ea typeface="+mj-ea"/>
                <a:cs typeface="+mj-cs"/>
              </a:rPr>
              <a:t>We need to return the value in balance.</a:t>
            </a:r>
          </a:p>
          <a:p>
            <a:pPr lvl="1"/>
            <a:r>
              <a:rPr lang="en-US" dirty="0">
                <a:ea typeface="+mj-ea"/>
                <a:cs typeface="+mj-cs"/>
              </a:rPr>
              <a:t>We need to set the balance to zero.</a:t>
            </a:r>
          </a:p>
          <a:p>
            <a:r>
              <a:rPr lang="en-US" dirty="0">
                <a:ea typeface="+mj-ea"/>
                <a:cs typeface="+mj-cs"/>
              </a:rPr>
              <a:t>How can we do the first without losing the value in balance?</a:t>
            </a:r>
            <a:endParaRPr lang="en-GB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Unsuccessful attempt</a:t>
            </a:r>
          </a:p>
        </p:txBody>
      </p:sp>
      <p:sp>
        <p:nvSpPr>
          <p:cNvPr id="5" name="Text Box 3"/>
          <p:cNvSpPr txBox="1">
            <a:spLocks noChangeArrowheads="1"/>
          </p:cNvSpPr>
          <p:nvPr/>
        </p:nvSpPr>
        <p:spPr bwMode="auto">
          <a:xfrm>
            <a:off x="3071664" y="1984654"/>
            <a:ext cx="6628738" cy="3108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public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int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refundBalance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// Return the amount left.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return balance;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// Clear the balance.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balance = 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5400" y="5475547"/>
            <a:ext cx="9371733" cy="830997"/>
          </a:xfrm>
          <a:prstGeom prst="rect">
            <a:avLst/>
          </a:prstGeom>
          <a:gradFill>
            <a:gsLst>
              <a:gs pos="0">
                <a:schemeClr val="accent6">
                  <a:tint val="50000"/>
                  <a:satMod val="300000"/>
                </a:schemeClr>
              </a:gs>
              <a:gs pos="35000">
                <a:schemeClr val="accent6">
                  <a:tint val="37000"/>
                  <a:satMod val="300000"/>
                </a:schemeClr>
              </a:gs>
              <a:gs pos="100000">
                <a:schemeClr val="accent6">
                  <a:tint val="15000"/>
                  <a:satMod val="350000"/>
                </a:schemeClr>
              </a:gs>
            </a:gsLst>
            <a:lin ang="16200000" scaled="1"/>
          </a:gra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It looks logical, but the language does not allow it. </a:t>
            </a:r>
          </a:p>
          <a:p>
            <a:r>
              <a:rPr lang="en-US" sz="2400" dirty="0">
                <a:solidFill>
                  <a:srgbClr val="0070C0"/>
                </a:solidFill>
              </a:rPr>
              <a:t>A method will terminate immediately after executing a return statement! </a:t>
            </a:r>
          </a:p>
        </p:txBody>
      </p:sp>
    </p:spTree>
    <p:extLst>
      <p:ext uri="{BB962C8B-B14F-4D97-AF65-F5344CB8AC3E}">
        <p14:creationId xmlns:p14="http://schemas.microsoft.com/office/powerpoint/2010/main" val="1105692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4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>
                <a:ea typeface="MS PGothic" charset="-128"/>
              </a:rPr>
              <a:t>Local variables</a:t>
            </a:r>
          </a:p>
        </p:txBody>
      </p:sp>
      <p:sp>
        <p:nvSpPr>
          <p:cNvPr id="78850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3600" dirty="0">
                <a:ea typeface="MS PGothic" charset="-128"/>
              </a:rPr>
              <a:t>Methods can define their own, </a:t>
            </a:r>
            <a:r>
              <a:rPr lang="en-US" altLang="en-US" sz="3600" i="1" dirty="0">
                <a:ea typeface="MS PGothic" charset="-128"/>
              </a:rPr>
              <a:t>local</a:t>
            </a:r>
            <a:r>
              <a:rPr lang="en-US" altLang="en-US" sz="3600" dirty="0">
                <a:ea typeface="MS PGothic" charset="-128"/>
              </a:rPr>
              <a:t>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Short lived, like parameters.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The method sets their values – unlike parameters, they do not receive external values.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Used for </a:t>
            </a:r>
            <a:r>
              <a:rPr lang="ja-JP" altLang="en-US" sz="3200">
                <a:ea typeface="MS PGothic" charset="-128"/>
              </a:rPr>
              <a:t>‘</a:t>
            </a:r>
            <a:r>
              <a:rPr lang="en-US" altLang="ja-JP" sz="3200" dirty="0">
                <a:ea typeface="MS PGothic" charset="-128"/>
              </a:rPr>
              <a:t>temporary</a:t>
            </a:r>
            <a:r>
              <a:rPr lang="ja-JP" altLang="en-US" sz="3200">
                <a:ea typeface="MS PGothic" charset="-128"/>
              </a:rPr>
              <a:t>’</a:t>
            </a:r>
            <a:r>
              <a:rPr lang="en-US" altLang="ja-JP" sz="3200" dirty="0">
                <a:ea typeface="MS PGothic" charset="-128"/>
              </a:rPr>
              <a:t> calculation and storage.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They exist only as long as the method is being executed.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They are only accessible from within the method.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3200" dirty="0">
                <a:ea typeface="MS PGothic" charset="-128"/>
              </a:rPr>
              <a:t>They are defined within a particular </a:t>
            </a:r>
            <a:r>
              <a:rPr lang="en-US" altLang="en-US" sz="3200" i="1" dirty="0">
                <a:ea typeface="MS PGothic" charset="-128"/>
              </a:rPr>
              <a:t>scope</a:t>
            </a:r>
            <a:r>
              <a:rPr lang="en-US" altLang="en-US" sz="3200" dirty="0">
                <a:ea typeface="MS PGothic" charset="-128"/>
              </a:rPr>
              <a:t>.</a:t>
            </a:r>
          </a:p>
          <a:p>
            <a:endParaRPr lang="en-GB" altLang="en-US" sz="5400" dirty="0">
              <a:ea typeface="MS PGothic" charset="-128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Local variables</a:t>
            </a:r>
          </a:p>
        </p:txBody>
      </p:sp>
      <p:sp>
        <p:nvSpPr>
          <p:cNvPr id="82947" name="Text Box 3"/>
          <p:cNvSpPr txBox="1">
            <a:spLocks noChangeArrowheads="1"/>
          </p:cNvSpPr>
          <p:nvPr/>
        </p:nvSpPr>
        <p:spPr bwMode="auto">
          <a:xfrm>
            <a:off x="4648200" y="2638428"/>
            <a:ext cx="6413935" cy="3108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public int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refundBalance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int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amountToRefund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amountToRefund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= balance;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balance = 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    return </a:t>
            </a:r>
            <a:r>
              <a:rPr lang="en-US" altLang="en-US" sz="2800" dirty="0" err="1">
                <a:solidFill>
                  <a:schemeClr val="tx1"/>
                </a:solidFill>
                <a:latin typeface="Courier New" charset="0"/>
              </a:rPr>
              <a:t>amountToRefund</a:t>
            </a: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82948" name="Text Box 4"/>
          <p:cNvSpPr txBox="1">
            <a:spLocks noChangeArrowheads="1"/>
          </p:cNvSpPr>
          <p:nvPr/>
        </p:nvSpPr>
        <p:spPr bwMode="auto">
          <a:xfrm>
            <a:off x="1575434" y="3095382"/>
            <a:ext cx="268054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800" b="0" dirty="0">
                <a:solidFill>
                  <a:srgbClr val="A57133"/>
                </a:solidFill>
              </a:rPr>
              <a:t>A local variable</a:t>
            </a:r>
          </a:p>
        </p:txBody>
      </p:sp>
      <p:sp>
        <p:nvSpPr>
          <p:cNvPr id="82950" name="AutoShape 6"/>
          <p:cNvSpPr>
            <a:spLocks noChangeArrowheads="1"/>
          </p:cNvSpPr>
          <p:nvPr/>
        </p:nvSpPr>
        <p:spPr bwMode="auto">
          <a:xfrm>
            <a:off x="1243553" y="3789040"/>
            <a:ext cx="2209800" cy="2362200"/>
          </a:xfrm>
          <a:prstGeom prst="irregularSeal1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endParaRPr lang="en-GB" altLang="en-US"/>
          </a:p>
        </p:txBody>
      </p:sp>
      <p:sp>
        <p:nvSpPr>
          <p:cNvPr id="82951" name="Text Box 7"/>
          <p:cNvSpPr txBox="1">
            <a:spLocks noChangeArrowheads="1"/>
          </p:cNvSpPr>
          <p:nvPr/>
        </p:nvSpPr>
        <p:spPr bwMode="auto">
          <a:xfrm>
            <a:off x="1703512" y="4509120"/>
            <a:ext cx="153279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No visibility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modifier</a:t>
            </a:r>
          </a:p>
        </p:txBody>
      </p:sp>
      <p:sp>
        <p:nvSpPr>
          <p:cNvPr id="82952" name="Line 8"/>
          <p:cNvSpPr>
            <a:spLocks noChangeShapeType="1"/>
          </p:cNvSpPr>
          <p:nvPr/>
        </p:nvSpPr>
        <p:spPr bwMode="auto">
          <a:xfrm>
            <a:off x="3863752" y="3717032"/>
            <a:ext cx="1584176" cy="0"/>
          </a:xfrm>
          <a:prstGeom prst="line">
            <a:avLst/>
          </a:prstGeom>
          <a:noFill/>
          <a:ln w="38100">
            <a:solidFill>
              <a:schemeClr val="accent1">
                <a:lumMod val="50000"/>
              </a:schemeClr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 dirty="0">
                <a:ea typeface="MS PGothic" charset="-128"/>
              </a:rPr>
              <a:t>Scope and lifetime</a:t>
            </a:r>
          </a:p>
        </p:txBody>
      </p:sp>
      <p:sp>
        <p:nvSpPr>
          <p:cNvPr id="84994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altLang="en-US" dirty="0">
                <a:ea typeface="MS PGothic" charset="-128"/>
              </a:rPr>
              <a:t>The scope of a field is its whole class.</a:t>
            </a:r>
          </a:p>
          <a:p>
            <a:pPr>
              <a:lnSpc>
                <a:spcPct val="90000"/>
              </a:lnSpc>
            </a:pPr>
            <a:r>
              <a:rPr lang="en-GB" altLang="en-US" dirty="0">
                <a:ea typeface="MS PGothic" charset="-128"/>
              </a:rPr>
              <a:t>The lifetime of a field is the lifetime of its containing object.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>
                <a:ea typeface="MS PGothic" charset="-128"/>
              </a:rPr>
              <a:t>The scope of a local variable is the block in which it is declared.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dirty="0">
                <a:ea typeface="MS PGothic" charset="-128"/>
              </a:rPr>
              <a:t>The lifetime of a local variable is the time of execution of the block in which it is declared.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4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49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4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49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49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49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9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49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49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4994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021528B-859B-0F0C-6479-D9428D88B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2.8|7.2|16|9.7"/>
</p:tagLst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a-class-definitions</Template>
  <TotalTime>1883</TotalTime>
  <Words>1563</Words>
  <Application>Microsoft Macintosh PowerPoint</Application>
  <PresentationFormat>Widescreen</PresentationFormat>
  <Paragraphs>304</Paragraphs>
  <Slides>31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MS PGothic</vt:lpstr>
      <vt:lpstr>Anonymous</vt:lpstr>
      <vt:lpstr>Arial</vt:lpstr>
      <vt:lpstr>Calibri</vt:lpstr>
      <vt:lpstr>Courier New</vt:lpstr>
      <vt:lpstr>Lucida Grande</vt:lpstr>
      <vt:lpstr>Times New Roman</vt:lpstr>
      <vt:lpstr>Wingdings</vt:lpstr>
      <vt:lpstr>a-processing-mouse-event-methods</vt:lpstr>
      <vt:lpstr>Variables, Data Types &amp; Arithmetic Operators</vt:lpstr>
      <vt:lpstr>Topics list</vt:lpstr>
      <vt:lpstr>Variables</vt:lpstr>
      <vt:lpstr>Variable names…</vt:lpstr>
      <vt:lpstr>Variable names should be carefully chosen</vt:lpstr>
      <vt:lpstr>Kinds of variables so far</vt:lpstr>
      <vt:lpstr>Topics list</vt:lpstr>
      <vt:lpstr>Keywords</vt:lpstr>
      <vt:lpstr>Keywords – list </vt:lpstr>
      <vt:lpstr>Keywords (technical description)</vt:lpstr>
      <vt:lpstr>Example of tokens – let’s tokenise a stmt</vt:lpstr>
      <vt:lpstr>Topics list</vt:lpstr>
      <vt:lpstr>Data Types</vt:lpstr>
      <vt:lpstr>Data Types </vt:lpstr>
      <vt:lpstr> Java’s Primitive Data Types</vt:lpstr>
      <vt:lpstr>Topics list</vt:lpstr>
      <vt:lpstr>Java’s Primitive Data Types (whole numbers)</vt:lpstr>
      <vt:lpstr>Declaring variables of a specific type</vt:lpstr>
      <vt:lpstr>Declaring variables of a specific type</vt:lpstr>
      <vt:lpstr>Declaring variables – some errors</vt:lpstr>
      <vt:lpstr>Declaring variables – some errors</vt:lpstr>
      <vt:lpstr>TO HERE – add from 24 data types®</vt:lpstr>
      <vt:lpstr>Java’s Primitive Data Types (decimal numbers)</vt:lpstr>
      <vt:lpstr>Scope highlighting</vt:lpstr>
      <vt:lpstr>Scope and lifetime</vt:lpstr>
      <vt:lpstr>To think about</vt:lpstr>
      <vt:lpstr>Unsuccessful attempt</vt:lpstr>
      <vt:lpstr>Local variables</vt:lpstr>
      <vt:lpstr>Local variables</vt:lpstr>
      <vt:lpstr>Scope and lifetime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Objects First With Java - Chapter 2</dc:title>
  <dc:subject/>
  <dc:creator>David J. Barnes, Michael Kölling</dc:creator>
  <cp:keywords/>
  <dc:description>Copyright © David J. Barnes, Michael Kölling</dc:description>
  <cp:lastModifiedBy>Mairead Meagher</cp:lastModifiedBy>
  <cp:revision>188</cp:revision>
  <cp:lastPrinted>2003-09-01T07:04:41Z</cp:lastPrinted>
  <dcterms:created xsi:type="dcterms:W3CDTF">2009-04-22T19:24:48Z</dcterms:created>
  <dcterms:modified xsi:type="dcterms:W3CDTF">2025-09-24T14:21:45Z</dcterms:modified>
  <cp:category/>
</cp:coreProperties>
</file>