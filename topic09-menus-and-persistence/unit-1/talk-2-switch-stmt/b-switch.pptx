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83" r:id="rId2"/>
    <p:sldId id="449" r:id="rId3"/>
    <p:sldId id="450" r:id="rId4"/>
    <p:sldId id="451" r:id="rId5"/>
    <p:sldId id="337" r:id="rId6"/>
    <p:sldId id="452" r:id="rId7"/>
    <p:sldId id="453" r:id="rId8"/>
    <p:sldId id="339" r:id="rId9"/>
    <p:sldId id="454" r:id="rId10"/>
    <p:sldId id="34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17" autoAdjust="0"/>
    <p:restoredTop sz="94606"/>
  </p:normalViewPr>
  <p:slideViewPr>
    <p:cSldViewPr>
      <p:cViewPr varScale="1">
        <p:scale>
          <a:sx n="85" d="100"/>
          <a:sy n="85" d="100"/>
        </p:scale>
        <p:origin x="192" y="8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private static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intSwitch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int </a:t>
            </a:r>
            <a:r>
              <a:rPr lang="en-GB" dirty="0">
                <a:solidFill>
                  <a:srgbClr val="000000"/>
                </a:solidFill>
                <a:effectLst/>
              </a:rPr>
              <a:t>day </a:t>
            </a:r>
            <a:r>
              <a:rPr lang="en-GB" dirty="0"/>
              <a:t>= </a:t>
            </a:r>
            <a:r>
              <a:rPr lang="en-GB" dirty="0">
                <a:solidFill>
                  <a:srgbClr val="1750EB"/>
                </a:solidFill>
                <a:effectLst/>
              </a:rPr>
              <a:t>3</a:t>
            </a:r>
            <a:r>
              <a:rPr lang="en-GB" dirty="0"/>
              <a:t>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</a:t>
            </a:r>
            <a:r>
              <a:rPr lang="en-GB" dirty="0">
                <a:solidFill>
                  <a:srgbClr val="000000"/>
                </a:solidFill>
                <a:effectLst/>
              </a:rPr>
              <a:t>day</a:t>
            </a:r>
            <a:r>
              <a:rPr lang="en-GB" dirty="0"/>
              <a:t>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1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"Monday"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2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"Tuesday"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3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"Wednesday"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4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"Thursday"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5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"Friday"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6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"Saturday"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7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"Sunday"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"Invalid day: " </a:t>
            </a:r>
            <a:r>
              <a:rPr lang="en-GB" dirty="0"/>
              <a:t>+ </a:t>
            </a:r>
            <a:r>
              <a:rPr lang="en-GB" dirty="0">
                <a:solidFill>
                  <a:srgbClr val="000000"/>
                </a:solidFill>
                <a:effectLst/>
              </a:rPr>
              <a:t>day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44684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GB" dirty="0"/>
            </a:br>
            <a:r>
              <a:rPr lang="en-GB" dirty="0">
                <a:solidFill>
                  <a:srgbClr val="0033B3"/>
                </a:solidFill>
                <a:effectLst/>
              </a:rPr>
              <a:t>private static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stringSwitchLong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0000"/>
                </a:solidFill>
                <a:effectLst/>
              </a:rPr>
              <a:t>String 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>
                <a:solidFill>
                  <a:srgbClr val="000000"/>
                </a:solidFill>
                <a:effectLst/>
              </a:rPr>
              <a:t> </a:t>
            </a:r>
            <a:r>
              <a:rPr lang="en-GB" dirty="0"/>
              <a:t>= </a:t>
            </a:r>
            <a:r>
              <a:rPr lang="en-GB" dirty="0">
                <a:solidFill>
                  <a:srgbClr val="067D17"/>
                </a:solidFill>
                <a:effectLst/>
              </a:rPr>
              <a:t>"Mon"</a:t>
            </a:r>
            <a:r>
              <a:rPr lang="en-GB" dirty="0"/>
              <a:t>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 err="1"/>
              <a:t>.toLowerCase</a:t>
            </a:r>
            <a:r>
              <a:rPr lang="en-GB" dirty="0"/>
              <a:t>()){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mon</a:t>
            </a:r>
            <a:r>
              <a:rPr lang="en-GB" dirty="0">
                <a:solidFill>
                  <a:srgbClr val="067D17"/>
                </a:solidFill>
                <a:effectLst/>
              </a:rPr>
              <a:t>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tues</a:t>
            </a:r>
            <a:r>
              <a:rPr lang="en-GB" dirty="0">
                <a:solidFill>
                  <a:srgbClr val="067D17"/>
                </a:solidFill>
                <a:effectLst/>
              </a:rPr>
              <a:t>"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"wed"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thurs</a:t>
            </a:r>
            <a:r>
              <a:rPr lang="en-GB" dirty="0">
                <a:solidFill>
                  <a:srgbClr val="067D17"/>
                </a:solidFill>
                <a:effectLst/>
              </a:rPr>
              <a:t>"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fri</a:t>
            </a:r>
            <a:r>
              <a:rPr lang="en-GB" dirty="0">
                <a:solidFill>
                  <a:srgbClr val="067D17"/>
                </a:solidFill>
                <a:effectLst/>
              </a:rPr>
              <a:t>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"sat"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"Weekend"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"sun"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"Weekend"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"Invalid day: " </a:t>
            </a:r>
            <a:r>
              <a:rPr lang="en-GB" dirty="0"/>
              <a:t>+ 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46601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private static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stringSwitchCondensed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0000"/>
                </a:solidFill>
                <a:effectLst/>
              </a:rPr>
              <a:t>String 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>
                <a:solidFill>
                  <a:srgbClr val="000000"/>
                </a:solidFill>
                <a:effectLst/>
              </a:rPr>
              <a:t> </a:t>
            </a:r>
            <a:r>
              <a:rPr lang="en-GB" dirty="0"/>
              <a:t>= </a:t>
            </a:r>
            <a:r>
              <a:rPr lang="en-GB" dirty="0">
                <a:solidFill>
                  <a:srgbClr val="067D17"/>
                </a:solidFill>
                <a:effectLst/>
              </a:rPr>
              <a:t>"Mon"</a:t>
            </a:r>
            <a:r>
              <a:rPr lang="en-GB" dirty="0"/>
              <a:t>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 err="1"/>
              <a:t>.toLowerCase</a:t>
            </a:r>
            <a:r>
              <a:rPr lang="en-GB" dirty="0"/>
              <a:t>()){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mon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tues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"wed"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thurs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fri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br>
              <a:rPr lang="en-GB" dirty="0">
                <a:solidFill>
                  <a:srgbClr val="067D17"/>
                </a:solidFill>
                <a:effectLst/>
              </a:rPr>
            </a:br>
            <a:r>
              <a:rPr lang="en-GB" dirty="0">
                <a:solidFill>
                  <a:srgbClr val="067D17"/>
                </a:solidFill>
                <a:effectLst/>
              </a:rPr>
              <a:t>             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"sat"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"sun"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"Weekend"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"Invalid day: " </a:t>
            </a:r>
            <a:r>
              <a:rPr lang="en-GB" dirty="0"/>
              <a:t>+ 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1984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private static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charSwitch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char </a:t>
            </a:r>
            <a:r>
              <a:rPr lang="en-GB" dirty="0" err="1">
                <a:solidFill>
                  <a:srgbClr val="000000"/>
                </a:solidFill>
                <a:effectLst/>
              </a:rPr>
              <a:t>alphabetChar</a:t>
            </a:r>
            <a:r>
              <a:rPr lang="en-GB" dirty="0">
                <a:solidFill>
                  <a:srgbClr val="000000"/>
                </a:solidFill>
                <a:effectLst/>
              </a:rPr>
              <a:t> </a:t>
            </a:r>
            <a:r>
              <a:rPr lang="en-GB" dirty="0"/>
              <a:t>= </a:t>
            </a:r>
            <a:r>
              <a:rPr lang="en-GB" dirty="0">
                <a:solidFill>
                  <a:srgbClr val="067D17"/>
                </a:solidFill>
                <a:effectLst/>
              </a:rPr>
              <a:t>'B'</a:t>
            </a:r>
            <a:r>
              <a:rPr lang="en-GB" dirty="0"/>
              <a:t>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</a:t>
            </a:r>
            <a:r>
              <a:rPr lang="en-GB" dirty="0" err="1">
                <a:solidFill>
                  <a:srgbClr val="000000"/>
                </a:solidFill>
                <a:effectLst/>
              </a:rPr>
              <a:t>alphabetChar</a:t>
            </a:r>
            <a:r>
              <a:rPr lang="en-GB" dirty="0"/>
              <a:t>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'A'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"Apple"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'B'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"Ball"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'C'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"Cat"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'D'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"Dog"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'E'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"Elephant"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"Char not on our list yet: " </a:t>
            </a:r>
            <a:r>
              <a:rPr lang="en-GB" dirty="0"/>
              <a:t>+ </a:t>
            </a:r>
            <a:r>
              <a:rPr lang="en-GB" dirty="0" err="1">
                <a:solidFill>
                  <a:srgbClr val="000000"/>
                </a:solidFill>
                <a:effectLst/>
              </a:rPr>
              <a:t>alphabetChar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2363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AB13D9-B7A5-0614-4651-2F9977D9191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B6F98E-998E-0C49-19D0-BD928FADEDE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350EAD-DC44-A3A0-38C6-89949173DFA9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A5BAE7-F025-E7AA-CC28-2912EB5FA029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A46BCF-8A69-ABA0-B94E-BCBB5B1D3BDF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4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49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E7CBAE-0172-1E89-E84D-992B775618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50A73E-1B0E-99B0-1273-3679BDBB151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674E79-66F0-A4C7-FF39-5F928B7C9A5B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B04098-8A23-57A3-2915-25731CE7473F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F5FA51B-01F7-8E2E-232B-B1A00DE96A56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337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2CD0C1-F3B9-C92E-D990-6E9A57623D5A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B2DBB3-4EEF-3DFF-199A-BA6AB3793D3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457289-6BB4-E107-2E46-8D2073E3415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C96B24-4FB1-4675-7F08-ABD63249597F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458C4E-4FCB-4C5D-8096-7CB557A56B83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681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1A815F-BB18-F13C-32C4-8E79100BCF8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0757EC-8007-C46D-7D50-F765C16D5B9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082DFA-2D0D-E3FC-D879-A6D24EF7B7A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E06108-528A-AEA9-20DD-EFEDC52F575D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4C0D8F-AFB3-61A3-FB3D-E49E49A27991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950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402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86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90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9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57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09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669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14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2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codeleak.pl/2020/05/switch-as-an-expression-in-java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1841" y="1044576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Switch Statement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77000" y="58922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http://www.wit.ie/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F220A-876A-4FD4-A501-DF5ED9B43E8A}"/>
              </a:ext>
            </a:extLst>
          </p:cNvPr>
          <p:cNvSpPr txBox="1"/>
          <p:nvPr/>
        </p:nvSpPr>
        <p:spPr>
          <a:xfrm>
            <a:off x="3810000" y="3817204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Maireád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Siobhán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Siobhan Roche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CFDB5CD-E783-4C31-B4C7-D02ABF6F299A}"/>
              </a:ext>
            </a:extLst>
          </p:cNvPr>
          <p:cNvSpPr txBox="1">
            <a:spLocks/>
          </p:cNvSpPr>
          <p:nvPr/>
        </p:nvSpPr>
        <p:spPr>
          <a:xfrm>
            <a:off x="2328041" y="22860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0DEF51-014C-2376-2BCC-C651C832EA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864" y="5630685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</a:t>
            </a:r>
            <a:r>
              <a:rPr lang="en-IE" b="1" dirty="0"/>
              <a:t>switch</a:t>
            </a:r>
            <a:r>
              <a:rPr lang="en-IE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E" sz="1600" dirty="0"/>
          </a:p>
          <a:p>
            <a:r>
              <a:rPr lang="en-GB" altLang="en-US" dirty="0"/>
              <a:t>The switch statement works in exactly the same way as a </a:t>
            </a:r>
            <a:r>
              <a:rPr lang="en-GB" altLang="en-US" b="1" dirty="0"/>
              <a:t>set of if </a:t>
            </a:r>
            <a:r>
              <a:rPr lang="en-GB" altLang="en-US" dirty="0"/>
              <a:t>statements, </a:t>
            </a:r>
            <a:br>
              <a:rPr lang="en-GB" altLang="en-US" dirty="0"/>
            </a:br>
            <a:r>
              <a:rPr lang="en-GB" altLang="en-US" dirty="0"/>
              <a:t>but is more compact and readable. </a:t>
            </a:r>
          </a:p>
          <a:p>
            <a:endParaRPr lang="en-IE" dirty="0"/>
          </a:p>
          <a:p>
            <a:r>
              <a:rPr lang="en-IE" dirty="0"/>
              <a:t>The </a:t>
            </a:r>
            <a:r>
              <a:rPr lang="en-IE" i="1" dirty="0"/>
              <a:t>switch statement </a:t>
            </a:r>
            <a:r>
              <a:rPr lang="en-IE" dirty="0"/>
              <a:t>switches on a single </a:t>
            </a:r>
            <a:r>
              <a:rPr lang="en-IE" b="1" dirty="0"/>
              <a:t>value</a:t>
            </a:r>
            <a:r>
              <a:rPr lang="en-IE" dirty="0"/>
              <a:t> to one of an arbitrary number of </a:t>
            </a:r>
            <a:r>
              <a:rPr lang="en-IE" b="1" dirty="0"/>
              <a:t>cases</a:t>
            </a:r>
            <a:r>
              <a:rPr lang="en-I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65126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The </a:t>
            </a:r>
            <a:r>
              <a:rPr lang="en-IE" b="1" dirty="0"/>
              <a:t>switch</a:t>
            </a:r>
            <a:r>
              <a:rPr lang="en-IE" dirty="0"/>
              <a:t> </a:t>
            </a:r>
            <a:br>
              <a:rPr lang="en-IE" dirty="0"/>
            </a:br>
            <a:r>
              <a:rPr lang="en-IE" dirty="0"/>
              <a:t>statement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247660"/>
            <a:ext cx="4724400" cy="63357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300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switch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1"/>
            <a:ext cx="11125200" cy="3840163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i="1" dirty="0"/>
              <a:t>switch </a:t>
            </a:r>
            <a:r>
              <a:rPr lang="en-IE" dirty="0"/>
              <a:t>statement can have any number of </a:t>
            </a:r>
            <a:r>
              <a:rPr lang="en-IE" b="1" dirty="0"/>
              <a:t>case </a:t>
            </a:r>
            <a:r>
              <a:rPr lang="en-IE" dirty="0"/>
              <a:t>labels.</a:t>
            </a:r>
          </a:p>
          <a:p>
            <a:endParaRPr lang="en-IE" dirty="0"/>
          </a:p>
          <a:p>
            <a:r>
              <a:rPr lang="en-IE" dirty="0"/>
              <a:t>The </a:t>
            </a:r>
            <a:r>
              <a:rPr lang="en-IE" b="1" dirty="0"/>
              <a:t>default </a:t>
            </a:r>
            <a:r>
              <a:rPr lang="en-IE" dirty="0"/>
              <a:t>case is optional; if no default is given, it may happen that no case is executed.</a:t>
            </a:r>
          </a:p>
          <a:p>
            <a:endParaRPr lang="en-IE" dirty="0"/>
          </a:p>
          <a:p>
            <a:r>
              <a:rPr lang="en-IE" dirty="0"/>
              <a:t>Can </a:t>
            </a:r>
            <a:r>
              <a:rPr lang="en-IE" i="1" dirty="0"/>
              <a:t>switch</a:t>
            </a:r>
            <a:r>
              <a:rPr lang="en-IE" dirty="0"/>
              <a:t> on </a:t>
            </a:r>
            <a:r>
              <a:rPr lang="en-IE" b="1" dirty="0">
                <a:solidFill>
                  <a:srgbClr val="C00000"/>
                </a:solidFill>
              </a:rPr>
              <a:t>int</a:t>
            </a:r>
            <a:r>
              <a:rPr lang="en-IE" dirty="0"/>
              <a:t>, </a:t>
            </a:r>
            <a:r>
              <a:rPr lang="en-IE" b="1" dirty="0">
                <a:solidFill>
                  <a:srgbClr val="C00000"/>
                </a:solidFill>
              </a:rPr>
              <a:t>char</a:t>
            </a:r>
            <a:r>
              <a:rPr lang="en-IE" dirty="0"/>
              <a:t> or </a:t>
            </a:r>
            <a:r>
              <a:rPr lang="en-IE" b="1" dirty="0">
                <a:solidFill>
                  <a:srgbClr val="C00000"/>
                </a:solidFill>
              </a:rPr>
              <a:t>String</a:t>
            </a:r>
            <a:r>
              <a:rPr lang="en-IE" dirty="0"/>
              <a:t>.</a:t>
            </a:r>
          </a:p>
          <a:p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A5F098-7858-4D06-BA08-534B0CE603C6}"/>
              </a:ext>
            </a:extLst>
          </p:cNvPr>
          <p:cNvSpPr txBox="1"/>
          <p:nvPr/>
        </p:nvSpPr>
        <p:spPr>
          <a:xfrm>
            <a:off x="1828800" y="6398696"/>
            <a:ext cx="853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Good Resource: </a:t>
            </a:r>
            <a:r>
              <a:rPr lang="en-VI" dirty="0">
                <a:hlinkClick r:id="rId2"/>
              </a:rPr>
              <a:t>https://blog.codeleak.pl/2020/05/switch-as-an-expression-in-java.html</a:t>
            </a:r>
            <a:r>
              <a:rPr lang="en-GB" dirty="0"/>
              <a:t> 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3867681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switch statement – </a:t>
            </a:r>
            <a:r>
              <a:rPr lang="en-IE" dirty="0" err="1">
                <a:solidFill>
                  <a:srgbClr val="FF0000"/>
                </a:solidFill>
              </a:rPr>
              <a:t>int</a:t>
            </a:r>
            <a:r>
              <a:rPr lang="en-IE" dirty="0">
                <a:solidFill>
                  <a:srgbClr val="FF0000"/>
                </a:solidFill>
              </a:rPr>
              <a:t> </a:t>
            </a:r>
            <a:r>
              <a:rPr lang="en-IE" dirty="0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F3B663-4E51-411C-A275-E4FDB2A9E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5197" y="3619500"/>
            <a:ext cx="2362200" cy="635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D21C1E-094F-9877-F18A-064435DDE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209800"/>
            <a:ext cx="7594600" cy="3454400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7DF9AB5F-39EB-0C27-84CA-77E4737B0EE5}"/>
              </a:ext>
            </a:extLst>
          </p:cNvPr>
          <p:cNvSpPr/>
          <p:nvPr/>
        </p:nvSpPr>
        <p:spPr>
          <a:xfrm>
            <a:off x="8246789" y="369468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69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switch statement – </a:t>
            </a:r>
            <a:r>
              <a:rPr lang="en-IE" dirty="0">
                <a:solidFill>
                  <a:srgbClr val="FF0000"/>
                </a:solidFill>
              </a:rPr>
              <a:t>String </a:t>
            </a:r>
            <a:r>
              <a:rPr lang="en-IE" dirty="0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CAED7B-9B68-8EC0-C944-D66141042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638" y="3314966"/>
            <a:ext cx="2476500" cy="711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04DBD6-F84E-2F90-5257-03440BF38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33600"/>
            <a:ext cx="7556500" cy="3556000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5CBB0B61-A2F6-AE19-AB68-FE61AE3984EC}"/>
              </a:ext>
            </a:extLst>
          </p:cNvPr>
          <p:cNvSpPr/>
          <p:nvPr/>
        </p:nvSpPr>
        <p:spPr>
          <a:xfrm>
            <a:off x="8013700" y="340823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1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switch statement – </a:t>
            </a:r>
            <a:r>
              <a:rPr lang="en-IE" dirty="0">
                <a:solidFill>
                  <a:srgbClr val="FF0000"/>
                </a:solidFill>
              </a:rPr>
              <a:t>String </a:t>
            </a:r>
            <a:r>
              <a:rPr lang="en-IE" dirty="0"/>
              <a:t>example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799E8E-EB2D-44A7-8FE6-5702DD1D0077}"/>
              </a:ext>
            </a:extLst>
          </p:cNvPr>
          <p:cNvSpPr/>
          <p:nvPr/>
        </p:nvSpPr>
        <p:spPr>
          <a:xfrm>
            <a:off x="1676400" y="1873226"/>
            <a:ext cx="54864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DRY code – Don’t Repeat Yourself!</a:t>
            </a:r>
            <a:endParaRPr lang="en-VI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E691FC-87AC-5505-26D1-B0FC1F745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7279" y="3845369"/>
            <a:ext cx="2476500" cy="711200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5671DB54-EAB4-CF02-01B7-CF6AA40CF031}"/>
              </a:ext>
            </a:extLst>
          </p:cNvPr>
          <p:cNvSpPr/>
          <p:nvPr/>
        </p:nvSpPr>
        <p:spPr>
          <a:xfrm>
            <a:off x="8116341" y="393863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16F714-2BB0-85E2-49B9-49B5C2B9A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616" y="2635226"/>
            <a:ext cx="75692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7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3793D8-83C8-CAB1-47E9-8470757F8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2203255"/>
            <a:ext cx="9340937" cy="32831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switch statement – </a:t>
            </a:r>
            <a:r>
              <a:rPr lang="en-IE" dirty="0">
                <a:solidFill>
                  <a:srgbClr val="FF0000"/>
                </a:solidFill>
              </a:rPr>
              <a:t>char </a:t>
            </a:r>
            <a:r>
              <a:rPr lang="en-IE" dirty="0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9E8841-4FB1-9A8C-5679-16AFA6B02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3411511"/>
            <a:ext cx="2438400" cy="660400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552489A5-68A5-EF23-6E73-7CCBB30E3B89}"/>
              </a:ext>
            </a:extLst>
          </p:cNvPr>
          <p:cNvSpPr/>
          <p:nvPr/>
        </p:nvSpPr>
        <p:spPr>
          <a:xfrm>
            <a:off x="7499344" y="3495439"/>
            <a:ext cx="1924472" cy="4925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6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52CB-D6B0-9BC9-6B23-0657A47C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is switch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39D36-0F30-5F1B-596F-BB6F85232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there is a short number of options with exact values 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Menus are a good example </a:t>
            </a:r>
            <a:r>
              <a:rPr lang="en-US"/>
              <a:t>of this;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will use switch statements to, given the user choice, will invoke a particular method.</a:t>
            </a:r>
          </a:p>
        </p:txBody>
      </p:sp>
    </p:spTree>
    <p:extLst>
      <p:ext uri="{BB962C8B-B14F-4D97-AF65-F5344CB8AC3E}">
        <p14:creationId xmlns:p14="http://schemas.microsoft.com/office/powerpoint/2010/main" val="4107411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5A9D487F-3157-9FE9-7E30-C739B06EA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019" y="1600201"/>
            <a:ext cx="4525963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a-loops</Template>
  <TotalTime>6376</TotalTime>
  <Words>704</Words>
  <Application>Microsoft Macintosh PowerPoint</Application>
  <PresentationFormat>Widescreen</PresentationFormat>
  <Paragraphs>41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a-processing-mouse-event-methods</vt:lpstr>
      <vt:lpstr>Switch Statement</vt:lpstr>
      <vt:lpstr>The switch statement</vt:lpstr>
      <vt:lpstr>The switch  statement</vt:lpstr>
      <vt:lpstr>The switch statement</vt:lpstr>
      <vt:lpstr>The switch statement – int example</vt:lpstr>
      <vt:lpstr>The switch statement – String example</vt:lpstr>
      <vt:lpstr>The switch statement – String example</vt:lpstr>
      <vt:lpstr>The switch statement – char example</vt:lpstr>
      <vt:lpstr>When is switch used?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Menu Driven Systems</dc:title>
  <dc:creator>Siobhan Drohan</dc:creator>
  <cp:lastModifiedBy>Mairead Meagher</cp:lastModifiedBy>
  <cp:revision>100</cp:revision>
  <dcterms:created xsi:type="dcterms:W3CDTF">2006-08-16T00:00:00Z</dcterms:created>
  <dcterms:modified xsi:type="dcterms:W3CDTF">2025-11-12T17:53:23Z</dcterms:modified>
</cp:coreProperties>
</file>