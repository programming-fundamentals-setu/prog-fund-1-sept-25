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6"/>
  </p:notesMasterIdLst>
  <p:sldIdLst>
    <p:sldId id="383" r:id="rId2"/>
    <p:sldId id="392" r:id="rId3"/>
    <p:sldId id="391" r:id="rId4"/>
    <p:sldId id="409" r:id="rId5"/>
    <p:sldId id="390" r:id="rId6"/>
    <p:sldId id="355" r:id="rId7"/>
    <p:sldId id="356" r:id="rId8"/>
    <p:sldId id="410" r:id="rId9"/>
    <p:sldId id="358" r:id="rId10"/>
    <p:sldId id="359" r:id="rId11"/>
    <p:sldId id="360" r:id="rId12"/>
    <p:sldId id="361" r:id="rId13"/>
    <p:sldId id="362" r:id="rId14"/>
    <p:sldId id="363" r:id="rId15"/>
    <p:sldId id="364" r:id="rId16"/>
    <p:sldId id="365" r:id="rId17"/>
    <p:sldId id="458" r:id="rId18"/>
    <p:sldId id="411" r:id="rId19"/>
    <p:sldId id="367" r:id="rId20"/>
    <p:sldId id="397" r:id="rId21"/>
    <p:sldId id="368" r:id="rId22"/>
    <p:sldId id="370" r:id="rId23"/>
    <p:sldId id="371" r:id="rId24"/>
    <p:sldId id="34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77" autoAdjust="0"/>
    <p:restoredTop sz="94638"/>
  </p:normalViewPr>
  <p:slideViewPr>
    <p:cSldViewPr>
      <p:cViewPr varScale="1">
        <p:scale>
          <a:sx n="92" d="100"/>
          <a:sy n="92" d="100"/>
        </p:scale>
        <p:origin x="184" y="6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>
      <p:cViewPr varScale="1">
        <p:scale>
          <a:sx n="94" d="100"/>
          <a:sy n="94" d="100"/>
        </p:scale>
        <p:origin x="2976" y="2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solidFill>
                  <a:srgbClr val="0033B3"/>
                </a:solidFill>
                <a:effectLst/>
              </a:rPr>
              <a:t>public class </a:t>
            </a:r>
            <a:r>
              <a:rPr lang="en-GB" dirty="0">
                <a:solidFill>
                  <a:srgbClr val="000000"/>
                </a:solidFill>
                <a:effectLst/>
              </a:rPr>
              <a:t>Loops </a:t>
            </a:r>
            <a:r>
              <a:rPr lang="en-GB" dirty="0"/>
              <a:t>{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public static void </a:t>
            </a:r>
            <a:r>
              <a:rPr lang="en-GB" dirty="0">
                <a:solidFill>
                  <a:srgbClr val="00627A"/>
                </a:solidFill>
                <a:effectLst/>
              </a:rPr>
              <a:t>main</a:t>
            </a:r>
            <a:r>
              <a:rPr lang="en-GB" dirty="0"/>
              <a:t>(</a:t>
            </a:r>
            <a:r>
              <a:rPr lang="en-GB" dirty="0">
                <a:solidFill>
                  <a:srgbClr val="000000"/>
                </a:solidFill>
                <a:effectLst/>
              </a:rPr>
              <a:t>String </a:t>
            </a:r>
            <a:r>
              <a:rPr lang="en-GB" dirty="0" err="1"/>
              <a:t>args</a:t>
            </a:r>
            <a:r>
              <a:rPr lang="en-GB" dirty="0"/>
              <a:t>[]){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new </a:t>
            </a:r>
            <a:r>
              <a:rPr lang="en-GB" dirty="0"/>
              <a:t>Loops();</a:t>
            </a:r>
            <a:br>
              <a:rPr lang="en-GB" dirty="0"/>
            </a:br>
            <a:r>
              <a:rPr lang="en-GB" dirty="0"/>
              <a:t>    }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public </a:t>
            </a:r>
            <a:r>
              <a:rPr lang="en-GB" dirty="0">
                <a:solidFill>
                  <a:srgbClr val="00627A"/>
                </a:solidFill>
                <a:effectLst/>
              </a:rPr>
              <a:t>Loops</a:t>
            </a:r>
            <a:r>
              <a:rPr lang="en-GB" dirty="0"/>
              <a:t>(){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 err="1"/>
              <a:t>simpleWhile</a:t>
            </a:r>
            <a:r>
              <a:rPr lang="en-GB" dirty="0"/>
              <a:t>();</a:t>
            </a:r>
            <a:br>
              <a:rPr lang="en-GB" dirty="0"/>
            </a:br>
            <a:r>
              <a:rPr lang="en-GB" dirty="0"/>
              <a:t>    }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public void </a:t>
            </a:r>
            <a:r>
              <a:rPr lang="en-GB" dirty="0" err="1">
                <a:solidFill>
                  <a:srgbClr val="00627A"/>
                </a:solidFill>
                <a:effectLst/>
              </a:rPr>
              <a:t>simpleWhile</a:t>
            </a:r>
            <a:r>
              <a:rPr lang="en-GB" dirty="0"/>
              <a:t>(){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int </a:t>
            </a:r>
            <a:r>
              <a:rPr lang="en-GB" dirty="0" err="1"/>
              <a:t>i</a:t>
            </a:r>
            <a:r>
              <a:rPr lang="en-GB" dirty="0"/>
              <a:t> = </a:t>
            </a:r>
            <a:r>
              <a:rPr lang="en-GB" dirty="0">
                <a:solidFill>
                  <a:srgbClr val="1750EB"/>
                </a:solidFill>
                <a:effectLst/>
              </a:rPr>
              <a:t>0</a:t>
            </a:r>
            <a:r>
              <a:rPr lang="en-GB" dirty="0"/>
              <a:t>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while </a:t>
            </a:r>
            <a:r>
              <a:rPr lang="en-GB" dirty="0"/>
              <a:t>(</a:t>
            </a:r>
            <a:r>
              <a:rPr lang="en-GB" dirty="0" err="1"/>
              <a:t>i</a:t>
            </a:r>
            <a:r>
              <a:rPr lang="en-GB" dirty="0"/>
              <a:t> &lt; </a:t>
            </a:r>
            <a:r>
              <a:rPr lang="en-GB" dirty="0">
                <a:solidFill>
                  <a:srgbClr val="1750EB"/>
                </a:solidFill>
                <a:effectLst/>
              </a:rPr>
              <a:t>10</a:t>
            </a:r>
            <a:r>
              <a:rPr lang="en-GB" dirty="0"/>
              <a:t>){</a:t>
            </a:r>
            <a:br>
              <a:rPr lang="en-GB" dirty="0"/>
            </a:br>
            <a:r>
              <a:rPr lang="en-GB" dirty="0"/>
              <a:t>           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 err="1"/>
              <a:t>i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    </a:t>
            </a:r>
            <a:r>
              <a:rPr lang="en-GB" dirty="0" err="1"/>
              <a:t>i</a:t>
            </a:r>
            <a:r>
              <a:rPr lang="en-GB" dirty="0"/>
              <a:t>++;</a:t>
            </a:r>
            <a:br>
              <a:rPr lang="en-GB" dirty="0"/>
            </a:br>
            <a:r>
              <a:rPr lang="en-GB" dirty="0"/>
              <a:t>        }</a:t>
            </a:r>
            <a:br>
              <a:rPr lang="en-GB" dirty="0"/>
            </a:br>
            <a:r>
              <a:rPr lang="en-GB" dirty="0"/>
              <a:t>    }</a:t>
            </a:r>
            <a:br>
              <a:rPr lang="en-GB" dirty="0"/>
            </a:br>
            <a:r>
              <a:rPr lang="en-GB" dirty="0"/>
              <a:t>}</a:t>
            </a:r>
            <a:br>
              <a:rPr lang="en-GB" dirty="0"/>
            </a:br>
            <a:endParaRPr lang="en-V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180677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427019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17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AB13D9-B7A5-0614-4651-2F9977D9191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5B6F98E-998E-0C49-19D0-BD928FADEDE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350EAD-DC44-A3A0-38C6-89949173DFA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7A5BAE7-F025-E7AA-CC28-2912EB5FA029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7087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053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E7CBAE-0172-1E89-E84D-992B775618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50A73E-1B0E-99B0-1273-3679BDBB151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674E79-66F0-A4C7-FF39-5F928B7C9A5B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B04098-8A23-57A3-2915-25731CE7473F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19436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92CD0C1-F3B9-C92E-D990-6E9A57623D5A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AB2DBB3-4EEF-3DFF-199A-BA6AB3793D3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457289-6BB4-E107-2E46-8D2073E3415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EC96B24-4FB1-4675-7F08-ABD63249597F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0109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1A815F-BB18-F13C-32C4-8E79100BCF8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F0757EC-8007-C46D-7D50-F765C16D5B9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082DFA-2D0D-E3FC-D879-A6D24EF7B7A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7E06108-528A-AEA9-20DD-EFEDC52F575D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19598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3365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594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3530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5010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0057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6987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09718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1608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412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1841" y="1044576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Menu Driven Apps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77000" y="58922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>
                <a:solidFill>
                  <a:schemeClr val="tx2">
                    <a:lumMod val="75000"/>
                  </a:schemeClr>
                </a:solidFill>
              </a:rPr>
              <a:t>Department of Computing and Mathematics</a:t>
            </a:r>
          </a:p>
          <a:p>
            <a:r>
              <a:rPr lang="en-IE" sz="1600" dirty="0">
                <a:solidFill>
                  <a:schemeClr val="tx2">
                    <a:lumMod val="75000"/>
                  </a:schemeClr>
                </a:solidFill>
              </a:rPr>
              <a:t>http://www.wit.ie/</a:t>
            </a:r>
          </a:p>
        </p:txBody>
      </p: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I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AF220A-876A-4FD4-A501-DF5ED9B43E8A}"/>
              </a:ext>
            </a:extLst>
          </p:cNvPr>
          <p:cNvSpPr txBox="1"/>
          <p:nvPr/>
        </p:nvSpPr>
        <p:spPr>
          <a:xfrm>
            <a:off x="3810000" y="3817204"/>
            <a:ext cx="3581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Maireád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Meagher</a:t>
            </a:r>
          </a:p>
          <a:p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Dr.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Siobhán Drohan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Siobhan Roche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CFDB5CD-E783-4C31-B4C7-D02ABF6F299A}"/>
              </a:ext>
            </a:extLst>
          </p:cNvPr>
          <p:cNvSpPr txBox="1">
            <a:spLocks/>
          </p:cNvSpPr>
          <p:nvPr/>
        </p:nvSpPr>
        <p:spPr>
          <a:xfrm>
            <a:off x="2328041" y="22860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Loops, menus and the switch statement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31BFDD-ABF6-ED8D-FB14-6066160D313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8864" y="5630685"/>
            <a:ext cx="1905954" cy="106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905001"/>
            <a:ext cx="9525000" cy="4068763"/>
          </a:xfrm>
        </p:spPr>
        <p:txBody>
          <a:bodyPr>
            <a:normAutofit/>
          </a:bodyPr>
          <a:lstStyle/>
          <a:p>
            <a:r>
              <a:rPr lang="en-IE" dirty="0"/>
              <a:t>Loops </a:t>
            </a:r>
          </a:p>
          <a:p>
            <a:pPr lvl="1"/>
            <a:r>
              <a:rPr lang="en-IE" dirty="0"/>
              <a:t>Loop Control Variables</a:t>
            </a:r>
          </a:p>
          <a:p>
            <a:pPr lvl="1"/>
            <a:r>
              <a:rPr lang="en-IE" dirty="0"/>
              <a:t>Arrays and counter controlled loops</a:t>
            </a:r>
          </a:p>
          <a:p>
            <a:pPr lvl="1"/>
            <a:r>
              <a:rPr lang="en-IE" dirty="0"/>
              <a:t>Arrays and sentinel based loops</a:t>
            </a:r>
          </a:p>
          <a:p>
            <a:pPr lvl="1"/>
            <a:r>
              <a:rPr lang="en-IE" dirty="0"/>
              <a:t>Arrays and flag-based loops </a:t>
            </a:r>
          </a:p>
        </p:txBody>
      </p:sp>
      <p:sp>
        <p:nvSpPr>
          <p:cNvPr id="4" name="Rectangle 3"/>
          <p:cNvSpPr/>
          <p:nvPr/>
        </p:nvSpPr>
        <p:spPr>
          <a:xfrm>
            <a:off x="990600" y="2514600"/>
            <a:ext cx="548640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06552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F6C098-EB7F-4DD0-8737-AF725E6DF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5914" y="2251719"/>
            <a:ext cx="5398825" cy="23202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304800"/>
            <a:ext cx="8229600" cy="1143000"/>
          </a:xfrm>
        </p:spPr>
        <p:txBody>
          <a:bodyPr/>
          <a:lstStyle/>
          <a:p>
            <a:r>
              <a:rPr lang="en-GB" dirty="0"/>
              <a:t>Recap - Loop Control Variable</a:t>
            </a:r>
          </a:p>
        </p:txBody>
      </p:sp>
      <p:cxnSp>
        <p:nvCxnSpPr>
          <p:cNvPr id="9" name="Straight Arrow Connector 8"/>
          <p:cNvCxnSpPr>
            <a:cxnSpLocks/>
            <a:stCxn id="15" idx="3"/>
          </p:cNvCxnSpPr>
          <p:nvPr/>
        </p:nvCxnSpPr>
        <p:spPr>
          <a:xfrm flipV="1">
            <a:off x="2922438" y="3107003"/>
            <a:ext cx="1015855" cy="59757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cxnSpLocks/>
            <a:stCxn id="16" idx="3"/>
          </p:cNvCxnSpPr>
          <p:nvPr/>
        </p:nvCxnSpPr>
        <p:spPr>
          <a:xfrm flipV="1">
            <a:off x="3352800" y="3839955"/>
            <a:ext cx="1148621" cy="11475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cxnSpLocks/>
            <a:stCxn id="14" idx="3"/>
          </p:cNvCxnSpPr>
          <p:nvPr/>
        </p:nvCxnSpPr>
        <p:spPr>
          <a:xfrm>
            <a:off x="2819400" y="2499005"/>
            <a:ext cx="1219200" cy="21870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09600" y="3104410"/>
            <a:ext cx="2312838" cy="1200329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2. Test i.e. </a:t>
            </a:r>
            <a:r>
              <a:rPr lang="en-GB" sz="2400" dirty="0" err="1"/>
              <a:t>boolean</a:t>
            </a:r>
            <a:r>
              <a:rPr lang="en-GB" sz="2400" dirty="0"/>
              <a:t> condition</a:t>
            </a:r>
            <a:endParaRPr lang="en-GB" dirty="0"/>
          </a:p>
        </p:txBody>
      </p:sp>
      <p:sp>
        <p:nvSpPr>
          <p:cNvPr id="16" name="TextBox 15"/>
          <p:cNvSpPr txBox="1"/>
          <p:nvPr/>
        </p:nvSpPr>
        <p:spPr>
          <a:xfrm>
            <a:off x="609600" y="4572000"/>
            <a:ext cx="2743200" cy="830997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3. Update directly before end of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268172"/>
            <a:ext cx="2209800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1. Initialise</a:t>
            </a:r>
            <a:endParaRPr lang="en-GB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8FDF31-16DA-4405-B393-453BE180A1F8}"/>
              </a:ext>
            </a:extLst>
          </p:cNvPr>
          <p:cNvSpPr txBox="1"/>
          <p:nvPr/>
        </p:nvSpPr>
        <p:spPr>
          <a:xfrm>
            <a:off x="555978" y="1524000"/>
            <a:ext cx="5562600" cy="46166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This loop is a counter-controlled while loop</a:t>
            </a:r>
            <a:endParaRPr lang="en-GB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46C2BD4-779D-4733-8BA3-D6FCDA0C43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0" y="3704574"/>
            <a:ext cx="3724795" cy="30103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21840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4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905001"/>
            <a:ext cx="9525000" cy="4068763"/>
          </a:xfrm>
        </p:spPr>
        <p:txBody>
          <a:bodyPr>
            <a:normAutofit fontScale="92500" lnSpcReduction="10000"/>
          </a:bodyPr>
          <a:lstStyle/>
          <a:p>
            <a:r>
              <a:rPr lang="en-IE" dirty="0"/>
              <a:t>Loops </a:t>
            </a:r>
          </a:p>
          <a:p>
            <a:pPr lvl="1"/>
            <a:r>
              <a:rPr lang="en-IE" dirty="0"/>
              <a:t>Loop Control Variables</a:t>
            </a:r>
          </a:p>
          <a:p>
            <a:pPr lvl="1"/>
            <a:r>
              <a:rPr lang="en-IE" dirty="0"/>
              <a:t>Arrays and counter controlled loops</a:t>
            </a:r>
          </a:p>
          <a:p>
            <a:pPr lvl="1"/>
            <a:r>
              <a:rPr lang="en-IE" dirty="0"/>
              <a:t>Arrays and sentinel based loops</a:t>
            </a:r>
          </a:p>
          <a:p>
            <a:pPr lvl="1"/>
            <a:r>
              <a:rPr lang="en-IE" dirty="0"/>
              <a:t>Arrays and flag-based loops </a:t>
            </a:r>
          </a:p>
          <a:p>
            <a:r>
              <a:rPr lang="en-IE" dirty="0"/>
              <a:t>switch statement.</a:t>
            </a:r>
          </a:p>
          <a:p>
            <a:r>
              <a:rPr lang="en-IE" dirty="0"/>
              <a:t>A simple menu using switch.</a:t>
            </a:r>
          </a:p>
          <a:p>
            <a:r>
              <a:rPr lang="en-IE" dirty="0"/>
              <a:t>ShopV3.0 – adding a menu.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200" y="2819400"/>
            <a:ext cx="548640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61211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3048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GB" dirty="0"/>
              <a:t>Recap - Counter-Controlled </a:t>
            </a:r>
            <a:r>
              <a:rPr lang="en-GB" dirty="0">
                <a:solidFill>
                  <a:srgbClr val="FF0000"/>
                </a:solidFill>
              </a:rPr>
              <a:t>for </a:t>
            </a:r>
            <a:r>
              <a:rPr lang="en-GB" dirty="0"/>
              <a:t>Loop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1FB5FA5-9D79-4121-9AB8-C2224D7CB9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3767" y="1905000"/>
            <a:ext cx="9604466" cy="41910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022900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Recap - Counter-Controlled Loops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722438"/>
            <a:ext cx="11049000" cy="4525963"/>
          </a:xfrm>
        </p:spPr>
        <p:txBody>
          <a:bodyPr>
            <a:normAutofit/>
          </a:bodyPr>
          <a:lstStyle/>
          <a:p>
            <a:r>
              <a:rPr lang="en-GB" dirty="0"/>
              <a:t>Sometimes  we know when we are coding, we know how many inputs we will have.</a:t>
            </a:r>
          </a:p>
          <a:p>
            <a:pPr marL="457200" lvl="1" indent="0">
              <a:buNone/>
            </a:pPr>
            <a:endParaRPr lang="en-GB" dirty="0"/>
          </a:p>
          <a:p>
            <a:r>
              <a:rPr lang="en-GB" dirty="0"/>
              <a:t>The previous slide displays an example of this.</a:t>
            </a:r>
          </a:p>
          <a:p>
            <a:pPr marL="457200" lvl="1" indent="0">
              <a:buNone/>
            </a:pPr>
            <a:endParaRPr lang="en-GB" dirty="0"/>
          </a:p>
          <a:p>
            <a:r>
              <a:rPr lang="en-GB" dirty="0"/>
              <a:t>Other times, we find out at run time how many inputs we have…an example of this is on the next slide.</a:t>
            </a:r>
            <a:endParaRPr lang="en-GB" sz="4000" dirty="0"/>
          </a:p>
          <a:p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637771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049"/>
          <a:stretch/>
        </p:blipFill>
        <p:spPr>
          <a:xfrm>
            <a:off x="2362200" y="1600200"/>
            <a:ext cx="9351846" cy="49831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A8AD5A2-245C-47AE-9B81-A5057B1DB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Recap - Counter-Controlled </a:t>
            </a:r>
            <a:r>
              <a:rPr lang="en-GB" dirty="0">
                <a:solidFill>
                  <a:srgbClr val="FF0000"/>
                </a:solidFill>
              </a:rPr>
              <a:t>for </a:t>
            </a:r>
            <a:r>
              <a:rPr lang="en-GB" dirty="0"/>
              <a:t>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228600" y="3167390"/>
            <a:ext cx="2514600" cy="181588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GB" sz="2800" dirty="0">
                <a:solidFill>
                  <a:prstClr val="black"/>
                </a:solidFill>
              </a:rPr>
              <a:t>Here, we know at run-time how many inputs we have.</a:t>
            </a:r>
            <a:endParaRPr lang="en-IE" sz="28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6169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905001"/>
            <a:ext cx="9525000" cy="4068763"/>
          </a:xfrm>
        </p:spPr>
        <p:txBody>
          <a:bodyPr>
            <a:normAutofit fontScale="92500" lnSpcReduction="10000"/>
          </a:bodyPr>
          <a:lstStyle/>
          <a:p>
            <a:r>
              <a:rPr lang="en-IE" dirty="0"/>
              <a:t>Loops </a:t>
            </a:r>
          </a:p>
          <a:p>
            <a:pPr lvl="1"/>
            <a:r>
              <a:rPr lang="en-IE" dirty="0"/>
              <a:t>Loop Control Variables</a:t>
            </a:r>
          </a:p>
          <a:p>
            <a:pPr lvl="1"/>
            <a:r>
              <a:rPr lang="en-IE" dirty="0"/>
              <a:t>Arrays and counter controlled loops</a:t>
            </a:r>
          </a:p>
          <a:p>
            <a:pPr lvl="1"/>
            <a:r>
              <a:rPr lang="en-IE" dirty="0"/>
              <a:t>Arrays and sentinel based loops</a:t>
            </a:r>
          </a:p>
          <a:p>
            <a:pPr lvl="1"/>
            <a:r>
              <a:rPr lang="en-IE" dirty="0"/>
              <a:t>Arrays and flag-based loops </a:t>
            </a:r>
          </a:p>
          <a:p>
            <a:r>
              <a:rPr lang="en-IE" dirty="0"/>
              <a:t>switch statement.</a:t>
            </a:r>
          </a:p>
          <a:p>
            <a:r>
              <a:rPr lang="en-IE" dirty="0"/>
              <a:t>A simple menu using switch.</a:t>
            </a:r>
          </a:p>
          <a:p>
            <a:r>
              <a:rPr lang="en-IE" dirty="0"/>
              <a:t>ShopV3.0 – adding a menu.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276600"/>
            <a:ext cx="548640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30860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Sentinel-based 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Use this type of loop when you do not know how many inputs you will have.</a:t>
            </a:r>
          </a:p>
          <a:p>
            <a:endParaRPr lang="en-GB" dirty="0"/>
          </a:p>
          <a:p>
            <a:r>
              <a:rPr lang="en-GB" dirty="0"/>
              <a:t>The </a:t>
            </a:r>
            <a:r>
              <a:rPr lang="en-GB" b="1" i="1" dirty="0"/>
              <a:t>end of input </a:t>
            </a:r>
            <a:r>
              <a:rPr lang="en-GB" dirty="0"/>
              <a:t>is signalled by a special value.</a:t>
            </a:r>
          </a:p>
          <a:p>
            <a:pPr lvl="1"/>
            <a:r>
              <a:rPr lang="en-GB" dirty="0"/>
              <a:t>e.g. if you are calculating the ‘average of ages of people in the room’, write a program that will continually take in ages until, say, -1 is entered.  </a:t>
            </a:r>
            <a:br>
              <a:rPr lang="en-GB" dirty="0"/>
            </a:br>
            <a:r>
              <a:rPr lang="en-GB" dirty="0"/>
              <a:t>-1 would be the sentinel value.</a:t>
            </a:r>
          </a:p>
        </p:txBody>
      </p:sp>
    </p:spTree>
    <p:extLst>
      <p:ext uri="{BB962C8B-B14F-4D97-AF65-F5344CB8AC3E}">
        <p14:creationId xmlns:p14="http://schemas.microsoft.com/office/powerpoint/2010/main" val="20497642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Concept of </a:t>
            </a:r>
            <a:r>
              <a:rPr lang="en-GB" b="1" i="1" dirty="0"/>
              <a:t>Loop Control Variable </a:t>
            </a:r>
            <a:r>
              <a:rPr lang="en-GB" dirty="0"/>
              <a:t>is vital here.</a:t>
            </a:r>
          </a:p>
          <a:p>
            <a:endParaRPr lang="en-GB" dirty="0"/>
          </a:p>
          <a:p>
            <a:r>
              <a:rPr lang="en-GB" dirty="0"/>
              <a:t>The loop continuation is solely based on the input, so the variable containing the information is the Loop Control Variable.</a:t>
            </a:r>
          </a:p>
          <a:p>
            <a:endParaRPr lang="en-GB" dirty="0"/>
          </a:p>
          <a:p>
            <a:r>
              <a:rPr lang="en-GB" dirty="0"/>
              <a:t>Initialise the Loop Control Variable before entry into the loop.</a:t>
            </a:r>
          </a:p>
          <a:p>
            <a:endParaRPr lang="en-GB" dirty="0"/>
          </a:p>
          <a:p>
            <a:r>
              <a:rPr lang="en-GB" dirty="0"/>
              <a:t>Remember to ‘update the Loop Control Variable’ just before the end of the loop. 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7700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Try this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a loop to read in and add up a set of integers. Keep going until the value ‘-1’ is inputted. </a:t>
            </a:r>
          </a:p>
          <a:p>
            <a:endParaRPr lang="en-GB" dirty="0"/>
          </a:p>
          <a:p>
            <a:r>
              <a:rPr lang="en-GB" dirty="0"/>
              <a:t>What is your Loop Control Variable?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sz="2800" i="1" dirty="0"/>
              <a:t>Note:  in this exercise, you do not need to store the values in an array…we will do this in a few slides time.</a:t>
            </a:r>
          </a:p>
        </p:txBody>
      </p:sp>
    </p:spTree>
    <p:extLst>
      <p:ext uri="{BB962C8B-B14F-4D97-AF65-F5344CB8AC3E}">
        <p14:creationId xmlns:p14="http://schemas.microsoft.com/office/powerpoint/2010/main" val="777796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5000" y="228600"/>
            <a:ext cx="8229600" cy="1143000"/>
          </a:xfrm>
        </p:spPr>
        <p:txBody>
          <a:bodyPr/>
          <a:lstStyle/>
          <a:p>
            <a:r>
              <a:rPr lang="en-GB" dirty="0"/>
              <a:t>Solution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421" t="33608" r="37465" b="34746"/>
          <a:stretch/>
        </p:blipFill>
        <p:spPr bwMode="auto">
          <a:xfrm>
            <a:off x="307349" y="1681450"/>
            <a:ext cx="8783565" cy="47193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9353550" y="2362200"/>
            <a:ext cx="15621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1. Initialise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3549" y="3810000"/>
            <a:ext cx="2438401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2. LCV Condition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96400" y="4953000"/>
            <a:ext cx="2495550" cy="12003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3. Update LCV directly before end of loop</a:t>
            </a:r>
          </a:p>
        </p:txBody>
      </p:sp>
      <p:cxnSp>
        <p:nvCxnSpPr>
          <p:cNvPr id="12" name="Straight Arrow Connector 11"/>
          <p:cNvCxnSpPr>
            <a:cxnSpLocks/>
          </p:cNvCxnSpPr>
          <p:nvPr/>
        </p:nvCxnSpPr>
        <p:spPr>
          <a:xfrm flipH="1">
            <a:off x="3505200" y="4068455"/>
            <a:ext cx="5848350" cy="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cxnSpLocks/>
          </p:cNvCxnSpPr>
          <p:nvPr/>
        </p:nvCxnSpPr>
        <p:spPr>
          <a:xfrm flipH="1" flipV="1">
            <a:off x="4699132" y="5220586"/>
            <a:ext cx="4597268" cy="34201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cxnSpLocks/>
          </p:cNvCxnSpPr>
          <p:nvPr/>
        </p:nvCxnSpPr>
        <p:spPr>
          <a:xfrm flipH="1">
            <a:off x="3048000" y="2623066"/>
            <a:ext cx="6305552" cy="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3750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 in the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need to record how many inputs have happened.</a:t>
            </a:r>
          </a:p>
          <a:p>
            <a:endParaRPr lang="en-US" dirty="0"/>
          </a:p>
          <a:p>
            <a:r>
              <a:rPr lang="en-US" dirty="0"/>
              <a:t>Try to change the previous solution so that you know at the end how many numbers have been inputted. </a:t>
            </a:r>
          </a:p>
          <a:p>
            <a:endParaRPr lang="en-US" dirty="0"/>
          </a:p>
          <a:p>
            <a:r>
              <a:rPr lang="en-US" dirty="0"/>
              <a:t>At the end, print the sum and number of inputs.</a:t>
            </a:r>
          </a:p>
        </p:txBody>
      </p:sp>
    </p:spTree>
    <p:extLst>
      <p:ext uri="{BB962C8B-B14F-4D97-AF65-F5344CB8AC3E}">
        <p14:creationId xmlns:p14="http://schemas.microsoft.com/office/powerpoint/2010/main" val="414420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with number of inputs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60" t="28389" r="31866" b="35805"/>
          <a:stretch/>
        </p:blipFill>
        <p:spPr bwMode="auto">
          <a:xfrm>
            <a:off x="1828801" y="1752600"/>
            <a:ext cx="8592567" cy="4495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45742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Try this now - using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Same structure as before, but now we want to store the input. </a:t>
            </a:r>
          </a:p>
          <a:p>
            <a:r>
              <a:rPr lang="en-US" dirty="0"/>
              <a:t>Re-write the code on the previous slide, but store the data in an array.</a:t>
            </a:r>
          </a:p>
          <a:p>
            <a:endParaRPr lang="en-US" dirty="0"/>
          </a:p>
          <a:p>
            <a:r>
              <a:rPr lang="en-US" dirty="0"/>
              <a:t>NOTE:</a:t>
            </a:r>
          </a:p>
          <a:p>
            <a:pPr lvl="1"/>
            <a:r>
              <a:rPr lang="en-US" dirty="0"/>
              <a:t>Assume the max number of inputs possible is 100 (i.e. size of array).</a:t>
            </a:r>
          </a:p>
          <a:p>
            <a:pPr lvl="1"/>
            <a:r>
              <a:rPr lang="en-US" dirty="0"/>
              <a:t>We also need to know how many inputs actually happened.</a:t>
            </a:r>
          </a:p>
        </p:txBody>
      </p:sp>
    </p:spTree>
    <p:extLst>
      <p:ext uri="{BB962C8B-B14F-4D97-AF65-F5344CB8AC3E}">
        <p14:creationId xmlns:p14="http://schemas.microsoft.com/office/powerpoint/2010/main" val="17527052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60" t="15466" r="21265" b="34745"/>
          <a:stretch/>
        </p:blipFill>
        <p:spPr bwMode="auto">
          <a:xfrm>
            <a:off x="1676400" y="1511424"/>
            <a:ext cx="8839200" cy="504177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en-US" dirty="0"/>
              <a:t>Solution – storing inputs</a:t>
            </a:r>
          </a:p>
        </p:txBody>
      </p:sp>
    </p:spTree>
    <p:extLst>
      <p:ext uri="{BB962C8B-B14F-4D97-AF65-F5344CB8AC3E}">
        <p14:creationId xmlns:p14="http://schemas.microsoft.com/office/powerpoint/2010/main" val="19980554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67905-059C-3849-8925-6FC25DC93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Sentinel based loops and menus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5CD54-81CF-2937-7ED8-24B7457F82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Menus</a:t>
            </a:r>
          </a:p>
          <a:p>
            <a:pPr lvl="1"/>
            <a:r>
              <a:rPr lang="en-US" dirty="0"/>
              <a:t>Based on repetitively giving user options </a:t>
            </a:r>
          </a:p>
          <a:p>
            <a:pPr lvl="1"/>
            <a:r>
              <a:rPr lang="en-US" dirty="0"/>
              <a:t>Stops when user enters a know ‘exit’ value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We will use the sentinel-based loops (with ‘exit’ value as our sentinel) when we implement a menu system</a:t>
            </a:r>
          </a:p>
        </p:txBody>
      </p:sp>
    </p:spTree>
    <p:extLst>
      <p:ext uri="{BB962C8B-B14F-4D97-AF65-F5344CB8AC3E}">
        <p14:creationId xmlns:p14="http://schemas.microsoft.com/office/powerpoint/2010/main" val="1637488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905001"/>
            <a:ext cx="9525000" cy="4068763"/>
          </a:xfrm>
        </p:spPr>
        <p:txBody>
          <a:bodyPr>
            <a:normAutofit/>
          </a:bodyPr>
          <a:lstStyle/>
          <a:p>
            <a:r>
              <a:rPr lang="en-IE" dirty="0"/>
              <a:t>Loops </a:t>
            </a:r>
          </a:p>
          <a:p>
            <a:pPr lvl="1"/>
            <a:r>
              <a:rPr lang="en-IE" dirty="0"/>
              <a:t>Loop Control Variables</a:t>
            </a:r>
          </a:p>
          <a:p>
            <a:pPr lvl="1"/>
            <a:r>
              <a:rPr lang="en-IE" dirty="0"/>
              <a:t>Arrays and counter controlled loops</a:t>
            </a:r>
          </a:p>
          <a:p>
            <a:pPr lvl="1"/>
            <a:r>
              <a:rPr lang="en-IE" dirty="0"/>
              <a:t>Arrays and sentinel based loops</a:t>
            </a:r>
          </a:p>
          <a:p>
            <a:pPr lvl="1"/>
            <a:r>
              <a:rPr lang="en-IE" dirty="0"/>
              <a:t>Arrays and flag-based loops </a:t>
            </a:r>
          </a:p>
        </p:txBody>
      </p:sp>
      <p:sp>
        <p:nvSpPr>
          <p:cNvPr id="4" name="Rectangle 3"/>
          <p:cNvSpPr/>
          <p:nvPr/>
        </p:nvSpPr>
        <p:spPr>
          <a:xfrm>
            <a:off x="990600" y="4114800"/>
            <a:ext cx="548640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396705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Flag-Based 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These are used when you want to examine a collection of data to check for a </a:t>
            </a:r>
            <a:r>
              <a:rPr lang="en-US" b="1" i="1" dirty="0"/>
              <a:t>property</a:t>
            </a:r>
            <a:r>
              <a:rPr lang="en-US" dirty="0"/>
              <a:t>. Once a </a:t>
            </a:r>
            <a:r>
              <a:rPr lang="en-US" b="1" i="1" dirty="0"/>
              <a:t>property</a:t>
            </a:r>
            <a:r>
              <a:rPr lang="en-US" dirty="0"/>
              <a:t> has been established, it cannot be ‘unestablished’.</a:t>
            </a:r>
          </a:p>
          <a:p>
            <a:endParaRPr lang="en-US" dirty="0"/>
          </a:p>
          <a:p>
            <a:r>
              <a:rPr lang="en-US" dirty="0"/>
              <a:t>‘Once the flag is raised, it cannot be taken down’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9071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en-US" dirty="0"/>
              <a:t>Flag-Based Loops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 a populated array of numbers, cycle over the array to see if any numbers are odd.</a:t>
            </a:r>
          </a:p>
          <a:p>
            <a:endParaRPr lang="en-US" dirty="0"/>
          </a:p>
          <a:p>
            <a:r>
              <a:rPr lang="en-US" dirty="0"/>
              <a:t>If you find:</a:t>
            </a:r>
          </a:p>
          <a:p>
            <a:pPr lvl="1"/>
            <a:r>
              <a:rPr lang="en-US" dirty="0"/>
              <a:t> At least one odd number, print out to the user that there is at least one odd number.</a:t>
            </a:r>
          </a:p>
          <a:p>
            <a:pPr lvl="1"/>
            <a:r>
              <a:rPr lang="en-US" dirty="0"/>
              <a:t>No odd numbers, inform the user of this.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70255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US" dirty="0"/>
              <a:t>Solution: check if ‘any numbers odd’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BC5A42-E498-66F0-A41B-BC0675894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687" y="1600201"/>
            <a:ext cx="10840626" cy="452596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472636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1981200" y="1600200"/>
            <a:ext cx="8229600" cy="4525963"/>
          </a:xfrm>
        </p:spPr>
        <p:txBody>
          <a:bodyPr/>
          <a:lstStyle/>
          <a:p>
            <a:pPr marL="0" indent="0" algn="ctr">
              <a:buNone/>
            </a:pPr>
            <a:r>
              <a:rPr lang="en-US" sz="4000" i="1" dirty="0"/>
              <a:t>What about having a</a:t>
            </a:r>
            <a:br>
              <a:rPr lang="en-US" sz="4000" i="1" dirty="0"/>
            </a:br>
            <a:r>
              <a:rPr lang="en-US" sz="4000" i="1" dirty="0"/>
              <a:t> </a:t>
            </a:r>
            <a:br>
              <a:rPr lang="en-US" sz="4000" i="1" dirty="0"/>
            </a:br>
            <a:r>
              <a:rPr lang="en-US" sz="4000" i="1" dirty="0"/>
              <a:t>flag-based loop in a method with a </a:t>
            </a:r>
            <a:br>
              <a:rPr lang="en-US" sz="4000" i="1" dirty="0"/>
            </a:br>
            <a:br>
              <a:rPr lang="en-US" sz="4000" i="1" dirty="0"/>
            </a:br>
            <a:r>
              <a:rPr lang="en-US" sz="4000" i="1" dirty="0" err="1"/>
              <a:t>boolean</a:t>
            </a:r>
            <a:r>
              <a:rPr lang="en-US" sz="4000" i="1" dirty="0"/>
              <a:t> return type?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72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898542" y="5033777"/>
            <a:ext cx="76200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Calling the method and handling the returned </a:t>
            </a:r>
            <a:r>
              <a:rPr lang="en-IE" sz="2400" dirty="0" err="1"/>
              <a:t>boolean</a:t>
            </a:r>
            <a:endParaRPr lang="en-IE" sz="2400" dirty="0"/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6781800" y="381000"/>
            <a:ext cx="5410200" cy="685800"/>
          </a:xfr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r>
              <a:rPr lang="en-US" sz="2400" dirty="0"/>
              <a:t>Code with </a:t>
            </a:r>
            <a:r>
              <a:rPr lang="en-US" sz="2400" dirty="0" err="1"/>
              <a:t>boolean</a:t>
            </a:r>
            <a:r>
              <a:rPr lang="en-US" sz="2400" dirty="0"/>
              <a:t> return type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C13878-A2D6-F562-2320-25737192CD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695" y="1066800"/>
            <a:ext cx="9584610" cy="39687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952379E-454B-235C-F88F-5B80CC2B6A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7400" y="5562600"/>
            <a:ext cx="7772400" cy="1438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836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5A9D487F-3157-9FE9-7E30-C739B06EA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19" y="1600201"/>
            <a:ext cx="4525963" cy="452596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a-shop-v1</Template>
  <TotalTime>6593</TotalTime>
  <Words>869</Words>
  <Application>Microsoft Macintosh PowerPoint</Application>
  <PresentationFormat>Widescreen</PresentationFormat>
  <Paragraphs>115</Paragraphs>
  <Slides>24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a-processing-mouse-event-methods</vt:lpstr>
      <vt:lpstr>Menu Driven Apps</vt:lpstr>
      <vt:lpstr>Topics list</vt:lpstr>
      <vt:lpstr>Recap - Loop Control Variable</vt:lpstr>
      <vt:lpstr>Topics list</vt:lpstr>
      <vt:lpstr>Recap - Counter-Controlled for Loop</vt:lpstr>
      <vt:lpstr>Recap - Counter-Controlled Loops</vt:lpstr>
      <vt:lpstr>Recap - Counter-Controlled for Loop</vt:lpstr>
      <vt:lpstr>Topics list</vt:lpstr>
      <vt:lpstr>Sentinel-based loops</vt:lpstr>
      <vt:lpstr>Structure</vt:lpstr>
      <vt:lpstr>Try this exercise</vt:lpstr>
      <vt:lpstr>Solution</vt:lpstr>
      <vt:lpstr>Next step in the exercise</vt:lpstr>
      <vt:lpstr>Code with number of inputs</vt:lpstr>
      <vt:lpstr>Try this now - using arrays</vt:lpstr>
      <vt:lpstr>Solution – storing inputs</vt:lpstr>
      <vt:lpstr>Sentinel based loops and menus</vt:lpstr>
      <vt:lpstr>Topics list</vt:lpstr>
      <vt:lpstr>Flag-Based Loops</vt:lpstr>
      <vt:lpstr>Flag-Based Loops - example</vt:lpstr>
      <vt:lpstr>Solution: check if ‘any numbers odd’</vt:lpstr>
      <vt:lpstr>PowerPoint Presentation</vt:lpstr>
      <vt:lpstr>Code with boolean return type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Menu Driven Systems</dc:title>
  <dc:creator>Siobhan Drohan</dc:creator>
  <cp:lastModifiedBy>Mairead Meagher</cp:lastModifiedBy>
  <cp:revision>100</cp:revision>
  <dcterms:created xsi:type="dcterms:W3CDTF">2006-08-16T00:00:00Z</dcterms:created>
  <dcterms:modified xsi:type="dcterms:W3CDTF">2025-11-11T19:07:45Z</dcterms:modified>
</cp:coreProperties>
</file>