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6"/>
  </p:notesMasterIdLst>
  <p:sldIdLst>
    <p:sldId id="383" r:id="rId2"/>
    <p:sldId id="392" r:id="rId3"/>
    <p:sldId id="391" r:id="rId4"/>
    <p:sldId id="409" r:id="rId5"/>
    <p:sldId id="390" r:id="rId6"/>
    <p:sldId id="355" r:id="rId7"/>
    <p:sldId id="356" r:id="rId8"/>
    <p:sldId id="410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458" r:id="rId18"/>
    <p:sldId id="411" r:id="rId19"/>
    <p:sldId id="367" r:id="rId20"/>
    <p:sldId id="397" r:id="rId21"/>
    <p:sldId id="368" r:id="rId22"/>
    <p:sldId id="370" r:id="rId23"/>
    <p:sldId id="371" r:id="rId24"/>
    <p:sldId id="34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24" autoAdjust="0"/>
    <p:restoredTop sz="94638"/>
  </p:normalViewPr>
  <p:slideViewPr>
    <p:cSldViewPr>
      <p:cViewPr varScale="1">
        <p:scale>
          <a:sx n="76" d="100"/>
          <a:sy n="76" d="100"/>
        </p:scale>
        <p:origin x="208" y="10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4" d="100"/>
          <a:sy n="94" d="100"/>
        </p:scale>
        <p:origin x="2976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12/11/2025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0033B3"/>
                </a:solidFill>
                <a:effectLst/>
              </a:rPr>
              <a:t>public class </a:t>
            </a:r>
            <a:r>
              <a:rPr lang="en-GB" dirty="0">
                <a:solidFill>
                  <a:srgbClr val="000000"/>
                </a:solidFill>
                <a:effectLst/>
              </a:rPr>
              <a:t>Loops </a:t>
            </a:r>
            <a:r>
              <a:rPr lang="en-GB" dirty="0"/>
              <a:t>{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static void </a:t>
            </a:r>
            <a:r>
              <a:rPr lang="en-GB" dirty="0">
                <a:solidFill>
                  <a:srgbClr val="00627A"/>
                </a:solidFill>
                <a:effectLst/>
              </a:rPr>
              <a:t>main</a:t>
            </a:r>
            <a:r>
              <a:rPr lang="en-GB" dirty="0"/>
              <a:t>(</a:t>
            </a:r>
            <a:r>
              <a:rPr lang="en-GB" dirty="0">
                <a:solidFill>
                  <a:srgbClr val="000000"/>
                </a:solidFill>
                <a:effectLst/>
              </a:rPr>
              <a:t>String </a:t>
            </a:r>
            <a:r>
              <a:rPr lang="en-GB" dirty="0" err="1"/>
              <a:t>args</a:t>
            </a:r>
            <a:r>
              <a:rPr lang="en-GB" dirty="0"/>
              <a:t>[]){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new </a:t>
            </a:r>
            <a:r>
              <a:rPr lang="en-GB" dirty="0"/>
              <a:t>Loops();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</a:t>
            </a:r>
            <a:r>
              <a:rPr lang="en-GB" dirty="0">
                <a:solidFill>
                  <a:srgbClr val="00627A"/>
                </a:solidFill>
                <a:effectLst/>
              </a:rPr>
              <a:t>Loops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 err="1"/>
              <a:t>simpleWhile</a:t>
            </a:r>
            <a:r>
              <a:rPr lang="en-GB" dirty="0"/>
              <a:t>();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simpleWhile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int </a:t>
            </a:r>
            <a:r>
              <a:rPr lang="en-GB" dirty="0" err="1"/>
              <a:t>i</a:t>
            </a:r>
            <a:r>
              <a:rPr lang="en-GB" dirty="0"/>
              <a:t> = </a:t>
            </a:r>
            <a:r>
              <a:rPr lang="en-GB" dirty="0">
                <a:solidFill>
                  <a:srgbClr val="1750EB"/>
                </a:solidFill>
                <a:effectLst/>
              </a:rPr>
              <a:t>0</a:t>
            </a:r>
            <a:r>
              <a:rPr lang="en-GB" dirty="0"/>
              <a:t>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while </a:t>
            </a:r>
            <a:r>
              <a:rPr lang="en-GB" dirty="0"/>
              <a:t>(</a:t>
            </a:r>
            <a:r>
              <a:rPr lang="en-GB" dirty="0" err="1"/>
              <a:t>i</a:t>
            </a:r>
            <a:r>
              <a:rPr lang="en-GB" dirty="0"/>
              <a:t> &lt; </a:t>
            </a:r>
            <a:r>
              <a:rPr lang="en-GB" dirty="0">
                <a:solidFill>
                  <a:srgbClr val="1750EB"/>
                </a:solidFill>
                <a:effectLst/>
              </a:rPr>
              <a:t>10</a:t>
            </a:r>
            <a:r>
              <a:rPr lang="en-GB" dirty="0"/>
              <a:t>){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 err="1"/>
              <a:t>i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 err="1"/>
              <a:t>i</a:t>
            </a:r>
            <a:r>
              <a:rPr lang="en-GB" dirty="0"/>
              <a:t>++;</a:t>
            </a:r>
            <a:br>
              <a:rPr lang="en-GB" dirty="0"/>
            </a:br>
            <a:r>
              <a:rPr lang="en-GB" dirty="0"/>
              <a:t>        }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br>
              <a:rPr lang="en-GB" dirty="0"/>
            </a:b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18067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42701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17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B6F98E-998E-0C49-19D0-BD928FADED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350EAD-DC44-A3A0-38C6-89949173DFA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A5BAE7-F025-E7AA-CC28-2912EB5FA02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708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053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50A73E-1B0E-99B0-1273-3679BDBB151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674E79-66F0-A4C7-FF39-5F928B7C9A5B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B04098-8A23-57A3-2915-25731CE7473F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19436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2DBB3-4EEF-3DFF-199A-BA6AB3793D3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457289-6BB4-E107-2E46-8D2073E3415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EC96B24-4FB1-4675-7F08-ABD63249597F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10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0757EC-8007-C46D-7D50-F765C16D5B9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082DFA-2D0D-E3FC-D879-A6D24EF7B7A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E06108-528A-AEA9-20DD-EFEDC52F575D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1959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3365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594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3530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01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0057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6987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09718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160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41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1841" y="1044576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Menu Driven Apps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77000" y="58922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Department of Computing and Mathematics</a:t>
            </a:r>
          </a:p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http://www.wit.ie/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F220A-876A-4FD4-A501-DF5ED9B43E8A}"/>
              </a:ext>
            </a:extLst>
          </p:cNvPr>
          <p:cNvSpPr txBox="1"/>
          <p:nvPr/>
        </p:nvSpPr>
        <p:spPr>
          <a:xfrm>
            <a:off x="3810000" y="3817204"/>
            <a:ext cx="3581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Maireád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Meagher</a:t>
            </a: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Siobhán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Siobhan Roche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CFDB5CD-E783-4C31-B4C7-D02ABF6F299A}"/>
              </a:ext>
            </a:extLst>
          </p:cNvPr>
          <p:cNvSpPr txBox="1">
            <a:spLocks/>
          </p:cNvSpPr>
          <p:nvPr/>
        </p:nvSpPr>
        <p:spPr>
          <a:xfrm>
            <a:off x="2328041" y="22860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Loops, menus and the switch statement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31BFDD-ABF6-ED8D-FB14-6066160D31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864" y="5630685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</p:txBody>
      </p:sp>
      <p:sp>
        <p:nvSpPr>
          <p:cNvPr id="4" name="Rectangle 3"/>
          <p:cNvSpPr/>
          <p:nvPr/>
        </p:nvSpPr>
        <p:spPr>
          <a:xfrm>
            <a:off x="990600" y="25146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06552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7742E2-A1B0-E9F8-0BCE-472084C86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450" y="2444749"/>
            <a:ext cx="7103292" cy="254274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304800"/>
            <a:ext cx="8229600" cy="1143000"/>
          </a:xfrm>
        </p:spPr>
        <p:txBody>
          <a:bodyPr/>
          <a:lstStyle/>
          <a:p>
            <a:r>
              <a:rPr lang="en-GB" dirty="0"/>
              <a:t>Recap - Loop Control Variable</a:t>
            </a:r>
          </a:p>
        </p:txBody>
      </p:sp>
      <p:cxnSp>
        <p:nvCxnSpPr>
          <p:cNvPr id="9" name="Straight Arrow Connector 8"/>
          <p:cNvCxnSpPr>
            <a:cxnSpLocks/>
            <a:stCxn id="15" idx="3"/>
          </p:cNvCxnSpPr>
          <p:nvPr/>
        </p:nvCxnSpPr>
        <p:spPr>
          <a:xfrm flipV="1">
            <a:off x="2922438" y="3424456"/>
            <a:ext cx="2312838" cy="280119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</p:cNvCxnSpPr>
          <p:nvPr/>
        </p:nvCxnSpPr>
        <p:spPr>
          <a:xfrm flipV="1">
            <a:off x="3449488" y="4160000"/>
            <a:ext cx="1608416" cy="1058331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  <a:stCxn id="14" idx="3"/>
          </p:cNvCxnSpPr>
          <p:nvPr/>
        </p:nvCxnSpPr>
        <p:spPr>
          <a:xfrm>
            <a:off x="2819400" y="2499005"/>
            <a:ext cx="1524000" cy="50995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09600" y="3104410"/>
            <a:ext cx="2312838" cy="1200329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2. Test i.e. </a:t>
            </a:r>
            <a:r>
              <a:rPr lang="en-GB" sz="2400" dirty="0" err="1"/>
              <a:t>boolean</a:t>
            </a:r>
            <a:r>
              <a:rPr lang="en-GB" sz="2400" dirty="0"/>
              <a:t> condition</a:t>
            </a:r>
            <a:endParaRPr lang="en-GB" dirty="0"/>
          </a:p>
        </p:txBody>
      </p:sp>
      <p:sp>
        <p:nvSpPr>
          <p:cNvPr id="16" name="TextBox 15"/>
          <p:cNvSpPr txBox="1"/>
          <p:nvPr/>
        </p:nvSpPr>
        <p:spPr>
          <a:xfrm>
            <a:off x="609600" y="4572000"/>
            <a:ext cx="2743200" cy="830997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3. Update directly before end of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268172"/>
            <a:ext cx="2209800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1. Initialise</a:t>
            </a:r>
            <a:endParaRPr lang="en-GB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8FDF31-16DA-4405-B393-453BE180A1F8}"/>
              </a:ext>
            </a:extLst>
          </p:cNvPr>
          <p:cNvSpPr txBox="1"/>
          <p:nvPr/>
        </p:nvSpPr>
        <p:spPr>
          <a:xfrm>
            <a:off x="555978" y="1524000"/>
            <a:ext cx="5562600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This loop is a counter-controlled while loop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ED82A6-2BB3-201C-48CF-4A510AF80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5012" y="3796795"/>
            <a:ext cx="2590800" cy="2895600"/>
          </a:xfrm>
          <a:prstGeom prst="rect">
            <a:avLst/>
          </a:prstGeom>
        </p:spPr>
      </p:pic>
      <p:sp>
        <p:nvSpPr>
          <p:cNvPr id="10" name="Right Arrow 9">
            <a:extLst>
              <a:ext uri="{FF2B5EF4-FFF2-40B4-BE49-F238E27FC236}">
                <a16:creationId xmlns:a16="http://schemas.microsoft.com/office/drawing/2014/main" id="{7F090187-253B-C784-1802-806E555107FA}"/>
              </a:ext>
            </a:extLst>
          </p:cNvPr>
          <p:cNvSpPr/>
          <p:nvPr/>
        </p:nvSpPr>
        <p:spPr>
          <a:xfrm rot="3360119">
            <a:off x="9924255" y="2990361"/>
            <a:ext cx="1395412" cy="3950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840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4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  <a:p>
            <a:r>
              <a:rPr lang="en-IE" dirty="0"/>
              <a:t>switch statement.</a:t>
            </a:r>
          </a:p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200" y="28194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61211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035284D-21C3-3343-F053-ACB4F9529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" y="1490134"/>
            <a:ext cx="8065127" cy="346286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3048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GB" dirty="0"/>
              <a:t>Recap - Counter-Controlled </a:t>
            </a:r>
            <a:r>
              <a:rPr lang="en-GB" dirty="0">
                <a:solidFill>
                  <a:srgbClr val="FF0000"/>
                </a:solidFill>
              </a:rPr>
              <a:t>for </a:t>
            </a:r>
            <a:r>
              <a:rPr lang="en-GB" dirty="0"/>
              <a:t>Loop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DA4ABD-1101-9E19-92E0-7E5BCDA48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7283" y="1538732"/>
            <a:ext cx="5676900" cy="2159000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35123B3B-D197-E9C9-EAFB-0DEB4DD122B2}"/>
              </a:ext>
            </a:extLst>
          </p:cNvPr>
          <p:cNvSpPr/>
          <p:nvPr/>
        </p:nvSpPr>
        <p:spPr>
          <a:xfrm>
            <a:off x="5606796" y="2184400"/>
            <a:ext cx="978408" cy="408432"/>
          </a:xfrm>
          <a:prstGeom prst="rightArrow">
            <a:avLst>
              <a:gd name="adj1" fmla="val 4301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290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Recap - Counter-Controlled Loops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722438"/>
            <a:ext cx="11049000" cy="4525963"/>
          </a:xfrm>
        </p:spPr>
        <p:txBody>
          <a:bodyPr>
            <a:normAutofit/>
          </a:bodyPr>
          <a:lstStyle/>
          <a:p>
            <a:r>
              <a:rPr lang="en-GB" dirty="0"/>
              <a:t>Sometimes  we know when we are coding, we know how many inputs we will have.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The previous slide displays an example of this.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Other times, we find out at run time how many inputs we have…an example of this is on the next slide.</a:t>
            </a:r>
            <a:endParaRPr lang="en-GB" sz="4000" dirty="0"/>
          </a:p>
          <a:p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63777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A8AD5A2-245C-47AE-9B81-A5057B1DB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43230"/>
            <a:ext cx="10972800" cy="1143000"/>
          </a:xfrm>
        </p:spPr>
        <p:txBody>
          <a:bodyPr>
            <a:normAutofit/>
          </a:bodyPr>
          <a:lstStyle/>
          <a:p>
            <a:r>
              <a:rPr lang="en-GB" dirty="0"/>
              <a:t>Recap - Counter-Controlled </a:t>
            </a:r>
            <a:r>
              <a:rPr lang="en-GB" dirty="0">
                <a:solidFill>
                  <a:srgbClr val="FF0000"/>
                </a:solidFill>
              </a:rPr>
              <a:t>for </a:t>
            </a:r>
            <a:r>
              <a:rPr lang="en-GB" dirty="0"/>
              <a:t>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257175" y="2141672"/>
            <a:ext cx="2514600" cy="181588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prstClr val="black"/>
                </a:solidFill>
              </a:rPr>
              <a:t>Here, we know at run-time how many inputs we have.</a:t>
            </a:r>
            <a:endParaRPr lang="en-IE" sz="2800" dirty="0">
              <a:solidFill>
                <a:prstClr val="black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3A5A71-BC06-ED36-7678-E64CA8387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275" y="1186230"/>
            <a:ext cx="7772400" cy="37267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48044A-F0E4-B74F-AA9A-F0D5DA782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305" y="5181600"/>
            <a:ext cx="4705070" cy="1488842"/>
          </a:xfrm>
          <a:prstGeom prst="rect">
            <a:avLst/>
          </a:prstGeom>
        </p:spPr>
      </p:pic>
      <p:sp>
        <p:nvSpPr>
          <p:cNvPr id="8" name="Right Arrow 7">
            <a:extLst>
              <a:ext uri="{FF2B5EF4-FFF2-40B4-BE49-F238E27FC236}">
                <a16:creationId xmlns:a16="http://schemas.microsoft.com/office/drawing/2014/main" id="{A7D2731B-C172-8096-992A-9D8F279EB026}"/>
              </a:ext>
            </a:extLst>
          </p:cNvPr>
          <p:cNvSpPr/>
          <p:nvPr/>
        </p:nvSpPr>
        <p:spPr>
          <a:xfrm rot="2297744">
            <a:off x="5700260" y="4581942"/>
            <a:ext cx="978408" cy="332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169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  <a:p>
            <a:r>
              <a:rPr lang="en-IE" dirty="0"/>
              <a:t>switch statement.</a:t>
            </a:r>
          </a:p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766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30860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Sentinel-based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Use this type of loop when you do not know how many inputs you will have.</a:t>
            </a:r>
          </a:p>
          <a:p>
            <a:endParaRPr lang="en-GB" dirty="0"/>
          </a:p>
          <a:p>
            <a:r>
              <a:rPr lang="en-GB" dirty="0"/>
              <a:t>The </a:t>
            </a:r>
            <a:r>
              <a:rPr lang="en-GB" b="1" i="1" dirty="0"/>
              <a:t>end of input </a:t>
            </a:r>
            <a:r>
              <a:rPr lang="en-GB" dirty="0"/>
              <a:t>is signalled by a special value.</a:t>
            </a:r>
          </a:p>
          <a:p>
            <a:pPr lvl="1"/>
            <a:r>
              <a:rPr lang="en-GB" dirty="0"/>
              <a:t>e.g. if you are calculating the ‘average of ages of people in the room’, write a program that will continually take in ages until, say, -1 is entered.  </a:t>
            </a:r>
            <a:br>
              <a:rPr lang="en-GB" dirty="0"/>
            </a:br>
            <a:r>
              <a:rPr lang="en-GB" dirty="0"/>
              <a:t>-1 would be the sentinel value.</a:t>
            </a:r>
          </a:p>
        </p:txBody>
      </p:sp>
    </p:spTree>
    <p:extLst>
      <p:ext uri="{BB962C8B-B14F-4D97-AF65-F5344CB8AC3E}">
        <p14:creationId xmlns:p14="http://schemas.microsoft.com/office/powerpoint/2010/main" val="2049764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Concept of </a:t>
            </a:r>
            <a:r>
              <a:rPr lang="en-GB" b="1" i="1" dirty="0"/>
              <a:t>Loop Control Variable </a:t>
            </a:r>
            <a:r>
              <a:rPr lang="en-GB" dirty="0"/>
              <a:t>is vital here.</a:t>
            </a:r>
          </a:p>
          <a:p>
            <a:endParaRPr lang="en-GB" dirty="0"/>
          </a:p>
          <a:p>
            <a:r>
              <a:rPr lang="en-GB" dirty="0"/>
              <a:t>The loop continuation is solely based on the input, so the variable containing the information is the Loop Control Variable.</a:t>
            </a:r>
          </a:p>
          <a:p>
            <a:endParaRPr lang="en-GB" dirty="0"/>
          </a:p>
          <a:p>
            <a:r>
              <a:rPr lang="en-GB" dirty="0"/>
              <a:t>Initialise the Loop Control Variable before entry into the loop.</a:t>
            </a:r>
          </a:p>
          <a:p>
            <a:endParaRPr lang="en-GB" dirty="0"/>
          </a:p>
          <a:p>
            <a:r>
              <a:rPr lang="en-GB" dirty="0"/>
              <a:t>Remember to ‘update the Loop Control Variable’ just before the end of the loop. 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7700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 this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a loop to read in and add up a set of integers. Keep going until the value ‘-1’ is inputted. </a:t>
            </a:r>
          </a:p>
          <a:p>
            <a:endParaRPr lang="en-GB" dirty="0"/>
          </a:p>
          <a:p>
            <a:r>
              <a:rPr lang="en-GB" dirty="0"/>
              <a:t>What is your Loop Control Variable?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sz="2800" i="1" dirty="0"/>
              <a:t>Note:  in this exercise, you do not need to store the values in an array…we will do this in a few slides time.</a:t>
            </a:r>
          </a:p>
        </p:txBody>
      </p:sp>
    </p:spTree>
    <p:extLst>
      <p:ext uri="{BB962C8B-B14F-4D97-AF65-F5344CB8AC3E}">
        <p14:creationId xmlns:p14="http://schemas.microsoft.com/office/powerpoint/2010/main" val="777796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6788E03-1953-60A1-76BA-CDC1F241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883" y="1854233"/>
            <a:ext cx="7772400" cy="391153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5000" y="228600"/>
            <a:ext cx="8229600" cy="1143000"/>
          </a:xfrm>
        </p:spPr>
        <p:txBody>
          <a:bodyPr/>
          <a:lstStyle/>
          <a:p>
            <a:r>
              <a:rPr lang="en-GB" dirty="0"/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53550" y="2362200"/>
            <a:ext cx="15621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1. Initialise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3549" y="3810000"/>
            <a:ext cx="2438401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2. LCV Condition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96400" y="4953000"/>
            <a:ext cx="2495550" cy="12003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3. Update LCV directly before end of loop</a:t>
            </a:r>
          </a:p>
        </p:txBody>
      </p:sp>
      <p:cxnSp>
        <p:nvCxnSpPr>
          <p:cNvPr id="12" name="Straight Arrow Connector 11"/>
          <p:cNvCxnSpPr>
            <a:cxnSpLocks/>
          </p:cNvCxnSpPr>
          <p:nvPr/>
        </p:nvCxnSpPr>
        <p:spPr>
          <a:xfrm flipH="1" flipV="1">
            <a:off x="3276600" y="3809999"/>
            <a:ext cx="6076950" cy="25845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cxnSpLocks/>
          </p:cNvCxnSpPr>
          <p:nvPr/>
        </p:nvCxnSpPr>
        <p:spPr>
          <a:xfrm flipH="1" flipV="1">
            <a:off x="3048000" y="4551088"/>
            <a:ext cx="6248400" cy="101151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cxnSpLocks/>
          </p:cNvCxnSpPr>
          <p:nvPr/>
        </p:nvCxnSpPr>
        <p:spPr>
          <a:xfrm flipH="1">
            <a:off x="3048000" y="2623066"/>
            <a:ext cx="6305552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D150A085-AC0E-6FCF-D21F-674E49D5D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294380"/>
            <a:ext cx="4171950" cy="126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750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 in the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need to record how many inputs have happened.</a:t>
            </a:r>
          </a:p>
          <a:p>
            <a:endParaRPr lang="en-US" dirty="0"/>
          </a:p>
          <a:p>
            <a:r>
              <a:rPr lang="en-US" dirty="0"/>
              <a:t>Try to change the previous solution so that you know at the end how many numbers have been inputted. </a:t>
            </a:r>
          </a:p>
          <a:p>
            <a:endParaRPr lang="en-US" dirty="0"/>
          </a:p>
          <a:p>
            <a:r>
              <a:rPr lang="en-US" dirty="0"/>
              <a:t>At the end, print the sum and number of inputs.</a:t>
            </a:r>
          </a:p>
        </p:txBody>
      </p:sp>
    </p:spTree>
    <p:extLst>
      <p:ext uri="{BB962C8B-B14F-4D97-AF65-F5344CB8AC3E}">
        <p14:creationId xmlns:p14="http://schemas.microsoft.com/office/powerpoint/2010/main" val="414420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with number of inputs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6002C8-EAA4-B1FA-EFF2-0B0778AC4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" y="1749156"/>
            <a:ext cx="7772400" cy="43400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E22F1C-41EC-1C7C-E1DA-D4835C7E3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1150" y="3282949"/>
            <a:ext cx="2971800" cy="1196975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6FD64605-CA3E-A07C-C3B1-91827ED4F1ED}"/>
              </a:ext>
            </a:extLst>
          </p:cNvPr>
          <p:cNvSpPr/>
          <p:nvPr/>
        </p:nvSpPr>
        <p:spPr>
          <a:xfrm>
            <a:off x="6867525" y="3429000"/>
            <a:ext cx="2362200" cy="679451"/>
          </a:xfrm>
          <a:prstGeom prst="rightArrow">
            <a:avLst>
              <a:gd name="adj1" fmla="val 50000"/>
              <a:gd name="adj2" fmla="val 5584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74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this now - using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Same structure as before, but now we want to store the input. </a:t>
            </a:r>
          </a:p>
          <a:p>
            <a:r>
              <a:rPr lang="en-US" dirty="0"/>
              <a:t>Re-write the code on the previous slide, but store the data in an array.</a:t>
            </a:r>
          </a:p>
          <a:p>
            <a:endParaRPr lang="en-US" dirty="0"/>
          </a:p>
          <a:p>
            <a:r>
              <a:rPr lang="en-US" dirty="0"/>
              <a:t>NOTE:</a:t>
            </a:r>
          </a:p>
          <a:p>
            <a:pPr lvl="1"/>
            <a:r>
              <a:rPr lang="en-US" dirty="0"/>
              <a:t>Assume the max number of inputs possible is 100 (i.e. size of array).</a:t>
            </a:r>
          </a:p>
          <a:p>
            <a:pPr lvl="1"/>
            <a:r>
              <a:rPr lang="en-US" dirty="0"/>
              <a:t>We also need to know how many inputs actually happened.</a:t>
            </a:r>
          </a:p>
        </p:txBody>
      </p:sp>
    </p:spTree>
    <p:extLst>
      <p:ext uri="{BB962C8B-B14F-4D97-AF65-F5344CB8AC3E}">
        <p14:creationId xmlns:p14="http://schemas.microsoft.com/office/powerpoint/2010/main" val="1752705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US" dirty="0"/>
              <a:t>Solution – storing inputs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A09C31-1D0B-478E-64A1-D25B14B1A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2971800"/>
            <a:ext cx="3429000" cy="18132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6D70AD-A095-0CD5-C4A1-1DC714399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7" y="1417638"/>
            <a:ext cx="7772400" cy="5418712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C88E4945-8C66-9B3F-B377-E7BA36CC9D00}"/>
              </a:ext>
            </a:extLst>
          </p:cNvPr>
          <p:cNvSpPr/>
          <p:nvPr/>
        </p:nvSpPr>
        <p:spPr>
          <a:xfrm>
            <a:off x="7871629" y="3673239"/>
            <a:ext cx="978408" cy="410400"/>
          </a:xfrm>
          <a:prstGeom prst="rightArrow">
            <a:avLst>
              <a:gd name="adj1" fmla="val 15059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67905-059C-3849-8925-6FC25DC93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Sentinel based loops and menus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5CD54-81CF-2937-7ED8-24B7457F8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Menus</a:t>
            </a:r>
          </a:p>
          <a:p>
            <a:pPr lvl="1"/>
            <a:r>
              <a:rPr lang="en-US" dirty="0"/>
              <a:t>Based on repetitively giving user options </a:t>
            </a:r>
          </a:p>
          <a:p>
            <a:pPr lvl="1"/>
            <a:r>
              <a:rPr lang="en-US" dirty="0"/>
              <a:t>Stops when user enters a know ‘exit’ value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We will use the sentinel-based loops (with ‘exit’ value as our sentinel) when we implement a menu system</a:t>
            </a:r>
          </a:p>
        </p:txBody>
      </p:sp>
    </p:spTree>
    <p:extLst>
      <p:ext uri="{BB962C8B-B14F-4D97-AF65-F5344CB8AC3E}">
        <p14:creationId xmlns:p14="http://schemas.microsoft.com/office/powerpoint/2010/main" val="1637488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</p:txBody>
      </p:sp>
      <p:sp>
        <p:nvSpPr>
          <p:cNvPr id="4" name="Rectangle 3"/>
          <p:cNvSpPr/>
          <p:nvPr/>
        </p:nvSpPr>
        <p:spPr>
          <a:xfrm>
            <a:off x="990600" y="41148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396705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Flag-Based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These are used when you want to examine a collection of data to check for a </a:t>
            </a:r>
            <a:r>
              <a:rPr lang="en-US" b="1" i="1" dirty="0"/>
              <a:t>property</a:t>
            </a:r>
            <a:r>
              <a:rPr lang="en-US" dirty="0"/>
              <a:t>. Once a </a:t>
            </a:r>
            <a:r>
              <a:rPr lang="en-US" b="1" i="1" dirty="0"/>
              <a:t>property</a:t>
            </a:r>
            <a:r>
              <a:rPr lang="en-US" dirty="0"/>
              <a:t> has been established, it cannot be ‘unestablished’.</a:t>
            </a:r>
          </a:p>
          <a:p>
            <a:endParaRPr lang="en-US" dirty="0"/>
          </a:p>
          <a:p>
            <a:r>
              <a:rPr lang="en-US" dirty="0"/>
              <a:t>‘Once the flag is raised, it cannot be taken down’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07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US" dirty="0"/>
              <a:t>Flag-Based Loops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 a populated array of numbers, cycle over the array to see if any numbers are odd.</a:t>
            </a:r>
          </a:p>
          <a:p>
            <a:endParaRPr lang="en-US" dirty="0"/>
          </a:p>
          <a:p>
            <a:r>
              <a:rPr lang="en-US" dirty="0"/>
              <a:t>If you find:</a:t>
            </a:r>
          </a:p>
          <a:p>
            <a:pPr lvl="1"/>
            <a:r>
              <a:rPr lang="en-US" dirty="0"/>
              <a:t> At least one odd number, print out to the user that there is at least one odd number.</a:t>
            </a:r>
          </a:p>
          <a:p>
            <a:pPr lvl="1"/>
            <a:r>
              <a:rPr lang="en-US" dirty="0"/>
              <a:t>No odd numbers, inform the user of this.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70255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US" dirty="0"/>
              <a:t>Solution: check if ‘any numbers odd’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BC5A42-E498-66F0-A41B-BC0675894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87" y="1600201"/>
            <a:ext cx="10840626" cy="45259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472636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1981200" y="1600200"/>
            <a:ext cx="8229600" cy="4525963"/>
          </a:xfrm>
        </p:spPr>
        <p:txBody>
          <a:bodyPr/>
          <a:lstStyle/>
          <a:p>
            <a:pPr marL="0" indent="0" algn="ctr">
              <a:buNone/>
            </a:pPr>
            <a:r>
              <a:rPr lang="en-US" sz="4000" i="1" dirty="0"/>
              <a:t>What about having a</a:t>
            </a:r>
            <a:br>
              <a:rPr lang="en-US" sz="4000" i="1" dirty="0"/>
            </a:br>
            <a:r>
              <a:rPr lang="en-US" sz="4000" i="1" dirty="0"/>
              <a:t> </a:t>
            </a:r>
            <a:br>
              <a:rPr lang="en-US" sz="4000" i="1" dirty="0"/>
            </a:br>
            <a:r>
              <a:rPr lang="en-US" sz="4000" i="1" dirty="0"/>
              <a:t>flag-based loop in a method with a </a:t>
            </a:r>
            <a:br>
              <a:rPr lang="en-US" sz="4000" i="1" dirty="0"/>
            </a:br>
            <a:br>
              <a:rPr lang="en-US" sz="4000" i="1" dirty="0"/>
            </a:br>
            <a:r>
              <a:rPr lang="en-US" sz="4000" i="1" dirty="0" err="1"/>
              <a:t>boolean</a:t>
            </a:r>
            <a:r>
              <a:rPr lang="en-US" sz="4000" i="1" dirty="0"/>
              <a:t> return type?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7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98542" y="5033777"/>
            <a:ext cx="76200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Calling the method and handling the returned </a:t>
            </a:r>
            <a:r>
              <a:rPr lang="en-IE" sz="2400" dirty="0" err="1"/>
              <a:t>boolean</a:t>
            </a:r>
            <a:endParaRPr lang="en-IE" sz="2400" dirty="0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6781800" y="381000"/>
            <a:ext cx="5410200" cy="685800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r>
              <a:rPr lang="en-US" sz="2400" dirty="0"/>
              <a:t>Code with </a:t>
            </a:r>
            <a:r>
              <a:rPr lang="en-US" sz="2400" dirty="0" err="1"/>
              <a:t>boolean</a:t>
            </a:r>
            <a:r>
              <a:rPr lang="en-US" sz="2400" dirty="0"/>
              <a:t> return type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C13878-A2D6-F562-2320-25737192C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695" y="1066800"/>
            <a:ext cx="9584610" cy="39687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952379E-454B-235C-F88F-5B80CC2B6A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400" y="5562600"/>
            <a:ext cx="7772400" cy="1438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836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5A9D487F-3157-9FE9-7E30-C739B06EA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19" y="1600201"/>
            <a:ext cx="4525963" cy="45259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a-shop-v1</Template>
  <TotalTime>6633</TotalTime>
  <Words>869</Words>
  <Application>Microsoft Macintosh PowerPoint</Application>
  <PresentationFormat>Widescreen</PresentationFormat>
  <Paragraphs>115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a-processing-mouse-event-methods</vt:lpstr>
      <vt:lpstr>Menu Driven Apps</vt:lpstr>
      <vt:lpstr>Topics list</vt:lpstr>
      <vt:lpstr>Recap - Loop Control Variable</vt:lpstr>
      <vt:lpstr>Topics list</vt:lpstr>
      <vt:lpstr>Recap - Counter-Controlled for Loop</vt:lpstr>
      <vt:lpstr>Recap - Counter-Controlled Loops</vt:lpstr>
      <vt:lpstr>Recap - Counter-Controlled for Loop</vt:lpstr>
      <vt:lpstr>Topics list</vt:lpstr>
      <vt:lpstr>Sentinel-based loops</vt:lpstr>
      <vt:lpstr>Structure</vt:lpstr>
      <vt:lpstr>Try this exercise</vt:lpstr>
      <vt:lpstr>Solution</vt:lpstr>
      <vt:lpstr>Next step in the exercise</vt:lpstr>
      <vt:lpstr>Code with number of inputs</vt:lpstr>
      <vt:lpstr>Try this now - using arrays</vt:lpstr>
      <vt:lpstr>Solution – storing inputs</vt:lpstr>
      <vt:lpstr>Sentinel based loops and menus</vt:lpstr>
      <vt:lpstr>Topics list</vt:lpstr>
      <vt:lpstr>Flag-Based Loops</vt:lpstr>
      <vt:lpstr>Flag-Based Loops - example</vt:lpstr>
      <vt:lpstr>Solution: check if ‘any numbers odd’</vt:lpstr>
      <vt:lpstr>PowerPoint Presentation</vt:lpstr>
      <vt:lpstr>Code with boolean return type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Menu Driven Systems</dc:title>
  <dc:creator>Siobhan Drohan</dc:creator>
  <cp:lastModifiedBy>Mairead Meagher</cp:lastModifiedBy>
  <cp:revision>101</cp:revision>
  <dcterms:created xsi:type="dcterms:W3CDTF">2006-08-16T00:00:00Z</dcterms:created>
  <dcterms:modified xsi:type="dcterms:W3CDTF">2025-11-12T18:37:10Z</dcterms:modified>
</cp:coreProperties>
</file>