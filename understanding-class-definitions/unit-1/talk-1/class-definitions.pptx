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78" r:id="rId4"/>
    <p:sldId id="258" r:id="rId5"/>
    <p:sldId id="348" r:id="rId6"/>
    <p:sldId id="350" r:id="rId7"/>
    <p:sldId id="351" r:id="rId8"/>
    <p:sldId id="259" r:id="rId9"/>
    <p:sldId id="260" r:id="rId10"/>
    <p:sldId id="286" r:id="rId11"/>
    <p:sldId id="261" r:id="rId12"/>
    <p:sldId id="262" r:id="rId13"/>
    <p:sldId id="263" r:id="rId14"/>
    <p:sldId id="352" r:id="rId15"/>
    <p:sldId id="264" r:id="rId16"/>
    <p:sldId id="281" r:id="rId17"/>
    <p:sldId id="35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F5E"/>
    <a:srgbClr val="C81D2B"/>
    <a:srgbClr val="1A3170"/>
    <a:srgbClr val="A57133"/>
    <a:srgbClr val="007E4F"/>
    <a:srgbClr val="009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2.xml"/><Relationship Id="rId1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048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04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63EEF35E-136E-9848-81A3-81FC4CB5ACBD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7050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457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45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21DF6D3-2844-494B-BE5D-347BDDF11B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45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8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25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A505FE46-EE54-4B4E-9719-9BE6FC243183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4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252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66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66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378F90A-9381-8040-A980-0A2625F4C8C4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8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50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867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27A423C-2F31-A64B-98F4-2BE2E2995930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86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113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174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174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6C8CED3F-91D8-8545-A8A6-5EC7D5FF171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59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379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379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C7652629-C275-0C4D-8DEC-93027D00981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3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7456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58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58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B935509B-9BC9-2B42-B016-D97018AA8DC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845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789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78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C7EA08C-4245-DA4C-A56F-84B99985638D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948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096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09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BAD7F267-F486-8C42-8BE3-D38733D75DD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0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862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150146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26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56706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70393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9877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315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00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569111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252568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628586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0998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850764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788420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16456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54440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63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  <p:sldLayoutId id="2147483955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j-ea"/>
                <a:cs typeface="+mj-cs"/>
              </a:rPr>
              <a:t>Understanding class definitions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418712"/>
            <a:ext cx="10134430" cy="846384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Exploring source code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by:</a:t>
            </a:r>
            <a:endParaRPr lang="en-IE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>
                <a:ea typeface="+mj-ea"/>
                <a:cs typeface="+mj-cs"/>
              </a:rPr>
              <a:t>Main concepts to be covered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>
                <a:ea typeface="+mn-ea"/>
                <a:cs typeface="+mn-cs"/>
              </a:rPr>
              <a:t>fields</a:t>
            </a:r>
          </a:p>
          <a:p>
            <a:pPr eaLnBrk="1" hangingPunct="1">
              <a:defRPr/>
            </a:pPr>
            <a:r>
              <a:rPr lang="en-GB">
                <a:ea typeface="+mn-ea"/>
                <a:cs typeface="+mn-cs"/>
              </a:rPr>
              <a:t>constructors</a:t>
            </a:r>
          </a:p>
          <a:p>
            <a:pPr eaLnBrk="1" hangingPunct="1">
              <a:defRPr/>
            </a:pPr>
            <a:r>
              <a:rPr lang="en-GB">
                <a:ea typeface="+mn-ea"/>
                <a:cs typeface="+mn-cs"/>
              </a:rPr>
              <a:t>methods</a:t>
            </a:r>
          </a:p>
          <a:p>
            <a:pPr eaLnBrk="1" hangingPunct="1">
              <a:defRPr/>
            </a:pPr>
            <a:r>
              <a:rPr lang="en-GB">
                <a:ea typeface="+mn-ea"/>
                <a:cs typeface="+mn-cs"/>
              </a:rPr>
              <a:t>parameters</a:t>
            </a:r>
          </a:p>
          <a:p>
            <a:pPr eaLnBrk="1" hangingPunct="1">
              <a:defRPr/>
            </a:pPr>
            <a:r>
              <a:rPr lang="en-GB">
                <a:ea typeface="+mn-ea"/>
                <a:cs typeface="+mn-cs"/>
              </a:rPr>
              <a:t>assignment statements</a:t>
            </a:r>
          </a:p>
          <a:p>
            <a:pPr eaLnBrk="1" hangingPunct="1">
              <a:buFont typeface="Times" pitchFamily="-32" charset="0"/>
              <a:buNone/>
              <a:defRPr/>
            </a:pPr>
            <a:endParaRPr lang="en-GB"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Ticket machine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38F6C0-26D2-EA82-13C2-3118B215F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3681"/>
            <a:ext cx="5054352" cy="4525963"/>
          </a:xfrm>
        </p:spPr>
        <p:txBody>
          <a:bodyPr/>
          <a:lstStyle/>
          <a:p>
            <a:r>
              <a:rPr lang="en-IE" dirty="0"/>
              <a:t>This is a very simple Ticket machine.</a:t>
            </a:r>
          </a:p>
          <a:p>
            <a:r>
              <a:rPr lang="en-IE" dirty="0"/>
              <a:t>It prints a ticket when an amount of money is entered</a:t>
            </a:r>
          </a:p>
        </p:txBody>
      </p:sp>
      <p:pic>
        <p:nvPicPr>
          <p:cNvPr id="1028" name="Picture 4" descr="MCM100-TIK Mini Ticket Dispensing Machines">
            <a:extLst>
              <a:ext uri="{FF2B5EF4-FFF2-40B4-BE49-F238E27FC236}">
                <a16:creationId xmlns:a16="http://schemas.microsoft.com/office/drawing/2014/main" id="{A0E4C253-D365-8328-0361-684B4B3EB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1019162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ea typeface="MS PGothic" charset="-128"/>
              </a:rPr>
              <a:t>Ticket machines – an external view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>
                <a:ea typeface="MS PGothic" charset="-128"/>
              </a:rPr>
              <a:t>Exploring the </a:t>
            </a:r>
            <a:r>
              <a:rPr lang="en-US" altLang="en-US">
                <a:ea typeface="MS PGothic" charset="-128"/>
              </a:rPr>
              <a:t>behavior</a:t>
            </a:r>
            <a:r>
              <a:rPr lang="en-GB" altLang="en-US">
                <a:ea typeface="MS PGothic" charset="-128"/>
              </a:rPr>
              <a:t> of a typical ticket machine.</a:t>
            </a:r>
          </a:p>
          <a:p>
            <a:pPr lvl="1" eaLnBrk="1" hangingPunct="1"/>
            <a:r>
              <a:rPr lang="en-GB" altLang="en-US">
                <a:ea typeface="MS PGothic" charset="-128"/>
              </a:rPr>
              <a:t>Use the </a:t>
            </a:r>
            <a:r>
              <a:rPr lang="en-GB" altLang="en-US" i="1">
                <a:ea typeface="MS PGothic" charset="-128"/>
              </a:rPr>
              <a:t>naive-ticket-machine</a:t>
            </a:r>
            <a:r>
              <a:rPr lang="en-GB" altLang="en-US">
                <a:ea typeface="MS PGothic" charset="-128"/>
              </a:rPr>
              <a:t> project.</a:t>
            </a:r>
          </a:p>
          <a:p>
            <a:pPr lvl="1" eaLnBrk="1" hangingPunct="1"/>
            <a:r>
              <a:rPr lang="en-GB" altLang="en-US">
                <a:ea typeface="MS PGothic" charset="-128"/>
              </a:rPr>
              <a:t>Machines supply tickets of a fixed price.</a:t>
            </a:r>
          </a:p>
          <a:p>
            <a:pPr lvl="2" eaLnBrk="1" hangingPunct="1"/>
            <a:r>
              <a:rPr lang="en-GB" altLang="en-US">
                <a:ea typeface="MS PGothic" charset="-128"/>
              </a:rPr>
              <a:t>How is that price determined?</a:t>
            </a:r>
          </a:p>
          <a:p>
            <a:pPr lvl="1" eaLnBrk="1" hangingPunct="1"/>
            <a:r>
              <a:rPr lang="en-GB" altLang="en-US">
                <a:ea typeface="MS PGothic" charset="-128"/>
              </a:rPr>
              <a:t>How is </a:t>
            </a:r>
            <a:r>
              <a:rPr lang="en-GB" altLang="en-GB">
                <a:ea typeface="MS PGothic" charset="-128"/>
              </a:rPr>
              <a:t>‘</a:t>
            </a:r>
            <a:r>
              <a:rPr lang="en-GB" altLang="en-US">
                <a:ea typeface="MS PGothic" charset="-128"/>
              </a:rPr>
              <a:t>money</a:t>
            </a:r>
            <a:r>
              <a:rPr lang="en-GB" altLang="en-GB">
                <a:ea typeface="MS PGothic" charset="-128"/>
              </a:rPr>
              <a:t>’</a:t>
            </a:r>
            <a:r>
              <a:rPr lang="en-GB" altLang="en-US">
                <a:ea typeface="MS PGothic" charset="-128"/>
              </a:rPr>
              <a:t> entered into a machine?</a:t>
            </a:r>
          </a:p>
          <a:p>
            <a:pPr lvl="1" eaLnBrk="1" hangingPunct="1"/>
            <a:r>
              <a:rPr lang="en-GB" altLang="en-US">
                <a:ea typeface="MS PGothic" charset="-128"/>
              </a:rPr>
              <a:t>How does a machine keep track of the money that is entered?</a:t>
            </a:r>
          </a:p>
        </p:txBody>
      </p:sp>
      <p:pic>
        <p:nvPicPr>
          <p:cNvPr id="2" name="Picture 4" descr="MCM100-TIK Mini Ticket Dispensing Machines">
            <a:extLst>
              <a:ext uri="{FF2B5EF4-FFF2-40B4-BE49-F238E27FC236}">
                <a16:creationId xmlns:a16="http://schemas.microsoft.com/office/drawing/2014/main" id="{5C68D6FD-A511-2786-9C9A-B0C146D6C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627894"/>
            <a:ext cx="2801106" cy="280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394D-082D-5FC8-640C-BCF77F704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Ticket machine Example </a:t>
            </a:r>
            <a:endParaRPr lang="en-IE" dirty="0"/>
          </a:p>
        </p:txBody>
      </p:sp>
      <p:pic>
        <p:nvPicPr>
          <p:cNvPr id="5" name="Picture 4" descr="MCM100-TIK Mini Ticket Dispensing Machines">
            <a:extLst>
              <a:ext uri="{FF2B5EF4-FFF2-40B4-BE49-F238E27FC236}">
                <a16:creationId xmlns:a16="http://schemas.microsoft.com/office/drawing/2014/main" id="{D7AA7BC4-C80D-AC1A-3847-81B1F4E7B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700808"/>
            <a:ext cx="4169258" cy="416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B9A448-5AD9-FC0C-FA07-DDAAFFD2748D}"/>
              </a:ext>
            </a:extLst>
          </p:cNvPr>
          <p:cNvSpPr txBox="1"/>
          <p:nvPr/>
        </p:nvSpPr>
        <p:spPr>
          <a:xfrm>
            <a:off x="609600" y="2060848"/>
            <a:ext cx="30381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information do we need to store?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DA27D-B531-94CD-9832-A1C9C3C13541}"/>
              </a:ext>
            </a:extLst>
          </p:cNvPr>
          <p:cNvSpPr txBox="1"/>
          <p:nvPr/>
        </p:nvSpPr>
        <p:spPr>
          <a:xfrm>
            <a:off x="8256240" y="2132856"/>
            <a:ext cx="30381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can the Ticket Machine do?</a:t>
            </a:r>
          </a:p>
        </p:txBody>
      </p:sp>
    </p:spTree>
    <p:extLst>
      <p:ext uri="{BB962C8B-B14F-4D97-AF65-F5344CB8AC3E}">
        <p14:creationId xmlns:p14="http://schemas.microsoft.com/office/powerpoint/2010/main" val="232284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974AF-95A9-5192-F00B-8F75B72F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5826-361A-C409-7071-11DCDB37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Ticket machine Example</a:t>
            </a:r>
            <a:endParaRPr lang="en-IE" dirty="0"/>
          </a:p>
        </p:txBody>
      </p:sp>
      <p:pic>
        <p:nvPicPr>
          <p:cNvPr id="5" name="Picture 4" descr="MCM100-TIK Mini Ticket Dispensing Machines">
            <a:extLst>
              <a:ext uri="{FF2B5EF4-FFF2-40B4-BE49-F238E27FC236}">
                <a16:creationId xmlns:a16="http://schemas.microsoft.com/office/drawing/2014/main" id="{2FC9A461-A5F4-B83E-2B74-6A1AB5418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700808"/>
            <a:ext cx="4169258" cy="416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B456F9-B8D4-2FE1-C538-44488A68E353}"/>
              </a:ext>
            </a:extLst>
          </p:cNvPr>
          <p:cNvSpPr txBox="1"/>
          <p:nvPr/>
        </p:nvSpPr>
        <p:spPr>
          <a:xfrm>
            <a:off x="658276" y="1831535"/>
            <a:ext cx="30381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information do we need to store?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C7555-9F47-2601-189A-4D788604B2FD}"/>
              </a:ext>
            </a:extLst>
          </p:cNvPr>
          <p:cNvSpPr txBox="1"/>
          <p:nvPr/>
        </p:nvSpPr>
        <p:spPr>
          <a:xfrm>
            <a:off x="8256240" y="2132856"/>
            <a:ext cx="30381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can the Ticket Machine do?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5FA6F7-8918-98D6-92AE-6C851CB5867C}"/>
              </a:ext>
            </a:extLst>
          </p:cNvPr>
          <p:cNvSpPr txBox="1"/>
          <p:nvPr/>
        </p:nvSpPr>
        <p:spPr>
          <a:xfrm>
            <a:off x="514260" y="4275488"/>
            <a:ext cx="33261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Price of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Amount entered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Amount in machine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08859-33BC-49E4-B84B-5031343A256D}"/>
              </a:ext>
            </a:extLst>
          </p:cNvPr>
          <p:cNvSpPr txBox="1"/>
          <p:nvPr/>
        </p:nvSpPr>
        <p:spPr>
          <a:xfrm>
            <a:off x="7816986" y="4077072"/>
            <a:ext cx="33261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Accept Payment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Print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2235037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1F3F-AA81-1F0A-E3AA-AD9B95A9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D2C1-CC40-0FAF-9488-8BF0E940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Ticket machine Example</a:t>
            </a:r>
            <a:endParaRPr lang="en-IE" dirty="0"/>
          </a:p>
        </p:txBody>
      </p:sp>
      <p:pic>
        <p:nvPicPr>
          <p:cNvPr id="5" name="Picture 4" descr="MCM100-TIK Mini Ticket Dispensing Machines">
            <a:extLst>
              <a:ext uri="{FF2B5EF4-FFF2-40B4-BE49-F238E27FC236}">
                <a16:creationId xmlns:a16="http://schemas.microsoft.com/office/drawing/2014/main" id="{F944F444-2FC2-04D0-1053-BA8E21DBB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700808"/>
            <a:ext cx="4169258" cy="416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036CC7-56F0-E693-BD2F-3A6E60B51970}"/>
              </a:ext>
            </a:extLst>
          </p:cNvPr>
          <p:cNvSpPr txBox="1"/>
          <p:nvPr/>
        </p:nvSpPr>
        <p:spPr>
          <a:xfrm>
            <a:off x="658276" y="1831535"/>
            <a:ext cx="30381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information do we need to store?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86CC7D-18D1-D147-1A65-DB363A064D9C}"/>
              </a:ext>
            </a:extLst>
          </p:cNvPr>
          <p:cNvSpPr txBox="1"/>
          <p:nvPr/>
        </p:nvSpPr>
        <p:spPr>
          <a:xfrm>
            <a:off x="8256240" y="2132856"/>
            <a:ext cx="30381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can the Ticket Machine do?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4EF9F-5543-07EC-7331-0300D32C2CD6}"/>
              </a:ext>
            </a:extLst>
          </p:cNvPr>
          <p:cNvSpPr txBox="1"/>
          <p:nvPr/>
        </p:nvSpPr>
        <p:spPr>
          <a:xfrm>
            <a:off x="514260" y="4275488"/>
            <a:ext cx="332616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Price of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Number of tickets sold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Amount in machine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66ABB-0E30-7B27-87C8-447309D0CE14}"/>
              </a:ext>
            </a:extLst>
          </p:cNvPr>
          <p:cNvSpPr txBox="1"/>
          <p:nvPr/>
        </p:nvSpPr>
        <p:spPr>
          <a:xfrm>
            <a:off x="7816986" y="4077072"/>
            <a:ext cx="33261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Accept Payment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Print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F773A-566E-15C6-7199-6B9FF1AF1AFD}"/>
              </a:ext>
            </a:extLst>
          </p:cNvPr>
          <p:cNvSpPr/>
          <p:nvPr/>
        </p:nvSpPr>
        <p:spPr>
          <a:xfrm>
            <a:off x="1889157" y="1440541"/>
            <a:ext cx="17395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fields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E2DB71-41FB-E065-DA3A-57BC52CB8142}"/>
              </a:ext>
            </a:extLst>
          </p:cNvPr>
          <p:cNvSpPr/>
          <p:nvPr/>
        </p:nvSpPr>
        <p:spPr>
          <a:xfrm>
            <a:off x="8196935" y="1417638"/>
            <a:ext cx="272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571176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Ticket machines – an internal view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Interacting with an object gives us clues about its behavior.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Looking inside allows us to determine how that behavior is provided or implemented.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All Java classes have a similar-looking internal view.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Basic class structure</a:t>
            </a:r>
          </a:p>
        </p:txBody>
      </p:sp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2207568" y="2348880"/>
            <a:ext cx="41862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class </a:t>
            </a:r>
            <a:r>
              <a:rPr lang="en-US" altLang="en-US" sz="2000" dirty="0" err="1">
                <a:solidFill>
                  <a:schemeClr val="tx1"/>
                </a:solidFill>
                <a:latin typeface="Courier New" charset="0"/>
              </a:rPr>
              <a:t>TicketMachine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Inner part omitted.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27652" name="Text Box 5"/>
          <p:cNvSpPr txBox="1">
            <a:spLocks noChangeArrowheads="1"/>
          </p:cNvSpPr>
          <p:nvPr/>
        </p:nvSpPr>
        <p:spPr bwMode="auto">
          <a:xfrm>
            <a:off x="2217093" y="4028455"/>
            <a:ext cx="3570288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class </a:t>
            </a:r>
            <a:r>
              <a:rPr lang="en-US" altLang="en-US" sz="2000" i="1" dirty="0" err="1">
                <a:solidFill>
                  <a:schemeClr val="tx1"/>
                </a:solidFill>
                <a:latin typeface="Courier New" charset="0"/>
              </a:rPr>
              <a:t>ClassName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Fields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    Constructors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    Methods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27653" name="Line 9"/>
          <p:cNvSpPr>
            <a:spLocks noChangeShapeType="1"/>
          </p:cNvSpPr>
          <p:nvPr/>
        </p:nvSpPr>
        <p:spPr bwMode="auto">
          <a:xfrm flipH="1">
            <a:off x="6369993" y="2544139"/>
            <a:ext cx="495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Line 11"/>
          <p:cNvSpPr>
            <a:spLocks noChangeShapeType="1"/>
          </p:cNvSpPr>
          <p:nvPr/>
        </p:nvSpPr>
        <p:spPr bwMode="auto">
          <a:xfrm flipH="1">
            <a:off x="5074593" y="5136527"/>
            <a:ext cx="1790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AutoShape 13"/>
          <p:cNvSpPr>
            <a:spLocks noChangeArrowheads="1"/>
          </p:cNvSpPr>
          <p:nvPr/>
        </p:nvSpPr>
        <p:spPr bwMode="auto">
          <a:xfrm>
            <a:off x="6865293" y="2108254"/>
            <a:ext cx="3048000" cy="919401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r>
              <a:rPr lang="en-GB" altLang="en-US" b="0">
                <a:solidFill>
                  <a:srgbClr val="A57133"/>
                </a:solidFill>
              </a:rPr>
              <a:t>The outer wrapper of TicketMachine</a:t>
            </a:r>
          </a:p>
        </p:txBody>
      </p:sp>
      <p:sp>
        <p:nvSpPr>
          <p:cNvPr id="27656" name="AutoShape 14"/>
          <p:cNvSpPr>
            <a:spLocks noChangeArrowheads="1"/>
          </p:cNvSpPr>
          <p:nvPr/>
        </p:nvSpPr>
        <p:spPr bwMode="auto">
          <a:xfrm>
            <a:off x="6865293" y="4488827"/>
            <a:ext cx="2438400" cy="132715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r>
              <a:rPr lang="en-GB" altLang="en-US" b="0">
                <a:solidFill>
                  <a:srgbClr val="A57133"/>
                </a:solidFill>
              </a:rPr>
              <a:t>The inner contents of a class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Keywords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dirty="0">
                <a:ea typeface="MS PGothic" charset="-128"/>
              </a:rPr>
              <a:t>Words with a special meaning in the language: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public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class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private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int</a:t>
            </a:r>
          </a:p>
          <a:p>
            <a:r>
              <a:rPr lang="en-GB" altLang="en-US" dirty="0">
                <a:ea typeface="MS PGothic" charset="-128"/>
              </a:rPr>
              <a:t>Also known as </a:t>
            </a:r>
            <a:r>
              <a:rPr lang="en-GB" altLang="en-US" i="1" dirty="0">
                <a:ea typeface="MS PGothic" charset="-128"/>
              </a:rPr>
              <a:t>reserved words</a:t>
            </a:r>
            <a:r>
              <a:rPr lang="en-GB" altLang="en-US" dirty="0">
                <a:ea typeface="MS PGothic" charset="-128"/>
              </a:rPr>
              <a:t>.</a:t>
            </a:r>
          </a:p>
          <a:p>
            <a:r>
              <a:rPr lang="en-GB" altLang="en-US" dirty="0">
                <a:ea typeface="MS PGothic" charset="-128"/>
              </a:rPr>
              <a:t>Always entirely lower-case.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Fields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587" y="1988840"/>
            <a:ext cx="4448182" cy="417646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Fields store values for an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are also known as </a:t>
            </a:r>
            <a:r>
              <a:rPr lang="en-US" altLang="en-US" sz="2800" i="1" dirty="0">
                <a:ea typeface="MS PGothic" charset="-128"/>
              </a:rPr>
              <a:t>instance variables</a:t>
            </a:r>
            <a:r>
              <a:rPr lang="en-US" altLang="en-US" sz="2800" dirty="0">
                <a:ea typeface="MS PGothic" charset="-128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Fields define the state of an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Use </a:t>
            </a:r>
            <a:r>
              <a:rPr lang="en-US" altLang="en-US" sz="2800" i="1" dirty="0">
                <a:ea typeface="MS PGothic" charset="-128"/>
              </a:rPr>
              <a:t>Inspect</a:t>
            </a:r>
            <a:r>
              <a:rPr lang="en-US" altLang="en-US" sz="2800" dirty="0">
                <a:ea typeface="MS PGothic" charset="-128"/>
              </a:rPr>
              <a:t> to view the state.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Some values change often.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Some change rarely (or not at all).</a:t>
            </a:r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altLang="en-US" sz="1200">
              <a:solidFill>
                <a:srgbClr val="76807A"/>
              </a:solidFill>
              <a:latin typeface="Arial" charset="0"/>
            </a:endParaRPr>
          </a:p>
        </p:txBody>
      </p:sp>
      <p:sp>
        <p:nvSpPr>
          <p:cNvPr id="30724" name="Text Box 5"/>
          <p:cNvSpPr txBox="1">
            <a:spLocks noChangeArrowheads="1"/>
          </p:cNvSpPr>
          <p:nvPr/>
        </p:nvSpPr>
        <p:spPr bwMode="auto">
          <a:xfrm>
            <a:off x="6078537" y="1862711"/>
            <a:ext cx="4801314" cy="255454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class </a:t>
            </a:r>
            <a:r>
              <a:rPr lang="en-US" altLang="en-US" sz="2000" dirty="0" err="1">
                <a:solidFill>
                  <a:schemeClr val="tx1"/>
                </a:solidFill>
                <a:latin typeface="Courier New" charset="0"/>
              </a:rPr>
              <a:t>TicketMachine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total;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 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//</a:t>
            </a:r>
            <a:r>
              <a:rPr lang="en-US" altLang="en-US" sz="2000" i="1" dirty="0">
                <a:solidFill>
                  <a:schemeClr val="tx1"/>
                </a:solidFill>
                <a:latin typeface="Courier New" charset="0"/>
              </a:rPr>
              <a:t>Further details omitted.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30725" name="Text Box 6"/>
          <p:cNvSpPr txBox="1">
            <a:spLocks noChangeArrowheads="1"/>
          </p:cNvSpPr>
          <p:nvPr/>
        </p:nvSpPr>
        <p:spPr bwMode="auto">
          <a:xfrm>
            <a:off x="6743700" y="5486400"/>
            <a:ext cx="2954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private int price;</a:t>
            </a:r>
          </a:p>
        </p:txBody>
      </p:sp>
      <p:sp>
        <p:nvSpPr>
          <p:cNvPr id="30726" name="Text Box 7"/>
          <p:cNvSpPr txBox="1">
            <a:spLocks noChangeArrowheads="1"/>
          </p:cNvSpPr>
          <p:nvPr/>
        </p:nvSpPr>
        <p:spPr bwMode="auto">
          <a:xfrm>
            <a:off x="5783266" y="4775200"/>
            <a:ext cx="2206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30727" name="Text Box 8"/>
          <p:cNvSpPr txBox="1">
            <a:spLocks noChangeArrowheads="1"/>
          </p:cNvSpPr>
          <p:nvPr/>
        </p:nvSpPr>
        <p:spPr bwMode="auto">
          <a:xfrm>
            <a:off x="7967663" y="4572003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type</a:t>
            </a:r>
          </a:p>
        </p:txBody>
      </p:sp>
      <p:sp>
        <p:nvSpPr>
          <p:cNvPr id="30728" name="Text Box 9"/>
          <p:cNvSpPr txBox="1">
            <a:spLocks noChangeArrowheads="1"/>
          </p:cNvSpPr>
          <p:nvPr/>
        </p:nvSpPr>
        <p:spPr bwMode="auto">
          <a:xfrm>
            <a:off x="8610603" y="4775203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variable name</a:t>
            </a:r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>
            <a:off x="8305800" y="502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 flipH="1">
            <a:off x="8915400" y="51816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6705603" y="5105403"/>
            <a:ext cx="614363" cy="411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/>
      <p:bldP spid="30724" grpId="0" animBg="1"/>
      <p:bldP spid="30725" grpId="0"/>
      <p:bldP spid="30726" grpId="0"/>
      <p:bldP spid="30727" grpId="0"/>
      <p:bldP spid="30728" grpId="0"/>
      <p:bldP spid="30729" grpId="0" animBg="1"/>
      <p:bldP spid="30730" grpId="0" animBg="1"/>
      <p:bldP spid="307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Constructors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2132806"/>
            <a:ext cx="5400600" cy="3816473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3200" dirty="0" err="1">
                <a:ea typeface="MS PGothic" charset="-128"/>
              </a:rPr>
              <a:t>Initialise</a:t>
            </a:r>
            <a:r>
              <a:rPr lang="en-US" altLang="en-US" sz="3200" dirty="0">
                <a:ea typeface="MS PGothic" charset="-128"/>
              </a:rPr>
              <a:t> an object.</a:t>
            </a:r>
          </a:p>
          <a:p>
            <a:pPr eaLnBrk="1" hangingPunct="1"/>
            <a:r>
              <a:rPr lang="en-US" altLang="en-US" sz="3200" dirty="0">
                <a:ea typeface="MS PGothic" charset="-128"/>
              </a:rPr>
              <a:t>Have the same name as their class.</a:t>
            </a:r>
          </a:p>
          <a:p>
            <a:pPr eaLnBrk="1" hangingPunct="1"/>
            <a:r>
              <a:rPr lang="en-US" altLang="en-US" sz="3200" dirty="0">
                <a:ea typeface="MS PGothic" charset="-128"/>
              </a:rPr>
              <a:t>Close association with the fields:</a:t>
            </a:r>
          </a:p>
          <a:p>
            <a:pPr lvl="1" eaLnBrk="1" hangingPunct="1"/>
            <a:r>
              <a:rPr lang="en-US" altLang="en-US" sz="2800" dirty="0">
                <a:ea typeface="MS PGothic" charset="-128"/>
              </a:rPr>
              <a:t>Initial values stored into the fields.</a:t>
            </a:r>
          </a:p>
          <a:p>
            <a:pPr lvl="1" eaLnBrk="1" hangingPunct="1"/>
            <a:r>
              <a:rPr lang="en-US" altLang="en-US" sz="2800" dirty="0">
                <a:ea typeface="MS PGothic" charset="-128"/>
              </a:rPr>
              <a:t>Parameter values often used for these.</a:t>
            </a:r>
          </a:p>
        </p:txBody>
      </p:sp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6654488" y="2060848"/>
            <a:ext cx="4800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TicketMachine(int cost)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price = cost;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total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uild="p"/>
      <p:bldP spid="3277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Passing data via parameters</a:t>
            </a:r>
          </a:p>
        </p:txBody>
      </p:sp>
      <p:sp>
        <p:nvSpPr>
          <p:cNvPr id="34820" name="Text Box 6"/>
          <p:cNvSpPr txBox="1">
            <a:spLocks noChangeArrowheads="1"/>
          </p:cNvSpPr>
          <p:nvPr/>
        </p:nvSpPr>
        <p:spPr bwMode="auto">
          <a:xfrm>
            <a:off x="3359699" y="5589243"/>
            <a:ext cx="6408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>
                <a:solidFill>
                  <a:srgbClr val="1A3170"/>
                </a:solidFill>
              </a:rPr>
              <a:t>Parameters are another sort of variable.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96" y="2043286"/>
            <a:ext cx="6057900" cy="29591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/>
              <a:t>In Programming, variables:</a:t>
            </a:r>
          </a:p>
          <a:p>
            <a:pPr marL="0" indent="0">
              <a:buNone/>
            </a:pPr>
            <a:endParaRPr lang="en-IE" sz="2800"/>
          </a:p>
          <a:p>
            <a:r>
              <a:rPr lang="en-IE" sz="2800"/>
              <a:t>are created (defined) in your programs</a:t>
            </a:r>
          </a:p>
          <a:p>
            <a:r>
              <a:rPr lang="en-IE" sz="2800"/>
              <a:t>are used to store data (whose value can change over time)</a:t>
            </a:r>
          </a:p>
          <a:p>
            <a:r>
              <a:rPr lang="en-IE" sz="2800"/>
              <a:t>have a data type</a:t>
            </a:r>
          </a:p>
          <a:p>
            <a:r>
              <a:rPr lang="en-IE" sz="2800"/>
              <a:t>have a name</a:t>
            </a:r>
          </a:p>
          <a:p>
            <a:r>
              <a:rPr lang="en-IE" sz="2800"/>
              <a:t>are a VERY important programming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46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Assignment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1017584" y="1808162"/>
            <a:ext cx="9326887" cy="4752975"/>
          </a:xfrm>
        </p:spPr>
        <p:txBody>
          <a:bodyPr>
            <a:normAutofit fontScale="62500" lnSpcReduction="20000"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Values are stored into fields (and other variables) via assignment statements:</a:t>
            </a:r>
            <a:br>
              <a:rPr lang="en-US" altLang="en-US" sz="4000" dirty="0">
                <a:ea typeface="MS PGothic" charset="-128"/>
              </a:rPr>
            </a:br>
            <a:endParaRPr lang="en-US" altLang="en-US" sz="4000" dirty="0">
              <a:ea typeface="MS PGothic" charset="-128"/>
            </a:endParaRPr>
          </a:p>
          <a:p>
            <a:pPr lvl="1" eaLnBrk="1" hangingPunct="1"/>
            <a:r>
              <a:rPr lang="en-US" altLang="en-US" sz="3600" i="1" dirty="0">
                <a:ea typeface="MS PGothic" charset="-128"/>
              </a:rPr>
              <a:t>variable = expression;</a:t>
            </a:r>
            <a:br>
              <a:rPr lang="en-US" altLang="en-US" sz="3600" i="1" dirty="0">
                <a:ea typeface="MS PGothic" charset="-128"/>
              </a:rPr>
            </a:br>
            <a:endParaRPr lang="en-US" altLang="en-US" sz="3600" i="1" dirty="0">
              <a:ea typeface="MS PGothic" charset="-128"/>
            </a:endParaRPr>
          </a:p>
          <a:p>
            <a:pPr lvl="1" eaLnBrk="1" hangingPunct="1"/>
            <a:r>
              <a:rPr lang="en-US" altLang="en-US" sz="3600" b="1" dirty="0">
                <a:latin typeface="Courier New" charset="0"/>
                <a:ea typeface="MS PGothic" charset="-128"/>
              </a:rPr>
              <a:t>balance = balance + amount;</a:t>
            </a:r>
          </a:p>
          <a:p>
            <a:pPr lvl="1" eaLnBrk="1" hangingPunct="1"/>
            <a:endParaRPr lang="en-US" altLang="en-US" sz="3600" b="1" dirty="0">
              <a:latin typeface="Courier New" charset="0"/>
              <a:ea typeface="MS PGothic" charset="-128"/>
            </a:endParaRPr>
          </a:p>
          <a:p>
            <a:pPr marL="457200" lvl="1" indent="0" eaLnBrk="1" hangingPunct="1">
              <a:buNone/>
            </a:pPr>
            <a:endParaRPr lang="en-US" altLang="en-US" sz="3600" b="1" dirty="0">
              <a:latin typeface="Courier New" charset="0"/>
              <a:ea typeface="MS PGothic" charset="-128"/>
            </a:endParaRPr>
          </a:p>
          <a:p>
            <a:pPr eaLnBrk="1" hangingPunct="1"/>
            <a:r>
              <a:rPr lang="en-US" altLang="en-US" sz="4000" dirty="0">
                <a:ea typeface="MS PGothic" charset="-128"/>
              </a:rPr>
              <a:t>A variable can store just one value, so any previous value is lost.</a:t>
            </a:r>
          </a:p>
          <a:p>
            <a:r>
              <a:rPr lang="en-US" sz="4000" dirty="0"/>
              <a:t>Assignment statements work by taking the value of what appears on the right-hand side of the operator and copying that value into a variable on </a:t>
            </a:r>
            <a:r>
              <a:rPr lang="en-IE" sz="4000" dirty="0"/>
              <a:t>the left-hand side.</a:t>
            </a:r>
            <a:endParaRPr lang="en-US" sz="4000" dirty="0"/>
          </a:p>
          <a:p>
            <a:pPr eaLnBrk="1" hangingPunct="1"/>
            <a:endParaRPr lang="en-US" altLang="en-US" sz="4000" dirty="0">
              <a:ea typeface="MS PGothic" charset="-128"/>
            </a:endParaRPr>
          </a:p>
        </p:txBody>
      </p:sp>
      <p:sp>
        <p:nvSpPr>
          <p:cNvPr id="2" name="Cloud 1"/>
          <p:cNvSpPr/>
          <p:nvPr/>
        </p:nvSpPr>
        <p:spPr bwMode="auto">
          <a:xfrm>
            <a:off x="4799856" y="2708920"/>
            <a:ext cx="1943100" cy="647700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b="0" i="1" dirty="0">
                <a:solidFill>
                  <a:srgbClr val="FF6600"/>
                </a:solidFill>
                <a:latin typeface="+mn-lt"/>
                <a:ea typeface="ＭＳ Ｐゴシック" charset="0"/>
                <a:cs typeface="MS PGothic" charset="0"/>
              </a:rPr>
              <a:t>pattern</a:t>
            </a:r>
          </a:p>
        </p:txBody>
      </p:sp>
      <p:sp>
        <p:nvSpPr>
          <p:cNvPr id="6" name="Cloud 5"/>
          <p:cNvSpPr/>
          <p:nvPr/>
        </p:nvSpPr>
        <p:spPr bwMode="auto">
          <a:xfrm>
            <a:off x="6816080" y="3315979"/>
            <a:ext cx="2160587" cy="647700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b="0" i="1" dirty="0">
                <a:solidFill>
                  <a:srgbClr val="FF6600"/>
                </a:solidFill>
                <a:latin typeface="+mn-lt"/>
                <a:ea typeface="ＭＳ Ｐゴシック" charset="0"/>
                <a:cs typeface="MS PGothic" charset="0"/>
              </a:rPr>
              <a:t>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uiExpand="1" build="p"/>
      <p:bldP spid="2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Next concepts to be covered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1271464" y="1844824"/>
            <a:ext cx="9505056" cy="4267200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Methods, including:</a:t>
            </a:r>
          </a:p>
          <a:p>
            <a:pPr lvl="1" eaLnBrk="1" hangingPunct="1"/>
            <a:r>
              <a:rPr lang="en-US" altLang="en-US" i="1" dirty="0">
                <a:ea typeface="MS PGothic" charset="-128"/>
              </a:rPr>
              <a:t>accessor </a:t>
            </a:r>
            <a:r>
              <a:rPr lang="en-US" altLang="en-US" dirty="0">
                <a:ea typeface="MS PGothic" charset="-128"/>
              </a:rPr>
              <a:t>(</a:t>
            </a:r>
            <a:r>
              <a:rPr lang="en-US" altLang="en-US" i="1" dirty="0">
                <a:ea typeface="MS PGothic" charset="-128"/>
              </a:rPr>
              <a:t>getter</a:t>
            </a:r>
            <a:r>
              <a:rPr lang="en-US" altLang="en-US" dirty="0">
                <a:ea typeface="MS PGothic" charset="-128"/>
              </a:rPr>
              <a:t>) methods</a:t>
            </a:r>
          </a:p>
          <a:p>
            <a:pPr lvl="1" eaLnBrk="1" hangingPunct="1"/>
            <a:r>
              <a:rPr lang="en-US" altLang="en-US" i="1" dirty="0">
                <a:ea typeface="MS PGothic" charset="-128"/>
              </a:rPr>
              <a:t>mutator</a:t>
            </a:r>
            <a:r>
              <a:rPr lang="en-US" altLang="en-US" dirty="0">
                <a:ea typeface="MS PGothic" charset="-128"/>
              </a:rPr>
              <a:t> (</a:t>
            </a:r>
            <a:r>
              <a:rPr lang="en-US" altLang="en-US" i="1" dirty="0">
                <a:ea typeface="MS PGothic" charset="-128"/>
              </a:rPr>
              <a:t>setter</a:t>
            </a:r>
            <a:r>
              <a:rPr lang="en-US" altLang="en-US" dirty="0">
                <a:ea typeface="MS PGothic" charset="-128"/>
              </a:rPr>
              <a:t>) methods;</a:t>
            </a:r>
          </a:p>
          <a:p>
            <a:pPr marL="382588"/>
            <a:r>
              <a:rPr lang="en-US" altLang="en-US" dirty="0">
                <a:ea typeface="MS PGothic" charset="-128"/>
              </a:rPr>
              <a:t>String formatting;</a:t>
            </a:r>
          </a:p>
          <a:p>
            <a:pPr marL="382588"/>
            <a:r>
              <a:rPr lang="en-US" altLang="en-US" dirty="0">
                <a:ea typeface="MS PGothic" charset="-128"/>
              </a:rPr>
              <a:t>Conditional statements;</a:t>
            </a:r>
          </a:p>
          <a:p>
            <a:pPr marL="382588"/>
            <a:r>
              <a:rPr lang="en-US" altLang="en-US" dirty="0">
                <a:ea typeface="MS PGothic" charset="-128"/>
              </a:rPr>
              <a:t>Local variables.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CC6DF-A9A6-E5FF-46CD-0673045D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C003-4B4A-606C-627F-3EF5272D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CA4F6315-0241-2E9B-6A02-8502906E6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9206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classes</Template>
  <TotalTime>0</TotalTime>
  <Words>744</Words>
  <Application>Microsoft Office PowerPoint</Application>
  <PresentationFormat>Widescreen</PresentationFormat>
  <Paragraphs>168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MS PGothic</vt:lpstr>
      <vt:lpstr>Arial</vt:lpstr>
      <vt:lpstr>Calibri</vt:lpstr>
      <vt:lpstr>Courier New</vt:lpstr>
      <vt:lpstr>Times</vt:lpstr>
      <vt:lpstr>Times New Roman</vt:lpstr>
      <vt:lpstr>a-processing-mouse-event-methods</vt:lpstr>
      <vt:lpstr>Understanding class definitions</vt:lpstr>
      <vt:lpstr>Main concepts to be covered</vt:lpstr>
      <vt:lpstr>Ticket machine Example</vt:lpstr>
      <vt:lpstr>Ticket machines – an external view</vt:lpstr>
      <vt:lpstr>Ticket machine Example </vt:lpstr>
      <vt:lpstr>Ticket machine Example</vt:lpstr>
      <vt:lpstr>Ticket machine Example</vt:lpstr>
      <vt:lpstr>Ticket machines – an internal view</vt:lpstr>
      <vt:lpstr>Basic class structure</vt:lpstr>
      <vt:lpstr>Keywords</vt:lpstr>
      <vt:lpstr>Fields</vt:lpstr>
      <vt:lpstr>Constructors</vt:lpstr>
      <vt:lpstr>Passing data via parameters</vt:lpstr>
      <vt:lpstr>Variables</vt:lpstr>
      <vt:lpstr>Assignment</vt:lpstr>
      <vt:lpstr>Next concepts to be covered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Siobhan Roche</cp:lastModifiedBy>
  <cp:revision>178</cp:revision>
  <cp:lastPrinted>2003-09-01T07:04:41Z</cp:lastPrinted>
  <dcterms:created xsi:type="dcterms:W3CDTF">2009-04-22T19:24:48Z</dcterms:created>
  <dcterms:modified xsi:type="dcterms:W3CDTF">2025-09-16T13:48:08Z</dcterms:modified>
  <cp:category/>
</cp:coreProperties>
</file>