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8" r:id="rId3"/>
    <p:sldId id="273" r:id="rId4"/>
    <p:sldId id="296" r:id="rId5"/>
    <p:sldId id="285" r:id="rId6"/>
    <p:sldId id="284" r:id="rId7"/>
    <p:sldId id="300" r:id="rId8"/>
    <p:sldId id="295" r:id="rId9"/>
    <p:sldId id="274" r:id="rId10"/>
    <p:sldId id="297" r:id="rId11"/>
    <p:sldId id="275" r:id="rId12"/>
    <p:sldId id="276" r:id="rId13"/>
    <p:sldId id="298" r:id="rId14"/>
    <p:sldId id="277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04" d="100"/>
          <a:sy n="104" d="100"/>
        </p:scale>
        <p:origin x="138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57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FF930-7A3E-E440-99D2-D88CF4C2A3B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594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A42CBBF-813F-C24A-9B84-B001A2F9FD3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8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7873945-15D1-0D4D-A39F-AD56662E53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write method in BlueJ;</a:t>
            </a:r>
          </a:p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first: do it wrong</a:t>
            </a:r>
          </a:p>
        </p:txBody>
      </p:sp>
    </p:spTree>
    <p:extLst>
      <p:ext uri="{BB962C8B-B14F-4D97-AF65-F5344CB8AC3E}">
        <p14:creationId xmlns:p14="http://schemas.microsoft.com/office/powerpoint/2010/main" val="1089921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4180958-73CC-0144-BCE8-529C91825BE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07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70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70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A7C21A4-7154-284F-95B6-24ADE101CD5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149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90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90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D6D8DB9-229C-A142-9375-6DC2BBB50BD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598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921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921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42F78871-0436-0947-88D0-D12E443F6C0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14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22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5014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6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6706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0393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9877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1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0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6911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25256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2858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0998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5076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88420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6456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3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 3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Local variables. </a:t>
            </a:r>
          </a:p>
          <a:p>
            <a:pPr marL="382588"/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Variables – a recap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Fields are one sort of variable.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store values through the life of an object.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accessible throughout the class.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Parameters are another sort of variable: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receive values from outside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help a method complete its task.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Each call to the method receives a fresh set of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Parameter values are short lived.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Scope highlighting</a:t>
            </a:r>
          </a:p>
        </p:txBody>
      </p:sp>
      <p:pic>
        <p:nvPicPr>
          <p:cNvPr id="79874" name="Picture 5" descr="fig2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02" y="1628800"/>
            <a:ext cx="5690196" cy="48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>
                <a:ea typeface="MS PGothic" charset="-128"/>
              </a:rPr>
              <a:t>Scope and lifetime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Each block defines a new scope.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Class, method and statement.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Scopes may be nested: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statement block inside another block inside a method body inside a class body.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 is static (textual).</a:t>
            </a:r>
          </a:p>
          <a:p>
            <a:pPr marL="382588"/>
            <a:r>
              <a:rPr lang="en-US" altLang="en-US" dirty="0">
                <a:ea typeface="MS PGothic" charset="-128"/>
              </a:rPr>
              <a:t>Lifetime is dynamic (runtime).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C516-31C6-8219-05F9-CC7C5BE8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How could we write a method to ‘refund’ an excess balance?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return the value in balance.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set the balance to zero.</a:t>
            </a:r>
          </a:p>
          <a:p>
            <a:r>
              <a:rPr lang="en-US" dirty="0">
                <a:ea typeface="+mj-ea"/>
                <a:cs typeface="+mj-cs"/>
              </a:rPr>
              <a:t>How can we do the first without losing the value in balance?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Unsuccessful attempt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71664" y="1984654"/>
            <a:ext cx="66287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Return the amount left.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411" y="5445224"/>
            <a:ext cx="7463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It looks logical, but the language does not allow it.</a:t>
            </a:r>
          </a:p>
        </p:txBody>
      </p:sp>
    </p:spTree>
    <p:extLst>
      <p:ext uri="{BB962C8B-B14F-4D97-AF65-F5344CB8AC3E}">
        <p14:creationId xmlns:p14="http://schemas.microsoft.com/office/powerpoint/2010/main" val="110569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Local variables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ea typeface="MS PGothic" charset="-128"/>
              </a:rPr>
              <a:t>Methods can define their own, </a:t>
            </a:r>
            <a:r>
              <a:rPr lang="en-US" altLang="en-US" sz="3600" i="1" dirty="0">
                <a:ea typeface="MS PGothic" charset="-128"/>
              </a:rPr>
              <a:t>local</a:t>
            </a:r>
            <a:r>
              <a:rPr lang="en-US" altLang="en-US" sz="3600" dirty="0">
                <a:ea typeface="MS PGothic" charset="-128"/>
              </a:rPr>
              <a:t>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Short lived, like parameters.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method sets their values – unlike parameters, they do not receive external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Used for </a:t>
            </a:r>
            <a:r>
              <a:rPr lang="ja-JP" altLang="en-US" sz="3200">
                <a:ea typeface="MS PGothic" charset="-128"/>
              </a:rPr>
              <a:t>‘</a:t>
            </a:r>
            <a:r>
              <a:rPr lang="en-US" altLang="ja-JP" sz="3200" dirty="0">
                <a:ea typeface="MS PGothic" charset="-128"/>
              </a:rPr>
              <a:t>temporary</a:t>
            </a:r>
            <a:r>
              <a:rPr lang="ja-JP" altLang="en-US" sz="3200">
                <a:ea typeface="MS PGothic" charset="-128"/>
              </a:rPr>
              <a:t>’</a:t>
            </a:r>
            <a:r>
              <a:rPr lang="en-US" altLang="ja-JP" sz="3200" dirty="0">
                <a:ea typeface="MS PGothic" charset="-128"/>
              </a:rPr>
              <a:t> calculation and storage.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exist only as long as the method is being executed.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only accessible from within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defined within a particular </a:t>
            </a:r>
            <a:r>
              <a:rPr lang="en-US" altLang="en-US" sz="3200" i="1" dirty="0">
                <a:ea typeface="MS PGothic" charset="-128"/>
              </a:rPr>
              <a:t>scope</a:t>
            </a:r>
            <a:r>
              <a:rPr lang="en-US" altLang="en-US" sz="3200" dirty="0">
                <a:ea typeface="MS PGothic" charset="-128"/>
              </a:rPr>
              <a:t>.</a:t>
            </a:r>
          </a:p>
          <a:p>
            <a:endParaRPr lang="en-GB" altLang="en-US" sz="5400" dirty="0">
              <a:ea typeface="MS PGothic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Local variables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48200" y="2638428"/>
            <a:ext cx="641393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=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575434" y="3095382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b="0" dirty="0">
                <a:solidFill>
                  <a:srgbClr val="A57133"/>
                </a:solidFill>
              </a:rPr>
              <a:t>A local variable</a:t>
            </a: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1243553" y="3789040"/>
            <a:ext cx="2209800" cy="2362200"/>
          </a:xfrm>
          <a:prstGeom prst="irregularSeal1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703512" y="4509120"/>
            <a:ext cx="15327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No visibility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modifier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863752" y="3717032"/>
            <a:ext cx="1584176" cy="0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Scope and lifetime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scope of a field is its whole class.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lifetime of a field is the lifetime of its containing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scope of a local variable is the block in which it is declared.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lifetime of a local variable is the time of execution of the block in which it is declared.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(1)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ea typeface="MS PGothic" charset="-128"/>
              </a:rPr>
              <a:t>Class bodies contain fields, constructors and methods.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Fields store values that determine an object</a:t>
            </a:r>
            <a:r>
              <a:rPr lang="ja-JP" altLang="en-US" dirty="0">
                <a:ea typeface="MS PGothic" charset="-128"/>
              </a:rPr>
              <a:t>’</a:t>
            </a:r>
            <a:r>
              <a:rPr lang="en-US" altLang="ja-JP" dirty="0">
                <a:ea typeface="MS PGothic" charset="-128"/>
              </a:rPr>
              <a:t>s state.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Constructors </a:t>
            </a:r>
            <a:r>
              <a:rPr lang="en-US" altLang="en-US" dirty="0" err="1">
                <a:ea typeface="MS PGothic" charset="-128"/>
              </a:rPr>
              <a:t>initialise</a:t>
            </a:r>
            <a:r>
              <a:rPr lang="en-US" altLang="en-US" dirty="0">
                <a:ea typeface="MS PGothic" charset="-128"/>
              </a:rPr>
              <a:t> objects – particularly their fields.</a:t>
            </a:r>
          </a:p>
          <a:p>
            <a:pPr eaLnBrk="1" hangingPunct="1"/>
            <a:r>
              <a:rPr lang="en-US" altLang="en-US" dirty="0">
                <a:ea typeface="MS PGothic" charset="-128"/>
              </a:rPr>
              <a:t>Methods implement the behavior of objects.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Fields, parameters and local variables are all variables.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Fields persist for the lifetime of an object.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Local variables are used for short-lived temporary storage.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Parameters are used to receive values into a constructor or 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Review (3)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Methods have a return type.</a:t>
            </a:r>
          </a:p>
          <a:p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do not return anything.</a:t>
            </a:r>
          </a:p>
          <a:p>
            <a:r>
              <a:rPr lang="en-GB" altLang="en-US" dirty="0">
                <a:ea typeface="MS PGothic" charset="-128"/>
              </a:rPr>
              <a:t>non-</a:t>
            </a:r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always return a value.</a:t>
            </a:r>
          </a:p>
          <a:p>
            <a:r>
              <a:rPr lang="en-GB" altLang="en-US" dirty="0">
                <a:ea typeface="MS PGothic" charset="-128"/>
              </a:rPr>
              <a:t>non-</a:t>
            </a:r>
            <a:r>
              <a:rPr lang="en-GB" altLang="en-US" b="1" dirty="0"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GB" altLang="en-US" dirty="0">
                <a:ea typeface="MS PGothic" charset="-128"/>
              </a:rPr>
              <a:t> methods must have a return statement.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Review (4)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ja-JP" altLang="en-US">
                <a:ea typeface="MS PGothic" charset="-128"/>
              </a:rPr>
              <a:t>‘</a:t>
            </a:r>
            <a:r>
              <a:rPr lang="en-US" altLang="ja-JP">
                <a:ea typeface="MS PGothic" charset="-128"/>
              </a:rPr>
              <a:t>Correct</a:t>
            </a:r>
            <a:r>
              <a:rPr lang="ja-JP" altLang="en-US">
                <a:ea typeface="MS PGothic" charset="-128"/>
              </a:rPr>
              <a:t>’</a:t>
            </a:r>
            <a:r>
              <a:rPr lang="en-US" altLang="ja-JP">
                <a:ea typeface="MS PGothic" charset="-128"/>
              </a:rPr>
              <a:t> behavior often requires objects to make decisions.</a:t>
            </a:r>
          </a:p>
          <a:p>
            <a:pPr eaLnBrk="1" hangingPunct="1"/>
            <a:r>
              <a:rPr lang="en-US" altLang="en-US">
                <a:ea typeface="MS PGothic" charset="-128"/>
              </a:rPr>
              <a:t>Objects can make decisions via conditional (if) statements.</a:t>
            </a:r>
          </a:p>
          <a:p>
            <a:pPr eaLnBrk="1" hangingPunct="1"/>
            <a:r>
              <a:rPr lang="en-US" altLang="en-US">
                <a:ea typeface="MS PGothic" charset="-128"/>
              </a:rPr>
              <a:t>A true-or-false test allows one of two alternative courses of actions to be taken.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classes</Template>
  <TotalTime>0</TotalTime>
  <Words>682</Words>
  <Application>Microsoft Office PowerPoint</Application>
  <PresentationFormat>Widescreen</PresentationFormat>
  <Paragraphs>112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MS PGothic</vt:lpstr>
      <vt:lpstr>Arial</vt:lpstr>
      <vt:lpstr>Calibri</vt:lpstr>
      <vt:lpstr>Courier New</vt:lpstr>
      <vt:lpstr>Lucida Grande</vt:lpstr>
      <vt:lpstr>Times New Roman</vt:lpstr>
      <vt:lpstr>a-processing-mouse-event-methods</vt:lpstr>
      <vt:lpstr>Understanding class definitions 3</vt:lpstr>
      <vt:lpstr>Upcoming</vt:lpstr>
      <vt:lpstr>Variables – a recap</vt:lpstr>
      <vt:lpstr>Scope highlighting</vt:lpstr>
      <vt:lpstr>Scope and lifetime</vt:lpstr>
      <vt:lpstr>To think about</vt:lpstr>
      <vt:lpstr>Unsuccessful attempt</vt:lpstr>
      <vt:lpstr>Local variables</vt:lpstr>
      <vt:lpstr>Local variables</vt:lpstr>
      <vt:lpstr>Scope and lifetime</vt:lpstr>
      <vt:lpstr>Review (1)</vt:lpstr>
      <vt:lpstr>Review (2)</vt:lpstr>
      <vt:lpstr>Review (3)</vt:lpstr>
      <vt:lpstr>Review (4)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Siobhan Roche</cp:lastModifiedBy>
  <cp:revision>179</cp:revision>
  <cp:lastPrinted>2003-09-01T07:04:41Z</cp:lastPrinted>
  <dcterms:created xsi:type="dcterms:W3CDTF">2009-04-22T19:24:48Z</dcterms:created>
  <dcterms:modified xsi:type="dcterms:W3CDTF">2025-09-16T13:59:41Z</dcterms:modified>
  <cp:category/>
</cp:coreProperties>
</file>