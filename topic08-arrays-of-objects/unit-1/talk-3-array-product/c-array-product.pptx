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84" r:id="rId2"/>
    <p:sldId id="408" r:id="rId3"/>
    <p:sldId id="409" r:id="rId4"/>
    <p:sldId id="395" r:id="rId5"/>
    <p:sldId id="397" r:id="rId6"/>
    <p:sldId id="412" r:id="rId7"/>
    <p:sldId id="396" r:id="rId8"/>
    <p:sldId id="398" r:id="rId9"/>
    <p:sldId id="413" r:id="rId10"/>
    <p:sldId id="400" r:id="rId11"/>
    <p:sldId id="399" r:id="rId12"/>
    <p:sldId id="418" r:id="rId13"/>
    <p:sldId id="419" r:id="rId14"/>
    <p:sldId id="420" r:id="rId15"/>
    <p:sldId id="421" r:id="rId16"/>
    <p:sldId id="422" r:id="rId17"/>
    <p:sldId id="423" r:id="rId18"/>
    <p:sldId id="424" r:id="rId19"/>
    <p:sldId id="425" r:id="rId20"/>
    <p:sldId id="426" r:id="rId21"/>
    <p:sldId id="427" r:id="rId22"/>
    <p:sldId id="428" r:id="rId23"/>
    <p:sldId id="42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0FF"/>
    <a:srgbClr val="FDBBC5"/>
    <a:srgbClr val="F9CF8B"/>
    <a:srgbClr val="4F81BD"/>
    <a:srgbClr val="F79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29" autoAdjust="0"/>
    <p:restoredTop sz="82173"/>
  </p:normalViewPr>
  <p:slideViewPr>
    <p:cSldViewPr>
      <p:cViewPr varScale="1">
        <p:scale>
          <a:sx n="97" d="100"/>
          <a:sy n="97" d="100"/>
        </p:scale>
        <p:origin x="896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12/11/2025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prevent any other class from being able to change the field values</a:t>
            </a:r>
            <a:r>
              <a:rPr lang="en-GB" baseline="0" dirty="0"/>
              <a:t> </a:t>
            </a:r>
            <a:r>
              <a:rPr lang="mr-IN" baseline="0" dirty="0"/>
              <a:t>–</a:t>
            </a:r>
            <a:r>
              <a:rPr lang="en-GB" baseline="0" dirty="0"/>
              <a:t> must use getter / setter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6397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prevent any other class from being able to change the field values</a:t>
            </a:r>
            <a:r>
              <a:rPr lang="en-GB" baseline="0" dirty="0"/>
              <a:t> </a:t>
            </a:r>
            <a:r>
              <a:rPr lang="mr-IN" baseline="0" dirty="0"/>
              <a:t>–</a:t>
            </a:r>
            <a:r>
              <a:rPr lang="en-GB" baseline="0" dirty="0"/>
              <a:t> must use getter / setter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29179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public String toString</a:t>
            </a:r>
            <a:r>
              <a:rPr lang="en-GB" dirty="0"/>
              <a:t>(){</a:t>
            </a:r>
          </a:p>
          <a:p>
            <a:r>
              <a:rPr lang="en-GB" baseline="0" dirty="0"/>
              <a:t>    return “total: ” + total + “ \n” + </a:t>
            </a:r>
            <a:r>
              <a:rPr lang="en-GB" baseline="0" dirty="0" err="1"/>
              <a:t>this.listProducts</a:t>
            </a:r>
            <a:r>
              <a:rPr lang="en-GB" baseline="0" dirty="0"/>
              <a:t>();</a:t>
            </a:r>
            <a:endParaRPr lang="en-GB" dirty="0"/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65284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74530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5161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4309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33113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94242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14219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66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05D465-0CF2-0C9C-A87E-6B7186C8FB3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CED4B0-E360-94C5-E894-9ECD9897EE4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587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74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AA6AA3-C6AC-5B63-85A8-9838D4F5C98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769F9B-B370-19F1-20CC-5353713D882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772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4515DC-F7D2-3B8C-F35C-93EB5804B64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A9DB35-7C9B-4D21-BDA0-2748A5A96E8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8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EA7A8-55C2-AF44-F799-8607C22D503D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88F136-F3A1-C1F3-1EE3-7D4FE841270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442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90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6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13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873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3854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2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331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55349635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1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61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3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3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5017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Shop V2.0 – Introducing Store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90800"/>
            <a:ext cx="2857500" cy="285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0" y="288555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v2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84E9F-72AB-E84E-021B-00D2402F8AFE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B0426C-80B8-6CE6-91A7-F2C3F15C10A0}"/>
              </a:ext>
            </a:extLst>
          </p:cNvPr>
          <p:cNvSpPr txBox="1"/>
          <p:nvPr/>
        </p:nvSpPr>
        <p:spPr>
          <a:xfrm>
            <a:off x="3925972" y="3676471"/>
            <a:ext cx="3160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D7462E-1102-EAFB-9192-A2D698C37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</a:t>
            </a:r>
            <a:r>
              <a:rPr lang="en-IE" u="sng" dirty="0"/>
              <a:t>Shop V1.0 </a:t>
            </a:r>
            <a:r>
              <a:rPr lang="en-IE" dirty="0"/>
              <a:t>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333535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</a:t>
            </a:r>
            <a:r>
              <a:rPr lang="en-IE" u="sng" dirty="0"/>
              <a:t>Shop V1.0</a:t>
            </a:r>
            <a:r>
              <a:rPr lang="en-IE" dirty="0"/>
              <a:t>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752600"/>
            <a:ext cx="67818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/>
              <a:t>main()</a:t>
            </a:r>
            <a:r>
              <a:rPr lang="en-IE" dirty="0"/>
              <a:t> 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629400" y="1547019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382000" y="48768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8686800" y="2080420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5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</a:t>
            </a:r>
            <a:r>
              <a:rPr lang="en-IE" b="1" dirty="0"/>
              <a:t>V2.0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422503"/>
            <a:ext cx="8305800" cy="4525963"/>
          </a:xfrm>
        </p:spPr>
        <p:txBody>
          <a:bodyPr>
            <a:normAutofit/>
          </a:bodyPr>
          <a:lstStyle/>
          <a:p>
            <a:r>
              <a:rPr lang="en-IE" sz="2800" dirty="0"/>
              <a:t>New</a:t>
            </a:r>
            <a:r>
              <a:rPr lang="en-IE" sz="2800" b="1" dirty="0"/>
              <a:t> </a:t>
            </a:r>
            <a:r>
              <a:rPr lang="en-IE" sz="2800" b="1" dirty="0">
                <a:solidFill>
                  <a:srgbClr val="FF40FF"/>
                </a:solidFill>
              </a:rPr>
              <a:t>Store</a:t>
            </a:r>
            <a:r>
              <a:rPr lang="en-IE" sz="2800" dirty="0">
                <a:solidFill>
                  <a:srgbClr val="FF40FF"/>
                </a:solidFill>
              </a:rPr>
              <a:t> </a:t>
            </a:r>
            <a:r>
              <a:rPr lang="en-IE" sz="2800" dirty="0"/>
              <a:t>class is responsible for maintaining a collection of Products </a:t>
            </a:r>
          </a:p>
          <a:p>
            <a:pPr lvl="1"/>
            <a:r>
              <a:rPr lang="en-IE" sz="2400" dirty="0"/>
              <a:t>i.e. an </a:t>
            </a:r>
            <a:r>
              <a:rPr lang="en-IE" sz="2400" b="1" dirty="0"/>
              <a:t>array of Products</a:t>
            </a:r>
            <a:r>
              <a:rPr lang="en-IE" sz="2400" dirty="0"/>
              <a:t>.  </a:t>
            </a:r>
          </a:p>
          <a:p>
            <a:r>
              <a:rPr lang="en-IE" sz="2800" b="1" dirty="0">
                <a:solidFill>
                  <a:srgbClr val="F79646"/>
                </a:solidFill>
              </a:rPr>
              <a:t>Driver</a:t>
            </a:r>
            <a:r>
              <a:rPr lang="en-IE" sz="2800" b="1" dirty="0">
                <a:solidFill>
                  <a:srgbClr val="FF0000"/>
                </a:solidFill>
              </a:rPr>
              <a:t> </a:t>
            </a:r>
            <a:r>
              <a:rPr lang="en-IE" sz="2800" dirty="0"/>
              <a:t>will now allow the user to decide </a:t>
            </a:r>
            <a:r>
              <a:rPr lang="en-IE" sz="2800" b="1" dirty="0"/>
              <a:t>how many product </a:t>
            </a:r>
            <a:r>
              <a:rPr lang="en-IE" sz="2800" dirty="0"/>
              <a:t>details they want to store. </a:t>
            </a:r>
          </a:p>
          <a:p>
            <a:pPr marL="0" indent="0">
              <a:buNone/>
            </a:pPr>
            <a:endParaRPr lang="en-IE" sz="28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413188" y="3994944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153400" y="5889625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7255224" y="5484827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936777" y="4883748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4114800" y="4436103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20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</a:t>
            </a:r>
            <a:r>
              <a:rPr lang="en-IE" b="1" dirty="0"/>
              <a:t>V2.0</a:t>
            </a:r>
            <a:r>
              <a:rPr lang="en-IE" dirty="0"/>
              <a:t>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changes</a:t>
            </a:r>
            <a:r>
              <a:rPr lang="en-IE" dirty="0"/>
              <a:t> to classes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2429411" y="2907509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Some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B01D25-63AE-43E3-9549-7E0C06EFE8F2}"/>
              </a:ext>
            </a:extLst>
          </p:cNvPr>
          <p:cNvSpPr txBox="1">
            <a:spLocks/>
          </p:cNvSpPr>
          <p:nvPr/>
        </p:nvSpPr>
        <p:spPr>
          <a:xfrm>
            <a:off x="4953000" y="4072030"/>
            <a:ext cx="2318446" cy="948813"/>
          </a:xfrm>
          <a:prstGeom prst="rect">
            <a:avLst/>
          </a:prstGeom>
          <a:solidFill>
            <a:srgbClr val="FF40FF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dirty="0"/>
              <a:t>This is a </a:t>
            </a:r>
            <a:r>
              <a:rPr lang="en-IE" sz="2800" b="1" dirty="0"/>
              <a:t>new</a:t>
            </a:r>
            <a:endParaRPr lang="en-IE" sz="28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IE" sz="2800" b="1" dirty="0">
                <a:solidFill>
                  <a:schemeClr val="bg1"/>
                </a:solidFill>
              </a:rPr>
              <a:t>Store</a:t>
            </a:r>
            <a:r>
              <a:rPr lang="en-IE" sz="2800" b="1" dirty="0">
                <a:solidFill>
                  <a:srgbClr val="FF40FF"/>
                </a:solidFill>
              </a:rPr>
              <a:t> </a:t>
            </a:r>
            <a:r>
              <a:rPr lang="en-IE" sz="2800" dirty="0">
                <a:solidFill>
                  <a:schemeClr val="tx1"/>
                </a:solidFill>
              </a:rPr>
              <a:t>class</a:t>
            </a:r>
            <a:endParaRPr lang="en-IE" sz="2800" dirty="0">
              <a:solidFill>
                <a:srgbClr val="FF40FF"/>
              </a:solidFill>
            </a:endParaRP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2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429411" y="1854397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13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169623" y="3749078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14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271447" y="3344280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953000" y="2743201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16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131023" y="2295556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8169623" y="4715868"/>
            <a:ext cx="1981200" cy="389533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No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80" y="5238441"/>
            <a:ext cx="2048086" cy="122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27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D77683-A0F2-6B43-334F-8C09BE71E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029" y="1752600"/>
            <a:ext cx="5902457" cy="4334617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3F9C41-2609-4AD5-9C74-A43B8005AC9E}"/>
              </a:ext>
            </a:extLst>
          </p:cNvPr>
          <p:cNvSpPr/>
          <p:nvPr/>
        </p:nvSpPr>
        <p:spPr>
          <a:xfrm>
            <a:off x="6400800" y="228600"/>
            <a:ext cx="4191000" cy="1295400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Store</a:t>
            </a:r>
            <a:r>
              <a:rPr lang="en-IE" sz="4000" dirty="0"/>
              <a:t> – new class</a:t>
            </a:r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4018551" y="3850203"/>
            <a:ext cx="4154898" cy="381000"/>
          </a:xfrm>
          <a:prstGeom prst="round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4077316" y="2673348"/>
            <a:ext cx="5523884" cy="948255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/>
          <p:cNvSpPr txBox="1"/>
          <p:nvPr/>
        </p:nvSpPr>
        <p:spPr>
          <a:xfrm>
            <a:off x="1191819" y="3801276"/>
            <a:ext cx="1676400" cy="4001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819" y="2747365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  <a:stCxn id="10" idx="3"/>
          </p:cNvCxnSpPr>
          <p:nvPr/>
        </p:nvCxnSpPr>
        <p:spPr>
          <a:xfrm>
            <a:off x="2868219" y="2947420"/>
            <a:ext cx="1150332" cy="0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A10D680-3384-1482-4672-F0ACD9FA87E3}"/>
              </a:ext>
            </a:extLst>
          </p:cNvPr>
          <p:cNvCxnSpPr>
            <a:cxnSpLocks/>
          </p:cNvCxnSpPr>
          <p:nvPr/>
        </p:nvCxnSpPr>
        <p:spPr>
          <a:xfrm>
            <a:off x="2870641" y="4046084"/>
            <a:ext cx="1147910" cy="0"/>
          </a:xfrm>
          <a:prstGeom prst="straightConnector1">
            <a:avLst/>
          </a:prstGeom>
          <a:ln w="53975">
            <a:solidFill>
              <a:schemeClr val="accent2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95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5B4228-EC7A-4A8F-634E-C591C4625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602" y="1936751"/>
            <a:ext cx="5902457" cy="4334617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3F9C41-2609-4AD5-9C74-A43B8005AC9E}"/>
              </a:ext>
            </a:extLst>
          </p:cNvPr>
          <p:cNvSpPr/>
          <p:nvPr/>
        </p:nvSpPr>
        <p:spPr>
          <a:xfrm>
            <a:off x="6400800" y="228600"/>
            <a:ext cx="4191000" cy="1295400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Store</a:t>
            </a:r>
            <a:r>
              <a:rPr lang="en-IE" sz="4000" dirty="0"/>
              <a:t> – new class</a:t>
            </a:r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4076578" y="3809999"/>
            <a:ext cx="4154898" cy="75495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4076578" y="2804722"/>
            <a:ext cx="4124666" cy="853760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/>
          <p:cNvSpPr txBox="1"/>
          <p:nvPr/>
        </p:nvSpPr>
        <p:spPr>
          <a:xfrm>
            <a:off x="1288617" y="4132367"/>
            <a:ext cx="1676400" cy="40011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8617" y="2804722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2750571" y="5198490"/>
            <a:ext cx="1264761" cy="6898"/>
          </a:xfrm>
          <a:prstGeom prst="straightConnector1">
            <a:avLst/>
          </a:prstGeom>
          <a:ln w="28575">
            <a:solidFill>
              <a:schemeClr val="accent2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>
            <a:off x="3003096" y="3008005"/>
            <a:ext cx="1021855" cy="0"/>
          </a:xfrm>
          <a:prstGeom prst="straightConnector1">
            <a:avLst/>
          </a:prstGeom>
          <a:ln w="28575">
            <a:solidFill>
              <a:schemeClr val="accent6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</p:cNvCxnSpPr>
          <p:nvPr/>
        </p:nvCxnSpPr>
        <p:spPr>
          <a:xfrm>
            <a:off x="2332089" y="5860121"/>
            <a:ext cx="1442525" cy="0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3952096" y="4785998"/>
            <a:ext cx="4162643" cy="56472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TextBox 19"/>
          <p:cNvSpPr txBox="1"/>
          <p:nvPr/>
        </p:nvSpPr>
        <p:spPr>
          <a:xfrm>
            <a:off x="1304134" y="5634949"/>
            <a:ext cx="1669983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Like </a:t>
            </a:r>
            <a:r>
              <a:rPr lang="en-IE" sz="2000" b="1" dirty="0" err="1"/>
              <a:t>toString</a:t>
            </a:r>
            <a:endParaRPr lang="en-IE" sz="2000" dirty="0"/>
          </a:p>
        </p:txBody>
      </p:sp>
      <p:cxnSp>
        <p:nvCxnSpPr>
          <p:cNvPr id="22" name="Straight Arrow Connector 21"/>
          <p:cNvCxnSpPr>
            <a:cxnSpLocks/>
          </p:cNvCxnSpPr>
          <p:nvPr/>
        </p:nvCxnSpPr>
        <p:spPr>
          <a:xfrm>
            <a:off x="2873745" y="4406886"/>
            <a:ext cx="114063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3928905" y="5660066"/>
            <a:ext cx="4162643" cy="56472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9590D8F-2A1D-FAD2-DDD0-4942A5E59F51}"/>
              </a:ext>
            </a:extLst>
          </p:cNvPr>
          <p:cNvSpPr txBox="1"/>
          <p:nvPr/>
        </p:nvSpPr>
        <p:spPr>
          <a:xfrm>
            <a:off x="828030" y="4998435"/>
            <a:ext cx="2138187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private methods</a:t>
            </a:r>
            <a:endParaRPr lang="en-IE" sz="2000" dirty="0"/>
          </a:p>
        </p:txBody>
      </p:sp>
    </p:spTree>
    <p:extLst>
      <p:ext uri="{BB962C8B-B14F-4D97-AF65-F5344CB8AC3E}">
        <p14:creationId xmlns:p14="http://schemas.microsoft.com/office/powerpoint/2010/main" val="400963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9" grpId="0" animBg="1"/>
      <p:bldP spid="20" grpId="0" animBg="1"/>
      <p:bldP spid="24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A5F65F-BB92-DFDD-C10F-FFA8FB1EC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718" y="346671"/>
            <a:ext cx="5690587" cy="4179025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E56E41A1-8747-4CDA-B7A3-6843BCBE68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1112" y="2671616"/>
            <a:ext cx="6555229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Product[]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int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= 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//other methods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6879882" y="1454174"/>
            <a:ext cx="2949918" cy="661524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5781518" y="3382210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4" name="Straight Arrow Connector 13"/>
          <p:cNvCxnSpPr>
            <a:cxnSpLocks/>
            <a:stCxn id="12" idx="1"/>
          </p:cNvCxnSpPr>
          <p:nvPr/>
        </p:nvCxnSpPr>
        <p:spPr>
          <a:xfrm flipH="1">
            <a:off x="6627788" y="1784936"/>
            <a:ext cx="252094" cy="2034053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1614681" y="3314504"/>
            <a:ext cx="4114800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269381" y="2900402"/>
            <a:ext cx="1600562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/>
              <a:t>Why </a:t>
            </a:r>
            <a:r>
              <a:rPr lang="en-IE" sz="2000" dirty="0"/>
              <a:t>private?</a:t>
            </a:r>
          </a:p>
        </p:txBody>
      </p:sp>
      <p:pic>
        <p:nvPicPr>
          <p:cNvPr id="18" name="Picture 17" descr="Image result for questi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5545" l="7600" r="92400">
                        <a14:foregroundMark x1="61600" y1="2475" x2="64000" y2="84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815" y="2301751"/>
            <a:ext cx="834363" cy="67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33DF5F-8FA8-4F73-342D-BB8B17A7846C}"/>
              </a:ext>
            </a:extLst>
          </p:cNvPr>
          <p:cNvSpPr txBox="1"/>
          <p:nvPr/>
        </p:nvSpPr>
        <p:spPr>
          <a:xfrm>
            <a:off x="10922924" y="40566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CF6474-676F-5017-4A0F-55E67EF47584}"/>
              </a:ext>
            </a:extLst>
          </p:cNvPr>
          <p:cNvSpPr txBox="1"/>
          <p:nvPr/>
        </p:nvSpPr>
        <p:spPr>
          <a:xfrm>
            <a:off x="10756669" y="4156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63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33283B-6065-61D8-66FC-92594CC33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1882" y="-481632"/>
            <a:ext cx="3726259" cy="4334617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8C06D88D-593E-4F33-B485-1C04E82A9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1" y="2590801"/>
            <a:ext cx="6555229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Product[]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int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= 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//other methods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7804370" y="1672248"/>
            <a:ext cx="2630898" cy="304800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TextBox 9"/>
          <p:cNvSpPr txBox="1"/>
          <p:nvPr/>
        </p:nvSpPr>
        <p:spPr>
          <a:xfrm>
            <a:off x="8541643" y="4255039"/>
            <a:ext cx="167640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7703126" y="743914"/>
            <a:ext cx="2666191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852409" y="3257670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4" name="Straight Arrow Connector 13"/>
          <p:cNvCxnSpPr>
            <a:cxnSpLocks/>
            <a:stCxn id="12" idx="1"/>
          </p:cNvCxnSpPr>
          <p:nvPr/>
        </p:nvCxnSpPr>
        <p:spPr>
          <a:xfrm flipH="1">
            <a:off x="7239418" y="1011675"/>
            <a:ext cx="463708" cy="2196195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2590800" y="3207870"/>
            <a:ext cx="4114800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2590800" y="3962580"/>
            <a:ext cx="5867400" cy="970232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814215" y="3582265"/>
            <a:ext cx="1600562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/>
              <a:t>Why </a:t>
            </a:r>
            <a:r>
              <a:rPr lang="en-IE" sz="2000" dirty="0"/>
              <a:t>private?</a:t>
            </a:r>
          </a:p>
        </p:txBody>
      </p:sp>
      <p:pic>
        <p:nvPicPr>
          <p:cNvPr id="18" name="Picture 17" descr="Image result for questi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5545" l="7600" r="92400">
                        <a14:foregroundMark x1="61600" y1="2475" x2="64000" y2="84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649" y="2983614"/>
            <a:ext cx="834363" cy="67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BD8E35-4F86-B1EF-4262-9F84013E2BFE}"/>
              </a:ext>
            </a:extLst>
          </p:cNvPr>
          <p:cNvCxnSpPr>
            <a:cxnSpLocks/>
          </p:cNvCxnSpPr>
          <p:nvPr/>
        </p:nvCxnSpPr>
        <p:spPr>
          <a:xfrm flipH="1">
            <a:off x="7623734" y="1977048"/>
            <a:ext cx="846376" cy="2238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166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2" grpId="0" animBg="1"/>
      <p:bldP spid="13" grpId="0" animBg="1"/>
      <p:bldP spid="16" grpId="0" animBg="1"/>
      <p:bldP spid="20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611948-5F98-6E36-A69D-5DF396E6A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415" y="-11717"/>
            <a:ext cx="3398569" cy="333346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E56E41A1-8747-4CDA-B7A3-6843BCBE68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288" y="1639794"/>
            <a:ext cx="5974713" cy="5078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isFull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alt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add(Product product){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isFull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false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product;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true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7772401" y="2173932"/>
            <a:ext cx="3276599" cy="72913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1" name="TextBox 20"/>
          <p:cNvSpPr txBox="1"/>
          <p:nvPr/>
        </p:nvSpPr>
        <p:spPr>
          <a:xfrm>
            <a:off x="7772401" y="5563904"/>
            <a:ext cx="2667360" cy="1015663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set</a:t>
            </a:r>
            <a:r>
              <a:rPr lang="en-IE" sz="2000" dirty="0"/>
              <a:t>ter</a:t>
            </a:r>
            <a:r>
              <a:rPr lang="en-IE" sz="2000" b="1" dirty="0"/>
              <a:t> </a:t>
            </a:r>
          </a:p>
          <a:p>
            <a:r>
              <a:rPr lang="en-IE" sz="2000" b="1" dirty="0"/>
              <a:t>add()</a:t>
            </a:r>
            <a:r>
              <a:rPr lang="en-IE" sz="2000" dirty="0"/>
              <a:t> makes use of private method </a:t>
            </a:r>
            <a:r>
              <a:rPr lang="en-IE" sz="2000" b="1" dirty="0" err="1"/>
              <a:t>isFull</a:t>
            </a:r>
            <a:r>
              <a:rPr lang="en-IE" sz="2000" b="1" dirty="0"/>
              <a:t>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1" y="3263990"/>
            <a:ext cx="2667360" cy="1938992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get</a:t>
            </a:r>
            <a:r>
              <a:rPr lang="en-IE" sz="2000" dirty="0"/>
              <a:t>ters</a:t>
            </a:r>
          </a:p>
          <a:p>
            <a:r>
              <a:rPr lang="en-IE" sz="2000" b="1" dirty="0" err="1"/>
              <a:t>isFull</a:t>
            </a:r>
            <a:r>
              <a:rPr lang="en-IE" sz="2000" b="1" dirty="0"/>
              <a:t>()</a:t>
            </a:r>
            <a:r>
              <a:rPr lang="en-IE" sz="2000" dirty="0"/>
              <a:t> &amp; </a:t>
            </a:r>
            <a:r>
              <a:rPr lang="en-IE" sz="2000" b="1" dirty="0" err="1"/>
              <a:t>isEmpty</a:t>
            </a:r>
            <a:r>
              <a:rPr lang="en-IE" sz="2000" b="1" dirty="0"/>
              <a:t>()</a:t>
            </a:r>
            <a:r>
              <a:rPr lang="en-IE" sz="2000" dirty="0"/>
              <a:t> return state of fields.</a:t>
            </a:r>
          </a:p>
          <a:p>
            <a:br>
              <a:rPr lang="en-IE" sz="2000" dirty="0"/>
            </a:br>
            <a:r>
              <a:rPr lang="en-IE" sz="2000" dirty="0"/>
              <a:t>They are private member methods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191109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FB6794C-EC2E-4787-98D6-728E07249857}"/>
              </a:ext>
            </a:extLst>
          </p:cNvPr>
          <p:cNvSpPr/>
          <p:nvPr/>
        </p:nvSpPr>
        <p:spPr>
          <a:xfrm>
            <a:off x="1905000" y="2209800"/>
            <a:ext cx="8305800" cy="397031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"No products"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String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+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\n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I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8D4A9D-052F-5612-1D32-201B7A77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9571" y="-276550"/>
            <a:ext cx="5902457" cy="4334617"/>
          </a:xfrm>
          <a:prstGeom prst="rect">
            <a:avLst/>
          </a:prstGeom>
        </p:spPr>
      </p:pic>
      <p:sp>
        <p:nvSpPr>
          <p:cNvPr id="7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7572157" y="3438698"/>
            <a:ext cx="3019643" cy="34439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/>
          <p:cNvSpPr txBox="1"/>
          <p:nvPr/>
        </p:nvSpPr>
        <p:spPr>
          <a:xfrm>
            <a:off x="6100109" y="5906334"/>
            <a:ext cx="4339652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dirty="0" err="1"/>
              <a:t>toString</a:t>
            </a:r>
            <a:r>
              <a:rPr lang="en-IE" sz="2000" b="1" dirty="0"/>
              <a:t> </a:t>
            </a:r>
            <a:r>
              <a:rPr lang="en-IE" sz="2000" dirty="0"/>
              <a:t>type method</a:t>
            </a:r>
            <a:r>
              <a:rPr lang="en-IE" sz="2000" b="1" dirty="0"/>
              <a:t> </a:t>
            </a:r>
            <a:r>
              <a:rPr lang="en-IE" sz="2000" b="1" dirty="0" err="1"/>
              <a:t>listProducts</a:t>
            </a:r>
            <a:r>
              <a:rPr lang="en-IE" sz="2000" b="1" dirty="0"/>
              <a:t>() </a:t>
            </a:r>
            <a:r>
              <a:rPr lang="en-IE" sz="2000" dirty="0"/>
              <a:t>makes use of private method </a:t>
            </a:r>
            <a:r>
              <a:rPr lang="en-IE" sz="2000" b="1" dirty="0" err="1"/>
              <a:t>isEmpty</a:t>
            </a:r>
            <a:r>
              <a:rPr lang="en-IE" sz="2000" b="1" dirty="0"/>
              <a:t>()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4061302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8981B-7BDF-2AB8-7754-B7E60CE3C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AA08107-3AF0-1D6D-27A9-D81CF38C7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766" y="1485883"/>
            <a:ext cx="5400774" cy="385327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78C595-4CAB-3B19-9EED-6153BE3D93EE}"/>
              </a:ext>
            </a:extLst>
          </p:cNvPr>
          <p:cNvSpPr/>
          <p:nvPr/>
        </p:nvSpPr>
        <p:spPr>
          <a:xfrm>
            <a:off x="5045993" y="206570"/>
            <a:ext cx="2743200" cy="1143000"/>
          </a:xfrm>
          <a:prstGeom prst="round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1) Product</a:t>
            </a:r>
            <a:r>
              <a:rPr lang="en-IE" sz="2000" dirty="0"/>
              <a:t> object removed and replaced with </a:t>
            </a:r>
            <a:r>
              <a:rPr lang="en-IE" sz="2000" b="1" dirty="0"/>
              <a:t>Store</a:t>
            </a:r>
            <a:r>
              <a:rPr lang="en-IE" sz="2000" dirty="0"/>
              <a:t> object.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CB3D1FC-1E92-7F01-1032-6A37F12602AB}"/>
              </a:ext>
            </a:extLst>
          </p:cNvPr>
          <p:cNvSpPr/>
          <p:nvPr/>
        </p:nvSpPr>
        <p:spPr>
          <a:xfrm>
            <a:off x="1569633" y="3474194"/>
            <a:ext cx="2454624" cy="1560838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3) New method,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, reads in products from the user.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8A224D-7351-0AFE-5E90-482A3FB8D85D}"/>
              </a:ext>
            </a:extLst>
          </p:cNvPr>
          <p:cNvSpPr/>
          <p:nvPr/>
        </p:nvSpPr>
        <p:spPr>
          <a:xfrm>
            <a:off x="1609933" y="1579914"/>
            <a:ext cx="2436159" cy="1681164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2) </a:t>
            </a:r>
            <a:r>
              <a:rPr lang="en-IE" sz="2000" b="1" dirty="0" err="1"/>
              <a:t>addProduct</a:t>
            </a:r>
            <a:r>
              <a:rPr lang="en-IE" sz="2000" b="1" dirty="0"/>
              <a:t>()</a:t>
            </a:r>
            <a:r>
              <a:rPr lang="en-IE" sz="2000" dirty="0"/>
              <a:t> changed to add the entered product to the array.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006AD25-F5E5-A64C-6ED8-BF57014C0F11}"/>
              </a:ext>
            </a:extLst>
          </p:cNvPr>
          <p:cNvSpPr/>
          <p:nvPr/>
        </p:nvSpPr>
        <p:spPr>
          <a:xfrm>
            <a:off x="1591466" y="5248149"/>
            <a:ext cx="2454624" cy="1403281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5) </a:t>
            </a:r>
            <a:r>
              <a:rPr lang="en-IE" sz="2000" b="1" dirty="0" err="1"/>
              <a:t>printProduct</a:t>
            </a:r>
            <a:r>
              <a:rPr lang="en-IE" sz="2000" b="1" dirty="0"/>
              <a:t>()</a:t>
            </a:r>
            <a:r>
              <a:rPr lang="en-IE" sz="2000" dirty="0"/>
              <a:t> changed to print out all products in the array.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CDE1CCD-DF98-A9BC-126C-11B389989BFE}"/>
              </a:ext>
            </a:extLst>
          </p:cNvPr>
          <p:cNvSpPr txBox="1">
            <a:spLocks/>
          </p:cNvSpPr>
          <p:nvPr/>
        </p:nvSpPr>
        <p:spPr>
          <a:xfrm>
            <a:off x="8894437" y="914940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5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5" name="Rectangle: Rounded Corners 3">
            <a:extLst>
              <a:ext uri="{FF2B5EF4-FFF2-40B4-BE49-F238E27FC236}">
                <a16:creationId xmlns:a16="http://schemas.microsoft.com/office/drawing/2014/main" id="{EB07DC66-547E-7EB5-0C61-EDAD171DB2F6}"/>
              </a:ext>
            </a:extLst>
          </p:cNvPr>
          <p:cNvSpPr/>
          <p:nvPr/>
        </p:nvSpPr>
        <p:spPr>
          <a:xfrm>
            <a:off x="8894437" y="56310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26D2226C-39C0-A758-68C4-E4ECF355189C}"/>
              </a:ext>
            </a:extLst>
          </p:cNvPr>
          <p:cNvSpPr/>
          <p:nvPr/>
        </p:nvSpPr>
        <p:spPr>
          <a:xfrm>
            <a:off x="1609932" y="330693"/>
            <a:ext cx="2436159" cy="990600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4) main() </a:t>
            </a:r>
            <a:r>
              <a:rPr lang="en-IE" sz="2000" dirty="0"/>
              <a:t>changed to call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 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80E50A-63B5-9176-A230-047CA8C758E7}"/>
              </a:ext>
            </a:extLst>
          </p:cNvPr>
          <p:cNvCxnSpPr>
            <a:cxnSpLocks/>
          </p:cNvCxnSpPr>
          <p:nvPr/>
        </p:nvCxnSpPr>
        <p:spPr>
          <a:xfrm flipH="1" flipV="1">
            <a:off x="3981435" y="1297354"/>
            <a:ext cx="1495353" cy="2878938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EE16A6-F2AC-C597-296D-81F4BFD2C5F0}"/>
              </a:ext>
            </a:extLst>
          </p:cNvPr>
          <p:cNvCxnSpPr>
            <a:cxnSpLocks/>
          </p:cNvCxnSpPr>
          <p:nvPr/>
        </p:nvCxnSpPr>
        <p:spPr>
          <a:xfrm flipH="1" flipV="1">
            <a:off x="4046091" y="2054698"/>
            <a:ext cx="1498564" cy="2669702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DFA89A7-DEEE-A63A-65DE-EF134C95F5B5}"/>
              </a:ext>
            </a:extLst>
          </p:cNvPr>
          <p:cNvCxnSpPr>
            <a:cxnSpLocks/>
          </p:cNvCxnSpPr>
          <p:nvPr/>
        </p:nvCxnSpPr>
        <p:spPr>
          <a:xfrm flipH="1">
            <a:off x="4215502" y="5162047"/>
            <a:ext cx="1211712" cy="354219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08E6E6F-CFC0-95BE-DA79-1FE6AF15BC62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4024257" y="4254613"/>
            <a:ext cx="2071743" cy="237248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FF620E-BE96-27BB-27FF-104F35196D13}"/>
              </a:ext>
            </a:extLst>
          </p:cNvPr>
          <p:cNvCxnSpPr>
            <a:cxnSpLocks/>
          </p:cNvCxnSpPr>
          <p:nvPr/>
        </p:nvCxnSpPr>
        <p:spPr>
          <a:xfrm>
            <a:off x="5791200" y="1689681"/>
            <a:ext cx="0" cy="676459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EC95E3E-7126-B59D-5A87-D1FCD2D11855}"/>
              </a:ext>
            </a:extLst>
          </p:cNvPr>
          <p:cNvCxnSpPr>
            <a:cxnSpLocks/>
          </p:cNvCxnSpPr>
          <p:nvPr/>
        </p:nvCxnSpPr>
        <p:spPr>
          <a:xfrm>
            <a:off x="5791200" y="1147653"/>
            <a:ext cx="0" cy="1218487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114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2" grpId="0" animBg="1"/>
      <p:bldP spid="17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A2E7EB-EE6B-D63D-F10E-03DAE2B31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657" y="142424"/>
            <a:ext cx="3248995" cy="231805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E42D0F-6507-47C6-9B1F-82E6373E2741}"/>
              </a:ext>
            </a:extLst>
          </p:cNvPr>
          <p:cNvSpPr/>
          <p:nvPr/>
        </p:nvSpPr>
        <p:spPr>
          <a:xfrm>
            <a:off x="6934200" y="685800"/>
            <a:ext cx="2514600" cy="204754"/>
          </a:xfrm>
          <a:prstGeom prst="roundRect">
            <a:avLst/>
          </a:prstGeom>
          <a:noFill/>
          <a:ln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CA0D8-AE1F-43BE-8D4F-AE9FD47F3413}"/>
              </a:ext>
            </a:extLst>
          </p:cNvPr>
          <p:cNvSpPr/>
          <p:nvPr/>
        </p:nvSpPr>
        <p:spPr>
          <a:xfrm>
            <a:off x="2286000" y="2743201"/>
            <a:ext cx="7239000" cy="258532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java.util.Scanner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Scanner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Scanner(System.</a:t>
            </a:r>
            <a:r>
              <a:rPr lang="en-US" altLang="en-US" b="1" i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//code omitted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IE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8DE4A2-1B55-4B91-8010-D108B12D2DB4}"/>
              </a:ext>
            </a:extLst>
          </p:cNvPr>
          <p:cNvSpPr/>
          <p:nvPr/>
        </p:nvSpPr>
        <p:spPr>
          <a:xfrm>
            <a:off x="2590800" y="4114800"/>
            <a:ext cx="3200400" cy="381000"/>
          </a:xfrm>
          <a:prstGeom prst="roundRect">
            <a:avLst/>
          </a:prstGeom>
          <a:noFill/>
          <a:ln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85A8B5E-5846-43EE-8746-0FE1E2081B35}"/>
              </a:ext>
            </a:extLst>
          </p:cNvPr>
          <p:cNvSpPr/>
          <p:nvPr/>
        </p:nvSpPr>
        <p:spPr>
          <a:xfrm>
            <a:off x="6858000" y="5524500"/>
            <a:ext cx="2667000" cy="1143000"/>
          </a:xfrm>
          <a:prstGeom prst="round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1) Product</a:t>
            </a:r>
            <a:r>
              <a:rPr lang="en-IE" sz="2000" dirty="0"/>
              <a:t> object removed and replaced with </a:t>
            </a:r>
            <a:r>
              <a:rPr lang="en-IE" sz="2000" b="1" dirty="0"/>
              <a:t>Store</a:t>
            </a:r>
            <a:r>
              <a:rPr lang="en-IE" sz="2000" dirty="0"/>
              <a:t> object.</a:t>
            </a: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H="1" flipV="1">
            <a:off x="5791201" y="4495800"/>
            <a:ext cx="1588827" cy="1219200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/>
          <p:cNvGrpSpPr/>
          <p:nvPr/>
        </p:nvGrpSpPr>
        <p:grpSpPr>
          <a:xfrm>
            <a:off x="9183874" y="90770"/>
            <a:ext cx="874727" cy="665910"/>
            <a:chOff x="7370436" y="56310"/>
            <a:chExt cx="1701613" cy="1295400"/>
          </a:xfrm>
        </p:grpSpPr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3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60230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E9D8A9-CC39-FC82-C3D6-A040E387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414" y="43543"/>
            <a:ext cx="3248995" cy="231805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52DCC10-5650-40B3-92F8-46CC11C26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1076" y="2186858"/>
            <a:ext cx="8820724" cy="28931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void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processOrder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//find out from the user how many products they would like to order</a:t>
            </a:r>
            <a:b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lang="en-US" altLang="en-US" sz="1400" b="1" i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"How many Products would you like to have in your Store? "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.nextInt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//ask the user for the details of the products and add them to the order</a:t>
            </a:r>
            <a:b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++){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addProduct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342071" y="1694685"/>
            <a:ext cx="2514600" cy="22860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1847276" y="98873"/>
            <a:ext cx="2454624" cy="1560838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2) New method,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, reads in products from the user. </a:t>
            </a:r>
          </a:p>
        </p:txBody>
      </p:sp>
      <p:cxnSp>
        <p:nvCxnSpPr>
          <p:cNvPr id="9" name="Straight Arrow Connector 8"/>
          <p:cNvCxnSpPr>
            <a:cxnSpLocks/>
            <a:stCxn id="8" idx="2"/>
          </p:cNvCxnSpPr>
          <p:nvPr/>
        </p:nvCxnSpPr>
        <p:spPr>
          <a:xfrm>
            <a:off x="3074588" y="1659712"/>
            <a:ext cx="354412" cy="513747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6425827" y="5198977"/>
            <a:ext cx="4159796" cy="1312583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Arial" charset="0"/>
              <a:buChar char="•"/>
            </a:pPr>
            <a:r>
              <a:rPr lang="en-IE" sz="2000" dirty="0"/>
              <a:t>Asks how many?</a:t>
            </a:r>
          </a:p>
          <a:p>
            <a:pPr marL="342900" indent="-342900">
              <a:buFont typeface="Arial" charset="0"/>
              <a:buChar char="•"/>
            </a:pPr>
            <a:r>
              <a:rPr lang="en-IE" sz="2000" dirty="0"/>
              <a:t>Pass into Store constructor to initialise an array to that size</a:t>
            </a:r>
          </a:p>
          <a:p>
            <a:pPr marL="342900" indent="-342900">
              <a:buFont typeface="Arial" charset="0"/>
              <a:buChar char="•"/>
            </a:pPr>
            <a:r>
              <a:rPr lang="en-IE" sz="2000" dirty="0"/>
              <a:t>Calls </a:t>
            </a:r>
            <a:r>
              <a:rPr lang="en-IE" sz="2000" dirty="0" err="1"/>
              <a:t>addProduct</a:t>
            </a:r>
            <a:r>
              <a:rPr lang="en-IE" sz="2000" dirty="0"/>
              <a:t>() for each one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B8FDE2-621F-82F6-A996-F2FDE345CF59}"/>
              </a:ext>
            </a:extLst>
          </p:cNvPr>
          <p:cNvGrpSpPr/>
          <p:nvPr/>
        </p:nvGrpSpPr>
        <p:grpSpPr>
          <a:xfrm>
            <a:off x="9576707" y="116336"/>
            <a:ext cx="874727" cy="665910"/>
            <a:chOff x="7370436" y="56310"/>
            <a:chExt cx="1701613" cy="1295400"/>
          </a:xfrm>
        </p:grpSpPr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3C5622A2-7AC2-3160-104B-473D08F49905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3" name="Rectangle: Rounded Corners 3">
              <a:extLst>
                <a:ext uri="{FF2B5EF4-FFF2-40B4-BE49-F238E27FC236}">
                  <a16:creationId xmlns:a16="http://schemas.microsoft.com/office/drawing/2014/main" id="{7AF09A90-6C9B-75F2-8126-AB24C6525506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1130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40B84-B6AE-21D2-9206-2BB532FB9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920D9C-C026-AD0B-2DD5-90B5A2463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468" y="-50051"/>
            <a:ext cx="4027552" cy="2873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CDB4FB-40CF-2898-44F8-5F0FFE7EBA38}"/>
              </a:ext>
            </a:extLst>
          </p:cNvPr>
          <p:cNvSpPr/>
          <p:nvPr/>
        </p:nvSpPr>
        <p:spPr>
          <a:xfrm>
            <a:off x="7877468" y="2010476"/>
            <a:ext cx="2514600" cy="22860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6C409BA-E65A-57F7-C028-6611B2766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1" y="2667001"/>
            <a:ext cx="5121915" cy="132343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void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main(String[]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Driver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driver.processOrder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driver.printProduct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3DA72C-6A84-F48C-5152-31D194762E79}"/>
              </a:ext>
            </a:extLst>
          </p:cNvPr>
          <p:cNvSpPr/>
          <p:nvPr/>
        </p:nvSpPr>
        <p:spPr>
          <a:xfrm>
            <a:off x="3810000" y="3173587"/>
            <a:ext cx="3161946" cy="310264"/>
          </a:xfrm>
          <a:prstGeom prst="roundRect">
            <a:avLst/>
          </a:prstGeom>
          <a:noFill/>
          <a:ln w="38100"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FFEE53-82C6-2585-84AD-9449B9634C07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>
            <a:off x="2828012" y="1321293"/>
            <a:ext cx="2562961" cy="1852294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70C8508A-5812-1021-1A59-F2085E580401}"/>
              </a:ext>
            </a:extLst>
          </p:cNvPr>
          <p:cNvSpPr/>
          <p:nvPr/>
        </p:nvSpPr>
        <p:spPr>
          <a:xfrm>
            <a:off x="1609932" y="330693"/>
            <a:ext cx="2436159" cy="990600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3) main() </a:t>
            </a:r>
            <a:r>
              <a:rPr lang="en-IE" sz="2000" dirty="0"/>
              <a:t>changed to call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 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08EE28-A85E-18F2-4C69-F30344361803}"/>
              </a:ext>
            </a:extLst>
          </p:cNvPr>
          <p:cNvGrpSpPr/>
          <p:nvPr/>
        </p:nvGrpSpPr>
        <p:grpSpPr>
          <a:xfrm>
            <a:off x="10820400" y="27214"/>
            <a:ext cx="874727" cy="665910"/>
            <a:chOff x="7370436" y="56310"/>
            <a:chExt cx="1701613" cy="1295400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799A2270-AAC9-8849-672F-A16A53F566F6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4" name="Rectangle: Rounded Corners 3">
              <a:extLst>
                <a:ext uri="{FF2B5EF4-FFF2-40B4-BE49-F238E27FC236}">
                  <a16:creationId xmlns:a16="http://schemas.microsoft.com/office/drawing/2014/main" id="{E2900084-6483-619C-8405-9B8F969431A6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2900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ACF321-89F5-6C03-9DED-5B2EEC9A3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27214"/>
            <a:ext cx="4027552" cy="2873526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1044BBA6-9870-4C6F-98D5-92D723C87D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3025297"/>
            <a:ext cx="3886200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VI" altLang="en-VI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dirty="0" err="1">
                <a:solidFill>
                  <a:srgbClr val="00627A"/>
                </a:solidFill>
                <a:latin typeface="JetBrains Mono"/>
              </a:rPr>
              <a:t>add</a:t>
            </a:r>
            <a:r>
              <a:rPr lang="en-029" altLang="en-VI" dirty="0" err="1">
                <a:solidFill>
                  <a:srgbClr val="00627A"/>
                </a:solidFill>
                <a:latin typeface="JetBrains Mono"/>
              </a:rPr>
              <a:t>Product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dirty="0">
                <a:solidFill>
                  <a:srgbClr val="000000"/>
                </a:solidFill>
                <a:latin typeface="JetBrains Mono"/>
              </a:rPr>
              <a:t>Product 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product){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dirty="0" err="1">
                <a:solidFill>
                  <a:srgbClr val="080808"/>
                </a:solidFill>
                <a:latin typeface="JetBrains Mono"/>
              </a:rPr>
              <a:t>isFull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()){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return false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products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[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] = product;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++;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return true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3">
            <a:extLst>
              <a:ext uri="{FF2B5EF4-FFF2-40B4-BE49-F238E27FC236}">
                <a16:creationId xmlns:a16="http://schemas.microsoft.com/office/drawing/2014/main" id="{543A53CE-88A2-4C2B-A822-C55A06EE0612}"/>
              </a:ext>
            </a:extLst>
          </p:cNvPr>
          <p:cNvSpPr/>
          <p:nvPr/>
        </p:nvSpPr>
        <p:spPr>
          <a:xfrm>
            <a:off x="1679620" y="1417169"/>
            <a:ext cx="4949780" cy="29718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Store</a:t>
            </a:r>
          </a:p>
          <a:p>
            <a:pPr algn="ctr"/>
            <a:endParaRPr lang="en-IE" sz="2000" b="1" dirty="0"/>
          </a:p>
          <a:p>
            <a:pPr algn="ctr"/>
            <a:r>
              <a:rPr lang="en-IE" sz="2000" dirty="0"/>
              <a:t>If there is space in the Array, the Product, passed as a parameter is added to the Primitive Array.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A </a:t>
            </a:r>
            <a:r>
              <a:rPr lang="en-IE" sz="2000" dirty="0" err="1"/>
              <a:t>boolean</a:t>
            </a:r>
            <a:r>
              <a:rPr lang="en-IE" sz="2000" dirty="0"/>
              <a:t> result is returned indicating whether the product was added successfully or not. </a:t>
            </a:r>
          </a:p>
        </p:txBody>
      </p:sp>
      <p:sp>
        <p:nvSpPr>
          <p:cNvPr id="31" name="Rectangle: Rounded Corners 20">
            <a:extLst>
              <a:ext uri="{FF2B5EF4-FFF2-40B4-BE49-F238E27FC236}">
                <a16:creationId xmlns:a16="http://schemas.microsoft.com/office/drawing/2014/main" id="{118E52C7-0D21-4A57-A52C-5F70999C3FB3}"/>
              </a:ext>
            </a:extLst>
          </p:cNvPr>
          <p:cNvSpPr/>
          <p:nvPr/>
        </p:nvSpPr>
        <p:spPr>
          <a:xfrm>
            <a:off x="7391400" y="2286000"/>
            <a:ext cx="2638643" cy="26819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441233-43E7-31CE-C319-415BB1662057}"/>
              </a:ext>
            </a:extLst>
          </p:cNvPr>
          <p:cNvGrpSpPr/>
          <p:nvPr/>
        </p:nvGrpSpPr>
        <p:grpSpPr>
          <a:xfrm>
            <a:off x="10467863" y="152400"/>
            <a:ext cx="874727" cy="665910"/>
            <a:chOff x="7370436" y="56310"/>
            <a:chExt cx="1701613" cy="1295400"/>
          </a:xfrm>
        </p:grpSpPr>
        <p:sp>
          <p:nvSpPr>
            <p:cNvPr id="4" name="Content Placeholder 2">
              <a:extLst>
                <a:ext uri="{FF2B5EF4-FFF2-40B4-BE49-F238E27FC236}">
                  <a16:creationId xmlns:a16="http://schemas.microsoft.com/office/drawing/2014/main" id="{CD2B4386-E747-5AC3-559F-72D26CA839C6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5" name="Rectangle: Rounded Corners 3">
              <a:extLst>
                <a:ext uri="{FF2B5EF4-FFF2-40B4-BE49-F238E27FC236}">
                  <a16:creationId xmlns:a16="http://schemas.microsoft.com/office/drawing/2014/main" id="{1DD0265F-88FA-5776-87D5-AD64F1C89AE6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417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: Rounded Corners 3">
            <a:extLst>
              <a:ext uri="{FF2B5EF4-FFF2-40B4-BE49-F238E27FC236}">
                <a16:creationId xmlns:a16="http://schemas.microsoft.com/office/drawing/2014/main" id="{ABEFBEAE-A9AE-4945-9408-4C94363DEA5E}"/>
              </a:ext>
            </a:extLst>
          </p:cNvPr>
          <p:cNvSpPr/>
          <p:nvPr/>
        </p:nvSpPr>
        <p:spPr>
          <a:xfrm>
            <a:off x="3048000" y="2614751"/>
            <a:ext cx="6358096" cy="29718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Driver</a:t>
            </a:r>
          </a:p>
          <a:p>
            <a:endParaRPr lang="en-IE" sz="2000" b="1" dirty="0"/>
          </a:p>
          <a:p>
            <a:r>
              <a:rPr lang="en-IE" sz="2000" dirty="0"/>
              <a:t>The </a:t>
            </a:r>
            <a:r>
              <a:rPr lang="en-IE" sz="2000" dirty="0" err="1"/>
              <a:t>addProduct</a:t>
            </a:r>
            <a:r>
              <a:rPr lang="en-IE" sz="2000" dirty="0"/>
              <a:t>() method needs to be updated to:</a:t>
            </a:r>
          </a:p>
          <a:p>
            <a:endParaRPr lang="en-IE" sz="2000" dirty="0"/>
          </a:p>
          <a:p>
            <a:pPr marL="457200" indent="-457200">
              <a:buAutoNum type="arabicPeriod"/>
            </a:pPr>
            <a:r>
              <a:rPr lang="en-IE" sz="2000" dirty="0"/>
              <a:t>Add the product object to the array of products in Store</a:t>
            </a:r>
          </a:p>
          <a:p>
            <a:pPr marL="457200" indent="-457200">
              <a:buAutoNum type="arabicPeriod"/>
            </a:pPr>
            <a:r>
              <a:rPr lang="en-IE" sz="2000" dirty="0"/>
              <a:t> Interrogate the Boolean result returned to let the user know if the update was successful or not.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3948EB-9017-D15A-2C79-E0754E777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121" y="34539"/>
            <a:ext cx="4027552" cy="2873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633660" y="2353473"/>
            <a:ext cx="2514600" cy="234064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: Rounded Corners 11">
            <a:extLst>
              <a:ext uri="{FF2B5EF4-FFF2-40B4-BE49-F238E27FC236}">
                <a16:creationId xmlns:a16="http://schemas.microsoft.com/office/drawing/2014/main" id="{2DF49B5D-4EB0-4E8C-8A08-5D0D661A587B}"/>
              </a:ext>
            </a:extLst>
          </p:cNvPr>
          <p:cNvSpPr/>
          <p:nvPr/>
        </p:nvSpPr>
        <p:spPr>
          <a:xfrm>
            <a:off x="1676401" y="150018"/>
            <a:ext cx="2436159" cy="1681164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4) </a:t>
            </a:r>
            <a:r>
              <a:rPr lang="en-IE" sz="2000" b="1" dirty="0" err="1"/>
              <a:t>addProduct</a:t>
            </a:r>
            <a:r>
              <a:rPr lang="en-IE" sz="2000" b="1" dirty="0"/>
              <a:t>()</a:t>
            </a:r>
            <a:r>
              <a:rPr lang="en-IE" sz="2000" dirty="0"/>
              <a:t> changed to add the entered product to the array.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0668000" y="150018"/>
            <a:ext cx="874727" cy="665910"/>
            <a:chOff x="7370436" y="56310"/>
            <a:chExt cx="1701613" cy="1295400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- 4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4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5620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225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  <p:sp>
        <p:nvSpPr>
          <p:cNvPr id="19" name="Right Bracket 18"/>
          <p:cNvSpPr/>
          <p:nvPr/>
        </p:nvSpPr>
        <p:spPr>
          <a:xfrm>
            <a:off x="5749724" y="1143000"/>
            <a:ext cx="152400" cy="369332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6019801" y="1143000"/>
            <a:ext cx="1625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 </a:t>
            </a:r>
            <a:r>
              <a:rPr lang="en-GB" b="1" dirty="0">
                <a:solidFill>
                  <a:srgbClr val="0070C0"/>
                </a:solidFill>
              </a:rPr>
              <a:t>string</a:t>
            </a:r>
          </a:p>
        </p:txBody>
      </p:sp>
      <p:sp>
        <p:nvSpPr>
          <p:cNvPr id="21" name="Right Bracket 20"/>
          <p:cNvSpPr/>
          <p:nvPr/>
        </p:nvSpPr>
        <p:spPr>
          <a:xfrm>
            <a:off x="5758948" y="1556267"/>
            <a:ext cx="143177" cy="385644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/>
          <p:cNvSpPr txBox="1"/>
          <p:nvPr/>
        </p:nvSpPr>
        <p:spPr>
          <a:xfrm>
            <a:off x="6017510" y="1572579"/>
            <a:ext cx="1477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 err="1">
                <a:solidFill>
                  <a:srgbClr val="0070C0"/>
                </a:solidFill>
              </a:rPr>
              <a:t>int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3" name="Right Bracket 22"/>
          <p:cNvSpPr/>
          <p:nvPr/>
        </p:nvSpPr>
        <p:spPr>
          <a:xfrm>
            <a:off x="5758948" y="1985847"/>
            <a:ext cx="143177" cy="349577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6017511" y="2002158"/>
            <a:ext cx="1884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>
                <a:solidFill>
                  <a:srgbClr val="0070C0"/>
                </a:solidFill>
              </a:rPr>
              <a:t>double</a:t>
            </a:r>
          </a:p>
        </p:txBody>
      </p:sp>
      <p:sp>
        <p:nvSpPr>
          <p:cNvPr id="25" name="Right Bracket 24"/>
          <p:cNvSpPr/>
          <p:nvPr/>
        </p:nvSpPr>
        <p:spPr>
          <a:xfrm>
            <a:off x="5786569" y="3251210"/>
            <a:ext cx="106332" cy="356096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/>
          <p:cNvSpPr txBox="1"/>
          <p:nvPr/>
        </p:nvSpPr>
        <p:spPr>
          <a:xfrm>
            <a:off x="6010823" y="3244334"/>
            <a:ext cx="1634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>
                <a:solidFill>
                  <a:srgbClr val="0070C0"/>
                </a:solidFill>
              </a:rPr>
              <a:t>char</a:t>
            </a:r>
          </a:p>
        </p:txBody>
      </p:sp>
      <p:sp>
        <p:nvSpPr>
          <p:cNvPr id="27" name="Right Bracket 26"/>
          <p:cNvSpPr/>
          <p:nvPr/>
        </p:nvSpPr>
        <p:spPr>
          <a:xfrm>
            <a:off x="6222731" y="3633122"/>
            <a:ext cx="150533" cy="549299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/>
          <p:cNvSpPr txBox="1"/>
          <p:nvPr/>
        </p:nvSpPr>
        <p:spPr>
          <a:xfrm>
            <a:off x="6616213" y="3600432"/>
            <a:ext cx="2058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Set </a:t>
            </a:r>
            <a:r>
              <a:rPr lang="en-GB" b="1" dirty="0" err="1">
                <a:solidFill>
                  <a:srgbClr val="0070C0"/>
                </a:solidFill>
              </a:rPr>
              <a:t>boolean</a:t>
            </a:r>
            <a:r>
              <a:rPr lang="en-GB" dirty="0">
                <a:solidFill>
                  <a:srgbClr val="0070C0"/>
                </a:solidFill>
              </a:rPr>
              <a:t> </a:t>
            </a:r>
            <a:br>
              <a:rPr lang="en-GB" dirty="0">
                <a:solidFill>
                  <a:srgbClr val="0070C0"/>
                </a:solidFill>
              </a:rPr>
            </a:br>
            <a:r>
              <a:rPr lang="en-GB" dirty="0">
                <a:solidFill>
                  <a:srgbClr val="0070C0"/>
                </a:solidFill>
              </a:rPr>
              <a:t>based on char value</a:t>
            </a:r>
            <a:endParaRPr lang="en-GB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02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  <p:sp>
        <p:nvSpPr>
          <p:cNvPr id="21" name="Right Bracket 20"/>
          <p:cNvSpPr/>
          <p:nvPr/>
        </p:nvSpPr>
        <p:spPr>
          <a:xfrm>
            <a:off x="6230485" y="4757542"/>
            <a:ext cx="143177" cy="385644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/>
          <p:cNvSpPr txBox="1"/>
          <p:nvPr/>
        </p:nvSpPr>
        <p:spPr>
          <a:xfrm>
            <a:off x="6489047" y="4773854"/>
            <a:ext cx="3835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Console response if add was successful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3" name="Right Bracket 22"/>
          <p:cNvSpPr/>
          <p:nvPr/>
        </p:nvSpPr>
        <p:spPr>
          <a:xfrm>
            <a:off x="6230485" y="5587383"/>
            <a:ext cx="143177" cy="349577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6489048" y="5603694"/>
            <a:ext cx="4078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Console response if add was unsuccessful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ED62C7-6683-4265-8F72-C5B7E42A8352}"/>
              </a:ext>
            </a:extLst>
          </p:cNvPr>
          <p:cNvSpPr txBox="1"/>
          <p:nvPr/>
        </p:nvSpPr>
        <p:spPr>
          <a:xfrm>
            <a:off x="7924800" y="2532657"/>
            <a:ext cx="2743200" cy="120032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dirty="0"/>
              <a:t>The Store add method is called to add the product to the primitive array, if space is available.</a:t>
            </a:r>
            <a:endParaRPr lang="en-VI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B297705-B5C3-40FF-B92B-882B8BA6ECA6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114800" y="3732986"/>
            <a:ext cx="5181600" cy="762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693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1B44-6713-A532-3166-9E86D008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6DCF15-3FA1-5187-0A85-5A10FB708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072" y="91137"/>
            <a:ext cx="4027552" cy="2873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132550-18E9-4C0F-FAFA-E9540817921D}"/>
              </a:ext>
            </a:extLst>
          </p:cNvPr>
          <p:cNvSpPr/>
          <p:nvPr/>
        </p:nvSpPr>
        <p:spPr>
          <a:xfrm>
            <a:off x="6553200" y="2589075"/>
            <a:ext cx="2514600" cy="230325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A454CA-84A3-AAEC-A6ED-F4423721B4F1}"/>
              </a:ext>
            </a:extLst>
          </p:cNvPr>
          <p:cNvSpPr/>
          <p:nvPr/>
        </p:nvSpPr>
        <p:spPr>
          <a:xfrm>
            <a:off x="2743200" y="3429000"/>
            <a:ext cx="6629400" cy="175432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void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printProduct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lang="en-US" altLang="en-US" b="1" i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.println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.listProducts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IE" dirty="0"/>
          </a:p>
        </p:txBody>
      </p:sp>
      <p:sp>
        <p:nvSpPr>
          <p:cNvPr id="7" name="Rectangle: Rounded Corners 16">
            <a:extLst>
              <a:ext uri="{FF2B5EF4-FFF2-40B4-BE49-F238E27FC236}">
                <a16:creationId xmlns:a16="http://schemas.microsoft.com/office/drawing/2014/main" id="{C0135640-BBF8-72B4-F156-47083B409E58}"/>
              </a:ext>
            </a:extLst>
          </p:cNvPr>
          <p:cNvSpPr/>
          <p:nvPr/>
        </p:nvSpPr>
        <p:spPr>
          <a:xfrm>
            <a:off x="1896888" y="1261351"/>
            <a:ext cx="2454624" cy="1403281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5) </a:t>
            </a:r>
            <a:r>
              <a:rPr lang="en-IE" sz="2000" b="1" dirty="0" err="1"/>
              <a:t>printProduct</a:t>
            </a:r>
            <a:r>
              <a:rPr lang="en-IE" sz="2000" b="1" dirty="0"/>
              <a:t>()</a:t>
            </a:r>
            <a:r>
              <a:rPr lang="en-IE" sz="2000" dirty="0"/>
              <a:t> changed to print out all products in the array.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F04B80-3038-3EEA-05B7-8F9175408EC6}"/>
              </a:ext>
            </a:extLst>
          </p:cNvPr>
          <p:cNvCxnSpPr>
            <a:cxnSpLocks/>
          </p:cNvCxnSpPr>
          <p:nvPr/>
        </p:nvCxnSpPr>
        <p:spPr>
          <a:xfrm>
            <a:off x="3429000" y="2467350"/>
            <a:ext cx="541512" cy="1418851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6">
            <a:extLst>
              <a:ext uri="{FF2B5EF4-FFF2-40B4-BE49-F238E27FC236}">
                <a16:creationId xmlns:a16="http://schemas.microsoft.com/office/drawing/2014/main" id="{C54797B2-92BB-B208-2DED-DB6AEC34CC45}"/>
              </a:ext>
            </a:extLst>
          </p:cNvPr>
          <p:cNvSpPr/>
          <p:nvPr/>
        </p:nvSpPr>
        <p:spPr>
          <a:xfrm>
            <a:off x="3124200" y="3963264"/>
            <a:ext cx="5943600" cy="380137"/>
          </a:xfrm>
          <a:prstGeom prst="roundRect">
            <a:avLst/>
          </a:prstGeom>
          <a:noFill/>
          <a:ln w="38100"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8F6-5E6F-6FEF-8466-E14270EB669F}"/>
              </a:ext>
            </a:extLst>
          </p:cNvPr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97B37624-A2E2-1562-EECF-12C7FAEC27F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- 5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2" name="Rectangle: Rounded Corners 3">
              <a:extLst>
                <a:ext uri="{FF2B5EF4-FFF2-40B4-BE49-F238E27FC236}">
                  <a16:creationId xmlns:a16="http://schemas.microsoft.com/office/drawing/2014/main" id="{E8B791DF-77B9-3022-900D-6247AF0A4B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010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762417"/>
          </a:xfrm>
        </p:spPr>
        <p:txBody>
          <a:bodyPr/>
          <a:lstStyle/>
          <a:p>
            <a:pPr algn="r"/>
            <a:r>
              <a:rPr lang="en-IE" b="1" dirty="0"/>
              <a:t>Summary</a:t>
            </a:r>
            <a:r>
              <a:rPr lang="en-IE" dirty="0"/>
              <a:t> Shop </a:t>
            </a:r>
            <a:r>
              <a:rPr lang="en-IE" b="1" dirty="0"/>
              <a:t>V2.0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8076" y="4015387"/>
            <a:ext cx="8305800" cy="4525963"/>
          </a:xfrm>
        </p:spPr>
        <p:txBody>
          <a:bodyPr>
            <a:normAutofit/>
          </a:bodyPr>
          <a:lstStyle/>
          <a:p>
            <a:r>
              <a:rPr lang="en-IE" sz="2400" b="1" dirty="0">
                <a:solidFill>
                  <a:srgbClr val="FF40FF"/>
                </a:solidFill>
              </a:rPr>
              <a:t>Store</a:t>
            </a:r>
            <a:r>
              <a:rPr lang="en-IE" sz="2400" dirty="0">
                <a:solidFill>
                  <a:srgbClr val="FF40FF"/>
                </a:solidFill>
              </a:rPr>
              <a:t> </a:t>
            </a:r>
            <a:r>
              <a:rPr lang="en-IE" sz="2400" dirty="0"/>
              <a:t>class maintains a collection of Products</a:t>
            </a:r>
            <a:br>
              <a:rPr lang="en-IE" sz="2400" dirty="0"/>
            </a:br>
            <a:r>
              <a:rPr lang="en-IE" sz="2400" dirty="0"/>
              <a:t>i.e. an </a:t>
            </a:r>
            <a:r>
              <a:rPr lang="en-IE" sz="2400" b="1" dirty="0"/>
              <a:t>array of Products</a:t>
            </a:r>
            <a:r>
              <a:rPr lang="en-IE" sz="2400" dirty="0"/>
              <a:t>;  </a:t>
            </a:r>
            <a:r>
              <a:rPr lang="en-IE" sz="2400" dirty="0" err="1"/>
              <a:t>store.Products</a:t>
            </a:r>
            <a:r>
              <a:rPr lang="en-IE" sz="2400" dirty="0"/>
              <a:t>[]</a:t>
            </a:r>
            <a:br>
              <a:rPr lang="en-IE" sz="2400" dirty="0"/>
            </a:br>
            <a:endParaRPr lang="en-IE" sz="2400" dirty="0"/>
          </a:p>
          <a:p>
            <a:r>
              <a:rPr lang="en-IE" sz="2400" b="1" dirty="0">
                <a:solidFill>
                  <a:srgbClr val="F79646"/>
                </a:solidFill>
              </a:rPr>
              <a:t>Driver</a:t>
            </a:r>
            <a:r>
              <a:rPr lang="en-IE" sz="2400" b="1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allows the user to decide </a:t>
            </a:r>
            <a:r>
              <a:rPr lang="en-IE" sz="2400" b="1" dirty="0"/>
              <a:t>how many product </a:t>
            </a:r>
            <a:r>
              <a:rPr lang="en-IE" sz="2400" dirty="0"/>
              <a:t>details they want to store. Methods updated to work with this new </a:t>
            </a:r>
            <a:r>
              <a:rPr lang="en-IE" sz="2400" b="1" dirty="0" err="1"/>
              <a:t>store.Products</a:t>
            </a:r>
            <a:r>
              <a:rPr lang="en-IE" sz="2400" b="1" dirty="0"/>
              <a:t>[]</a:t>
            </a:r>
            <a:r>
              <a:rPr lang="en-IE" sz="2400" dirty="0"/>
              <a:t> array</a:t>
            </a:r>
          </a:p>
          <a:p>
            <a:pPr marL="0" indent="0">
              <a:buNone/>
            </a:pPr>
            <a:endParaRPr lang="en-IE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28077" y="533400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7768289" y="2428081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6870113" y="2023283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551666" y="1422204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3729689" y="974559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2007359" y="1514549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5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Some(5)</a:t>
            </a:r>
            <a:r>
              <a:rPr lang="en-IE" sz="2800" dirty="0"/>
              <a:t> changes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B01D25-63AE-43E3-9549-7E0C06EFE8F2}"/>
              </a:ext>
            </a:extLst>
          </p:cNvPr>
          <p:cNvSpPr txBox="1">
            <a:spLocks/>
          </p:cNvSpPr>
          <p:nvPr/>
        </p:nvSpPr>
        <p:spPr>
          <a:xfrm>
            <a:off x="4551666" y="2716941"/>
            <a:ext cx="2318446" cy="948813"/>
          </a:xfrm>
          <a:prstGeom prst="rect">
            <a:avLst/>
          </a:prstGeom>
          <a:solidFill>
            <a:srgbClr val="FF40FF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dirty="0"/>
              <a:t>This is a </a:t>
            </a:r>
            <a:r>
              <a:rPr lang="en-IE" sz="2800" b="1" dirty="0"/>
              <a:t>new</a:t>
            </a:r>
            <a:endParaRPr lang="en-IE" sz="28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IE" sz="2800" b="1" dirty="0">
                <a:solidFill>
                  <a:schemeClr val="bg1"/>
                </a:solidFill>
              </a:rPr>
              <a:t>Store</a:t>
            </a:r>
            <a:r>
              <a:rPr lang="en-IE" sz="2800" b="1" dirty="0">
                <a:solidFill>
                  <a:srgbClr val="FF40FF"/>
                </a:solidFill>
              </a:rPr>
              <a:t> </a:t>
            </a:r>
            <a:r>
              <a:rPr lang="en-IE" sz="2800" dirty="0">
                <a:solidFill>
                  <a:schemeClr val="tx1"/>
                </a:solidFill>
              </a:rPr>
              <a:t>class</a:t>
            </a:r>
            <a:endParaRPr lang="en-IE" sz="2800" dirty="0">
              <a:solidFill>
                <a:srgbClr val="FF40FF"/>
              </a:solidFill>
            </a:endParaRP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7768289" y="3393445"/>
            <a:ext cx="1981200" cy="389533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No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428920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FDEF38BF-88B5-48D9-8529-0A0A06C7E4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183247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a-methods-terminology.</Template>
  <TotalTime>5749</TotalTime>
  <Words>1909</Words>
  <Application>Microsoft Macintosh PowerPoint</Application>
  <PresentationFormat>Widescreen</PresentationFormat>
  <Paragraphs>150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JetBrains Mono</vt:lpstr>
      <vt:lpstr>a-processing-mouse-event-methods</vt:lpstr>
      <vt:lpstr>Shop V2.0 – Introducing Store</vt:lpstr>
      <vt:lpstr>Recap: Shop V1.0 - Product</vt:lpstr>
      <vt:lpstr>Recap: Shop V1.0 - Driver</vt:lpstr>
      <vt:lpstr>Shop V2.0</vt:lpstr>
      <vt:lpstr>Shop V2.0 – changes to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Shop V2.0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Array of Product</dc:title>
  <dc:creator>Siobhan Drohan</dc:creator>
  <cp:lastModifiedBy>Mairead Meagher</cp:lastModifiedBy>
  <cp:revision>170</cp:revision>
  <cp:lastPrinted>2018-03-17T14:02:04Z</cp:lastPrinted>
  <dcterms:created xsi:type="dcterms:W3CDTF">2006-08-16T00:00:00Z</dcterms:created>
  <dcterms:modified xsi:type="dcterms:W3CDTF">2025-11-12T23:04:50Z</dcterms:modified>
</cp:coreProperties>
</file>