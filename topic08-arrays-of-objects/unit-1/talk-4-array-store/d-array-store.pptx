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notesMasterIdLst>
    <p:notesMasterId r:id="rId18"/>
  </p:notesMasterIdLst>
  <p:sldIdLst>
    <p:sldId id="256" r:id="rId5"/>
    <p:sldId id="358" r:id="rId6"/>
    <p:sldId id="348" r:id="rId7"/>
    <p:sldId id="359" r:id="rId8"/>
    <p:sldId id="360" r:id="rId9"/>
    <p:sldId id="353" r:id="rId10"/>
    <p:sldId id="354" r:id="rId11"/>
    <p:sldId id="355" r:id="rId12"/>
    <p:sldId id="356" r:id="rId13"/>
    <p:sldId id="357" r:id="rId14"/>
    <p:sldId id="361" r:id="rId15"/>
    <p:sldId id="305" r:id="rId16"/>
    <p:sldId id="3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751"/>
    <a:srgbClr val="FCCA3A"/>
    <a:srgbClr val="435765"/>
    <a:srgbClr val="AF150F"/>
    <a:srgbClr val="006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E6297C-D2E9-B74D-A638-D3DAB6EF9BE6}" v="29" dt="2023-02-03T11:49:54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190" autoAdjust="0"/>
    <p:restoredTop sz="76950"/>
  </p:normalViewPr>
  <p:slideViewPr>
    <p:cSldViewPr snapToGrid="0">
      <p:cViewPr varScale="1">
        <p:scale>
          <a:sx n="89" d="100"/>
          <a:sy n="8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B268A-CA3A-0048-9013-6E7C8FF5127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B84A0-CA4D-2741-806C-17A926449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2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36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87EA81E-7463-8F63-F3C1-AD42CEDE2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35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77319E-D913-0186-1403-29DAAB90998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1E79F1-A6BC-9BFA-D91F-EDE58012F586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05D465-0CF2-0C9C-A87E-6B7186C8FB3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4B02890-139F-8EAB-EBD0-2929C415E689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0A154F1-4B30-4962-AB00-FBBC5BDD9F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951E2ED-8247-0942-5974-A7E6287A8604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C2C7A1F-7B79-629C-0B59-9FE6D57C40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83DD74-BDB2-2076-77D2-E6035339BC60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6AB264-1918-98C1-163F-8FA8B7F5FF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4D332F-D21F-654F-C942-4B3345EC865F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D3EE1F9-630D-B8CD-8E6D-39673C2F11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4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E2AD0E-60F6-798F-5218-67976274424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6373DF-09B0-AAD0-9A0F-77BAB32A9FC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AA6AA3-C6AC-5B63-85A8-9838D4F5C98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3154D-B8A4-288C-492D-68E00348A04A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C2457B28-F64B-A882-F5E5-DEF4336348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2382622-2EC5-303F-C14A-C83D3E8C4774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2E78E24-D36E-674B-9092-55AA8E1ADC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69D825-370C-D932-7B44-4C1EE0EB0E2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F2B53-681A-1F9B-D38D-923C8065AAE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4515DC-F7D2-3B8C-F35C-93EB5804B64F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E783785-0F05-0C29-8383-2CEC7761A6C2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EEB68B7A-6D97-A931-82C1-E5A0843D5E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8E9AFE-1D56-E9D9-3614-AE81CD582973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C3D1C36-9EED-E921-5D0D-B95D347B70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3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85FD0A-2A17-4E36-7ACE-8DDECE72BE2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7180BA-0CE4-6687-797D-9C4100B1A0B8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1EA7A8-55C2-AF44-F799-8607C22D503D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20D5FFA-CD0B-D368-1549-B7CF4C0E2167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7F709ED6-92E9-7CA0-C6EB-678A084B9F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260688-E917-D9F0-DB5B-ABF7B8A0042D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3080446-1A29-5262-D7FA-F3715248B7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0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7038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D0461B-EE09-656D-7761-58FEDE41E283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8F28798F-2A25-72AA-E107-E4333619CB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B4D8F1-A1D3-134D-2BCC-F99D8524D377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796F5C3-4CF3-4934-398E-AD19DEC1B9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34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50234-8A05-9093-4B4C-B210E566FA3F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323686D1-3CD0-3957-F22B-C34EEAED5B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248D35-9F14-B0CF-787D-2359E8CC81B5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1C417C1-1ADF-B51E-BFD1-1E580316D9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2E615A-576B-9462-3C0A-899C51D478EF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B9D82DA1-D808-1873-B6B8-328CE7EC82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AA2DB6-4557-1845-75F2-C28E2A7E770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F8AE716-4A41-755B-27BC-0F13106EC3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91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858614-A4C1-F978-FF79-45E0B65ACA20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EC687AF7-3385-4B74-3AF1-515025D1B1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772AF8-23A6-D4DF-817A-EE986A42F836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5F2D8FF-29F2-48BF-6395-29FEC89D02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87327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83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3432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65603"/>
      </p:ext>
    </p:extLst>
  </p:cSld>
  <p:clrMapOvr>
    <a:masterClrMapping/>
  </p:clrMapOvr>
  <p:transition spd="med"/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21400114"/>
      </p:ext>
    </p:extLst>
  </p:cSld>
  <p:clrMapOvr>
    <a:masterClrMapping/>
  </p:clrMapOvr>
  <p:transition spd="med"/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4877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32673" y="433462"/>
            <a:ext cx="5443765" cy="5486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6D9E16-657A-4218-0444-F0A4D4BC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2324554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BFD17A-A184-4C60-C2D7-B6CD6ACBCF9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76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5881D-2D8D-1975-AB67-071538DA5B41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-2721883" y="422310"/>
            <a:ext cx="5443765" cy="548629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350A5-0F76-7CA1-01EE-0506A29F03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5939" y="2422507"/>
            <a:ext cx="8618538" cy="1485900"/>
          </a:xfrm>
        </p:spPr>
        <p:txBody>
          <a:bodyPr>
            <a:normAutofit/>
          </a:bodyPr>
          <a:lstStyle>
            <a:lvl3pPr marL="914400" indent="0" algn="ctr">
              <a:buNone/>
              <a:defRPr sz="6000">
                <a:latin typeface="DM Sans" pitchFamily="2" charset="77"/>
              </a:defRPr>
            </a:lvl3pPr>
          </a:lstStyle>
          <a:p>
            <a:pPr lvl="2"/>
            <a:r>
              <a:rPr lang="en-US" dirty="0"/>
              <a:t>Title Section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B1747D0-142F-29F0-C111-4CA4BB0024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3556A67F-CC05-966A-014E-D6495F51325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8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55" r:id="rId17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A3E84-9222-E321-F48B-5FDB6F80A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225296"/>
            <a:ext cx="10363200" cy="2375155"/>
          </a:xfrm>
        </p:spPr>
        <p:txBody>
          <a:bodyPr>
            <a:normAutofit/>
          </a:bodyPr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Shop v2.1 – Store</a:t>
            </a:r>
            <a:b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Add more methods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638300" y="3810000"/>
            <a:ext cx="18669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435765"/>
              </a:buClr>
              <a:buFont typeface="Arial" panose="020B0604020202020204" pitchFamily="34" charset="0"/>
              <a:buNone/>
              <a:defRPr sz="24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20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6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6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/>
              <a:t>by: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77B55-D426-4543-B23A-EF19035B891C}"/>
              </a:ext>
            </a:extLst>
          </p:cNvPr>
          <p:cNvSpPr txBox="1"/>
          <p:nvPr/>
        </p:nvSpPr>
        <p:spPr>
          <a:xfrm>
            <a:off x="3616948" y="3810000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990DC8-0440-757B-AF63-49547F444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44" y="5314951"/>
            <a:ext cx="2332849" cy="13078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44F6508-DD03-A1CC-7286-4BC602EB4197}"/>
              </a:ext>
            </a:extLst>
          </p:cNvPr>
          <p:cNvSpPr txBox="1">
            <a:spLocks/>
          </p:cNvSpPr>
          <p:nvPr/>
        </p:nvSpPr>
        <p:spPr>
          <a:xfrm>
            <a:off x="1521448" y="620714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54FD8-2A1B-C7F2-0992-FF85F2EBF43C}"/>
              </a:ext>
            </a:extLst>
          </p:cNvPr>
          <p:cNvSpPr txBox="1"/>
          <p:nvPr/>
        </p:nvSpPr>
        <p:spPr>
          <a:xfrm>
            <a:off x="7445567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</p:spTree>
    <p:extLst>
      <p:ext uri="{BB962C8B-B14F-4D97-AF65-F5344CB8AC3E}">
        <p14:creationId xmlns:p14="http://schemas.microsoft.com/office/powerpoint/2010/main" val="2816668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8AD389-7E4D-2BD9-44B8-DC2C83447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ABDA18-F9B8-F38D-1563-0A059EC1C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603" y="-127588"/>
            <a:ext cx="5902457" cy="61285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2A2284-4CE1-D667-4B1D-595519B5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77" y="18090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Shop V2.1 – </a:t>
            </a:r>
            <a:br>
              <a:rPr lang="en-US" dirty="0"/>
            </a:br>
            <a:r>
              <a:rPr lang="en-US" dirty="0"/>
              <a:t>Store Class 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8ACE5-A241-26BE-8590-463A2C4E9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341"/>
            <a:ext cx="8654143" cy="4847318"/>
          </a:xfrm>
        </p:spPr>
        <p:txBody>
          <a:bodyPr>
            <a:normAutofit/>
          </a:bodyPr>
          <a:lstStyle/>
          <a:p>
            <a:endParaRPr lang="en-US" dirty="0">
              <a:highlight>
                <a:srgbClr val="FCCA3A"/>
              </a:highlight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D05B8-D7FF-152F-07AC-5A1DCDD5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A16FEB-041E-67B4-BA23-0B97B8B57317}"/>
              </a:ext>
            </a:extLst>
          </p:cNvPr>
          <p:cNvGrpSpPr/>
          <p:nvPr/>
        </p:nvGrpSpPr>
        <p:grpSpPr>
          <a:xfrm>
            <a:off x="2638912" y="2734615"/>
            <a:ext cx="7343379" cy="716129"/>
            <a:chOff x="2537650" y="4586382"/>
            <a:chExt cx="7343379" cy="716129"/>
          </a:xfrm>
        </p:grpSpPr>
        <p:sp>
          <p:nvSpPr>
            <p:cNvPr id="12" name="Rectangle: Rounded Corners 12">
              <a:extLst>
                <a:ext uri="{FF2B5EF4-FFF2-40B4-BE49-F238E27FC236}">
                  <a16:creationId xmlns:a16="http://schemas.microsoft.com/office/drawing/2014/main" id="{09C051BF-0F2B-620B-9304-56A85AF8CE64}"/>
                </a:ext>
              </a:extLst>
            </p:cNvPr>
            <p:cNvSpPr/>
            <p:nvPr/>
          </p:nvSpPr>
          <p:spPr>
            <a:xfrm>
              <a:off x="5994738" y="4788457"/>
              <a:ext cx="3886291" cy="514054"/>
            </a:xfrm>
            <a:prstGeom prst="roundRect">
              <a:avLst/>
            </a:prstGeom>
            <a:noFill/>
            <a:ln w="28575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328547A-DD39-7A92-6BB1-B79F795ECF75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 flipV="1">
              <a:off x="4512232" y="4964213"/>
              <a:ext cx="1482506" cy="81271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: Rounded Corners 33">
              <a:extLst>
                <a:ext uri="{FF2B5EF4-FFF2-40B4-BE49-F238E27FC236}">
                  <a16:creationId xmlns:a16="http://schemas.microsoft.com/office/drawing/2014/main" id="{48C2A469-69B8-0EC8-8917-8BA2A4B6D1DD}"/>
                </a:ext>
              </a:extLst>
            </p:cNvPr>
            <p:cNvSpPr/>
            <p:nvPr/>
          </p:nvSpPr>
          <p:spPr>
            <a:xfrm>
              <a:off x="2537650" y="4586382"/>
              <a:ext cx="2217354" cy="692857"/>
            </a:xfrm>
            <a:prstGeom prst="roundRect">
              <a:avLst/>
            </a:prstGeom>
            <a:solidFill>
              <a:srgbClr val="FCCA3A"/>
            </a:solidFill>
            <a:ln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35765"/>
                  </a:solidFill>
                </a:rPr>
                <a:t>constructor</a:t>
              </a:r>
              <a:endParaRPr lang="en-IE" dirty="0">
                <a:solidFill>
                  <a:srgbClr val="435765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0497C69-C9FA-72C2-EDA0-08740A52DBD2}"/>
              </a:ext>
            </a:extLst>
          </p:cNvPr>
          <p:cNvGrpSpPr/>
          <p:nvPr/>
        </p:nvGrpSpPr>
        <p:grpSpPr>
          <a:xfrm>
            <a:off x="2638912" y="3764673"/>
            <a:ext cx="7408963" cy="1244888"/>
            <a:chOff x="4525283" y="3979400"/>
            <a:chExt cx="5226559" cy="472550"/>
          </a:xfrm>
        </p:grpSpPr>
        <p:sp>
          <p:nvSpPr>
            <p:cNvPr id="18" name="Rectangle: Rounded Corners 12">
              <a:extLst>
                <a:ext uri="{FF2B5EF4-FFF2-40B4-BE49-F238E27FC236}">
                  <a16:creationId xmlns:a16="http://schemas.microsoft.com/office/drawing/2014/main" id="{095B9D32-3A1C-63AB-5473-15AC256A82DF}"/>
                </a:ext>
              </a:extLst>
            </p:cNvPr>
            <p:cNvSpPr/>
            <p:nvPr/>
          </p:nvSpPr>
          <p:spPr>
            <a:xfrm>
              <a:off x="6766015" y="3979400"/>
              <a:ext cx="2985827" cy="385592"/>
            </a:xfrm>
            <a:prstGeom prst="roundRect">
              <a:avLst/>
            </a:prstGeom>
            <a:noFill/>
            <a:ln w="28575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D1238DF-39AA-97F5-6184-3F051E947E0F}"/>
                </a:ext>
              </a:extLst>
            </p:cNvPr>
            <p:cNvCxnSpPr>
              <a:cxnSpLocks/>
              <a:stCxn id="18" idx="1"/>
              <a:endCxn id="20" idx="3"/>
            </p:cNvCxnSpPr>
            <p:nvPr/>
          </p:nvCxnSpPr>
          <p:spPr>
            <a:xfrm flipH="1">
              <a:off x="6399983" y="4172196"/>
              <a:ext cx="366032" cy="95088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33">
              <a:extLst>
                <a:ext uri="{FF2B5EF4-FFF2-40B4-BE49-F238E27FC236}">
                  <a16:creationId xmlns:a16="http://schemas.microsoft.com/office/drawing/2014/main" id="{410D263C-F6FE-9582-918C-030CC8889D63}"/>
                </a:ext>
              </a:extLst>
            </p:cNvPr>
            <p:cNvSpPr/>
            <p:nvPr/>
          </p:nvSpPr>
          <p:spPr>
            <a:xfrm>
              <a:off x="4525283" y="4082617"/>
              <a:ext cx="1874700" cy="369333"/>
            </a:xfrm>
            <a:prstGeom prst="roundRect">
              <a:avLst/>
            </a:prstGeom>
            <a:solidFill>
              <a:srgbClr val="FCCA3A"/>
            </a:solidFill>
            <a:ln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35765"/>
                  </a:solidFill>
                </a:rPr>
                <a:t>Private methods</a:t>
              </a:r>
              <a:endParaRPr lang="en-IE" dirty="0">
                <a:solidFill>
                  <a:srgbClr val="435765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1579C31-B437-5D76-BC23-B0D87AA319DB}"/>
              </a:ext>
            </a:extLst>
          </p:cNvPr>
          <p:cNvGrpSpPr/>
          <p:nvPr/>
        </p:nvGrpSpPr>
        <p:grpSpPr>
          <a:xfrm>
            <a:off x="2583628" y="4728354"/>
            <a:ext cx="8946909" cy="1438234"/>
            <a:chOff x="-3327213" y="2318221"/>
            <a:chExt cx="8622761" cy="2376201"/>
          </a:xfrm>
        </p:grpSpPr>
        <p:sp>
          <p:nvSpPr>
            <p:cNvPr id="25" name="Rectangle: Rounded Corners 12">
              <a:extLst>
                <a:ext uri="{FF2B5EF4-FFF2-40B4-BE49-F238E27FC236}">
                  <a16:creationId xmlns:a16="http://schemas.microsoft.com/office/drawing/2014/main" id="{14B9B3F5-B534-B754-2A0F-B20382CE02A8}"/>
                </a:ext>
              </a:extLst>
            </p:cNvPr>
            <p:cNvSpPr/>
            <p:nvPr/>
          </p:nvSpPr>
          <p:spPr>
            <a:xfrm>
              <a:off x="-347261" y="2318221"/>
              <a:ext cx="5642809" cy="2376201"/>
            </a:xfrm>
            <a:prstGeom prst="roundRect">
              <a:avLst/>
            </a:prstGeom>
            <a:noFill/>
            <a:ln w="28575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90306F3-5309-2941-EBB3-FE0FE547548F}"/>
                </a:ext>
              </a:extLst>
            </p:cNvPr>
            <p:cNvCxnSpPr>
              <a:cxnSpLocks/>
              <a:stCxn id="25" idx="1"/>
              <a:endCxn id="27" idx="3"/>
            </p:cNvCxnSpPr>
            <p:nvPr/>
          </p:nvCxnSpPr>
          <p:spPr>
            <a:xfrm flipH="1">
              <a:off x="-882666" y="3506322"/>
              <a:ext cx="535405" cy="518882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: Rounded Corners 33">
              <a:extLst>
                <a:ext uri="{FF2B5EF4-FFF2-40B4-BE49-F238E27FC236}">
                  <a16:creationId xmlns:a16="http://schemas.microsoft.com/office/drawing/2014/main" id="{051CAE2C-B065-5B30-6F7A-3277BAE2ECC3}"/>
                </a:ext>
              </a:extLst>
            </p:cNvPr>
            <p:cNvSpPr/>
            <p:nvPr/>
          </p:nvSpPr>
          <p:spPr>
            <a:xfrm>
              <a:off x="-3327213" y="3694260"/>
              <a:ext cx="2444547" cy="661889"/>
            </a:xfrm>
            <a:prstGeom prst="roundRect">
              <a:avLst/>
            </a:prstGeom>
            <a:solidFill>
              <a:srgbClr val="FCCA3A"/>
            </a:solidFill>
            <a:ln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35765"/>
                  </a:solidFill>
                </a:rPr>
                <a:t>public methods</a:t>
              </a:r>
              <a:endParaRPr lang="en-IE" dirty="0">
                <a:solidFill>
                  <a:srgbClr val="435765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14DEE10-965E-7EE6-2E8A-0BEA4D7E410D}"/>
              </a:ext>
            </a:extLst>
          </p:cNvPr>
          <p:cNvGrpSpPr/>
          <p:nvPr/>
        </p:nvGrpSpPr>
        <p:grpSpPr>
          <a:xfrm>
            <a:off x="2583628" y="1427709"/>
            <a:ext cx="9062938" cy="1043638"/>
            <a:chOff x="5004617" y="3884826"/>
            <a:chExt cx="6274674" cy="832333"/>
          </a:xfrm>
        </p:grpSpPr>
        <p:sp>
          <p:nvSpPr>
            <p:cNvPr id="29" name="Rectangle: Rounded Corners 12">
              <a:extLst>
                <a:ext uri="{FF2B5EF4-FFF2-40B4-BE49-F238E27FC236}">
                  <a16:creationId xmlns:a16="http://schemas.microsoft.com/office/drawing/2014/main" id="{BEB03353-9DE6-8508-739D-AFA1061E9364}"/>
                </a:ext>
              </a:extLst>
            </p:cNvPr>
            <p:cNvSpPr/>
            <p:nvPr/>
          </p:nvSpPr>
          <p:spPr>
            <a:xfrm>
              <a:off x="7387649" y="3884826"/>
              <a:ext cx="3891642" cy="832333"/>
            </a:xfrm>
            <a:prstGeom prst="roundRect">
              <a:avLst/>
            </a:prstGeom>
            <a:noFill/>
            <a:ln w="28575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B0C03C5-679A-6D91-594E-EDC87E60F777}"/>
                </a:ext>
              </a:extLst>
            </p:cNvPr>
            <p:cNvCxnSpPr>
              <a:cxnSpLocks/>
              <a:stCxn id="29" idx="1"/>
              <a:endCxn id="31" idx="3"/>
            </p:cNvCxnSpPr>
            <p:nvPr/>
          </p:nvCxnSpPr>
          <p:spPr>
            <a:xfrm flipH="1">
              <a:off x="6529326" y="4300993"/>
              <a:ext cx="858323" cy="19463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: Rounded Corners 33">
              <a:extLst>
                <a:ext uri="{FF2B5EF4-FFF2-40B4-BE49-F238E27FC236}">
                  <a16:creationId xmlns:a16="http://schemas.microsoft.com/office/drawing/2014/main" id="{A2C52901-6943-6E36-168D-EB8C596B7A81}"/>
                </a:ext>
              </a:extLst>
            </p:cNvPr>
            <p:cNvSpPr/>
            <p:nvPr/>
          </p:nvSpPr>
          <p:spPr>
            <a:xfrm>
              <a:off x="5004617" y="4135789"/>
              <a:ext cx="1524709" cy="369333"/>
            </a:xfrm>
            <a:prstGeom prst="roundRect">
              <a:avLst/>
            </a:prstGeom>
            <a:solidFill>
              <a:srgbClr val="FCCA3A"/>
            </a:solidFill>
            <a:ln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35765"/>
                  </a:solidFill>
                </a:rPr>
                <a:t>fields</a:t>
              </a:r>
              <a:endParaRPr lang="en-IE" dirty="0">
                <a:solidFill>
                  <a:srgbClr val="435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276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180180"/>
            <a:ext cx="10515600" cy="1325563"/>
          </a:xfrm>
        </p:spPr>
        <p:txBody>
          <a:bodyPr/>
          <a:lstStyle/>
          <a:p>
            <a:r>
              <a:rPr lang="en-US" dirty="0"/>
              <a:t>Shop V2.1 – Store – Fields and Constructor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CC56F-4920-419C-9449-97C33752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B2A02-708C-5E30-BB74-FD82186D8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090" y="2160838"/>
            <a:ext cx="10251267" cy="309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65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3B02B4-DD4C-B1A9-7919-E61E8C943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4766F-41E1-14A7-1E92-672AEB53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6" y="10397"/>
            <a:ext cx="10515600" cy="1325563"/>
          </a:xfrm>
        </p:spPr>
        <p:txBody>
          <a:bodyPr/>
          <a:lstStyle/>
          <a:p>
            <a:r>
              <a:rPr lang="en-US" dirty="0"/>
              <a:t>Shop V2.1 – Store (private methods)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F84C1-4CD5-BBCD-7859-3592D0E1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EE98EB-3442-EBAC-7A21-7D94024E9678}"/>
              </a:ext>
            </a:extLst>
          </p:cNvPr>
          <p:cNvSpPr txBox="1"/>
          <p:nvPr/>
        </p:nvSpPr>
        <p:spPr>
          <a:xfrm>
            <a:off x="280255" y="4732172"/>
            <a:ext cx="4988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b="1" dirty="0">
                <a:solidFill>
                  <a:srgbClr val="435765"/>
                </a:solidFill>
                <a:highlight>
                  <a:srgbClr val="FCCA3A"/>
                </a:highlight>
                <a:ea typeface="Inter" panose="02000503000000020004" pitchFamily="2" charset="0"/>
              </a:rPr>
              <a:t>getters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1600" b="1" dirty="0" err="1">
                <a:solidFill>
                  <a:srgbClr val="435765"/>
                </a:solidFill>
                <a:ea typeface="Inter" panose="02000503000000020004" pitchFamily="2" charset="0"/>
              </a:rPr>
              <a:t>isFull</a:t>
            </a:r>
            <a:r>
              <a:rPr lang="en-IE" sz="1600" b="1" dirty="0">
                <a:solidFill>
                  <a:srgbClr val="435765"/>
                </a:solidFill>
                <a:ea typeface="Inter" panose="02000503000000020004" pitchFamily="2" charset="0"/>
              </a:rPr>
              <a:t>()</a:t>
            </a:r>
            <a:r>
              <a:rPr lang="en-IE" sz="1600" dirty="0">
                <a:solidFill>
                  <a:srgbClr val="435765"/>
                </a:solidFill>
                <a:ea typeface="Inter" panose="02000503000000020004" pitchFamily="2" charset="0"/>
              </a:rPr>
              <a:t> &amp; </a:t>
            </a:r>
            <a:r>
              <a:rPr lang="en-IE" sz="1600" b="1" dirty="0" err="1">
                <a:solidFill>
                  <a:srgbClr val="435765"/>
                </a:solidFill>
                <a:ea typeface="Inter" panose="02000503000000020004" pitchFamily="2" charset="0"/>
              </a:rPr>
              <a:t>isEmpty</a:t>
            </a:r>
            <a:r>
              <a:rPr lang="en-IE" sz="1600" b="1" dirty="0">
                <a:solidFill>
                  <a:srgbClr val="435765"/>
                </a:solidFill>
                <a:ea typeface="Inter" panose="02000503000000020004" pitchFamily="2" charset="0"/>
              </a:rPr>
              <a:t>()</a:t>
            </a:r>
            <a:r>
              <a:rPr lang="en-IE" sz="1600" dirty="0">
                <a:solidFill>
                  <a:srgbClr val="435765"/>
                </a:solidFill>
                <a:ea typeface="Inter" panose="02000503000000020004" pitchFamily="2" charset="0"/>
              </a:rPr>
              <a:t> return state of fields.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435765"/>
                </a:solidFill>
                <a:ea typeface="Inter" panose="02000503000000020004" pitchFamily="2" charset="0"/>
              </a:rPr>
              <a:t>They are private member methods.</a:t>
            </a:r>
          </a:p>
          <a:p>
            <a:endParaRPr lang="en-US" sz="16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3ECA2-C21B-0376-69CB-8E3F9ED63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68" y="1335960"/>
            <a:ext cx="8881132" cy="323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9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F40346-9311-1E37-485F-0B093A3BF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530B-2708-CED5-179E-95A305403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6" y="10397"/>
            <a:ext cx="10515600" cy="1325563"/>
          </a:xfrm>
        </p:spPr>
        <p:txBody>
          <a:bodyPr/>
          <a:lstStyle/>
          <a:p>
            <a:r>
              <a:rPr lang="en-US" dirty="0"/>
              <a:t>Shop V2.1 – Store (</a:t>
            </a:r>
            <a:r>
              <a:rPr lang="en-US" dirty="0" err="1"/>
              <a:t>addProduct</a:t>
            </a:r>
            <a:r>
              <a:rPr lang="en-US" dirty="0"/>
              <a:t>() Method)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05625-216F-112E-4F66-87E02E8E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31BAC9-7A7C-FEC1-5678-705653F68CBE}"/>
              </a:ext>
            </a:extLst>
          </p:cNvPr>
          <p:cNvSpPr txBox="1"/>
          <p:nvPr/>
        </p:nvSpPr>
        <p:spPr>
          <a:xfrm>
            <a:off x="280255" y="4732172"/>
            <a:ext cx="4988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E" sz="1600" b="1" dirty="0">
              <a:solidFill>
                <a:srgbClr val="435765"/>
              </a:solidFill>
              <a:highlight>
                <a:srgbClr val="FCCA3A"/>
              </a:highlight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 err="1">
                <a:solidFill>
                  <a:srgbClr val="435765"/>
                </a:solidFill>
                <a:ea typeface="Inter" panose="02000503000000020004" pitchFamily="2" charset="0"/>
              </a:rPr>
              <a:t>addProduct</a:t>
            </a:r>
            <a:r>
              <a:rPr lang="en-IE" sz="1600" dirty="0">
                <a:solidFill>
                  <a:srgbClr val="435765"/>
                </a:solidFill>
                <a:ea typeface="Inter" panose="02000503000000020004" pitchFamily="2" charset="0"/>
              </a:rPr>
              <a:t>() makes use of private method </a:t>
            </a:r>
            <a:r>
              <a:rPr lang="en-IE" sz="1600" b="1" dirty="0" err="1">
                <a:solidFill>
                  <a:srgbClr val="435765"/>
                </a:solidFill>
                <a:ea typeface="Inter" panose="02000503000000020004" pitchFamily="2" charset="0"/>
              </a:rPr>
              <a:t>isFull</a:t>
            </a:r>
            <a:r>
              <a:rPr lang="en-IE" sz="1600" b="1" dirty="0">
                <a:solidFill>
                  <a:srgbClr val="435765"/>
                </a:solidFill>
                <a:ea typeface="Inter" panose="02000503000000020004" pitchFamily="2" charset="0"/>
              </a:rPr>
              <a:t>()</a:t>
            </a:r>
          </a:p>
          <a:p>
            <a:endParaRPr lang="en-IE" sz="1600" b="1" dirty="0">
              <a:solidFill>
                <a:srgbClr val="435765"/>
              </a:solidFill>
              <a:highlight>
                <a:srgbClr val="FCCA3A"/>
              </a:highlight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BFCD3-3F5D-F023-68ED-8AEF5BD95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59" y="1294831"/>
            <a:ext cx="8173791" cy="346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02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F471659-B9DE-BF62-DCD7-B09AE3626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160" y="4543425"/>
            <a:ext cx="6332196" cy="25205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6" y="10397"/>
            <a:ext cx="10515600" cy="1325563"/>
          </a:xfrm>
        </p:spPr>
        <p:txBody>
          <a:bodyPr/>
          <a:lstStyle/>
          <a:p>
            <a:r>
              <a:rPr lang="en-US" dirty="0"/>
              <a:t>Shop V2.1 – Store (</a:t>
            </a:r>
            <a:r>
              <a:rPr lang="en-US" dirty="0" err="1"/>
              <a:t>listProducts</a:t>
            </a:r>
            <a:r>
              <a:rPr lang="en-US" dirty="0"/>
              <a:t>())</a:t>
            </a:r>
            <a:endParaRPr lang="en-I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835C41-B901-7BD5-591E-EEA699C3DE24}"/>
              </a:ext>
            </a:extLst>
          </p:cNvPr>
          <p:cNvSpPr txBox="1"/>
          <p:nvPr/>
        </p:nvSpPr>
        <p:spPr>
          <a:xfrm>
            <a:off x="280254" y="4732172"/>
            <a:ext cx="341344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b="1" dirty="0">
                <a:solidFill>
                  <a:srgbClr val="435765"/>
                </a:solidFill>
                <a:highlight>
                  <a:srgbClr val="FCCA3A"/>
                </a:highlight>
                <a:ea typeface="Inter" panose="02000503000000020004" pitchFamily="2" charset="0"/>
              </a:rPr>
              <a:t>list </a:t>
            </a:r>
          </a:p>
          <a:p>
            <a:endParaRPr lang="en-IE" sz="1600" b="1" dirty="0">
              <a:solidFill>
                <a:srgbClr val="435765"/>
              </a:solidFill>
              <a:highlight>
                <a:srgbClr val="FCCA3A"/>
              </a:highlight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 err="1">
                <a:solidFill>
                  <a:srgbClr val="435765"/>
                </a:solidFill>
                <a:ea typeface="Inter" panose="02000503000000020004" pitchFamily="2" charset="0"/>
              </a:rPr>
              <a:t>toString</a:t>
            </a:r>
            <a:r>
              <a:rPr lang="en-IE" sz="1600" dirty="0">
                <a:solidFill>
                  <a:srgbClr val="435765"/>
                </a:solidFill>
                <a:ea typeface="Inter" panose="02000503000000020004" pitchFamily="2" charset="0"/>
              </a:rPr>
              <a:t> ’type’ method </a:t>
            </a:r>
            <a:r>
              <a:rPr lang="en-IE" sz="1600" dirty="0" err="1">
                <a:solidFill>
                  <a:srgbClr val="435765"/>
                </a:solidFill>
                <a:ea typeface="Inter" panose="02000503000000020004" pitchFamily="2" charset="0"/>
              </a:rPr>
              <a:t>listProducts</a:t>
            </a:r>
            <a:r>
              <a:rPr lang="en-IE" sz="1600" dirty="0">
                <a:solidFill>
                  <a:srgbClr val="435765"/>
                </a:solidFill>
                <a:ea typeface="Inter" panose="02000503000000020004" pitchFamily="2" charset="0"/>
              </a:rPr>
              <a:t>() makes use of private method </a:t>
            </a:r>
            <a:r>
              <a:rPr lang="en-IE" sz="1600" b="1" dirty="0" err="1">
                <a:solidFill>
                  <a:srgbClr val="435765"/>
                </a:solidFill>
                <a:ea typeface="Inter" panose="02000503000000020004" pitchFamily="2" charset="0"/>
              </a:rPr>
              <a:t>isEmpty</a:t>
            </a:r>
            <a:r>
              <a:rPr lang="en-IE" sz="1600" b="1" dirty="0">
                <a:solidFill>
                  <a:srgbClr val="435765"/>
                </a:solidFill>
                <a:ea typeface="Inter" panose="02000503000000020004" pitchFamily="2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sz="16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600" b="1" dirty="0">
              <a:solidFill>
                <a:srgbClr val="435765"/>
              </a:solidFill>
              <a:highlight>
                <a:srgbClr val="FCCA3A"/>
              </a:highlight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12582" y="4543425"/>
            <a:ext cx="2256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Product Class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E6C545-9738-7AA2-E929-E485FE796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53" y="1209408"/>
            <a:ext cx="9860805" cy="318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 flipH="1">
            <a:off x="9855968" y="4841896"/>
            <a:ext cx="3046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Product Class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786D60-6B4F-FA67-A07D-13342DF51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335960"/>
            <a:ext cx="7772400" cy="38082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EAB673-7034-F3D5-1FC4-2B08E2B7D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512" y="5303561"/>
            <a:ext cx="3911600" cy="965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63B0D1A-6018-7D34-F756-AA0C4F4D4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10397"/>
            <a:ext cx="11091181" cy="132556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Shop V2.1 – Store (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listProductsAbovePrice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(..))</a:t>
            </a:r>
            <a:endParaRPr lang="en-I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95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611B3-981D-5763-571C-D78BAAB3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13" y="146301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Shop V2.1 – Store (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cheapestProduct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())</a:t>
            </a:r>
            <a:endParaRPr lang="en-I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F99FA8-13CA-9058-F4DC-B4B0D138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2" y="1471864"/>
            <a:ext cx="9757608" cy="3252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653B0C-DB3B-8711-D372-1C252DD30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011" y="5149850"/>
            <a:ext cx="4203700" cy="1130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CC5248-6AB4-FF79-5E99-0B8E5EBD2E3E}"/>
              </a:ext>
            </a:extLst>
          </p:cNvPr>
          <p:cNvSpPr txBox="1"/>
          <p:nvPr/>
        </p:nvSpPr>
        <p:spPr>
          <a:xfrm flipH="1">
            <a:off x="8768861" y="4830686"/>
            <a:ext cx="3046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Product Class</a:t>
            </a:r>
          </a:p>
        </p:txBody>
      </p:sp>
    </p:spTree>
    <p:extLst>
      <p:ext uri="{BB962C8B-B14F-4D97-AF65-F5344CB8AC3E}">
        <p14:creationId xmlns:p14="http://schemas.microsoft.com/office/powerpoint/2010/main" val="2790754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 txBox="1">
            <a:spLocks/>
          </p:cNvSpPr>
          <p:nvPr/>
        </p:nvSpPr>
        <p:spPr>
          <a:xfrm>
            <a:off x="0" y="10397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Shop V2.1 – Store (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listCurrentProducts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())</a:t>
            </a:r>
            <a:endParaRPr lang="en-IE" b="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99708" y="5262285"/>
            <a:ext cx="2587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Product Class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AE188A-FF7A-DA4C-B7E9-2CE5F2BEC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31" y="1183541"/>
            <a:ext cx="8853270" cy="4388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0AC583-4492-B464-23D4-D95007EE9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5795388"/>
            <a:ext cx="55245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90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 txBox="1">
            <a:spLocks/>
          </p:cNvSpPr>
          <p:nvPr/>
        </p:nvSpPr>
        <p:spPr>
          <a:xfrm>
            <a:off x="0" y="10397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Shop V2.1 – Store (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averageProductPrice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())</a:t>
            </a:r>
            <a:endParaRPr lang="en-IE" b="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10108226" y="5060375"/>
            <a:ext cx="3046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Product Class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C8C864-EF3F-CDDD-654A-C2B3C9D24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590" y="5522040"/>
            <a:ext cx="3911600" cy="96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DEE834-39FA-4CE3-EE86-CC4051680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4" y="1335960"/>
            <a:ext cx="8692649" cy="387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86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B48165-ED13-E5C9-E178-9D6D3F518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5ECA2F-80FC-B47B-DF40-1B64A5C0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93E322-4160-1DA5-BB66-C351E47B5C7E}"/>
              </a:ext>
            </a:extLst>
          </p:cNvPr>
          <p:cNvSpPr txBox="1">
            <a:spLocks/>
          </p:cNvSpPr>
          <p:nvPr/>
        </p:nvSpPr>
        <p:spPr>
          <a:xfrm>
            <a:off x="0" y="10397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Shop V2.1 – Driver</a:t>
            </a:r>
            <a:endParaRPr lang="en-IE" b="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1504E7-80E4-AE3E-E9EB-8E467E0A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057" y="1082894"/>
            <a:ext cx="6223000" cy="553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20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D9FE3005-6898-AE48-EAD7-0FCD9A2CD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6ECC83E-24B4-6C2F-DC5B-48211CED4C6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</p:spPr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59842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A7B4F4F87092419B4836663A979F72" ma:contentTypeVersion="6" ma:contentTypeDescription="Create a new document." ma:contentTypeScope="" ma:versionID="531b2ba1b898dc8b42c55cf8c03cb047">
  <xsd:schema xmlns:xsd="http://www.w3.org/2001/XMLSchema" xmlns:xs="http://www.w3.org/2001/XMLSchema" xmlns:p="http://schemas.microsoft.com/office/2006/metadata/properties" xmlns:ns3="2e073d95-02bc-4c31-9707-1f7b5f2564cb" targetNamespace="http://schemas.microsoft.com/office/2006/metadata/properties" ma:root="true" ma:fieldsID="fd5281531450ceba7a278559f279e1c5" ns3:_="">
    <xsd:import namespace="2e073d95-02bc-4c31-9707-1f7b5f2564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73d95-02bc-4c31-9707-1f7b5f2564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7BD72B-E314-4A2C-A344-AF1319C38FF7}">
  <ds:schemaRefs>
    <ds:schemaRef ds:uri="http://schemas.microsoft.com/office/infopath/2007/PartnerControls"/>
    <ds:schemaRef ds:uri="2e073d95-02bc-4c31-9707-1f7b5f2564cb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F0734DE-2FC5-4E40-8FD1-4F58D8D245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F22BB4-DEB1-4350-A975-AD2B0CFB54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073d95-02bc-4c31-9707-1f7b5f256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a-methods-terminology.</Template>
  <TotalTime>4051</TotalTime>
  <Words>160</Words>
  <Application>Microsoft Macintosh PowerPoint</Application>
  <PresentationFormat>Widescreen</PresentationFormat>
  <Paragraphs>38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DM Sans</vt:lpstr>
      <vt:lpstr>Inter</vt:lpstr>
      <vt:lpstr>Inter Medium</vt:lpstr>
      <vt:lpstr>a-processing-mouse-event-methods</vt:lpstr>
      <vt:lpstr>Shop v2.1 – Store Add more methods</vt:lpstr>
      <vt:lpstr>Shop V2.1 –  Store Class </vt:lpstr>
      <vt:lpstr>Shop V2.1 – Store – Fields and Constructor</vt:lpstr>
      <vt:lpstr>Shop V2.1 – Store (private methods)</vt:lpstr>
      <vt:lpstr>Shop V2.1 – Store (addProduct() Method)</vt:lpstr>
      <vt:lpstr>Shop V2.1 – Store (listProducts())</vt:lpstr>
      <vt:lpstr>Shop V2.1 – Store (listProductsAbovePrice(..))</vt:lpstr>
      <vt:lpstr>Shop V2.1 – Store (cheapestProduct())</vt:lpstr>
      <vt:lpstr>PowerPoint Presentation</vt:lpstr>
      <vt:lpstr>PowerPoint Presentation</vt:lpstr>
      <vt:lpstr>PowerPoint Presentation</vt:lpstr>
      <vt:lpstr>Questions?</vt:lpstr>
      <vt:lpstr>PowerPoint Presentation</vt:lpstr>
    </vt:vector>
  </TitlesOfParts>
  <Manager/>
  <Company>SETU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subject>Software Engineering Teams</dc:subject>
  <dc:creator>David Hearne</dc:creator>
  <cp:keywords/>
  <dc:description/>
  <cp:lastModifiedBy>Mairead Meagher</cp:lastModifiedBy>
  <cp:revision>51</cp:revision>
  <dcterms:created xsi:type="dcterms:W3CDTF">2022-12-30T08:26:58Z</dcterms:created>
  <dcterms:modified xsi:type="dcterms:W3CDTF">2025-11-12T23:07:09Z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0x01010074A7B4F4F87092419B4836663A979F72</vt:lpwstr>
  </property>
</Properties>
</file>