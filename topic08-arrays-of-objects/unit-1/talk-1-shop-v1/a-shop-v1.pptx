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56" r:id="rId2"/>
    <p:sldId id="631" r:id="rId3"/>
    <p:sldId id="632" r:id="rId4"/>
    <p:sldId id="399" r:id="rId5"/>
    <p:sldId id="633" r:id="rId6"/>
    <p:sldId id="585" r:id="rId7"/>
    <p:sldId id="622" r:id="rId8"/>
    <p:sldId id="623" r:id="rId9"/>
    <p:sldId id="588" r:id="rId10"/>
    <p:sldId id="634" r:id="rId11"/>
    <p:sldId id="635" r:id="rId12"/>
    <p:sldId id="592" r:id="rId13"/>
    <p:sldId id="591" r:id="rId14"/>
    <p:sldId id="586" r:id="rId15"/>
    <p:sldId id="636" r:id="rId16"/>
    <p:sldId id="594" r:id="rId17"/>
    <p:sldId id="624" r:id="rId18"/>
    <p:sldId id="625" r:id="rId19"/>
    <p:sldId id="605" r:id="rId20"/>
    <p:sldId id="595" r:id="rId21"/>
    <p:sldId id="626" r:id="rId22"/>
    <p:sldId id="627" r:id="rId23"/>
    <p:sldId id="606" r:id="rId24"/>
    <p:sldId id="628" r:id="rId25"/>
    <p:sldId id="596" r:id="rId26"/>
    <p:sldId id="590" r:id="rId27"/>
    <p:sldId id="614" r:id="rId28"/>
    <p:sldId id="629" r:id="rId29"/>
    <p:sldId id="613" r:id="rId30"/>
    <p:sldId id="637" r:id="rId31"/>
    <p:sldId id="638" r:id="rId32"/>
    <p:sldId id="617" r:id="rId33"/>
    <p:sldId id="630" r:id="rId34"/>
    <p:sldId id="619" r:id="rId35"/>
    <p:sldId id="620" r:id="rId36"/>
    <p:sldId id="30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1D38E"/>
    <a:srgbClr val="FCBAC5"/>
    <a:srgbClr val="F9C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23" autoAdjust="0"/>
    <p:restoredTop sz="94722"/>
  </p:normalViewPr>
  <p:slideViewPr>
    <p:cSldViewPr>
      <p:cViewPr>
        <p:scale>
          <a:sx n="92" d="100"/>
          <a:sy n="92" d="100"/>
        </p:scale>
        <p:origin x="144" y="65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9" d="100"/>
        <a:sy n="49" d="100"/>
      </p:scale>
      <p:origin x="0" y="-941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03/11/2025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3754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12274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E85BA6-CFDF-430E-8374-ADA2BF6C5E53}" type="slidenum">
              <a:rPr lang="en-GB"/>
              <a:pPr/>
              <a:t>18</a:t>
            </a:fld>
            <a:endParaRPr lang="en-GB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44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83502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22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33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75285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8158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45688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770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584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617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006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6779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2640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1756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505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75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44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618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2961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911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56376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840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3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encapsulation.htm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Recap of OO concepts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Objects, classes, methods and more.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EA994E-0963-4EFE-88CD-BCD98921E0EA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EB19B4-6F2E-20EA-7950-B1C568A708FF}"/>
              </a:ext>
            </a:extLst>
          </p:cNvPr>
          <p:cNvSpPr txBox="1"/>
          <p:nvPr/>
        </p:nvSpPr>
        <p:spPr>
          <a:xfrm>
            <a:off x="3505200" y="3788229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17C8F6-9742-DBA5-F966-8412DE885A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Classes</a:t>
            </a:r>
            <a:r>
              <a:rPr lang="en-IE" dirty="0"/>
              <a:t>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1"/>
            <a:ext cx="9525000" cy="4980801"/>
          </a:xfrm>
        </p:spPr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defines a group of related </a:t>
            </a:r>
            <a:r>
              <a:rPr lang="en-IE" b="1" dirty="0"/>
              <a:t>methods</a:t>
            </a:r>
            <a:r>
              <a:rPr lang="en-IE" dirty="0"/>
              <a:t> (functions) and </a:t>
            </a:r>
            <a:r>
              <a:rPr lang="en-IE" b="1" dirty="0"/>
              <a:t>fields</a:t>
            </a:r>
            <a:r>
              <a:rPr lang="en-IE" dirty="0"/>
              <a:t> (variables / properties).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5874DE-90EA-41EA-86E5-51E7A0D9B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352801"/>
            <a:ext cx="4034908" cy="24780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6FCCA-C00B-49E6-8B3D-B324B23AC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4895" y="2884087"/>
            <a:ext cx="4251318" cy="341552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598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Classes and </a:t>
            </a:r>
            <a:r>
              <a:rPr lang="en-IE" b="1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2895599"/>
          </a:xfrm>
        </p:spPr>
        <p:txBody>
          <a:bodyPr>
            <a:normAutofit/>
          </a:bodyPr>
          <a:lstStyle/>
          <a:p>
            <a:r>
              <a:rPr lang="en-IE" dirty="0"/>
              <a:t>An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is a single instance of a class </a:t>
            </a:r>
          </a:p>
          <a:p>
            <a:pPr lvl="1"/>
            <a:r>
              <a:rPr lang="en-IE" dirty="0"/>
              <a:t>i.e. an object is created (instantiated) from a class.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E3CB2-F2C5-4545-9C1D-2FF645411CBB}"/>
              </a:ext>
            </a:extLst>
          </p:cNvPr>
          <p:cNvSpPr/>
          <p:nvPr/>
        </p:nvSpPr>
        <p:spPr>
          <a:xfrm>
            <a:off x="3657600" y="3733801"/>
            <a:ext cx="4374356" cy="292020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FEC5DA-C691-4A16-BFAC-95576BE9D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277520"/>
            <a:ext cx="7620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6" name="Text Box 9">
            <a:extLst>
              <a:ext uri="{FF2B5EF4-FFF2-40B4-BE49-F238E27FC236}">
                <a16:creationId xmlns:a16="http://schemas.microsoft.com/office/drawing/2014/main" id="{6BCD8AFD-9026-4584-BB0C-DA0914FEC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3733801"/>
            <a:ext cx="23622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String a;</a:t>
            </a:r>
          </a:p>
        </p:txBody>
      </p:sp>
      <p:sp>
        <p:nvSpPr>
          <p:cNvPr id="7" name="Arrow: Right 17">
            <a:extLst>
              <a:ext uri="{FF2B5EF4-FFF2-40B4-BE49-F238E27FC236}">
                <a16:creationId xmlns:a16="http://schemas.microsoft.com/office/drawing/2014/main" id="{90064D53-8AFB-4A36-BA20-25ADE20F0BE9}"/>
              </a:ext>
            </a:extLst>
          </p:cNvPr>
          <p:cNvSpPr/>
          <p:nvPr/>
        </p:nvSpPr>
        <p:spPr>
          <a:xfrm>
            <a:off x="1752600" y="3226197"/>
            <a:ext cx="1828800" cy="1676400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String</a:t>
            </a:r>
            <a:r>
              <a:rPr lang="en-IE" sz="2400" dirty="0"/>
              <a:t> is the Class</a:t>
            </a:r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C30C3CDF-DEA8-45B0-990D-88395B3AA3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5984" y="5562728"/>
            <a:ext cx="1481138" cy="400759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“Hello”</a:t>
            </a:r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6C425F9A-7CE8-466A-AEAF-CC71F0BA9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4526756" y="4350669"/>
            <a:ext cx="1264445" cy="121205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E383D759-3D69-43BE-BD20-70D6E14EC852}"/>
              </a:ext>
            </a:extLst>
          </p:cNvPr>
          <p:cNvSpPr/>
          <p:nvPr/>
        </p:nvSpPr>
        <p:spPr>
          <a:xfrm>
            <a:off x="6794285" y="4835503"/>
            <a:ext cx="3733800" cy="1818503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a</a:t>
            </a:r>
            <a:r>
              <a:rPr lang="en-IE" sz="2400" dirty="0"/>
              <a:t> is the Object, </a:t>
            </a:r>
            <a:br>
              <a:rPr lang="en-IE" sz="2400" dirty="0"/>
            </a:br>
            <a:r>
              <a:rPr lang="en-IE" sz="2400" dirty="0"/>
              <a:t>which contains “Hello”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677" y="4203986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7469" y="5347590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</p:spTree>
    <p:extLst>
      <p:ext uri="{BB962C8B-B14F-4D97-AF65-F5344CB8AC3E}">
        <p14:creationId xmlns:p14="http://schemas.microsoft.com/office/powerpoint/2010/main" val="191676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Classes and Objects – </a:t>
            </a:r>
            <a:r>
              <a:rPr lang="en-IE" b="1" dirty="0"/>
              <a:t>Many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r>
              <a:rPr lang="en-IE" dirty="0"/>
              <a:t>Many </a:t>
            </a:r>
            <a:r>
              <a:rPr lang="en-IE" b="1" dirty="0">
                <a:solidFill>
                  <a:srgbClr val="FF0000"/>
                </a:solidFill>
              </a:rPr>
              <a:t>objects</a:t>
            </a:r>
            <a:r>
              <a:rPr lang="en-IE" dirty="0"/>
              <a:t> can be constructed from a single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definition.</a:t>
            </a:r>
          </a:p>
          <a:p>
            <a:endParaRPr lang="en-IE" dirty="0"/>
          </a:p>
          <a:p>
            <a:r>
              <a:rPr lang="en-IE" dirty="0"/>
              <a:t>Each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must have a unique name within the program.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02473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400" dirty="0"/>
              <a:t>Shop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2800" dirty="0" err="1"/>
              <a:t>Ver</a:t>
            </a:r>
            <a:r>
              <a:rPr lang="en-GB" sz="2800" dirty="0"/>
              <a:t> 1.0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390650"/>
            <a:ext cx="4076700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798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We will recap object oriented concepts through the study of a new class called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.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3048000" y="3507254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6781800" y="5259854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5105400" y="4040654"/>
            <a:ext cx="2705100" cy="1219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82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9" y="1752601"/>
            <a:ext cx="3810000" cy="4525963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 class stores </a:t>
            </a:r>
            <a:r>
              <a:rPr lang="en-IE" b="1" dirty="0"/>
              <a:t>details</a:t>
            </a:r>
            <a:r>
              <a:rPr lang="en-IE" dirty="0"/>
              <a:t> about a product</a:t>
            </a:r>
          </a:p>
          <a:p>
            <a:pPr lvl="1"/>
            <a:r>
              <a:rPr lang="en-IE" dirty="0"/>
              <a:t>name </a:t>
            </a:r>
          </a:p>
          <a:p>
            <a:pPr lvl="1"/>
            <a:r>
              <a:rPr lang="en-IE" dirty="0"/>
              <a:t>code </a:t>
            </a:r>
          </a:p>
          <a:p>
            <a:pPr lvl="1"/>
            <a:r>
              <a:rPr lang="en-IE" dirty="0"/>
              <a:t>unit cost </a:t>
            </a:r>
          </a:p>
          <a:p>
            <a:pPr lvl="1"/>
            <a:r>
              <a:rPr lang="en-IE" dirty="0"/>
              <a:t>in the current product line or not?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57400" y="17526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114800" y="2286000"/>
            <a:ext cx="1104900" cy="24384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4191000" y="4724400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751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Driver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9296400" cy="5105400"/>
          </a:xfrm>
        </p:spPr>
        <p:txBody>
          <a:bodyPr>
            <a:norm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chemeClr val="accent6"/>
                </a:solidFill>
              </a:rPr>
              <a:t>Driver</a:t>
            </a:r>
            <a:r>
              <a:rPr lang="en-IE" sz="2800" dirty="0">
                <a:solidFill>
                  <a:schemeClr val="accent6"/>
                </a:solidFill>
              </a:rPr>
              <a:t> </a:t>
            </a:r>
            <a:r>
              <a:rPr lang="en-IE" sz="2800" dirty="0"/>
              <a:t>class </a:t>
            </a:r>
          </a:p>
          <a:p>
            <a:pPr lvl="1"/>
            <a:r>
              <a:rPr lang="en-IE" dirty="0"/>
              <a:t>has the </a:t>
            </a:r>
            <a:r>
              <a:rPr lang="en-IE" b="1" dirty="0">
                <a:solidFill>
                  <a:srgbClr val="FF0000"/>
                </a:solidFill>
              </a:rPr>
              <a:t>main()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method.  </a:t>
            </a:r>
          </a:p>
          <a:p>
            <a:pPr lvl="1"/>
            <a:r>
              <a:rPr lang="en-IE" b="1" dirty="0"/>
              <a:t>reads</a:t>
            </a:r>
            <a:r>
              <a:rPr lang="en-IE" dirty="0"/>
              <a:t> the product details from the user (via the console)</a:t>
            </a:r>
          </a:p>
          <a:p>
            <a:pPr lvl="1"/>
            <a:r>
              <a:rPr lang="en-IE" b="1" dirty="0"/>
              <a:t>creates</a:t>
            </a:r>
            <a:r>
              <a:rPr lang="en-IE" dirty="0"/>
              <a:t> a new Product object.  </a:t>
            </a:r>
          </a:p>
          <a:p>
            <a:pPr lvl="1"/>
            <a:r>
              <a:rPr lang="en-IE" b="1" dirty="0"/>
              <a:t>prints</a:t>
            </a:r>
            <a:r>
              <a:rPr lang="en-IE" dirty="0"/>
              <a:t> the product object</a:t>
            </a:r>
            <a:br>
              <a:rPr lang="en-IE" dirty="0"/>
            </a:br>
            <a:r>
              <a:rPr lang="en-IE" dirty="0"/>
              <a:t>(to the console)</a:t>
            </a:r>
            <a:br>
              <a:rPr lang="en-IE" dirty="0"/>
            </a:br>
            <a:endParaRPr lang="en-IE" dirty="0"/>
          </a:p>
          <a:p>
            <a:r>
              <a:rPr lang="en-IE" sz="2800" b="1" dirty="0">
                <a:solidFill>
                  <a:schemeClr val="accent6"/>
                </a:solidFill>
              </a:rPr>
              <a:t>Driver </a:t>
            </a:r>
            <a:r>
              <a:rPr lang="en-IE" sz="2800" dirty="0"/>
              <a:t>is covered in the next lecture.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7315200" y="762000"/>
            <a:ext cx="2057400" cy="1066800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9067800" y="4091781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9372600" y="1295401"/>
            <a:ext cx="723900" cy="279638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572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F776987-7941-F89E-2525-7BDB37700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035" y="1709865"/>
            <a:ext cx="5524500" cy="26289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96293" y="69267"/>
            <a:ext cx="335280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Object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  <a:p>
            <a:pPr algn="ctr"/>
            <a:r>
              <a:rPr lang="en-IE" sz="2400" dirty="0"/>
              <a:t>i.e. Product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609600" y="1896664"/>
            <a:ext cx="384810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</a:t>
            </a:r>
            <a:r>
              <a:rPr lang="en-IE" sz="2400" b="1" dirty="0"/>
              <a:t>C</a:t>
            </a:r>
            <a:r>
              <a:rPr lang="en-IE" sz="2400" dirty="0"/>
              <a:t> icon means it is a </a:t>
            </a:r>
            <a:r>
              <a:rPr lang="en-IE" sz="2400" b="1" dirty="0"/>
              <a:t>Class</a:t>
            </a:r>
            <a:r>
              <a:rPr lang="en-IE" sz="2400" dirty="0"/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</p:cNvCxnSpPr>
          <p:nvPr/>
        </p:nvCxnSpPr>
        <p:spPr>
          <a:xfrm>
            <a:off x="4457614" y="2162204"/>
            <a:ext cx="3512105" cy="99174"/>
          </a:xfrm>
          <a:prstGeom prst="straightConnector1">
            <a:avLst/>
          </a:prstGeom>
          <a:ln w="28575">
            <a:solidFill>
              <a:schemeClr val="accent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589613" y="4329439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‘+’ means it is </a:t>
            </a:r>
            <a:r>
              <a:rPr lang="en-IE" sz="2400" b="1" dirty="0"/>
              <a:t>public</a:t>
            </a:r>
            <a:r>
              <a:rPr lang="en-IE" sz="240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5290483" y="3895388"/>
            <a:ext cx="505480" cy="664884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C7FD38-AFFF-4C8F-A2FA-103ABA30C76D}"/>
              </a:ext>
            </a:extLst>
          </p:cNvPr>
          <p:cNvSpPr/>
          <p:nvPr/>
        </p:nvSpPr>
        <p:spPr>
          <a:xfrm>
            <a:off x="7624477" y="2015344"/>
            <a:ext cx="1896045" cy="381000"/>
          </a:xfrm>
          <a:prstGeom prst="round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7229107" y="505927"/>
            <a:ext cx="1343392" cy="1659281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E10EDEF-23A0-164C-0D6C-354490400320}"/>
              </a:ext>
            </a:extLst>
          </p:cNvPr>
          <p:cNvSpPr txBox="1"/>
          <p:nvPr/>
        </p:nvSpPr>
        <p:spPr>
          <a:xfrm>
            <a:off x="348231" y="3159215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‘-’ means it is </a:t>
            </a:r>
            <a:r>
              <a:rPr lang="en-IE" sz="2400" b="1" dirty="0"/>
              <a:t>private</a:t>
            </a:r>
            <a:r>
              <a:rPr lang="en-IE" sz="2400" dirty="0"/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87431A-0E73-589D-A605-871DD6DE0FC0}"/>
              </a:ext>
            </a:extLst>
          </p:cNvPr>
          <p:cNvCxnSpPr>
            <a:cxnSpLocks/>
          </p:cNvCxnSpPr>
          <p:nvPr/>
        </p:nvCxnSpPr>
        <p:spPr>
          <a:xfrm flipV="1">
            <a:off x="5098156" y="2538161"/>
            <a:ext cx="567937" cy="955882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3422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  <p:bldP spid="15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A137E3E-B90D-E7C0-8841-6C916F45A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1544018"/>
            <a:ext cx="5524500" cy="26289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9322"/>
            <a:ext cx="3429000" cy="1015663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attributes / properties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of the class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5334000" y="2133600"/>
            <a:ext cx="2362201" cy="609600"/>
          </a:xfrm>
          <a:prstGeom prst="roundRect">
            <a:avLst/>
          </a:prstGeom>
          <a:noFill/>
          <a:ln w="38100"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endCxn id="7" idx="1"/>
          </p:cNvCxnSpPr>
          <p:nvPr/>
        </p:nvCxnSpPr>
        <p:spPr>
          <a:xfrm>
            <a:off x="4267201" y="2356860"/>
            <a:ext cx="1066799" cy="8154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973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392D32B-5532-698A-6B91-153924162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747486"/>
            <a:ext cx="5524500" cy="26289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1945642" y="3228945"/>
            <a:ext cx="16002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2157971" y="1547431"/>
            <a:ext cx="161589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type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</p:cNvCxnSpPr>
          <p:nvPr/>
        </p:nvCxnSpPr>
        <p:spPr>
          <a:xfrm flipV="1">
            <a:off x="3549356" y="2550592"/>
            <a:ext cx="2241844" cy="878408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</p:cNvCxnSpPr>
          <p:nvPr/>
        </p:nvCxnSpPr>
        <p:spPr>
          <a:xfrm>
            <a:off x="3796025" y="1699591"/>
            <a:ext cx="1385575" cy="719343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20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B659F0F3-481F-3DCB-B115-319728DDA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944" y="763067"/>
            <a:ext cx="5524500" cy="26289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br>
              <a:rPr lang="en-IE" sz="3600" b="1" dirty="0"/>
            </a:br>
            <a:r>
              <a:rPr lang="en-IE" sz="3600" b="1" dirty="0"/>
              <a:t>Constructor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59055" y="1600200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561840" y="1906067"/>
            <a:ext cx="5334760" cy="274169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4953000" y="1985681"/>
            <a:ext cx="558055" cy="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54BF45E-94EB-4FAE-ACC1-3C8D5081B9A6}"/>
              </a:ext>
            </a:extLst>
          </p:cNvPr>
          <p:cNvSpPr txBox="1"/>
          <p:nvPr/>
        </p:nvSpPr>
        <p:spPr>
          <a:xfrm>
            <a:off x="281259" y="4016345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Constructors have same name as the class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C11272-E773-4288-84E5-15121F65542E}"/>
              </a:ext>
            </a:extLst>
          </p:cNvPr>
          <p:cNvSpPr txBox="1"/>
          <p:nvPr/>
        </p:nvSpPr>
        <p:spPr>
          <a:xfrm>
            <a:off x="7823627" y="5486400"/>
            <a:ext cx="2620254" cy="707886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Four </a:t>
            </a:r>
            <a:r>
              <a:rPr lang="en-IE" b="1" dirty="0"/>
              <a:t>parameters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one for each field.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2460009" y="2108200"/>
            <a:ext cx="3293331" cy="1908145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882412" y="2165453"/>
            <a:ext cx="2251342" cy="332094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8065912" y="2150670"/>
            <a:ext cx="1067842" cy="333573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9120510" y="2180236"/>
            <a:ext cx="13244" cy="330616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9133754" y="2150670"/>
            <a:ext cx="1025022" cy="333573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2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r>
              <a:rPr lang="en-IE" sz="3600" b="1" dirty="0"/>
              <a:t>fields </a:t>
            </a:r>
            <a:r>
              <a:rPr lang="en-IE" sz="3600" dirty="0"/>
              <a:t>and</a:t>
            </a:r>
            <a:r>
              <a:rPr lang="en-IE" sz="3600" b="1" dirty="0"/>
              <a:t> constructor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0CB1BFE-F901-4208-ABB3-3B11E7E9E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1" y="2057400"/>
            <a:ext cx="8331127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double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970315" y="2590800"/>
            <a:ext cx="8342013" cy="1066800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/>
          <p:cNvSpPr/>
          <p:nvPr/>
        </p:nvSpPr>
        <p:spPr>
          <a:xfrm>
            <a:off x="1981201" y="3810000"/>
            <a:ext cx="8331127" cy="203305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5562600" y="1219200"/>
            <a:ext cx="533400" cy="1371600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7315200" y="1219200"/>
            <a:ext cx="990600" cy="25908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898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D2545D-9B83-2994-0B42-3F537BC0B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45" y="1417638"/>
            <a:ext cx="6516468" cy="310094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2134042"/>
            <a:ext cx="3428999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Methods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behaviours</a:t>
            </a:r>
            <a:r>
              <a:rPr lang="en-IE" sz="2000" dirty="0"/>
              <a:t> of the class</a:t>
            </a:r>
          </a:p>
        </p:txBody>
      </p:sp>
      <p:sp>
        <p:nvSpPr>
          <p:cNvPr id="19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4114845" y="2841929"/>
            <a:ext cx="4134075" cy="1676650"/>
          </a:xfrm>
          <a:prstGeom prst="roundRect">
            <a:avLst/>
          </a:prstGeom>
          <a:noFill/>
          <a:ln w="38100">
            <a:solidFill>
              <a:srgbClr val="FCBA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0" name="Straight Arrow Connector 19"/>
          <p:cNvCxnSpPr>
            <a:cxnSpLocks/>
            <a:endCxn id="19" idx="1"/>
          </p:cNvCxnSpPr>
          <p:nvPr/>
        </p:nvCxnSpPr>
        <p:spPr>
          <a:xfrm>
            <a:off x="3657599" y="2475531"/>
            <a:ext cx="457246" cy="1204723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0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0FA7A46-C891-77A0-E067-DF3DA29BE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49" y="1417638"/>
            <a:ext cx="7285935" cy="34671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1143000" y="3626562"/>
            <a:ext cx="1876984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Method </a:t>
            </a:r>
            <a:r>
              <a:rPr lang="en-IE" b="1" dirty="0"/>
              <a:t>name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1143000" y="2244902"/>
            <a:ext cx="1892675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b="1" dirty="0"/>
              <a:t>Return</a:t>
            </a:r>
            <a:r>
              <a:rPr lang="en-IE" dirty="0"/>
              <a:t> </a:t>
            </a:r>
            <a:r>
              <a:rPr lang="en-IE" b="1" dirty="0"/>
              <a:t>type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3019984" y="3329819"/>
            <a:ext cx="2253073" cy="496798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3035675" y="2444957"/>
            <a:ext cx="1532403" cy="812297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285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E06BCD-012C-1070-B8E2-101CB68C7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406" y="1201266"/>
            <a:ext cx="6923294" cy="32945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5504" y="1727129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get</a:t>
            </a:r>
            <a:r>
              <a:rPr lang="en-IE" sz="2400" dirty="0"/>
              <a:t>ters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4392406" y="2933700"/>
            <a:ext cx="3303794" cy="6073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2615304" y="1957962"/>
            <a:ext cx="1777102" cy="114300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451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Get</a:t>
            </a:r>
            <a:r>
              <a:rPr lang="en-IE" dirty="0"/>
              <a:t>ters (Accessor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Accessor</a:t>
            </a:r>
            <a:r>
              <a:rPr lang="en-US" sz="2800" dirty="0"/>
              <a:t> methods </a:t>
            </a:r>
          </a:p>
          <a:p>
            <a:pPr lvl="1"/>
            <a:r>
              <a:rPr lang="en-US" sz="2400" dirty="0"/>
              <a:t>return information about the </a:t>
            </a:r>
            <a:r>
              <a:rPr lang="en-US" sz="2400" b="1" dirty="0"/>
              <a:t>state</a:t>
            </a:r>
            <a:r>
              <a:rPr lang="en-US" sz="2400" dirty="0"/>
              <a:t> of an object </a:t>
            </a:r>
          </a:p>
          <a:p>
            <a:pPr lvl="2"/>
            <a:r>
              <a:rPr lang="en-US" sz="2000" dirty="0"/>
              <a:t>i.e. </a:t>
            </a:r>
            <a:r>
              <a:rPr lang="en-US" sz="2000" b="1" dirty="0"/>
              <a:t>the values stored in the fields</a:t>
            </a:r>
            <a:r>
              <a:rPr lang="en-US" sz="20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A </a:t>
            </a:r>
            <a:r>
              <a:rPr lang="en-US" sz="2800" dirty="0">
                <a:solidFill>
                  <a:srgbClr val="FF0000"/>
                </a:solidFill>
              </a:rPr>
              <a:t>‘getter’ </a:t>
            </a:r>
            <a:r>
              <a:rPr lang="en-US" sz="2800" dirty="0"/>
              <a:t>method </a:t>
            </a:r>
          </a:p>
          <a:p>
            <a:pPr lvl="1"/>
            <a:r>
              <a:rPr lang="en-US" sz="2400" dirty="0"/>
              <a:t>is a specific type of </a:t>
            </a:r>
            <a:r>
              <a:rPr lang="en-US" sz="2400" b="1" dirty="0">
                <a:solidFill>
                  <a:srgbClr val="00B050"/>
                </a:solidFill>
              </a:rPr>
              <a:t>accessor</a:t>
            </a:r>
            <a:r>
              <a:rPr lang="en-US" sz="2400" dirty="0"/>
              <a:t> method and typically:</a:t>
            </a:r>
          </a:p>
          <a:p>
            <a:pPr lvl="2"/>
            <a:r>
              <a:rPr lang="en-US" sz="2000" b="1" dirty="0"/>
              <a:t>contains a return statement </a:t>
            </a:r>
            <a:br>
              <a:rPr lang="en-US" sz="2000" b="1" dirty="0"/>
            </a:br>
            <a:r>
              <a:rPr lang="en-US" sz="2000" dirty="0"/>
              <a:t>(as the last executable statement in the method).</a:t>
            </a:r>
          </a:p>
          <a:p>
            <a:pPr lvl="2"/>
            <a:r>
              <a:rPr lang="en-US" sz="2000" dirty="0"/>
              <a:t>defines a </a:t>
            </a:r>
            <a:r>
              <a:rPr lang="en-US" sz="2000" b="1" dirty="0"/>
              <a:t>return</a:t>
            </a:r>
            <a:r>
              <a:rPr lang="en-US" sz="2000" dirty="0"/>
              <a:t> </a:t>
            </a:r>
            <a:r>
              <a:rPr lang="en-US" sz="2000" b="1" dirty="0"/>
              <a:t>type</a:t>
            </a:r>
            <a:r>
              <a:rPr lang="en-US" sz="2000" dirty="0"/>
              <a:t>.</a:t>
            </a:r>
          </a:p>
          <a:p>
            <a:pPr lvl="2"/>
            <a:r>
              <a:rPr lang="en-US" sz="2000" b="1" dirty="0"/>
              <a:t>does NOT change the object state</a:t>
            </a:r>
            <a:r>
              <a:rPr lang="en-US" sz="2000" dirty="0"/>
              <a:t>.</a:t>
            </a:r>
            <a:endParaRPr lang="en-US" dirty="0"/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0321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Get</a:t>
            </a:r>
            <a:r>
              <a:rPr lang="en-IE" dirty="0"/>
              <a:t>ters</a:t>
            </a:r>
            <a:endParaRPr lang="en-US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712206" y="3281289"/>
            <a:ext cx="5161991" cy="1569660"/>
          </a:xfrm>
          <a:prstGeom prst="rect">
            <a:avLst/>
          </a:prstGeom>
          <a:noFill/>
          <a:ln w="190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public double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getUnitCost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()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     return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4337051" y="2168526"/>
            <a:ext cx="1571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6419851" y="24892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7918450" y="3032126"/>
            <a:ext cx="206375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17416" name="Oval 8"/>
          <p:cNvSpPr>
            <a:spLocks noChangeArrowheads="1"/>
          </p:cNvSpPr>
          <p:nvPr/>
        </p:nvSpPr>
        <p:spPr bwMode="auto">
          <a:xfrm>
            <a:off x="2728933" y="3752777"/>
            <a:ext cx="365125" cy="1098173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3117850" y="5089526"/>
            <a:ext cx="4552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8076330" y="4067145"/>
            <a:ext cx="200061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statement</a:t>
            </a:r>
          </a:p>
        </p:txBody>
      </p:sp>
      <p:sp>
        <p:nvSpPr>
          <p:cNvPr id="17419" name="Line 11"/>
          <p:cNvSpPr>
            <a:spLocks noChangeShapeType="1"/>
          </p:cNvSpPr>
          <p:nvPr/>
        </p:nvSpPr>
        <p:spPr bwMode="auto">
          <a:xfrm flipH="1" flipV="1">
            <a:off x="2889250" y="4876800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0" name="Line 12"/>
          <p:cNvSpPr>
            <a:spLocks noChangeShapeType="1"/>
          </p:cNvSpPr>
          <p:nvPr/>
        </p:nvSpPr>
        <p:spPr bwMode="auto">
          <a:xfrm flipH="1">
            <a:off x="4565650" y="2574925"/>
            <a:ext cx="3810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1" name="Line 13"/>
          <p:cNvSpPr>
            <a:spLocks noChangeShapeType="1"/>
          </p:cNvSpPr>
          <p:nvPr/>
        </p:nvSpPr>
        <p:spPr bwMode="auto">
          <a:xfrm flipH="1">
            <a:off x="6394450" y="2819400"/>
            <a:ext cx="558800" cy="4618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2" name="Line 14"/>
          <p:cNvSpPr>
            <a:spLocks noChangeShapeType="1"/>
          </p:cNvSpPr>
          <p:nvPr/>
        </p:nvSpPr>
        <p:spPr bwMode="auto">
          <a:xfrm flipH="1">
            <a:off x="7461250" y="3306846"/>
            <a:ext cx="479425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3" name="Line 15"/>
          <p:cNvSpPr>
            <a:spLocks noChangeShapeType="1"/>
          </p:cNvSpPr>
          <p:nvPr/>
        </p:nvSpPr>
        <p:spPr bwMode="auto">
          <a:xfrm flipH="1">
            <a:off x="6699250" y="4251334"/>
            <a:ext cx="1377080" cy="158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1938339" y="2489200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>
            <a:off x="2584451" y="2895601"/>
            <a:ext cx="762000" cy="365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" name="Oval 8"/>
          <p:cNvSpPr>
            <a:spLocks noChangeArrowheads="1"/>
          </p:cNvSpPr>
          <p:nvPr/>
        </p:nvSpPr>
        <p:spPr bwMode="auto">
          <a:xfrm>
            <a:off x="2610472" y="3255438"/>
            <a:ext cx="1421779" cy="478362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357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/>
      <p:bldP spid="17414" grpId="0"/>
      <p:bldP spid="17415" grpId="0"/>
      <p:bldP spid="17416" grpId="0" animBg="1"/>
      <p:bldP spid="17417" grpId="0"/>
      <p:bldP spid="17418" grpId="0"/>
      <p:bldP spid="17419" grpId="0" animBg="1"/>
      <p:bldP spid="17420" grpId="0" animBg="1"/>
      <p:bldP spid="17421" grpId="0" animBg="1"/>
      <p:bldP spid="17422" grpId="0" animBg="1"/>
      <p:bldP spid="17423" grpId="0" animBg="1"/>
      <p:bldP spid="17424" grpId="0"/>
      <p:bldP spid="17425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7C53D8-9834-42FB-A8C5-3200BC2C93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1" y="1905001"/>
            <a:ext cx="6250429" cy="424731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double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842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A1B2888-D905-B926-1257-69C85656A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685" y="1768917"/>
            <a:ext cx="7328315" cy="348726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set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33801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set</a:t>
            </a:r>
            <a:r>
              <a:rPr lang="en-IE" sz="2400" dirty="0"/>
              <a:t>ters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067300" y="4202393"/>
            <a:ext cx="4610100" cy="75060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4038600" y="3964634"/>
            <a:ext cx="1049482" cy="52859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62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Set</a:t>
            </a:r>
            <a:r>
              <a:rPr lang="en-IE" dirty="0"/>
              <a:t>ters (</a:t>
            </a:r>
            <a:r>
              <a:rPr lang="en-IE" dirty="0" err="1"/>
              <a:t>Mutator</a:t>
            </a:r>
            <a:r>
              <a:rPr lang="en-IE" dirty="0"/>
              <a:t>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methods </a:t>
            </a:r>
          </a:p>
          <a:p>
            <a:pPr lvl="1"/>
            <a:r>
              <a:rPr lang="en-US" dirty="0"/>
              <a:t>change (i.e. mutate!) an object’s state.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‘setter’ </a:t>
            </a:r>
            <a:r>
              <a:rPr lang="en-US" dirty="0"/>
              <a:t>method </a:t>
            </a:r>
          </a:p>
          <a:p>
            <a:pPr lvl="1"/>
            <a:r>
              <a:rPr lang="en-US" dirty="0"/>
              <a:t>is a specific type of </a:t>
            </a:r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 and typically:</a:t>
            </a:r>
          </a:p>
          <a:p>
            <a:pPr lvl="2"/>
            <a:r>
              <a:rPr lang="en-US" dirty="0"/>
              <a:t>contains an </a:t>
            </a:r>
            <a:r>
              <a:rPr lang="en-US" b="1" dirty="0"/>
              <a:t>assignment statement </a:t>
            </a:r>
          </a:p>
          <a:p>
            <a:pPr lvl="2"/>
            <a:r>
              <a:rPr lang="en-US" dirty="0"/>
              <a:t>takes in a </a:t>
            </a:r>
            <a:r>
              <a:rPr lang="en-US" b="1" dirty="0"/>
              <a:t>parameter</a:t>
            </a:r>
          </a:p>
          <a:p>
            <a:pPr lvl="2"/>
            <a:r>
              <a:rPr lang="en-US" b="1" dirty="0"/>
              <a:t>changes the object state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8253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Setters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1" y="3203575"/>
            <a:ext cx="7558479" cy="156966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8" name="Text Box 12"/>
          <p:cNvSpPr txBox="1">
            <a:spLocks noChangeArrowheads="1"/>
          </p:cNvSpPr>
          <p:nvPr/>
        </p:nvSpPr>
        <p:spPr bwMode="auto">
          <a:xfrm>
            <a:off x="5576162" y="5029200"/>
            <a:ext cx="1434239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assignment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statement</a:t>
            </a:r>
          </a:p>
        </p:txBody>
      </p:sp>
      <p:sp>
        <p:nvSpPr>
          <p:cNvPr id="19469" name="Line 13"/>
          <p:cNvSpPr>
            <a:spLocks noChangeShapeType="1"/>
          </p:cNvSpPr>
          <p:nvPr/>
        </p:nvSpPr>
        <p:spPr bwMode="auto">
          <a:xfrm flipH="1" flipV="1">
            <a:off x="6019800" y="4239835"/>
            <a:ext cx="0" cy="7734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991854" y="5089525"/>
            <a:ext cx="229235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field 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268786" y="4343400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543801" y="5083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010401" y="4343399"/>
            <a:ext cx="977039" cy="7240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882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68" grpId="0"/>
      <p:bldP spid="19469" grpId="0" animBg="1"/>
      <p:bldP spid="19470" grpId="0"/>
      <p:bldP spid="19471" grpId="0" animBg="1"/>
      <p:bldP spid="16" grpId="0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Class…setters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E5E4DE5-B8FA-423C-91A0-50537A339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1" y="2059632"/>
            <a:ext cx="8454559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6413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Getters/Setters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For </a:t>
            </a:r>
            <a:r>
              <a:rPr lang="en-IE" dirty="0">
                <a:solidFill>
                  <a:srgbClr val="FF0000"/>
                </a:solidFill>
              </a:rPr>
              <a:t>each instance field </a:t>
            </a:r>
            <a:r>
              <a:rPr lang="en-IE" dirty="0"/>
              <a:t>in a class, you are normally asked to write: </a:t>
            </a:r>
          </a:p>
          <a:p>
            <a:pPr marL="0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get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Return statement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set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Assignment statement</a:t>
            </a:r>
          </a:p>
        </p:txBody>
      </p:sp>
    </p:spTree>
    <p:extLst>
      <p:ext uri="{BB962C8B-B14F-4D97-AF65-F5344CB8AC3E}">
        <p14:creationId xmlns:p14="http://schemas.microsoft.com/office/powerpoint/2010/main" val="485824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55C5EC5-D48E-6DF5-00BA-53A56585E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49" y="1831150"/>
            <a:ext cx="7395246" cy="351911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toString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2397948"/>
            <a:ext cx="3180230" cy="206210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35000">
                <a:schemeClr val="accent2">
                  <a:lumMod val="0"/>
                  <a:lumOff val="100000"/>
                </a:schemeClr>
              </a:gs>
              <a:gs pos="100000">
                <a:schemeClr val="accent2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toString</a:t>
            </a:r>
            <a:r>
              <a:rPr lang="en-IE" sz="2400" dirty="0"/>
              <a:t>():</a:t>
            </a:r>
          </a:p>
          <a:p>
            <a:endParaRPr lang="en-IE" sz="2400" dirty="0"/>
          </a:p>
          <a:p>
            <a:r>
              <a:rPr lang="en-US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cs typeface="Courier New" panose="02070309020205020404" pitchFamily="49" charset="0"/>
              </a:rPr>
              <a:t>Builds and returns a String containing a user-friendly representation of the object state.</a:t>
            </a:r>
            <a:r>
              <a:rPr lang="en-IE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 flipV="1">
            <a:off x="4476747" y="4969268"/>
            <a:ext cx="2209801" cy="381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3561230" y="3429000"/>
            <a:ext cx="915517" cy="1540268"/>
          </a:xfrm>
          <a:prstGeom prst="straightConnector1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1546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48A2-96B8-4CA3-887F-E691E453C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 Product Class…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918E08B-06D1-49BE-84AD-151CD8A42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00201"/>
            <a:ext cx="8382000" cy="243143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"Product description: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product code: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unit cost: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currently in product line: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6C4941-38AF-4783-A313-6DE763E77B15}"/>
              </a:ext>
            </a:extLst>
          </p:cNvPr>
          <p:cNvSpPr/>
          <p:nvPr/>
        </p:nvSpPr>
        <p:spPr>
          <a:xfrm>
            <a:off x="1063438" y="5410200"/>
            <a:ext cx="10065124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en-IE" dirty="0"/>
          </a:p>
          <a:p>
            <a:r>
              <a:rPr lang="en-IE" dirty="0"/>
              <a:t>Product description: 55 Inch TV, product code: 23432, unit cost: 1399.99, currently in product line: true</a:t>
            </a:r>
          </a:p>
          <a:p>
            <a:endParaRPr lang="en-IE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B18F78A-58CB-46D0-8CC7-40579D9A69E5}"/>
              </a:ext>
            </a:extLst>
          </p:cNvPr>
          <p:cNvSpPr/>
          <p:nvPr/>
        </p:nvSpPr>
        <p:spPr>
          <a:xfrm>
            <a:off x="3276600" y="4876799"/>
            <a:ext cx="59436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if we printed a Product Object:</a:t>
            </a:r>
          </a:p>
        </p:txBody>
      </p:sp>
    </p:spTree>
    <p:extLst>
      <p:ext uri="{BB962C8B-B14F-4D97-AF65-F5344CB8AC3E}">
        <p14:creationId xmlns:p14="http://schemas.microsoft.com/office/powerpoint/2010/main" val="408277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toString()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3352800"/>
          </a:xfrm>
        </p:spPr>
        <p:txBody>
          <a:bodyPr>
            <a:normAutofit/>
          </a:bodyPr>
          <a:lstStyle/>
          <a:p>
            <a:r>
              <a:rPr lang="en-US" sz="2800" dirty="0"/>
              <a:t>This is a useful method and you will write a </a:t>
            </a:r>
            <a:r>
              <a:rPr lang="en-US" sz="2800" b="1" dirty="0"/>
              <a:t>toString</a:t>
            </a:r>
            <a:r>
              <a:rPr lang="en-US" sz="2800" dirty="0"/>
              <a:t>() method for most of your classes.</a:t>
            </a:r>
          </a:p>
          <a:p>
            <a:r>
              <a:rPr lang="en-IE" sz="2800" b="1" dirty="0"/>
              <a:t>When you print an object, Java automatically calls the toString() method </a:t>
            </a:r>
            <a:br>
              <a:rPr lang="en-IE" sz="2800" b="1" dirty="0"/>
            </a:br>
            <a:r>
              <a:rPr lang="en-IE" sz="2800" dirty="0"/>
              <a:t>e.g.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962400"/>
            <a:ext cx="6096000" cy="189282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>
                <a:solidFill>
                  <a:schemeClr val="tx1"/>
                </a:solidFill>
              </a:rPr>
              <a:t>Product </a:t>
            </a:r>
            <a:r>
              <a:rPr lang="en-IE" sz="2400" dirty="0" err="1">
                <a:solidFill>
                  <a:schemeClr val="tx1"/>
                </a:solidFill>
              </a:rPr>
              <a:t>product</a:t>
            </a:r>
            <a:r>
              <a:rPr lang="en-IE" sz="2400" dirty="0">
                <a:solidFill>
                  <a:schemeClr val="tx1"/>
                </a:solidFill>
              </a:rPr>
              <a:t> = new Product();</a:t>
            </a:r>
          </a:p>
          <a:p>
            <a:endParaRPr lang="en-IE" sz="2100" dirty="0">
              <a:solidFill>
                <a:schemeClr val="tx1"/>
              </a:solidFill>
            </a:endParaRP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//both of these lines of code do the same thing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(product);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product.toString</a:t>
            </a:r>
            <a:r>
              <a:rPr lang="en-IE" sz="2400" dirty="0">
                <a:solidFill>
                  <a:schemeClr val="tx1"/>
                </a:solidFill>
              </a:rPr>
              <a:t>());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10820400" y="2514600"/>
            <a:ext cx="609600" cy="6096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7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Encapsulation in Java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steps 1-3</a:t>
            </a:r>
          </a:p>
        </p:txBody>
      </p:sp>
      <p:sp>
        <p:nvSpPr>
          <p:cNvPr id="4" name="Rectangle 3"/>
          <p:cNvSpPr/>
          <p:nvPr/>
        </p:nvSpPr>
        <p:spPr>
          <a:xfrm>
            <a:off x="1676400" y="6488668"/>
            <a:ext cx="72991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http://www.tutorialspoint.com/java/java_encapsulation.htm</a:t>
            </a:r>
            <a:r>
              <a:rPr lang="en-IE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548714"/>
              </p:ext>
            </p:extLst>
          </p:nvPr>
        </p:nvGraphicFramePr>
        <p:xfrm>
          <a:off x="914400" y="1597062"/>
          <a:ext cx="10439400" cy="263203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918"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Encapsulation 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Approach</a:t>
                      </a:r>
                      <a:r>
                        <a:rPr lang="en-IE" sz="2400" baseline="0" dirty="0"/>
                        <a:t> in Java</a:t>
                      </a:r>
                      <a:endParaRPr lang="en-IE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</a:t>
                      </a:r>
                      <a:r>
                        <a:rPr lang="en-IE" sz="2400" dirty="0"/>
                        <a:t> the data (fields) and code acting on the data (methods) together as single unit.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eaLnBrk="1" hangingPunct="1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public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class </a:t>
                      </a:r>
                      <a:r>
                        <a:rPr lang="en-US" sz="2200" i="1" dirty="0" err="1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ClassName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{</a:t>
                      </a: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Fields</a:t>
                      </a:r>
                      <a:endParaRPr lang="en-US" sz="2200" b="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Constructors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  Methods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}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37358"/>
              </p:ext>
            </p:extLst>
          </p:nvPr>
        </p:nvGraphicFramePr>
        <p:xfrm>
          <a:off x="914400" y="4275248"/>
          <a:ext cx="10439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Hide</a:t>
                      </a:r>
                      <a:r>
                        <a:rPr lang="en-IE" sz="2400" dirty="0"/>
                        <a:t> </a:t>
                      </a:r>
                      <a:r>
                        <a:rPr lang="en-IE" sz="2400" b="0" dirty="0"/>
                        <a:t>the fields from other classes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Declare the fields of a class as </a:t>
                      </a:r>
                      <a:r>
                        <a:rPr lang="en-IE" sz="2400" b="1" u="sng" dirty="0"/>
                        <a:t>private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207554"/>
              </p:ext>
            </p:extLst>
          </p:nvPr>
        </p:nvGraphicFramePr>
        <p:xfrm>
          <a:off x="913434" y="5258332"/>
          <a:ext cx="10439399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7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</a:rPr>
                        <a:t>Access</a:t>
                      </a:r>
                      <a:r>
                        <a:rPr lang="en-IE" sz="2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E" sz="2400" dirty="0"/>
                        <a:t>the fields only through the methods of their current class.</a:t>
                      </a:r>
                      <a:endParaRPr lang="en-IE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Provide </a:t>
                      </a:r>
                      <a:r>
                        <a:rPr lang="en-IE" sz="2400" b="1" u="sng" dirty="0"/>
                        <a:t>public</a:t>
                      </a:r>
                      <a:r>
                        <a:rPr lang="en-IE" sz="2400" b="1" dirty="0"/>
                        <a:t> set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and get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</a:t>
                      </a:r>
                      <a:r>
                        <a:rPr lang="en-IE" sz="2400" dirty="0"/>
                        <a:t>methods to modify and view the fields values.</a:t>
                      </a:r>
                      <a:endParaRPr lang="en-IE" sz="2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0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DFB783-CFC0-9D1F-34B2-973CB567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529542"/>
            <a:ext cx="8153400" cy="4213574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440801"/>
              </p:ext>
            </p:extLst>
          </p:nvPr>
        </p:nvGraphicFramePr>
        <p:xfrm>
          <a:off x="152400" y="1529542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1905000" y="2213324"/>
            <a:ext cx="2362200" cy="91087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C8E768-7A07-D043-B181-5F8F84BC14EA}"/>
              </a:ext>
            </a:extLst>
          </p:cNvPr>
          <p:cNvCxnSpPr>
            <a:cxnSpLocks/>
          </p:cNvCxnSpPr>
          <p:nvPr/>
        </p:nvCxnSpPr>
        <p:spPr>
          <a:xfrm>
            <a:off x="1295400" y="2973562"/>
            <a:ext cx="2971800" cy="12719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116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CD84F55-55DC-D206-8DA9-5FB64F4C7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611" y="1417422"/>
            <a:ext cx="7395246" cy="3519117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429873"/>
              </p:ext>
            </p:extLst>
          </p:nvPr>
        </p:nvGraphicFramePr>
        <p:xfrm>
          <a:off x="228600" y="150876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575227"/>
              </p:ext>
            </p:extLst>
          </p:nvPr>
        </p:nvGraphicFramePr>
        <p:xfrm>
          <a:off x="366596" y="3893066"/>
          <a:ext cx="3200400" cy="863734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86373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200400" y="3349276"/>
            <a:ext cx="2133600" cy="35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580851" y="2488743"/>
            <a:ext cx="1364581" cy="17228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onut 10"/>
          <p:cNvSpPr/>
          <p:nvPr/>
        </p:nvSpPr>
        <p:spPr>
          <a:xfrm>
            <a:off x="4945432" y="2082561"/>
            <a:ext cx="312368" cy="1295400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912538" y="2278171"/>
            <a:ext cx="4328905" cy="8319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6213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5755CF-E455-A263-6CA2-058E5FD66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388" y="1738273"/>
            <a:ext cx="6440823" cy="3519117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5181600"/>
          <a:ext cx="3200400" cy="155448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32229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Access</a:t>
                      </a:r>
                      <a:r>
                        <a:rPr lang="en-IE" sz="2400" dirty="0"/>
                        <a:t> the fields only through the methods of Product (e.g. </a:t>
                      </a:r>
                      <a:r>
                        <a:rPr lang="en-IE" sz="2400" b="1" dirty="0"/>
                        <a:t>get</a:t>
                      </a:r>
                      <a:r>
                        <a:rPr lang="en-IE" sz="2400" dirty="0"/>
                        <a:t>ter and </a:t>
                      </a:r>
                      <a:r>
                        <a:rPr lang="en-IE" sz="2400" b="1" dirty="0"/>
                        <a:t>set</a:t>
                      </a:r>
                      <a:r>
                        <a:rPr lang="en-IE" sz="2400" dirty="0"/>
                        <a:t>ter methods).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987298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8" y="211186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200400" y="3349276"/>
            <a:ext cx="2133600" cy="35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2804001"/>
            <a:ext cx="1436913" cy="1422012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3352802"/>
            <a:ext cx="979712" cy="1828799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43599" y="2209800"/>
            <a:ext cx="4368729" cy="113947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Rectangle 16"/>
          <p:cNvSpPr/>
          <p:nvPr/>
        </p:nvSpPr>
        <p:spPr>
          <a:xfrm>
            <a:off x="5903340" y="3562396"/>
            <a:ext cx="4368726" cy="128814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4144966"/>
            <a:ext cx="1055910" cy="103663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33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066001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3839796"/>
            <a:ext cx="693972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1149.99,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BAD69D-B9C8-48DB-AD0C-9320B491164B}"/>
              </a:ext>
            </a:extLst>
          </p:cNvPr>
          <p:cNvSpPr txBox="1"/>
          <p:nvPr/>
        </p:nvSpPr>
        <p:spPr>
          <a:xfrm>
            <a:off x="1981200" y="4994197"/>
            <a:ext cx="33528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Calls the </a:t>
            </a:r>
            <a:r>
              <a:rPr lang="en-IE" sz="2200" b="1" dirty="0">
                <a:solidFill>
                  <a:srgbClr val="FF0000"/>
                </a:solidFill>
              </a:rPr>
              <a:t>Product </a:t>
            </a:r>
            <a:r>
              <a:rPr lang="en-IE" sz="2200" i="1" dirty="0"/>
              <a:t>constructor</a:t>
            </a:r>
            <a:r>
              <a:rPr lang="en-IE" sz="2200" dirty="0"/>
              <a:t> to build the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dirty="0"/>
              <a:t>object in memory.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AE11070-294F-4CEA-B02B-49CD2F446400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3633538" y="4191001"/>
            <a:ext cx="24062" cy="803196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38AAB7-C34D-4A0B-84BD-F4376439A5F2}"/>
              </a:ext>
            </a:extLst>
          </p:cNvPr>
          <p:cNvSpPr/>
          <p:nvPr/>
        </p:nvSpPr>
        <p:spPr>
          <a:xfrm>
            <a:off x="1676400" y="3593620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5791200" y="4363968"/>
            <a:ext cx="3276600" cy="2417833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5867400" y="49233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5867400" y="53805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8075279" y="49448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8075279" y="54020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6676954" y="4396607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5867401" y="5845803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8051216" y="586727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</p:cNvCxnSpPr>
          <p:nvPr/>
        </p:nvCxnSpPr>
        <p:spPr>
          <a:xfrm flipH="1">
            <a:off x="7696203" y="2348003"/>
            <a:ext cx="346049" cy="204860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5867401" y="632460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8042251" y="6324479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19608694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207696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54840" y="47868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54840" y="52440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30777" y="570930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21812" y="6166504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92973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084264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71629" y="48350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71629" y="52922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47566" y="575744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38601" y="6214646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E8EC398D-E8E6-464D-9D36-ACF9C618B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7" y="2127003"/>
            <a:ext cx="8824852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phone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Product(“iPhone16”, 1001, 1249.99, false);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E8BF56-7684-42D6-95BA-64A36A35348C}"/>
              </a:ext>
            </a:extLst>
          </p:cNvPr>
          <p:cNvSpPr txBox="1"/>
          <p:nvPr/>
        </p:nvSpPr>
        <p:spPr>
          <a:xfrm>
            <a:off x="7772400" y="2514600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23" name="Rounded Rectangle 11">
            <a:extLst>
              <a:ext uri="{FF2B5EF4-FFF2-40B4-BE49-F238E27FC236}">
                <a16:creationId xmlns:a16="http://schemas.microsoft.com/office/drawing/2014/main" id="{CBF5BA80-7B91-4F8B-90BF-6F1498339940}"/>
              </a:ext>
            </a:extLst>
          </p:cNvPr>
          <p:cNvSpPr/>
          <p:nvPr/>
        </p:nvSpPr>
        <p:spPr>
          <a:xfrm>
            <a:off x="6096000" y="4027369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F8F8AB0-7943-4688-91B2-0257F2FDAA7D}"/>
              </a:ext>
            </a:extLst>
          </p:cNvPr>
          <p:cNvCxnSpPr>
            <a:cxnSpLocks/>
          </p:cNvCxnSpPr>
          <p:nvPr/>
        </p:nvCxnSpPr>
        <p:spPr>
          <a:xfrm>
            <a:off x="6400800" y="4607351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90D1D9E-1BBB-401A-B188-401D524664E0}"/>
              </a:ext>
            </a:extLst>
          </p:cNvPr>
          <p:cNvSpPr txBox="1"/>
          <p:nvPr/>
        </p:nvSpPr>
        <p:spPr>
          <a:xfrm>
            <a:off x="6324601" y="47597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17849-E0D9-489E-B8F2-9C2CA2679DB3}"/>
              </a:ext>
            </a:extLst>
          </p:cNvPr>
          <p:cNvSpPr txBox="1"/>
          <p:nvPr/>
        </p:nvSpPr>
        <p:spPr>
          <a:xfrm>
            <a:off x="6324601" y="52169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A0DD1E-912F-438A-B0EA-48BD9B58C20A}"/>
              </a:ext>
            </a:extLst>
          </p:cNvPr>
          <p:cNvSpPr txBox="1"/>
          <p:nvPr/>
        </p:nvSpPr>
        <p:spPr>
          <a:xfrm>
            <a:off x="8491229" y="4823795"/>
            <a:ext cx="1040567" cy="5847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“iPhone16”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29C818-5771-40D0-AFA9-23E83EFBE60F}"/>
              </a:ext>
            </a:extLst>
          </p:cNvPr>
          <p:cNvSpPr txBox="1"/>
          <p:nvPr/>
        </p:nvSpPr>
        <p:spPr>
          <a:xfrm>
            <a:off x="8491229" y="528099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1001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E84EE5-C55C-4858-BD45-F2554AA9E2CA}"/>
              </a:ext>
            </a:extLst>
          </p:cNvPr>
          <p:cNvSpPr txBox="1"/>
          <p:nvPr/>
        </p:nvSpPr>
        <p:spPr>
          <a:xfrm>
            <a:off x="7315201" y="4147918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C7FF33-7D80-4DEF-A004-71A314A5BDC3}"/>
              </a:ext>
            </a:extLst>
          </p:cNvPr>
          <p:cNvSpPr txBox="1"/>
          <p:nvPr/>
        </p:nvSpPr>
        <p:spPr>
          <a:xfrm>
            <a:off x="6324601" y="5682171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1A0137-99C9-4108-B357-6A620D9D24CF}"/>
              </a:ext>
            </a:extLst>
          </p:cNvPr>
          <p:cNvSpPr txBox="1"/>
          <p:nvPr/>
        </p:nvSpPr>
        <p:spPr>
          <a:xfrm>
            <a:off x="8467166" y="574621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1249.99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DB6A91A-D3A4-4AD0-B9F5-E2DFBAF6B657}"/>
              </a:ext>
            </a:extLst>
          </p:cNvPr>
          <p:cNvSpPr/>
          <p:nvPr/>
        </p:nvSpPr>
        <p:spPr>
          <a:xfrm>
            <a:off x="8229601" y="3003160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D0DCBAA-3EB5-45FF-8F1C-1C0EBD814506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7962900" y="3348535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F0E1B3A-BC7C-4CF5-87B4-28BE439529B1}"/>
              </a:ext>
            </a:extLst>
          </p:cNvPr>
          <p:cNvSpPr txBox="1"/>
          <p:nvPr/>
        </p:nvSpPr>
        <p:spPr>
          <a:xfrm>
            <a:off x="6324601" y="6160969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6DF6F4-0428-4908-A7DA-4FC7B8A92112}"/>
              </a:ext>
            </a:extLst>
          </p:cNvPr>
          <p:cNvSpPr txBox="1"/>
          <p:nvPr/>
        </p:nvSpPr>
        <p:spPr>
          <a:xfrm>
            <a:off x="8458201" y="6203415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28005596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D9FE3005-6898-AE48-EAD7-0FCD9A2CD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c-strings</Template>
  <TotalTime>5639</TotalTime>
  <Words>1449</Words>
  <Application>Microsoft Macintosh PowerPoint</Application>
  <PresentationFormat>Widescreen</PresentationFormat>
  <Paragraphs>246</Paragraphs>
  <Slides>36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Courier New</vt:lpstr>
      <vt:lpstr>a-processing-mouse-event-methods</vt:lpstr>
      <vt:lpstr>Recap of OO concepts</vt:lpstr>
      <vt:lpstr>Classes and Objects</vt:lpstr>
      <vt:lpstr>Classes and Objects</vt:lpstr>
      <vt:lpstr>Classes and Objects – Many Objects</vt:lpstr>
      <vt:lpstr>Shop</vt:lpstr>
      <vt:lpstr>Shop V1.0 - Product</vt:lpstr>
      <vt:lpstr>Shop V1.0 - Product</vt:lpstr>
      <vt:lpstr>Shop V1.0 - Driver</vt:lpstr>
      <vt:lpstr>A Product Class…</vt:lpstr>
      <vt:lpstr>A Product Class…fields</vt:lpstr>
      <vt:lpstr>A Product Class…fields</vt:lpstr>
      <vt:lpstr>A Product Class…  Constructor</vt:lpstr>
      <vt:lpstr>PowerPoint Presentation</vt:lpstr>
      <vt:lpstr>A Product Class… methods</vt:lpstr>
      <vt:lpstr>A Product Class… methods</vt:lpstr>
      <vt:lpstr>A Product Class… getters</vt:lpstr>
      <vt:lpstr>Getters (Accessor Methods)</vt:lpstr>
      <vt:lpstr>Getters</vt:lpstr>
      <vt:lpstr>PowerPoint Presentation</vt:lpstr>
      <vt:lpstr>A Product Class…setters</vt:lpstr>
      <vt:lpstr>Setters (Mutator methods)</vt:lpstr>
      <vt:lpstr>Setters</vt:lpstr>
      <vt:lpstr>PowerPoint Presentation</vt:lpstr>
      <vt:lpstr>Getters/Setters</vt:lpstr>
      <vt:lpstr>A Product Class…toString</vt:lpstr>
      <vt:lpstr>A Product Class…</vt:lpstr>
      <vt:lpstr>toString()</vt:lpstr>
      <vt:lpstr>Encapsulation in Java – steps 1-3</vt:lpstr>
      <vt:lpstr>A Product Class… An Encapsulated Class</vt:lpstr>
      <vt:lpstr>A Product Class… An Encapsulated Class</vt:lpstr>
      <vt:lpstr>A Product Class… An Encapsulated Class</vt:lpstr>
      <vt:lpstr>Using the Product Class</vt:lpstr>
      <vt:lpstr>Using the Product Class</vt:lpstr>
      <vt:lpstr>Multiple Product Objects</vt:lpstr>
      <vt:lpstr>Multiple Product Objects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of OO concepts</dc:title>
  <dc:creator>Siobhan Drohan</dc:creator>
  <cp:lastModifiedBy>Mairead Meagher</cp:lastModifiedBy>
  <cp:revision>146</cp:revision>
  <cp:lastPrinted>2018-03-10T18:49:08Z</cp:lastPrinted>
  <dcterms:created xsi:type="dcterms:W3CDTF">2006-08-16T00:00:00Z</dcterms:created>
  <dcterms:modified xsi:type="dcterms:W3CDTF">2025-11-03T22:21:37Z</dcterms:modified>
</cp:coreProperties>
</file>