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6" r:id="rId2"/>
    <p:sldId id="631" r:id="rId3"/>
    <p:sldId id="632" r:id="rId4"/>
    <p:sldId id="399" r:id="rId5"/>
    <p:sldId id="633" r:id="rId6"/>
    <p:sldId id="585" r:id="rId7"/>
    <p:sldId id="622" r:id="rId8"/>
    <p:sldId id="623" r:id="rId9"/>
    <p:sldId id="588" r:id="rId10"/>
    <p:sldId id="634" r:id="rId11"/>
    <p:sldId id="635" r:id="rId12"/>
    <p:sldId id="592" r:id="rId13"/>
    <p:sldId id="591" r:id="rId14"/>
    <p:sldId id="586" r:id="rId15"/>
    <p:sldId id="636" r:id="rId16"/>
    <p:sldId id="594" r:id="rId17"/>
    <p:sldId id="624" r:id="rId18"/>
    <p:sldId id="625" r:id="rId19"/>
    <p:sldId id="605" r:id="rId20"/>
    <p:sldId id="595" r:id="rId21"/>
    <p:sldId id="626" r:id="rId22"/>
    <p:sldId id="627" r:id="rId23"/>
    <p:sldId id="606" r:id="rId24"/>
    <p:sldId id="628" r:id="rId25"/>
    <p:sldId id="596" r:id="rId26"/>
    <p:sldId id="590" r:id="rId27"/>
    <p:sldId id="614" r:id="rId28"/>
    <p:sldId id="629" r:id="rId29"/>
    <p:sldId id="613" r:id="rId30"/>
    <p:sldId id="637" r:id="rId31"/>
    <p:sldId id="638" r:id="rId32"/>
    <p:sldId id="617" r:id="rId33"/>
    <p:sldId id="630" r:id="rId34"/>
    <p:sldId id="619" r:id="rId35"/>
    <p:sldId id="620" r:id="rId36"/>
    <p:sldId id="30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1D38E"/>
    <a:srgbClr val="FCBAC5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95" autoAdjust="0"/>
    <p:restoredTop sz="94708"/>
  </p:normalViewPr>
  <p:slideViewPr>
    <p:cSldViewPr>
      <p:cViewPr varScale="1">
        <p:scale>
          <a:sx n="98" d="100"/>
          <a:sy n="98" d="100"/>
        </p:scale>
        <p:origin x="224" y="52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3754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12274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18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83502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22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75285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45688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770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584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61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006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6779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64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1756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05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75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44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618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2961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911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56376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840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3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Recap of OO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Objects, classes, methods and more.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A994E-0963-4EFE-88CD-BCD98921E0EA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EB19B4-6F2E-20EA-7950-B1C568A708FF}"/>
              </a:ext>
            </a:extLst>
          </p:cNvPr>
          <p:cNvSpPr txBox="1"/>
          <p:nvPr/>
        </p:nvSpPr>
        <p:spPr>
          <a:xfrm>
            <a:off x="3505200" y="3788229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17C8F6-9742-DBA5-F966-8412DE885A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Classes</a:t>
            </a:r>
            <a:r>
              <a:rPr lang="en-IE" dirty="0"/>
              <a:t>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1"/>
            <a:ext cx="9525000" cy="4980801"/>
          </a:xfrm>
        </p:spPr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defines a group of related </a:t>
            </a:r>
            <a:r>
              <a:rPr lang="en-IE" b="1" dirty="0"/>
              <a:t>methods</a:t>
            </a:r>
            <a:r>
              <a:rPr lang="en-IE" dirty="0"/>
              <a:t> (functions) and </a:t>
            </a:r>
            <a:r>
              <a:rPr lang="en-IE" b="1" dirty="0"/>
              <a:t>fields</a:t>
            </a:r>
            <a:r>
              <a:rPr lang="en-IE" dirty="0"/>
              <a:t> (variables / properties).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5874DE-90EA-41EA-86E5-51E7A0D9B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352801"/>
            <a:ext cx="4034908" cy="24780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6FCCA-C00B-49E6-8B3D-B324B23AC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895" y="2884087"/>
            <a:ext cx="4251318" cy="341552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598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Classes and </a:t>
            </a:r>
            <a:r>
              <a:rPr lang="en-IE" b="1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2895599"/>
          </a:xfrm>
        </p:spPr>
        <p:txBody>
          <a:bodyPr>
            <a:normAutofit/>
          </a:bodyPr>
          <a:lstStyle/>
          <a:p>
            <a:r>
              <a:rPr lang="en-IE" dirty="0"/>
              <a:t>An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is a single instance of a class </a:t>
            </a:r>
          </a:p>
          <a:p>
            <a:pPr lvl="1"/>
            <a:r>
              <a:rPr lang="en-IE" dirty="0"/>
              <a:t>i.e. an object is created (instantiated) from a class.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E3CB2-F2C5-4545-9C1D-2FF645411CBB}"/>
              </a:ext>
            </a:extLst>
          </p:cNvPr>
          <p:cNvSpPr/>
          <p:nvPr/>
        </p:nvSpPr>
        <p:spPr>
          <a:xfrm>
            <a:off x="3657600" y="3733801"/>
            <a:ext cx="4374356" cy="292020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FEC5DA-C691-4A16-BFAC-95576BE9D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277520"/>
            <a:ext cx="7620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6" name="Text Box 9">
            <a:extLst>
              <a:ext uri="{FF2B5EF4-FFF2-40B4-BE49-F238E27FC236}">
                <a16:creationId xmlns:a16="http://schemas.microsoft.com/office/drawing/2014/main" id="{6BCD8AFD-9026-4584-BB0C-DA0914FEC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3733801"/>
            <a:ext cx="23622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String a;</a:t>
            </a:r>
          </a:p>
        </p:txBody>
      </p:sp>
      <p:sp>
        <p:nvSpPr>
          <p:cNvPr id="7" name="Arrow: Right 17">
            <a:extLst>
              <a:ext uri="{FF2B5EF4-FFF2-40B4-BE49-F238E27FC236}">
                <a16:creationId xmlns:a16="http://schemas.microsoft.com/office/drawing/2014/main" id="{90064D53-8AFB-4A36-BA20-25ADE20F0BE9}"/>
              </a:ext>
            </a:extLst>
          </p:cNvPr>
          <p:cNvSpPr/>
          <p:nvPr/>
        </p:nvSpPr>
        <p:spPr>
          <a:xfrm>
            <a:off x="1752600" y="3226197"/>
            <a:ext cx="1828800" cy="1676400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String</a:t>
            </a:r>
            <a:r>
              <a:rPr lang="en-IE" sz="2400" dirty="0"/>
              <a:t> is the Class</a:t>
            </a: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C30C3CDF-DEA8-45B0-990D-88395B3AA3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5984" y="5562728"/>
            <a:ext cx="1481138" cy="400759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“Hello”</a:t>
            </a:r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C425F9A-7CE8-466A-AEAF-CC71F0BA9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526756" y="4350669"/>
            <a:ext cx="1264445" cy="121205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E383D759-3D69-43BE-BD20-70D6E14EC852}"/>
              </a:ext>
            </a:extLst>
          </p:cNvPr>
          <p:cNvSpPr/>
          <p:nvPr/>
        </p:nvSpPr>
        <p:spPr>
          <a:xfrm>
            <a:off x="6794285" y="4835503"/>
            <a:ext cx="3733800" cy="1818503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a</a:t>
            </a:r>
            <a:r>
              <a:rPr lang="en-IE" sz="2400" dirty="0"/>
              <a:t> is the Object, </a:t>
            </a:r>
            <a:br>
              <a:rPr lang="en-IE" sz="2400" dirty="0"/>
            </a:br>
            <a:r>
              <a:rPr lang="en-IE" sz="2400" dirty="0"/>
              <a:t>which contains “Hello”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677" y="4203986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7469" y="5347590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</p:spTree>
    <p:extLst>
      <p:ext uri="{BB962C8B-B14F-4D97-AF65-F5344CB8AC3E}">
        <p14:creationId xmlns:p14="http://schemas.microsoft.com/office/powerpoint/2010/main" val="191676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Classes and Objects – </a:t>
            </a:r>
            <a:r>
              <a:rPr lang="en-IE" b="1" dirty="0"/>
              <a:t>Many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r>
              <a:rPr lang="en-IE" dirty="0"/>
              <a:t>Many </a:t>
            </a:r>
            <a:r>
              <a:rPr lang="en-IE" b="1" dirty="0">
                <a:solidFill>
                  <a:srgbClr val="FF0000"/>
                </a:solidFill>
              </a:rPr>
              <a:t>objects</a:t>
            </a:r>
            <a:r>
              <a:rPr lang="en-IE" dirty="0"/>
              <a:t> can be constructed from a single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definition.</a:t>
            </a:r>
          </a:p>
          <a:p>
            <a:endParaRPr lang="en-IE" dirty="0"/>
          </a:p>
          <a:p>
            <a:r>
              <a:rPr lang="en-IE" dirty="0"/>
              <a:t>Each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must have a unique name within the program.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02473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400" dirty="0"/>
              <a:t>Shop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2800" dirty="0" err="1"/>
              <a:t>Ver</a:t>
            </a:r>
            <a:r>
              <a:rPr lang="en-GB" sz="2800" dirty="0"/>
              <a:t> 1.0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390650"/>
            <a:ext cx="40767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We will recap object oriented concepts through the study of a new class called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.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3048000" y="3507254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6781800" y="5259854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5105400" y="4040654"/>
            <a:ext cx="27051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9" y="1752601"/>
            <a:ext cx="3810000" cy="4525963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 class stores </a:t>
            </a:r>
            <a:r>
              <a:rPr lang="en-IE" b="1" dirty="0"/>
              <a:t>details</a:t>
            </a:r>
            <a:r>
              <a:rPr lang="en-IE" dirty="0"/>
              <a:t> about a product</a:t>
            </a:r>
          </a:p>
          <a:p>
            <a:pPr lvl="1"/>
            <a:r>
              <a:rPr lang="en-IE" dirty="0"/>
              <a:t>name </a:t>
            </a:r>
          </a:p>
          <a:p>
            <a:pPr lvl="1"/>
            <a:r>
              <a:rPr lang="en-IE" dirty="0"/>
              <a:t>code </a:t>
            </a:r>
          </a:p>
          <a:p>
            <a:pPr lvl="1"/>
            <a:r>
              <a:rPr lang="en-IE" dirty="0"/>
              <a:t>unit cost </a:t>
            </a:r>
          </a:p>
          <a:p>
            <a:pPr lvl="1"/>
            <a:r>
              <a:rPr lang="en-IE" dirty="0"/>
              <a:t>in the current product line or not?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57400" y="17526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114800" y="2286000"/>
            <a:ext cx="1104900" cy="24384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4191000" y="4724400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751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Driver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9296400" cy="5105400"/>
          </a:xfrm>
        </p:spPr>
        <p:txBody>
          <a:bodyPr>
            <a:norm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chemeClr val="accent6"/>
                </a:solidFill>
              </a:rPr>
              <a:t>Driver</a:t>
            </a:r>
            <a:r>
              <a:rPr lang="en-IE" sz="2800" dirty="0">
                <a:solidFill>
                  <a:schemeClr val="accent6"/>
                </a:solidFill>
              </a:rPr>
              <a:t> </a:t>
            </a:r>
            <a:r>
              <a:rPr lang="en-IE" sz="2800" dirty="0"/>
              <a:t>class </a:t>
            </a:r>
          </a:p>
          <a:p>
            <a:pPr lvl="1"/>
            <a:r>
              <a:rPr lang="en-IE" dirty="0"/>
              <a:t>has the </a:t>
            </a:r>
            <a:r>
              <a:rPr lang="en-IE" b="1" dirty="0">
                <a:solidFill>
                  <a:srgbClr val="FF0000"/>
                </a:solidFill>
              </a:rPr>
              <a:t>main()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method.  </a:t>
            </a:r>
          </a:p>
          <a:p>
            <a:pPr lvl="1"/>
            <a:r>
              <a:rPr lang="en-IE" b="1" dirty="0"/>
              <a:t>reads</a:t>
            </a:r>
            <a:r>
              <a:rPr lang="en-IE" dirty="0"/>
              <a:t> the product details from the user (via the console)</a:t>
            </a:r>
          </a:p>
          <a:p>
            <a:pPr lvl="1"/>
            <a:r>
              <a:rPr lang="en-IE" b="1" dirty="0"/>
              <a:t>creates</a:t>
            </a:r>
            <a:r>
              <a:rPr lang="en-IE" dirty="0"/>
              <a:t> a new Product object.  </a:t>
            </a:r>
          </a:p>
          <a:p>
            <a:pPr lvl="1"/>
            <a:r>
              <a:rPr lang="en-IE" b="1" dirty="0"/>
              <a:t>prints</a:t>
            </a:r>
            <a:r>
              <a:rPr lang="en-IE" dirty="0"/>
              <a:t> the product object</a:t>
            </a:r>
            <a:br>
              <a:rPr lang="en-IE" dirty="0"/>
            </a:br>
            <a:r>
              <a:rPr lang="en-IE" dirty="0"/>
              <a:t>(to the console)</a:t>
            </a:r>
            <a:br>
              <a:rPr lang="en-IE" dirty="0"/>
            </a:br>
            <a:endParaRPr lang="en-IE" dirty="0"/>
          </a:p>
          <a:p>
            <a:r>
              <a:rPr lang="en-IE" sz="2800" b="1" dirty="0">
                <a:solidFill>
                  <a:schemeClr val="accent6"/>
                </a:solidFill>
              </a:rPr>
              <a:t>Driver </a:t>
            </a:r>
            <a:r>
              <a:rPr lang="en-IE" sz="2800" dirty="0"/>
              <a:t>is covered in the next lecture.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7315200" y="762000"/>
            <a:ext cx="2057400" cy="1066800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9067800" y="4091781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9372600" y="1295401"/>
            <a:ext cx="723900" cy="2796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572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F8E40A-BD9C-FA7E-E71C-9C64BE6D6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963" y="2032971"/>
            <a:ext cx="5181600" cy="2527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96293" y="69267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Product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609600" y="1896664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</p:cNvCxnSpPr>
          <p:nvPr/>
        </p:nvCxnSpPr>
        <p:spPr>
          <a:xfrm>
            <a:off x="4457614" y="2162204"/>
            <a:ext cx="3619586" cy="76635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589613" y="4329439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green circle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5290483" y="3895388"/>
            <a:ext cx="505480" cy="664884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7624477" y="2015344"/>
            <a:ext cx="1896045" cy="3810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7229107" y="505927"/>
            <a:ext cx="1343392" cy="1659281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E10EDEF-23A0-164C-0D6C-354490400320}"/>
              </a:ext>
            </a:extLst>
          </p:cNvPr>
          <p:cNvSpPr txBox="1"/>
          <p:nvPr/>
        </p:nvSpPr>
        <p:spPr>
          <a:xfrm>
            <a:off x="348231" y="3159215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red box means it is </a:t>
            </a:r>
            <a:r>
              <a:rPr lang="en-IE" sz="2400" b="1" dirty="0"/>
              <a:t>private</a:t>
            </a:r>
            <a:r>
              <a:rPr lang="en-IE" sz="2400" dirty="0"/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87431A-0E73-589D-A605-871DD6DE0FC0}"/>
              </a:ext>
            </a:extLst>
          </p:cNvPr>
          <p:cNvCxnSpPr>
            <a:cxnSpLocks/>
          </p:cNvCxnSpPr>
          <p:nvPr/>
        </p:nvCxnSpPr>
        <p:spPr>
          <a:xfrm flipV="1">
            <a:off x="5098156" y="2695429"/>
            <a:ext cx="697807" cy="798614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  <p:bldP spid="15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7DB27C-5B6D-D51A-C0E9-942B94B4A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1752600"/>
            <a:ext cx="5181600" cy="2527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9322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5334000" y="2133600"/>
            <a:ext cx="2362201" cy="609600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endCxn id="7" idx="1"/>
          </p:cNvCxnSpPr>
          <p:nvPr/>
        </p:nvCxnSpPr>
        <p:spPr>
          <a:xfrm>
            <a:off x="4267201" y="2356860"/>
            <a:ext cx="1066799" cy="8154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973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E0EE9-7F4A-66C0-EC47-219DB30185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924" y="1726146"/>
            <a:ext cx="5181600" cy="2527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1945642" y="3228945"/>
            <a:ext cx="16002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2157971" y="1547431"/>
            <a:ext cx="161589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type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</p:cNvCxnSpPr>
          <p:nvPr/>
        </p:nvCxnSpPr>
        <p:spPr>
          <a:xfrm flipV="1">
            <a:off x="3549356" y="2550592"/>
            <a:ext cx="2241844" cy="878408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</p:cNvCxnSpPr>
          <p:nvPr/>
        </p:nvCxnSpPr>
        <p:spPr>
          <a:xfrm>
            <a:off x="3796025" y="1699591"/>
            <a:ext cx="1385575" cy="719343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20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D256D-90A7-1CCF-869E-BE00B583B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055" y="916586"/>
            <a:ext cx="5181600" cy="2527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br>
              <a:rPr lang="en-IE" sz="3600" b="1" dirty="0"/>
            </a:br>
            <a:r>
              <a:rPr lang="en-IE" sz="3600" b="1" dirty="0"/>
              <a:t>Constructor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59055" y="1600200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561840" y="1906067"/>
            <a:ext cx="5334760" cy="274169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4953000" y="1985681"/>
            <a:ext cx="558055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54BF45E-94EB-4FAE-ACC1-3C8D5081B9A6}"/>
              </a:ext>
            </a:extLst>
          </p:cNvPr>
          <p:cNvSpPr txBox="1"/>
          <p:nvPr/>
        </p:nvSpPr>
        <p:spPr>
          <a:xfrm>
            <a:off x="281259" y="4016345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Constructors have same name as the class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C11272-E773-4288-84E5-15121F65542E}"/>
              </a:ext>
            </a:extLst>
          </p:cNvPr>
          <p:cNvSpPr txBox="1"/>
          <p:nvPr/>
        </p:nvSpPr>
        <p:spPr>
          <a:xfrm>
            <a:off x="7823627" y="5486400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Four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2460009" y="2108200"/>
            <a:ext cx="3293331" cy="1908145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882412" y="2165453"/>
            <a:ext cx="2251342" cy="332094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8065912" y="2150670"/>
            <a:ext cx="106784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9120510" y="2180236"/>
            <a:ext cx="13244" cy="330616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9133754" y="2150670"/>
            <a:ext cx="102502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2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r>
              <a:rPr lang="en-IE" sz="3600" b="1" dirty="0"/>
              <a:t>fields </a:t>
            </a:r>
            <a:r>
              <a:rPr lang="en-IE" sz="3600" dirty="0"/>
              <a:t>and</a:t>
            </a:r>
            <a:r>
              <a:rPr lang="en-IE" sz="3600" b="1" dirty="0"/>
              <a:t> constructor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0CB1BFE-F901-4208-ABB3-3B11E7E9E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1" y="2057400"/>
            <a:ext cx="8331127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double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970315" y="2590800"/>
            <a:ext cx="8342013" cy="1066800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/>
          <p:cNvSpPr/>
          <p:nvPr/>
        </p:nvSpPr>
        <p:spPr>
          <a:xfrm>
            <a:off x="1981201" y="3810000"/>
            <a:ext cx="833112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5562600" y="1219200"/>
            <a:ext cx="533400" cy="1371600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7315200" y="1219200"/>
            <a:ext cx="990600" cy="2590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898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6923CC-E46C-F955-5B28-FAA755917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45" y="1265459"/>
            <a:ext cx="6718815" cy="32770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2134042"/>
            <a:ext cx="3428999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19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4114845" y="2841929"/>
            <a:ext cx="4134075" cy="1676650"/>
          </a:xfrm>
          <a:prstGeom prst="roundRect">
            <a:avLst/>
          </a:prstGeom>
          <a:noFill/>
          <a:ln w="38100">
            <a:solidFill>
              <a:srgbClr val="FCBA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0" name="Straight Arrow Connector 19"/>
          <p:cNvCxnSpPr>
            <a:cxnSpLocks/>
            <a:endCxn id="19" idx="1"/>
          </p:cNvCxnSpPr>
          <p:nvPr/>
        </p:nvCxnSpPr>
        <p:spPr>
          <a:xfrm>
            <a:off x="3657599" y="2475531"/>
            <a:ext cx="457246" cy="1204723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0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A0D1C7-9D08-943D-43B6-D9E681757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291" y="1143000"/>
            <a:ext cx="7811457" cy="381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1143000" y="3626562"/>
            <a:ext cx="1876984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Method </a:t>
            </a:r>
            <a:r>
              <a:rPr lang="en-IE" b="1" dirty="0"/>
              <a:t>name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1143000" y="2244902"/>
            <a:ext cx="1892675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3019984" y="3329819"/>
            <a:ext cx="2253073" cy="496798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3035675" y="2444957"/>
            <a:ext cx="1532403" cy="812297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285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559DF2-B239-B28D-9892-4FAF7D66C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090" y="1178866"/>
            <a:ext cx="9686207" cy="47244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5504" y="1727129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3556798" y="3641286"/>
            <a:ext cx="3987001" cy="93071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2615304" y="1957962"/>
            <a:ext cx="1118496" cy="177583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451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br>
              <a:rPr lang="en-US" sz="2000" b="1" dirty="0"/>
            </a:b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5161991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461250" y="3306846"/>
            <a:ext cx="479425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7C53D8-9834-42FB-A8C5-3200BC2C93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1" y="1905001"/>
            <a:ext cx="6250429" cy="424731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double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842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8ED950-9CE4-D554-1088-424459659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1143000"/>
            <a:ext cx="8763192" cy="427420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set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33801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</a:t>
            </a:r>
            <a:r>
              <a:rPr lang="en-IE" sz="2400" dirty="0"/>
              <a:t>ters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067300" y="4202393"/>
            <a:ext cx="5676900" cy="82680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4038600" y="3964634"/>
            <a:ext cx="1049482" cy="52859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62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7558479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229235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field 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Class…setters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E5E4DE5-B8FA-423C-91A0-50537A339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1" y="2059632"/>
            <a:ext cx="8454559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6413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5C5EC5-D48E-6DF5-00BA-53A56585E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49" y="1831150"/>
            <a:ext cx="7395246" cy="351911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toString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2397948"/>
            <a:ext cx="3180230" cy="206210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35000">
                <a:schemeClr val="accent2">
                  <a:lumMod val="0"/>
                  <a:lumOff val="100000"/>
                </a:schemeClr>
              </a:gs>
              <a:gs pos="100000">
                <a:schemeClr val="accent2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 flipV="1">
            <a:off x="4476747" y="4969268"/>
            <a:ext cx="2209801" cy="381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3561230" y="3429000"/>
            <a:ext cx="915517" cy="1540268"/>
          </a:xfrm>
          <a:prstGeom prst="straightConnector1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154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48A2-96B8-4CA3-887F-E691E453C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 Product Class…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918E08B-06D1-49BE-84AD-151CD8A42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1"/>
            <a:ext cx="8382000" cy="243143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"Product description: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product code: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unit cost: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currently in product line: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6C4941-38AF-4783-A313-6DE763E77B15}"/>
              </a:ext>
            </a:extLst>
          </p:cNvPr>
          <p:cNvSpPr/>
          <p:nvPr/>
        </p:nvSpPr>
        <p:spPr>
          <a:xfrm>
            <a:off x="1063438" y="5410200"/>
            <a:ext cx="10065124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n-IE" dirty="0"/>
          </a:p>
          <a:p>
            <a:r>
              <a:rPr lang="en-IE" dirty="0"/>
              <a:t>Product description: 55 Inch TV, product code: 23432, unit cost: 1399.99, currently in product line: true</a:t>
            </a:r>
          </a:p>
          <a:p>
            <a:endParaRPr lang="en-IE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B18F78A-58CB-46D0-8CC7-40579D9A69E5}"/>
              </a:ext>
            </a:extLst>
          </p:cNvPr>
          <p:cNvSpPr/>
          <p:nvPr/>
        </p:nvSpPr>
        <p:spPr>
          <a:xfrm>
            <a:off x="3276600" y="4876799"/>
            <a:ext cx="59436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printed a Product Object:</a:t>
            </a:r>
          </a:p>
        </p:txBody>
      </p:sp>
    </p:spTree>
    <p:extLst>
      <p:ext uri="{BB962C8B-B14F-4D97-AF65-F5344CB8AC3E}">
        <p14:creationId xmlns:p14="http://schemas.microsoft.com/office/powerpoint/2010/main" val="408277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br>
              <a:rPr lang="en-IE" sz="2800" b="1" dirty="0"/>
            </a:b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60960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>
                <a:solidFill>
                  <a:schemeClr val="tx1"/>
                </a:solidFill>
              </a:rPr>
              <a:t>Product </a:t>
            </a:r>
            <a:r>
              <a:rPr lang="en-IE" sz="2400" dirty="0" err="1">
                <a:solidFill>
                  <a:schemeClr val="tx1"/>
                </a:solidFill>
              </a:rPr>
              <a:t>product</a:t>
            </a:r>
            <a:r>
              <a:rPr lang="en-IE" sz="2400" dirty="0">
                <a:solidFill>
                  <a:schemeClr val="tx1"/>
                </a:solidFill>
              </a:rPr>
              <a:t> = new Product();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(product);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product.toString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10820400" y="2514600"/>
            <a:ext cx="609600" cy="6096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440801"/>
              </p:ext>
            </p:extLst>
          </p:nvPr>
        </p:nvGraphicFramePr>
        <p:xfrm>
          <a:off x="152400" y="1529542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1905000" y="2213324"/>
            <a:ext cx="2362200" cy="91087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C8E768-7A07-D043-B181-5F8F84BC14EA}"/>
              </a:ext>
            </a:extLst>
          </p:cNvPr>
          <p:cNvCxnSpPr>
            <a:cxnSpLocks/>
          </p:cNvCxnSpPr>
          <p:nvPr/>
        </p:nvCxnSpPr>
        <p:spPr>
          <a:xfrm>
            <a:off x="1295400" y="2973562"/>
            <a:ext cx="2971800" cy="12719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34D394E0-9F2F-27D7-22D3-ED4E01D51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783" y="1923130"/>
            <a:ext cx="9522753" cy="464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B80157-96A0-FB64-2D5D-D4A4DA266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4309" y="1676400"/>
            <a:ext cx="7967686" cy="3886200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429873"/>
              </p:ext>
            </p:extLst>
          </p:nvPr>
        </p:nvGraphicFramePr>
        <p:xfrm>
          <a:off x="228600" y="150876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575227"/>
              </p:ext>
            </p:extLst>
          </p:nvPr>
        </p:nvGraphicFramePr>
        <p:xfrm>
          <a:off x="366596" y="3893066"/>
          <a:ext cx="3200400" cy="863734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86373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3200400" y="3352800"/>
            <a:ext cx="1712138" cy="114730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580851" y="2488743"/>
            <a:ext cx="1364581" cy="17228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onut 10"/>
          <p:cNvSpPr/>
          <p:nvPr/>
        </p:nvSpPr>
        <p:spPr>
          <a:xfrm>
            <a:off x="4945432" y="2082561"/>
            <a:ext cx="312368" cy="1295400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912538" y="2278171"/>
            <a:ext cx="4328905" cy="8319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6213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07DD5E-631A-DB71-33E6-F7C119DEC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806" y="1517865"/>
            <a:ext cx="9457657" cy="4612926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8" y="211186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907282" y="2218508"/>
            <a:ext cx="1036317" cy="56103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3033672"/>
            <a:ext cx="1086394" cy="1192341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4384762"/>
            <a:ext cx="979712" cy="796839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43599" y="2209800"/>
            <a:ext cx="4368729" cy="113947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Rectangle 16"/>
          <p:cNvSpPr/>
          <p:nvPr/>
        </p:nvSpPr>
        <p:spPr>
          <a:xfrm>
            <a:off x="5974082" y="3943477"/>
            <a:ext cx="5989318" cy="1828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5181600"/>
            <a:ext cx="979712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33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839796"/>
            <a:ext cx="693972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1149.99,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BAD69D-B9C8-48DB-AD0C-9320B491164B}"/>
              </a:ext>
            </a:extLst>
          </p:cNvPr>
          <p:cNvSpPr txBox="1"/>
          <p:nvPr/>
        </p:nvSpPr>
        <p:spPr>
          <a:xfrm>
            <a:off x="1981200" y="4994197"/>
            <a:ext cx="33528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>
                <a:solidFill>
                  <a:srgbClr val="FF0000"/>
                </a:solidFill>
              </a:rPr>
              <a:t>Product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AE11070-294F-4CEA-B02B-49CD2F446400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3633538" y="419100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38AAB7-C34D-4A0B-84BD-F4376439A5F2}"/>
              </a:ext>
            </a:extLst>
          </p:cNvPr>
          <p:cNvSpPr/>
          <p:nvPr/>
        </p:nvSpPr>
        <p:spPr>
          <a:xfrm>
            <a:off x="1676400" y="359362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5791200" y="4363968"/>
            <a:ext cx="3276600" cy="2417833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5867400" y="49233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5867400" y="53805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8075279" y="49448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8075279" y="54020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6676954" y="4396607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5867401" y="584580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8051216" y="586727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</p:cNvCxnSpPr>
          <p:nvPr/>
        </p:nvCxnSpPr>
        <p:spPr>
          <a:xfrm flipH="1">
            <a:off x="7696203" y="2348003"/>
            <a:ext cx="346049" cy="204860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5867401" y="632460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8042251" y="632447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19608694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207696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54840" y="47868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54840" y="52440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30777" y="570930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21812" y="6166504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92973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084264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71629" y="48350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71629" y="52922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47566" y="575744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38601" y="6214646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E8EC398D-E8E6-464D-9D36-ACF9C618B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7" y="2127003"/>
            <a:ext cx="8824852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phone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Product(“iPhone16”, 1001, 1249.99, false);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E8BF56-7684-42D6-95BA-64A36A35348C}"/>
              </a:ext>
            </a:extLst>
          </p:cNvPr>
          <p:cNvSpPr txBox="1"/>
          <p:nvPr/>
        </p:nvSpPr>
        <p:spPr>
          <a:xfrm>
            <a:off x="7772400" y="2514600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23" name="Rounded Rectangle 11">
            <a:extLst>
              <a:ext uri="{FF2B5EF4-FFF2-40B4-BE49-F238E27FC236}">
                <a16:creationId xmlns:a16="http://schemas.microsoft.com/office/drawing/2014/main" id="{CBF5BA80-7B91-4F8B-90BF-6F1498339940}"/>
              </a:ext>
            </a:extLst>
          </p:cNvPr>
          <p:cNvSpPr/>
          <p:nvPr/>
        </p:nvSpPr>
        <p:spPr>
          <a:xfrm>
            <a:off x="6096000" y="4027369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F8F8AB0-7943-4688-91B2-0257F2FDAA7D}"/>
              </a:ext>
            </a:extLst>
          </p:cNvPr>
          <p:cNvCxnSpPr>
            <a:cxnSpLocks/>
          </p:cNvCxnSpPr>
          <p:nvPr/>
        </p:nvCxnSpPr>
        <p:spPr>
          <a:xfrm>
            <a:off x="6400800" y="4607351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90D1D9E-1BBB-401A-B188-401D524664E0}"/>
              </a:ext>
            </a:extLst>
          </p:cNvPr>
          <p:cNvSpPr txBox="1"/>
          <p:nvPr/>
        </p:nvSpPr>
        <p:spPr>
          <a:xfrm>
            <a:off x="6324601" y="47597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17849-E0D9-489E-B8F2-9C2CA2679DB3}"/>
              </a:ext>
            </a:extLst>
          </p:cNvPr>
          <p:cNvSpPr txBox="1"/>
          <p:nvPr/>
        </p:nvSpPr>
        <p:spPr>
          <a:xfrm>
            <a:off x="6324601" y="52169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A0DD1E-912F-438A-B0EA-48BD9B58C20A}"/>
              </a:ext>
            </a:extLst>
          </p:cNvPr>
          <p:cNvSpPr txBox="1"/>
          <p:nvPr/>
        </p:nvSpPr>
        <p:spPr>
          <a:xfrm>
            <a:off x="8491229" y="4823795"/>
            <a:ext cx="1040567" cy="5847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“iPhone16”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29C818-5771-40D0-AFA9-23E83EFBE60F}"/>
              </a:ext>
            </a:extLst>
          </p:cNvPr>
          <p:cNvSpPr txBox="1"/>
          <p:nvPr/>
        </p:nvSpPr>
        <p:spPr>
          <a:xfrm>
            <a:off x="8491229" y="528099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1001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84EE5-C55C-4858-BD45-F2554AA9E2CA}"/>
              </a:ext>
            </a:extLst>
          </p:cNvPr>
          <p:cNvSpPr txBox="1"/>
          <p:nvPr/>
        </p:nvSpPr>
        <p:spPr>
          <a:xfrm>
            <a:off x="7315201" y="4147918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C7FF33-7D80-4DEF-A004-71A314A5BDC3}"/>
              </a:ext>
            </a:extLst>
          </p:cNvPr>
          <p:cNvSpPr txBox="1"/>
          <p:nvPr/>
        </p:nvSpPr>
        <p:spPr>
          <a:xfrm>
            <a:off x="6324601" y="5682171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1A0137-99C9-4108-B357-6A620D9D24CF}"/>
              </a:ext>
            </a:extLst>
          </p:cNvPr>
          <p:cNvSpPr txBox="1"/>
          <p:nvPr/>
        </p:nvSpPr>
        <p:spPr>
          <a:xfrm>
            <a:off x="8467166" y="574621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1249.99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DB6A91A-D3A4-4AD0-B9F5-E2DFBAF6B657}"/>
              </a:ext>
            </a:extLst>
          </p:cNvPr>
          <p:cNvSpPr/>
          <p:nvPr/>
        </p:nvSpPr>
        <p:spPr>
          <a:xfrm>
            <a:off x="8229601" y="3003160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D0DCBAA-3EB5-45FF-8F1C-1C0EBD814506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7962900" y="3348535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F0E1B3A-BC7C-4CF5-87B4-28BE439529B1}"/>
              </a:ext>
            </a:extLst>
          </p:cNvPr>
          <p:cNvSpPr txBox="1"/>
          <p:nvPr/>
        </p:nvSpPr>
        <p:spPr>
          <a:xfrm>
            <a:off x="6324601" y="6160969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6DF6F4-0428-4908-A7DA-4FC7B8A92112}"/>
              </a:ext>
            </a:extLst>
          </p:cNvPr>
          <p:cNvSpPr txBox="1"/>
          <p:nvPr/>
        </p:nvSpPr>
        <p:spPr>
          <a:xfrm>
            <a:off x="8458201" y="6203415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8005596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D9FE3005-6898-AE48-EAD7-0FCD9A2CD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c-strings</Template>
  <TotalTime>5660</TotalTime>
  <Words>1451</Words>
  <Application>Microsoft Macintosh PowerPoint</Application>
  <PresentationFormat>Widescreen</PresentationFormat>
  <Paragraphs>246</Paragraphs>
  <Slides>36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Courier New</vt:lpstr>
      <vt:lpstr>a-processing-mouse-event-methods</vt:lpstr>
      <vt:lpstr>Recap of OO concepts</vt:lpstr>
      <vt:lpstr>Classes and Objects</vt:lpstr>
      <vt:lpstr>Classes and Objects</vt:lpstr>
      <vt:lpstr>Classes and Objects – Many Objects</vt:lpstr>
      <vt:lpstr>Shop</vt:lpstr>
      <vt:lpstr>Shop V1.0 - Product</vt:lpstr>
      <vt:lpstr>Shop V1.0 - Product</vt:lpstr>
      <vt:lpstr>Shop V1.0 - Driver</vt:lpstr>
      <vt:lpstr>A Product Class…</vt:lpstr>
      <vt:lpstr>A Product Class…fields</vt:lpstr>
      <vt:lpstr>A Product Class…fields</vt:lpstr>
      <vt:lpstr>A Product Class…  Constructor</vt:lpstr>
      <vt:lpstr>PowerPoint Presentation</vt:lpstr>
      <vt:lpstr>A Product Class… methods</vt:lpstr>
      <vt:lpstr>A Product Class… methods</vt:lpstr>
      <vt:lpstr>A Product Class… getters</vt:lpstr>
      <vt:lpstr>Getters (Accessor Methods)</vt:lpstr>
      <vt:lpstr>Getters</vt:lpstr>
      <vt:lpstr>PowerPoint Presentation</vt:lpstr>
      <vt:lpstr>A Product Class…setters</vt:lpstr>
      <vt:lpstr>Setters (Mutator methods)</vt:lpstr>
      <vt:lpstr>Setters</vt:lpstr>
      <vt:lpstr>PowerPoint Presentation</vt:lpstr>
      <vt:lpstr>Getters/Setters</vt:lpstr>
      <vt:lpstr>A Product Class…toString</vt:lpstr>
      <vt:lpstr>A Product Class…</vt:lpstr>
      <vt:lpstr>toString()</vt:lpstr>
      <vt:lpstr>Encapsulation in Java – steps 1-3</vt:lpstr>
      <vt:lpstr>A Product Class… An Encapsulated Class</vt:lpstr>
      <vt:lpstr>A Product Class… An Encapsulated Class</vt:lpstr>
      <vt:lpstr>A Product Class… An Encapsulated Class</vt:lpstr>
      <vt:lpstr>Using the Product Class</vt:lpstr>
      <vt:lpstr>Using the Product Class</vt:lpstr>
      <vt:lpstr>Multiple Product Objects</vt:lpstr>
      <vt:lpstr>Multiple Product Objects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Mairead Meagher</cp:lastModifiedBy>
  <cp:revision>148</cp:revision>
  <cp:lastPrinted>2018-03-10T18:49:08Z</cp:lastPrinted>
  <dcterms:created xsi:type="dcterms:W3CDTF">2006-08-16T00:00:00Z</dcterms:created>
  <dcterms:modified xsi:type="dcterms:W3CDTF">2025-11-08T22:42:49Z</dcterms:modified>
</cp:coreProperties>
</file>