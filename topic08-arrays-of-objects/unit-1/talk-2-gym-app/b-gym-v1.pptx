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44"/>
  </p:notesMasterIdLst>
  <p:sldIdLst>
    <p:sldId id="256" r:id="rId2"/>
    <p:sldId id="633" r:id="rId3"/>
    <p:sldId id="585" r:id="rId4"/>
    <p:sldId id="639" r:id="rId5"/>
    <p:sldId id="641" r:id="rId6"/>
    <p:sldId id="640" r:id="rId7"/>
    <p:sldId id="662" r:id="rId8"/>
    <p:sldId id="588" r:id="rId9"/>
    <p:sldId id="646" r:id="rId10"/>
    <p:sldId id="649" r:id="rId11"/>
    <p:sldId id="650" r:id="rId12"/>
    <p:sldId id="651" r:id="rId13"/>
    <p:sldId id="652" r:id="rId14"/>
    <p:sldId id="624" r:id="rId15"/>
    <p:sldId id="625" r:id="rId16"/>
    <p:sldId id="653" r:id="rId17"/>
    <p:sldId id="654" r:id="rId18"/>
    <p:sldId id="626" r:id="rId19"/>
    <p:sldId id="627" r:id="rId20"/>
    <p:sldId id="655" r:id="rId21"/>
    <p:sldId id="656" r:id="rId22"/>
    <p:sldId id="673" r:id="rId23"/>
    <p:sldId id="657" r:id="rId24"/>
    <p:sldId id="658" r:id="rId25"/>
    <p:sldId id="628" r:id="rId26"/>
    <p:sldId id="659" r:id="rId27"/>
    <p:sldId id="660" r:id="rId28"/>
    <p:sldId id="614" r:id="rId29"/>
    <p:sldId id="663" r:id="rId30"/>
    <p:sldId id="629" r:id="rId31"/>
    <p:sldId id="613" r:id="rId32"/>
    <p:sldId id="665" r:id="rId33"/>
    <p:sldId id="666" r:id="rId34"/>
    <p:sldId id="664" r:id="rId35"/>
    <p:sldId id="617" r:id="rId36"/>
    <p:sldId id="667" r:id="rId37"/>
    <p:sldId id="668" r:id="rId38"/>
    <p:sldId id="669" r:id="rId39"/>
    <p:sldId id="670" r:id="rId40"/>
    <p:sldId id="671" r:id="rId41"/>
    <p:sldId id="672" r:id="rId42"/>
    <p:sldId id="305" r:id="rId4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CBAC5"/>
    <a:srgbClr val="A1D38E"/>
    <a:srgbClr val="F9CF8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166" autoAdjust="0"/>
    <p:restoredTop sz="94638"/>
  </p:normalViewPr>
  <p:slideViewPr>
    <p:cSldViewPr>
      <p:cViewPr varScale="1">
        <p:scale>
          <a:sx n="113" d="100"/>
          <a:sy n="113" d="100"/>
        </p:scale>
        <p:origin x="768" y="184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49" d="100"/>
        <a:sy n="49" d="100"/>
      </p:scale>
      <p:origin x="0" y="-9411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6BC3C30-7F3D-4B20-9974-47C57B22CA6E}" type="datetimeFigureOut">
              <a:rPr lang="en-IE" smtClean="0"/>
              <a:t>14/11/2025</a:t>
            </a:fld>
            <a:endParaRPr lang="en-I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609BE90-ABBD-4931-8E0C-089E0ACACA6B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8981847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/>
          <p:cNvSpPr>
            <a:spLocks noGrp="1" noChangeArrowheads="1"/>
          </p:cNvSpPr>
          <p:nvPr>
            <p:ph type="hdr" sz="quarter"/>
          </p:nvPr>
        </p:nvSpPr>
        <p:spPr>
          <a:ln/>
        </p:spPr>
        <p:txBody>
          <a:bodyPr/>
          <a:lstStyle/>
          <a:p>
            <a:r>
              <a:rPr lang="en-GB"/>
              <a:t>Objects First with Java</a:t>
            </a:r>
          </a:p>
        </p:txBody>
      </p:sp>
      <p:sp>
        <p:nvSpPr>
          <p:cNvPr id="5" name="Rectangle 6"/>
          <p:cNvSpPr>
            <a:spLocks noGrp="1" noChangeArrowheads="1"/>
          </p:cNvSpPr>
          <p:nvPr>
            <p:ph type="ftr" sz="quarter" idx="4"/>
          </p:nvPr>
        </p:nvSpPr>
        <p:spPr>
          <a:ln/>
        </p:spPr>
        <p:txBody>
          <a:bodyPr/>
          <a:lstStyle/>
          <a:p>
            <a:r>
              <a:rPr lang="en-GB"/>
              <a:t>© David J. Barnes and Michael Kölling</a:t>
            </a:r>
          </a:p>
        </p:txBody>
      </p:sp>
      <p:sp>
        <p:nvSpPr>
          <p:cNvPr id="6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A3E85BA6-CFDF-430E-8374-ADA2BF6C5E53}" type="slidenum">
              <a:rPr lang="en-GB"/>
              <a:pPr/>
              <a:t>15</a:t>
            </a:fld>
            <a:endParaRPr lang="en-GB"/>
          </a:p>
        </p:txBody>
      </p:sp>
      <p:sp>
        <p:nvSpPr>
          <p:cNvPr id="7885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7885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214483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/>
          <p:cNvSpPr>
            <a:spLocks noGrp="1" noChangeArrowheads="1"/>
          </p:cNvSpPr>
          <p:nvPr>
            <p:ph type="hdr" sz="quarter"/>
          </p:nvPr>
        </p:nvSpPr>
        <p:spPr>
          <a:ln/>
        </p:spPr>
        <p:txBody>
          <a:bodyPr/>
          <a:lstStyle/>
          <a:p>
            <a:r>
              <a:rPr lang="en-GB"/>
              <a:t>Objects First with Java</a:t>
            </a:r>
          </a:p>
        </p:txBody>
      </p:sp>
      <p:sp>
        <p:nvSpPr>
          <p:cNvPr id="5" name="Rectangle 6"/>
          <p:cNvSpPr>
            <a:spLocks noGrp="1" noChangeArrowheads="1"/>
          </p:cNvSpPr>
          <p:nvPr>
            <p:ph type="ftr" sz="quarter" idx="4"/>
          </p:nvPr>
        </p:nvSpPr>
        <p:spPr>
          <a:ln/>
        </p:spPr>
        <p:txBody>
          <a:bodyPr/>
          <a:lstStyle/>
          <a:p>
            <a:r>
              <a:rPr lang="en-GB"/>
              <a:t>© David J. Barnes and Michael Kölling</a:t>
            </a:r>
          </a:p>
        </p:txBody>
      </p:sp>
      <p:sp>
        <p:nvSpPr>
          <p:cNvPr id="6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EC17B96C-5BE9-455B-93AF-B6A38B95CFEB}" type="slidenum">
              <a:rPr lang="en-GB"/>
              <a:pPr/>
              <a:t>19</a:t>
            </a:fld>
            <a:endParaRPr lang="en-GB"/>
          </a:p>
        </p:txBody>
      </p:sp>
      <p:sp>
        <p:nvSpPr>
          <p:cNvPr id="8294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8294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903381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/>
          <p:cNvSpPr>
            <a:spLocks noGrp="1" noChangeArrowheads="1"/>
          </p:cNvSpPr>
          <p:nvPr>
            <p:ph type="hdr" sz="quarter"/>
          </p:nvPr>
        </p:nvSpPr>
        <p:spPr>
          <a:ln/>
        </p:spPr>
        <p:txBody>
          <a:bodyPr/>
          <a:lstStyle/>
          <a:p>
            <a:r>
              <a:rPr lang="en-GB"/>
              <a:t>Objects First with Java</a:t>
            </a:r>
          </a:p>
        </p:txBody>
      </p:sp>
      <p:sp>
        <p:nvSpPr>
          <p:cNvPr id="5" name="Rectangle 6"/>
          <p:cNvSpPr>
            <a:spLocks noGrp="1" noChangeArrowheads="1"/>
          </p:cNvSpPr>
          <p:nvPr>
            <p:ph type="ftr" sz="quarter" idx="4"/>
          </p:nvPr>
        </p:nvSpPr>
        <p:spPr>
          <a:ln/>
        </p:spPr>
        <p:txBody>
          <a:bodyPr/>
          <a:lstStyle/>
          <a:p>
            <a:r>
              <a:rPr lang="en-GB"/>
              <a:t>© David J. Barnes and Michael Kölling</a:t>
            </a:r>
          </a:p>
        </p:txBody>
      </p:sp>
      <p:sp>
        <p:nvSpPr>
          <p:cNvPr id="6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EC17B96C-5BE9-455B-93AF-B6A38B95CFEB}" type="slidenum">
              <a:rPr lang="en-GB"/>
              <a:pPr/>
              <a:t>20</a:t>
            </a:fld>
            <a:endParaRPr lang="en-GB"/>
          </a:p>
        </p:txBody>
      </p:sp>
      <p:sp>
        <p:nvSpPr>
          <p:cNvPr id="8294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8294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200851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609BE90-ABBD-4931-8E0C-089E0ACACA6B}" type="slidenum">
              <a:rPr lang="en-IE" smtClean="0"/>
              <a:t>31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96815827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609BE90-ABBD-4931-8E0C-089E0ACACA6B}" type="slidenum">
              <a:rPr lang="en-IE" smtClean="0"/>
              <a:t>32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27187630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609BE90-ABBD-4931-8E0C-089E0ACACA6B}" type="slidenum">
              <a:rPr lang="en-IE" smtClean="0"/>
              <a:t>33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70320131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91900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54FA624-7CFC-3CFB-8384-E3FA99B20E94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C51F014-A304-3672-EB37-723E4843A104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DAB13D9-B7A5-0614-4651-2F9977D91910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5B6F98E-998E-0C49-19D0-BD928FADEDE0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6A350EAD-DC44-A3A0-38C6-89949173DFA9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6CA29CA4-0D75-B25E-E49E-22B124629880}"/>
              </a:ext>
            </a:extLst>
          </p:cNvPr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938097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95443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F42A16B-6893-A143-E832-A99D7B6427B3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B64861E-C2E3-2C0F-0C43-CF6F042CC211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EE7CBAE-0172-1E89-E84D-992B77561804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C50A73E-1B0E-99B0-1273-3679BDBB1512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54674E79-66F0-A4C7-FF39-5F928B7C9A5B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88FA33F7-BD25-8F44-1DDF-3807C3A6A002}"/>
              </a:ext>
            </a:extLst>
          </p:cNvPr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709971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3436290-11E2-F20B-966B-F18296CC48D7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A92CD0C1-F3B9-C92E-D990-6E9A57623D5A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CAB2DBB3-4EEF-3DFF-199A-BA6AB3793D3C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1457289-6BB4-E107-2E46-8D2073E34153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39DE626A-C732-60D0-0562-1226E2D9377D}"/>
              </a:ext>
            </a:extLst>
          </p:cNvPr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370889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6" name="Straight Connector 5"/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DB4946F-2A50-46DF-D246-8E463A5B9E4E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CF61A43-37C0-D158-13BE-1753663F3BEC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51A815F-BB18-F13C-32C4-8E79100BCF82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F0757EC-8007-C46D-7D50-F765C16D5B92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D082DFA-2D0D-E3FC-D879-A6D24EF7B7AE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F251A29-7993-54F5-5393-4446E4070D1E}"/>
              </a:ext>
            </a:extLst>
          </p:cNvPr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683265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0571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07393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19466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59941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662745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hape 22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/>
          </a:p>
        </p:txBody>
      </p:sp>
      <p:sp>
        <p:nvSpPr>
          <p:cNvPr id="23" name="Shape 23"/>
          <p:cNvSpPr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/>
          </a:p>
        </p:txBody>
      </p:sp>
      <p:sp>
        <p:nvSpPr>
          <p:cNvPr id="24" name="Shape 24"/>
          <p:cNvSpPr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220330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Text"/>
          <p:cNvSpPr txBox="1">
            <a:spLocks noGrp="1"/>
          </p:cNvSpPr>
          <p:nvPr>
            <p:ph type="title"/>
          </p:nvPr>
        </p:nvSpPr>
        <p:spPr>
          <a:xfrm>
            <a:off x="863600" y="2286000"/>
            <a:ext cx="10464801" cy="1143001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 dirty="0"/>
          </a:p>
        </p:txBody>
      </p:sp>
      <p:sp>
        <p:nvSpPr>
          <p:cNvPr id="16" name="Subtitle"/>
          <p:cNvSpPr txBox="1">
            <a:spLocks noGrp="1"/>
          </p:cNvSpPr>
          <p:nvPr>
            <p:ph type="body" sz="quarter" idx="22"/>
          </p:nvPr>
        </p:nvSpPr>
        <p:spPr>
          <a:xfrm>
            <a:off x="957115" y="3465604"/>
            <a:ext cx="10134430" cy="846384"/>
          </a:xfrm>
          <a:prstGeom prst="rect">
            <a:avLst/>
          </a:prstGeom>
        </p:spPr>
        <p:txBody>
          <a:bodyPr anchor="ctr">
            <a:spAutoFit/>
          </a:bodyPr>
          <a:lstStyle>
            <a:lvl1pPr marL="0" indent="0" algn="ctr">
              <a:spcBef>
                <a:spcPts val="0"/>
              </a:spcBef>
              <a:buClrTx/>
              <a:buSzTx/>
              <a:buFontTx/>
              <a:buNone/>
              <a:defRPr>
                <a:solidFill>
                  <a:srgbClr val="2F4468"/>
                </a:solidFill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091544" y="6360984"/>
            <a:ext cx="495649" cy="492440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8222344"/>
      </p:ext>
    </p:extLst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AndChart">
  <p:cSld name="Title, Text and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0800" y="381000"/>
            <a:ext cx="10363200" cy="1143000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1625600" y="1828800"/>
            <a:ext cx="4876800" cy="426720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hart Placeholder 3"/>
          <p:cNvSpPr>
            <a:spLocks noGrp="1"/>
          </p:cNvSpPr>
          <p:nvPr>
            <p:ph type="chart" sz="half" idx="2"/>
          </p:nvPr>
        </p:nvSpPr>
        <p:spPr>
          <a:xfrm>
            <a:off x="6705600" y="1828800"/>
            <a:ext cx="4876800" cy="4267200"/>
          </a:xfrm>
        </p:spPr>
        <p:txBody>
          <a:bodyPr/>
          <a:lstStyle/>
          <a:p>
            <a:pPr lvl="0"/>
            <a:r>
              <a:rPr lang="en-GB" noProof="0"/>
              <a:t>Click icon to add chart</a:t>
            </a:r>
            <a:endParaRPr lang="en-US" noProof="0"/>
          </a:p>
        </p:txBody>
      </p:sp>
      <p:sp>
        <p:nvSpPr>
          <p:cNvPr id="5" name="Rectangle 1028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62339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11/14/25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61800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hyperlink" Target="http://www.tutorialspoint.com/java/java_encapsulation.htm" TargetMode="Externa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175641" y="914401"/>
            <a:ext cx="7772400" cy="1470025"/>
          </a:xfrm>
        </p:spPr>
        <p:txBody>
          <a:bodyPr>
            <a:normAutofit/>
          </a:bodyPr>
          <a:lstStyle/>
          <a:p>
            <a:pPr algn="l"/>
            <a:r>
              <a:rPr lang="en-IE" sz="4000" dirty="0"/>
              <a:t>Gym App V1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38300" y="3810000"/>
            <a:ext cx="1866900" cy="1066800"/>
          </a:xfrm>
        </p:spPr>
        <p:txBody>
          <a:bodyPr>
            <a:norm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</a:pPr>
            <a:r>
              <a:rPr lang="en-IE" sz="2400" dirty="0"/>
              <a:t>Produced </a:t>
            </a:r>
          </a:p>
          <a:p>
            <a:pPr algn="r">
              <a:lnSpc>
                <a:spcPct val="110000"/>
              </a:lnSpc>
              <a:spcBef>
                <a:spcPts val="0"/>
              </a:spcBef>
            </a:pPr>
            <a:r>
              <a:rPr lang="en-IE" sz="2400" dirty="0"/>
              <a:t>by:</a:t>
            </a:r>
          </a:p>
        </p:txBody>
      </p:sp>
      <p:cxnSp>
        <p:nvCxnSpPr>
          <p:cNvPr id="6" name="Straight Connector 5"/>
          <p:cNvCxnSpPr>
            <a:cxnSpLocks/>
          </p:cNvCxnSpPr>
          <p:nvPr/>
        </p:nvCxnSpPr>
        <p:spPr>
          <a:xfrm>
            <a:off x="457200" y="3124200"/>
            <a:ext cx="11201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itle 1"/>
          <p:cNvSpPr txBox="1">
            <a:spLocks/>
          </p:cNvSpPr>
          <p:nvPr/>
        </p:nvSpPr>
        <p:spPr>
          <a:xfrm>
            <a:off x="2175641" y="2133601"/>
            <a:ext cx="7772400" cy="9366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IE" sz="3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New App (with Validation)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B4F8303-DD1D-6B8F-CC0E-2BB32D50A1BF}"/>
              </a:ext>
            </a:extLst>
          </p:cNvPr>
          <p:cNvSpPr txBox="1"/>
          <p:nvPr/>
        </p:nvSpPr>
        <p:spPr>
          <a:xfrm>
            <a:off x="7445567" y="5849826"/>
            <a:ext cx="407275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1600" dirty="0"/>
              <a:t>Department of Computing and Mathematics</a:t>
            </a:r>
          </a:p>
          <a:p>
            <a:r>
              <a:rPr lang="en-IE" sz="1600" dirty="0"/>
              <a:t>http://www.setu.ie/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95853B1-E5DC-3BE1-C428-88FD7658E381}"/>
              </a:ext>
            </a:extLst>
          </p:cNvPr>
          <p:cNvSpPr txBox="1"/>
          <p:nvPr/>
        </p:nvSpPr>
        <p:spPr>
          <a:xfrm>
            <a:off x="3505200" y="3743235"/>
            <a:ext cx="55626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Dr. </a:t>
            </a:r>
            <a:r>
              <a:rPr lang="en-IE" sz="24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Siobhán</a:t>
            </a:r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IE" sz="24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Drohan,</a:t>
            </a:r>
            <a:endParaRPr lang="en-IE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Ms. Mairead Meagher,</a:t>
            </a:r>
          </a:p>
          <a:p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Ms. Siobhán Roche.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647E3AD-2570-D159-F739-FC6AF9C16ED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5768129"/>
            <a:ext cx="1905954" cy="10684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23712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7464614" y="1783959"/>
            <a:ext cx="4087306" cy="2889114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5400" dirty="0"/>
              <a:t>Gym App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>
          <a:xfrm>
            <a:off x="7464612" y="4750893"/>
            <a:ext cx="4087305" cy="1147863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en-US">
                <a:solidFill>
                  <a:schemeClr val="tx1"/>
                </a:solidFill>
              </a:rPr>
              <a:t>Version 1.0</a:t>
            </a:r>
          </a:p>
        </p:txBody>
      </p:sp>
      <p:pic>
        <p:nvPicPr>
          <p:cNvPr id="3" name="Picture 2" descr="Icon&#10;&#10;Description automatically generated">
            <a:extLst>
              <a:ext uri="{FF2B5EF4-FFF2-40B4-BE49-F238E27FC236}">
                <a16:creationId xmlns:a16="http://schemas.microsoft.com/office/drawing/2014/main" id="{4AD37017-98E4-1911-3861-EDA1382ED7C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" b="2427"/>
          <a:stretch/>
        </p:blipFill>
        <p:spPr>
          <a:xfrm>
            <a:off x="1" y="10"/>
            <a:ext cx="7028495" cy="6857990"/>
          </a:xfrm>
          <a:custGeom>
            <a:avLst/>
            <a:gdLst/>
            <a:ahLst/>
            <a:cxnLst/>
            <a:rect l="l" t="t" r="r" b="b"/>
            <a:pathLst>
              <a:path w="7028495" h="6858000">
                <a:moveTo>
                  <a:pt x="0" y="0"/>
                </a:moveTo>
                <a:lnTo>
                  <a:pt x="6915668" y="0"/>
                </a:lnTo>
                <a:lnTo>
                  <a:pt x="6952411" y="219663"/>
                </a:lnTo>
                <a:cubicBezTo>
                  <a:pt x="7002551" y="569921"/>
                  <a:pt x="7028495" y="927986"/>
                  <a:pt x="7028495" y="1292112"/>
                </a:cubicBezTo>
                <a:cubicBezTo>
                  <a:pt x="7028495" y="3343346"/>
                  <a:pt x="6205186" y="5202289"/>
                  <a:pt x="4870994" y="6556512"/>
                </a:cubicBezTo>
                <a:lnTo>
                  <a:pt x="4556185" y="6858000"/>
                </a:lnTo>
                <a:lnTo>
                  <a:pt x="0" y="6858000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107979845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C7C54F-25E0-4FBC-AA95-B1EADD8A26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Gym App V1.0</a:t>
            </a:r>
            <a:endParaRPr lang="en-IE" b="1" dirty="0"/>
          </a:p>
        </p:txBody>
      </p:sp>
      <p:pic>
        <p:nvPicPr>
          <p:cNvPr id="11" name="Content Placeholder 10" descr="Icon&#10;&#10;Description automatically generated">
            <a:extLst>
              <a:ext uri="{FF2B5EF4-FFF2-40B4-BE49-F238E27FC236}">
                <a16:creationId xmlns:a16="http://schemas.microsoft.com/office/drawing/2014/main" id="{6F33A7D5-75AC-E0FF-06E1-6B7402FD7C8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9400" y="134938"/>
            <a:ext cx="1422400" cy="1422400"/>
          </a:xfrm>
        </p:spPr>
      </p:pic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2F48EAA3-F50D-4307-B4CB-4A28736D5065}"/>
              </a:ext>
            </a:extLst>
          </p:cNvPr>
          <p:cNvSpPr/>
          <p:nvPr/>
        </p:nvSpPr>
        <p:spPr>
          <a:xfrm>
            <a:off x="2133600" y="2362200"/>
            <a:ext cx="2057400" cy="10668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dirty="0"/>
              <a:t>Driver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492F55B-1604-4D99-A22D-1190EB809A71}"/>
              </a:ext>
            </a:extLst>
          </p:cNvPr>
          <p:cNvSpPr/>
          <p:nvPr/>
        </p:nvSpPr>
        <p:spPr>
          <a:xfrm>
            <a:off x="5867400" y="4114800"/>
            <a:ext cx="3200400" cy="1066800"/>
          </a:xfrm>
          <a:prstGeom prst="roundRect">
            <a:avLst/>
          </a:prstGeom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 err="1"/>
              <a:t>GymMember</a:t>
            </a:r>
            <a:endParaRPr lang="en-IE" sz="4000" b="1" dirty="0"/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911C9948-2B5E-4D2E-9333-9172083D4EDA}"/>
              </a:ext>
            </a:extLst>
          </p:cNvPr>
          <p:cNvCxnSpPr>
            <a:cxnSpLocks/>
            <a:stCxn id="4" idx="3"/>
            <a:endCxn id="5" idx="0"/>
          </p:cNvCxnSpPr>
          <p:nvPr/>
        </p:nvCxnSpPr>
        <p:spPr>
          <a:xfrm>
            <a:off x="4191000" y="2895600"/>
            <a:ext cx="3276600" cy="1219200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061822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C7C54F-25E0-4FBC-AA95-B1EADD8A26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Gym App V1.0</a:t>
            </a:r>
            <a:endParaRPr lang="en-IE" b="1" dirty="0"/>
          </a:p>
        </p:txBody>
      </p:sp>
      <p:pic>
        <p:nvPicPr>
          <p:cNvPr id="11" name="Content Placeholder 10" descr="Icon&#10;&#10;Description automatically generated">
            <a:extLst>
              <a:ext uri="{FF2B5EF4-FFF2-40B4-BE49-F238E27FC236}">
                <a16:creationId xmlns:a16="http://schemas.microsoft.com/office/drawing/2014/main" id="{6F33A7D5-75AC-E0FF-06E1-6B7402FD7C8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9400" y="134938"/>
            <a:ext cx="1422400" cy="1422400"/>
          </a:xfrm>
        </p:spPr>
      </p:pic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2F48EAA3-F50D-4307-B4CB-4A28736D5065}"/>
              </a:ext>
            </a:extLst>
          </p:cNvPr>
          <p:cNvSpPr/>
          <p:nvPr/>
        </p:nvSpPr>
        <p:spPr>
          <a:xfrm>
            <a:off x="609600" y="1905000"/>
            <a:ext cx="2057400" cy="10668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dirty="0"/>
              <a:t>Driver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492F55B-1604-4D99-A22D-1190EB809A71}"/>
              </a:ext>
            </a:extLst>
          </p:cNvPr>
          <p:cNvSpPr/>
          <p:nvPr/>
        </p:nvSpPr>
        <p:spPr>
          <a:xfrm>
            <a:off x="1981200" y="4093029"/>
            <a:ext cx="3200400" cy="1066800"/>
          </a:xfrm>
          <a:prstGeom prst="roundRect">
            <a:avLst/>
          </a:prstGeom>
          <a:ln w="762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 err="1"/>
              <a:t>GymMember</a:t>
            </a:r>
            <a:endParaRPr lang="en-IE" sz="4000" b="1" dirty="0"/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911C9948-2B5E-4D2E-9333-9172083D4EDA}"/>
              </a:ext>
            </a:extLst>
          </p:cNvPr>
          <p:cNvCxnSpPr>
            <a:cxnSpLocks/>
            <a:stCxn id="4" idx="3"/>
            <a:endCxn id="5" idx="0"/>
          </p:cNvCxnSpPr>
          <p:nvPr/>
        </p:nvCxnSpPr>
        <p:spPr>
          <a:xfrm>
            <a:off x="2667000" y="2438400"/>
            <a:ext cx="914400" cy="1654629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15CF470A-7318-06D9-7ACB-D381C268439E}"/>
              </a:ext>
            </a:extLst>
          </p:cNvPr>
          <p:cNvSpPr/>
          <p:nvPr/>
        </p:nvSpPr>
        <p:spPr>
          <a:xfrm>
            <a:off x="5731328" y="1839686"/>
            <a:ext cx="5698671" cy="39703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IE" sz="2800" dirty="0"/>
              <a:t>The </a:t>
            </a:r>
            <a:r>
              <a:rPr lang="en-IE" sz="2800" b="1" dirty="0" err="1">
                <a:solidFill>
                  <a:srgbClr val="FF0000"/>
                </a:solidFill>
              </a:rPr>
              <a:t>GymMember</a:t>
            </a:r>
            <a:r>
              <a:rPr lang="en-IE" sz="2800" dirty="0"/>
              <a:t> class stores </a:t>
            </a:r>
            <a:r>
              <a:rPr lang="en-IE" sz="2800" b="1" dirty="0"/>
              <a:t>details</a:t>
            </a:r>
            <a:r>
              <a:rPr lang="en-IE" sz="2800" dirty="0"/>
              <a:t> about a single member of a gym i.e.: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IE" sz="2800" dirty="0"/>
              <a:t>name 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IE" sz="2800" dirty="0"/>
              <a:t>height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IE" sz="2800" dirty="0"/>
              <a:t>weight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IE" sz="2800" dirty="0" err="1"/>
              <a:t>membershipNumber</a:t>
            </a:r>
            <a:r>
              <a:rPr lang="en-IE" sz="2800" dirty="0"/>
              <a:t> 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IE" sz="2800" dirty="0"/>
              <a:t>if they are current members or not? (i.e. have they paid their membership fee)</a:t>
            </a:r>
          </a:p>
        </p:txBody>
      </p:sp>
    </p:spTree>
    <p:extLst>
      <p:ext uri="{BB962C8B-B14F-4D97-AF65-F5344CB8AC3E}">
        <p14:creationId xmlns:p14="http://schemas.microsoft.com/office/powerpoint/2010/main" val="18616027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C7C54F-25E0-4FBC-AA95-B1EADD8A26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Gym App V1.0</a:t>
            </a:r>
            <a:endParaRPr lang="en-IE" b="1" dirty="0"/>
          </a:p>
        </p:txBody>
      </p:sp>
      <p:pic>
        <p:nvPicPr>
          <p:cNvPr id="11" name="Content Placeholder 10" descr="Icon&#10;&#10;Description automatically generated">
            <a:extLst>
              <a:ext uri="{FF2B5EF4-FFF2-40B4-BE49-F238E27FC236}">
                <a16:creationId xmlns:a16="http://schemas.microsoft.com/office/drawing/2014/main" id="{6F33A7D5-75AC-E0FF-06E1-6B7402FD7C8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9400" y="134938"/>
            <a:ext cx="1422400" cy="1422400"/>
          </a:xfrm>
        </p:spPr>
      </p:pic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2F48EAA3-F50D-4307-B4CB-4A28736D5065}"/>
              </a:ext>
            </a:extLst>
          </p:cNvPr>
          <p:cNvSpPr/>
          <p:nvPr/>
        </p:nvSpPr>
        <p:spPr>
          <a:xfrm>
            <a:off x="609600" y="1905000"/>
            <a:ext cx="2057400" cy="1066800"/>
          </a:xfrm>
          <a:prstGeom prst="roundRect">
            <a:avLst/>
          </a:prstGeom>
          <a:ln w="762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dirty="0"/>
              <a:t>Driver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492F55B-1604-4D99-A22D-1190EB809A71}"/>
              </a:ext>
            </a:extLst>
          </p:cNvPr>
          <p:cNvSpPr/>
          <p:nvPr/>
        </p:nvSpPr>
        <p:spPr>
          <a:xfrm>
            <a:off x="1981200" y="4093029"/>
            <a:ext cx="3200400" cy="1066800"/>
          </a:xfrm>
          <a:prstGeom prst="roundRect">
            <a:avLst/>
          </a:prstGeom>
          <a:ln w="19050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 err="1"/>
              <a:t>GymMember</a:t>
            </a:r>
            <a:endParaRPr lang="en-IE" sz="4000" b="1" dirty="0"/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911C9948-2B5E-4D2E-9333-9172083D4EDA}"/>
              </a:ext>
            </a:extLst>
          </p:cNvPr>
          <p:cNvCxnSpPr>
            <a:cxnSpLocks/>
            <a:stCxn id="4" idx="3"/>
            <a:endCxn id="5" idx="0"/>
          </p:cNvCxnSpPr>
          <p:nvPr/>
        </p:nvCxnSpPr>
        <p:spPr>
          <a:xfrm>
            <a:off x="2667000" y="2438400"/>
            <a:ext cx="914400" cy="1654629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15CF470A-7318-06D9-7ACB-D381C268439E}"/>
              </a:ext>
            </a:extLst>
          </p:cNvPr>
          <p:cNvSpPr/>
          <p:nvPr/>
        </p:nvSpPr>
        <p:spPr>
          <a:xfrm>
            <a:off x="5638800" y="2209800"/>
            <a:ext cx="5851072" cy="31700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IE" sz="2800" dirty="0"/>
              <a:t>The </a:t>
            </a:r>
            <a:r>
              <a:rPr lang="en-IE" sz="2800" b="1" dirty="0">
                <a:solidFill>
                  <a:srgbClr val="FF0000"/>
                </a:solidFill>
              </a:rPr>
              <a:t>Driver</a:t>
            </a:r>
            <a:r>
              <a:rPr lang="en-IE" sz="2800" dirty="0"/>
              <a:t> class:</a:t>
            </a:r>
          </a:p>
          <a:p>
            <a:endParaRPr lang="en-IE" sz="28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E" sz="2400" dirty="0"/>
              <a:t>has the </a:t>
            </a:r>
            <a:r>
              <a:rPr lang="en-IE" sz="2400" b="1" dirty="0">
                <a:solidFill>
                  <a:srgbClr val="FF0000"/>
                </a:solidFill>
              </a:rPr>
              <a:t>main()</a:t>
            </a:r>
            <a:r>
              <a:rPr lang="en-IE" sz="2400" dirty="0">
                <a:solidFill>
                  <a:srgbClr val="FF0000"/>
                </a:solidFill>
              </a:rPr>
              <a:t> </a:t>
            </a:r>
            <a:r>
              <a:rPr lang="en-IE" sz="2400" dirty="0"/>
              <a:t>method. 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E" sz="2400" b="1" dirty="0"/>
              <a:t>reads</a:t>
            </a:r>
            <a:r>
              <a:rPr lang="en-IE" sz="2400" dirty="0"/>
              <a:t> the gym member details from the user (via the console)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E" sz="2400" b="1" dirty="0"/>
              <a:t>creates</a:t>
            </a:r>
            <a:r>
              <a:rPr lang="en-IE" sz="2400" dirty="0"/>
              <a:t> a new </a:t>
            </a:r>
            <a:r>
              <a:rPr lang="en-IE" sz="2400" dirty="0" err="1"/>
              <a:t>GymMember</a:t>
            </a:r>
            <a:r>
              <a:rPr lang="en-IE" sz="2400" dirty="0"/>
              <a:t> object. 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E" sz="2400" b="1" dirty="0"/>
              <a:t>prints</a:t>
            </a:r>
            <a:r>
              <a:rPr lang="en-IE" sz="2400" dirty="0"/>
              <a:t> the gym member details from the object (to the console)</a:t>
            </a:r>
          </a:p>
        </p:txBody>
      </p:sp>
    </p:spTree>
    <p:extLst>
      <p:ext uri="{BB962C8B-B14F-4D97-AF65-F5344CB8AC3E}">
        <p14:creationId xmlns:p14="http://schemas.microsoft.com/office/powerpoint/2010/main" val="9526335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F4C336-986E-C25B-9667-2885E0F712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Gym App V1.0 – Sample I/O</a:t>
            </a:r>
            <a:endParaRPr lang="en-US" dirty="0"/>
          </a:p>
        </p:txBody>
      </p:sp>
      <p:pic>
        <p:nvPicPr>
          <p:cNvPr id="6" name="Content Placeholder 10" descr="Icon&#10;&#10;Description automatically generated">
            <a:extLst>
              <a:ext uri="{FF2B5EF4-FFF2-40B4-BE49-F238E27FC236}">
                <a16:creationId xmlns:a16="http://schemas.microsoft.com/office/drawing/2014/main" id="{01E5F4F4-122A-E9DD-D7F2-1754FC721EA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9400" y="134938"/>
            <a:ext cx="1422400" cy="14224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8205221-F9AA-8F59-32C7-95ADB834EA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0200" y="1981200"/>
            <a:ext cx="11446934" cy="396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164215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7464614" y="1783959"/>
            <a:ext cx="4087306" cy="2889114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4400" dirty="0"/>
              <a:t>Encapsulated Class: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>
          <a:xfrm>
            <a:off x="7464612" y="4750893"/>
            <a:ext cx="4087305" cy="1147863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en-US" dirty="0" err="1">
                <a:solidFill>
                  <a:schemeClr val="tx1"/>
                </a:solidFill>
              </a:rPr>
              <a:t>GymMember</a:t>
            </a:r>
            <a:endParaRPr lang="en-US" dirty="0">
              <a:solidFill>
                <a:schemeClr val="tx1"/>
              </a:solidFill>
            </a:endParaRPr>
          </a:p>
        </p:txBody>
      </p:sp>
      <p:pic>
        <p:nvPicPr>
          <p:cNvPr id="3" name="Picture 2" descr="Icon&#10;&#10;Description automatically generated">
            <a:extLst>
              <a:ext uri="{FF2B5EF4-FFF2-40B4-BE49-F238E27FC236}">
                <a16:creationId xmlns:a16="http://schemas.microsoft.com/office/drawing/2014/main" id="{4AD37017-98E4-1911-3861-EDA1382ED7C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" b="2427"/>
          <a:stretch/>
        </p:blipFill>
        <p:spPr>
          <a:xfrm>
            <a:off x="1" y="10"/>
            <a:ext cx="7028495" cy="6857990"/>
          </a:xfrm>
          <a:custGeom>
            <a:avLst/>
            <a:gdLst/>
            <a:ahLst/>
            <a:cxnLst/>
            <a:rect l="l" t="t" r="r" b="b"/>
            <a:pathLst>
              <a:path w="7028495" h="6858000">
                <a:moveTo>
                  <a:pt x="0" y="0"/>
                </a:moveTo>
                <a:lnTo>
                  <a:pt x="6915668" y="0"/>
                </a:lnTo>
                <a:lnTo>
                  <a:pt x="6952411" y="219663"/>
                </a:lnTo>
                <a:cubicBezTo>
                  <a:pt x="7002551" y="569921"/>
                  <a:pt x="7028495" y="927986"/>
                  <a:pt x="7028495" y="1292112"/>
                </a:cubicBezTo>
                <a:cubicBezTo>
                  <a:pt x="7028495" y="3343346"/>
                  <a:pt x="6205186" y="5202289"/>
                  <a:pt x="4870994" y="6556512"/>
                </a:cubicBezTo>
                <a:lnTo>
                  <a:pt x="4556185" y="6858000"/>
                </a:lnTo>
                <a:lnTo>
                  <a:pt x="0" y="6858000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2486904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3E90E9B-3BBE-185D-C0B5-91ADA2C303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1509853"/>
            <a:ext cx="4277432" cy="486853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87813"/>
            <a:ext cx="10972800" cy="1143000"/>
          </a:xfrm>
        </p:spPr>
        <p:txBody>
          <a:bodyPr>
            <a:normAutofit/>
          </a:bodyPr>
          <a:lstStyle/>
          <a:p>
            <a:r>
              <a:rPr lang="en-IE" sz="3600" dirty="0"/>
              <a:t>A </a:t>
            </a:r>
            <a:r>
              <a:rPr lang="en-IE" sz="3600" b="1" dirty="0" err="1"/>
              <a:t>GymMember</a:t>
            </a:r>
            <a:r>
              <a:rPr lang="en-IE" sz="3600" dirty="0"/>
              <a:t> Class…</a:t>
            </a:r>
          </a:p>
        </p:txBody>
      </p:sp>
      <p:pic>
        <p:nvPicPr>
          <p:cNvPr id="16" name="Content Placeholder 10" descr="Icon&#10;&#10;Description automatically generated">
            <a:extLst>
              <a:ext uri="{FF2B5EF4-FFF2-40B4-BE49-F238E27FC236}">
                <a16:creationId xmlns:a16="http://schemas.microsoft.com/office/drawing/2014/main" id="{24F8C611-91C1-4575-BEF2-31F10B581CB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9400" y="134938"/>
            <a:ext cx="1422400" cy="1422400"/>
          </a:xfrm>
        </p:spPr>
      </p:pic>
      <p:sp>
        <p:nvSpPr>
          <p:cNvPr id="5" name="TextBox 4"/>
          <p:cNvSpPr txBox="1"/>
          <p:nvPr/>
        </p:nvSpPr>
        <p:spPr>
          <a:xfrm>
            <a:off x="419100" y="1593344"/>
            <a:ext cx="3352801" cy="83099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IE" sz="2400" dirty="0"/>
              <a:t>Object Type/ </a:t>
            </a:r>
            <a:r>
              <a:rPr lang="en-IE" sz="2400" b="1" dirty="0"/>
              <a:t>Class</a:t>
            </a:r>
            <a:r>
              <a:rPr lang="en-IE" sz="2400" dirty="0"/>
              <a:t> Name</a:t>
            </a:r>
          </a:p>
          <a:p>
            <a:pPr algn="ctr"/>
            <a:r>
              <a:rPr lang="en-IE" sz="2400" dirty="0"/>
              <a:t>i.e. </a:t>
            </a:r>
            <a:r>
              <a:rPr lang="en-IE" sz="2400" dirty="0" err="1"/>
              <a:t>GymMember</a:t>
            </a:r>
            <a:endParaRPr lang="en-IE" sz="24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EA65584-D9F8-47FD-8EF6-E2D83A0BCBAE}"/>
              </a:ext>
            </a:extLst>
          </p:cNvPr>
          <p:cNvSpPr txBox="1"/>
          <p:nvPr/>
        </p:nvSpPr>
        <p:spPr>
          <a:xfrm>
            <a:off x="254001" y="2678275"/>
            <a:ext cx="3848100" cy="461665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IE" sz="2400" dirty="0"/>
              <a:t>The </a:t>
            </a:r>
            <a:r>
              <a:rPr lang="en-IE" sz="2400" b="1" dirty="0"/>
              <a:t>C</a:t>
            </a:r>
            <a:r>
              <a:rPr lang="en-IE" sz="2400" dirty="0"/>
              <a:t> icon means it is a </a:t>
            </a:r>
            <a:r>
              <a:rPr lang="en-IE" sz="2400" b="1" dirty="0"/>
              <a:t>Class</a:t>
            </a:r>
            <a:r>
              <a:rPr lang="en-IE" sz="2400" dirty="0"/>
              <a:t>.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66DB8DED-05D7-4233-89A9-69D12A06D8C0}"/>
              </a:ext>
            </a:extLst>
          </p:cNvPr>
          <p:cNvCxnSpPr>
            <a:cxnSpLocks/>
            <a:stCxn id="10" idx="3"/>
          </p:cNvCxnSpPr>
          <p:nvPr/>
        </p:nvCxnSpPr>
        <p:spPr>
          <a:xfrm flipV="1">
            <a:off x="4102101" y="1833978"/>
            <a:ext cx="3213099" cy="1075130"/>
          </a:xfrm>
          <a:prstGeom prst="straightConnector1">
            <a:avLst/>
          </a:prstGeom>
          <a:ln w="28575">
            <a:solidFill>
              <a:schemeClr val="accent5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53EBAFC0-DD4C-427D-86E5-1622439D0E56}"/>
              </a:ext>
            </a:extLst>
          </p:cNvPr>
          <p:cNvSpPr txBox="1"/>
          <p:nvPr/>
        </p:nvSpPr>
        <p:spPr>
          <a:xfrm>
            <a:off x="254001" y="6156022"/>
            <a:ext cx="4700870" cy="461665"/>
          </a:xfrm>
          <a:prstGeom prst="rect">
            <a:avLst/>
          </a:prstGeom>
          <a:solidFill>
            <a:srgbClr val="92D050"/>
          </a:solidFill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IE" sz="2400" dirty="0"/>
              <a:t>The green circle means it is </a:t>
            </a:r>
            <a:r>
              <a:rPr lang="en-IE" sz="2400" b="1" dirty="0"/>
              <a:t>public</a:t>
            </a:r>
            <a:r>
              <a:rPr lang="en-IE" sz="2400" dirty="0"/>
              <a:t>.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601A018E-A2FD-4EE2-BAD6-1F821407C8A1}"/>
              </a:ext>
            </a:extLst>
          </p:cNvPr>
          <p:cNvCxnSpPr>
            <a:cxnSpLocks/>
          </p:cNvCxnSpPr>
          <p:nvPr/>
        </p:nvCxnSpPr>
        <p:spPr>
          <a:xfrm flipV="1">
            <a:off x="1987550" y="4825494"/>
            <a:ext cx="4184650" cy="1312286"/>
          </a:xfrm>
          <a:prstGeom prst="straightConnector1">
            <a:avLst/>
          </a:prstGeom>
          <a:ln w="28575">
            <a:solidFill>
              <a:schemeClr val="accent3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/>
          <p:cNvCxnSpPr>
            <a:cxnSpLocks/>
            <a:stCxn id="5" idx="3"/>
          </p:cNvCxnSpPr>
          <p:nvPr/>
        </p:nvCxnSpPr>
        <p:spPr>
          <a:xfrm flipV="1">
            <a:off x="3771900" y="1929280"/>
            <a:ext cx="190500" cy="79562"/>
          </a:xfrm>
          <a:prstGeom prst="straightConnector1">
            <a:avLst/>
          </a:prstGeom>
          <a:ln w="28575">
            <a:solidFill>
              <a:schemeClr val="bg1">
                <a:lumMod val="8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9BC7FD38-AFFF-4C8F-A2FA-103ABA30C76D}"/>
              </a:ext>
            </a:extLst>
          </p:cNvPr>
          <p:cNvSpPr/>
          <p:nvPr/>
        </p:nvSpPr>
        <p:spPr>
          <a:xfrm>
            <a:off x="7315200" y="1641162"/>
            <a:ext cx="1981202" cy="304800"/>
          </a:xfrm>
          <a:prstGeom prst="round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0206270-0EBE-A930-A388-AD9B51319A3A}"/>
              </a:ext>
            </a:extLst>
          </p:cNvPr>
          <p:cNvSpPr txBox="1"/>
          <p:nvPr/>
        </p:nvSpPr>
        <p:spPr>
          <a:xfrm>
            <a:off x="254001" y="3777971"/>
            <a:ext cx="3936999" cy="461665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IE" sz="2400" dirty="0"/>
              <a:t>Fields/Attributes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F6256FB-20AA-F1B1-4A51-96977E4F9C95}"/>
              </a:ext>
            </a:extLst>
          </p:cNvPr>
          <p:cNvCxnSpPr>
            <a:cxnSpLocks/>
          </p:cNvCxnSpPr>
          <p:nvPr/>
        </p:nvCxnSpPr>
        <p:spPr>
          <a:xfrm flipV="1">
            <a:off x="2654301" y="2786872"/>
            <a:ext cx="3517899" cy="1016937"/>
          </a:xfrm>
          <a:prstGeom prst="straightConnector1">
            <a:avLst/>
          </a:prstGeom>
          <a:ln w="28575">
            <a:solidFill>
              <a:schemeClr val="accent6">
                <a:lumMod val="60000"/>
                <a:lumOff val="4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CC84C094-A2EA-FB05-5B8D-CD80093AA284}"/>
              </a:ext>
            </a:extLst>
          </p:cNvPr>
          <p:cNvSpPr txBox="1"/>
          <p:nvPr/>
        </p:nvSpPr>
        <p:spPr>
          <a:xfrm>
            <a:off x="7491130" y="6137124"/>
            <a:ext cx="4700870" cy="461665"/>
          </a:xfrm>
          <a:prstGeom prst="rect">
            <a:avLst/>
          </a:prstGeom>
          <a:solidFill>
            <a:srgbClr val="92D050"/>
          </a:solidFill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IE" sz="2400" dirty="0"/>
              <a:t>The red box means it is </a:t>
            </a:r>
            <a:r>
              <a:rPr lang="en-IE" sz="2400" b="1" dirty="0"/>
              <a:t>private</a:t>
            </a:r>
            <a:r>
              <a:rPr lang="en-IE" sz="2400" dirty="0"/>
              <a:t>.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7158FA8F-E7F7-5F2F-C3C2-C16363157246}"/>
              </a:ext>
            </a:extLst>
          </p:cNvPr>
          <p:cNvCxnSpPr>
            <a:cxnSpLocks/>
          </p:cNvCxnSpPr>
          <p:nvPr/>
        </p:nvCxnSpPr>
        <p:spPr>
          <a:xfrm flipH="1" flipV="1">
            <a:off x="6357056" y="2636883"/>
            <a:ext cx="3701344" cy="3500241"/>
          </a:xfrm>
          <a:prstGeom prst="straightConnector1">
            <a:avLst/>
          </a:prstGeom>
          <a:ln w="28575">
            <a:solidFill>
              <a:schemeClr val="accent3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434220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10" grpId="0" animBg="1"/>
      <p:bldP spid="13" grpId="0" animBg="1"/>
      <p:bldP spid="17" grpId="0" animBg="1"/>
      <p:bldP spid="22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B58BBDC-B0B6-A592-B6A3-E6F2F687F5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49432" y="1340307"/>
            <a:ext cx="5054600" cy="57531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sz="3600" dirty="0"/>
              <a:t>A </a:t>
            </a:r>
            <a:r>
              <a:rPr lang="en-IE" sz="3600" b="1" dirty="0" err="1"/>
              <a:t>GymMember</a:t>
            </a:r>
            <a:r>
              <a:rPr lang="en-IE" sz="3600" dirty="0"/>
              <a:t> Class…Constructor</a:t>
            </a:r>
          </a:p>
        </p:txBody>
      </p:sp>
      <p:pic>
        <p:nvPicPr>
          <p:cNvPr id="16" name="Content Placeholder 10" descr="Icon&#10;&#10;Description automatically generated">
            <a:extLst>
              <a:ext uri="{FF2B5EF4-FFF2-40B4-BE49-F238E27FC236}">
                <a16:creationId xmlns:a16="http://schemas.microsoft.com/office/drawing/2014/main" id="{24F8C611-91C1-4575-BEF2-31F10B581CB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9400" y="134938"/>
            <a:ext cx="1422400" cy="1422400"/>
          </a:xfr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2C3C2130-7317-AD37-2101-4A4D75F9F4D6}"/>
              </a:ext>
            </a:extLst>
          </p:cNvPr>
          <p:cNvSpPr txBox="1"/>
          <p:nvPr/>
        </p:nvSpPr>
        <p:spPr>
          <a:xfrm>
            <a:off x="335561" y="1610092"/>
            <a:ext cx="3093945" cy="83099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2400" b="1" dirty="0"/>
              <a:t>Constructor</a:t>
            </a:r>
            <a:r>
              <a:rPr lang="en-IE" sz="2400" dirty="0"/>
              <a:t> </a:t>
            </a:r>
            <a:br>
              <a:rPr lang="en-IE" sz="2400" dirty="0"/>
            </a:br>
            <a:r>
              <a:rPr lang="en-IE" sz="2400" dirty="0"/>
              <a:t>i.e. for building objects.</a:t>
            </a:r>
          </a:p>
        </p:txBody>
      </p:sp>
      <p:sp>
        <p:nvSpPr>
          <p:cNvPr id="27" name="Rectangle: Rounded Corners 20">
            <a:extLst>
              <a:ext uri="{FF2B5EF4-FFF2-40B4-BE49-F238E27FC236}">
                <a16:creationId xmlns:a16="http://schemas.microsoft.com/office/drawing/2014/main" id="{291AFB0E-BDD0-B50D-0B6F-7D4FE04E05BC}"/>
              </a:ext>
            </a:extLst>
          </p:cNvPr>
          <p:cNvSpPr/>
          <p:nvPr/>
        </p:nvSpPr>
        <p:spPr>
          <a:xfrm>
            <a:off x="5486401" y="3441949"/>
            <a:ext cx="5562600" cy="608453"/>
          </a:xfrm>
          <a:prstGeom prst="roundRect">
            <a:avLst/>
          </a:prstGeom>
          <a:noFill/>
          <a:ln w="412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9EA449A-6A72-EF05-DAAB-D344D8230751}"/>
              </a:ext>
            </a:extLst>
          </p:cNvPr>
          <p:cNvSpPr txBox="1"/>
          <p:nvPr/>
        </p:nvSpPr>
        <p:spPr>
          <a:xfrm>
            <a:off x="334583" y="4216857"/>
            <a:ext cx="4173072" cy="400110"/>
          </a:xfrm>
          <a:prstGeom prst="rect">
            <a:avLst/>
          </a:prstGeom>
          <a:solidFill>
            <a:srgbClr val="A1D38E"/>
          </a:solidFill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2000"/>
            </a:lvl1pPr>
          </a:lstStyle>
          <a:p>
            <a:r>
              <a:rPr lang="en-IE" dirty="0"/>
              <a:t>The green circle means it is </a:t>
            </a:r>
            <a:r>
              <a:rPr lang="en-IE" b="1" dirty="0"/>
              <a:t>public</a:t>
            </a:r>
            <a:r>
              <a:rPr lang="en-IE" dirty="0"/>
              <a:t>.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5C720D3-C2C2-133B-0F1E-7D4B6DF5D64D}"/>
              </a:ext>
            </a:extLst>
          </p:cNvPr>
          <p:cNvSpPr txBox="1"/>
          <p:nvPr/>
        </p:nvSpPr>
        <p:spPr>
          <a:xfrm>
            <a:off x="135119" y="6255363"/>
            <a:ext cx="4572000" cy="400110"/>
          </a:xfrm>
          <a:prstGeom prst="rect">
            <a:avLst/>
          </a:prstGeom>
          <a:solidFill>
            <a:schemeClr val="bg1"/>
          </a:solidFill>
          <a:ln w="19050">
            <a:solidFill>
              <a:srgbClr val="002060"/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2000"/>
            </a:lvl1pPr>
          </a:lstStyle>
          <a:p>
            <a:r>
              <a:rPr lang="en-IE"/>
              <a:t>Constructors have same </a:t>
            </a:r>
            <a:r>
              <a:rPr lang="en-IE" dirty="0"/>
              <a:t>name as the class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333143A6-BFBB-9AC4-C20B-7B5F884F2C92}"/>
              </a:ext>
            </a:extLst>
          </p:cNvPr>
          <p:cNvCxnSpPr>
            <a:cxnSpLocks/>
          </p:cNvCxnSpPr>
          <p:nvPr/>
        </p:nvCxnSpPr>
        <p:spPr>
          <a:xfrm flipV="1">
            <a:off x="2051453" y="3823898"/>
            <a:ext cx="4209976" cy="2331216"/>
          </a:xfrm>
          <a:prstGeom prst="straightConnector1">
            <a:avLst/>
          </a:prstGeom>
          <a:ln w="28575">
            <a:solidFill>
              <a:srgbClr val="00206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871E4840-FF88-BF90-A403-619D6B7D4DAB}"/>
              </a:ext>
            </a:extLst>
          </p:cNvPr>
          <p:cNvCxnSpPr>
            <a:cxnSpLocks/>
          </p:cNvCxnSpPr>
          <p:nvPr/>
        </p:nvCxnSpPr>
        <p:spPr>
          <a:xfrm flipV="1">
            <a:off x="2082858" y="3807175"/>
            <a:ext cx="3818691" cy="444566"/>
          </a:xfrm>
          <a:prstGeom prst="straightConnector1">
            <a:avLst/>
          </a:prstGeom>
          <a:ln w="28575">
            <a:solidFill>
              <a:srgbClr val="A1D38E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1349E474-2D84-1F0A-EB2A-538ECC198F6D}"/>
              </a:ext>
            </a:extLst>
          </p:cNvPr>
          <p:cNvSpPr txBox="1"/>
          <p:nvPr/>
        </p:nvSpPr>
        <p:spPr>
          <a:xfrm>
            <a:off x="7794688" y="6239658"/>
            <a:ext cx="2620254" cy="707886"/>
          </a:xfrm>
          <a:prstGeom prst="rect">
            <a:avLst/>
          </a:prstGeom>
          <a:solidFill>
            <a:schemeClr val="bg1"/>
          </a:solidFill>
          <a:ln w="19050">
            <a:solidFill>
              <a:srgbClr val="002060"/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2000"/>
            </a:lvl1pPr>
          </a:lstStyle>
          <a:p>
            <a:r>
              <a:rPr lang="en-IE" dirty="0"/>
              <a:t>Five </a:t>
            </a:r>
            <a:r>
              <a:rPr lang="en-IE" b="1" dirty="0"/>
              <a:t>parameters</a:t>
            </a:r>
            <a:r>
              <a:rPr lang="en-IE" dirty="0"/>
              <a:t>; </a:t>
            </a:r>
            <a:br>
              <a:rPr lang="en-IE" dirty="0"/>
            </a:br>
            <a:r>
              <a:rPr lang="en-IE" dirty="0"/>
              <a:t>one for each field.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0F976827-8803-DDF0-1A89-8AA29D48691B}"/>
              </a:ext>
            </a:extLst>
          </p:cNvPr>
          <p:cNvCxnSpPr>
            <a:cxnSpLocks/>
          </p:cNvCxnSpPr>
          <p:nvPr/>
        </p:nvCxnSpPr>
        <p:spPr>
          <a:xfrm flipH="1" flipV="1">
            <a:off x="7503206" y="3889289"/>
            <a:ext cx="1601609" cy="2293548"/>
          </a:xfrm>
          <a:prstGeom prst="straightConnector1">
            <a:avLst/>
          </a:prstGeom>
          <a:ln w="28575">
            <a:solidFill>
              <a:srgbClr val="00206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BA6382CA-C0D8-F38E-C3B8-2083C80BD18B}"/>
              </a:ext>
            </a:extLst>
          </p:cNvPr>
          <p:cNvCxnSpPr>
            <a:cxnSpLocks/>
          </p:cNvCxnSpPr>
          <p:nvPr/>
        </p:nvCxnSpPr>
        <p:spPr>
          <a:xfrm flipV="1">
            <a:off x="9104815" y="3886200"/>
            <a:ext cx="1093343" cy="2268914"/>
          </a:xfrm>
          <a:prstGeom prst="straightConnector1">
            <a:avLst/>
          </a:prstGeom>
          <a:ln w="28575">
            <a:solidFill>
              <a:srgbClr val="00206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91E417AA-86B3-2C4F-3306-DA3743BF47DD}"/>
              </a:ext>
            </a:extLst>
          </p:cNvPr>
          <p:cNvCxnSpPr>
            <a:cxnSpLocks/>
            <a:stCxn id="8" idx="0"/>
          </p:cNvCxnSpPr>
          <p:nvPr/>
        </p:nvCxnSpPr>
        <p:spPr>
          <a:xfrm flipH="1" flipV="1">
            <a:off x="8238243" y="3858477"/>
            <a:ext cx="866572" cy="2381181"/>
          </a:xfrm>
          <a:prstGeom prst="straightConnector1">
            <a:avLst/>
          </a:prstGeom>
          <a:ln w="28575">
            <a:solidFill>
              <a:srgbClr val="00206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FA041A39-9044-B023-5016-62A0000A4E08}"/>
              </a:ext>
            </a:extLst>
          </p:cNvPr>
          <p:cNvCxnSpPr>
            <a:cxnSpLocks/>
            <a:stCxn id="8" idx="0"/>
          </p:cNvCxnSpPr>
          <p:nvPr/>
        </p:nvCxnSpPr>
        <p:spPr>
          <a:xfrm flipH="1" flipV="1">
            <a:off x="8928201" y="3886200"/>
            <a:ext cx="176614" cy="2353458"/>
          </a:xfrm>
          <a:prstGeom prst="straightConnector1">
            <a:avLst/>
          </a:prstGeom>
          <a:ln w="28575">
            <a:solidFill>
              <a:srgbClr val="00206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88D2F0B1-A86D-910A-EF79-D5E8039544A7}"/>
              </a:ext>
            </a:extLst>
          </p:cNvPr>
          <p:cNvCxnSpPr>
            <a:cxnSpLocks/>
          </p:cNvCxnSpPr>
          <p:nvPr/>
        </p:nvCxnSpPr>
        <p:spPr>
          <a:xfrm flipV="1">
            <a:off x="9104815" y="3823898"/>
            <a:ext cx="474855" cy="2372814"/>
          </a:xfrm>
          <a:prstGeom prst="straightConnector1">
            <a:avLst/>
          </a:prstGeom>
          <a:ln w="28575">
            <a:solidFill>
              <a:srgbClr val="00206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880623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30" grpId="0" animBg="1"/>
      <p:bldP spid="32" grpId="0" animBg="1"/>
      <p:bldP spid="8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sz="3600" dirty="0"/>
              <a:t>A </a:t>
            </a:r>
            <a:r>
              <a:rPr lang="en-IE" sz="3600" b="1" dirty="0" err="1"/>
              <a:t>GymMember</a:t>
            </a:r>
            <a:r>
              <a:rPr lang="en-IE" sz="3600" dirty="0"/>
              <a:t> Class…Fields and Constructor</a:t>
            </a:r>
          </a:p>
        </p:txBody>
      </p:sp>
      <p:pic>
        <p:nvPicPr>
          <p:cNvPr id="16" name="Content Placeholder 10" descr="Icon&#10;&#10;Description automatically generated">
            <a:extLst>
              <a:ext uri="{FF2B5EF4-FFF2-40B4-BE49-F238E27FC236}">
                <a16:creationId xmlns:a16="http://schemas.microsoft.com/office/drawing/2014/main" id="{24F8C611-91C1-4575-BEF2-31F10B581CB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9400" y="134938"/>
            <a:ext cx="1422400" cy="1422400"/>
          </a:xfr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C5559702-2446-1EAE-ED35-26563BFFFB43}"/>
              </a:ext>
            </a:extLst>
          </p:cNvPr>
          <p:cNvSpPr/>
          <p:nvPr/>
        </p:nvSpPr>
        <p:spPr>
          <a:xfrm>
            <a:off x="228600" y="1828800"/>
            <a:ext cx="11887200" cy="4247317"/>
          </a:xfrm>
          <a:prstGeom prst="rect">
            <a:avLst/>
          </a:prstGeom>
          <a:ln>
            <a:solidFill>
              <a:schemeClr val="tx2"/>
            </a:solidFill>
          </a:ln>
        </p:spPr>
        <p:txBody>
          <a:bodyPr wrap="square">
            <a:spAutoFit/>
          </a:bodyPr>
          <a:lstStyle/>
          <a:p>
            <a:endParaRPr lang="en-IE" b="1" dirty="0">
              <a:solidFill>
                <a:srgbClr val="000080"/>
              </a:solidFill>
            </a:endParaRPr>
          </a:p>
          <a:p>
            <a:r>
              <a:rPr lang="en-IE" b="1" dirty="0">
                <a:solidFill>
                  <a:srgbClr val="000080"/>
                </a:solidFill>
              </a:rPr>
              <a:t>private </a:t>
            </a:r>
            <a:r>
              <a:rPr lang="en-IE" dirty="0"/>
              <a:t>String </a:t>
            </a:r>
            <a:r>
              <a:rPr lang="en-IE" b="1" dirty="0">
                <a:solidFill>
                  <a:srgbClr val="660E7A"/>
                </a:solidFill>
              </a:rPr>
              <a:t>name </a:t>
            </a:r>
            <a:r>
              <a:rPr lang="en-IE" dirty="0"/>
              <a:t>= </a:t>
            </a:r>
            <a:r>
              <a:rPr lang="en-IE" b="1" dirty="0">
                <a:solidFill>
                  <a:srgbClr val="008000"/>
                </a:solidFill>
              </a:rPr>
              <a:t>"Unknown"</a:t>
            </a:r>
            <a:r>
              <a:rPr lang="en-IE" dirty="0"/>
              <a:t>;  </a:t>
            </a:r>
            <a:br>
              <a:rPr lang="en-IE" i="1" dirty="0">
                <a:solidFill>
                  <a:srgbClr val="808080"/>
                </a:solidFill>
              </a:rPr>
            </a:br>
            <a:r>
              <a:rPr lang="en-IE" b="1" dirty="0">
                <a:solidFill>
                  <a:srgbClr val="000080"/>
                </a:solidFill>
              </a:rPr>
              <a:t>private double </a:t>
            </a:r>
            <a:r>
              <a:rPr lang="en-IE" b="1" dirty="0">
                <a:solidFill>
                  <a:srgbClr val="660E7A"/>
                </a:solidFill>
              </a:rPr>
              <a:t>height </a:t>
            </a:r>
            <a:r>
              <a:rPr lang="en-IE" dirty="0"/>
              <a:t>= </a:t>
            </a:r>
            <a:r>
              <a:rPr lang="en-IE" dirty="0">
                <a:solidFill>
                  <a:srgbClr val="0000FF"/>
                </a:solidFill>
              </a:rPr>
              <a:t>0.0</a:t>
            </a:r>
            <a:br>
              <a:rPr lang="en-IE" i="1" dirty="0">
                <a:solidFill>
                  <a:srgbClr val="808080"/>
                </a:solidFill>
              </a:rPr>
            </a:br>
            <a:r>
              <a:rPr lang="en-IE" b="1" dirty="0">
                <a:solidFill>
                  <a:srgbClr val="000080"/>
                </a:solidFill>
              </a:rPr>
              <a:t>private double </a:t>
            </a:r>
            <a:r>
              <a:rPr lang="en-IE" b="1" dirty="0">
                <a:solidFill>
                  <a:srgbClr val="660E7A"/>
                </a:solidFill>
              </a:rPr>
              <a:t>weight </a:t>
            </a:r>
            <a:r>
              <a:rPr lang="en-IE" dirty="0"/>
              <a:t>= </a:t>
            </a:r>
            <a:r>
              <a:rPr lang="en-IE" dirty="0">
                <a:solidFill>
                  <a:srgbClr val="0000FF"/>
                </a:solidFill>
              </a:rPr>
              <a:t>0.0</a:t>
            </a:r>
            <a:r>
              <a:rPr lang="en-IE" dirty="0"/>
              <a:t>;   </a:t>
            </a:r>
            <a:br>
              <a:rPr lang="en-IE" i="1" dirty="0">
                <a:solidFill>
                  <a:srgbClr val="808080"/>
                </a:solidFill>
              </a:rPr>
            </a:br>
            <a:r>
              <a:rPr lang="en-IE" b="1" dirty="0">
                <a:solidFill>
                  <a:srgbClr val="000080"/>
                </a:solidFill>
              </a:rPr>
              <a:t>private int </a:t>
            </a:r>
            <a:r>
              <a:rPr lang="en-IE" b="1" dirty="0" err="1">
                <a:solidFill>
                  <a:srgbClr val="660E7A"/>
                </a:solidFill>
              </a:rPr>
              <a:t>membershipNumber</a:t>
            </a:r>
            <a:r>
              <a:rPr lang="en-IE" b="1" dirty="0">
                <a:solidFill>
                  <a:srgbClr val="660E7A"/>
                </a:solidFill>
              </a:rPr>
              <a:t> </a:t>
            </a:r>
            <a:r>
              <a:rPr lang="en-IE" dirty="0"/>
              <a:t>= </a:t>
            </a:r>
            <a:r>
              <a:rPr lang="en-IE" dirty="0">
                <a:solidFill>
                  <a:srgbClr val="0000FF"/>
                </a:solidFill>
              </a:rPr>
              <a:t>99999</a:t>
            </a:r>
            <a:r>
              <a:rPr lang="en-IE" dirty="0"/>
              <a:t>; </a:t>
            </a:r>
          </a:p>
          <a:p>
            <a:r>
              <a:rPr lang="en-IE" b="1" dirty="0">
                <a:solidFill>
                  <a:srgbClr val="000080"/>
                </a:solidFill>
              </a:rPr>
              <a:t>private </a:t>
            </a:r>
            <a:r>
              <a:rPr lang="en-IE" b="1" dirty="0" err="1">
                <a:solidFill>
                  <a:srgbClr val="000080"/>
                </a:solidFill>
              </a:rPr>
              <a:t>boolean</a:t>
            </a:r>
            <a:r>
              <a:rPr lang="en-IE" b="1" dirty="0">
                <a:solidFill>
                  <a:srgbClr val="000080"/>
                </a:solidFill>
              </a:rPr>
              <a:t> </a:t>
            </a:r>
            <a:r>
              <a:rPr lang="en-IE" b="1" dirty="0" err="1">
                <a:solidFill>
                  <a:srgbClr val="660E7A"/>
                </a:solidFill>
              </a:rPr>
              <a:t>isCurrentGymMember</a:t>
            </a:r>
            <a:r>
              <a:rPr lang="en-IE" b="1" dirty="0">
                <a:solidFill>
                  <a:srgbClr val="660E7A"/>
                </a:solidFill>
              </a:rPr>
              <a:t> </a:t>
            </a:r>
            <a:r>
              <a:rPr lang="en-IE" dirty="0"/>
              <a:t>= </a:t>
            </a:r>
            <a:r>
              <a:rPr lang="en-IE" b="1" dirty="0">
                <a:solidFill>
                  <a:srgbClr val="000080"/>
                </a:solidFill>
              </a:rPr>
              <a:t>false</a:t>
            </a:r>
            <a:r>
              <a:rPr lang="en-IE" dirty="0"/>
              <a:t>;</a:t>
            </a:r>
            <a:br>
              <a:rPr lang="en-IE" dirty="0"/>
            </a:br>
            <a:br>
              <a:rPr lang="en-IE" dirty="0"/>
            </a:br>
            <a:r>
              <a:rPr lang="en-IE" b="1" dirty="0">
                <a:solidFill>
                  <a:srgbClr val="000080"/>
                </a:solidFill>
              </a:rPr>
              <a:t>public </a:t>
            </a:r>
            <a:r>
              <a:rPr lang="en-IE" dirty="0" err="1"/>
              <a:t>GymMember</a:t>
            </a:r>
            <a:r>
              <a:rPr lang="en-IE" dirty="0"/>
              <a:t>(String name, </a:t>
            </a:r>
            <a:r>
              <a:rPr lang="en-IE" b="1" dirty="0">
                <a:solidFill>
                  <a:srgbClr val="000080"/>
                </a:solidFill>
              </a:rPr>
              <a:t>double </a:t>
            </a:r>
            <a:r>
              <a:rPr lang="en-IE" dirty="0"/>
              <a:t>height, </a:t>
            </a:r>
            <a:r>
              <a:rPr lang="en-IE" b="1" dirty="0">
                <a:solidFill>
                  <a:srgbClr val="000080"/>
                </a:solidFill>
              </a:rPr>
              <a:t>double </a:t>
            </a:r>
            <a:r>
              <a:rPr lang="en-IE" dirty="0"/>
              <a:t>weight, </a:t>
            </a:r>
            <a:r>
              <a:rPr lang="en-IE" b="1" dirty="0">
                <a:solidFill>
                  <a:srgbClr val="000080"/>
                </a:solidFill>
              </a:rPr>
              <a:t>int </a:t>
            </a:r>
            <a:r>
              <a:rPr lang="en-IE" dirty="0" err="1"/>
              <a:t>membershipNumber</a:t>
            </a:r>
            <a:r>
              <a:rPr lang="en-IE" dirty="0"/>
              <a:t>, </a:t>
            </a:r>
            <a:r>
              <a:rPr lang="en-IE" b="1" dirty="0" err="1">
                <a:solidFill>
                  <a:srgbClr val="000080"/>
                </a:solidFill>
              </a:rPr>
              <a:t>boolean</a:t>
            </a:r>
            <a:r>
              <a:rPr lang="en-IE" b="1" dirty="0">
                <a:solidFill>
                  <a:srgbClr val="000080"/>
                </a:solidFill>
              </a:rPr>
              <a:t> </a:t>
            </a:r>
            <a:r>
              <a:rPr lang="en-IE" dirty="0" err="1"/>
              <a:t>isCurrentGymMember</a:t>
            </a:r>
            <a:r>
              <a:rPr lang="en-IE" dirty="0"/>
              <a:t>) {</a:t>
            </a:r>
            <a:br>
              <a:rPr lang="en-IE" dirty="0"/>
            </a:br>
            <a:r>
              <a:rPr lang="en-IE" dirty="0"/>
              <a:t>    </a:t>
            </a:r>
            <a:r>
              <a:rPr lang="en-IE" dirty="0" err="1"/>
              <a:t>initName</a:t>
            </a:r>
            <a:r>
              <a:rPr lang="en-IE" dirty="0"/>
              <a:t>(name);</a:t>
            </a:r>
            <a:br>
              <a:rPr lang="en-IE" dirty="0"/>
            </a:br>
            <a:r>
              <a:rPr lang="en-IE" dirty="0"/>
              <a:t>    </a:t>
            </a:r>
            <a:r>
              <a:rPr lang="en-IE" dirty="0" err="1"/>
              <a:t>setHeight</a:t>
            </a:r>
            <a:r>
              <a:rPr lang="en-IE" dirty="0"/>
              <a:t>(height);</a:t>
            </a:r>
            <a:br>
              <a:rPr lang="en-IE" dirty="0"/>
            </a:br>
            <a:r>
              <a:rPr lang="en-IE" dirty="0"/>
              <a:t>    </a:t>
            </a:r>
            <a:r>
              <a:rPr lang="en-IE" dirty="0" err="1"/>
              <a:t>setWeight</a:t>
            </a:r>
            <a:r>
              <a:rPr lang="en-IE" dirty="0"/>
              <a:t>(weight);</a:t>
            </a:r>
            <a:br>
              <a:rPr lang="en-IE" dirty="0"/>
            </a:br>
            <a:r>
              <a:rPr lang="en-IE" dirty="0"/>
              <a:t>    </a:t>
            </a:r>
            <a:r>
              <a:rPr lang="en-IE" dirty="0" err="1"/>
              <a:t>setMembershipNumber</a:t>
            </a:r>
            <a:r>
              <a:rPr lang="en-IE" dirty="0"/>
              <a:t>(</a:t>
            </a:r>
            <a:r>
              <a:rPr lang="en-IE" dirty="0" err="1"/>
              <a:t>membershipNumber</a:t>
            </a:r>
            <a:r>
              <a:rPr lang="en-IE" dirty="0"/>
              <a:t>);</a:t>
            </a:r>
            <a:br>
              <a:rPr lang="en-IE" dirty="0"/>
            </a:br>
            <a:r>
              <a:rPr lang="en-IE" dirty="0"/>
              <a:t>    </a:t>
            </a:r>
            <a:r>
              <a:rPr lang="en-IE" dirty="0" err="1"/>
              <a:t>setCurrentGymMember</a:t>
            </a:r>
            <a:r>
              <a:rPr lang="en-IE" dirty="0"/>
              <a:t>(</a:t>
            </a:r>
            <a:r>
              <a:rPr lang="en-IE" dirty="0" err="1"/>
              <a:t>isCurrentGymMember</a:t>
            </a:r>
            <a:r>
              <a:rPr lang="en-IE" dirty="0"/>
              <a:t>);</a:t>
            </a:r>
            <a:br>
              <a:rPr lang="en-IE" dirty="0"/>
            </a:br>
            <a:r>
              <a:rPr lang="en-IE" dirty="0"/>
              <a:t>}</a:t>
            </a:r>
          </a:p>
          <a:p>
            <a:endParaRPr lang="en-US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BDEF71E-A0D7-0034-6F43-A336BFC29338}"/>
              </a:ext>
            </a:extLst>
          </p:cNvPr>
          <p:cNvSpPr/>
          <p:nvPr/>
        </p:nvSpPr>
        <p:spPr>
          <a:xfrm>
            <a:off x="293915" y="2133600"/>
            <a:ext cx="4811482" cy="1401762"/>
          </a:xfrm>
          <a:prstGeom prst="rect">
            <a:avLst/>
          </a:prstGeom>
          <a:noFill/>
          <a:ln w="4445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1F4CF50F-7000-1A83-A995-9E49D90398F7}"/>
              </a:ext>
            </a:extLst>
          </p:cNvPr>
          <p:cNvSpPr/>
          <p:nvPr/>
        </p:nvSpPr>
        <p:spPr>
          <a:xfrm>
            <a:off x="293913" y="3793867"/>
            <a:ext cx="11669487" cy="2033052"/>
          </a:xfrm>
          <a:prstGeom prst="rect">
            <a:avLst/>
          </a:prstGeom>
          <a:noFill/>
          <a:ln w="444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477A5121-0DFA-EBC8-CF2C-04FB32759CD0}"/>
              </a:ext>
            </a:extLst>
          </p:cNvPr>
          <p:cNvCxnSpPr>
            <a:cxnSpLocks/>
          </p:cNvCxnSpPr>
          <p:nvPr/>
        </p:nvCxnSpPr>
        <p:spPr>
          <a:xfrm flipH="1">
            <a:off x="4876801" y="1012453"/>
            <a:ext cx="431871" cy="1105014"/>
          </a:xfrm>
          <a:prstGeom prst="straightConnector1">
            <a:avLst/>
          </a:prstGeom>
          <a:ln w="28575"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C16C1FDF-C359-FD83-94F2-0BE1F369F755}"/>
              </a:ext>
            </a:extLst>
          </p:cNvPr>
          <p:cNvCxnSpPr>
            <a:cxnSpLocks/>
          </p:cNvCxnSpPr>
          <p:nvPr/>
        </p:nvCxnSpPr>
        <p:spPr>
          <a:xfrm>
            <a:off x="8305800" y="1012453"/>
            <a:ext cx="0" cy="2781414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532729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1" dur="2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9" dur="2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animBg="1"/>
      <p:bldP spid="26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sz="3600" dirty="0"/>
              <a:t>A </a:t>
            </a:r>
            <a:r>
              <a:rPr lang="en-IE" sz="3600" b="1" dirty="0" err="1"/>
              <a:t>GymMember</a:t>
            </a:r>
            <a:r>
              <a:rPr lang="en-IE" sz="3600" dirty="0"/>
              <a:t> Class…methods</a:t>
            </a:r>
          </a:p>
        </p:txBody>
      </p:sp>
      <p:pic>
        <p:nvPicPr>
          <p:cNvPr id="16" name="Content Placeholder 10" descr="Icon&#10;&#10;Description automatically generated">
            <a:extLst>
              <a:ext uri="{FF2B5EF4-FFF2-40B4-BE49-F238E27FC236}">
                <a16:creationId xmlns:a16="http://schemas.microsoft.com/office/drawing/2014/main" id="{24F8C611-91C1-4575-BEF2-31F10B581CB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9400" y="134938"/>
            <a:ext cx="1422400" cy="1422400"/>
          </a:xfr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57B87679-642A-C344-B856-5B77E5A63735}"/>
              </a:ext>
            </a:extLst>
          </p:cNvPr>
          <p:cNvSpPr txBox="1"/>
          <p:nvPr/>
        </p:nvSpPr>
        <p:spPr>
          <a:xfrm>
            <a:off x="539034" y="4953000"/>
            <a:ext cx="3428999" cy="707886"/>
          </a:xfrm>
          <a:prstGeom prst="rect">
            <a:avLst/>
          </a:prstGeom>
          <a:solidFill>
            <a:srgbClr val="FF0000"/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2000" b="1" dirty="0"/>
              <a:t>Methods</a:t>
            </a:r>
            <a:br>
              <a:rPr lang="en-IE" sz="2000" dirty="0"/>
            </a:br>
            <a:r>
              <a:rPr lang="en-IE" sz="2000" dirty="0"/>
              <a:t>i.e. the </a:t>
            </a:r>
            <a:r>
              <a:rPr lang="en-IE" sz="2000" b="1" dirty="0"/>
              <a:t>behaviours</a:t>
            </a:r>
            <a:r>
              <a:rPr lang="en-IE" sz="2000" dirty="0"/>
              <a:t> of the class</a:t>
            </a:r>
          </a:p>
        </p:txBody>
      </p:sp>
      <p:sp>
        <p:nvSpPr>
          <p:cNvPr id="5" name="Left Brace 4">
            <a:extLst>
              <a:ext uri="{FF2B5EF4-FFF2-40B4-BE49-F238E27FC236}">
                <a16:creationId xmlns:a16="http://schemas.microsoft.com/office/drawing/2014/main" id="{47DA0DBC-8D9F-519B-C955-D29A7FD724C6}"/>
              </a:ext>
            </a:extLst>
          </p:cNvPr>
          <p:cNvSpPr/>
          <p:nvPr/>
        </p:nvSpPr>
        <p:spPr>
          <a:xfrm>
            <a:off x="4344800" y="4114800"/>
            <a:ext cx="348556" cy="2209800"/>
          </a:xfrm>
          <a:prstGeom prst="leftBrac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FDD5581-7C1A-839F-785D-FF981FA678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4400" y="1167830"/>
            <a:ext cx="4758017" cy="5415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19916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CE7E92E-6F92-DAD7-CB4D-03329483B7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1000" y="1417638"/>
            <a:ext cx="4269522" cy="4859531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sz="3600" dirty="0"/>
              <a:t>A </a:t>
            </a:r>
            <a:r>
              <a:rPr lang="en-IE" sz="3600" b="1" dirty="0" err="1"/>
              <a:t>GymMember</a:t>
            </a:r>
            <a:r>
              <a:rPr lang="en-IE" sz="3600" dirty="0"/>
              <a:t> Class…methods</a:t>
            </a:r>
          </a:p>
        </p:txBody>
      </p:sp>
      <p:pic>
        <p:nvPicPr>
          <p:cNvPr id="16" name="Content Placeholder 10" descr="Icon&#10;&#10;Description automatically generated">
            <a:extLst>
              <a:ext uri="{FF2B5EF4-FFF2-40B4-BE49-F238E27FC236}">
                <a16:creationId xmlns:a16="http://schemas.microsoft.com/office/drawing/2014/main" id="{24F8C611-91C1-4575-BEF2-31F10B581CB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9400" y="134938"/>
            <a:ext cx="1422400" cy="1422400"/>
          </a:xfr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660A2DD3-9767-4B2A-23EF-32BC53F4310D}"/>
              </a:ext>
            </a:extLst>
          </p:cNvPr>
          <p:cNvSpPr txBox="1"/>
          <p:nvPr/>
        </p:nvSpPr>
        <p:spPr>
          <a:xfrm>
            <a:off x="1219200" y="4611886"/>
            <a:ext cx="1876984" cy="400110"/>
          </a:xfrm>
          <a:prstGeom prst="rect">
            <a:avLst/>
          </a:prstGeom>
          <a:solidFill>
            <a:srgbClr val="FF0000"/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>
            <a:defPPr>
              <a:defRPr lang="en-US"/>
            </a:defPPr>
            <a:lvl1pPr>
              <a:defRPr sz="2000" b="0"/>
            </a:lvl1pPr>
          </a:lstStyle>
          <a:p>
            <a:r>
              <a:rPr lang="en-IE" dirty="0"/>
              <a:t>Method </a:t>
            </a:r>
            <a:r>
              <a:rPr lang="en-IE" b="1" dirty="0"/>
              <a:t>name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65B38D2-6006-9158-F562-C1CE37E5B498}"/>
              </a:ext>
            </a:extLst>
          </p:cNvPr>
          <p:cNvSpPr txBox="1"/>
          <p:nvPr/>
        </p:nvSpPr>
        <p:spPr>
          <a:xfrm>
            <a:off x="831156" y="3360738"/>
            <a:ext cx="1892675" cy="400110"/>
          </a:xfrm>
          <a:prstGeom prst="rect">
            <a:avLst/>
          </a:prstGeom>
          <a:solidFill>
            <a:srgbClr val="FF0000"/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>
            <a:defPPr>
              <a:defRPr lang="en-US"/>
            </a:defPPr>
            <a:lvl1pPr>
              <a:defRPr sz="2000" b="0"/>
            </a:lvl1pPr>
          </a:lstStyle>
          <a:p>
            <a:r>
              <a:rPr lang="en-IE" b="1" dirty="0"/>
              <a:t>Return</a:t>
            </a:r>
            <a:r>
              <a:rPr lang="en-IE" dirty="0"/>
              <a:t> </a:t>
            </a:r>
            <a:r>
              <a:rPr lang="en-IE" b="1" dirty="0"/>
              <a:t>type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2618E781-96A5-AB1D-A885-4E9361414588}"/>
              </a:ext>
            </a:extLst>
          </p:cNvPr>
          <p:cNvCxnSpPr>
            <a:cxnSpLocks/>
          </p:cNvCxnSpPr>
          <p:nvPr/>
        </p:nvCxnSpPr>
        <p:spPr>
          <a:xfrm flipV="1">
            <a:off x="3074413" y="4154072"/>
            <a:ext cx="1600199" cy="666559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7CFF6382-B9DF-277B-EC0D-3CB17B91FF27}"/>
              </a:ext>
            </a:extLst>
          </p:cNvPr>
          <p:cNvCxnSpPr>
            <a:cxnSpLocks/>
            <a:stCxn id="13" idx="3"/>
          </p:cNvCxnSpPr>
          <p:nvPr/>
        </p:nvCxnSpPr>
        <p:spPr>
          <a:xfrm>
            <a:off x="2723831" y="3560793"/>
            <a:ext cx="2762569" cy="435312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784894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D70ED87-716C-7B86-8B35-A83997FF28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1000" y="1073641"/>
            <a:ext cx="4749800" cy="540617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sz="3600" dirty="0"/>
              <a:t>A </a:t>
            </a:r>
            <a:r>
              <a:rPr lang="en-IE" sz="3600" b="1" dirty="0" err="1"/>
              <a:t>GymMember</a:t>
            </a:r>
            <a:r>
              <a:rPr lang="en-IE" sz="3600" dirty="0"/>
              <a:t> Class…getters</a:t>
            </a:r>
          </a:p>
        </p:txBody>
      </p:sp>
      <p:pic>
        <p:nvPicPr>
          <p:cNvPr id="16" name="Content Placeholder 10" descr="Icon&#10;&#10;Description automatically generated">
            <a:extLst>
              <a:ext uri="{FF2B5EF4-FFF2-40B4-BE49-F238E27FC236}">
                <a16:creationId xmlns:a16="http://schemas.microsoft.com/office/drawing/2014/main" id="{24F8C611-91C1-4575-BEF2-31F10B581CB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9400" y="134938"/>
            <a:ext cx="1422400" cy="1422400"/>
          </a:xfr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8C67D78-F217-E74F-BB81-DBC1C6D734D2}"/>
              </a:ext>
            </a:extLst>
          </p:cNvPr>
          <p:cNvSpPr txBox="1"/>
          <p:nvPr/>
        </p:nvSpPr>
        <p:spPr>
          <a:xfrm>
            <a:off x="187388" y="3005283"/>
            <a:ext cx="1682355" cy="461665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2400" b="1" dirty="0"/>
              <a:t>get</a:t>
            </a:r>
            <a:r>
              <a:rPr lang="en-IE" sz="2400" dirty="0"/>
              <a:t>ters 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E807B670-35A2-DD7E-6743-DF6F5BD56676}"/>
              </a:ext>
            </a:extLst>
          </p:cNvPr>
          <p:cNvCxnSpPr>
            <a:cxnSpLocks/>
            <a:stCxn id="11" idx="3"/>
            <a:endCxn id="24" idx="1"/>
          </p:cNvCxnSpPr>
          <p:nvPr/>
        </p:nvCxnSpPr>
        <p:spPr>
          <a:xfrm>
            <a:off x="1869743" y="3236116"/>
            <a:ext cx="2483240" cy="779934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71C60B9F-27A4-4596-1D10-F0841DEB24DB}"/>
              </a:ext>
            </a:extLst>
          </p:cNvPr>
          <p:cNvSpPr/>
          <p:nvPr/>
        </p:nvSpPr>
        <p:spPr>
          <a:xfrm>
            <a:off x="4411692" y="5271630"/>
            <a:ext cx="3548743" cy="233066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22" name="Rectangle: Rounded Corners 20">
            <a:extLst>
              <a:ext uri="{FF2B5EF4-FFF2-40B4-BE49-F238E27FC236}">
                <a16:creationId xmlns:a16="http://schemas.microsoft.com/office/drawing/2014/main" id="{8E5EEAB2-FD5C-0E1A-753E-C0A8D43C8383}"/>
              </a:ext>
            </a:extLst>
          </p:cNvPr>
          <p:cNvSpPr/>
          <p:nvPr/>
        </p:nvSpPr>
        <p:spPr>
          <a:xfrm>
            <a:off x="4444349" y="4870567"/>
            <a:ext cx="3548743" cy="233066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23" name="Rectangle: Rounded Corners 20">
            <a:extLst>
              <a:ext uri="{FF2B5EF4-FFF2-40B4-BE49-F238E27FC236}">
                <a16:creationId xmlns:a16="http://schemas.microsoft.com/office/drawing/2014/main" id="{291AFE38-D714-0806-2E27-A56BF60ED7B8}"/>
              </a:ext>
            </a:extLst>
          </p:cNvPr>
          <p:cNvSpPr/>
          <p:nvPr/>
        </p:nvSpPr>
        <p:spPr>
          <a:xfrm>
            <a:off x="4411692" y="4473447"/>
            <a:ext cx="3548743" cy="233066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24" name="Rectangle: Rounded Corners 20">
            <a:extLst>
              <a:ext uri="{FF2B5EF4-FFF2-40B4-BE49-F238E27FC236}">
                <a16:creationId xmlns:a16="http://schemas.microsoft.com/office/drawing/2014/main" id="{DDDE1C1B-B461-B3F6-BE66-097198E2DCAB}"/>
              </a:ext>
            </a:extLst>
          </p:cNvPr>
          <p:cNvSpPr/>
          <p:nvPr/>
        </p:nvSpPr>
        <p:spPr>
          <a:xfrm>
            <a:off x="4352983" y="3899517"/>
            <a:ext cx="3548743" cy="233066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25" name="Rectangle: Rounded Corners 20">
            <a:extLst>
              <a:ext uri="{FF2B5EF4-FFF2-40B4-BE49-F238E27FC236}">
                <a16:creationId xmlns:a16="http://schemas.microsoft.com/office/drawing/2014/main" id="{7C1E616F-DB7E-4F9B-5BCF-DA981034E0F9}"/>
              </a:ext>
            </a:extLst>
          </p:cNvPr>
          <p:cNvSpPr/>
          <p:nvPr/>
        </p:nvSpPr>
        <p:spPr>
          <a:xfrm>
            <a:off x="4394437" y="5704515"/>
            <a:ext cx="3548743" cy="233066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E62A5FA5-F6D6-7A12-036F-D2FDD2D34835}"/>
              </a:ext>
            </a:extLst>
          </p:cNvPr>
          <p:cNvCxnSpPr>
            <a:cxnSpLocks/>
            <a:stCxn id="11" idx="3"/>
            <a:endCxn id="23" idx="1"/>
          </p:cNvCxnSpPr>
          <p:nvPr/>
        </p:nvCxnSpPr>
        <p:spPr>
          <a:xfrm>
            <a:off x="1869743" y="3236116"/>
            <a:ext cx="2541949" cy="1353864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1A75663C-0738-8E79-5C2B-F1BC27849AFA}"/>
              </a:ext>
            </a:extLst>
          </p:cNvPr>
          <p:cNvCxnSpPr>
            <a:cxnSpLocks/>
            <a:stCxn id="11" idx="3"/>
            <a:endCxn id="22" idx="1"/>
          </p:cNvCxnSpPr>
          <p:nvPr/>
        </p:nvCxnSpPr>
        <p:spPr>
          <a:xfrm>
            <a:off x="1869743" y="3236116"/>
            <a:ext cx="2574606" cy="1750984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19C7E6E1-BDA6-A38E-F1C2-50D74DF1BF9A}"/>
              </a:ext>
            </a:extLst>
          </p:cNvPr>
          <p:cNvCxnSpPr>
            <a:cxnSpLocks/>
            <a:stCxn id="11" idx="3"/>
            <a:endCxn id="21" idx="1"/>
          </p:cNvCxnSpPr>
          <p:nvPr/>
        </p:nvCxnSpPr>
        <p:spPr>
          <a:xfrm>
            <a:off x="1869743" y="3236116"/>
            <a:ext cx="2541949" cy="2152047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554BF8E1-5B24-1062-5E52-82A80EC84CCD}"/>
              </a:ext>
            </a:extLst>
          </p:cNvPr>
          <p:cNvCxnSpPr>
            <a:cxnSpLocks/>
            <a:stCxn id="11" idx="3"/>
            <a:endCxn id="25" idx="1"/>
          </p:cNvCxnSpPr>
          <p:nvPr/>
        </p:nvCxnSpPr>
        <p:spPr>
          <a:xfrm>
            <a:off x="1869743" y="3236116"/>
            <a:ext cx="2524694" cy="2584932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07173B77-488F-0C1C-4FB1-6BBB2717C0BF}"/>
              </a:ext>
            </a:extLst>
          </p:cNvPr>
          <p:cNvSpPr txBox="1"/>
          <p:nvPr/>
        </p:nvSpPr>
        <p:spPr>
          <a:xfrm>
            <a:off x="152400" y="5279491"/>
            <a:ext cx="3581400" cy="1200329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2400" dirty="0"/>
              <a:t>Note the different naming standard for a </a:t>
            </a:r>
            <a:r>
              <a:rPr lang="en-IE" sz="2400" dirty="0" err="1"/>
              <a:t>boolean</a:t>
            </a:r>
            <a:r>
              <a:rPr lang="en-IE" sz="2400" dirty="0"/>
              <a:t> field getter </a:t>
            </a: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BEB5D91A-98CE-F2B0-9798-BBE6BEDB2BA3}"/>
              </a:ext>
            </a:extLst>
          </p:cNvPr>
          <p:cNvCxnSpPr>
            <a:cxnSpLocks/>
          </p:cNvCxnSpPr>
          <p:nvPr/>
        </p:nvCxnSpPr>
        <p:spPr>
          <a:xfrm flipV="1">
            <a:off x="2171569" y="5879657"/>
            <a:ext cx="2181414" cy="326930"/>
          </a:xfrm>
          <a:prstGeom prst="straightConnector1">
            <a:avLst/>
          </a:prstGeom>
          <a:ln w="28575">
            <a:solidFill>
              <a:srgbClr val="FCBAC5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13058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36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b="1" dirty="0"/>
              <a:t>Get</a:t>
            </a:r>
            <a:r>
              <a:rPr lang="en-IE" dirty="0"/>
              <a:t>ters (Accessor Methods)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800" b="1" dirty="0">
                <a:solidFill>
                  <a:srgbClr val="00B050"/>
                </a:solidFill>
              </a:rPr>
              <a:t>Accessor</a:t>
            </a:r>
            <a:r>
              <a:rPr lang="en-US" sz="2800" dirty="0"/>
              <a:t> methods </a:t>
            </a:r>
          </a:p>
          <a:p>
            <a:pPr lvl="1"/>
            <a:r>
              <a:rPr lang="en-US" sz="2400" dirty="0"/>
              <a:t>return information about the </a:t>
            </a:r>
            <a:r>
              <a:rPr lang="en-US" sz="2400" b="1" dirty="0"/>
              <a:t>state</a:t>
            </a:r>
            <a:r>
              <a:rPr lang="en-US" sz="2400" dirty="0"/>
              <a:t> of an object </a:t>
            </a:r>
          </a:p>
          <a:p>
            <a:pPr lvl="2"/>
            <a:r>
              <a:rPr lang="en-US" sz="2000" dirty="0"/>
              <a:t>i.e. </a:t>
            </a:r>
            <a:r>
              <a:rPr lang="en-US" sz="2000" b="1" dirty="0"/>
              <a:t>the values stored in the fields</a:t>
            </a:r>
            <a:r>
              <a:rPr lang="en-US" sz="2000" dirty="0"/>
              <a:t>.</a:t>
            </a:r>
          </a:p>
          <a:p>
            <a:endParaRPr lang="en-US" sz="2800" dirty="0"/>
          </a:p>
          <a:p>
            <a:r>
              <a:rPr lang="en-US" sz="2800" dirty="0"/>
              <a:t>A </a:t>
            </a:r>
            <a:r>
              <a:rPr lang="en-US" sz="2800" dirty="0">
                <a:solidFill>
                  <a:srgbClr val="FF0000"/>
                </a:solidFill>
              </a:rPr>
              <a:t>‘getter’ </a:t>
            </a:r>
            <a:r>
              <a:rPr lang="en-US" sz="2800" dirty="0"/>
              <a:t>method </a:t>
            </a:r>
          </a:p>
          <a:p>
            <a:pPr lvl="1"/>
            <a:r>
              <a:rPr lang="en-US" sz="2400" dirty="0"/>
              <a:t>is a specific type of </a:t>
            </a:r>
            <a:r>
              <a:rPr lang="en-US" sz="2400" b="1" dirty="0">
                <a:solidFill>
                  <a:srgbClr val="00B050"/>
                </a:solidFill>
              </a:rPr>
              <a:t>accessor</a:t>
            </a:r>
            <a:r>
              <a:rPr lang="en-US" sz="2400" dirty="0"/>
              <a:t> method and typically:</a:t>
            </a:r>
          </a:p>
          <a:p>
            <a:pPr lvl="2"/>
            <a:r>
              <a:rPr lang="en-US" sz="2000" b="1" dirty="0"/>
              <a:t>contains a return statement </a:t>
            </a:r>
            <a:r>
              <a:rPr lang="en-US" sz="2000" dirty="0"/>
              <a:t>(as the last executable statement in the method).</a:t>
            </a:r>
          </a:p>
          <a:p>
            <a:pPr lvl="2"/>
            <a:r>
              <a:rPr lang="en-US" sz="2000" dirty="0"/>
              <a:t>defines a </a:t>
            </a:r>
            <a:r>
              <a:rPr lang="en-US" sz="2000" b="1" dirty="0"/>
              <a:t>return</a:t>
            </a:r>
            <a:r>
              <a:rPr lang="en-US" sz="2000" dirty="0"/>
              <a:t> </a:t>
            </a:r>
            <a:r>
              <a:rPr lang="en-US" sz="2000" b="1" dirty="0"/>
              <a:t>type</a:t>
            </a:r>
            <a:r>
              <a:rPr lang="en-US" sz="2000" dirty="0"/>
              <a:t>.</a:t>
            </a:r>
          </a:p>
          <a:p>
            <a:pPr lvl="2"/>
            <a:r>
              <a:rPr lang="en-US" sz="2000" b="1" dirty="0"/>
              <a:t>does NOT change the object state</a:t>
            </a:r>
            <a:r>
              <a:rPr lang="en-US" sz="2000" dirty="0"/>
              <a:t>.</a:t>
            </a:r>
            <a:endParaRPr lang="en-US" dirty="0"/>
          </a:p>
          <a:p>
            <a:pPr marL="0" indent="0">
              <a:buNone/>
            </a:pPr>
            <a:endParaRPr lang="en-IE" dirty="0"/>
          </a:p>
        </p:txBody>
      </p:sp>
    </p:spTree>
    <p:extLst>
      <p:ext uri="{BB962C8B-B14F-4D97-AF65-F5344CB8AC3E}">
        <p14:creationId xmlns:p14="http://schemas.microsoft.com/office/powerpoint/2010/main" val="18032177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IE" b="1" dirty="0"/>
              <a:t>Get</a:t>
            </a:r>
            <a:r>
              <a:rPr lang="en-IE" dirty="0"/>
              <a:t>ters</a:t>
            </a:r>
            <a:endParaRPr lang="en-US" dirty="0"/>
          </a:p>
        </p:txBody>
      </p:sp>
      <p:sp>
        <p:nvSpPr>
          <p:cNvPr id="17412" name="Text Box 4"/>
          <p:cNvSpPr txBox="1">
            <a:spLocks noChangeArrowheads="1"/>
          </p:cNvSpPr>
          <p:nvPr/>
        </p:nvSpPr>
        <p:spPr bwMode="auto">
          <a:xfrm>
            <a:off x="2712206" y="3281289"/>
            <a:ext cx="4793300" cy="1569660"/>
          </a:xfrm>
          <a:prstGeom prst="rect">
            <a:avLst/>
          </a:prstGeom>
          <a:noFill/>
          <a:ln w="19050">
            <a:solidFill>
              <a:schemeClr val="tx2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IE" sz="2400" dirty="0">
                <a:latin typeface="Courier New" pitchFamily="49" charset="0"/>
                <a:cs typeface="Times" pitchFamily="-32" charset="0"/>
              </a:rPr>
              <a:t>public double </a:t>
            </a:r>
            <a:r>
              <a:rPr lang="en-IE" sz="2400" dirty="0" err="1">
                <a:latin typeface="Courier New" pitchFamily="49" charset="0"/>
                <a:cs typeface="Times" pitchFamily="-32" charset="0"/>
              </a:rPr>
              <a:t>getHeight</a:t>
            </a:r>
            <a:r>
              <a:rPr lang="en-IE" sz="2400" dirty="0">
                <a:latin typeface="Courier New" pitchFamily="49" charset="0"/>
                <a:cs typeface="Times" pitchFamily="-32" charset="0"/>
              </a:rPr>
              <a:t>()</a:t>
            </a:r>
          </a:p>
          <a:p>
            <a:r>
              <a:rPr lang="en-IE" sz="2400" dirty="0">
                <a:latin typeface="Courier New" pitchFamily="49" charset="0"/>
                <a:cs typeface="Times" pitchFamily="-32" charset="0"/>
              </a:rPr>
              <a:t>{</a:t>
            </a:r>
          </a:p>
          <a:p>
            <a:r>
              <a:rPr lang="en-IE" sz="2400" dirty="0">
                <a:latin typeface="Courier New" pitchFamily="49" charset="0"/>
                <a:cs typeface="Times" pitchFamily="-32" charset="0"/>
              </a:rPr>
              <a:t>     return height;</a:t>
            </a:r>
          </a:p>
          <a:p>
            <a:r>
              <a:rPr lang="en-IE" sz="2400" dirty="0">
                <a:latin typeface="Courier New" pitchFamily="49" charset="0"/>
                <a:cs typeface="Times" pitchFamily="-32" charset="0"/>
              </a:rPr>
              <a:t>}</a:t>
            </a:r>
          </a:p>
        </p:txBody>
      </p:sp>
      <p:sp>
        <p:nvSpPr>
          <p:cNvPr id="17413" name="Text Box 5"/>
          <p:cNvSpPr txBox="1">
            <a:spLocks noChangeArrowheads="1"/>
          </p:cNvSpPr>
          <p:nvPr/>
        </p:nvSpPr>
        <p:spPr bwMode="auto">
          <a:xfrm>
            <a:off x="4337051" y="2168526"/>
            <a:ext cx="1571625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algn="l" eaLnBrk="1" hangingPunct="1"/>
            <a:r>
              <a:rPr lang="en-US" sz="2000" dirty="0">
                <a:solidFill>
                  <a:srgbClr val="A57133"/>
                </a:solidFill>
              </a:rPr>
              <a:t>return type</a:t>
            </a:r>
          </a:p>
        </p:txBody>
      </p:sp>
      <p:sp>
        <p:nvSpPr>
          <p:cNvPr id="17414" name="Text Box 6"/>
          <p:cNvSpPr txBox="1">
            <a:spLocks noChangeArrowheads="1"/>
          </p:cNvSpPr>
          <p:nvPr/>
        </p:nvSpPr>
        <p:spPr bwMode="auto">
          <a:xfrm>
            <a:off x="6419851" y="2489200"/>
            <a:ext cx="1656479" cy="400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l" eaLnBrk="1" hangingPunct="1"/>
            <a:r>
              <a:rPr lang="en-US" sz="2000" dirty="0">
                <a:solidFill>
                  <a:srgbClr val="A57133"/>
                </a:solidFill>
              </a:rPr>
              <a:t>method name</a:t>
            </a:r>
          </a:p>
        </p:txBody>
      </p:sp>
      <p:sp>
        <p:nvSpPr>
          <p:cNvPr id="17415" name="Text Box 7"/>
          <p:cNvSpPr txBox="1">
            <a:spLocks noChangeArrowheads="1"/>
          </p:cNvSpPr>
          <p:nvPr/>
        </p:nvSpPr>
        <p:spPr bwMode="auto">
          <a:xfrm>
            <a:off x="7918450" y="3032126"/>
            <a:ext cx="2063750" cy="7016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algn="l" eaLnBrk="1" hangingPunct="1"/>
            <a:r>
              <a:rPr lang="en-US" sz="2000" dirty="0">
                <a:solidFill>
                  <a:srgbClr val="A57133"/>
                </a:solidFill>
              </a:rPr>
              <a:t>parameter list (empty)</a:t>
            </a:r>
          </a:p>
        </p:txBody>
      </p:sp>
      <p:sp>
        <p:nvSpPr>
          <p:cNvPr id="17416" name="Oval 8"/>
          <p:cNvSpPr>
            <a:spLocks noChangeArrowheads="1"/>
          </p:cNvSpPr>
          <p:nvPr/>
        </p:nvSpPr>
        <p:spPr bwMode="auto">
          <a:xfrm>
            <a:off x="2728933" y="3752777"/>
            <a:ext cx="365125" cy="1098173"/>
          </a:xfrm>
          <a:prstGeom prst="ellipse">
            <a:avLst/>
          </a:prstGeom>
          <a:noFill/>
          <a:ln w="28575">
            <a:solidFill>
              <a:srgbClr val="A57133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endParaRPr lang="en-IE"/>
          </a:p>
        </p:txBody>
      </p:sp>
      <p:sp>
        <p:nvSpPr>
          <p:cNvPr id="17417" name="Text Box 9"/>
          <p:cNvSpPr txBox="1">
            <a:spLocks noChangeArrowheads="1"/>
          </p:cNvSpPr>
          <p:nvPr/>
        </p:nvSpPr>
        <p:spPr bwMode="auto">
          <a:xfrm>
            <a:off x="3117850" y="5089526"/>
            <a:ext cx="4552950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algn="l" eaLnBrk="1" hangingPunct="1"/>
            <a:r>
              <a:rPr lang="en-US" sz="2000" dirty="0">
                <a:solidFill>
                  <a:srgbClr val="A57133"/>
                </a:solidFill>
              </a:rPr>
              <a:t>start and end of method body (block)</a:t>
            </a:r>
          </a:p>
        </p:txBody>
      </p:sp>
      <p:sp>
        <p:nvSpPr>
          <p:cNvPr id="17418" name="Text Box 10"/>
          <p:cNvSpPr txBox="1">
            <a:spLocks noChangeArrowheads="1"/>
          </p:cNvSpPr>
          <p:nvPr/>
        </p:nvSpPr>
        <p:spPr bwMode="auto">
          <a:xfrm>
            <a:off x="8076330" y="4067145"/>
            <a:ext cx="2000612" cy="400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l" eaLnBrk="1" hangingPunct="1"/>
            <a:r>
              <a:rPr lang="en-US" sz="2000" dirty="0">
                <a:solidFill>
                  <a:srgbClr val="A57133"/>
                </a:solidFill>
              </a:rPr>
              <a:t>return statement</a:t>
            </a:r>
          </a:p>
        </p:txBody>
      </p:sp>
      <p:sp>
        <p:nvSpPr>
          <p:cNvPr id="17419" name="Line 11"/>
          <p:cNvSpPr>
            <a:spLocks noChangeShapeType="1"/>
          </p:cNvSpPr>
          <p:nvPr/>
        </p:nvSpPr>
        <p:spPr bwMode="auto">
          <a:xfrm flipH="1" flipV="1">
            <a:off x="2889250" y="4876800"/>
            <a:ext cx="228600" cy="3048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IE"/>
          </a:p>
        </p:txBody>
      </p:sp>
      <p:sp>
        <p:nvSpPr>
          <p:cNvPr id="17420" name="Line 12"/>
          <p:cNvSpPr>
            <a:spLocks noChangeShapeType="1"/>
          </p:cNvSpPr>
          <p:nvPr/>
        </p:nvSpPr>
        <p:spPr bwMode="auto">
          <a:xfrm flipH="1">
            <a:off x="4565650" y="2574925"/>
            <a:ext cx="381000" cy="6858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IE"/>
          </a:p>
        </p:txBody>
      </p:sp>
      <p:sp>
        <p:nvSpPr>
          <p:cNvPr id="17421" name="Line 13"/>
          <p:cNvSpPr>
            <a:spLocks noChangeShapeType="1"/>
          </p:cNvSpPr>
          <p:nvPr/>
        </p:nvSpPr>
        <p:spPr bwMode="auto">
          <a:xfrm flipH="1">
            <a:off x="6394450" y="2819400"/>
            <a:ext cx="558800" cy="461889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IE"/>
          </a:p>
        </p:txBody>
      </p:sp>
      <p:sp>
        <p:nvSpPr>
          <p:cNvPr id="17422" name="Line 14"/>
          <p:cNvSpPr>
            <a:spLocks noChangeShapeType="1"/>
          </p:cNvSpPr>
          <p:nvPr/>
        </p:nvSpPr>
        <p:spPr bwMode="auto">
          <a:xfrm flipH="1">
            <a:off x="7299325" y="3306846"/>
            <a:ext cx="701675" cy="2348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IE"/>
          </a:p>
        </p:txBody>
      </p:sp>
      <p:sp>
        <p:nvSpPr>
          <p:cNvPr id="17423" name="Line 15"/>
          <p:cNvSpPr>
            <a:spLocks noChangeShapeType="1"/>
          </p:cNvSpPr>
          <p:nvPr/>
        </p:nvSpPr>
        <p:spPr bwMode="auto">
          <a:xfrm flipH="1">
            <a:off x="6699250" y="4251334"/>
            <a:ext cx="1377080" cy="15866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IE"/>
          </a:p>
        </p:txBody>
      </p:sp>
      <p:sp>
        <p:nvSpPr>
          <p:cNvPr id="17424" name="Text Box 16"/>
          <p:cNvSpPr txBox="1">
            <a:spLocks noChangeArrowheads="1"/>
          </p:cNvSpPr>
          <p:nvPr/>
        </p:nvSpPr>
        <p:spPr bwMode="auto">
          <a:xfrm>
            <a:off x="1938339" y="2489200"/>
            <a:ext cx="1981633" cy="400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l" eaLnBrk="1" hangingPunct="1"/>
            <a:r>
              <a:rPr lang="en-US" sz="2000" dirty="0">
                <a:solidFill>
                  <a:srgbClr val="A57133"/>
                </a:solidFill>
              </a:rPr>
              <a:t>visibility modifier</a:t>
            </a:r>
          </a:p>
        </p:txBody>
      </p:sp>
      <p:sp>
        <p:nvSpPr>
          <p:cNvPr id="17425" name="Line 17"/>
          <p:cNvSpPr>
            <a:spLocks noChangeShapeType="1"/>
          </p:cNvSpPr>
          <p:nvPr/>
        </p:nvSpPr>
        <p:spPr bwMode="auto">
          <a:xfrm>
            <a:off x="2584451" y="2895601"/>
            <a:ext cx="762000" cy="3651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IE"/>
          </a:p>
        </p:txBody>
      </p:sp>
      <p:sp>
        <p:nvSpPr>
          <p:cNvPr id="17" name="Oval 8"/>
          <p:cNvSpPr>
            <a:spLocks noChangeArrowheads="1"/>
          </p:cNvSpPr>
          <p:nvPr/>
        </p:nvSpPr>
        <p:spPr bwMode="auto">
          <a:xfrm>
            <a:off x="2610472" y="3255438"/>
            <a:ext cx="1421779" cy="478362"/>
          </a:xfrm>
          <a:prstGeom prst="ellipse">
            <a:avLst/>
          </a:prstGeom>
          <a:noFill/>
          <a:ln w="28575">
            <a:solidFill>
              <a:srgbClr val="A57133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0635793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413" grpId="0"/>
      <p:bldP spid="17414" grpId="0"/>
      <p:bldP spid="17415" grpId="0"/>
      <p:bldP spid="17416" grpId="0" animBg="1"/>
      <p:bldP spid="17417" grpId="0"/>
      <p:bldP spid="17418" grpId="0"/>
      <p:bldP spid="17419" grpId="0" animBg="1"/>
      <p:bldP spid="17420" grpId="0" animBg="1"/>
      <p:bldP spid="17421" grpId="0" animBg="1"/>
      <p:bldP spid="17422" grpId="0" animBg="1"/>
      <p:bldP spid="17423" grpId="0" animBg="1"/>
      <p:bldP spid="17424" grpId="0"/>
      <p:bldP spid="17425" grpId="0" animBg="1"/>
      <p:bldP spid="17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sz="3600" dirty="0"/>
              <a:t>A </a:t>
            </a:r>
            <a:r>
              <a:rPr lang="en-IE" sz="3600" b="1" dirty="0" err="1"/>
              <a:t>GymMember</a:t>
            </a:r>
            <a:r>
              <a:rPr lang="en-IE" sz="3600" dirty="0"/>
              <a:t> Class…getters</a:t>
            </a:r>
          </a:p>
        </p:txBody>
      </p:sp>
      <p:pic>
        <p:nvPicPr>
          <p:cNvPr id="16" name="Content Placeholder 10" descr="Icon&#10;&#10;Description automatically generated">
            <a:extLst>
              <a:ext uri="{FF2B5EF4-FFF2-40B4-BE49-F238E27FC236}">
                <a16:creationId xmlns:a16="http://schemas.microsoft.com/office/drawing/2014/main" id="{24F8C611-91C1-4575-BEF2-31F10B581CB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9400" y="134938"/>
            <a:ext cx="1422400" cy="1422400"/>
          </a:xfr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7C419A6C-9B5A-424C-99BA-93AEEC632613}"/>
              </a:ext>
            </a:extLst>
          </p:cNvPr>
          <p:cNvSpPr/>
          <p:nvPr/>
        </p:nvSpPr>
        <p:spPr>
          <a:xfrm>
            <a:off x="3276600" y="1676400"/>
            <a:ext cx="4343400" cy="501675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IE" sz="2000" b="1" dirty="0">
                <a:solidFill>
                  <a:srgbClr val="000080"/>
                </a:solidFill>
              </a:rPr>
              <a:t>public </a:t>
            </a:r>
            <a:r>
              <a:rPr lang="en-IE" sz="2000" dirty="0"/>
              <a:t>String </a:t>
            </a:r>
            <a:r>
              <a:rPr lang="en-IE" sz="2000" dirty="0" err="1"/>
              <a:t>getName</a:t>
            </a:r>
            <a:r>
              <a:rPr lang="en-IE" sz="2000" dirty="0"/>
              <a:t>() {</a:t>
            </a:r>
            <a:br>
              <a:rPr lang="en-IE" sz="2000" dirty="0"/>
            </a:br>
            <a:r>
              <a:rPr lang="en-IE" sz="2000" dirty="0"/>
              <a:t>    </a:t>
            </a:r>
            <a:r>
              <a:rPr lang="en-IE" sz="2000" b="1" dirty="0">
                <a:solidFill>
                  <a:srgbClr val="000080"/>
                </a:solidFill>
              </a:rPr>
              <a:t>return </a:t>
            </a:r>
            <a:r>
              <a:rPr lang="en-IE" sz="2000" b="1" dirty="0">
                <a:solidFill>
                  <a:srgbClr val="660E7A"/>
                </a:solidFill>
              </a:rPr>
              <a:t>name</a:t>
            </a:r>
            <a:r>
              <a:rPr lang="en-IE" sz="2000" dirty="0"/>
              <a:t>;</a:t>
            </a:r>
            <a:br>
              <a:rPr lang="en-IE" sz="2000" dirty="0"/>
            </a:br>
            <a:r>
              <a:rPr lang="en-IE" sz="2000" dirty="0"/>
              <a:t>}</a:t>
            </a:r>
            <a:br>
              <a:rPr lang="en-IE" sz="2000" dirty="0"/>
            </a:br>
            <a:r>
              <a:rPr lang="en-IE" sz="2000" b="1" dirty="0">
                <a:solidFill>
                  <a:srgbClr val="000080"/>
                </a:solidFill>
              </a:rPr>
              <a:t>public double </a:t>
            </a:r>
            <a:r>
              <a:rPr lang="en-IE" sz="2000" dirty="0" err="1"/>
              <a:t>getHeight</a:t>
            </a:r>
            <a:r>
              <a:rPr lang="en-IE" sz="2000" dirty="0"/>
              <a:t>() {</a:t>
            </a:r>
            <a:br>
              <a:rPr lang="en-IE" sz="2000" dirty="0"/>
            </a:br>
            <a:r>
              <a:rPr lang="en-IE" sz="2000" dirty="0"/>
              <a:t>    </a:t>
            </a:r>
            <a:r>
              <a:rPr lang="en-IE" sz="2000" b="1" dirty="0">
                <a:solidFill>
                  <a:srgbClr val="000080"/>
                </a:solidFill>
              </a:rPr>
              <a:t>return </a:t>
            </a:r>
            <a:r>
              <a:rPr lang="en-IE" sz="2000" b="1" dirty="0">
                <a:solidFill>
                  <a:srgbClr val="660E7A"/>
                </a:solidFill>
              </a:rPr>
              <a:t>height</a:t>
            </a:r>
            <a:r>
              <a:rPr lang="en-IE" sz="2000" dirty="0"/>
              <a:t>;</a:t>
            </a:r>
            <a:br>
              <a:rPr lang="en-IE" sz="2000" dirty="0"/>
            </a:br>
            <a:r>
              <a:rPr lang="en-IE" sz="2000" dirty="0"/>
              <a:t>}</a:t>
            </a:r>
            <a:br>
              <a:rPr lang="en-IE" sz="2000" dirty="0"/>
            </a:br>
            <a:r>
              <a:rPr lang="en-IE" sz="2000" b="1" dirty="0">
                <a:solidFill>
                  <a:srgbClr val="000080"/>
                </a:solidFill>
              </a:rPr>
              <a:t>public double </a:t>
            </a:r>
            <a:r>
              <a:rPr lang="en-IE" sz="2000" dirty="0" err="1"/>
              <a:t>getWeight</a:t>
            </a:r>
            <a:r>
              <a:rPr lang="en-IE" sz="2000" dirty="0"/>
              <a:t>() {</a:t>
            </a:r>
            <a:br>
              <a:rPr lang="en-IE" sz="2000" dirty="0"/>
            </a:br>
            <a:r>
              <a:rPr lang="en-IE" sz="2000" dirty="0"/>
              <a:t>    </a:t>
            </a:r>
            <a:r>
              <a:rPr lang="en-IE" sz="2000" b="1" dirty="0">
                <a:solidFill>
                  <a:srgbClr val="000080"/>
                </a:solidFill>
              </a:rPr>
              <a:t>return </a:t>
            </a:r>
            <a:r>
              <a:rPr lang="en-IE" sz="2000" b="1" dirty="0">
                <a:solidFill>
                  <a:srgbClr val="660E7A"/>
                </a:solidFill>
              </a:rPr>
              <a:t>weight</a:t>
            </a:r>
            <a:r>
              <a:rPr lang="en-IE" sz="2000" dirty="0"/>
              <a:t>;</a:t>
            </a:r>
            <a:br>
              <a:rPr lang="en-IE" sz="2000" dirty="0"/>
            </a:br>
            <a:r>
              <a:rPr lang="en-IE" sz="2000" dirty="0"/>
              <a:t>}</a:t>
            </a:r>
            <a:br>
              <a:rPr lang="en-IE" sz="2000" dirty="0"/>
            </a:br>
            <a:r>
              <a:rPr lang="en-IE" sz="2000" b="1" dirty="0">
                <a:solidFill>
                  <a:srgbClr val="000080"/>
                </a:solidFill>
              </a:rPr>
              <a:t>public int </a:t>
            </a:r>
            <a:r>
              <a:rPr lang="en-IE" sz="2000" dirty="0" err="1"/>
              <a:t>getMembershipNumber</a:t>
            </a:r>
            <a:r>
              <a:rPr lang="en-IE" sz="2000" dirty="0"/>
              <a:t>() {</a:t>
            </a:r>
            <a:br>
              <a:rPr lang="en-IE" sz="2000" dirty="0"/>
            </a:br>
            <a:r>
              <a:rPr lang="en-IE" sz="2000" dirty="0"/>
              <a:t>    </a:t>
            </a:r>
            <a:r>
              <a:rPr lang="en-IE" sz="2000" b="1" dirty="0">
                <a:solidFill>
                  <a:srgbClr val="000080"/>
                </a:solidFill>
              </a:rPr>
              <a:t>return </a:t>
            </a:r>
            <a:r>
              <a:rPr lang="en-IE" sz="2000" b="1" dirty="0" err="1">
                <a:solidFill>
                  <a:srgbClr val="660E7A"/>
                </a:solidFill>
              </a:rPr>
              <a:t>membershipNumber</a:t>
            </a:r>
            <a:r>
              <a:rPr lang="en-IE" sz="2000" dirty="0"/>
              <a:t>;</a:t>
            </a:r>
            <a:br>
              <a:rPr lang="en-IE" sz="2000" dirty="0"/>
            </a:br>
            <a:r>
              <a:rPr lang="en-IE" sz="2000" dirty="0"/>
              <a:t>}</a:t>
            </a:r>
            <a:br>
              <a:rPr lang="en-IE" sz="2000" dirty="0"/>
            </a:br>
            <a:r>
              <a:rPr lang="en-IE" sz="2000" b="1" dirty="0">
                <a:solidFill>
                  <a:srgbClr val="000080"/>
                </a:solidFill>
              </a:rPr>
              <a:t>public </a:t>
            </a:r>
            <a:r>
              <a:rPr lang="en-IE" sz="2000" b="1" dirty="0" err="1">
                <a:solidFill>
                  <a:srgbClr val="000080"/>
                </a:solidFill>
              </a:rPr>
              <a:t>boolean</a:t>
            </a:r>
            <a:r>
              <a:rPr lang="en-IE" sz="2000" b="1" dirty="0">
                <a:solidFill>
                  <a:srgbClr val="000080"/>
                </a:solidFill>
              </a:rPr>
              <a:t> </a:t>
            </a:r>
            <a:r>
              <a:rPr lang="en-IE" sz="2000" dirty="0" err="1"/>
              <a:t>isCurrentGymMember</a:t>
            </a:r>
            <a:r>
              <a:rPr lang="en-IE" sz="2000" dirty="0"/>
              <a:t>() {</a:t>
            </a:r>
            <a:br>
              <a:rPr lang="en-IE" sz="2000" dirty="0"/>
            </a:br>
            <a:r>
              <a:rPr lang="en-IE" sz="2000" dirty="0"/>
              <a:t>    </a:t>
            </a:r>
            <a:r>
              <a:rPr lang="en-IE" sz="2000" b="1" dirty="0">
                <a:solidFill>
                  <a:srgbClr val="000080"/>
                </a:solidFill>
              </a:rPr>
              <a:t>return </a:t>
            </a:r>
            <a:r>
              <a:rPr lang="en-IE" sz="2000" b="1" dirty="0" err="1">
                <a:solidFill>
                  <a:srgbClr val="660E7A"/>
                </a:solidFill>
              </a:rPr>
              <a:t>isCurrentGymMember</a:t>
            </a:r>
            <a:r>
              <a:rPr lang="en-IE" sz="2000" dirty="0"/>
              <a:t>;</a:t>
            </a:r>
            <a:br>
              <a:rPr lang="en-IE" sz="2000" dirty="0"/>
            </a:br>
            <a:r>
              <a:rPr lang="en-IE" sz="2000" dirty="0"/>
              <a:t>}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44801094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9AA89AD-6A8E-7B95-ACF9-3A1DE3BD4A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02033" y="846139"/>
            <a:ext cx="5070567" cy="577127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9" y="93942"/>
            <a:ext cx="10972800" cy="1143000"/>
          </a:xfrm>
        </p:spPr>
        <p:txBody>
          <a:bodyPr>
            <a:normAutofit/>
          </a:bodyPr>
          <a:lstStyle/>
          <a:p>
            <a:r>
              <a:rPr lang="en-IE" sz="3600" dirty="0"/>
              <a:t>A </a:t>
            </a:r>
            <a:r>
              <a:rPr lang="en-IE" sz="3600" b="1" dirty="0" err="1"/>
              <a:t>GymMember</a:t>
            </a:r>
            <a:r>
              <a:rPr lang="en-IE" sz="3600" dirty="0"/>
              <a:t> Class…setters</a:t>
            </a:r>
          </a:p>
        </p:txBody>
      </p:sp>
      <p:pic>
        <p:nvPicPr>
          <p:cNvPr id="16" name="Content Placeholder 10" descr="Icon&#10;&#10;Description automatically generated">
            <a:extLst>
              <a:ext uri="{FF2B5EF4-FFF2-40B4-BE49-F238E27FC236}">
                <a16:creationId xmlns:a16="http://schemas.microsoft.com/office/drawing/2014/main" id="{24F8C611-91C1-4575-BEF2-31F10B581CB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9400" y="134938"/>
            <a:ext cx="1422400" cy="1422400"/>
          </a:xfr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8C67D78-F217-E74F-BB81-DBC1C6D734D2}"/>
              </a:ext>
            </a:extLst>
          </p:cNvPr>
          <p:cNvSpPr txBox="1"/>
          <p:nvPr/>
        </p:nvSpPr>
        <p:spPr>
          <a:xfrm>
            <a:off x="304800" y="4648200"/>
            <a:ext cx="1682355" cy="461665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2400" b="1" dirty="0"/>
              <a:t>setters</a:t>
            </a:r>
            <a:r>
              <a:rPr lang="en-IE" sz="2400" dirty="0"/>
              <a:t> 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E807B670-35A2-DD7E-6743-DF6F5BD56676}"/>
              </a:ext>
            </a:extLst>
          </p:cNvPr>
          <p:cNvCxnSpPr>
            <a:cxnSpLocks/>
            <a:stCxn id="11" idx="3"/>
            <a:endCxn id="24" idx="1"/>
          </p:cNvCxnSpPr>
          <p:nvPr/>
        </p:nvCxnSpPr>
        <p:spPr>
          <a:xfrm flipV="1">
            <a:off x="1987155" y="4218224"/>
            <a:ext cx="2334473" cy="660809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71C60B9F-27A4-4596-1D10-F0841DEB24DB}"/>
              </a:ext>
            </a:extLst>
          </p:cNvPr>
          <p:cNvSpPr/>
          <p:nvPr/>
        </p:nvSpPr>
        <p:spPr>
          <a:xfrm>
            <a:off x="4393473" y="5592275"/>
            <a:ext cx="3548743" cy="233066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22" name="Rectangle: Rounded Corners 20">
            <a:extLst>
              <a:ext uri="{FF2B5EF4-FFF2-40B4-BE49-F238E27FC236}">
                <a16:creationId xmlns:a16="http://schemas.microsoft.com/office/drawing/2014/main" id="{8E5EEAB2-FD5C-0E1A-753E-C0A8D43C8383}"/>
              </a:ext>
            </a:extLst>
          </p:cNvPr>
          <p:cNvSpPr/>
          <p:nvPr/>
        </p:nvSpPr>
        <p:spPr>
          <a:xfrm>
            <a:off x="4440854" y="5115654"/>
            <a:ext cx="3548743" cy="233066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23" name="Rectangle: Rounded Corners 20">
            <a:extLst>
              <a:ext uri="{FF2B5EF4-FFF2-40B4-BE49-F238E27FC236}">
                <a16:creationId xmlns:a16="http://schemas.microsoft.com/office/drawing/2014/main" id="{291AFE38-D714-0806-2E27-A56BF60ED7B8}"/>
              </a:ext>
            </a:extLst>
          </p:cNvPr>
          <p:cNvSpPr/>
          <p:nvPr/>
        </p:nvSpPr>
        <p:spPr>
          <a:xfrm>
            <a:off x="4377959" y="4707431"/>
            <a:ext cx="3548743" cy="233066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24" name="Rectangle: Rounded Corners 20">
            <a:extLst>
              <a:ext uri="{FF2B5EF4-FFF2-40B4-BE49-F238E27FC236}">
                <a16:creationId xmlns:a16="http://schemas.microsoft.com/office/drawing/2014/main" id="{DDDE1C1B-B461-B3F6-BE66-097198E2DCAB}"/>
              </a:ext>
            </a:extLst>
          </p:cNvPr>
          <p:cNvSpPr/>
          <p:nvPr/>
        </p:nvSpPr>
        <p:spPr>
          <a:xfrm>
            <a:off x="4321628" y="4101691"/>
            <a:ext cx="3548743" cy="233066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25" name="Rectangle: Rounded Corners 20">
            <a:extLst>
              <a:ext uri="{FF2B5EF4-FFF2-40B4-BE49-F238E27FC236}">
                <a16:creationId xmlns:a16="http://schemas.microsoft.com/office/drawing/2014/main" id="{7C1E616F-DB7E-4F9B-5BCF-DA981034E0F9}"/>
              </a:ext>
            </a:extLst>
          </p:cNvPr>
          <p:cNvSpPr/>
          <p:nvPr/>
        </p:nvSpPr>
        <p:spPr>
          <a:xfrm>
            <a:off x="4428154" y="5957647"/>
            <a:ext cx="3962401" cy="233066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E62A5FA5-F6D6-7A12-036F-D2FDD2D34835}"/>
              </a:ext>
            </a:extLst>
          </p:cNvPr>
          <p:cNvCxnSpPr>
            <a:cxnSpLocks/>
            <a:stCxn id="11" idx="3"/>
            <a:endCxn id="23" idx="1"/>
          </p:cNvCxnSpPr>
          <p:nvPr/>
        </p:nvCxnSpPr>
        <p:spPr>
          <a:xfrm flipV="1">
            <a:off x="1987155" y="4823964"/>
            <a:ext cx="2390804" cy="55069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19C7E6E1-BDA6-A38E-F1C2-50D74DF1BF9A}"/>
              </a:ext>
            </a:extLst>
          </p:cNvPr>
          <p:cNvCxnSpPr>
            <a:cxnSpLocks/>
          </p:cNvCxnSpPr>
          <p:nvPr/>
        </p:nvCxnSpPr>
        <p:spPr>
          <a:xfrm>
            <a:off x="1987155" y="4896151"/>
            <a:ext cx="2440999" cy="655128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857E43D-9224-A8C0-0B69-373EDA84A209}"/>
              </a:ext>
            </a:extLst>
          </p:cNvPr>
          <p:cNvCxnSpPr>
            <a:cxnSpLocks/>
          </p:cNvCxnSpPr>
          <p:nvPr/>
        </p:nvCxnSpPr>
        <p:spPr>
          <a:xfrm>
            <a:off x="2052467" y="4880845"/>
            <a:ext cx="2388387" cy="342870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554BF8E1-5B24-1062-5E52-82A80EC84CCD}"/>
              </a:ext>
            </a:extLst>
          </p:cNvPr>
          <p:cNvCxnSpPr>
            <a:cxnSpLocks/>
            <a:endCxn id="25" idx="1"/>
          </p:cNvCxnSpPr>
          <p:nvPr/>
        </p:nvCxnSpPr>
        <p:spPr>
          <a:xfrm>
            <a:off x="1987155" y="4896151"/>
            <a:ext cx="2440999" cy="1178029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1BA1B842-CFCB-1B22-BBBE-55441DA9E42B}"/>
              </a:ext>
            </a:extLst>
          </p:cNvPr>
          <p:cNvSpPr txBox="1"/>
          <p:nvPr/>
        </p:nvSpPr>
        <p:spPr>
          <a:xfrm>
            <a:off x="1358900" y="643890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584560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b="1" dirty="0"/>
              <a:t>Set</a:t>
            </a:r>
            <a:r>
              <a:rPr lang="en-IE" dirty="0"/>
              <a:t>ters (</a:t>
            </a:r>
            <a:r>
              <a:rPr lang="en-IE" dirty="0" err="1"/>
              <a:t>Mutator</a:t>
            </a:r>
            <a:r>
              <a:rPr lang="en-IE" dirty="0"/>
              <a:t> methods)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b="1" dirty="0" err="1">
                <a:solidFill>
                  <a:srgbClr val="00B050"/>
                </a:solidFill>
              </a:rPr>
              <a:t>Mutator</a:t>
            </a:r>
            <a:r>
              <a:rPr lang="en-US" dirty="0"/>
              <a:t> methods </a:t>
            </a:r>
          </a:p>
          <a:p>
            <a:pPr lvl="1"/>
            <a:r>
              <a:rPr lang="en-US" dirty="0"/>
              <a:t>change (i.e. mutate!) an object’s state.</a:t>
            </a:r>
          </a:p>
          <a:p>
            <a:endParaRPr lang="en-US" dirty="0"/>
          </a:p>
          <a:p>
            <a:r>
              <a:rPr lang="en-US" dirty="0"/>
              <a:t>A </a:t>
            </a:r>
            <a:r>
              <a:rPr lang="en-US" dirty="0">
                <a:solidFill>
                  <a:srgbClr val="FF0000"/>
                </a:solidFill>
              </a:rPr>
              <a:t>‘setter’ </a:t>
            </a:r>
            <a:r>
              <a:rPr lang="en-US" dirty="0"/>
              <a:t>method </a:t>
            </a:r>
          </a:p>
          <a:p>
            <a:pPr lvl="1"/>
            <a:r>
              <a:rPr lang="en-US" dirty="0"/>
              <a:t>is a specific type of </a:t>
            </a:r>
            <a:r>
              <a:rPr lang="en-US" b="1" dirty="0" err="1">
                <a:solidFill>
                  <a:srgbClr val="00B050"/>
                </a:solidFill>
              </a:rPr>
              <a:t>mutator</a:t>
            </a:r>
            <a:r>
              <a:rPr lang="en-US" dirty="0"/>
              <a:t> method and typically:</a:t>
            </a:r>
          </a:p>
          <a:p>
            <a:pPr lvl="2"/>
            <a:r>
              <a:rPr lang="en-US" dirty="0"/>
              <a:t>contains an </a:t>
            </a:r>
            <a:r>
              <a:rPr lang="en-US" b="1" dirty="0"/>
              <a:t>assignment statement </a:t>
            </a:r>
          </a:p>
          <a:p>
            <a:pPr lvl="2"/>
            <a:r>
              <a:rPr lang="en-US" dirty="0"/>
              <a:t>takes in a </a:t>
            </a:r>
            <a:r>
              <a:rPr lang="en-US" b="1" dirty="0"/>
              <a:t>parameter</a:t>
            </a:r>
          </a:p>
          <a:p>
            <a:pPr lvl="2"/>
            <a:r>
              <a:rPr lang="en-US" b="1" dirty="0"/>
              <a:t>changes the object state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83825320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Setters – without validation</a:t>
            </a:r>
            <a:endParaRPr lang="en-US" dirty="0"/>
          </a:p>
        </p:txBody>
      </p:sp>
      <p:sp>
        <p:nvSpPr>
          <p:cNvPr id="19459" name="Text Box 3"/>
          <p:cNvSpPr txBox="1">
            <a:spLocks noChangeArrowheads="1"/>
          </p:cNvSpPr>
          <p:nvPr/>
        </p:nvSpPr>
        <p:spPr bwMode="auto">
          <a:xfrm>
            <a:off x="2590801" y="3203575"/>
            <a:ext cx="6821098" cy="1569660"/>
          </a:xfrm>
          <a:prstGeom prst="rect">
            <a:avLst/>
          </a:prstGeom>
          <a:noFill/>
          <a:ln w="12700">
            <a:solidFill>
              <a:schemeClr val="tx2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l" eaLnBrk="1" hangingPunct="1"/>
            <a:r>
              <a:rPr lang="en-US" sz="2400" dirty="0">
                <a:latin typeface="Courier New" pitchFamily="49" charset="0"/>
                <a:cs typeface="Times" pitchFamily="-32" charset="0"/>
              </a:rPr>
              <a:t>public void </a:t>
            </a:r>
            <a:r>
              <a:rPr lang="en-US" sz="2400" dirty="0" err="1">
                <a:latin typeface="Courier New" pitchFamily="49" charset="0"/>
                <a:cs typeface="Times" pitchFamily="-32" charset="0"/>
              </a:rPr>
              <a:t>setHeight</a:t>
            </a:r>
            <a:r>
              <a:rPr lang="en-US" sz="2400" dirty="0">
                <a:latin typeface="Courier New" pitchFamily="49" charset="0"/>
                <a:cs typeface="Times" pitchFamily="-32" charset="0"/>
              </a:rPr>
              <a:t>(double height)</a:t>
            </a:r>
          </a:p>
          <a:p>
            <a:pPr algn="l" eaLnBrk="1" hangingPunct="1"/>
            <a:r>
              <a:rPr lang="en-US" sz="2400" dirty="0">
                <a:latin typeface="Courier New" pitchFamily="49" charset="0"/>
                <a:cs typeface="Times" pitchFamily="-32" charset="0"/>
              </a:rPr>
              <a:t>{</a:t>
            </a:r>
          </a:p>
          <a:p>
            <a:pPr algn="l" eaLnBrk="1" hangingPunct="1"/>
            <a:r>
              <a:rPr lang="en-US" sz="2400" dirty="0">
                <a:latin typeface="Courier New" pitchFamily="49" charset="0"/>
                <a:cs typeface="Times" pitchFamily="-32" charset="0"/>
              </a:rPr>
              <a:t>    </a:t>
            </a:r>
            <a:r>
              <a:rPr lang="en-US" sz="2400" dirty="0" err="1">
                <a:latin typeface="Courier New" pitchFamily="49" charset="0"/>
                <a:cs typeface="Times" pitchFamily="-32" charset="0"/>
              </a:rPr>
              <a:t>this.height</a:t>
            </a:r>
            <a:r>
              <a:rPr lang="en-US" sz="2400" dirty="0">
                <a:latin typeface="Courier New" pitchFamily="49" charset="0"/>
                <a:cs typeface="Times" pitchFamily="-32" charset="0"/>
              </a:rPr>
              <a:t> = height;</a:t>
            </a:r>
          </a:p>
          <a:p>
            <a:pPr algn="l" eaLnBrk="1" hangingPunct="1"/>
            <a:r>
              <a:rPr lang="en-US" sz="2400" dirty="0">
                <a:latin typeface="Courier New" pitchFamily="49" charset="0"/>
                <a:cs typeface="Times" pitchFamily="-32" charset="0"/>
              </a:rPr>
              <a:t>}</a:t>
            </a:r>
            <a:r>
              <a:rPr lang="en-US" sz="2400" dirty="0">
                <a:latin typeface="Courier New" pitchFamily="49" charset="0"/>
              </a:rPr>
              <a:t> </a:t>
            </a:r>
          </a:p>
        </p:txBody>
      </p:sp>
      <p:sp>
        <p:nvSpPr>
          <p:cNvPr id="19460" name="Text Box 4"/>
          <p:cNvSpPr txBox="1">
            <a:spLocks noChangeArrowheads="1"/>
          </p:cNvSpPr>
          <p:nvPr/>
        </p:nvSpPr>
        <p:spPr bwMode="auto">
          <a:xfrm>
            <a:off x="4038601" y="1752600"/>
            <a:ext cx="1366143" cy="400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l" eaLnBrk="1" hangingPunct="1"/>
            <a:r>
              <a:rPr lang="en-US" sz="2000" dirty="0">
                <a:solidFill>
                  <a:srgbClr val="A57133"/>
                </a:solidFill>
              </a:rPr>
              <a:t>return type</a:t>
            </a:r>
          </a:p>
        </p:txBody>
      </p:sp>
      <p:sp>
        <p:nvSpPr>
          <p:cNvPr id="19461" name="Text Box 5"/>
          <p:cNvSpPr txBox="1">
            <a:spLocks noChangeArrowheads="1"/>
          </p:cNvSpPr>
          <p:nvPr/>
        </p:nvSpPr>
        <p:spPr bwMode="auto">
          <a:xfrm>
            <a:off x="5489576" y="2286000"/>
            <a:ext cx="1656479" cy="400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l" eaLnBrk="1" hangingPunct="1"/>
            <a:r>
              <a:rPr lang="en-US" sz="2000" dirty="0">
                <a:solidFill>
                  <a:srgbClr val="A57133"/>
                </a:solidFill>
              </a:rPr>
              <a:t>method name</a:t>
            </a:r>
          </a:p>
        </p:txBody>
      </p:sp>
      <p:sp>
        <p:nvSpPr>
          <p:cNvPr id="19462" name="Text Box 6"/>
          <p:cNvSpPr txBox="1">
            <a:spLocks noChangeArrowheads="1"/>
          </p:cNvSpPr>
          <p:nvPr/>
        </p:nvSpPr>
        <p:spPr bwMode="auto">
          <a:xfrm>
            <a:off x="8458200" y="2286000"/>
            <a:ext cx="1284582" cy="400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l" eaLnBrk="1" hangingPunct="1"/>
            <a:r>
              <a:rPr lang="en-US" sz="2000" dirty="0">
                <a:solidFill>
                  <a:srgbClr val="A57133"/>
                </a:solidFill>
              </a:rPr>
              <a:t>parameter</a:t>
            </a:r>
          </a:p>
        </p:txBody>
      </p:sp>
      <p:sp>
        <p:nvSpPr>
          <p:cNvPr id="19463" name="Line 7"/>
          <p:cNvSpPr>
            <a:spLocks noChangeShapeType="1"/>
          </p:cNvSpPr>
          <p:nvPr/>
        </p:nvSpPr>
        <p:spPr bwMode="auto">
          <a:xfrm flipH="1">
            <a:off x="4268787" y="2133600"/>
            <a:ext cx="455613" cy="113506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IE"/>
          </a:p>
        </p:txBody>
      </p:sp>
      <p:sp>
        <p:nvSpPr>
          <p:cNvPr id="19464" name="Line 8"/>
          <p:cNvSpPr>
            <a:spLocks noChangeShapeType="1"/>
          </p:cNvSpPr>
          <p:nvPr/>
        </p:nvSpPr>
        <p:spPr bwMode="auto">
          <a:xfrm flipH="1">
            <a:off x="5943600" y="2667000"/>
            <a:ext cx="457200" cy="60166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IE"/>
          </a:p>
        </p:txBody>
      </p:sp>
      <p:sp>
        <p:nvSpPr>
          <p:cNvPr id="19465" name="Line 9"/>
          <p:cNvSpPr>
            <a:spLocks noChangeShapeType="1"/>
          </p:cNvSpPr>
          <p:nvPr/>
        </p:nvSpPr>
        <p:spPr bwMode="auto">
          <a:xfrm flipH="1">
            <a:off x="8890000" y="2686970"/>
            <a:ext cx="266700" cy="49914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IE"/>
          </a:p>
        </p:txBody>
      </p:sp>
      <p:sp>
        <p:nvSpPr>
          <p:cNvPr id="19466" name="Text Box 10"/>
          <p:cNvSpPr txBox="1">
            <a:spLocks noChangeArrowheads="1"/>
          </p:cNvSpPr>
          <p:nvPr/>
        </p:nvSpPr>
        <p:spPr bwMode="auto">
          <a:xfrm>
            <a:off x="1828801" y="2270125"/>
            <a:ext cx="1981633" cy="400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l" eaLnBrk="1" hangingPunct="1"/>
            <a:r>
              <a:rPr lang="en-US" sz="2000" dirty="0">
                <a:solidFill>
                  <a:srgbClr val="A57133"/>
                </a:solidFill>
              </a:rPr>
              <a:t>visibility modifier</a:t>
            </a:r>
          </a:p>
        </p:txBody>
      </p:sp>
      <p:sp>
        <p:nvSpPr>
          <p:cNvPr id="19467" name="Line 11"/>
          <p:cNvSpPr>
            <a:spLocks noChangeShapeType="1"/>
          </p:cNvSpPr>
          <p:nvPr/>
        </p:nvSpPr>
        <p:spPr bwMode="auto">
          <a:xfrm>
            <a:off x="2971801" y="2667001"/>
            <a:ext cx="131763" cy="51911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IE"/>
          </a:p>
        </p:txBody>
      </p:sp>
      <p:sp>
        <p:nvSpPr>
          <p:cNvPr id="19468" name="Text Box 12"/>
          <p:cNvSpPr txBox="1">
            <a:spLocks noChangeArrowheads="1"/>
          </p:cNvSpPr>
          <p:nvPr/>
        </p:nvSpPr>
        <p:spPr bwMode="auto">
          <a:xfrm>
            <a:off x="5576162" y="5029200"/>
            <a:ext cx="1434239" cy="70788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l" eaLnBrk="1" hangingPunct="1"/>
            <a:r>
              <a:rPr lang="en-US" sz="2000" dirty="0">
                <a:solidFill>
                  <a:srgbClr val="A57133"/>
                </a:solidFill>
              </a:rPr>
              <a:t>assignment </a:t>
            </a:r>
          </a:p>
          <a:p>
            <a:pPr algn="l" eaLnBrk="1" hangingPunct="1"/>
            <a:r>
              <a:rPr lang="en-US" sz="2000" dirty="0">
                <a:solidFill>
                  <a:srgbClr val="A57133"/>
                </a:solidFill>
              </a:rPr>
              <a:t>statement</a:t>
            </a:r>
          </a:p>
        </p:txBody>
      </p:sp>
      <p:sp>
        <p:nvSpPr>
          <p:cNvPr id="19469" name="Line 13"/>
          <p:cNvSpPr>
            <a:spLocks noChangeShapeType="1"/>
          </p:cNvSpPr>
          <p:nvPr/>
        </p:nvSpPr>
        <p:spPr bwMode="auto">
          <a:xfrm flipH="1" flipV="1">
            <a:off x="6019800" y="4239835"/>
            <a:ext cx="0" cy="77349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IE"/>
          </a:p>
        </p:txBody>
      </p:sp>
      <p:sp>
        <p:nvSpPr>
          <p:cNvPr id="19470" name="Text Box 14"/>
          <p:cNvSpPr txBox="1">
            <a:spLocks noChangeArrowheads="1"/>
          </p:cNvSpPr>
          <p:nvPr/>
        </p:nvSpPr>
        <p:spPr bwMode="auto">
          <a:xfrm>
            <a:off x="2991854" y="5089525"/>
            <a:ext cx="1710468" cy="70788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l" eaLnBrk="1" hangingPunct="1"/>
            <a:r>
              <a:rPr lang="en-US" sz="2000" dirty="0">
                <a:solidFill>
                  <a:srgbClr val="A57133"/>
                </a:solidFill>
              </a:rPr>
              <a:t>Instance field </a:t>
            </a:r>
          </a:p>
          <a:p>
            <a:pPr algn="l" eaLnBrk="1" hangingPunct="1"/>
            <a:r>
              <a:rPr lang="en-US" sz="2000" dirty="0">
                <a:solidFill>
                  <a:srgbClr val="A57133"/>
                </a:solidFill>
              </a:rPr>
              <a:t>being mutated</a:t>
            </a:r>
          </a:p>
        </p:txBody>
      </p:sp>
      <p:sp>
        <p:nvSpPr>
          <p:cNvPr id="19471" name="Line 15"/>
          <p:cNvSpPr>
            <a:spLocks noChangeShapeType="1"/>
          </p:cNvSpPr>
          <p:nvPr/>
        </p:nvSpPr>
        <p:spPr bwMode="auto">
          <a:xfrm flipV="1">
            <a:off x="4268786" y="4343400"/>
            <a:ext cx="379414" cy="6699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IE"/>
          </a:p>
        </p:txBody>
      </p:sp>
      <p:sp>
        <p:nvSpPr>
          <p:cNvPr id="16" name="Text Box 12"/>
          <p:cNvSpPr txBox="1">
            <a:spLocks noChangeArrowheads="1"/>
          </p:cNvSpPr>
          <p:nvPr/>
        </p:nvSpPr>
        <p:spPr bwMode="auto">
          <a:xfrm>
            <a:off x="7543801" y="5083314"/>
            <a:ext cx="1775551" cy="70788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l" eaLnBrk="1" hangingPunct="1"/>
            <a:r>
              <a:rPr lang="en-US" sz="2000" dirty="0">
                <a:solidFill>
                  <a:srgbClr val="A57133"/>
                </a:solidFill>
              </a:rPr>
              <a:t>Value passed </a:t>
            </a:r>
          </a:p>
          <a:p>
            <a:pPr algn="l" eaLnBrk="1" hangingPunct="1"/>
            <a:r>
              <a:rPr lang="en-US" sz="2000" dirty="0">
                <a:solidFill>
                  <a:srgbClr val="A57133"/>
                </a:solidFill>
              </a:rPr>
              <a:t>as a parameter</a:t>
            </a:r>
          </a:p>
        </p:txBody>
      </p:sp>
      <p:sp>
        <p:nvSpPr>
          <p:cNvPr id="17" name="Line 13"/>
          <p:cNvSpPr>
            <a:spLocks noChangeShapeType="1"/>
          </p:cNvSpPr>
          <p:nvPr/>
        </p:nvSpPr>
        <p:spPr bwMode="auto">
          <a:xfrm flipH="1" flipV="1">
            <a:off x="7010401" y="4343399"/>
            <a:ext cx="977039" cy="72404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0288248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460" grpId="0"/>
      <p:bldP spid="19461" grpId="0"/>
      <p:bldP spid="19462" grpId="0"/>
      <p:bldP spid="19463" grpId="0" animBg="1"/>
      <p:bldP spid="19464" grpId="0" animBg="1"/>
      <p:bldP spid="19465" grpId="0" animBg="1"/>
      <p:bldP spid="19466" grpId="0"/>
      <p:bldP spid="19467" grpId="0" animBg="1"/>
      <p:bldP spid="19468" grpId="0"/>
      <p:bldP spid="19469" grpId="0" animBg="1"/>
      <p:bldP spid="19470" grpId="0"/>
      <p:bldP spid="19471" grpId="0" animBg="1"/>
      <p:bldP spid="16" grpId="0"/>
      <p:bldP spid="17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dirty="0"/>
              <a:t>Setters – with validation</a:t>
            </a:r>
            <a:endParaRPr lang="en-US" dirty="0"/>
          </a:p>
        </p:txBody>
      </p:sp>
      <p:sp>
        <p:nvSpPr>
          <p:cNvPr id="19459" name="Text Box 3"/>
          <p:cNvSpPr txBox="1">
            <a:spLocks noChangeArrowheads="1"/>
          </p:cNvSpPr>
          <p:nvPr/>
        </p:nvSpPr>
        <p:spPr bwMode="auto">
          <a:xfrm>
            <a:off x="2590800" y="3203574"/>
            <a:ext cx="8596295" cy="1938992"/>
          </a:xfrm>
          <a:prstGeom prst="rect">
            <a:avLst/>
          </a:prstGeom>
          <a:noFill/>
          <a:ln w="12700">
            <a:solidFill>
              <a:schemeClr val="tx2"/>
            </a:solidFill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l" eaLnBrk="1" hangingPunct="1"/>
            <a:r>
              <a:rPr lang="en-US" sz="2400" dirty="0">
                <a:latin typeface="Courier New" pitchFamily="49" charset="0"/>
                <a:cs typeface="Times" pitchFamily="-32" charset="0"/>
              </a:rPr>
              <a:t>public void </a:t>
            </a:r>
            <a:r>
              <a:rPr lang="en-US" sz="2400" dirty="0" err="1">
                <a:latin typeface="Courier New" pitchFamily="49" charset="0"/>
                <a:cs typeface="Times" pitchFamily="-32" charset="0"/>
              </a:rPr>
              <a:t>setHeight</a:t>
            </a:r>
            <a:r>
              <a:rPr lang="en-US" sz="2400" dirty="0">
                <a:latin typeface="Courier New" pitchFamily="49" charset="0"/>
                <a:cs typeface="Times" pitchFamily="-32" charset="0"/>
              </a:rPr>
              <a:t>(double height)</a:t>
            </a:r>
          </a:p>
          <a:p>
            <a:pPr algn="l" eaLnBrk="1" hangingPunct="1"/>
            <a:r>
              <a:rPr lang="en-US" sz="2400" dirty="0">
                <a:latin typeface="Courier New" pitchFamily="49" charset="0"/>
                <a:cs typeface="Times" pitchFamily="-32" charset="0"/>
              </a:rPr>
              <a:t>{</a:t>
            </a:r>
          </a:p>
          <a:p>
            <a:r>
              <a:rPr lang="en-US" sz="2400" dirty="0">
                <a:latin typeface="Courier New" pitchFamily="49" charset="0"/>
                <a:cs typeface="Times" pitchFamily="-32" charset="0"/>
              </a:rPr>
              <a:t>	</a:t>
            </a:r>
            <a:r>
              <a:rPr lang="en-IE" sz="24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 ((height &gt;= 0) &amp;&amp; (height &lt;= 3.0)){</a:t>
            </a:r>
            <a:endParaRPr lang="en-US" sz="2400" dirty="0">
              <a:solidFill>
                <a:srgbClr val="C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algn="l" eaLnBrk="1" hangingPunct="1"/>
            <a:r>
              <a:rPr lang="en-US" sz="2400" dirty="0">
                <a:latin typeface="Courier New" pitchFamily="49" charset="0"/>
                <a:cs typeface="Times" pitchFamily="-32" charset="0"/>
              </a:rPr>
              <a:t>        </a:t>
            </a:r>
            <a:r>
              <a:rPr lang="en-US" sz="2400" dirty="0" err="1">
                <a:latin typeface="Courier New" pitchFamily="49" charset="0"/>
                <a:cs typeface="Times" pitchFamily="-32" charset="0"/>
              </a:rPr>
              <a:t>this.height</a:t>
            </a:r>
            <a:r>
              <a:rPr lang="en-US" sz="2400" dirty="0">
                <a:latin typeface="Courier New" pitchFamily="49" charset="0"/>
                <a:cs typeface="Times" pitchFamily="-32" charset="0"/>
              </a:rPr>
              <a:t> = height;</a:t>
            </a:r>
          </a:p>
          <a:p>
            <a:pPr algn="l" eaLnBrk="1" hangingPunct="1"/>
            <a:r>
              <a:rPr lang="en-US" sz="2400" dirty="0">
                <a:latin typeface="Courier New" pitchFamily="49" charset="0"/>
                <a:cs typeface="Times" pitchFamily="-32" charset="0"/>
              </a:rPr>
              <a:t>}</a:t>
            </a:r>
            <a:r>
              <a:rPr lang="en-US" sz="2400" dirty="0">
                <a:latin typeface="Courier New" pitchFamily="49" charset="0"/>
              </a:rPr>
              <a:t> </a:t>
            </a:r>
          </a:p>
        </p:txBody>
      </p:sp>
      <p:sp>
        <p:nvSpPr>
          <p:cNvPr id="19460" name="Text Box 4"/>
          <p:cNvSpPr txBox="1">
            <a:spLocks noChangeArrowheads="1"/>
          </p:cNvSpPr>
          <p:nvPr/>
        </p:nvSpPr>
        <p:spPr bwMode="auto">
          <a:xfrm>
            <a:off x="4038601" y="1752600"/>
            <a:ext cx="1366143" cy="400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l" eaLnBrk="1" hangingPunct="1"/>
            <a:r>
              <a:rPr lang="en-US" sz="2000" dirty="0">
                <a:solidFill>
                  <a:srgbClr val="A57133"/>
                </a:solidFill>
              </a:rPr>
              <a:t>return type</a:t>
            </a:r>
          </a:p>
        </p:txBody>
      </p:sp>
      <p:sp>
        <p:nvSpPr>
          <p:cNvPr id="19461" name="Text Box 5"/>
          <p:cNvSpPr txBox="1">
            <a:spLocks noChangeArrowheads="1"/>
          </p:cNvSpPr>
          <p:nvPr/>
        </p:nvSpPr>
        <p:spPr bwMode="auto">
          <a:xfrm>
            <a:off x="5489576" y="2286000"/>
            <a:ext cx="1656479" cy="400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l" eaLnBrk="1" hangingPunct="1"/>
            <a:r>
              <a:rPr lang="en-US" sz="2000" dirty="0">
                <a:solidFill>
                  <a:srgbClr val="A57133"/>
                </a:solidFill>
              </a:rPr>
              <a:t>method name</a:t>
            </a:r>
          </a:p>
        </p:txBody>
      </p:sp>
      <p:sp>
        <p:nvSpPr>
          <p:cNvPr id="19462" name="Text Box 6"/>
          <p:cNvSpPr txBox="1">
            <a:spLocks noChangeArrowheads="1"/>
          </p:cNvSpPr>
          <p:nvPr/>
        </p:nvSpPr>
        <p:spPr bwMode="auto">
          <a:xfrm>
            <a:off x="8458200" y="2286000"/>
            <a:ext cx="1284582" cy="400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l" eaLnBrk="1" hangingPunct="1"/>
            <a:r>
              <a:rPr lang="en-US" sz="2000" dirty="0">
                <a:solidFill>
                  <a:srgbClr val="A57133"/>
                </a:solidFill>
              </a:rPr>
              <a:t>parameter</a:t>
            </a:r>
          </a:p>
        </p:txBody>
      </p:sp>
      <p:sp>
        <p:nvSpPr>
          <p:cNvPr id="19463" name="Line 7"/>
          <p:cNvSpPr>
            <a:spLocks noChangeShapeType="1"/>
          </p:cNvSpPr>
          <p:nvPr/>
        </p:nvSpPr>
        <p:spPr bwMode="auto">
          <a:xfrm flipH="1">
            <a:off x="4268787" y="2133600"/>
            <a:ext cx="455613" cy="113506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IE"/>
          </a:p>
        </p:txBody>
      </p:sp>
      <p:sp>
        <p:nvSpPr>
          <p:cNvPr id="19464" name="Line 8"/>
          <p:cNvSpPr>
            <a:spLocks noChangeShapeType="1"/>
          </p:cNvSpPr>
          <p:nvPr/>
        </p:nvSpPr>
        <p:spPr bwMode="auto">
          <a:xfrm flipH="1">
            <a:off x="5943600" y="2667000"/>
            <a:ext cx="457200" cy="60166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IE"/>
          </a:p>
        </p:txBody>
      </p:sp>
      <p:sp>
        <p:nvSpPr>
          <p:cNvPr id="19465" name="Line 9"/>
          <p:cNvSpPr>
            <a:spLocks noChangeShapeType="1"/>
          </p:cNvSpPr>
          <p:nvPr/>
        </p:nvSpPr>
        <p:spPr bwMode="auto">
          <a:xfrm flipH="1">
            <a:off x="8890000" y="2686970"/>
            <a:ext cx="266700" cy="49914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IE"/>
          </a:p>
        </p:txBody>
      </p:sp>
      <p:sp>
        <p:nvSpPr>
          <p:cNvPr id="19466" name="Text Box 10"/>
          <p:cNvSpPr txBox="1">
            <a:spLocks noChangeArrowheads="1"/>
          </p:cNvSpPr>
          <p:nvPr/>
        </p:nvSpPr>
        <p:spPr bwMode="auto">
          <a:xfrm>
            <a:off x="1828801" y="2270125"/>
            <a:ext cx="1981633" cy="400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l" eaLnBrk="1" hangingPunct="1"/>
            <a:r>
              <a:rPr lang="en-US" sz="2000" dirty="0">
                <a:solidFill>
                  <a:srgbClr val="A57133"/>
                </a:solidFill>
              </a:rPr>
              <a:t>visibility modifier</a:t>
            </a:r>
          </a:p>
        </p:txBody>
      </p:sp>
      <p:sp>
        <p:nvSpPr>
          <p:cNvPr id="19467" name="Line 11"/>
          <p:cNvSpPr>
            <a:spLocks noChangeShapeType="1"/>
          </p:cNvSpPr>
          <p:nvPr/>
        </p:nvSpPr>
        <p:spPr bwMode="auto">
          <a:xfrm>
            <a:off x="2971801" y="2667001"/>
            <a:ext cx="131763" cy="51911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IE"/>
          </a:p>
        </p:txBody>
      </p:sp>
      <p:sp>
        <p:nvSpPr>
          <p:cNvPr id="19470" name="Text Box 14"/>
          <p:cNvSpPr txBox="1">
            <a:spLocks noChangeArrowheads="1"/>
          </p:cNvSpPr>
          <p:nvPr/>
        </p:nvSpPr>
        <p:spPr bwMode="auto">
          <a:xfrm>
            <a:off x="2802148" y="5476417"/>
            <a:ext cx="1710468" cy="70788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l" eaLnBrk="1" hangingPunct="1"/>
            <a:r>
              <a:rPr lang="en-US" sz="2000" dirty="0">
                <a:solidFill>
                  <a:srgbClr val="A57133"/>
                </a:solidFill>
              </a:rPr>
              <a:t>Instance field </a:t>
            </a:r>
          </a:p>
          <a:p>
            <a:pPr algn="l" eaLnBrk="1" hangingPunct="1"/>
            <a:r>
              <a:rPr lang="en-US" sz="2000" dirty="0">
                <a:solidFill>
                  <a:srgbClr val="A57133"/>
                </a:solidFill>
              </a:rPr>
              <a:t>being mutated</a:t>
            </a:r>
          </a:p>
        </p:txBody>
      </p:sp>
      <p:sp>
        <p:nvSpPr>
          <p:cNvPr id="19471" name="Line 15"/>
          <p:cNvSpPr>
            <a:spLocks noChangeShapeType="1"/>
          </p:cNvSpPr>
          <p:nvPr/>
        </p:nvSpPr>
        <p:spPr bwMode="auto">
          <a:xfrm flipV="1">
            <a:off x="4079080" y="4730292"/>
            <a:ext cx="379414" cy="6699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IE"/>
          </a:p>
        </p:txBody>
      </p:sp>
      <p:sp>
        <p:nvSpPr>
          <p:cNvPr id="16" name="Text Box 12"/>
          <p:cNvSpPr txBox="1">
            <a:spLocks noChangeArrowheads="1"/>
          </p:cNvSpPr>
          <p:nvPr/>
        </p:nvSpPr>
        <p:spPr bwMode="auto">
          <a:xfrm>
            <a:off x="7225439" y="5464314"/>
            <a:ext cx="1775551" cy="70788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l" eaLnBrk="1" hangingPunct="1"/>
            <a:r>
              <a:rPr lang="en-US" sz="2000" dirty="0">
                <a:solidFill>
                  <a:srgbClr val="A57133"/>
                </a:solidFill>
              </a:rPr>
              <a:t>Value passed </a:t>
            </a:r>
          </a:p>
          <a:p>
            <a:pPr algn="l" eaLnBrk="1" hangingPunct="1"/>
            <a:r>
              <a:rPr lang="en-US" sz="2000" dirty="0">
                <a:solidFill>
                  <a:srgbClr val="A57133"/>
                </a:solidFill>
              </a:rPr>
              <a:t>as a parameter</a:t>
            </a:r>
          </a:p>
        </p:txBody>
      </p:sp>
      <p:sp>
        <p:nvSpPr>
          <p:cNvPr id="17" name="Line 13"/>
          <p:cNvSpPr>
            <a:spLocks noChangeShapeType="1"/>
          </p:cNvSpPr>
          <p:nvPr/>
        </p:nvSpPr>
        <p:spPr bwMode="auto">
          <a:xfrm flipH="1" flipV="1">
            <a:off x="7146054" y="4746445"/>
            <a:ext cx="651679" cy="707886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IE"/>
          </a:p>
        </p:txBody>
      </p:sp>
      <p:sp>
        <p:nvSpPr>
          <p:cNvPr id="18" name="Text Box 12">
            <a:extLst>
              <a:ext uri="{FF2B5EF4-FFF2-40B4-BE49-F238E27FC236}">
                <a16:creationId xmlns:a16="http://schemas.microsoft.com/office/drawing/2014/main" id="{35BD789C-CB2C-14B3-B28B-F6BCE63CF25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18026" y="3665238"/>
            <a:ext cx="2172774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l" eaLnBrk="1" hangingPunct="1"/>
            <a:r>
              <a:rPr lang="en-US" sz="2000" dirty="0">
                <a:solidFill>
                  <a:srgbClr val="C00000"/>
                </a:solidFill>
              </a:rPr>
              <a:t>Validation of value </a:t>
            </a:r>
          </a:p>
          <a:p>
            <a:pPr algn="l" eaLnBrk="1" hangingPunct="1"/>
            <a:r>
              <a:rPr lang="en-US" sz="2000" dirty="0">
                <a:solidFill>
                  <a:srgbClr val="C00000"/>
                </a:solidFill>
              </a:rPr>
              <a:t>passed as a </a:t>
            </a:r>
          </a:p>
          <a:p>
            <a:pPr algn="l" eaLnBrk="1" hangingPunct="1"/>
            <a:r>
              <a:rPr lang="en-US" sz="2000" dirty="0">
                <a:solidFill>
                  <a:srgbClr val="C00000"/>
                </a:solidFill>
              </a:rPr>
              <a:t>parameter</a:t>
            </a:r>
          </a:p>
        </p:txBody>
      </p:sp>
      <p:sp>
        <p:nvSpPr>
          <p:cNvPr id="19" name="Line 13">
            <a:extLst>
              <a:ext uri="{FF2B5EF4-FFF2-40B4-BE49-F238E27FC236}">
                <a16:creationId xmlns:a16="http://schemas.microsoft.com/office/drawing/2014/main" id="{4DB32E9A-75EC-7198-929C-318A3582F1FD}"/>
              </a:ext>
            </a:extLst>
          </p:cNvPr>
          <p:cNvSpPr>
            <a:spLocks noChangeShapeType="1"/>
          </p:cNvSpPr>
          <p:nvPr/>
        </p:nvSpPr>
        <p:spPr bwMode="auto">
          <a:xfrm>
            <a:off x="2035428" y="4114800"/>
            <a:ext cx="1469772" cy="6845"/>
          </a:xfrm>
          <a:prstGeom prst="line">
            <a:avLst/>
          </a:prstGeom>
          <a:ln>
            <a:headEnd/>
            <a:tailEnd type="triangle" w="med" len="med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  <p:txBody>
          <a:bodyPr/>
          <a:lstStyle/>
          <a:p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9063731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460" grpId="0"/>
      <p:bldP spid="19461" grpId="0"/>
      <p:bldP spid="19462" grpId="0"/>
      <p:bldP spid="19463" grpId="0" animBg="1"/>
      <p:bldP spid="19464" grpId="0" animBg="1"/>
      <p:bldP spid="19465" grpId="0" animBg="1"/>
      <p:bldP spid="19466" grpId="0"/>
      <p:bldP spid="19467" grpId="0" animBg="1"/>
      <p:bldP spid="19470" grpId="0"/>
      <p:bldP spid="19471" grpId="0" animBg="1"/>
      <p:bldP spid="16" grpId="0"/>
      <p:bldP spid="17" grpId="0" animBg="1"/>
      <p:bldP spid="18" grpId="0"/>
      <p:bldP spid="19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IE" sz="3600" dirty="0"/>
              <a:t>A </a:t>
            </a:r>
            <a:r>
              <a:rPr lang="en-IE" sz="3600" b="1" dirty="0" err="1"/>
              <a:t>GymMember</a:t>
            </a:r>
            <a:r>
              <a:rPr lang="en-IE" sz="3600" dirty="0"/>
              <a:t> Class…special case for Strings in </a:t>
            </a:r>
            <a:br>
              <a:rPr lang="en-IE" sz="3600" dirty="0"/>
            </a:br>
            <a:r>
              <a:rPr lang="en-IE" sz="3600" dirty="0"/>
              <a:t>Constructor</a:t>
            </a:r>
          </a:p>
        </p:txBody>
      </p:sp>
      <p:pic>
        <p:nvPicPr>
          <p:cNvPr id="16" name="Content Placeholder 10" descr="Icon&#10;&#10;Description automatically generated">
            <a:extLst>
              <a:ext uri="{FF2B5EF4-FFF2-40B4-BE49-F238E27FC236}">
                <a16:creationId xmlns:a16="http://schemas.microsoft.com/office/drawing/2014/main" id="{24F8C611-91C1-4575-BEF2-31F10B581CB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9400" y="134938"/>
            <a:ext cx="1422400" cy="1422400"/>
          </a:xfr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6B70BD2B-0A82-D798-AD1C-BF1A7413203D}"/>
              </a:ext>
            </a:extLst>
          </p:cNvPr>
          <p:cNvSpPr/>
          <p:nvPr/>
        </p:nvSpPr>
        <p:spPr>
          <a:xfrm>
            <a:off x="1485900" y="2209800"/>
            <a:ext cx="9220200" cy="304698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IE" sz="24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public void </a:t>
            </a:r>
            <a:r>
              <a:rPr lang="en-IE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initName</a:t>
            </a:r>
            <a:r>
              <a:rPr lang="en-IE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(String name) {</a:t>
            </a:r>
            <a:br>
              <a:rPr lang="en-IE" sz="2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IE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IE" sz="24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 </a:t>
            </a:r>
            <a:r>
              <a:rPr lang="en-IE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(name != </a:t>
            </a:r>
            <a:r>
              <a:rPr lang="en-IE" sz="24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null</a:t>
            </a:r>
            <a:r>
              <a:rPr lang="en-IE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){</a:t>
            </a:r>
            <a:br>
              <a:rPr lang="en-IE" sz="2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IE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IE" sz="24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 </a:t>
            </a:r>
            <a:r>
              <a:rPr lang="en-IE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IE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name.length</a:t>
            </a:r>
            <a:r>
              <a:rPr lang="en-IE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() &gt; </a:t>
            </a:r>
            <a:r>
              <a:rPr lang="en-IE" sz="2400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30</a:t>
            </a:r>
            <a:r>
              <a:rPr lang="en-IE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br>
              <a:rPr lang="en-IE" sz="2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IE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</a:t>
            </a:r>
            <a:r>
              <a:rPr lang="en-IE" sz="2400" b="1" dirty="0" err="1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this</a:t>
            </a:r>
            <a:r>
              <a:rPr lang="en-IE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IE" sz="2400" b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en-IE" sz="2400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IE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= </a:t>
            </a:r>
            <a:r>
              <a:rPr lang="en-IE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name.substring</a:t>
            </a:r>
            <a:r>
              <a:rPr lang="en-IE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IE" sz="2400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IE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IE" sz="2400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30</a:t>
            </a:r>
            <a:r>
              <a:rPr lang="en-IE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  <a:br>
              <a:rPr lang="en-IE" sz="2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IE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IE" sz="24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  <a:br>
              <a:rPr lang="en-IE" sz="24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IE" sz="24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</a:t>
            </a:r>
            <a:r>
              <a:rPr lang="en-IE" sz="2400" b="1" dirty="0" err="1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this</a:t>
            </a:r>
            <a:r>
              <a:rPr lang="en-IE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IE" sz="2400" b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en-IE" sz="2400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IE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= name;</a:t>
            </a:r>
            <a:br>
              <a:rPr lang="en-IE" sz="2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IE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}</a:t>
            </a:r>
            <a:br>
              <a:rPr lang="en-IE" sz="2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IE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endParaRPr lang="en-US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98E0EBE-8BD6-88E6-08DE-27FC3CF79CCF}"/>
              </a:ext>
            </a:extLst>
          </p:cNvPr>
          <p:cNvSpPr txBox="1"/>
          <p:nvPr/>
        </p:nvSpPr>
        <p:spPr>
          <a:xfrm>
            <a:off x="1143000" y="5562600"/>
            <a:ext cx="4724400" cy="1200329"/>
          </a:xfrm>
          <a:prstGeom prst="rect">
            <a:avLst/>
          </a:prstGeom>
          <a:solidFill>
            <a:schemeClr val="accent5"/>
          </a:solidFill>
          <a:ln w="19050">
            <a:solidFill>
              <a:schemeClr val="accent1">
                <a:alpha val="88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This is used in the constructor instead of the setter (</a:t>
            </a:r>
            <a:r>
              <a:rPr lang="en-US" dirty="0" err="1"/>
              <a:t>setName</a:t>
            </a:r>
            <a:r>
              <a:rPr lang="en-US" dirty="0"/>
              <a:t>()). This is because we assume that the name is somewhat correct (just too long)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5A94FE6-68BE-ADEB-B2DE-068E74EE64B0}"/>
              </a:ext>
            </a:extLst>
          </p:cNvPr>
          <p:cNvSpPr txBox="1"/>
          <p:nvPr/>
        </p:nvSpPr>
        <p:spPr>
          <a:xfrm>
            <a:off x="6324600" y="5549900"/>
            <a:ext cx="4724400" cy="369332"/>
          </a:xfrm>
          <a:prstGeom prst="rect">
            <a:avLst/>
          </a:prstGeom>
          <a:solidFill>
            <a:schemeClr val="accent5"/>
          </a:solidFill>
          <a:ln w="19050">
            <a:solidFill>
              <a:schemeClr val="accent1">
                <a:alpha val="88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We will always used this technique for Strings</a:t>
            </a:r>
          </a:p>
        </p:txBody>
      </p:sp>
    </p:spTree>
    <p:extLst>
      <p:ext uri="{BB962C8B-B14F-4D97-AF65-F5344CB8AC3E}">
        <p14:creationId xmlns:p14="http://schemas.microsoft.com/office/powerpoint/2010/main" val="24587455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sz="3600" dirty="0"/>
              <a:t>A </a:t>
            </a:r>
            <a:r>
              <a:rPr lang="en-IE" sz="3600" b="1" dirty="0" err="1"/>
              <a:t>GymMember</a:t>
            </a:r>
            <a:r>
              <a:rPr lang="en-IE" sz="3600" dirty="0"/>
              <a:t> Class…setters</a:t>
            </a:r>
          </a:p>
        </p:txBody>
      </p:sp>
      <p:pic>
        <p:nvPicPr>
          <p:cNvPr id="16" name="Content Placeholder 10" descr="Icon&#10;&#10;Description automatically generated">
            <a:extLst>
              <a:ext uri="{FF2B5EF4-FFF2-40B4-BE49-F238E27FC236}">
                <a16:creationId xmlns:a16="http://schemas.microsoft.com/office/drawing/2014/main" id="{24F8C611-91C1-4575-BEF2-31F10B581CB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9400" y="134938"/>
            <a:ext cx="1422400" cy="1422400"/>
          </a:xfr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6B70BD2B-0A82-D798-AD1C-BF1A7413203D}"/>
              </a:ext>
            </a:extLst>
          </p:cNvPr>
          <p:cNvSpPr/>
          <p:nvPr/>
        </p:nvSpPr>
        <p:spPr>
          <a:xfrm>
            <a:off x="1485900" y="2209800"/>
            <a:ext cx="9220200" cy="2308324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IE" sz="24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public void </a:t>
            </a:r>
            <a:r>
              <a:rPr lang="en-IE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setName</a:t>
            </a:r>
            <a:r>
              <a:rPr lang="en-IE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(String name) {</a:t>
            </a:r>
            <a:br>
              <a:rPr lang="en-IE" sz="2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IE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IE" sz="24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 </a:t>
            </a:r>
            <a:r>
              <a:rPr lang="en-IE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(name != </a:t>
            </a:r>
            <a:r>
              <a:rPr lang="en-IE" sz="24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null</a:t>
            </a:r>
            <a:r>
              <a:rPr lang="en-IE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){</a:t>
            </a:r>
            <a:br>
              <a:rPr lang="en-IE" sz="2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IE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IE" sz="24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 </a:t>
            </a:r>
            <a:r>
              <a:rPr lang="en-IE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IE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name.length</a:t>
            </a:r>
            <a:r>
              <a:rPr lang="en-IE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() &lt;= </a:t>
            </a:r>
            <a:r>
              <a:rPr lang="en-IE" sz="2400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30</a:t>
            </a:r>
            <a:r>
              <a:rPr lang="en-IE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br>
              <a:rPr lang="en-IE" sz="2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IE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</a:t>
            </a:r>
            <a:r>
              <a:rPr lang="en-IE" sz="2400" b="1" dirty="0" err="1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this</a:t>
            </a:r>
            <a:r>
              <a:rPr lang="en-IE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IE" sz="2400" b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en-IE" sz="2400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IE" sz="2400">
                <a:latin typeface="Courier New" panose="02070309020205020404" pitchFamily="49" charset="0"/>
                <a:cs typeface="Courier New" panose="02070309020205020404" pitchFamily="49" charset="0"/>
              </a:rPr>
              <a:t>= name;</a:t>
            </a:r>
            <a:br>
              <a:rPr lang="en-IE" sz="2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IE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br>
              <a:rPr lang="en-IE" sz="2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IE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endParaRPr lang="en-US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722101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sz="3600" dirty="0"/>
              <a:t>A </a:t>
            </a:r>
            <a:r>
              <a:rPr lang="en-IE" sz="3600" b="1" dirty="0" err="1"/>
              <a:t>GymMember</a:t>
            </a:r>
            <a:r>
              <a:rPr lang="en-IE" sz="3600" dirty="0"/>
              <a:t> Class…setters</a:t>
            </a:r>
          </a:p>
        </p:txBody>
      </p:sp>
      <p:pic>
        <p:nvPicPr>
          <p:cNvPr id="16" name="Content Placeholder 10" descr="Icon&#10;&#10;Description automatically generated">
            <a:extLst>
              <a:ext uri="{FF2B5EF4-FFF2-40B4-BE49-F238E27FC236}">
                <a16:creationId xmlns:a16="http://schemas.microsoft.com/office/drawing/2014/main" id="{24F8C611-91C1-4575-BEF2-31F10B581CB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9400" y="134938"/>
            <a:ext cx="1422400" cy="1422400"/>
          </a:xfr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68F06C1E-5221-9622-305F-7ABBC13FB615}"/>
              </a:ext>
            </a:extLst>
          </p:cNvPr>
          <p:cNvSpPr/>
          <p:nvPr/>
        </p:nvSpPr>
        <p:spPr>
          <a:xfrm>
            <a:off x="1143000" y="1828800"/>
            <a:ext cx="7924800" cy="163121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IE" sz="20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public void </a:t>
            </a:r>
            <a:r>
              <a:rPr lang="en-IE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setHeight</a:t>
            </a: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IE" sz="20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double </a:t>
            </a: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height) {</a:t>
            </a:r>
            <a:b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IE" sz="20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 </a:t>
            </a: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((height &gt;= </a:t>
            </a:r>
            <a:r>
              <a:rPr lang="en-IE" sz="2000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) &amp;&amp; (height &lt;= </a:t>
            </a:r>
            <a:r>
              <a:rPr lang="en-IE" sz="2000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3.0</a:t>
            </a: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)) {</a:t>
            </a:r>
            <a:b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IE" sz="2000" b="1" dirty="0" err="1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this</a:t>
            </a:r>
            <a:r>
              <a:rPr lang="en-IE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IE" sz="2000" b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height</a:t>
            </a:r>
            <a:r>
              <a:rPr lang="en-IE" sz="2000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= height;</a:t>
            </a:r>
            <a:b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  <a:b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endParaRPr lang="en-US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1382639-DAED-D604-0F33-99D29B9B6B80}"/>
              </a:ext>
            </a:extLst>
          </p:cNvPr>
          <p:cNvSpPr/>
          <p:nvPr/>
        </p:nvSpPr>
        <p:spPr>
          <a:xfrm>
            <a:off x="2209800" y="3861604"/>
            <a:ext cx="7772400" cy="163121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IE" sz="20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public void </a:t>
            </a:r>
            <a:r>
              <a:rPr lang="en-IE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setWeight</a:t>
            </a: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IE" sz="20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double </a:t>
            </a: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weight) {</a:t>
            </a:r>
            <a:b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IE" sz="20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 </a:t>
            </a: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((weight &gt;= </a:t>
            </a:r>
            <a:r>
              <a:rPr lang="en-IE" sz="2000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) &amp;&amp; (weight &lt;= </a:t>
            </a:r>
            <a:r>
              <a:rPr lang="en-IE" sz="2000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500</a:t>
            </a: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)) {</a:t>
            </a:r>
            <a:b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IE" sz="2000" b="1" dirty="0" err="1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this</a:t>
            </a:r>
            <a:r>
              <a:rPr lang="en-IE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IE" sz="2000" b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weight</a:t>
            </a:r>
            <a:r>
              <a:rPr lang="en-IE" sz="2000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= weight;</a:t>
            </a:r>
            <a:b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  <a:b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endParaRPr lang="en-US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2819779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sz="3600" dirty="0"/>
              <a:t>A </a:t>
            </a:r>
            <a:r>
              <a:rPr lang="en-IE" sz="3600" b="1" dirty="0" err="1"/>
              <a:t>GymMember</a:t>
            </a:r>
            <a:r>
              <a:rPr lang="en-IE" sz="3600" dirty="0"/>
              <a:t> Class…setters</a:t>
            </a:r>
          </a:p>
        </p:txBody>
      </p:sp>
      <p:pic>
        <p:nvPicPr>
          <p:cNvPr id="16" name="Content Placeholder 10" descr="Icon&#10;&#10;Description automatically generated">
            <a:extLst>
              <a:ext uri="{FF2B5EF4-FFF2-40B4-BE49-F238E27FC236}">
                <a16:creationId xmlns:a16="http://schemas.microsoft.com/office/drawing/2014/main" id="{24F8C611-91C1-4575-BEF2-31F10B581CB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9400" y="134938"/>
            <a:ext cx="1422400" cy="1422400"/>
          </a:xfr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51023286-3CFA-B05F-4FF5-E8C8DD973931}"/>
              </a:ext>
            </a:extLst>
          </p:cNvPr>
          <p:cNvSpPr/>
          <p:nvPr/>
        </p:nvSpPr>
        <p:spPr>
          <a:xfrm>
            <a:off x="762000" y="2016369"/>
            <a:ext cx="9829800" cy="163121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IE" sz="20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public void </a:t>
            </a:r>
            <a:r>
              <a:rPr lang="en-IE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setMembershipNumber</a:t>
            </a: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IE" sz="20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 </a:t>
            </a:r>
            <a:r>
              <a:rPr lang="en-IE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membershipNumber</a:t>
            </a: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) {</a:t>
            </a:r>
            <a:b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IE" sz="20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 </a:t>
            </a: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((</a:t>
            </a:r>
            <a:r>
              <a:rPr lang="en-IE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membershipNumber</a:t>
            </a: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&gt; </a:t>
            </a:r>
            <a:r>
              <a:rPr lang="en-IE" sz="2000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) &amp;&amp; (</a:t>
            </a:r>
            <a:r>
              <a:rPr lang="en-IE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membershipNumber</a:t>
            </a: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&lt; </a:t>
            </a:r>
            <a:r>
              <a:rPr lang="en-IE" sz="2000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99999</a:t>
            </a: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)) {</a:t>
            </a:r>
            <a:b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IE" sz="2000" b="1" dirty="0" err="1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this</a:t>
            </a:r>
            <a:r>
              <a:rPr lang="en-IE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IE" sz="2000" b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membershipNumber</a:t>
            </a:r>
            <a:r>
              <a:rPr lang="en-IE" sz="2000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= </a:t>
            </a:r>
            <a:r>
              <a:rPr lang="en-IE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membershipNumber</a:t>
            </a: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b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  <a:b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endParaRPr lang="en-US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23B787B-7ABD-8003-C22F-1EA58B9AB393}"/>
              </a:ext>
            </a:extLst>
          </p:cNvPr>
          <p:cNvSpPr/>
          <p:nvPr/>
        </p:nvSpPr>
        <p:spPr>
          <a:xfrm>
            <a:off x="1836615" y="4246316"/>
            <a:ext cx="9296400" cy="101566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IE" sz="20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public void </a:t>
            </a:r>
            <a:r>
              <a:rPr lang="en-IE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setCurrentGymMember</a:t>
            </a: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IE" sz="2000" b="1" dirty="0" err="1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boolean</a:t>
            </a:r>
            <a:r>
              <a:rPr lang="en-IE" sz="20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IE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currentGymMember</a:t>
            </a: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) {</a:t>
            </a:r>
            <a:b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IE" sz="2000" b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isCurrentGymMember</a:t>
            </a:r>
            <a:r>
              <a:rPr lang="en-IE" sz="2000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= </a:t>
            </a:r>
            <a:r>
              <a:rPr lang="en-IE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currentGymMember</a:t>
            </a: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b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endParaRPr lang="en-US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710710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Getters/Setters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IE" dirty="0"/>
              <a:t>For </a:t>
            </a:r>
            <a:r>
              <a:rPr lang="en-IE" dirty="0">
                <a:solidFill>
                  <a:srgbClr val="FF0000"/>
                </a:solidFill>
              </a:rPr>
              <a:t>each instance field </a:t>
            </a:r>
            <a:r>
              <a:rPr lang="en-IE" dirty="0"/>
              <a:t>in a class, you are normally asked to write: </a:t>
            </a:r>
          </a:p>
          <a:p>
            <a:pPr marL="0" indent="0">
              <a:buNone/>
            </a:pPr>
            <a:endParaRPr lang="en-IE" dirty="0"/>
          </a:p>
          <a:p>
            <a:pPr lvl="1"/>
            <a:r>
              <a:rPr lang="en-IE" dirty="0"/>
              <a:t>A </a:t>
            </a:r>
            <a:r>
              <a:rPr lang="en-IE" b="1" dirty="0"/>
              <a:t>get</a:t>
            </a:r>
            <a:r>
              <a:rPr lang="en-IE" dirty="0"/>
              <a:t>ter</a:t>
            </a:r>
          </a:p>
          <a:p>
            <a:pPr lvl="2"/>
            <a:r>
              <a:rPr lang="en-IE" dirty="0"/>
              <a:t>Return statement</a:t>
            </a:r>
          </a:p>
          <a:p>
            <a:pPr marL="457200" lvl="1" indent="0">
              <a:buNone/>
            </a:pPr>
            <a:endParaRPr lang="en-IE" dirty="0"/>
          </a:p>
          <a:p>
            <a:pPr lvl="1"/>
            <a:r>
              <a:rPr lang="en-IE" dirty="0"/>
              <a:t>A </a:t>
            </a:r>
            <a:r>
              <a:rPr lang="en-IE" b="1" dirty="0"/>
              <a:t>set</a:t>
            </a:r>
            <a:r>
              <a:rPr lang="en-IE" dirty="0"/>
              <a:t>ter</a:t>
            </a:r>
          </a:p>
          <a:p>
            <a:pPr lvl="2"/>
            <a:r>
              <a:rPr lang="en-IE" dirty="0"/>
              <a:t>Assignment statement</a:t>
            </a:r>
          </a:p>
        </p:txBody>
      </p:sp>
    </p:spTree>
    <p:extLst>
      <p:ext uri="{BB962C8B-B14F-4D97-AF65-F5344CB8AC3E}">
        <p14:creationId xmlns:p14="http://schemas.microsoft.com/office/powerpoint/2010/main" val="4858241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BA02A16-318D-2764-C704-513FBD5106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3327" y="1026017"/>
            <a:ext cx="4887629" cy="5563055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sz="3600" dirty="0"/>
              <a:t>A </a:t>
            </a:r>
            <a:r>
              <a:rPr lang="en-IE" sz="3600" b="1" dirty="0" err="1"/>
              <a:t>GymMember</a:t>
            </a:r>
            <a:r>
              <a:rPr lang="en-IE" sz="3600" dirty="0"/>
              <a:t> Class…</a:t>
            </a:r>
            <a:r>
              <a:rPr lang="en-IE" sz="3600" dirty="0" err="1"/>
              <a:t>toString</a:t>
            </a:r>
            <a:endParaRPr lang="en-IE" sz="3600" dirty="0"/>
          </a:p>
        </p:txBody>
      </p:sp>
      <p:pic>
        <p:nvPicPr>
          <p:cNvPr id="16" name="Content Placeholder 10" descr="Icon&#10;&#10;Description automatically generated">
            <a:extLst>
              <a:ext uri="{FF2B5EF4-FFF2-40B4-BE49-F238E27FC236}">
                <a16:creationId xmlns:a16="http://schemas.microsoft.com/office/drawing/2014/main" id="{24F8C611-91C1-4575-BEF2-31F10B581CB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9400" y="134938"/>
            <a:ext cx="1422400" cy="1422400"/>
          </a:xfr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0A860743-5B17-FF7A-F7BE-68896772DC12}"/>
              </a:ext>
            </a:extLst>
          </p:cNvPr>
          <p:cNvSpPr txBox="1"/>
          <p:nvPr/>
        </p:nvSpPr>
        <p:spPr>
          <a:xfrm>
            <a:off x="152400" y="2133600"/>
            <a:ext cx="3180230" cy="206210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2400" b="1" dirty="0"/>
              <a:t>toString</a:t>
            </a:r>
            <a:r>
              <a:rPr lang="en-IE" sz="2400" dirty="0"/>
              <a:t>():</a:t>
            </a:r>
          </a:p>
          <a:p>
            <a:endParaRPr lang="en-IE" sz="2400" dirty="0"/>
          </a:p>
          <a:p>
            <a:r>
              <a:rPr lang="en-US" altLang="en-US" sz="2000" dirty="0">
                <a:solidFill>
                  <a:schemeClr val="tx1">
                    <a:lumMod val="65000"/>
                    <a:lumOff val="35000"/>
                  </a:schemeClr>
                </a:solidFill>
                <a:cs typeface="Courier New" panose="02070309020205020404" pitchFamily="49" charset="0"/>
              </a:rPr>
              <a:t>Builds and returns a String containing a user-friendly representation of the object state.</a:t>
            </a:r>
            <a:r>
              <a:rPr lang="en-IE" sz="20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  </a:t>
            </a:r>
          </a:p>
        </p:txBody>
      </p:sp>
      <p:sp>
        <p:nvSpPr>
          <p:cNvPr id="18" name="Rectangle: Rounded Corners 20">
            <a:extLst>
              <a:ext uri="{FF2B5EF4-FFF2-40B4-BE49-F238E27FC236}">
                <a16:creationId xmlns:a16="http://schemas.microsoft.com/office/drawing/2014/main" id="{DFC47359-E7ED-6055-AD5B-1EAF50DAFD54}"/>
              </a:ext>
            </a:extLst>
          </p:cNvPr>
          <p:cNvSpPr/>
          <p:nvPr/>
        </p:nvSpPr>
        <p:spPr>
          <a:xfrm flipV="1">
            <a:off x="4405029" y="6197451"/>
            <a:ext cx="4704227" cy="3810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7E7912FA-256F-D976-AB82-A2C5F7C71DBB}"/>
              </a:ext>
            </a:extLst>
          </p:cNvPr>
          <p:cNvCxnSpPr>
            <a:cxnSpLocks/>
            <a:stCxn id="17" idx="2"/>
          </p:cNvCxnSpPr>
          <p:nvPr/>
        </p:nvCxnSpPr>
        <p:spPr>
          <a:xfrm>
            <a:off x="1742515" y="4195703"/>
            <a:ext cx="2687918" cy="2025103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6495885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sz="3600" dirty="0"/>
              <a:t>A </a:t>
            </a:r>
            <a:r>
              <a:rPr lang="en-IE" sz="3600" b="1" dirty="0" err="1"/>
              <a:t>GymMember</a:t>
            </a:r>
            <a:r>
              <a:rPr lang="en-IE" sz="3600" dirty="0"/>
              <a:t> Class…</a:t>
            </a:r>
            <a:r>
              <a:rPr lang="en-IE" sz="3600" dirty="0" err="1"/>
              <a:t>toString</a:t>
            </a:r>
            <a:endParaRPr lang="en-IE" sz="3600" dirty="0"/>
          </a:p>
        </p:txBody>
      </p:sp>
      <p:pic>
        <p:nvPicPr>
          <p:cNvPr id="16" name="Content Placeholder 10" descr="Icon&#10;&#10;Description automatically generated">
            <a:extLst>
              <a:ext uri="{FF2B5EF4-FFF2-40B4-BE49-F238E27FC236}">
                <a16:creationId xmlns:a16="http://schemas.microsoft.com/office/drawing/2014/main" id="{24F8C611-91C1-4575-BEF2-31F10B581CB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9400" y="134938"/>
            <a:ext cx="1422400" cy="1422400"/>
          </a:xfrm>
        </p:spPr>
      </p:pic>
      <p:sp>
        <p:nvSpPr>
          <p:cNvPr id="8" name="Rectangle: Rounded Corners 5">
            <a:extLst>
              <a:ext uri="{FF2B5EF4-FFF2-40B4-BE49-F238E27FC236}">
                <a16:creationId xmlns:a16="http://schemas.microsoft.com/office/drawing/2014/main" id="{FF422864-AB66-318C-4A99-C6BBBF95BA6E}"/>
              </a:ext>
            </a:extLst>
          </p:cNvPr>
          <p:cNvSpPr/>
          <p:nvPr/>
        </p:nvSpPr>
        <p:spPr>
          <a:xfrm>
            <a:off x="25400" y="6111009"/>
            <a:ext cx="8051800" cy="381000"/>
          </a:xfrm>
          <a:prstGeom prst="roundRect">
            <a:avLst>
              <a:gd name="adj" fmla="val 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2000" dirty="0"/>
              <a:t>Sample Console Output if we </a:t>
            </a:r>
            <a:r>
              <a:rPr lang="en-IE" sz="2000" dirty="0">
                <a:solidFill>
                  <a:srgbClr val="FF0000"/>
                </a:solidFill>
              </a:rPr>
              <a:t>don’</a:t>
            </a:r>
            <a:r>
              <a:rPr lang="en-IE" sz="2000" dirty="0"/>
              <a:t>t have a </a:t>
            </a:r>
            <a:r>
              <a:rPr lang="en-IE" sz="2000" dirty="0" err="1"/>
              <a:t>toString</a:t>
            </a:r>
            <a:r>
              <a:rPr lang="en-IE" sz="2000" dirty="0"/>
              <a:t> written for GymMember: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9021BC8-ED83-C62C-3AEA-A7B700A2B7D3}"/>
              </a:ext>
            </a:extLst>
          </p:cNvPr>
          <p:cNvSpPr/>
          <p:nvPr/>
        </p:nvSpPr>
        <p:spPr>
          <a:xfrm>
            <a:off x="650631" y="1817309"/>
            <a:ext cx="8645770" cy="2554545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IE" sz="2000" dirty="0">
                <a:solidFill>
                  <a:srgbClr val="808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@Override</a:t>
            </a:r>
            <a:br>
              <a:rPr lang="en-IE" sz="2000" dirty="0">
                <a:solidFill>
                  <a:srgbClr val="808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IE" sz="20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public </a:t>
            </a: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String </a:t>
            </a:r>
            <a:r>
              <a:rPr lang="en-IE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toString</a:t>
            </a: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() {</a:t>
            </a:r>
            <a:b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IE" sz="20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  </a:t>
            </a:r>
            <a:r>
              <a:rPr lang="en-IE" sz="2000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name </a:t>
            </a: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+ </a:t>
            </a:r>
            <a:r>
              <a:rPr lang="en-IE" sz="2000" b="1" dirty="0">
                <a:solidFill>
                  <a:srgbClr val="008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": " </a:t>
            </a: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+ </a:t>
            </a:r>
          </a:p>
          <a:p>
            <a:r>
              <a:rPr lang="en-IE" sz="2000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	height </a:t>
            </a: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+ </a:t>
            </a:r>
            <a:r>
              <a:rPr lang="en-IE" sz="2000" b="1" dirty="0">
                <a:solidFill>
                  <a:srgbClr val="008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"M, " </a:t>
            </a: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+ </a:t>
            </a:r>
          </a:p>
          <a:p>
            <a:r>
              <a:rPr lang="en-IE" sz="2000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	weight </a:t>
            </a: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+ </a:t>
            </a:r>
            <a:r>
              <a:rPr lang="en-IE" sz="2000" b="1" dirty="0">
                <a:solidFill>
                  <a:srgbClr val="008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"KG (Member </a:t>
            </a:r>
            <a:r>
              <a:rPr lang="en-IE" sz="2000" b="1" dirty="0" err="1">
                <a:solidFill>
                  <a:srgbClr val="008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Num</a:t>
            </a:r>
            <a:r>
              <a:rPr lang="en-IE" sz="2000" b="1" dirty="0">
                <a:solidFill>
                  <a:srgbClr val="008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 " </a:t>
            </a: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+ </a:t>
            </a:r>
          </a:p>
          <a:p>
            <a:r>
              <a:rPr lang="en-IE" sz="2000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	</a:t>
            </a:r>
            <a:r>
              <a:rPr lang="en-IE" sz="2000" b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membershipNumber</a:t>
            </a:r>
            <a:r>
              <a:rPr lang="en-IE" sz="2000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+ </a:t>
            </a:r>
            <a:r>
              <a:rPr lang="en-IE" sz="2000" b="1" dirty="0">
                <a:solidFill>
                  <a:srgbClr val="008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", current member: " </a:t>
            </a: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+ 		</a:t>
            </a:r>
            <a:r>
              <a:rPr lang="en-IE" sz="2000" b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isCurrentGymMember</a:t>
            </a:r>
            <a:r>
              <a:rPr lang="en-IE" sz="2000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+ </a:t>
            </a:r>
            <a:r>
              <a:rPr lang="en-IE" sz="2000" b="1" dirty="0">
                <a:solidFill>
                  <a:srgbClr val="008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")"</a:t>
            </a: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b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endParaRPr lang="en-US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EA03E25-FA7E-8A11-266A-7407A063172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58200" y="5920653"/>
            <a:ext cx="3124200" cy="66270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FA812D9-D142-7665-99D9-09B1D257C6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89400" y="4776974"/>
            <a:ext cx="7772400" cy="352789"/>
          </a:xfrm>
          <a:prstGeom prst="rect">
            <a:avLst/>
          </a:prstGeom>
        </p:spPr>
      </p:pic>
      <p:sp>
        <p:nvSpPr>
          <p:cNvPr id="5" name="Rectangle: Rounded Corners 5">
            <a:extLst>
              <a:ext uri="{FF2B5EF4-FFF2-40B4-BE49-F238E27FC236}">
                <a16:creationId xmlns:a16="http://schemas.microsoft.com/office/drawing/2014/main" id="{22F9D073-264C-068E-F537-AC7D5B311801}"/>
              </a:ext>
            </a:extLst>
          </p:cNvPr>
          <p:cNvSpPr/>
          <p:nvPr/>
        </p:nvSpPr>
        <p:spPr>
          <a:xfrm>
            <a:off x="0" y="4762868"/>
            <a:ext cx="3733800" cy="381000"/>
          </a:xfrm>
          <a:prstGeom prst="roundRect">
            <a:avLst>
              <a:gd name="adj" fmla="val 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2000" dirty="0"/>
              <a:t>Sample Console Output :</a:t>
            </a:r>
          </a:p>
        </p:txBody>
      </p:sp>
    </p:spTree>
    <p:extLst>
      <p:ext uri="{BB962C8B-B14F-4D97-AF65-F5344CB8AC3E}">
        <p14:creationId xmlns:p14="http://schemas.microsoft.com/office/powerpoint/2010/main" val="7917940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" presetClass="entr" presetSubtype="4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3" grpId="0" animBg="1"/>
      <p:bldP spid="5" grpId="0" animBg="1"/>
      <p:bldP spid="5" grpId="1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b="1" dirty="0"/>
              <a:t>toString()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600201"/>
            <a:ext cx="10972800" cy="3352800"/>
          </a:xfrm>
        </p:spPr>
        <p:txBody>
          <a:bodyPr>
            <a:normAutofit/>
          </a:bodyPr>
          <a:lstStyle/>
          <a:p>
            <a:r>
              <a:rPr lang="en-US" sz="2800" dirty="0"/>
              <a:t>This is a useful method and you will write a </a:t>
            </a:r>
            <a:r>
              <a:rPr lang="en-US" sz="2800" b="1" dirty="0"/>
              <a:t>toString</a:t>
            </a:r>
            <a:r>
              <a:rPr lang="en-US" sz="2800" dirty="0"/>
              <a:t>() method for most of your classes.</a:t>
            </a:r>
          </a:p>
          <a:p>
            <a:r>
              <a:rPr lang="en-IE" sz="2800" b="1" dirty="0"/>
              <a:t>When you print an object, Java automatically calls the toString() method </a:t>
            </a:r>
            <a:r>
              <a:rPr lang="en-IE" sz="2800" dirty="0"/>
              <a:t>e.g.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0" y="3962400"/>
            <a:ext cx="7391400" cy="1892826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IE" sz="2400" dirty="0" err="1">
                <a:solidFill>
                  <a:schemeClr val="tx1"/>
                </a:solidFill>
              </a:rPr>
              <a:t>GymMember</a:t>
            </a:r>
            <a:r>
              <a:rPr lang="en-IE" sz="2400" dirty="0">
                <a:solidFill>
                  <a:schemeClr val="tx1"/>
                </a:solidFill>
              </a:rPr>
              <a:t> </a:t>
            </a:r>
            <a:r>
              <a:rPr lang="en-IE" sz="2400" dirty="0" err="1">
                <a:solidFill>
                  <a:schemeClr val="tx1"/>
                </a:solidFill>
              </a:rPr>
              <a:t>gymMember</a:t>
            </a:r>
            <a:r>
              <a:rPr lang="en-IE" sz="2400" dirty="0">
                <a:solidFill>
                  <a:schemeClr val="tx1"/>
                </a:solidFill>
              </a:rPr>
              <a:t> = new </a:t>
            </a:r>
            <a:r>
              <a:rPr lang="en-IE" sz="2400" dirty="0" err="1">
                <a:solidFill>
                  <a:schemeClr val="tx1"/>
                </a:solidFill>
              </a:rPr>
              <a:t>GymMember</a:t>
            </a:r>
            <a:r>
              <a:rPr lang="en-IE" sz="2400" dirty="0">
                <a:solidFill>
                  <a:schemeClr val="tx1"/>
                </a:solidFill>
              </a:rPr>
              <a:t>();</a:t>
            </a:r>
          </a:p>
          <a:p>
            <a:endParaRPr lang="en-IE" sz="2100" dirty="0">
              <a:solidFill>
                <a:schemeClr val="tx1"/>
              </a:solidFill>
            </a:endParaRPr>
          </a:p>
          <a:p>
            <a:r>
              <a:rPr lang="en-IE" sz="2400" dirty="0">
                <a:solidFill>
                  <a:schemeClr val="bg1">
                    <a:lumMod val="50000"/>
                  </a:schemeClr>
                </a:solidFill>
              </a:rPr>
              <a:t>//both of these lines of code do the same thing</a:t>
            </a:r>
          </a:p>
          <a:p>
            <a:r>
              <a:rPr lang="en-IE" sz="2400" dirty="0" err="1">
                <a:solidFill>
                  <a:schemeClr val="tx1"/>
                </a:solidFill>
              </a:rPr>
              <a:t>System.out.println</a:t>
            </a:r>
            <a:r>
              <a:rPr lang="en-IE" sz="2400" dirty="0">
                <a:solidFill>
                  <a:schemeClr val="tx1"/>
                </a:solidFill>
              </a:rPr>
              <a:t>(</a:t>
            </a:r>
            <a:r>
              <a:rPr lang="en-IE" sz="2400" dirty="0" err="1">
                <a:solidFill>
                  <a:schemeClr val="tx1"/>
                </a:solidFill>
              </a:rPr>
              <a:t>gymMember</a:t>
            </a:r>
            <a:r>
              <a:rPr lang="en-IE" sz="2400" dirty="0">
                <a:solidFill>
                  <a:schemeClr val="tx1"/>
                </a:solidFill>
              </a:rPr>
              <a:t>);</a:t>
            </a:r>
          </a:p>
          <a:p>
            <a:r>
              <a:rPr lang="en-IE" sz="2400" dirty="0" err="1">
                <a:solidFill>
                  <a:schemeClr val="tx1"/>
                </a:solidFill>
              </a:rPr>
              <a:t>System.out.println</a:t>
            </a:r>
            <a:r>
              <a:rPr lang="en-IE" sz="2400" dirty="0">
                <a:solidFill>
                  <a:schemeClr val="tx1"/>
                </a:solidFill>
              </a:rPr>
              <a:t>(</a:t>
            </a:r>
            <a:r>
              <a:rPr lang="en-IE" sz="2400" dirty="0" err="1">
                <a:solidFill>
                  <a:schemeClr val="tx1"/>
                </a:solidFill>
              </a:rPr>
              <a:t>gymMember.toString</a:t>
            </a:r>
            <a:r>
              <a:rPr lang="en-IE" sz="2400" dirty="0">
                <a:solidFill>
                  <a:schemeClr val="tx1"/>
                </a:solidFill>
              </a:rPr>
              <a:t>());</a:t>
            </a:r>
          </a:p>
        </p:txBody>
      </p:sp>
    </p:spTree>
    <p:extLst>
      <p:ext uri="{BB962C8B-B14F-4D97-AF65-F5344CB8AC3E}">
        <p14:creationId xmlns:p14="http://schemas.microsoft.com/office/powerpoint/2010/main" val="4447881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7464614" y="1783959"/>
            <a:ext cx="4087306" cy="2889114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4400" dirty="0" err="1"/>
              <a:t>Encapsulationrecap</a:t>
            </a:r>
            <a:endParaRPr lang="en-US" sz="4400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>
          <a:xfrm>
            <a:off x="7464612" y="4750893"/>
            <a:ext cx="4087305" cy="1147863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en-US" dirty="0" err="1">
                <a:solidFill>
                  <a:schemeClr val="tx1"/>
                </a:solidFill>
              </a:rPr>
              <a:t>GymMember</a:t>
            </a:r>
            <a:endParaRPr lang="en-US" dirty="0">
              <a:solidFill>
                <a:schemeClr val="tx1"/>
              </a:solidFill>
            </a:endParaRPr>
          </a:p>
        </p:txBody>
      </p:sp>
      <p:pic>
        <p:nvPicPr>
          <p:cNvPr id="3" name="Picture 2" descr="Icon&#10;&#10;Description automatically generated">
            <a:extLst>
              <a:ext uri="{FF2B5EF4-FFF2-40B4-BE49-F238E27FC236}">
                <a16:creationId xmlns:a16="http://schemas.microsoft.com/office/drawing/2014/main" id="{4AD37017-98E4-1911-3861-EDA1382ED7C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" b="2427"/>
          <a:stretch/>
        </p:blipFill>
        <p:spPr>
          <a:xfrm>
            <a:off x="1" y="10"/>
            <a:ext cx="7028495" cy="6857990"/>
          </a:xfrm>
          <a:custGeom>
            <a:avLst/>
            <a:gdLst/>
            <a:ahLst/>
            <a:cxnLst/>
            <a:rect l="l" t="t" r="r" b="b"/>
            <a:pathLst>
              <a:path w="7028495" h="6858000">
                <a:moveTo>
                  <a:pt x="0" y="0"/>
                </a:moveTo>
                <a:lnTo>
                  <a:pt x="6915668" y="0"/>
                </a:lnTo>
                <a:lnTo>
                  <a:pt x="6952411" y="219663"/>
                </a:lnTo>
                <a:cubicBezTo>
                  <a:pt x="7002551" y="569921"/>
                  <a:pt x="7028495" y="927986"/>
                  <a:pt x="7028495" y="1292112"/>
                </a:cubicBezTo>
                <a:cubicBezTo>
                  <a:pt x="7028495" y="3343346"/>
                  <a:pt x="6205186" y="5202289"/>
                  <a:pt x="4870994" y="6556512"/>
                </a:cubicBezTo>
                <a:lnTo>
                  <a:pt x="4556185" y="6858000"/>
                </a:lnTo>
                <a:lnTo>
                  <a:pt x="0" y="6858000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224982047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Encapsulation in Java </a:t>
            </a:r>
            <a:r>
              <a:rPr lang="mr-IN" dirty="0"/>
              <a:t>–</a:t>
            </a:r>
            <a:r>
              <a:rPr lang="en-IE" dirty="0"/>
              <a:t> </a:t>
            </a:r>
            <a:r>
              <a:rPr lang="en-IE" b="1" dirty="0"/>
              <a:t>steps 1-3</a:t>
            </a:r>
          </a:p>
        </p:txBody>
      </p:sp>
      <p:sp>
        <p:nvSpPr>
          <p:cNvPr id="4" name="Rectangle 3"/>
          <p:cNvSpPr/>
          <p:nvPr/>
        </p:nvSpPr>
        <p:spPr>
          <a:xfrm>
            <a:off x="1676400" y="6488668"/>
            <a:ext cx="7299158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IE" dirty="0">
                <a:hlinkClick r:id="rId2"/>
              </a:rPr>
              <a:t>http://www.tutorialspoint.com/java/java_encapsulation.htm</a:t>
            </a:r>
            <a:r>
              <a:rPr lang="en-IE" dirty="0"/>
              <a:t> 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69548714"/>
              </p:ext>
            </p:extLst>
          </p:nvPr>
        </p:nvGraphicFramePr>
        <p:xfrm>
          <a:off x="914400" y="1597062"/>
          <a:ext cx="10439400" cy="2632038"/>
        </p:xfrm>
        <a:graphic>
          <a:graphicData uri="http://schemas.openxmlformats.org/drawingml/2006/table">
            <a:tbl>
              <a:tblPr firstRow="1" bandRow="1">
                <a:tableStyleId>{9DCAF9ED-07DC-4A11-8D7F-57B35C25682E}</a:tableStyleId>
              </a:tblPr>
              <a:tblGrid>
                <a:gridCol w="4800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63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28918">
                <a:tc>
                  <a:txBody>
                    <a:bodyPr/>
                    <a:lstStyle/>
                    <a:p>
                      <a:pPr marL="0" marR="0" lvl="1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2400" dirty="0"/>
                        <a:t>Encapsulation Step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dirty="0"/>
                        <a:t>Approach</a:t>
                      </a:r>
                      <a:r>
                        <a:rPr lang="en-IE" sz="2400" baseline="0" dirty="0"/>
                        <a:t> in Java</a:t>
                      </a:r>
                      <a:endParaRPr lang="en-IE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18982"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2400" dirty="0"/>
                        <a:t>1. </a:t>
                      </a:r>
                      <a:r>
                        <a:rPr lang="en-IE" sz="2400" b="1" dirty="0">
                          <a:solidFill>
                            <a:srgbClr val="00B050"/>
                          </a:solidFill>
                        </a:rPr>
                        <a:t>Wrap</a:t>
                      </a:r>
                      <a:r>
                        <a:rPr lang="en-IE" sz="2400" dirty="0"/>
                        <a:t> the data (fields) and code acting on the data (methods) together as single unit.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eaLnBrk="1" hangingPunct="1"/>
                      <a:r>
                        <a:rPr lang="en-US" sz="2200" b="1" dirty="0">
                          <a:solidFill>
                            <a:schemeClr val="tx1"/>
                          </a:solidFill>
                          <a:latin typeface="Courier New" pitchFamily="49" charset="0"/>
                          <a:cs typeface="Times" pitchFamily="-32" charset="0"/>
                        </a:rPr>
                        <a:t>public</a:t>
                      </a:r>
                      <a:r>
                        <a:rPr lang="en-US" sz="2200" dirty="0">
                          <a:solidFill>
                            <a:schemeClr val="tx1"/>
                          </a:solidFill>
                          <a:latin typeface="Courier New" pitchFamily="49" charset="0"/>
                          <a:cs typeface="Times" pitchFamily="-32" charset="0"/>
                        </a:rPr>
                        <a:t> class </a:t>
                      </a:r>
                      <a:r>
                        <a:rPr lang="en-US" sz="2200" i="1" dirty="0" err="1">
                          <a:solidFill>
                            <a:schemeClr val="tx1"/>
                          </a:solidFill>
                          <a:latin typeface="Courier New" pitchFamily="49" charset="0"/>
                          <a:cs typeface="Times" pitchFamily="-32" charset="0"/>
                        </a:rPr>
                        <a:t>ClassName</a:t>
                      </a:r>
                      <a:endParaRPr lang="en-US" sz="2200" dirty="0">
                        <a:solidFill>
                          <a:schemeClr val="tx1"/>
                        </a:solidFill>
                        <a:latin typeface="Courier New" pitchFamily="49" charset="0"/>
                        <a:cs typeface="Times" pitchFamily="-32" charset="0"/>
                      </a:endParaRPr>
                    </a:p>
                    <a:p>
                      <a:pPr algn="l" eaLnBrk="1" hangingPunct="1"/>
                      <a:r>
                        <a:rPr lang="en-US" sz="2200" dirty="0">
                          <a:solidFill>
                            <a:schemeClr val="tx1"/>
                          </a:solidFill>
                          <a:latin typeface="Courier New" pitchFamily="49" charset="0"/>
                          <a:cs typeface="Times" pitchFamily="-32" charset="0"/>
                        </a:rPr>
                        <a:t>{</a:t>
                      </a:r>
                    </a:p>
                    <a:p>
                      <a:pPr algn="l" eaLnBrk="1" hangingPunct="1"/>
                      <a:r>
                        <a:rPr lang="en-US" sz="2200" dirty="0">
                          <a:solidFill>
                            <a:schemeClr val="tx1"/>
                          </a:solidFill>
                          <a:latin typeface="Courier New" pitchFamily="49" charset="0"/>
                          <a:cs typeface="Times" pitchFamily="-32" charset="0"/>
                        </a:rPr>
                        <a:t>  </a:t>
                      </a:r>
                      <a:r>
                        <a:rPr lang="en-US" sz="2200" b="0" dirty="0">
                          <a:solidFill>
                            <a:schemeClr val="tx1"/>
                          </a:solidFill>
                          <a:latin typeface="Courier New" pitchFamily="49" charset="0"/>
                          <a:cs typeface="Times" pitchFamily="-32" charset="0"/>
                        </a:rPr>
                        <a:t>  </a:t>
                      </a:r>
                      <a:r>
                        <a:rPr lang="en-US" sz="2200" b="0" i="1" dirty="0">
                          <a:solidFill>
                            <a:schemeClr val="tx1"/>
                          </a:solidFill>
                          <a:latin typeface="Courier New" pitchFamily="49" charset="0"/>
                          <a:cs typeface="Times" pitchFamily="-32" charset="0"/>
                        </a:rPr>
                        <a:t>Fields</a:t>
                      </a:r>
                      <a:endParaRPr lang="en-US" sz="2200" b="0" dirty="0">
                        <a:solidFill>
                          <a:schemeClr val="tx1"/>
                        </a:solidFill>
                        <a:latin typeface="Courier New" pitchFamily="49" charset="0"/>
                        <a:cs typeface="Times" pitchFamily="-32" charset="0"/>
                      </a:endParaRPr>
                    </a:p>
                    <a:p>
                      <a:pPr algn="l" eaLnBrk="1" hangingPunct="1"/>
                      <a:r>
                        <a:rPr lang="en-US" sz="2200" b="0" i="1" dirty="0">
                          <a:solidFill>
                            <a:schemeClr val="tx1"/>
                          </a:solidFill>
                          <a:latin typeface="Courier New" pitchFamily="49" charset="0"/>
                          <a:cs typeface="Times" pitchFamily="-32" charset="0"/>
                        </a:rPr>
                        <a:t>  </a:t>
                      </a:r>
                      <a:r>
                        <a:rPr lang="en-US" sz="2200" i="1" dirty="0">
                          <a:solidFill>
                            <a:schemeClr val="tx1"/>
                          </a:solidFill>
                          <a:latin typeface="Courier New" pitchFamily="49" charset="0"/>
                          <a:cs typeface="Times" pitchFamily="-32" charset="0"/>
                        </a:rPr>
                        <a:t>  Constructors</a:t>
                      </a:r>
                      <a:endParaRPr lang="en-US" sz="2200" dirty="0">
                        <a:solidFill>
                          <a:schemeClr val="tx1"/>
                        </a:solidFill>
                        <a:latin typeface="Courier New" pitchFamily="49" charset="0"/>
                        <a:cs typeface="Times" pitchFamily="-32" charset="0"/>
                      </a:endParaRPr>
                    </a:p>
                    <a:p>
                      <a:pPr algn="l" eaLnBrk="1" hangingPunct="1"/>
                      <a:r>
                        <a:rPr lang="en-US" sz="2200" i="1" dirty="0">
                          <a:solidFill>
                            <a:schemeClr val="tx1"/>
                          </a:solidFill>
                          <a:latin typeface="Courier New" pitchFamily="49" charset="0"/>
                          <a:cs typeface="Times" pitchFamily="-32" charset="0"/>
                        </a:rPr>
                        <a:t>    Methods</a:t>
                      </a:r>
                      <a:endParaRPr lang="en-US" sz="2200" dirty="0">
                        <a:solidFill>
                          <a:schemeClr val="tx1"/>
                        </a:solidFill>
                        <a:latin typeface="Courier New" pitchFamily="49" charset="0"/>
                        <a:cs typeface="Times" pitchFamily="-32" charset="0"/>
                      </a:endParaRPr>
                    </a:p>
                    <a:p>
                      <a:pPr algn="l" eaLnBrk="1" hangingPunct="1"/>
                      <a:r>
                        <a:rPr lang="en-US" sz="2200" dirty="0">
                          <a:solidFill>
                            <a:schemeClr val="tx1"/>
                          </a:solidFill>
                          <a:latin typeface="Courier New" pitchFamily="49" charset="0"/>
                          <a:cs typeface="Times" pitchFamily="-32" charset="0"/>
                        </a:rPr>
                        <a:t>}</a:t>
                      </a:r>
                      <a:r>
                        <a:rPr lang="en-US" sz="2200" dirty="0">
                          <a:solidFill>
                            <a:schemeClr val="tx1"/>
                          </a:solidFill>
                          <a:latin typeface="Courier New" pitchFamily="49" charset="0"/>
                        </a:rPr>
                        <a:t> 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1137358"/>
              </p:ext>
            </p:extLst>
          </p:nvPr>
        </p:nvGraphicFramePr>
        <p:xfrm>
          <a:off x="914400" y="4275248"/>
          <a:ext cx="10439400" cy="925606"/>
        </p:xfrm>
        <a:graphic>
          <a:graphicData uri="http://schemas.openxmlformats.org/drawingml/2006/table">
            <a:tbl>
              <a:tblPr bandRow="1">
                <a:tableStyleId>{9DCAF9ED-07DC-4A11-8D7F-57B35C25682E}</a:tableStyleId>
              </a:tblPr>
              <a:tblGrid>
                <a:gridCol w="4800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63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925606"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2400" dirty="0"/>
                        <a:t>2. </a:t>
                      </a:r>
                      <a:r>
                        <a:rPr lang="en-IE" sz="2400" b="1" kern="1200" dirty="0">
                          <a:solidFill>
                            <a:srgbClr val="00B050"/>
                          </a:solidFill>
                          <a:latin typeface="+mn-lt"/>
                          <a:ea typeface="+mn-ea"/>
                          <a:cs typeface="+mn-cs"/>
                        </a:rPr>
                        <a:t>Hide</a:t>
                      </a:r>
                      <a:r>
                        <a:rPr lang="en-IE" sz="2400" dirty="0"/>
                        <a:t> </a:t>
                      </a:r>
                      <a:r>
                        <a:rPr lang="en-IE" sz="2400" b="0" dirty="0"/>
                        <a:t>the fields from other classes</a:t>
                      </a:r>
                      <a:r>
                        <a:rPr lang="en-IE" sz="2400" dirty="0"/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2400" b="1" dirty="0"/>
                        <a:t>Declare the fields of a class as </a:t>
                      </a:r>
                      <a:r>
                        <a:rPr lang="en-IE" sz="2400" b="1" u="sng" dirty="0"/>
                        <a:t>private</a:t>
                      </a:r>
                      <a:r>
                        <a:rPr lang="en-IE" sz="2400" dirty="0"/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79207554"/>
              </p:ext>
            </p:extLst>
          </p:nvPr>
        </p:nvGraphicFramePr>
        <p:xfrm>
          <a:off x="913434" y="5258332"/>
          <a:ext cx="10439399" cy="925606"/>
        </p:xfrm>
        <a:graphic>
          <a:graphicData uri="http://schemas.openxmlformats.org/drawingml/2006/table">
            <a:tbl>
              <a:tblPr bandRow="1">
                <a:tableStyleId>{9DCAF9ED-07DC-4A11-8D7F-57B35C25682E}</a:tableStyleId>
              </a:tblPr>
              <a:tblGrid>
                <a:gridCol w="48015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6378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925606"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2400" dirty="0"/>
                        <a:t>3. </a:t>
                      </a:r>
                      <a:r>
                        <a:rPr lang="en-IE" sz="2400" b="1" kern="1200" dirty="0">
                          <a:solidFill>
                            <a:srgbClr val="00B050"/>
                          </a:solidFill>
                        </a:rPr>
                        <a:t>Access</a:t>
                      </a:r>
                      <a:r>
                        <a:rPr lang="en-IE" sz="2400" dirty="0">
                          <a:solidFill>
                            <a:srgbClr val="00B050"/>
                          </a:solidFill>
                        </a:rPr>
                        <a:t> </a:t>
                      </a:r>
                      <a:r>
                        <a:rPr lang="en-IE" sz="2400" dirty="0"/>
                        <a:t>the fields only through the methods of their current class.</a:t>
                      </a:r>
                      <a:endParaRPr lang="en-IE" sz="2400" b="0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2400" b="1" dirty="0"/>
                        <a:t>Provide </a:t>
                      </a:r>
                      <a:r>
                        <a:rPr lang="en-IE" sz="2400" b="1" u="sng" dirty="0"/>
                        <a:t>public</a:t>
                      </a:r>
                      <a:r>
                        <a:rPr lang="en-IE" sz="2400" b="1" dirty="0"/>
                        <a:t> set</a:t>
                      </a:r>
                      <a:r>
                        <a:rPr lang="en-IE" sz="2400" b="0" dirty="0"/>
                        <a:t>ter</a:t>
                      </a:r>
                      <a:r>
                        <a:rPr lang="en-IE" sz="2400" b="1" dirty="0"/>
                        <a:t> and get</a:t>
                      </a:r>
                      <a:r>
                        <a:rPr lang="en-IE" sz="2400" b="0" dirty="0"/>
                        <a:t>ter</a:t>
                      </a:r>
                      <a:r>
                        <a:rPr lang="en-IE" sz="2400" b="1" dirty="0"/>
                        <a:t> </a:t>
                      </a:r>
                      <a:r>
                        <a:rPr lang="en-IE" sz="2400" dirty="0"/>
                        <a:t>methods to modify and view the fields values.</a:t>
                      </a:r>
                      <a:endParaRPr lang="en-IE" sz="2400" b="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26054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066B465-E755-4676-8780-BB1C885065D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357915"/>
              </p:ext>
            </p:extLst>
          </p:nvPr>
        </p:nvGraphicFramePr>
        <p:xfrm>
          <a:off x="1687288" y="1600200"/>
          <a:ext cx="3200400" cy="1920240"/>
        </p:xfrm>
        <a:graphic>
          <a:graphicData uri="http://schemas.openxmlformats.org/drawingml/2006/table">
            <a:tbl>
              <a:tblPr bandRow="1">
                <a:tableStyleId>{9DCAF9ED-07DC-4A11-8D7F-57B35C25682E}</a:tableStyleId>
              </a:tblPr>
              <a:tblGrid>
                <a:gridCol w="3200400">
                  <a:extLst>
                    <a:ext uri="{9D8B030D-6E8A-4147-A177-3AD203B41FA5}">
                      <a16:colId xmlns:a16="http://schemas.microsoft.com/office/drawing/2014/main" val="2565615140"/>
                    </a:ext>
                  </a:extLst>
                </a:gridCol>
              </a:tblGrid>
              <a:tr h="1718982"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2400" dirty="0"/>
                        <a:t>1. </a:t>
                      </a:r>
                      <a:r>
                        <a:rPr lang="en-IE" sz="2400" dirty="0" err="1"/>
                        <a:t>GymMember</a:t>
                      </a:r>
                      <a:r>
                        <a:rPr lang="en-IE" sz="2400" dirty="0"/>
                        <a:t> class </a:t>
                      </a:r>
                      <a:r>
                        <a:rPr lang="en-IE" sz="2400" b="1" dirty="0">
                          <a:solidFill>
                            <a:srgbClr val="00B050"/>
                          </a:solidFill>
                        </a:rPr>
                        <a:t>wraps</a:t>
                      </a:r>
                      <a:r>
                        <a:rPr lang="en-IE" sz="2400" dirty="0"/>
                        <a:t> the data (fields) and code acting on the data (methods) together as </a:t>
                      </a:r>
                      <a:r>
                        <a:rPr lang="en-IE" sz="2400" b="1" dirty="0"/>
                        <a:t>single unit</a:t>
                      </a:r>
                      <a:r>
                        <a:rPr lang="en-IE" sz="2400" dirty="0"/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20573825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sz="3600" dirty="0"/>
              <a:t>A </a:t>
            </a:r>
            <a:r>
              <a:rPr lang="en-IE" sz="3600" dirty="0" err="1"/>
              <a:t>GymMember</a:t>
            </a:r>
            <a:r>
              <a:rPr lang="en-IE" sz="3600" dirty="0"/>
              <a:t> Class… </a:t>
            </a:r>
            <a:r>
              <a:rPr lang="en-IE" sz="3600" b="1" dirty="0"/>
              <a:t>An Encapsulated Class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CAF85218-656B-4CCB-AF71-567D93EFDB37}"/>
              </a:ext>
            </a:extLst>
          </p:cNvPr>
          <p:cNvCxnSpPr>
            <a:cxnSpLocks/>
          </p:cNvCxnSpPr>
          <p:nvPr/>
        </p:nvCxnSpPr>
        <p:spPr>
          <a:xfrm>
            <a:off x="4887688" y="3276600"/>
            <a:ext cx="1122063" cy="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39422FAF-5E54-0470-D55C-F8DC20E4B589}"/>
              </a:ext>
            </a:extLst>
          </p:cNvPr>
          <p:cNvSpPr/>
          <p:nvPr/>
        </p:nvSpPr>
        <p:spPr>
          <a:xfrm>
            <a:off x="6009751" y="1610092"/>
            <a:ext cx="4494961" cy="501771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8E61FA9-337A-6650-A7D4-18C0E4AF5A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1522" y="1582783"/>
            <a:ext cx="4407878" cy="50170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11635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B06BA4E7-AF34-8523-2D81-D2F6C37977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9751" y="1622278"/>
            <a:ext cx="4495800" cy="5117079"/>
          </a:xfrm>
          <a:prstGeom prst="rect">
            <a:avLst/>
          </a:prstGeom>
        </p:spPr>
      </p:pic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066B465-E755-4676-8780-BB1C885065D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85210758"/>
              </p:ext>
            </p:extLst>
          </p:nvPr>
        </p:nvGraphicFramePr>
        <p:xfrm>
          <a:off x="1687288" y="1600200"/>
          <a:ext cx="3200400" cy="1920240"/>
        </p:xfrm>
        <a:graphic>
          <a:graphicData uri="http://schemas.openxmlformats.org/drawingml/2006/table">
            <a:tbl>
              <a:tblPr bandRow="1">
                <a:tableStyleId>{9DCAF9ED-07DC-4A11-8D7F-57B35C25682E}</a:tableStyleId>
              </a:tblPr>
              <a:tblGrid>
                <a:gridCol w="3200400">
                  <a:extLst>
                    <a:ext uri="{9D8B030D-6E8A-4147-A177-3AD203B41FA5}">
                      <a16:colId xmlns:a16="http://schemas.microsoft.com/office/drawing/2014/main" val="2565615140"/>
                    </a:ext>
                  </a:extLst>
                </a:gridCol>
              </a:tblGrid>
              <a:tr h="1718982"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2400" dirty="0"/>
                        <a:t>1. </a:t>
                      </a:r>
                      <a:r>
                        <a:rPr lang="en-IE" sz="2400" dirty="0" err="1"/>
                        <a:t>GymMember</a:t>
                      </a:r>
                      <a:r>
                        <a:rPr lang="en-IE" sz="2400" dirty="0"/>
                        <a:t> class </a:t>
                      </a:r>
                      <a:r>
                        <a:rPr lang="en-IE" sz="2400" b="1" dirty="0">
                          <a:solidFill>
                            <a:srgbClr val="FF0000"/>
                          </a:solidFill>
                        </a:rPr>
                        <a:t>wraps</a:t>
                      </a:r>
                      <a:r>
                        <a:rPr lang="en-IE" sz="2400" dirty="0"/>
                        <a:t> the data (fields) and code acting on the data (methods) together as </a:t>
                      </a:r>
                      <a:r>
                        <a:rPr lang="en-IE" sz="2400" b="1" dirty="0"/>
                        <a:t>single unit</a:t>
                      </a:r>
                      <a:r>
                        <a:rPr lang="en-IE" sz="2400" dirty="0"/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20573825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sz="3600" dirty="0"/>
              <a:t>A </a:t>
            </a:r>
            <a:r>
              <a:rPr lang="en-IE" sz="3600" dirty="0" err="1"/>
              <a:t>GymMember</a:t>
            </a:r>
            <a:r>
              <a:rPr lang="en-IE" sz="3600" dirty="0"/>
              <a:t> Class… </a:t>
            </a:r>
            <a:r>
              <a:rPr lang="en-IE" sz="3600" b="1" dirty="0"/>
              <a:t>An Encapsulated Class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CAF85218-656B-4CCB-AF71-567D93EFDB37}"/>
              </a:ext>
            </a:extLst>
          </p:cNvPr>
          <p:cNvCxnSpPr>
            <a:cxnSpLocks/>
          </p:cNvCxnSpPr>
          <p:nvPr/>
        </p:nvCxnSpPr>
        <p:spPr>
          <a:xfrm>
            <a:off x="4887688" y="3276600"/>
            <a:ext cx="1122063" cy="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39422FAF-5E54-0470-D55C-F8DC20E4B589}"/>
              </a:ext>
            </a:extLst>
          </p:cNvPr>
          <p:cNvSpPr/>
          <p:nvPr/>
        </p:nvSpPr>
        <p:spPr>
          <a:xfrm>
            <a:off x="6023862" y="1622277"/>
            <a:ext cx="4495800" cy="511707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EAD9702E-D09A-1A9D-FAFF-C4A28133557E}"/>
              </a:ext>
            </a:extLst>
          </p:cNvPr>
          <p:cNvGraphicFramePr>
            <a:graphicFrameLocks noGrp="1"/>
          </p:cNvGraphicFramePr>
          <p:nvPr/>
        </p:nvGraphicFramePr>
        <p:xfrm>
          <a:off x="1687288" y="3824328"/>
          <a:ext cx="3200400" cy="925606"/>
        </p:xfrm>
        <a:graphic>
          <a:graphicData uri="http://schemas.openxmlformats.org/drawingml/2006/table">
            <a:tbl>
              <a:tblPr bandRow="1">
                <a:tableStyleId>{9DCAF9ED-07DC-4A11-8D7F-57B35C25682E}</a:tableStyleId>
              </a:tblPr>
              <a:tblGrid>
                <a:gridCol w="3200400">
                  <a:extLst>
                    <a:ext uri="{9D8B030D-6E8A-4147-A177-3AD203B41FA5}">
                      <a16:colId xmlns:a16="http://schemas.microsoft.com/office/drawing/2014/main" val="2565615140"/>
                    </a:ext>
                  </a:extLst>
                </a:gridCol>
              </a:tblGrid>
              <a:tr h="925606"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2400" dirty="0"/>
                        <a:t>2. Fields are </a:t>
                      </a:r>
                      <a:r>
                        <a:rPr lang="en-IE" sz="2400" b="1" kern="1200" dirty="0">
                          <a:solidFill>
                            <a:srgbClr val="00B050"/>
                          </a:solidFill>
                          <a:latin typeface="+mn-lt"/>
                          <a:ea typeface="+mn-ea"/>
                          <a:cs typeface="+mn-cs"/>
                        </a:rPr>
                        <a:t>hidden</a:t>
                      </a:r>
                      <a:r>
                        <a:rPr lang="en-IE" sz="2400" dirty="0"/>
                        <a:t> from other classes.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01464674"/>
                  </a:ext>
                </a:extLst>
              </a:tr>
            </a:tbl>
          </a:graphicData>
        </a:graphic>
      </p:graphicFrame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1741D938-D271-7F94-66F5-86534ABE30D5}"/>
              </a:ext>
            </a:extLst>
          </p:cNvPr>
          <p:cNvCxnSpPr>
            <a:cxnSpLocks/>
            <a:stCxn id="7" idx="3"/>
          </p:cNvCxnSpPr>
          <p:nvPr/>
        </p:nvCxnSpPr>
        <p:spPr>
          <a:xfrm flipV="1">
            <a:off x="4887688" y="2819400"/>
            <a:ext cx="1262997" cy="1467731"/>
          </a:xfrm>
          <a:prstGeom prst="straightConnector1">
            <a:avLst/>
          </a:prstGeom>
          <a:ln w="28575"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Donut 10">
            <a:extLst>
              <a:ext uri="{FF2B5EF4-FFF2-40B4-BE49-F238E27FC236}">
                <a16:creationId xmlns:a16="http://schemas.microsoft.com/office/drawing/2014/main" id="{6F89ED37-CCBD-9CC2-F359-B51DBF340194}"/>
              </a:ext>
            </a:extLst>
          </p:cNvPr>
          <p:cNvSpPr/>
          <p:nvPr/>
        </p:nvSpPr>
        <p:spPr>
          <a:xfrm>
            <a:off x="6023862" y="2254680"/>
            <a:ext cx="338813" cy="1522406"/>
          </a:xfrm>
          <a:prstGeom prst="donut">
            <a:avLst>
              <a:gd name="adj" fmla="val 1025"/>
            </a:avLst>
          </a:prstGeom>
          <a:solidFill>
            <a:srgbClr val="FF000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61725F8-77A8-D04B-E747-30A9ED808283}"/>
              </a:ext>
            </a:extLst>
          </p:cNvPr>
          <p:cNvSpPr/>
          <p:nvPr/>
        </p:nvSpPr>
        <p:spPr>
          <a:xfrm>
            <a:off x="6118578" y="2203077"/>
            <a:ext cx="4072613" cy="1317363"/>
          </a:xfrm>
          <a:prstGeom prst="rect">
            <a:avLst/>
          </a:prstGeom>
          <a:noFill/>
          <a:ln w="4445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8701878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500"/>
                            </p:stCondLst>
                            <p:childTnLst>
                              <p:par>
                                <p:cTn id="20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2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500"/>
                            </p:stCondLst>
                            <p:childTnLst>
                              <p:par>
                                <p:cTn id="24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6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5F259F8A-5060-28F7-1C4B-C8E968E7CF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5764" y="1745723"/>
            <a:ext cx="4518948" cy="5143426"/>
          </a:xfrm>
          <a:prstGeom prst="rect">
            <a:avLst/>
          </a:prstGeom>
        </p:spPr>
      </p:pic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066B465-E755-4676-8780-BB1C885065D6}"/>
              </a:ext>
            </a:extLst>
          </p:cNvPr>
          <p:cNvGraphicFramePr>
            <a:graphicFrameLocks noGrp="1"/>
          </p:cNvGraphicFramePr>
          <p:nvPr/>
        </p:nvGraphicFramePr>
        <p:xfrm>
          <a:off x="1687288" y="1600200"/>
          <a:ext cx="3200400" cy="1920240"/>
        </p:xfrm>
        <a:graphic>
          <a:graphicData uri="http://schemas.openxmlformats.org/drawingml/2006/table">
            <a:tbl>
              <a:tblPr bandRow="1">
                <a:tableStyleId>{9DCAF9ED-07DC-4A11-8D7F-57B35C25682E}</a:tableStyleId>
              </a:tblPr>
              <a:tblGrid>
                <a:gridCol w="3200400">
                  <a:extLst>
                    <a:ext uri="{9D8B030D-6E8A-4147-A177-3AD203B41FA5}">
                      <a16:colId xmlns:a16="http://schemas.microsoft.com/office/drawing/2014/main" val="2565615140"/>
                    </a:ext>
                  </a:extLst>
                </a:gridCol>
              </a:tblGrid>
              <a:tr h="1718982"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2400" dirty="0"/>
                        <a:t>1. </a:t>
                      </a:r>
                      <a:r>
                        <a:rPr lang="en-IE" sz="2400" dirty="0" err="1"/>
                        <a:t>GymMember</a:t>
                      </a:r>
                      <a:r>
                        <a:rPr lang="en-IE" sz="2400" dirty="0"/>
                        <a:t> class </a:t>
                      </a:r>
                      <a:r>
                        <a:rPr lang="en-IE" sz="2400" b="1" dirty="0">
                          <a:solidFill>
                            <a:srgbClr val="FF0000"/>
                          </a:solidFill>
                        </a:rPr>
                        <a:t>wraps</a:t>
                      </a:r>
                      <a:r>
                        <a:rPr lang="en-IE" sz="2400" dirty="0"/>
                        <a:t> the data (fields) and code acting on the data (methods) together as </a:t>
                      </a:r>
                      <a:r>
                        <a:rPr lang="en-IE" sz="2400" b="1" dirty="0"/>
                        <a:t>single unit</a:t>
                      </a:r>
                      <a:r>
                        <a:rPr lang="en-IE" sz="2400" dirty="0"/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20573825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sz="3600" dirty="0"/>
              <a:t>A </a:t>
            </a:r>
            <a:r>
              <a:rPr lang="en-IE" sz="3600" dirty="0" err="1"/>
              <a:t>GymMember</a:t>
            </a:r>
            <a:r>
              <a:rPr lang="en-IE" sz="3600" dirty="0"/>
              <a:t> Class… </a:t>
            </a:r>
            <a:r>
              <a:rPr lang="en-IE" sz="3600" b="1" dirty="0"/>
              <a:t>An Encapsulated Class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CAF85218-656B-4CCB-AF71-567D93EFDB37}"/>
              </a:ext>
            </a:extLst>
          </p:cNvPr>
          <p:cNvCxnSpPr>
            <a:cxnSpLocks/>
          </p:cNvCxnSpPr>
          <p:nvPr/>
        </p:nvCxnSpPr>
        <p:spPr>
          <a:xfrm>
            <a:off x="4887688" y="3276600"/>
            <a:ext cx="1122063" cy="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39422FAF-5E54-0470-D55C-F8DC20E4B589}"/>
              </a:ext>
            </a:extLst>
          </p:cNvPr>
          <p:cNvSpPr/>
          <p:nvPr/>
        </p:nvSpPr>
        <p:spPr>
          <a:xfrm>
            <a:off x="6019627" y="1858161"/>
            <a:ext cx="4518949" cy="507603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EAD9702E-D09A-1A9D-FAFF-C4A28133557E}"/>
              </a:ext>
            </a:extLst>
          </p:cNvPr>
          <p:cNvGraphicFramePr>
            <a:graphicFrameLocks noGrp="1"/>
          </p:cNvGraphicFramePr>
          <p:nvPr/>
        </p:nvGraphicFramePr>
        <p:xfrm>
          <a:off x="1687288" y="3824328"/>
          <a:ext cx="3200400" cy="925606"/>
        </p:xfrm>
        <a:graphic>
          <a:graphicData uri="http://schemas.openxmlformats.org/drawingml/2006/table">
            <a:tbl>
              <a:tblPr bandRow="1">
                <a:tableStyleId>{9DCAF9ED-07DC-4A11-8D7F-57B35C25682E}</a:tableStyleId>
              </a:tblPr>
              <a:tblGrid>
                <a:gridCol w="3200400">
                  <a:extLst>
                    <a:ext uri="{9D8B030D-6E8A-4147-A177-3AD203B41FA5}">
                      <a16:colId xmlns:a16="http://schemas.microsoft.com/office/drawing/2014/main" val="2565615140"/>
                    </a:ext>
                  </a:extLst>
                </a:gridCol>
              </a:tblGrid>
              <a:tr h="925606"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2400" dirty="0"/>
                        <a:t>2. Fields are </a:t>
                      </a:r>
                      <a:r>
                        <a:rPr lang="en-IE" sz="2400" b="1" kern="1200" dirty="0">
                          <a:solidFill>
                            <a:srgbClr val="00B050"/>
                          </a:solidFill>
                          <a:latin typeface="+mn-lt"/>
                          <a:ea typeface="+mn-ea"/>
                          <a:cs typeface="+mn-cs"/>
                        </a:rPr>
                        <a:t>hidden</a:t>
                      </a:r>
                      <a:r>
                        <a:rPr lang="en-IE" sz="2400" dirty="0"/>
                        <a:t> from other classes.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01464674"/>
                  </a:ext>
                </a:extLst>
              </a:tr>
            </a:tbl>
          </a:graphicData>
        </a:graphic>
      </p:graphicFrame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1741D938-D271-7F94-66F5-86534ABE30D5}"/>
              </a:ext>
            </a:extLst>
          </p:cNvPr>
          <p:cNvCxnSpPr>
            <a:cxnSpLocks/>
            <a:stCxn id="7" idx="3"/>
          </p:cNvCxnSpPr>
          <p:nvPr/>
        </p:nvCxnSpPr>
        <p:spPr>
          <a:xfrm flipV="1">
            <a:off x="4887688" y="3619174"/>
            <a:ext cx="1286042" cy="667957"/>
          </a:xfrm>
          <a:prstGeom prst="straightConnector1">
            <a:avLst/>
          </a:prstGeom>
          <a:ln w="28575"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Donut 10">
            <a:extLst>
              <a:ext uri="{FF2B5EF4-FFF2-40B4-BE49-F238E27FC236}">
                <a16:creationId xmlns:a16="http://schemas.microsoft.com/office/drawing/2014/main" id="{6F89ED37-CCBD-9CC2-F359-B51DBF340194}"/>
              </a:ext>
            </a:extLst>
          </p:cNvPr>
          <p:cNvSpPr/>
          <p:nvPr/>
        </p:nvSpPr>
        <p:spPr>
          <a:xfrm>
            <a:off x="5985764" y="2505612"/>
            <a:ext cx="338836" cy="1265052"/>
          </a:xfrm>
          <a:prstGeom prst="donut">
            <a:avLst>
              <a:gd name="adj" fmla="val 1025"/>
            </a:avLst>
          </a:prstGeom>
          <a:solidFill>
            <a:srgbClr val="FF000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61725F8-77A8-D04B-E747-30A9ED808283}"/>
              </a:ext>
            </a:extLst>
          </p:cNvPr>
          <p:cNvSpPr/>
          <p:nvPr/>
        </p:nvSpPr>
        <p:spPr>
          <a:xfrm>
            <a:off x="6051781" y="2329874"/>
            <a:ext cx="4072613" cy="1317363"/>
          </a:xfrm>
          <a:prstGeom prst="rect">
            <a:avLst/>
          </a:prstGeom>
          <a:noFill/>
          <a:ln w="4445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F6B92D67-D74E-3B77-4142-62E7DDB0D0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684867"/>
              </p:ext>
            </p:extLst>
          </p:nvPr>
        </p:nvGraphicFramePr>
        <p:xfrm>
          <a:off x="1687288" y="5181600"/>
          <a:ext cx="3200400" cy="1554480"/>
        </p:xfrm>
        <a:graphic>
          <a:graphicData uri="http://schemas.openxmlformats.org/drawingml/2006/table">
            <a:tbl>
              <a:tblPr bandRow="1">
                <a:tableStyleId>{9DCAF9ED-07DC-4A11-8D7F-57B35C25682E}</a:tableStyleId>
              </a:tblPr>
              <a:tblGrid>
                <a:gridCol w="3200400">
                  <a:extLst>
                    <a:ext uri="{9D8B030D-6E8A-4147-A177-3AD203B41FA5}">
                      <a16:colId xmlns:a16="http://schemas.microsoft.com/office/drawing/2014/main" val="2565615140"/>
                    </a:ext>
                  </a:extLst>
                </a:gridCol>
              </a:tblGrid>
              <a:tr h="1322294"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2400" dirty="0"/>
                        <a:t>3. </a:t>
                      </a:r>
                      <a:r>
                        <a:rPr lang="en-IE" sz="2400" b="1" kern="1200" dirty="0">
                          <a:solidFill>
                            <a:srgbClr val="0070C0"/>
                          </a:solidFill>
                          <a:latin typeface="+mn-lt"/>
                          <a:ea typeface="+mn-ea"/>
                          <a:cs typeface="+mn-cs"/>
                        </a:rPr>
                        <a:t>Access</a:t>
                      </a:r>
                      <a:r>
                        <a:rPr lang="en-IE" sz="2400" dirty="0"/>
                        <a:t> the fields only through the methods of Product (e.g. </a:t>
                      </a:r>
                      <a:r>
                        <a:rPr lang="en-IE" sz="2400" b="1" dirty="0"/>
                        <a:t>get</a:t>
                      </a:r>
                      <a:r>
                        <a:rPr lang="en-IE" sz="2400" dirty="0"/>
                        <a:t>ter and </a:t>
                      </a:r>
                      <a:r>
                        <a:rPr lang="en-IE" sz="2400" b="1" dirty="0"/>
                        <a:t>set</a:t>
                      </a:r>
                      <a:r>
                        <a:rPr lang="en-IE" sz="2400" dirty="0"/>
                        <a:t>ter methods). 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26987298"/>
                  </a:ext>
                </a:extLst>
              </a:tr>
            </a:tbl>
          </a:graphicData>
        </a:graphic>
      </p:graphicFrame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BC30A716-7D7A-89FE-2044-EFDC651F9F1D}"/>
              </a:ext>
            </a:extLst>
          </p:cNvPr>
          <p:cNvCxnSpPr>
            <a:cxnSpLocks/>
          </p:cNvCxnSpPr>
          <p:nvPr/>
        </p:nvCxnSpPr>
        <p:spPr>
          <a:xfrm flipV="1">
            <a:off x="4887688" y="5135563"/>
            <a:ext cx="1098076" cy="884237"/>
          </a:xfrm>
          <a:prstGeom prst="straightConnector1">
            <a:avLst/>
          </a:prstGeom>
          <a:ln w="28575">
            <a:solidFill>
              <a:srgbClr val="0070C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a16:creationId xmlns:a16="http://schemas.microsoft.com/office/drawing/2014/main" id="{9E84D071-866B-467E-FA08-9A102890BD88}"/>
              </a:ext>
            </a:extLst>
          </p:cNvPr>
          <p:cNvSpPr/>
          <p:nvPr/>
        </p:nvSpPr>
        <p:spPr>
          <a:xfrm>
            <a:off x="5985764" y="4211187"/>
            <a:ext cx="4138630" cy="2586606"/>
          </a:xfrm>
          <a:prstGeom prst="rect">
            <a:avLst/>
          </a:prstGeom>
          <a:noFill/>
          <a:ln w="444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708607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500"/>
                            </p:stCondLst>
                            <p:childTnLst>
                              <p:par>
                                <p:cTn id="20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2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500"/>
                            </p:stCondLst>
                            <p:childTnLst>
                              <p:par>
                                <p:cTn id="24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6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500"/>
                            </p:stCondLst>
                            <p:childTnLst>
                              <p:par>
                                <p:cTn id="36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38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4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7464614" y="1783959"/>
            <a:ext cx="4087306" cy="2889114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4400" dirty="0"/>
              <a:t>User I/O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>
          <a:xfrm>
            <a:off x="7464612" y="4750893"/>
            <a:ext cx="4087305" cy="1147863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en-US" dirty="0">
                <a:solidFill>
                  <a:schemeClr val="tx1"/>
                </a:solidFill>
              </a:rPr>
              <a:t>Driver</a:t>
            </a:r>
          </a:p>
        </p:txBody>
      </p:sp>
      <p:pic>
        <p:nvPicPr>
          <p:cNvPr id="3" name="Picture 2" descr="Icon&#10;&#10;Description automatically generated">
            <a:extLst>
              <a:ext uri="{FF2B5EF4-FFF2-40B4-BE49-F238E27FC236}">
                <a16:creationId xmlns:a16="http://schemas.microsoft.com/office/drawing/2014/main" id="{4AD37017-98E4-1911-3861-EDA1382ED7C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" b="2427"/>
          <a:stretch/>
        </p:blipFill>
        <p:spPr>
          <a:xfrm>
            <a:off x="1" y="10"/>
            <a:ext cx="7028495" cy="6857990"/>
          </a:xfrm>
          <a:custGeom>
            <a:avLst/>
            <a:gdLst/>
            <a:ahLst/>
            <a:cxnLst/>
            <a:rect l="l" t="t" r="r" b="b"/>
            <a:pathLst>
              <a:path w="7028495" h="6858000">
                <a:moveTo>
                  <a:pt x="0" y="0"/>
                </a:moveTo>
                <a:lnTo>
                  <a:pt x="6915668" y="0"/>
                </a:lnTo>
                <a:lnTo>
                  <a:pt x="6952411" y="219663"/>
                </a:lnTo>
                <a:cubicBezTo>
                  <a:pt x="7002551" y="569921"/>
                  <a:pt x="7028495" y="927986"/>
                  <a:pt x="7028495" y="1292112"/>
                </a:cubicBezTo>
                <a:cubicBezTo>
                  <a:pt x="7028495" y="3343346"/>
                  <a:pt x="6205186" y="5202289"/>
                  <a:pt x="4870994" y="6556512"/>
                </a:cubicBezTo>
                <a:lnTo>
                  <a:pt x="4556185" y="6858000"/>
                </a:lnTo>
                <a:lnTo>
                  <a:pt x="0" y="6858000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301338310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Using the </a:t>
            </a:r>
            <a:r>
              <a:rPr lang="en-IE" dirty="0" err="1"/>
              <a:t>GymMember</a:t>
            </a:r>
            <a:r>
              <a:rPr lang="en-IE" dirty="0"/>
              <a:t> Class</a:t>
            </a: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F7638F2C-4F3A-4740-B1F7-98694765C1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5800" y="1642209"/>
            <a:ext cx="5374341" cy="400110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0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private </a:t>
            </a:r>
            <a:r>
              <a:rPr lang="en-US" altLang="en-US" sz="200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GymMember</a:t>
            </a:r>
            <a:r>
              <a:rPr lang="en-US" altLang="en-US" sz="20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en-US" sz="2000" b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gymMember</a:t>
            </a:r>
            <a:r>
              <a:rPr lang="en-US" altLang="en-US" sz="20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55A02A5-FBE3-4BFD-A937-751A496B5248}"/>
              </a:ext>
            </a:extLst>
          </p:cNvPr>
          <p:cNvSpPr txBox="1"/>
          <p:nvPr/>
        </p:nvSpPr>
        <p:spPr>
          <a:xfrm>
            <a:off x="685799" y="2348003"/>
            <a:ext cx="5374341" cy="769441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2200" dirty="0"/>
              <a:t>Declaring an object </a:t>
            </a:r>
            <a:r>
              <a:rPr lang="en-IE" sz="2200" b="1" dirty="0" err="1">
                <a:solidFill>
                  <a:srgbClr val="7030A0"/>
                </a:solidFill>
              </a:rPr>
              <a:t>gymMember</a:t>
            </a:r>
            <a:r>
              <a:rPr lang="en-IE" sz="2200" dirty="0"/>
              <a:t>, of type </a:t>
            </a:r>
            <a:r>
              <a:rPr lang="en-IE" sz="2200" b="1" dirty="0" err="1">
                <a:solidFill>
                  <a:srgbClr val="C00000"/>
                </a:solidFill>
              </a:rPr>
              <a:t>GymMember</a:t>
            </a:r>
            <a:r>
              <a:rPr lang="en-IE" sz="2200" dirty="0"/>
              <a:t>.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01E86991-78E0-40A7-9D7A-068BB348EFE2}"/>
              </a:ext>
            </a:extLst>
          </p:cNvPr>
          <p:cNvCxnSpPr>
            <a:cxnSpLocks/>
            <a:stCxn id="24" idx="0"/>
            <a:endCxn id="7" idx="2"/>
          </p:cNvCxnSpPr>
          <p:nvPr/>
        </p:nvCxnSpPr>
        <p:spPr>
          <a:xfrm flipV="1">
            <a:off x="3372970" y="2042319"/>
            <a:ext cx="1" cy="305684"/>
          </a:xfrm>
          <a:prstGeom prst="straightConnector1">
            <a:avLst/>
          </a:prstGeom>
          <a:ln w="38100">
            <a:solidFill>
              <a:schemeClr val="bg1">
                <a:lumMod val="5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 10">
            <a:extLst>
              <a:ext uri="{FF2B5EF4-FFF2-40B4-BE49-F238E27FC236}">
                <a16:creationId xmlns:a16="http://schemas.microsoft.com/office/drawing/2014/main" id="{DC93C307-7E7D-4619-BD7C-341559638F1F}"/>
              </a:ext>
            </a:extLst>
          </p:cNvPr>
          <p:cNvSpPr/>
          <p:nvPr/>
        </p:nvSpPr>
        <p:spPr>
          <a:xfrm>
            <a:off x="457200" y="1333757"/>
            <a:ext cx="457200" cy="411162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/>
              <a:t>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65C9017-7322-2713-33F7-50B2A81E8B15}"/>
              </a:ext>
            </a:extLst>
          </p:cNvPr>
          <p:cNvSpPr txBox="1"/>
          <p:nvPr/>
        </p:nvSpPr>
        <p:spPr>
          <a:xfrm>
            <a:off x="9202153" y="1798686"/>
            <a:ext cx="19812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E" sz="2400" dirty="0" err="1">
                <a:solidFill>
                  <a:srgbClr val="7030A0"/>
                </a:solidFill>
              </a:rPr>
              <a:t>gymMember</a:t>
            </a:r>
            <a:endParaRPr lang="en-IE" sz="2400" dirty="0">
              <a:solidFill>
                <a:srgbClr val="7030A0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131CE37-E245-4DD9-518D-99AD607A0482}"/>
              </a:ext>
            </a:extLst>
          </p:cNvPr>
          <p:cNvSpPr/>
          <p:nvPr/>
        </p:nvSpPr>
        <p:spPr>
          <a:xfrm>
            <a:off x="9659353" y="2287244"/>
            <a:ext cx="952500" cy="52322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IE" sz="2800" dirty="0"/>
              <a:t>null</a:t>
            </a:r>
          </a:p>
        </p:txBody>
      </p:sp>
    </p:spTree>
    <p:extLst>
      <p:ext uri="{BB962C8B-B14F-4D97-AF65-F5344CB8AC3E}">
        <p14:creationId xmlns:p14="http://schemas.microsoft.com/office/powerpoint/2010/main" val="206600150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Using the </a:t>
            </a:r>
            <a:r>
              <a:rPr lang="en-IE" dirty="0" err="1"/>
              <a:t>GymMember</a:t>
            </a:r>
            <a:r>
              <a:rPr lang="en-IE" dirty="0"/>
              <a:t> Class</a:t>
            </a: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F7638F2C-4F3A-4740-B1F7-98694765C1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5800" y="1642209"/>
            <a:ext cx="5374341" cy="400110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0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private </a:t>
            </a:r>
            <a:r>
              <a:rPr lang="en-US" altLang="en-US" sz="200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GymMember</a:t>
            </a:r>
            <a:r>
              <a:rPr lang="en-US" altLang="en-US" sz="20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en-US" sz="2000" b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gymMember</a:t>
            </a:r>
            <a:r>
              <a:rPr lang="en-US" altLang="en-US" sz="20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55A02A5-FBE3-4BFD-A937-751A496B5248}"/>
              </a:ext>
            </a:extLst>
          </p:cNvPr>
          <p:cNvSpPr txBox="1"/>
          <p:nvPr/>
        </p:nvSpPr>
        <p:spPr>
          <a:xfrm>
            <a:off x="685799" y="2348003"/>
            <a:ext cx="5374341" cy="769441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2200" dirty="0"/>
              <a:t>Declaring an object </a:t>
            </a:r>
            <a:r>
              <a:rPr lang="en-IE" sz="2200" b="1" dirty="0" err="1">
                <a:solidFill>
                  <a:srgbClr val="7030A0"/>
                </a:solidFill>
              </a:rPr>
              <a:t>gymMember</a:t>
            </a:r>
            <a:r>
              <a:rPr lang="en-IE" sz="2200" dirty="0"/>
              <a:t>, of type </a:t>
            </a:r>
            <a:r>
              <a:rPr lang="en-IE" sz="2200" b="1" dirty="0" err="1">
                <a:solidFill>
                  <a:srgbClr val="C00000"/>
                </a:solidFill>
              </a:rPr>
              <a:t>GymMember</a:t>
            </a:r>
            <a:r>
              <a:rPr lang="en-IE" sz="2200" dirty="0"/>
              <a:t>.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01E86991-78E0-40A7-9D7A-068BB348EFE2}"/>
              </a:ext>
            </a:extLst>
          </p:cNvPr>
          <p:cNvCxnSpPr>
            <a:cxnSpLocks/>
            <a:stCxn id="24" idx="0"/>
            <a:endCxn id="7" idx="2"/>
          </p:cNvCxnSpPr>
          <p:nvPr/>
        </p:nvCxnSpPr>
        <p:spPr>
          <a:xfrm flipV="1">
            <a:off x="3372970" y="2042319"/>
            <a:ext cx="1" cy="305684"/>
          </a:xfrm>
          <a:prstGeom prst="straightConnector1">
            <a:avLst/>
          </a:prstGeom>
          <a:ln w="38100">
            <a:solidFill>
              <a:schemeClr val="bg1">
                <a:lumMod val="5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 10">
            <a:extLst>
              <a:ext uri="{FF2B5EF4-FFF2-40B4-BE49-F238E27FC236}">
                <a16:creationId xmlns:a16="http://schemas.microsoft.com/office/drawing/2014/main" id="{DC93C307-7E7D-4619-BD7C-341559638F1F}"/>
              </a:ext>
            </a:extLst>
          </p:cNvPr>
          <p:cNvSpPr/>
          <p:nvPr/>
        </p:nvSpPr>
        <p:spPr>
          <a:xfrm>
            <a:off x="457200" y="1333757"/>
            <a:ext cx="457200" cy="411162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BF64D5C-75CB-4A03-B126-E4A08DBBB495}"/>
              </a:ext>
            </a:extLst>
          </p:cNvPr>
          <p:cNvSpPr txBox="1"/>
          <p:nvPr/>
        </p:nvSpPr>
        <p:spPr>
          <a:xfrm>
            <a:off x="9202153" y="1798686"/>
            <a:ext cx="19812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E" sz="2400" dirty="0" err="1">
                <a:solidFill>
                  <a:srgbClr val="7030A0"/>
                </a:solidFill>
              </a:rPr>
              <a:t>gymMember</a:t>
            </a:r>
            <a:endParaRPr lang="en-IE" sz="2400" dirty="0">
              <a:solidFill>
                <a:srgbClr val="7030A0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E6CE7FB0-63B1-4809-A8C1-48C339B20821}"/>
              </a:ext>
            </a:extLst>
          </p:cNvPr>
          <p:cNvSpPr/>
          <p:nvPr/>
        </p:nvSpPr>
        <p:spPr>
          <a:xfrm>
            <a:off x="9659353" y="2287244"/>
            <a:ext cx="952500" cy="52322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endParaRPr lang="en-IE" sz="2800" dirty="0"/>
          </a:p>
        </p:txBody>
      </p:sp>
      <p:sp>
        <p:nvSpPr>
          <p:cNvPr id="9" name="Rectangle 2">
            <a:extLst>
              <a:ext uri="{FF2B5EF4-FFF2-40B4-BE49-F238E27FC236}">
                <a16:creationId xmlns:a16="http://schemas.microsoft.com/office/drawing/2014/main" id="{E61B6DCC-18CF-18CB-CFFC-96F2B7E9C6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5800" y="3523324"/>
            <a:ext cx="8610600" cy="369332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b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gymMember</a:t>
            </a:r>
            <a:r>
              <a:rPr lang="en-US" altLang="en-US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 </a:t>
            </a:r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new </a:t>
            </a:r>
            <a:r>
              <a:rPr lang="en-US" altLang="en-US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GymMember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(“Joe Soap”, 1.8, 175, 12001, true);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DB6FC94-2A2E-A550-D013-05AB8190D4C0}"/>
              </a:ext>
            </a:extLst>
          </p:cNvPr>
          <p:cNvSpPr txBox="1"/>
          <p:nvPr/>
        </p:nvSpPr>
        <p:spPr>
          <a:xfrm>
            <a:off x="685800" y="4677177"/>
            <a:ext cx="3352800" cy="1446550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2200" dirty="0"/>
              <a:t>Calls the </a:t>
            </a:r>
            <a:r>
              <a:rPr lang="en-IE" sz="2200" b="1" dirty="0" err="1">
                <a:solidFill>
                  <a:srgbClr val="FF0000"/>
                </a:solidFill>
              </a:rPr>
              <a:t>GymMember</a:t>
            </a:r>
            <a:r>
              <a:rPr lang="en-IE" sz="2200" b="1" dirty="0">
                <a:solidFill>
                  <a:srgbClr val="FF0000"/>
                </a:solidFill>
              </a:rPr>
              <a:t> </a:t>
            </a:r>
            <a:r>
              <a:rPr lang="en-IE" sz="2200" i="1" dirty="0"/>
              <a:t>constructor</a:t>
            </a:r>
            <a:r>
              <a:rPr lang="en-IE" sz="2200" dirty="0"/>
              <a:t> to build the </a:t>
            </a:r>
            <a:r>
              <a:rPr lang="en-IE" sz="2200" b="1" dirty="0" err="1">
                <a:solidFill>
                  <a:srgbClr val="7030A0"/>
                </a:solidFill>
              </a:rPr>
              <a:t>gymMember</a:t>
            </a:r>
            <a:r>
              <a:rPr lang="en-IE" sz="2200" b="1" dirty="0">
                <a:solidFill>
                  <a:srgbClr val="FF0000"/>
                </a:solidFill>
              </a:rPr>
              <a:t> </a:t>
            </a:r>
            <a:r>
              <a:rPr lang="en-IE" sz="2200" dirty="0"/>
              <a:t>object in memory.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98D43B48-1E46-177E-8182-81FA3ABE24D8}"/>
              </a:ext>
            </a:extLst>
          </p:cNvPr>
          <p:cNvCxnSpPr>
            <a:cxnSpLocks/>
            <a:stCxn id="10" idx="0"/>
          </p:cNvCxnSpPr>
          <p:nvPr/>
        </p:nvCxnSpPr>
        <p:spPr>
          <a:xfrm flipH="1" flipV="1">
            <a:off x="2338138" y="3873981"/>
            <a:ext cx="24062" cy="803196"/>
          </a:xfrm>
          <a:prstGeom prst="straightConnector1">
            <a:avLst/>
          </a:prstGeom>
          <a:ln w="38100">
            <a:solidFill>
              <a:schemeClr val="bg1">
                <a:lumMod val="5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E99B3B1F-44D9-2F7E-868A-728AEEDE1D28}"/>
              </a:ext>
            </a:extLst>
          </p:cNvPr>
          <p:cNvSpPr/>
          <p:nvPr/>
        </p:nvSpPr>
        <p:spPr>
          <a:xfrm>
            <a:off x="381000" y="3276600"/>
            <a:ext cx="457200" cy="411162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/>
              <a:t>2</a:t>
            </a:r>
          </a:p>
        </p:txBody>
      </p:sp>
      <p:sp>
        <p:nvSpPr>
          <p:cNvPr id="15" name="Rounded Rectangle 11">
            <a:extLst>
              <a:ext uri="{FF2B5EF4-FFF2-40B4-BE49-F238E27FC236}">
                <a16:creationId xmlns:a16="http://schemas.microsoft.com/office/drawing/2014/main" id="{E55F4301-B9C0-EFFB-F26A-4DD824C411E3}"/>
              </a:ext>
            </a:extLst>
          </p:cNvPr>
          <p:cNvSpPr/>
          <p:nvPr/>
        </p:nvSpPr>
        <p:spPr>
          <a:xfrm>
            <a:off x="7924800" y="3937357"/>
            <a:ext cx="4114800" cy="2811052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A50E3B3-7AC2-BE40-BFF6-FAB632E2B8E1}"/>
              </a:ext>
            </a:extLst>
          </p:cNvPr>
          <p:cNvSpPr txBox="1"/>
          <p:nvPr/>
        </p:nvSpPr>
        <p:spPr>
          <a:xfrm>
            <a:off x="8001000" y="4496772"/>
            <a:ext cx="2057400" cy="33855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name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58A897E-3DBE-252B-A595-6FA50BE137E0}"/>
              </a:ext>
            </a:extLst>
          </p:cNvPr>
          <p:cNvSpPr txBox="1"/>
          <p:nvPr/>
        </p:nvSpPr>
        <p:spPr>
          <a:xfrm>
            <a:off x="8001000" y="4940579"/>
            <a:ext cx="2057400" cy="33855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height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7AFA196-3F56-0CEC-9D55-7FE8279754B1}"/>
              </a:ext>
            </a:extLst>
          </p:cNvPr>
          <p:cNvSpPr txBox="1"/>
          <p:nvPr/>
        </p:nvSpPr>
        <p:spPr>
          <a:xfrm>
            <a:off x="10208879" y="4518248"/>
            <a:ext cx="1648326" cy="33855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“Joe Soap”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79D3D98-CE7A-409E-43D7-5D411272D416}"/>
              </a:ext>
            </a:extLst>
          </p:cNvPr>
          <p:cNvSpPr txBox="1"/>
          <p:nvPr/>
        </p:nvSpPr>
        <p:spPr>
          <a:xfrm>
            <a:off x="10208879" y="4962055"/>
            <a:ext cx="861889" cy="33855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1.8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F3C692F-20DE-D2FE-9029-784D3A4024E4}"/>
              </a:ext>
            </a:extLst>
          </p:cNvPr>
          <p:cNvSpPr txBox="1"/>
          <p:nvPr/>
        </p:nvSpPr>
        <p:spPr>
          <a:xfrm>
            <a:off x="9234237" y="3992868"/>
            <a:ext cx="1648326" cy="40011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IE" sz="2000" dirty="0" err="1"/>
              <a:t>gymMember</a:t>
            </a:r>
            <a:endParaRPr lang="en-IE" sz="2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E3C8B58-3C6D-2D9E-6E4D-77EB2DCF2271}"/>
              </a:ext>
            </a:extLst>
          </p:cNvPr>
          <p:cNvSpPr txBox="1"/>
          <p:nvPr/>
        </p:nvSpPr>
        <p:spPr>
          <a:xfrm>
            <a:off x="8001001" y="5397779"/>
            <a:ext cx="2034997" cy="33855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weight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1234B88-8CCA-932C-77CB-22596114F50C}"/>
              </a:ext>
            </a:extLst>
          </p:cNvPr>
          <p:cNvSpPr txBox="1"/>
          <p:nvPr/>
        </p:nvSpPr>
        <p:spPr>
          <a:xfrm>
            <a:off x="10184816" y="5419255"/>
            <a:ext cx="861889" cy="33855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175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558E6DA-0CBF-73E5-3312-C23943CDCFCB}"/>
              </a:ext>
            </a:extLst>
          </p:cNvPr>
          <p:cNvSpPr txBox="1"/>
          <p:nvPr/>
        </p:nvSpPr>
        <p:spPr>
          <a:xfrm>
            <a:off x="8001001" y="5834131"/>
            <a:ext cx="2034997" cy="33855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 err="1"/>
              <a:t>membershipNumber</a:t>
            </a:r>
            <a:endParaRPr lang="en-IE" sz="16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AA19CB4-2003-00A0-167E-3349A5A7860F}"/>
              </a:ext>
            </a:extLst>
          </p:cNvPr>
          <p:cNvSpPr txBox="1"/>
          <p:nvPr/>
        </p:nvSpPr>
        <p:spPr>
          <a:xfrm>
            <a:off x="10175851" y="5834009"/>
            <a:ext cx="871228" cy="33855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12001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C159D2B-D703-61F0-6103-1B3E7A2749C0}"/>
              </a:ext>
            </a:extLst>
          </p:cNvPr>
          <p:cNvSpPr txBox="1"/>
          <p:nvPr/>
        </p:nvSpPr>
        <p:spPr>
          <a:xfrm>
            <a:off x="8003296" y="6248320"/>
            <a:ext cx="2034997" cy="33855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 err="1"/>
              <a:t>isCurrentGymMember</a:t>
            </a:r>
            <a:endParaRPr lang="en-IE" sz="16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3B1FF5D-DB20-0DE4-1DC7-DC3D3AB2A45F}"/>
              </a:ext>
            </a:extLst>
          </p:cNvPr>
          <p:cNvSpPr txBox="1"/>
          <p:nvPr/>
        </p:nvSpPr>
        <p:spPr>
          <a:xfrm>
            <a:off x="10187111" y="6269796"/>
            <a:ext cx="861889" cy="33855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true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3F907B77-D9C9-05BE-EFB4-ED8A861D475E}"/>
              </a:ext>
            </a:extLst>
          </p:cNvPr>
          <p:cNvCxnSpPr>
            <a:cxnSpLocks/>
          </p:cNvCxnSpPr>
          <p:nvPr/>
        </p:nvCxnSpPr>
        <p:spPr>
          <a:xfrm>
            <a:off x="10134600" y="2494089"/>
            <a:ext cx="58153" cy="1498779"/>
          </a:xfrm>
          <a:prstGeom prst="straightConnector1">
            <a:avLst/>
          </a:prstGeom>
          <a:ln w="38100">
            <a:solidFill>
              <a:schemeClr val="tx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4286665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Multiple </a:t>
            </a:r>
            <a:r>
              <a:rPr lang="en-IE" dirty="0" err="1"/>
              <a:t>GymMember</a:t>
            </a:r>
            <a:r>
              <a:rPr lang="en-IE" dirty="0"/>
              <a:t> objects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BF64D5C-75CB-4A03-B126-E4A08DBBB495}"/>
              </a:ext>
            </a:extLst>
          </p:cNvPr>
          <p:cNvSpPr txBox="1"/>
          <p:nvPr/>
        </p:nvSpPr>
        <p:spPr>
          <a:xfrm>
            <a:off x="902368" y="2614562"/>
            <a:ext cx="19812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E" sz="2400" dirty="0" err="1">
                <a:solidFill>
                  <a:srgbClr val="7030A0"/>
                </a:solidFill>
              </a:rPr>
              <a:t>gymMember</a:t>
            </a:r>
            <a:endParaRPr lang="en-IE" sz="2400" dirty="0">
              <a:solidFill>
                <a:srgbClr val="7030A0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E6CE7FB0-63B1-4809-A8C1-48C339B20821}"/>
              </a:ext>
            </a:extLst>
          </p:cNvPr>
          <p:cNvSpPr/>
          <p:nvPr/>
        </p:nvSpPr>
        <p:spPr>
          <a:xfrm>
            <a:off x="1466850" y="3104218"/>
            <a:ext cx="952500" cy="52322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endParaRPr lang="en-IE" sz="2800" dirty="0"/>
          </a:p>
        </p:txBody>
      </p:sp>
      <p:sp>
        <p:nvSpPr>
          <p:cNvPr id="9" name="Rectangle 2">
            <a:extLst>
              <a:ext uri="{FF2B5EF4-FFF2-40B4-BE49-F238E27FC236}">
                <a16:creationId xmlns:a16="http://schemas.microsoft.com/office/drawing/2014/main" id="{E61B6DCC-18CF-18CB-CFFC-96F2B7E9C6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600" y="1535668"/>
            <a:ext cx="10972800" cy="369332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private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en-US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GymMember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en-US" b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gymMember</a:t>
            </a:r>
            <a:r>
              <a:rPr lang="en-US" altLang="en-US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 </a:t>
            </a:r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new </a:t>
            </a:r>
            <a:r>
              <a:rPr lang="en-US" altLang="en-US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GymMember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(“Joe Soap”, 1.8, 175, 12001, true);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15" name="Rounded Rectangle 11">
            <a:extLst>
              <a:ext uri="{FF2B5EF4-FFF2-40B4-BE49-F238E27FC236}">
                <a16:creationId xmlns:a16="http://schemas.microsoft.com/office/drawing/2014/main" id="{E55F4301-B9C0-EFFB-F26A-4DD824C411E3}"/>
              </a:ext>
            </a:extLst>
          </p:cNvPr>
          <p:cNvSpPr/>
          <p:nvPr/>
        </p:nvSpPr>
        <p:spPr>
          <a:xfrm>
            <a:off x="838200" y="3894548"/>
            <a:ext cx="4114800" cy="2811052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A50E3B3-7AC2-BE40-BFF6-FAB632E2B8E1}"/>
              </a:ext>
            </a:extLst>
          </p:cNvPr>
          <p:cNvSpPr txBox="1"/>
          <p:nvPr/>
        </p:nvSpPr>
        <p:spPr>
          <a:xfrm>
            <a:off x="914400" y="4453963"/>
            <a:ext cx="2057400" cy="33855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name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58A897E-3DBE-252B-A595-6FA50BE137E0}"/>
              </a:ext>
            </a:extLst>
          </p:cNvPr>
          <p:cNvSpPr txBox="1"/>
          <p:nvPr/>
        </p:nvSpPr>
        <p:spPr>
          <a:xfrm>
            <a:off x="914400" y="4897770"/>
            <a:ext cx="2057400" cy="33855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height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7AFA196-3F56-0CEC-9D55-7FE8279754B1}"/>
              </a:ext>
            </a:extLst>
          </p:cNvPr>
          <p:cNvSpPr txBox="1"/>
          <p:nvPr/>
        </p:nvSpPr>
        <p:spPr>
          <a:xfrm>
            <a:off x="3122279" y="4475439"/>
            <a:ext cx="1648326" cy="33855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“Joe Soap”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79D3D98-CE7A-409E-43D7-5D411272D416}"/>
              </a:ext>
            </a:extLst>
          </p:cNvPr>
          <p:cNvSpPr txBox="1"/>
          <p:nvPr/>
        </p:nvSpPr>
        <p:spPr>
          <a:xfrm>
            <a:off x="3122279" y="4919246"/>
            <a:ext cx="861889" cy="33855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1.8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F3C692F-20DE-D2FE-9029-784D3A4024E4}"/>
              </a:ext>
            </a:extLst>
          </p:cNvPr>
          <p:cNvSpPr txBox="1"/>
          <p:nvPr/>
        </p:nvSpPr>
        <p:spPr>
          <a:xfrm>
            <a:off x="2147637" y="3950059"/>
            <a:ext cx="1648326" cy="40011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IE" sz="2000" dirty="0" err="1"/>
              <a:t>gymMember</a:t>
            </a:r>
            <a:endParaRPr lang="en-IE" sz="2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E3C8B58-3C6D-2D9E-6E4D-77EB2DCF2271}"/>
              </a:ext>
            </a:extLst>
          </p:cNvPr>
          <p:cNvSpPr txBox="1"/>
          <p:nvPr/>
        </p:nvSpPr>
        <p:spPr>
          <a:xfrm>
            <a:off x="914401" y="5354970"/>
            <a:ext cx="2034997" cy="33855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weight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1234B88-8CCA-932C-77CB-22596114F50C}"/>
              </a:ext>
            </a:extLst>
          </p:cNvPr>
          <p:cNvSpPr txBox="1"/>
          <p:nvPr/>
        </p:nvSpPr>
        <p:spPr>
          <a:xfrm>
            <a:off x="3098216" y="5376446"/>
            <a:ext cx="861889" cy="33855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175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558E6DA-0CBF-73E5-3312-C23943CDCFCB}"/>
              </a:ext>
            </a:extLst>
          </p:cNvPr>
          <p:cNvSpPr txBox="1"/>
          <p:nvPr/>
        </p:nvSpPr>
        <p:spPr>
          <a:xfrm>
            <a:off x="914401" y="5791322"/>
            <a:ext cx="2034997" cy="33855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 err="1"/>
              <a:t>membershipNumber</a:t>
            </a:r>
            <a:endParaRPr lang="en-IE" sz="16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AA19CB4-2003-00A0-167E-3349A5A7860F}"/>
              </a:ext>
            </a:extLst>
          </p:cNvPr>
          <p:cNvSpPr txBox="1"/>
          <p:nvPr/>
        </p:nvSpPr>
        <p:spPr>
          <a:xfrm>
            <a:off x="3089251" y="5791200"/>
            <a:ext cx="871228" cy="33855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12001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C159D2B-D703-61F0-6103-1B3E7A2749C0}"/>
              </a:ext>
            </a:extLst>
          </p:cNvPr>
          <p:cNvSpPr txBox="1"/>
          <p:nvPr/>
        </p:nvSpPr>
        <p:spPr>
          <a:xfrm>
            <a:off x="916696" y="6205511"/>
            <a:ext cx="2034997" cy="33855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 err="1"/>
              <a:t>isCurrentGymMember</a:t>
            </a:r>
            <a:endParaRPr lang="en-IE" sz="16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3B1FF5D-DB20-0DE4-1DC7-DC3D3AB2A45F}"/>
              </a:ext>
            </a:extLst>
          </p:cNvPr>
          <p:cNvSpPr txBox="1"/>
          <p:nvPr/>
        </p:nvSpPr>
        <p:spPr>
          <a:xfrm>
            <a:off x="3100511" y="6226987"/>
            <a:ext cx="861889" cy="33855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true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3F907B77-D9C9-05BE-EFB4-ED8A861D475E}"/>
              </a:ext>
            </a:extLst>
          </p:cNvPr>
          <p:cNvCxnSpPr>
            <a:cxnSpLocks/>
            <a:endCxn id="15" idx="0"/>
          </p:cNvCxnSpPr>
          <p:nvPr/>
        </p:nvCxnSpPr>
        <p:spPr>
          <a:xfrm>
            <a:off x="1943100" y="3402458"/>
            <a:ext cx="952500" cy="492090"/>
          </a:xfrm>
          <a:prstGeom prst="straightConnector1">
            <a:avLst/>
          </a:prstGeom>
          <a:ln w="38100">
            <a:solidFill>
              <a:schemeClr val="tx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1893274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Multiple </a:t>
            </a:r>
            <a:r>
              <a:rPr lang="en-IE" dirty="0" err="1"/>
              <a:t>GymMember</a:t>
            </a:r>
            <a:r>
              <a:rPr lang="en-IE" dirty="0"/>
              <a:t> objects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BF64D5C-75CB-4A03-B126-E4A08DBBB495}"/>
              </a:ext>
            </a:extLst>
          </p:cNvPr>
          <p:cNvSpPr txBox="1"/>
          <p:nvPr/>
        </p:nvSpPr>
        <p:spPr>
          <a:xfrm>
            <a:off x="902368" y="2614562"/>
            <a:ext cx="19812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E" sz="2400" dirty="0" err="1">
                <a:solidFill>
                  <a:srgbClr val="7030A0"/>
                </a:solidFill>
              </a:rPr>
              <a:t>gymMember</a:t>
            </a:r>
            <a:endParaRPr lang="en-IE" sz="2400" dirty="0">
              <a:solidFill>
                <a:srgbClr val="7030A0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E6CE7FB0-63B1-4809-A8C1-48C339B20821}"/>
              </a:ext>
            </a:extLst>
          </p:cNvPr>
          <p:cNvSpPr/>
          <p:nvPr/>
        </p:nvSpPr>
        <p:spPr>
          <a:xfrm>
            <a:off x="1466850" y="3104218"/>
            <a:ext cx="952500" cy="52322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endParaRPr lang="en-IE" sz="2800" dirty="0"/>
          </a:p>
        </p:txBody>
      </p:sp>
      <p:sp>
        <p:nvSpPr>
          <p:cNvPr id="15" name="Rounded Rectangle 11">
            <a:extLst>
              <a:ext uri="{FF2B5EF4-FFF2-40B4-BE49-F238E27FC236}">
                <a16:creationId xmlns:a16="http://schemas.microsoft.com/office/drawing/2014/main" id="{E55F4301-B9C0-EFFB-F26A-4DD824C411E3}"/>
              </a:ext>
            </a:extLst>
          </p:cNvPr>
          <p:cNvSpPr/>
          <p:nvPr/>
        </p:nvSpPr>
        <p:spPr>
          <a:xfrm>
            <a:off x="838200" y="3894548"/>
            <a:ext cx="4114800" cy="2811052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A50E3B3-7AC2-BE40-BFF6-FAB632E2B8E1}"/>
              </a:ext>
            </a:extLst>
          </p:cNvPr>
          <p:cNvSpPr txBox="1"/>
          <p:nvPr/>
        </p:nvSpPr>
        <p:spPr>
          <a:xfrm>
            <a:off x="914400" y="4453963"/>
            <a:ext cx="2057400" cy="33855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name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58A897E-3DBE-252B-A595-6FA50BE137E0}"/>
              </a:ext>
            </a:extLst>
          </p:cNvPr>
          <p:cNvSpPr txBox="1"/>
          <p:nvPr/>
        </p:nvSpPr>
        <p:spPr>
          <a:xfrm>
            <a:off x="914400" y="4897770"/>
            <a:ext cx="2057400" cy="33855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height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7AFA196-3F56-0CEC-9D55-7FE8279754B1}"/>
              </a:ext>
            </a:extLst>
          </p:cNvPr>
          <p:cNvSpPr txBox="1"/>
          <p:nvPr/>
        </p:nvSpPr>
        <p:spPr>
          <a:xfrm>
            <a:off x="3122279" y="4475439"/>
            <a:ext cx="1648326" cy="33855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“Joe Soap”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79D3D98-CE7A-409E-43D7-5D411272D416}"/>
              </a:ext>
            </a:extLst>
          </p:cNvPr>
          <p:cNvSpPr txBox="1"/>
          <p:nvPr/>
        </p:nvSpPr>
        <p:spPr>
          <a:xfrm>
            <a:off x="3122279" y="4919246"/>
            <a:ext cx="861889" cy="33855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1.8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F3C692F-20DE-D2FE-9029-784D3A4024E4}"/>
              </a:ext>
            </a:extLst>
          </p:cNvPr>
          <p:cNvSpPr txBox="1"/>
          <p:nvPr/>
        </p:nvSpPr>
        <p:spPr>
          <a:xfrm>
            <a:off x="2147637" y="3950059"/>
            <a:ext cx="1648326" cy="40011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IE" sz="2000" dirty="0" err="1"/>
              <a:t>gymMember</a:t>
            </a:r>
            <a:endParaRPr lang="en-IE" sz="2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E3C8B58-3C6D-2D9E-6E4D-77EB2DCF2271}"/>
              </a:ext>
            </a:extLst>
          </p:cNvPr>
          <p:cNvSpPr txBox="1"/>
          <p:nvPr/>
        </p:nvSpPr>
        <p:spPr>
          <a:xfrm>
            <a:off x="914401" y="5354970"/>
            <a:ext cx="2034997" cy="33855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weight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1234B88-8CCA-932C-77CB-22596114F50C}"/>
              </a:ext>
            </a:extLst>
          </p:cNvPr>
          <p:cNvSpPr txBox="1"/>
          <p:nvPr/>
        </p:nvSpPr>
        <p:spPr>
          <a:xfrm>
            <a:off x="3098216" y="5376446"/>
            <a:ext cx="861889" cy="33855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175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558E6DA-0CBF-73E5-3312-C23943CDCFCB}"/>
              </a:ext>
            </a:extLst>
          </p:cNvPr>
          <p:cNvSpPr txBox="1"/>
          <p:nvPr/>
        </p:nvSpPr>
        <p:spPr>
          <a:xfrm>
            <a:off x="914401" y="5791322"/>
            <a:ext cx="2034997" cy="33855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 err="1"/>
              <a:t>membershipNumber</a:t>
            </a:r>
            <a:endParaRPr lang="en-IE" sz="16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AA19CB4-2003-00A0-167E-3349A5A7860F}"/>
              </a:ext>
            </a:extLst>
          </p:cNvPr>
          <p:cNvSpPr txBox="1"/>
          <p:nvPr/>
        </p:nvSpPr>
        <p:spPr>
          <a:xfrm>
            <a:off x="3089251" y="5791200"/>
            <a:ext cx="871228" cy="33855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12001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C159D2B-D703-61F0-6103-1B3E7A2749C0}"/>
              </a:ext>
            </a:extLst>
          </p:cNvPr>
          <p:cNvSpPr txBox="1"/>
          <p:nvPr/>
        </p:nvSpPr>
        <p:spPr>
          <a:xfrm>
            <a:off x="916696" y="6205511"/>
            <a:ext cx="2034997" cy="33855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 err="1"/>
              <a:t>isCurrentGymMember</a:t>
            </a:r>
            <a:endParaRPr lang="en-IE" sz="16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3B1FF5D-DB20-0DE4-1DC7-DC3D3AB2A45F}"/>
              </a:ext>
            </a:extLst>
          </p:cNvPr>
          <p:cNvSpPr txBox="1"/>
          <p:nvPr/>
        </p:nvSpPr>
        <p:spPr>
          <a:xfrm>
            <a:off x="3100511" y="6226987"/>
            <a:ext cx="861889" cy="33855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true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3F907B77-D9C9-05BE-EFB4-ED8A861D475E}"/>
              </a:ext>
            </a:extLst>
          </p:cNvPr>
          <p:cNvCxnSpPr>
            <a:cxnSpLocks/>
            <a:endCxn id="15" idx="0"/>
          </p:cNvCxnSpPr>
          <p:nvPr/>
        </p:nvCxnSpPr>
        <p:spPr>
          <a:xfrm>
            <a:off x="1943100" y="3402458"/>
            <a:ext cx="952500" cy="492090"/>
          </a:xfrm>
          <a:prstGeom prst="straightConnector1">
            <a:avLst/>
          </a:prstGeom>
          <a:ln w="38100">
            <a:solidFill>
              <a:schemeClr val="tx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DBE2A4DF-F44C-EAE0-C906-DFF43A92015E}"/>
              </a:ext>
            </a:extLst>
          </p:cNvPr>
          <p:cNvSpPr txBox="1"/>
          <p:nvPr/>
        </p:nvSpPr>
        <p:spPr>
          <a:xfrm>
            <a:off x="5779168" y="2644724"/>
            <a:ext cx="19812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E" sz="2400" dirty="0">
                <a:solidFill>
                  <a:srgbClr val="7030A0"/>
                </a:solidFill>
              </a:rPr>
              <a:t>gymMember2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1C5D202-A3AF-2C66-ACA5-2576FFDAA536}"/>
              </a:ext>
            </a:extLst>
          </p:cNvPr>
          <p:cNvSpPr/>
          <p:nvPr/>
        </p:nvSpPr>
        <p:spPr>
          <a:xfrm>
            <a:off x="6343650" y="3134380"/>
            <a:ext cx="952500" cy="52322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endParaRPr lang="en-IE" sz="2800" dirty="0"/>
          </a:p>
        </p:txBody>
      </p:sp>
      <p:sp>
        <p:nvSpPr>
          <p:cNvPr id="33" name="Rounded Rectangle 11">
            <a:extLst>
              <a:ext uri="{FF2B5EF4-FFF2-40B4-BE49-F238E27FC236}">
                <a16:creationId xmlns:a16="http://schemas.microsoft.com/office/drawing/2014/main" id="{33A16050-59EB-E85A-418D-5E0D536FEB58}"/>
              </a:ext>
            </a:extLst>
          </p:cNvPr>
          <p:cNvSpPr/>
          <p:nvPr/>
        </p:nvSpPr>
        <p:spPr>
          <a:xfrm>
            <a:off x="5715000" y="3924710"/>
            <a:ext cx="4114800" cy="2811052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C9A3064-B75A-97DC-5244-F09626A302EE}"/>
              </a:ext>
            </a:extLst>
          </p:cNvPr>
          <p:cNvSpPr txBox="1"/>
          <p:nvPr/>
        </p:nvSpPr>
        <p:spPr>
          <a:xfrm>
            <a:off x="5791200" y="4484125"/>
            <a:ext cx="2057400" cy="33855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name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430D897-C3B0-6B4D-B12B-84518102E150}"/>
              </a:ext>
            </a:extLst>
          </p:cNvPr>
          <p:cNvSpPr txBox="1"/>
          <p:nvPr/>
        </p:nvSpPr>
        <p:spPr>
          <a:xfrm>
            <a:off x="5791200" y="4927932"/>
            <a:ext cx="2057400" cy="33855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height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EA4E12F-9E15-16E1-345E-0B877D2E1DCD}"/>
              </a:ext>
            </a:extLst>
          </p:cNvPr>
          <p:cNvSpPr txBox="1"/>
          <p:nvPr/>
        </p:nvSpPr>
        <p:spPr>
          <a:xfrm>
            <a:off x="7999079" y="4505601"/>
            <a:ext cx="1648326" cy="33855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“Mary Lee”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0DDB276-3718-D7F4-5938-075F7037C19E}"/>
              </a:ext>
            </a:extLst>
          </p:cNvPr>
          <p:cNvSpPr txBox="1"/>
          <p:nvPr/>
        </p:nvSpPr>
        <p:spPr>
          <a:xfrm>
            <a:off x="7999079" y="4949408"/>
            <a:ext cx="861889" cy="33855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1.5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7BA347D-200D-6DBD-D468-69650FE42ED3}"/>
              </a:ext>
            </a:extLst>
          </p:cNvPr>
          <p:cNvSpPr txBox="1"/>
          <p:nvPr/>
        </p:nvSpPr>
        <p:spPr>
          <a:xfrm>
            <a:off x="7024437" y="3980221"/>
            <a:ext cx="1648326" cy="40011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IE" sz="2000" dirty="0"/>
              <a:t>gymMember2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1C6BA1B-3537-02F1-39C9-F77BDB0DD6F5}"/>
              </a:ext>
            </a:extLst>
          </p:cNvPr>
          <p:cNvSpPr txBox="1"/>
          <p:nvPr/>
        </p:nvSpPr>
        <p:spPr>
          <a:xfrm>
            <a:off x="5791201" y="5385132"/>
            <a:ext cx="2034997" cy="33855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weight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AA53199-EDF8-086E-1E1B-9AE933143140}"/>
              </a:ext>
            </a:extLst>
          </p:cNvPr>
          <p:cNvSpPr txBox="1"/>
          <p:nvPr/>
        </p:nvSpPr>
        <p:spPr>
          <a:xfrm>
            <a:off x="7975016" y="5406608"/>
            <a:ext cx="861889" cy="33855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125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6714943-B817-B0F4-6AA5-FE0521535ADD}"/>
              </a:ext>
            </a:extLst>
          </p:cNvPr>
          <p:cNvSpPr txBox="1"/>
          <p:nvPr/>
        </p:nvSpPr>
        <p:spPr>
          <a:xfrm>
            <a:off x="5791201" y="5821484"/>
            <a:ext cx="2034997" cy="33855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 err="1"/>
              <a:t>membershipNumber</a:t>
            </a:r>
            <a:endParaRPr lang="en-IE" sz="1600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44BD87C-0A0F-6097-2D77-836B820AB3DE}"/>
              </a:ext>
            </a:extLst>
          </p:cNvPr>
          <p:cNvSpPr txBox="1"/>
          <p:nvPr/>
        </p:nvSpPr>
        <p:spPr>
          <a:xfrm>
            <a:off x="7966051" y="5821362"/>
            <a:ext cx="871228" cy="33855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12002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B0E8B5E-07A8-8D57-8F91-23DBEC2EF1DC}"/>
              </a:ext>
            </a:extLst>
          </p:cNvPr>
          <p:cNvSpPr txBox="1"/>
          <p:nvPr/>
        </p:nvSpPr>
        <p:spPr>
          <a:xfrm>
            <a:off x="5793496" y="6235673"/>
            <a:ext cx="2034997" cy="33855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 err="1"/>
              <a:t>isCurrentGymMember</a:t>
            </a:r>
            <a:endParaRPr lang="en-IE" sz="16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0557CDE-CF4A-E30F-CD98-F0E56A864D0D}"/>
              </a:ext>
            </a:extLst>
          </p:cNvPr>
          <p:cNvSpPr txBox="1"/>
          <p:nvPr/>
        </p:nvSpPr>
        <p:spPr>
          <a:xfrm>
            <a:off x="7977311" y="6257149"/>
            <a:ext cx="861889" cy="33855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false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9CBEE2C3-88C1-69B9-7CD4-7865F1A256DE}"/>
              </a:ext>
            </a:extLst>
          </p:cNvPr>
          <p:cNvCxnSpPr>
            <a:cxnSpLocks/>
            <a:endCxn id="33" idx="0"/>
          </p:cNvCxnSpPr>
          <p:nvPr/>
        </p:nvCxnSpPr>
        <p:spPr>
          <a:xfrm>
            <a:off x="6819900" y="3432620"/>
            <a:ext cx="952500" cy="492090"/>
          </a:xfrm>
          <a:prstGeom prst="straightConnector1">
            <a:avLst/>
          </a:prstGeom>
          <a:ln w="38100">
            <a:solidFill>
              <a:schemeClr val="tx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Rectangle 2">
            <a:extLst>
              <a:ext uri="{FF2B5EF4-FFF2-40B4-BE49-F238E27FC236}">
                <a16:creationId xmlns:a16="http://schemas.microsoft.com/office/drawing/2014/main" id="{2C537D81-5F1F-639D-A686-7608D21CDC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600" y="1535668"/>
            <a:ext cx="10972800" cy="369332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private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en-US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GymMember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en-US" b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gymMember</a:t>
            </a:r>
            <a:r>
              <a:rPr lang="en-US" altLang="en-US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 </a:t>
            </a:r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new </a:t>
            </a:r>
            <a:r>
              <a:rPr lang="en-US" altLang="en-US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GymMember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(“Joe Soap”, 1.8, 175, 12001, true);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47" name="Rectangle 2">
            <a:extLst>
              <a:ext uri="{FF2B5EF4-FFF2-40B4-BE49-F238E27FC236}">
                <a16:creationId xmlns:a16="http://schemas.microsoft.com/office/drawing/2014/main" id="{96EDE36F-3D8A-492B-DA5B-5F2D9167E44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600" y="2145268"/>
            <a:ext cx="11353800" cy="369332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private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en-US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GymMember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en-US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gymMember2 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 </a:t>
            </a:r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new </a:t>
            </a:r>
            <a:r>
              <a:rPr lang="en-US" altLang="en-US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GymMember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(“Mary Lee”, 1.5, 125, 12002, false);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2627609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A62E0F6-DCEA-7145-9380-E55370C13C9E}"/>
              </a:ext>
            </a:extLst>
          </p:cNvPr>
          <p:cNvSpPr/>
          <p:nvPr/>
        </p:nvSpPr>
        <p:spPr>
          <a:xfrm>
            <a:off x="4343400" y="612844"/>
            <a:ext cx="6096000" cy="5632311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>
            <a:spAutoFit/>
          </a:bodyPr>
          <a:lstStyle/>
          <a:p>
            <a:r>
              <a:rPr lang="en-IE" b="1" dirty="0">
                <a:solidFill>
                  <a:srgbClr val="000080"/>
                </a:solidFill>
              </a:rPr>
              <a:t>import </a:t>
            </a:r>
            <a:r>
              <a:rPr lang="en-IE" dirty="0" err="1"/>
              <a:t>java.util.Scanner</a:t>
            </a:r>
            <a:r>
              <a:rPr lang="en-IE" dirty="0"/>
              <a:t>;</a:t>
            </a:r>
            <a:br>
              <a:rPr lang="en-IE" dirty="0"/>
            </a:br>
            <a:br>
              <a:rPr lang="en-IE" dirty="0"/>
            </a:br>
            <a:r>
              <a:rPr lang="en-IE" b="1" dirty="0">
                <a:solidFill>
                  <a:srgbClr val="000080"/>
                </a:solidFill>
              </a:rPr>
              <a:t>public class </a:t>
            </a:r>
            <a:r>
              <a:rPr lang="en-IE" dirty="0"/>
              <a:t>Driver {</a:t>
            </a:r>
            <a:br>
              <a:rPr lang="en-IE" i="1" dirty="0">
                <a:solidFill>
                  <a:srgbClr val="808080"/>
                </a:solidFill>
              </a:rPr>
            </a:br>
            <a:br>
              <a:rPr lang="en-IE" i="1" dirty="0">
                <a:solidFill>
                  <a:srgbClr val="808080"/>
                </a:solidFill>
              </a:rPr>
            </a:br>
            <a:r>
              <a:rPr lang="en-IE" i="1" dirty="0">
                <a:solidFill>
                  <a:srgbClr val="808080"/>
                </a:solidFill>
              </a:rPr>
              <a:t>        </a:t>
            </a:r>
            <a:r>
              <a:rPr lang="en-IE" b="1" dirty="0">
                <a:solidFill>
                  <a:srgbClr val="000080"/>
                </a:solidFill>
              </a:rPr>
              <a:t>private </a:t>
            </a:r>
            <a:r>
              <a:rPr lang="en-IE" dirty="0"/>
              <a:t>Scanner </a:t>
            </a:r>
            <a:r>
              <a:rPr lang="en-IE" b="1" dirty="0">
                <a:solidFill>
                  <a:srgbClr val="660E7A"/>
                </a:solidFill>
              </a:rPr>
              <a:t>input </a:t>
            </a:r>
            <a:r>
              <a:rPr lang="en-IE" dirty="0"/>
              <a:t>= </a:t>
            </a:r>
            <a:r>
              <a:rPr lang="en-IE" b="1" dirty="0">
                <a:solidFill>
                  <a:srgbClr val="000080"/>
                </a:solidFill>
              </a:rPr>
              <a:t>new </a:t>
            </a:r>
            <a:r>
              <a:rPr lang="en-IE" dirty="0"/>
              <a:t>Scanner(</a:t>
            </a:r>
            <a:r>
              <a:rPr lang="en-IE" dirty="0" err="1"/>
              <a:t>System.</a:t>
            </a:r>
            <a:r>
              <a:rPr lang="en-IE" b="1" i="1" dirty="0" err="1">
                <a:solidFill>
                  <a:srgbClr val="660E7A"/>
                </a:solidFill>
              </a:rPr>
              <a:t>in</a:t>
            </a:r>
            <a:r>
              <a:rPr lang="en-IE" dirty="0"/>
              <a:t>);</a:t>
            </a:r>
            <a:br>
              <a:rPr lang="en-IE" dirty="0"/>
            </a:br>
            <a:r>
              <a:rPr lang="en-IE" dirty="0"/>
              <a:t>        </a:t>
            </a:r>
            <a:r>
              <a:rPr lang="en-IE" b="1" dirty="0">
                <a:solidFill>
                  <a:srgbClr val="000080"/>
                </a:solidFill>
              </a:rPr>
              <a:t>private </a:t>
            </a:r>
            <a:r>
              <a:rPr lang="en-IE" dirty="0" err="1"/>
              <a:t>GymMember</a:t>
            </a:r>
            <a:r>
              <a:rPr lang="en-IE" dirty="0"/>
              <a:t> </a:t>
            </a:r>
            <a:r>
              <a:rPr lang="en-IE" b="1" dirty="0" err="1">
                <a:solidFill>
                  <a:srgbClr val="660E7A"/>
                </a:solidFill>
              </a:rPr>
              <a:t>gymMember</a:t>
            </a:r>
            <a:r>
              <a:rPr lang="en-IE" dirty="0"/>
              <a:t>;</a:t>
            </a:r>
            <a:br>
              <a:rPr lang="en-IE" dirty="0"/>
            </a:br>
            <a:br>
              <a:rPr lang="en-IE" dirty="0"/>
            </a:br>
            <a:r>
              <a:rPr lang="en-IE" dirty="0"/>
              <a:t>        </a:t>
            </a:r>
            <a:r>
              <a:rPr lang="en-IE" b="1" dirty="0">
                <a:solidFill>
                  <a:srgbClr val="000080"/>
                </a:solidFill>
              </a:rPr>
              <a:t>public static void </a:t>
            </a:r>
            <a:r>
              <a:rPr lang="en-IE" dirty="0"/>
              <a:t>main(String[] </a:t>
            </a:r>
            <a:r>
              <a:rPr lang="en-IE" dirty="0" err="1"/>
              <a:t>arg</a:t>
            </a:r>
            <a:r>
              <a:rPr lang="en-IE" dirty="0"/>
              <a:t>) {</a:t>
            </a:r>
            <a:br>
              <a:rPr lang="en-IE" dirty="0"/>
            </a:br>
            <a:r>
              <a:rPr lang="en-IE" dirty="0"/>
              <a:t>            </a:t>
            </a:r>
            <a:r>
              <a:rPr lang="en-IE" b="1" dirty="0">
                <a:solidFill>
                  <a:srgbClr val="000080"/>
                </a:solidFill>
              </a:rPr>
              <a:t>new </a:t>
            </a:r>
            <a:r>
              <a:rPr lang="en-IE" dirty="0"/>
              <a:t>Driver();</a:t>
            </a:r>
            <a:br>
              <a:rPr lang="en-IE" dirty="0"/>
            </a:br>
            <a:r>
              <a:rPr lang="en-IE" dirty="0"/>
              <a:t>        }</a:t>
            </a:r>
            <a:br>
              <a:rPr lang="en-IE" dirty="0"/>
            </a:br>
            <a:br>
              <a:rPr lang="en-IE" dirty="0"/>
            </a:br>
            <a:r>
              <a:rPr lang="en-IE" dirty="0"/>
              <a:t>        </a:t>
            </a:r>
            <a:r>
              <a:rPr lang="en-IE" b="1" dirty="0">
                <a:solidFill>
                  <a:srgbClr val="000080"/>
                </a:solidFill>
              </a:rPr>
              <a:t>public </a:t>
            </a:r>
            <a:r>
              <a:rPr lang="en-IE" dirty="0"/>
              <a:t>Driver() {</a:t>
            </a:r>
            <a:br>
              <a:rPr lang="en-IE" dirty="0"/>
            </a:br>
            <a:r>
              <a:rPr lang="en-IE" dirty="0"/>
              <a:t>            </a:t>
            </a:r>
            <a:r>
              <a:rPr lang="en-IE" dirty="0" err="1"/>
              <a:t>addGymMember</a:t>
            </a:r>
            <a:r>
              <a:rPr lang="en-IE" dirty="0"/>
              <a:t>();</a:t>
            </a:r>
            <a:br>
              <a:rPr lang="en-IE" dirty="0"/>
            </a:br>
            <a:r>
              <a:rPr lang="en-IE" dirty="0"/>
              <a:t>            </a:t>
            </a:r>
            <a:r>
              <a:rPr lang="en-IE" dirty="0" err="1"/>
              <a:t>printGymMember</a:t>
            </a:r>
            <a:r>
              <a:rPr lang="en-IE" dirty="0"/>
              <a:t>();</a:t>
            </a:r>
            <a:br>
              <a:rPr lang="en-IE" dirty="0"/>
            </a:br>
            <a:r>
              <a:rPr lang="en-IE" dirty="0"/>
              <a:t>        }</a:t>
            </a:r>
          </a:p>
          <a:p>
            <a:endParaRPr lang="en-IE" dirty="0"/>
          </a:p>
          <a:p>
            <a:r>
              <a:rPr lang="en-IE" dirty="0">
                <a:solidFill>
                  <a:schemeClr val="bg1">
                    <a:lumMod val="50000"/>
                  </a:schemeClr>
                </a:solidFill>
              </a:rPr>
              <a:t>        // </a:t>
            </a:r>
            <a:r>
              <a:rPr lang="en-IE" dirty="0" err="1">
                <a:solidFill>
                  <a:schemeClr val="bg1">
                    <a:lumMod val="50000"/>
                  </a:schemeClr>
                </a:solidFill>
              </a:rPr>
              <a:t>addGymMember</a:t>
            </a:r>
            <a:r>
              <a:rPr lang="en-IE" dirty="0">
                <a:solidFill>
                  <a:schemeClr val="bg1">
                    <a:lumMod val="50000"/>
                  </a:schemeClr>
                </a:solidFill>
              </a:rPr>
              <a:t> () code</a:t>
            </a:r>
          </a:p>
          <a:p>
            <a:r>
              <a:rPr lang="en-IE" dirty="0">
                <a:solidFill>
                  <a:schemeClr val="bg1">
                    <a:lumMod val="50000"/>
                  </a:schemeClr>
                </a:solidFill>
              </a:rPr>
              <a:t>        // </a:t>
            </a:r>
            <a:r>
              <a:rPr lang="en-IE" dirty="0" err="1">
                <a:solidFill>
                  <a:schemeClr val="bg1">
                    <a:lumMod val="50000"/>
                  </a:schemeClr>
                </a:solidFill>
              </a:rPr>
              <a:t>printGymMember</a:t>
            </a:r>
            <a:r>
              <a:rPr lang="en-IE" dirty="0">
                <a:solidFill>
                  <a:schemeClr val="bg1">
                    <a:lumMod val="50000"/>
                  </a:schemeClr>
                </a:solidFill>
              </a:rPr>
              <a:t>() code</a:t>
            </a:r>
          </a:p>
          <a:p>
            <a:endParaRPr lang="en-IE" dirty="0"/>
          </a:p>
          <a:p>
            <a:r>
              <a:rPr lang="en-IE" dirty="0"/>
              <a:t>}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5A6AB3A-F57F-9281-4BAF-10300A9514ED}"/>
              </a:ext>
            </a:extLst>
          </p:cNvPr>
          <p:cNvSpPr txBox="1"/>
          <p:nvPr/>
        </p:nvSpPr>
        <p:spPr>
          <a:xfrm>
            <a:off x="9525000" y="685800"/>
            <a:ext cx="2362200" cy="52322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IE" sz="2800" dirty="0"/>
              <a:t>Driver Class</a:t>
            </a:r>
          </a:p>
        </p:txBody>
      </p:sp>
    </p:spTree>
    <p:extLst>
      <p:ext uri="{BB962C8B-B14F-4D97-AF65-F5344CB8AC3E}">
        <p14:creationId xmlns:p14="http://schemas.microsoft.com/office/powerpoint/2010/main" val="97308912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804611F-EF1A-8C76-298C-9E04DBB5D80C}"/>
              </a:ext>
            </a:extLst>
          </p:cNvPr>
          <p:cNvSpPr/>
          <p:nvPr/>
        </p:nvSpPr>
        <p:spPr>
          <a:xfrm>
            <a:off x="838200" y="335845"/>
            <a:ext cx="9982200" cy="618630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IE" b="1" dirty="0">
                <a:solidFill>
                  <a:srgbClr val="000080"/>
                </a:solidFill>
              </a:rPr>
              <a:t>private void </a:t>
            </a:r>
            <a:r>
              <a:rPr lang="en-IE" dirty="0" err="1"/>
              <a:t>addGymMember</a:t>
            </a:r>
            <a:r>
              <a:rPr lang="en-IE" dirty="0"/>
              <a:t>() {</a:t>
            </a:r>
            <a:br>
              <a:rPr lang="en-IE" dirty="0"/>
            </a:br>
            <a:r>
              <a:rPr lang="en-IE" dirty="0"/>
              <a:t>    </a:t>
            </a:r>
            <a:r>
              <a:rPr lang="en-IE" i="1" dirty="0">
                <a:solidFill>
                  <a:srgbClr val="808080"/>
                </a:solidFill>
              </a:rPr>
              <a:t>//obtaining the data from the user</a:t>
            </a:r>
            <a:br>
              <a:rPr lang="en-IE" i="1" dirty="0">
                <a:solidFill>
                  <a:srgbClr val="808080"/>
                </a:solidFill>
              </a:rPr>
            </a:br>
            <a:r>
              <a:rPr lang="en-IE" i="1" dirty="0">
                <a:solidFill>
                  <a:srgbClr val="808080"/>
                </a:solidFill>
              </a:rPr>
              <a:t>    </a:t>
            </a:r>
            <a:r>
              <a:rPr lang="en-IE" dirty="0" err="1"/>
              <a:t>System.</a:t>
            </a:r>
            <a:r>
              <a:rPr lang="en-IE" b="1" i="1" dirty="0" err="1">
                <a:solidFill>
                  <a:srgbClr val="660E7A"/>
                </a:solidFill>
              </a:rPr>
              <a:t>out</a:t>
            </a:r>
            <a:r>
              <a:rPr lang="en-IE" dirty="0" err="1"/>
              <a:t>.println</a:t>
            </a:r>
            <a:r>
              <a:rPr lang="en-IE" dirty="0"/>
              <a:t>(</a:t>
            </a:r>
            <a:r>
              <a:rPr lang="en-IE" b="1" dirty="0">
                <a:solidFill>
                  <a:srgbClr val="008000"/>
                </a:solidFill>
              </a:rPr>
              <a:t>"Entering details"</a:t>
            </a:r>
            <a:r>
              <a:rPr lang="en-IE" dirty="0"/>
              <a:t>);</a:t>
            </a:r>
            <a:br>
              <a:rPr lang="en-IE" dirty="0"/>
            </a:br>
            <a:r>
              <a:rPr lang="en-IE" dirty="0"/>
              <a:t>    </a:t>
            </a:r>
            <a:r>
              <a:rPr lang="en-IE" dirty="0" err="1"/>
              <a:t>System.</a:t>
            </a:r>
            <a:r>
              <a:rPr lang="en-IE" b="1" i="1" dirty="0" err="1">
                <a:solidFill>
                  <a:srgbClr val="660E7A"/>
                </a:solidFill>
              </a:rPr>
              <a:t>out</a:t>
            </a:r>
            <a:r>
              <a:rPr lang="en-IE" dirty="0" err="1"/>
              <a:t>.println</a:t>
            </a:r>
            <a:r>
              <a:rPr lang="en-IE" dirty="0"/>
              <a:t>(</a:t>
            </a:r>
            <a:r>
              <a:rPr lang="en-IE" b="1" dirty="0">
                <a:solidFill>
                  <a:srgbClr val="008000"/>
                </a:solidFill>
              </a:rPr>
              <a:t>"----------------"</a:t>
            </a:r>
            <a:r>
              <a:rPr lang="en-IE" dirty="0"/>
              <a:t>);</a:t>
            </a:r>
            <a:br>
              <a:rPr lang="en-IE" dirty="0"/>
            </a:br>
            <a:r>
              <a:rPr lang="en-IE" dirty="0"/>
              <a:t>    </a:t>
            </a:r>
            <a:r>
              <a:rPr lang="en-IE" dirty="0" err="1"/>
              <a:t>System.</a:t>
            </a:r>
            <a:r>
              <a:rPr lang="en-IE" b="1" i="1" dirty="0" err="1">
                <a:solidFill>
                  <a:srgbClr val="660E7A"/>
                </a:solidFill>
              </a:rPr>
              <a:t>out</a:t>
            </a:r>
            <a:r>
              <a:rPr lang="en-IE" dirty="0" err="1"/>
              <a:t>.print</a:t>
            </a:r>
            <a:r>
              <a:rPr lang="en-IE" dirty="0"/>
              <a:t>(</a:t>
            </a:r>
            <a:r>
              <a:rPr lang="en-IE" b="1" dirty="0">
                <a:solidFill>
                  <a:srgbClr val="008000"/>
                </a:solidFill>
              </a:rPr>
              <a:t>"   Enter your name:             "</a:t>
            </a:r>
            <a:r>
              <a:rPr lang="en-IE" dirty="0"/>
              <a:t>);</a:t>
            </a:r>
            <a:br>
              <a:rPr lang="en-IE" dirty="0"/>
            </a:br>
            <a:r>
              <a:rPr lang="en-IE" dirty="0"/>
              <a:t>    String name = </a:t>
            </a:r>
            <a:r>
              <a:rPr lang="en-IE" b="1" dirty="0" err="1">
                <a:solidFill>
                  <a:srgbClr val="660E7A"/>
                </a:solidFill>
              </a:rPr>
              <a:t>input</a:t>
            </a:r>
            <a:r>
              <a:rPr lang="en-IE" dirty="0" err="1"/>
              <a:t>.nextLine</a:t>
            </a:r>
            <a:r>
              <a:rPr lang="en-IE" dirty="0"/>
              <a:t>();</a:t>
            </a:r>
            <a:br>
              <a:rPr lang="en-IE" dirty="0"/>
            </a:br>
            <a:r>
              <a:rPr lang="en-IE" dirty="0"/>
              <a:t>    </a:t>
            </a:r>
            <a:r>
              <a:rPr lang="en-IE" dirty="0" err="1"/>
              <a:t>System.</a:t>
            </a:r>
            <a:r>
              <a:rPr lang="en-IE" b="1" i="1" dirty="0" err="1">
                <a:solidFill>
                  <a:srgbClr val="660E7A"/>
                </a:solidFill>
              </a:rPr>
              <a:t>out</a:t>
            </a:r>
            <a:r>
              <a:rPr lang="en-IE" dirty="0" err="1"/>
              <a:t>.print</a:t>
            </a:r>
            <a:r>
              <a:rPr lang="en-IE" dirty="0"/>
              <a:t>(</a:t>
            </a:r>
            <a:r>
              <a:rPr lang="en-IE" b="1" dirty="0">
                <a:solidFill>
                  <a:srgbClr val="008000"/>
                </a:solidFill>
              </a:rPr>
              <a:t>"   Enter your height (meters):  "</a:t>
            </a:r>
            <a:r>
              <a:rPr lang="en-IE" dirty="0"/>
              <a:t>);</a:t>
            </a:r>
            <a:br>
              <a:rPr lang="en-IE" dirty="0"/>
            </a:br>
            <a:r>
              <a:rPr lang="en-IE" dirty="0"/>
              <a:t>    </a:t>
            </a:r>
            <a:r>
              <a:rPr lang="en-IE" b="1" dirty="0">
                <a:solidFill>
                  <a:srgbClr val="000080"/>
                </a:solidFill>
              </a:rPr>
              <a:t>double </a:t>
            </a:r>
            <a:r>
              <a:rPr lang="en-IE" dirty="0"/>
              <a:t>height = </a:t>
            </a:r>
            <a:r>
              <a:rPr lang="en-IE" b="1" dirty="0" err="1">
                <a:solidFill>
                  <a:srgbClr val="660E7A"/>
                </a:solidFill>
              </a:rPr>
              <a:t>input</a:t>
            </a:r>
            <a:r>
              <a:rPr lang="en-IE" dirty="0" err="1"/>
              <a:t>.nextDouble</a:t>
            </a:r>
            <a:r>
              <a:rPr lang="en-IE" dirty="0"/>
              <a:t>();</a:t>
            </a:r>
            <a:br>
              <a:rPr lang="en-IE" dirty="0"/>
            </a:br>
            <a:r>
              <a:rPr lang="en-IE" dirty="0"/>
              <a:t>    </a:t>
            </a:r>
            <a:r>
              <a:rPr lang="en-IE" dirty="0" err="1"/>
              <a:t>System.</a:t>
            </a:r>
            <a:r>
              <a:rPr lang="en-IE" b="1" i="1" dirty="0" err="1">
                <a:solidFill>
                  <a:srgbClr val="660E7A"/>
                </a:solidFill>
              </a:rPr>
              <a:t>out</a:t>
            </a:r>
            <a:r>
              <a:rPr lang="en-IE" dirty="0" err="1"/>
              <a:t>.print</a:t>
            </a:r>
            <a:r>
              <a:rPr lang="en-IE" dirty="0"/>
              <a:t>(</a:t>
            </a:r>
            <a:r>
              <a:rPr lang="en-IE" b="1" dirty="0">
                <a:solidFill>
                  <a:srgbClr val="008000"/>
                </a:solidFill>
              </a:rPr>
              <a:t>"   Enter your weight (kgs):     "</a:t>
            </a:r>
            <a:r>
              <a:rPr lang="en-IE" dirty="0"/>
              <a:t>);</a:t>
            </a:r>
            <a:br>
              <a:rPr lang="en-IE" dirty="0"/>
            </a:br>
            <a:r>
              <a:rPr lang="en-IE" dirty="0"/>
              <a:t>    </a:t>
            </a:r>
            <a:r>
              <a:rPr lang="en-IE" b="1" dirty="0">
                <a:solidFill>
                  <a:srgbClr val="000080"/>
                </a:solidFill>
              </a:rPr>
              <a:t>double </a:t>
            </a:r>
            <a:r>
              <a:rPr lang="en-IE" dirty="0"/>
              <a:t>weight = </a:t>
            </a:r>
            <a:r>
              <a:rPr lang="en-IE" b="1" dirty="0" err="1">
                <a:solidFill>
                  <a:srgbClr val="660E7A"/>
                </a:solidFill>
              </a:rPr>
              <a:t>input</a:t>
            </a:r>
            <a:r>
              <a:rPr lang="en-IE" dirty="0" err="1"/>
              <a:t>.nextDouble</a:t>
            </a:r>
            <a:r>
              <a:rPr lang="en-IE" dirty="0"/>
              <a:t>();</a:t>
            </a:r>
            <a:br>
              <a:rPr lang="en-IE" dirty="0"/>
            </a:br>
            <a:r>
              <a:rPr lang="en-IE" dirty="0"/>
              <a:t>    </a:t>
            </a:r>
            <a:r>
              <a:rPr lang="en-IE" dirty="0" err="1"/>
              <a:t>System.</a:t>
            </a:r>
            <a:r>
              <a:rPr lang="en-IE" b="1" i="1" dirty="0" err="1">
                <a:solidFill>
                  <a:srgbClr val="660E7A"/>
                </a:solidFill>
              </a:rPr>
              <a:t>out</a:t>
            </a:r>
            <a:r>
              <a:rPr lang="en-IE" dirty="0" err="1"/>
              <a:t>.print</a:t>
            </a:r>
            <a:r>
              <a:rPr lang="en-IE" dirty="0"/>
              <a:t>(</a:t>
            </a:r>
            <a:r>
              <a:rPr lang="en-IE" b="1" dirty="0">
                <a:solidFill>
                  <a:srgbClr val="008000"/>
                </a:solidFill>
              </a:rPr>
              <a:t>"   Enter the membership number: "</a:t>
            </a:r>
            <a:r>
              <a:rPr lang="en-IE" dirty="0"/>
              <a:t>);</a:t>
            </a:r>
            <a:br>
              <a:rPr lang="en-IE" dirty="0"/>
            </a:br>
            <a:r>
              <a:rPr lang="en-IE" dirty="0"/>
              <a:t>    </a:t>
            </a:r>
            <a:r>
              <a:rPr lang="en-IE" b="1" dirty="0">
                <a:solidFill>
                  <a:srgbClr val="000080"/>
                </a:solidFill>
              </a:rPr>
              <a:t>int </a:t>
            </a:r>
            <a:r>
              <a:rPr lang="en-IE" dirty="0" err="1"/>
              <a:t>membershipNumber</a:t>
            </a:r>
            <a:r>
              <a:rPr lang="en-IE" dirty="0"/>
              <a:t> = </a:t>
            </a:r>
            <a:r>
              <a:rPr lang="en-IE" b="1" dirty="0" err="1">
                <a:solidFill>
                  <a:srgbClr val="660E7A"/>
                </a:solidFill>
              </a:rPr>
              <a:t>input</a:t>
            </a:r>
            <a:r>
              <a:rPr lang="en-IE" dirty="0" err="1"/>
              <a:t>.nextInt</a:t>
            </a:r>
            <a:r>
              <a:rPr lang="en-IE" dirty="0"/>
              <a:t>();</a:t>
            </a:r>
            <a:br>
              <a:rPr lang="en-IE" dirty="0"/>
            </a:br>
            <a:r>
              <a:rPr lang="en-IE" dirty="0"/>
              <a:t>    </a:t>
            </a:r>
            <a:r>
              <a:rPr lang="en-IE" dirty="0" err="1"/>
              <a:t>System.</a:t>
            </a:r>
            <a:r>
              <a:rPr lang="en-IE" b="1" i="1" dirty="0" err="1">
                <a:solidFill>
                  <a:srgbClr val="660E7A"/>
                </a:solidFill>
              </a:rPr>
              <a:t>out</a:t>
            </a:r>
            <a:r>
              <a:rPr lang="en-IE" dirty="0" err="1"/>
              <a:t>.print</a:t>
            </a:r>
            <a:r>
              <a:rPr lang="en-IE" dirty="0"/>
              <a:t>(</a:t>
            </a:r>
            <a:r>
              <a:rPr lang="en-IE" b="1" dirty="0">
                <a:solidFill>
                  <a:srgbClr val="008000"/>
                </a:solidFill>
              </a:rPr>
              <a:t>"   Is current member (y/n):     "</a:t>
            </a:r>
            <a:r>
              <a:rPr lang="en-IE" dirty="0"/>
              <a:t>);</a:t>
            </a:r>
            <a:br>
              <a:rPr lang="en-IE" dirty="0"/>
            </a:br>
            <a:r>
              <a:rPr lang="en-IE" dirty="0"/>
              <a:t>    </a:t>
            </a:r>
            <a:r>
              <a:rPr lang="en-IE" b="1" dirty="0">
                <a:solidFill>
                  <a:srgbClr val="000080"/>
                </a:solidFill>
              </a:rPr>
              <a:t>char </a:t>
            </a:r>
            <a:r>
              <a:rPr lang="en-IE" dirty="0" err="1"/>
              <a:t>isCurrentMemberChar</a:t>
            </a:r>
            <a:r>
              <a:rPr lang="en-IE" dirty="0"/>
              <a:t> = </a:t>
            </a:r>
            <a:r>
              <a:rPr lang="en-IE" b="1" dirty="0" err="1">
                <a:solidFill>
                  <a:srgbClr val="660E7A"/>
                </a:solidFill>
              </a:rPr>
              <a:t>input</a:t>
            </a:r>
            <a:r>
              <a:rPr lang="en-IE" dirty="0" err="1"/>
              <a:t>.next</a:t>
            </a:r>
            <a:r>
              <a:rPr lang="en-IE" dirty="0"/>
              <a:t>().</a:t>
            </a:r>
            <a:r>
              <a:rPr lang="en-IE" dirty="0" err="1"/>
              <a:t>charAt</a:t>
            </a:r>
            <a:r>
              <a:rPr lang="en-IE" dirty="0"/>
              <a:t>(</a:t>
            </a:r>
            <a:r>
              <a:rPr lang="en-IE" dirty="0">
                <a:solidFill>
                  <a:srgbClr val="0000FF"/>
                </a:solidFill>
              </a:rPr>
              <a:t>0</a:t>
            </a:r>
            <a:r>
              <a:rPr lang="en-IE" dirty="0"/>
              <a:t>);</a:t>
            </a:r>
            <a:br>
              <a:rPr lang="en-IE" dirty="0"/>
            </a:br>
            <a:br>
              <a:rPr lang="en-IE" dirty="0"/>
            </a:br>
            <a:r>
              <a:rPr lang="en-IE" dirty="0"/>
              <a:t>    </a:t>
            </a:r>
            <a:r>
              <a:rPr lang="en-IE" b="1" dirty="0" err="1">
                <a:solidFill>
                  <a:srgbClr val="000080"/>
                </a:solidFill>
              </a:rPr>
              <a:t>boolean</a:t>
            </a:r>
            <a:r>
              <a:rPr lang="en-IE" b="1" dirty="0">
                <a:solidFill>
                  <a:srgbClr val="000080"/>
                </a:solidFill>
              </a:rPr>
              <a:t> </a:t>
            </a:r>
            <a:r>
              <a:rPr lang="en-IE" dirty="0" err="1"/>
              <a:t>isCurrentMember</a:t>
            </a:r>
            <a:r>
              <a:rPr lang="en-IE" dirty="0"/>
              <a:t> = </a:t>
            </a:r>
            <a:r>
              <a:rPr lang="en-IE" b="1" dirty="0">
                <a:solidFill>
                  <a:srgbClr val="000080"/>
                </a:solidFill>
              </a:rPr>
              <a:t>false</a:t>
            </a:r>
            <a:r>
              <a:rPr lang="en-IE" dirty="0"/>
              <a:t>;</a:t>
            </a:r>
            <a:br>
              <a:rPr lang="en-IE" dirty="0"/>
            </a:br>
            <a:r>
              <a:rPr lang="en-IE" dirty="0"/>
              <a:t>    </a:t>
            </a:r>
            <a:r>
              <a:rPr lang="en-IE" b="1" dirty="0">
                <a:solidFill>
                  <a:srgbClr val="000080"/>
                </a:solidFill>
              </a:rPr>
              <a:t>if </a:t>
            </a:r>
            <a:r>
              <a:rPr lang="en-IE" dirty="0"/>
              <a:t>((</a:t>
            </a:r>
            <a:r>
              <a:rPr lang="en-IE" dirty="0" err="1"/>
              <a:t>isCurrentMemberChar</a:t>
            </a:r>
            <a:r>
              <a:rPr lang="en-IE" dirty="0"/>
              <a:t> == </a:t>
            </a:r>
            <a:r>
              <a:rPr lang="en-IE" b="1" dirty="0">
                <a:solidFill>
                  <a:srgbClr val="008000"/>
                </a:solidFill>
              </a:rPr>
              <a:t>'Y'</a:t>
            </a:r>
            <a:r>
              <a:rPr lang="en-IE" dirty="0"/>
              <a:t>) || (</a:t>
            </a:r>
            <a:r>
              <a:rPr lang="en-IE" dirty="0" err="1"/>
              <a:t>isCurrentMemberChar</a:t>
            </a:r>
            <a:r>
              <a:rPr lang="en-IE" dirty="0"/>
              <a:t> == </a:t>
            </a:r>
            <a:r>
              <a:rPr lang="en-IE" b="1" dirty="0">
                <a:solidFill>
                  <a:srgbClr val="008000"/>
                </a:solidFill>
              </a:rPr>
              <a:t>'y'</a:t>
            </a:r>
            <a:r>
              <a:rPr lang="en-IE" dirty="0"/>
              <a:t>)) {</a:t>
            </a:r>
            <a:br>
              <a:rPr lang="en-IE" dirty="0"/>
            </a:br>
            <a:r>
              <a:rPr lang="en-IE" dirty="0"/>
              <a:t>        </a:t>
            </a:r>
            <a:r>
              <a:rPr lang="en-IE" dirty="0" err="1"/>
              <a:t>isCurrentMember</a:t>
            </a:r>
            <a:r>
              <a:rPr lang="en-IE" dirty="0"/>
              <a:t> = </a:t>
            </a:r>
            <a:r>
              <a:rPr lang="en-IE" b="1" dirty="0">
                <a:solidFill>
                  <a:srgbClr val="000080"/>
                </a:solidFill>
              </a:rPr>
              <a:t>true</a:t>
            </a:r>
            <a:r>
              <a:rPr lang="en-IE" dirty="0"/>
              <a:t>;</a:t>
            </a:r>
            <a:br>
              <a:rPr lang="en-IE" dirty="0"/>
            </a:br>
            <a:r>
              <a:rPr lang="en-IE" dirty="0"/>
              <a:t>    }</a:t>
            </a:r>
            <a:br>
              <a:rPr lang="en-IE" dirty="0"/>
            </a:br>
            <a:br>
              <a:rPr lang="en-IE" dirty="0"/>
            </a:br>
            <a:r>
              <a:rPr lang="en-IE" dirty="0"/>
              <a:t>    </a:t>
            </a:r>
            <a:r>
              <a:rPr lang="en-IE" b="1" dirty="0" err="1">
                <a:solidFill>
                  <a:srgbClr val="660E7A"/>
                </a:solidFill>
              </a:rPr>
              <a:t>gymMember</a:t>
            </a:r>
            <a:r>
              <a:rPr lang="en-IE" b="1" dirty="0">
                <a:solidFill>
                  <a:srgbClr val="660E7A"/>
                </a:solidFill>
              </a:rPr>
              <a:t> </a:t>
            </a:r>
            <a:r>
              <a:rPr lang="en-IE" dirty="0"/>
              <a:t>= </a:t>
            </a:r>
            <a:r>
              <a:rPr lang="en-IE" b="1" dirty="0">
                <a:solidFill>
                  <a:srgbClr val="000080"/>
                </a:solidFill>
              </a:rPr>
              <a:t>new </a:t>
            </a:r>
            <a:r>
              <a:rPr lang="en-IE" dirty="0" err="1"/>
              <a:t>GymMember</a:t>
            </a:r>
            <a:r>
              <a:rPr lang="en-IE" dirty="0"/>
              <a:t>(name, height, weight, </a:t>
            </a:r>
            <a:r>
              <a:rPr lang="en-IE" dirty="0" err="1"/>
              <a:t>membershipNumber</a:t>
            </a:r>
            <a:r>
              <a:rPr lang="en-IE" dirty="0"/>
              <a:t>, </a:t>
            </a:r>
            <a:r>
              <a:rPr lang="en-IE" dirty="0" err="1"/>
              <a:t>isCurrentMember</a:t>
            </a:r>
            <a:r>
              <a:rPr lang="en-IE" dirty="0"/>
              <a:t>);</a:t>
            </a:r>
            <a:br>
              <a:rPr lang="en-IE" dirty="0"/>
            </a:br>
            <a:r>
              <a:rPr lang="en-IE" dirty="0"/>
              <a:t>}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EA774EB-C422-1A78-7898-E3F4F37DFEE9}"/>
              </a:ext>
            </a:extLst>
          </p:cNvPr>
          <p:cNvSpPr txBox="1"/>
          <p:nvPr/>
        </p:nvSpPr>
        <p:spPr>
          <a:xfrm>
            <a:off x="9525000" y="685800"/>
            <a:ext cx="2362200" cy="52322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IE" sz="2800" dirty="0"/>
              <a:t>Driver Class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A28514C-A921-953E-68F0-DC54AA87C6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10400" y="2286000"/>
            <a:ext cx="4749800" cy="1765300"/>
          </a:xfrm>
          <a:prstGeom prst="rect">
            <a:avLst/>
          </a:prstGeom>
          <a:ln w="2540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47288150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CEA774EB-C422-1A78-7898-E3F4F37DFEE9}"/>
              </a:ext>
            </a:extLst>
          </p:cNvPr>
          <p:cNvSpPr txBox="1"/>
          <p:nvPr/>
        </p:nvSpPr>
        <p:spPr>
          <a:xfrm>
            <a:off x="9525000" y="685800"/>
            <a:ext cx="2362200" cy="52322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IE" sz="2800" dirty="0"/>
              <a:t>Driver Class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827931C-48F5-38B2-322B-14E4EB3F612D}"/>
              </a:ext>
            </a:extLst>
          </p:cNvPr>
          <p:cNvSpPr/>
          <p:nvPr/>
        </p:nvSpPr>
        <p:spPr>
          <a:xfrm>
            <a:off x="990600" y="677779"/>
            <a:ext cx="6096000" cy="2031325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>
            <a:spAutoFit/>
          </a:bodyPr>
          <a:lstStyle/>
          <a:p>
            <a:r>
              <a:rPr lang="en-IE" b="1" dirty="0">
                <a:solidFill>
                  <a:srgbClr val="000080"/>
                </a:solidFill>
              </a:rPr>
              <a:t>private void </a:t>
            </a:r>
            <a:r>
              <a:rPr lang="en-IE" dirty="0" err="1"/>
              <a:t>printGymMember</a:t>
            </a:r>
            <a:r>
              <a:rPr lang="en-IE" dirty="0"/>
              <a:t>()</a:t>
            </a:r>
            <a:br>
              <a:rPr lang="en-IE" dirty="0"/>
            </a:br>
            <a:r>
              <a:rPr lang="en-IE" dirty="0"/>
              <a:t>{</a:t>
            </a:r>
            <a:br>
              <a:rPr lang="en-IE" dirty="0"/>
            </a:br>
            <a:r>
              <a:rPr lang="en-IE" dirty="0"/>
              <a:t>    </a:t>
            </a:r>
            <a:r>
              <a:rPr lang="en-IE" i="1" dirty="0">
                <a:solidFill>
                  <a:srgbClr val="808080"/>
                </a:solidFill>
              </a:rPr>
              <a:t>//printing out the data to the user</a:t>
            </a:r>
            <a:br>
              <a:rPr lang="en-IE" i="1" dirty="0">
                <a:solidFill>
                  <a:srgbClr val="808080"/>
                </a:solidFill>
              </a:rPr>
            </a:br>
            <a:r>
              <a:rPr lang="en-IE" i="1" dirty="0">
                <a:solidFill>
                  <a:srgbClr val="808080"/>
                </a:solidFill>
              </a:rPr>
              <a:t>    </a:t>
            </a:r>
            <a:r>
              <a:rPr lang="en-IE" dirty="0" err="1"/>
              <a:t>System.</a:t>
            </a:r>
            <a:r>
              <a:rPr lang="en-IE" b="1" i="1" dirty="0" err="1">
                <a:solidFill>
                  <a:srgbClr val="660E7A"/>
                </a:solidFill>
              </a:rPr>
              <a:t>out</a:t>
            </a:r>
            <a:r>
              <a:rPr lang="en-IE" dirty="0" err="1"/>
              <a:t>.println</a:t>
            </a:r>
            <a:r>
              <a:rPr lang="en-IE" dirty="0"/>
              <a:t>(</a:t>
            </a:r>
            <a:r>
              <a:rPr lang="en-IE" b="1" dirty="0">
                <a:solidFill>
                  <a:srgbClr val="008000"/>
                </a:solidFill>
              </a:rPr>
              <a:t>"</a:t>
            </a:r>
            <a:r>
              <a:rPr lang="en-IE" b="1" dirty="0">
                <a:solidFill>
                  <a:srgbClr val="000080"/>
                </a:solidFill>
              </a:rPr>
              <a:t>\n\</a:t>
            </a:r>
            <a:r>
              <a:rPr lang="en-IE" b="1" dirty="0" err="1">
                <a:solidFill>
                  <a:srgbClr val="000080"/>
                </a:solidFill>
              </a:rPr>
              <a:t>n</a:t>
            </a:r>
            <a:r>
              <a:rPr lang="en-IE" b="1" dirty="0" err="1">
                <a:solidFill>
                  <a:srgbClr val="008000"/>
                </a:solidFill>
              </a:rPr>
              <a:t>Printing</a:t>
            </a:r>
            <a:r>
              <a:rPr lang="en-IE" b="1" dirty="0">
                <a:solidFill>
                  <a:srgbClr val="008000"/>
                </a:solidFill>
              </a:rPr>
              <a:t> details"</a:t>
            </a:r>
            <a:r>
              <a:rPr lang="en-IE" dirty="0"/>
              <a:t>);</a:t>
            </a:r>
            <a:br>
              <a:rPr lang="en-IE" dirty="0"/>
            </a:br>
            <a:r>
              <a:rPr lang="en-IE" dirty="0"/>
              <a:t>    </a:t>
            </a:r>
            <a:r>
              <a:rPr lang="en-IE" dirty="0" err="1"/>
              <a:t>System.</a:t>
            </a:r>
            <a:r>
              <a:rPr lang="en-IE" b="1" i="1" dirty="0" err="1">
                <a:solidFill>
                  <a:srgbClr val="660E7A"/>
                </a:solidFill>
              </a:rPr>
              <a:t>out</a:t>
            </a:r>
            <a:r>
              <a:rPr lang="en-IE" dirty="0" err="1"/>
              <a:t>.println</a:t>
            </a:r>
            <a:r>
              <a:rPr lang="en-IE" dirty="0"/>
              <a:t>(</a:t>
            </a:r>
            <a:r>
              <a:rPr lang="en-IE" b="1" dirty="0">
                <a:solidFill>
                  <a:srgbClr val="008000"/>
                </a:solidFill>
              </a:rPr>
              <a:t>"----------------"</a:t>
            </a:r>
            <a:r>
              <a:rPr lang="en-IE" dirty="0"/>
              <a:t>);</a:t>
            </a:r>
            <a:br>
              <a:rPr lang="en-IE" dirty="0"/>
            </a:br>
            <a:r>
              <a:rPr lang="en-IE" dirty="0"/>
              <a:t>    </a:t>
            </a:r>
            <a:r>
              <a:rPr lang="en-IE" dirty="0" err="1"/>
              <a:t>System.</a:t>
            </a:r>
            <a:r>
              <a:rPr lang="en-IE" b="1" i="1" dirty="0" err="1">
                <a:solidFill>
                  <a:srgbClr val="660E7A"/>
                </a:solidFill>
              </a:rPr>
              <a:t>out</a:t>
            </a:r>
            <a:r>
              <a:rPr lang="en-IE" dirty="0" err="1"/>
              <a:t>.println</a:t>
            </a:r>
            <a:r>
              <a:rPr lang="en-IE" dirty="0"/>
              <a:t>(</a:t>
            </a:r>
            <a:r>
              <a:rPr lang="en-IE" b="1" dirty="0" err="1">
                <a:solidFill>
                  <a:srgbClr val="660E7A"/>
                </a:solidFill>
              </a:rPr>
              <a:t>gymMember</a:t>
            </a:r>
            <a:r>
              <a:rPr lang="en-IE" dirty="0"/>
              <a:t>);</a:t>
            </a:r>
            <a:br>
              <a:rPr lang="en-IE" dirty="0"/>
            </a:br>
            <a:r>
              <a:rPr lang="en-IE" dirty="0"/>
              <a:t>}</a:t>
            </a:r>
            <a:endParaRPr lang="en-US" dirty="0"/>
          </a:p>
        </p:txBody>
      </p:sp>
      <p:sp>
        <p:nvSpPr>
          <p:cNvPr id="4" name="Right Arrow 3">
            <a:extLst>
              <a:ext uri="{FF2B5EF4-FFF2-40B4-BE49-F238E27FC236}">
                <a16:creationId xmlns:a16="http://schemas.microsoft.com/office/drawing/2014/main" id="{8D5E5FD6-4CE8-2945-F877-DC0AEE100044}"/>
              </a:ext>
            </a:extLst>
          </p:cNvPr>
          <p:cNvSpPr/>
          <p:nvPr/>
        </p:nvSpPr>
        <p:spPr>
          <a:xfrm>
            <a:off x="3200400" y="3429000"/>
            <a:ext cx="1295400" cy="6096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15934D1-CBF1-19FF-F8F2-21F0EBBC28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8500" y="2971800"/>
            <a:ext cx="7772400" cy="29502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149389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Questions?</a:t>
            </a:r>
          </a:p>
        </p:txBody>
      </p:sp>
      <p:pic>
        <p:nvPicPr>
          <p:cNvPr id="3" name="Picture 2" descr="A green question mark in a circle&#10;&#10;AI-generated content may be incorrect.">
            <a:extLst>
              <a:ext uri="{FF2B5EF4-FFF2-40B4-BE49-F238E27FC236}">
                <a16:creationId xmlns:a16="http://schemas.microsoft.com/office/drawing/2014/main" id="{0A955AA4-C93A-1418-BEC4-C92187BC1E2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71800" y="1325562"/>
            <a:ext cx="5257800" cy="5257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9878679"/>
      </p:ext>
    </p:extLst>
  </p:cSld>
  <p:clrMapOvr>
    <a:masterClrMapping/>
  </p:clrMapOvr>
</p:sld>
</file>

<file path=ppt/theme/theme1.xml><?xml version="1.0" encoding="utf-8"?>
<a:theme xmlns:a="http://schemas.openxmlformats.org/drawingml/2006/main" name="a-processing-mouse-event-methods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a-shop-v1</Template>
  <TotalTime>5867</TotalTime>
  <Words>1982</Words>
  <Application>Microsoft Macintosh PowerPoint</Application>
  <PresentationFormat>Widescreen</PresentationFormat>
  <Paragraphs>282</Paragraphs>
  <Slides>42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42</vt:i4>
      </vt:variant>
    </vt:vector>
  </HeadingPairs>
  <TitlesOfParts>
    <vt:vector size="46" baseType="lpstr">
      <vt:lpstr>Arial</vt:lpstr>
      <vt:lpstr>Calibri</vt:lpstr>
      <vt:lpstr>Courier New</vt:lpstr>
      <vt:lpstr>a-processing-mouse-event-methods</vt:lpstr>
      <vt:lpstr>Gym App V1</vt:lpstr>
      <vt:lpstr>Gym App</vt:lpstr>
      <vt:lpstr>Gym App V1.0</vt:lpstr>
      <vt:lpstr>Gym App V1.0</vt:lpstr>
      <vt:lpstr>Gym App V1.0</vt:lpstr>
      <vt:lpstr>Gym App V1.0 – Sample I/O</vt:lpstr>
      <vt:lpstr>Encapsulated Class:</vt:lpstr>
      <vt:lpstr>A GymMember Class…</vt:lpstr>
      <vt:lpstr>A GymMember Class…Constructor</vt:lpstr>
      <vt:lpstr>A GymMember Class…Fields and Constructor</vt:lpstr>
      <vt:lpstr>A GymMember Class…methods</vt:lpstr>
      <vt:lpstr>A GymMember Class…methods</vt:lpstr>
      <vt:lpstr>A GymMember Class…getters</vt:lpstr>
      <vt:lpstr>Getters (Accessor Methods)</vt:lpstr>
      <vt:lpstr>Getters</vt:lpstr>
      <vt:lpstr>A GymMember Class…getters</vt:lpstr>
      <vt:lpstr>A GymMember Class…setters</vt:lpstr>
      <vt:lpstr>Setters (Mutator methods)</vt:lpstr>
      <vt:lpstr>Setters – without validation</vt:lpstr>
      <vt:lpstr>Setters – with validation</vt:lpstr>
      <vt:lpstr>A GymMember Class…special case for Strings in  Constructor</vt:lpstr>
      <vt:lpstr>A GymMember Class…setters</vt:lpstr>
      <vt:lpstr>A GymMember Class…setters</vt:lpstr>
      <vt:lpstr>A GymMember Class…setters</vt:lpstr>
      <vt:lpstr>Getters/Setters</vt:lpstr>
      <vt:lpstr>A GymMember Class…toString</vt:lpstr>
      <vt:lpstr>A GymMember Class…toString</vt:lpstr>
      <vt:lpstr>toString()</vt:lpstr>
      <vt:lpstr>Encapsulationrecap</vt:lpstr>
      <vt:lpstr>Encapsulation in Java – steps 1-3</vt:lpstr>
      <vt:lpstr>A GymMember Class… An Encapsulated Class</vt:lpstr>
      <vt:lpstr>A GymMember Class… An Encapsulated Class</vt:lpstr>
      <vt:lpstr>A GymMember Class… An Encapsulated Class</vt:lpstr>
      <vt:lpstr>User I/O</vt:lpstr>
      <vt:lpstr>Using the GymMember Class</vt:lpstr>
      <vt:lpstr>Using the GymMember Class</vt:lpstr>
      <vt:lpstr>Multiple GymMember objects</vt:lpstr>
      <vt:lpstr>Multiple GymMember objects</vt:lpstr>
      <vt:lpstr>PowerPoint Presentation</vt:lpstr>
      <vt:lpstr>PowerPoint Presentation</vt:lpstr>
      <vt:lpstr>PowerPoint Presentation</vt:lpstr>
      <vt:lpstr>Questions?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Recap of OO concepts</dc:title>
  <dc:creator>Siobhan Drohan</dc:creator>
  <cp:lastModifiedBy>Mairead Meagher</cp:lastModifiedBy>
  <cp:revision>159</cp:revision>
  <cp:lastPrinted>2018-03-10T18:49:08Z</cp:lastPrinted>
  <dcterms:created xsi:type="dcterms:W3CDTF">2006-08-16T00:00:00Z</dcterms:created>
  <dcterms:modified xsi:type="dcterms:W3CDTF">2025-11-14T11:02:00Z</dcterms:modified>
</cp:coreProperties>
</file>