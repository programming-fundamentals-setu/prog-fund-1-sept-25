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256" r:id="rId2"/>
    <p:sldId id="633" r:id="rId3"/>
    <p:sldId id="585" r:id="rId4"/>
    <p:sldId id="639" r:id="rId5"/>
    <p:sldId id="641" r:id="rId6"/>
    <p:sldId id="640" r:id="rId7"/>
    <p:sldId id="662" r:id="rId8"/>
    <p:sldId id="588" r:id="rId9"/>
    <p:sldId id="642" r:id="rId10"/>
    <p:sldId id="643" r:id="rId11"/>
    <p:sldId id="644" r:id="rId12"/>
    <p:sldId id="646" r:id="rId13"/>
    <p:sldId id="647" r:id="rId14"/>
    <p:sldId id="649" r:id="rId15"/>
    <p:sldId id="650" r:id="rId16"/>
    <p:sldId id="651" r:id="rId17"/>
    <p:sldId id="652" r:id="rId18"/>
    <p:sldId id="624" r:id="rId19"/>
    <p:sldId id="625" r:id="rId20"/>
    <p:sldId id="653" r:id="rId21"/>
    <p:sldId id="654" r:id="rId22"/>
    <p:sldId id="626" r:id="rId23"/>
    <p:sldId id="627" r:id="rId24"/>
    <p:sldId id="655" r:id="rId25"/>
    <p:sldId id="656" r:id="rId26"/>
    <p:sldId id="673" r:id="rId27"/>
    <p:sldId id="657" r:id="rId28"/>
    <p:sldId id="658" r:id="rId29"/>
    <p:sldId id="628" r:id="rId30"/>
    <p:sldId id="659" r:id="rId31"/>
    <p:sldId id="660" r:id="rId32"/>
    <p:sldId id="614" r:id="rId33"/>
    <p:sldId id="663" r:id="rId34"/>
    <p:sldId id="629" r:id="rId35"/>
    <p:sldId id="613" r:id="rId36"/>
    <p:sldId id="665" r:id="rId37"/>
    <p:sldId id="666" r:id="rId38"/>
    <p:sldId id="664" r:id="rId39"/>
    <p:sldId id="617" r:id="rId40"/>
    <p:sldId id="667" r:id="rId41"/>
    <p:sldId id="668" r:id="rId42"/>
    <p:sldId id="669" r:id="rId43"/>
    <p:sldId id="670" r:id="rId44"/>
    <p:sldId id="671" r:id="rId45"/>
    <p:sldId id="672" r:id="rId46"/>
    <p:sldId id="305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AC5"/>
    <a:srgbClr val="A1D38E"/>
    <a:srgbClr val="F9C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97" autoAdjust="0"/>
    <p:restoredTop sz="94653"/>
  </p:normalViewPr>
  <p:slideViewPr>
    <p:cSldViewPr>
      <p:cViewPr varScale="1">
        <p:scale>
          <a:sx n="114" d="100"/>
          <a:sy n="114" d="100"/>
        </p:scale>
        <p:origin x="856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9" d="100"/>
        <a:sy n="49" d="100"/>
      </p:scale>
      <p:origin x="0" y="-941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03/11/2025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E85BA6-CFDF-430E-8374-ADA2BF6C5E53}" type="slidenum">
              <a:rPr lang="en-GB"/>
              <a:pPr/>
              <a:t>19</a:t>
            </a:fld>
            <a:endParaRPr lang="en-GB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44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17B96C-5BE9-455B-93AF-B6A38B95CFEB}" type="slidenum">
              <a:rPr lang="en-GB"/>
              <a:pPr/>
              <a:t>23</a:t>
            </a:fld>
            <a:endParaRPr lang="en-GB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33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17B96C-5BE9-455B-93AF-B6A38B95CFEB}" type="slidenum">
              <a:rPr lang="en-GB"/>
              <a:pPr/>
              <a:t>24</a:t>
            </a:fld>
            <a:endParaRPr lang="en-GB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08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8158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71876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320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90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AB13D9-B7A5-0614-4651-2F9977D9191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B6F98E-998E-0C49-19D0-BD928FADEDE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350EAD-DC44-A3A0-38C6-89949173DFA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A29CA4-0D75-B25E-E49E-22B124629880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809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44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E7CBAE-0172-1E89-E84D-992B775618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50A73E-1B0E-99B0-1273-3679BDBB151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674E79-66F0-A4C7-FF39-5F928B7C9A5B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FA33F7-BD25-8F44-1DDF-3807C3A6A002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997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2CD0C1-F3B9-C92E-D990-6E9A57623D5A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B2DBB3-4EEF-3DFF-199A-BA6AB3793D3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457289-6BB4-E107-2E46-8D2073E3415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DE626A-C732-60D0-0562-1226E2D9377D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088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1A815F-BB18-F13C-32C4-8E79100BCF8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0757EC-8007-C46D-7D50-F765C16D5B9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082DFA-2D0D-E3FC-D879-A6D24EF7B7A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251A29-7993-54F5-5393-4446E4070D1E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326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7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39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46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94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27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033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2234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33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80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encapsulation.htm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Gym App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457200" y="3124200"/>
            <a:ext cx="11201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New App (with Validation)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4F8303-DD1D-6B8F-CC0E-2BB32D50A1BF}"/>
              </a:ext>
            </a:extLst>
          </p:cNvPr>
          <p:cNvSpPr txBox="1"/>
          <p:nvPr/>
        </p:nvSpPr>
        <p:spPr>
          <a:xfrm>
            <a:off x="7445567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853B1-E5DC-3BE1-C428-88FD7658E381}"/>
              </a:ext>
            </a:extLst>
          </p:cNvPr>
          <p:cNvSpPr txBox="1"/>
          <p:nvPr/>
        </p:nvSpPr>
        <p:spPr>
          <a:xfrm>
            <a:off x="3505200" y="3743235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Drohan,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47E3AD-2570-D159-F739-FC6AF9C16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768129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Gym App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464612" y="4750893"/>
            <a:ext cx="4087305" cy="11478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>
                <a:solidFill>
                  <a:schemeClr val="tx1"/>
                </a:solidFill>
              </a:rPr>
              <a:t>Version 1.0</a:t>
            </a:r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4AD37017-98E4-1911-3861-EDA1382ED7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427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79798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Gym App V1.0</a:t>
            </a:r>
            <a:endParaRPr lang="en-IE" b="1" dirty="0"/>
          </a:p>
        </p:txBody>
      </p:sp>
      <p:pic>
        <p:nvPicPr>
          <p:cNvPr id="11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6F33A7D5-75AC-E0FF-06E1-6B7402FD7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2133600" y="2362200"/>
            <a:ext cx="20574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5867400" y="4114800"/>
            <a:ext cx="3200400" cy="106680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GymMember</a:t>
            </a:r>
            <a:endParaRPr lang="en-IE" sz="4000" b="1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4191000" y="2895600"/>
            <a:ext cx="3276600" cy="12192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182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Gym App V1.0</a:t>
            </a:r>
            <a:endParaRPr lang="en-IE" b="1" dirty="0"/>
          </a:p>
        </p:txBody>
      </p:sp>
      <p:pic>
        <p:nvPicPr>
          <p:cNvPr id="11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6F33A7D5-75AC-E0FF-06E1-6B7402FD7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609600" y="1905000"/>
            <a:ext cx="20574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1981200" y="4093029"/>
            <a:ext cx="3200400" cy="1066800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GymMember</a:t>
            </a:r>
            <a:endParaRPr lang="en-IE" sz="4000" b="1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2667000" y="2438400"/>
            <a:ext cx="914400" cy="165462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5CF470A-7318-06D9-7ACB-D381C268439E}"/>
              </a:ext>
            </a:extLst>
          </p:cNvPr>
          <p:cNvSpPr/>
          <p:nvPr/>
        </p:nvSpPr>
        <p:spPr>
          <a:xfrm>
            <a:off x="5731328" y="1839686"/>
            <a:ext cx="569867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2800" dirty="0"/>
              <a:t>The </a:t>
            </a:r>
            <a:r>
              <a:rPr lang="en-IE" sz="2800" b="1" dirty="0" err="1">
                <a:solidFill>
                  <a:srgbClr val="FF0000"/>
                </a:solidFill>
              </a:rPr>
              <a:t>GymMember</a:t>
            </a:r>
            <a:r>
              <a:rPr lang="en-IE" sz="2800" dirty="0"/>
              <a:t> class stores </a:t>
            </a:r>
            <a:r>
              <a:rPr lang="en-IE" sz="2800" b="1" dirty="0"/>
              <a:t>details</a:t>
            </a:r>
            <a:r>
              <a:rPr lang="en-IE" sz="2800" dirty="0"/>
              <a:t> about a single member of a gym i.e.: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dirty="0"/>
              <a:t>name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dirty="0"/>
              <a:t>height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dirty="0"/>
              <a:t>weight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dirty="0" err="1"/>
              <a:t>membershipNumber</a:t>
            </a:r>
            <a:r>
              <a:rPr lang="en-IE" sz="2800" dirty="0"/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dirty="0"/>
              <a:t>if they are current members or not? (i.e. have they paid their membership fee)</a:t>
            </a:r>
          </a:p>
        </p:txBody>
      </p:sp>
    </p:spTree>
    <p:extLst>
      <p:ext uri="{BB962C8B-B14F-4D97-AF65-F5344CB8AC3E}">
        <p14:creationId xmlns:p14="http://schemas.microsoft.com/office/powerpoint/2010/main" val="1861602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Gym App V1.0</a:t>
            </a:r>
            <a:endParaRPr lang="en-IE" b="1" dirty="0"/>
          </a:p>
        </p:txBody>
      </p:sp>
      <p:pic>
        <p:nvPicPr>
          <p:cNvPr id="11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6F33A7D5-75AC-E0FF-06E1-6B7402FD7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609600" y="1905000"/>
            <a:ext cx="2057400" cy="1066800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1981200" y="4093029"/>
            <a:ext cx="3200400" cy="1066800"/>
          </a:xfrm>
          <a:prstGeom prst="roundRect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GymMember</a:t>
            </a:r>
            <a:endParaRPr lang="en-IE" sz="4000" b="1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2667000" y="2438400"/>
            <a:ext cx="914400" cy="165462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5CF470A-7318-06D9-7ACB-D381C268439E}"/>
              </a:ext>
            </a:extLst>
          </p:cNvPr>
          <p:cNvSpPr/>
          <p:nvPr/>
        </p:nvSpPr>
        <p:spPr>
          <a:xfrm>
            <a:off x="5638800" y="2209800"/>
            <a:ext cx="585107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2800" dirty="0"/>
              <a:t>The </a:t>
            </a:r>
            <a:r>
              <a:rPr lang="en-IE" sz="2800" b="1" dirty="0">
                <a:solidFill>
                  <a:srgbClr val="FF0000"/>
                </a:solidFill>
              </a:rPr>
              <a:t>Driver</a:t>
            </a:r>
            <a:r>
              <a:rPr lang="en-IE" sz="2800" dirty="0"/>
              <a:t> class:</a:t>
            </a:r>
          </a:p>
          <a:p>
            <a:endParaRPr lang="en-IE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2400" dirty="0"/>
              <a:t>has the </a:t>
            </a:r>
            <a:r>
              <a:rPr lang="en-IE" sz="2400" b="1" dirty="0">
                <a:solidFill>
                  <a:srgbClr val="FF0000"/>
                </a:solidFill>
              </a:rPr>
              <a:t>main()</a:t>
            </a:r>
            <a:r>
              <a:rPr lang="en-IE" sz="2400" dirty="0">
                <a:solidFill>
                  <a:srgbClr val="FF0000"/>
                </a:solidFill>
              </a:rPr>
              <a:t> </a:t>
            </a:r>
            <a:r>
              <a:rPr lang="en-IE" sz="2400" dirty="0"/>
              <a:t>method.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2400" b="1" dirty="0"/>
              <a:t>reads</a:t>
            </a:r>
            <a:r>
              <a:rPr lang="en-IE" sz="2400" dirty="0"/>
              <a:t> the gym member details from the user (via the console)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2400" b="1" dirty="0"/>
              <a:t>creates</a:t>
            </a:r>
            <a:r>
              <a:rPr lang="en-IE" sz="2400" dirty="0"/>
              <a:t> a new </a:t>
            </a:r>
            <a:r>
              <a:rPr lang="en-IE" sz="2400" dirty="0" err="1"/>
              <a:t>GymMember</a:t>
            </a:r>
            <a:r>
              <a:rPr lang="en-IE" sz="2400" dirty="0"/>
              <a:t> object.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2400" b="1" dirty="0"/>
              <a:t>prints</a:t>
            </a:r>
            <a:r>
              <a:rPr lang="en-IE" sz="2400" dirty="0"/>
              <a:t> the gym member details from the object (to the console)</a:t>
            </a:r>
          </a:p>
        </p:txBody>
      </p:sp>
    </p:spTree>
    <p:extLst>
      <p:ext uri="{BB962C8B-B14F-4D97-AF65-F5344CB8AC3E}">
        <p14:creationId xmlns:p14="http://schemas.microsoft.com/office/powerpoint/2010/main" val="952633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4C336-986E-C25B-9667-2885E0F7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Gym App V1.0 – Sample I/O</a:t>
            </a:r>
            <a:endParaRPr lang="en-US" dirty="0"/>
          </a:p>
        </p:txBody>
      </p:sp>
      <p:pic>
        <p:nvPicPr>
          <p:cNvPr id="5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169B014-BBF9-382C-624F-84B0740CF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557338"/>
            <a:ext cx="7701412" cy="4859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01E5F4F4-122A-E9DD-D7F2-1754FC721E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42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Encapsulated Class: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464612" y="4750893"/>
            <a:ext cx="4087305" cy="11478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 err="1">
                <a:solidFill>
                  <a:schemeClr val="tx1"/>
                </a:solidFill>
              </a:rPr>
              <a:t>GymMember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4AD37017-98E4-1911-3861-EDA1382ED7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427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8690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5276D9-92E4-72E0-E592-FFB3D455B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571109"/>
            <a:ext cx="5372100" cy="52868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5" name="TextBox 4"/>
          <p:cNvSpPr txBox="1"/>
          <p:nvPr/>
        </p:nvSpPr>
        <p:spPr>
          <a:xfrm>
            <a:off x="1638301" y="1569064"/>
            <a:ext cx="3352801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Object Type/ </a:t>
            </a:r>
            <a:r>
              <a:rPr lang="en-IE" sz="2400" b="1" dirty="0"/>
              <a:t>Class</a:t>
            </a:r>
            <a:r>
              <a:rPr lang="en-IE" sz="2400" dirty="0"/>
              <a:t> Name</a:t>
            </a:r>
          </a:p>
          <a:p>
            <a:pPr algn="ctr"/>
            <a:r>
              <a:rPr lang="en-IE" sz="2400" dirty="0"/>
              <a:t>i.e. </a:t>
            </a:r>
            <a:r>
              <a:rPr lang="en-IE" sz="2400" dirty="0" err="1"/>
              <a:t>GymMember</a:t>
            </a:r>
            <a:endParaRPr lang="en-IE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A65584-D9F8-47FD-8EF6-E2D83A0BCBAE}"/>
              </a:ext>
            </a:extLst>
          </p:cNvPr>
          <p:cNvSpPr txBox="1"/>
          <p:nvPr/>
        </p:nvSpPr>
        <p:spPr>
          <a:xfrm>
            <a:off x="1330679" y="2848836"/>
            <a:ext cx="3848100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The </a:t>
            </a:r>
            <a:r>
              <a:rPr lang="en-IE" sz="2400" b="1" dirty="0"/>
              <a:t>C</a:t>
            </a:r>
            <a:r>
              <a:rPr lang="en-IE" sz="2400" dirty="0"/>
              <a:t> icon means it is a </a:t>
            </a:r>
            <a:r>
              <a:rPr lang="en-IE" sz="2400" b="1" dirty="0"/>
              <a:t>Class</a:t>
            </a:r>
            <a:r>
              <a:rPr lang="en-IE" sz="2400" dirty="0"/>
              <a:t>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DB8DED-05D7-4233-89A9-69D12A06D8C0}"/>
              </a:ext>
            </a:extLst>
          </p:cNvPr>
          <p:cNvCxnSpPr>
            <a:cxnSpLocks/>
          </p:cNvCxnSpPr>
          <p:nvPr/>
        </p:nvCxnSpPr>
        <p:spPr>
          <a:xfrm flipV="1">
            <a:off x="4991102" y="1798638"/>
            <a:ext cx="647699" cy="1086112"/>
          </a:xfrm>
          <a:prstGeom prst="straightConnector1">
            <a:avLst/>
          </a:prstGeom>
          <a:ln w="2857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EBAFC0-DD4C-427D-86E5-1622439D0E56}"/>
              </a:ext>
            </a:extLst>
          </p:cNvPr>
          <p:cNvSpPr txBox="1"/>
          <p:nvPr/>
        </p:nvSpPr>
        <p:spPr>
          <a:xfrm>
            <a:off x="1033178" y="3901706"/>
            <a:ext cx="4700870" cy="461665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The open padlock means it is </a:t>
            </a:r>
            <a:r>
              <a:rPr lang="en-IE" sz="2400" b="1" dirty="0"/>
              <a:t>public</a:t>
            </a:r>
            <a:r>
              <a:rPr lang="en-IE" sz="2400" dirty="0"/>
              <a:t>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1A018E-A2FD-4EE2-BAD6-1F821407C8A1}"/>
              </a:ext>
            </a:extLst>
          </p:cNvPr>
          <p:cNvCxnSpPr>
            <a:cxnSpLocks/>
          </p:cNvCxnSpPr>
          <p:nvPr/>
        </p:nvCxnSpPr>
        <p:spPr>
          <a:xfrm flipV="1">
            <a:off x="5562598" y="1795966"/>
            <a:ext cx="342900" cy="2105740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5" idx="3"/>
          </p:cNvCxnSpPr>
          <p:nvPr/>
        </p:nvCxnSpPr>
        <p:spPr>
          <a:xfrm flipV="1">
            <a:off x="4991101" y="1905000"/>
            <a:ext cx="190500" cy="79562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C7FD38-AFFF-4C8F-A2FA-103ABA30C76D}"/>
              </a:ext>
            </a:extLst>
          </p:cNvPr>
          <p:cNvSpPr/>
          <p:nvPr/>
        </p:nvSpPr>
        <p:spPr>
          <a:xfrm>
            <a:off x="6019798" y="1600200"/>
            <a:ext cx="1981202" cy="304800"/>
          </a:xfrm>
          <a:prstGeom prst="round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4342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FAB86E-B660-FBED-C1CA-AFD852791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272" y="853483"/>
            <a:ext cx="5372100" cy="581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18" name="Rectangle: Rounded Corners 6">
            <a:extLst>
              <a:ext uri="{FF2B5EF4-FFF2-40B4-BE49-F238E27FC236}">
                <a16:creationId xmlns:a16="http://schemas.microsoft.com/office/drawing/2014/main" id="{1ED403F8-5DB5-792C-1E6C-00980BD47C45}"/>
              </a:ext>
            </a:extLst>
          </p:cNvPr>
          <p:cNvSpPr/>
          <p:nvPr/>
        </p:nvSpPr>
        <p:spPr>
          <a:xfrm>
            <a:off x="6400800" y="5182576"/>
            <a:ext cx="4419600" cy="1433994"/>
          </a:xfrm>
          <a:prstGeom prst="roundRect">
            <a:avLst/>
          </a:prstGeom>
          <a:noFill/>
          <a:ln w="38100">
            <a:solidFill>
              <a:srgbClr val="F9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717A6E-1587-0BFE-90DC-9FDD3219A6A0}"/>
              </a:ext>
            </a:extLst>
          </p:cNvPr>
          <p:cNvSpPr txBox="1"/>
          <p:nvPr/>
        </p:nvSpPr>
        <p:spPr>
          <a:xfrm>
            <a:off x="2214922" y="5557721"/>
            <a:ext cx="3429000" cy="1015663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Fields</a:t>
            </a:r>
            <a:r>
              <a:rPr lang="en-IE" sz="2000" dirty="0"/>
              <a:t> </a:t>
            </a:r>
            <a:br>
              <a:rPr lang="en-IE" sz="2000" dirty="0"/>
            </a:br>
            <a:r>
              <a:rPr lang="en-IE" sz="2000" dirty="0"/>
              <a:t>i.e. the </a:t>
            </a:r>
            <a:r>
              <a:rPr lang="en-IE" sz="2000" b="1" dirty="0"/>
              <a:t>attributes / properties</a:t>
            </a:r>
            <a:r>
              <a:rPr lang="en-IE" sz="2000" dirty="0"/>
              <a:t> </a:t>
            </a:r>
            <a:br>
              <a:rPr lang="en-IE" sz="2000" dirty="0"/>
            </a:br>
            <a:r>
              <a:rPr lang="en-IE" sz="2000" dirty="0"/>
              <a:t>of the class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EED9950-0D50-5ECF-A5FE-E719C12AC29F}"/>
              </a:ext>
            </a:extLst>
          </p:cNvPr>
          <p:cNvCxnSpPr>
            <a:cxnSpLocks/>
          </p:cNvCxnSpPr>
          <p:nvPr/>
        </p:nvCxnSpPr>
        <p:spPr>
          <a:xfrm>
            <a:off x="5415322" y="6172200"/>
            <a:ext cx="1195669" cy="0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DB676A2-0AD3-AD8D-27DF-2B3D72B3B6CC}"/>
              </a:ext>
            </a:extLst>
          </p:cNvPr>
          <p:cNvSpPr txBox="1"/>
          <p:nvPr/>
        </p:nvSpPr>
        <p:spPr>
          <a:xfrm>
            <a:off x="2209800" y="4953000"/>
            <a:ext cx="3205522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b="0" dirty="0"/>
              <a:t>The </a:t>
            </a:r>
            <a:r>
              <a:rPr lang="en-IE" dirty="0"/>
              <a:t>f</a:t>
            </a:r>
            <a:r>
              <a:rPr lang="en-IE" b="0" dirty="0"/>
              <a:t> icon means it is a </a:t>
            </a:r>
            <a:r>
              <a:rPr lang="en-IE" dirty="0"/>
              <a:t>field</a:t>
            </a:r>
            <a:r>
              <a:rPr lang="en-IE" b="0" dirty="0"/>
              <a:t>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6283BF-FC02-3429-B985-01C29E1A679F}"/>
              </a:ext>
            </a:extLst>
          </p:cNvPr>
          <p:cNvCxnSpPr>
            <a:cxnSpLocks/>
          </p:cNvCxnSpPr>
          <p:nvPr/>
        </p:nvCxnSpPr>
        <p:spPr>
          <a:xfrm>
            <a:off x="5415324" y="5161304"/>
            <a:ext cx="1195667" cy="989624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1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2F188A-1CC8-A6A0-8642-A7175D28A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1" y="846138"/>
            <a:ext cx="5372100" cy="581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18" name="Rectangle: Rounded Corners 6">
            <a:extLst>
              <a:ext uri="{FF2B5EF4-FFF2-40B4-BE49-F238E27FC236}">
                <a16:creationId xmlns:a16="http://schemas.microsoft.com/office/drawing/2014/main" id="{1ED403F8-5DB5-792C-1E6C-00980BD47C45}"/>
              </a:ext>
            </a:extLst>
          </p:cNvPr>
          <p:cNvSpPr/>
          <p:nvPr/>
        </p:nvSpPr>
        <p:spPr>
          <a:xfrm>
            <a:off x="6400800" y="5182576"/>
            <a:ext cx="4419600" cy="1433994"/>
          </a:xfrm>
          <a:prstGeom prst="roundRect">
            <a:avLst/>
          </a:prstGeom>
          <a:noFill/>
          <a:ln w="38100">
            <a:solidFill>
              <a:srgbClr val="F9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717A6E-1587-0BFE-90DC-9FDD3219A6A0}"/>
              </a:ext>
            </a:extLst>
          </p:cNvPr>
          <p:cNvSpPr txBox="1"/>
          <p:nvPr/>
        </p:nvSpPr>
        <p:spPr>
          <a:xfrm>
            <a:off x="2214922" y="5557721"/>
            <a:ext cx="3429000" cy="1015663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Fields</a:t>
            </a:r>
            <a:r>
              <a:rPr lang="en-IE" sz="2000" dirty="0"/>
              <a:t> </a:t>
            </a:r>
            <a:br>
              <a:rPr lang="en-IE" sz="2000" dirty="0"/>
            </a:br>
            <a:r>
              <a:rPr lang="en-IE" sz="2000" dirty="0"/>
              <a:t>i.e. the </a:t>
            </a:r>
            <a:r>
              <a:rPr lang="en-IE" sz="2000" b="1" dirty="0"/>
              <a:t>attributes / properties</a:t>
            </a:r>
            <a:r>
              <a:rPr lang="en-IE" sz="2000" dirty="0"/>
              <a:t> </a:t>
            </a:r>
            <a:br>
              <a:rPr lang="en-IE" sz="2000" dirty="0"/>
            </a:br>
            <a:r>
              <a:rPr lang="en-IE" sz="2000" dirty="0"/>
              <a:t>of the class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EED9950-0D50-5ECF-A5FE-E719C12AC29F}"/>
              </a:ext>
            </a:extLst>
          </p:cNvPr>
          <p:cNvCxnSpPr>
            <a:cxnSpLocks/>
          </p:cNvCxnSpPr>
          <p:nvPr/>
        </p:nvCxnSpPr>
        <p:spPr>
          <a:xfrm>
            <a:off x="5415322" y="6172200"/>
            <a:ext cx="1195669" cy="0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DB676A2-0AD3-AD8D-27DF-2B3D72B3B6CC}"/>
              </a:ext>
            </a:extLst>
          </p:cNvPr>
          <p:cNvSpPr txBox="1"/>
          <p:nvPr/>
        </p:nvSpPr>
        <p:spPr>
          <a:xfrm>
            <a:off x="2209800" y="4953000"/>
            <a:ext cx="3205522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b="0" dirty="0"/>
              <a:t>The </a:t>
            </a:r>
            <a:r>
              <a:rPr lang="en-IE" dirty="0"/>
              <a:t>f</a:t>
            </a:r>
            <a:r>
              <a:rPr lang="en-IE" b="0" dirty="0"/>
              <a:t> icon means it is a </a:t>
            </a:r>
            <a:r>
              <a:rPr lang="en-IE" dirty="0"/>
              <a:t>field</a:t>
            </a:r>
            <a:r>
              <a:rPr lang="en-IE" b="0" dirty="0"/>
              <a:t>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6283BF-FC02-3429-B985-01C29E1A679F}"/>
              </a:ext>
            </a:extLst>
          </p:cNvPr>
          <p:cNvCxnSpPr>
            <a:cxnSpLocks/>
          </p:cNvCxnSpPr>
          <p:nvPr/>
        </p:nvCxnSpPr>
        <p:spPr>
          <a:xfrm>
            <a:off x="5415324" y="5161304"/>
            <a:ext cx="1195667" cy="989624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A94FFA-7E46-3560-813D-CB92CE0B6C97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401234" y="4059641"/>
            <a:ext cx="1524000" cy="1266301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2848BF-B176-F686-4A63-41776D63B223}"/>
              </a:ext>
            </a:extLst>
          </p:cNvPr>
          <p:cNvSpPr txBox="1"/>
          <p:nvPr/>
        </p:nvSpPr>
        <p:spPr>
          <a:xfrm>
            <a:off x="2209800" y="3705697"/>
            <a:ext cx="3191434" cy="707886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b="0" dirty="0"/>
              <a:t>The </a:t>
            </a:r>
            <a:r>
              <a:rPr lang="en-IE" b="0" u="sng" dirty="0"/>
              <a:t>closed padlock </a:t>
            </a:r>
            <a:r>
              <a:rPr lang="en-IE" b="0" dirty="0"/>
              <a:t>means it is </a:t>
            </a:r>
            <a:r>
              <a:rPr lang="en-IE" dirty="0"/>
              <a:t>private</a:t>
            </a:r>
            <a:r>
              <a:rPr lang="en-IE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854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64BBDF-D76B-AF12-69C5-9EB12BB5D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306" y="1041020"/>
            <a:ext cx="5372100" cy="581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18" name="Rectangle: Rounded Corners 6">
            <a:extLst>
              <a:ext uri="{FF2B5EF4-FFF2-40B4-BE49-F238E27FC236}">
                <a16:creationId xmlns:a16="http://schemas.microsoft.com/office/drawing/2014/main" id="{1ED403F8-5DB5-792C-1E6C-00980BD47C45}"/>
              </a:ext>
            </a:extLst>
          </p:cNvPr>
          <p:cNvSpPr/>
          <p:nvPr/>
        </p:nvSpPr>
        <p:spPr>
          <a:xfrm>
            <a:off x="6405922" y="5348555"/>
            <a:ext cx="4419600" cy="1433994"/>
          </a:xfrm>
          <a:prstGeom prst="roundRect">
            <a:avLst/>
          </a:prstGeom>
          <a:noFill/>
          <a:ln w="38100">
            <a:solidFill>
              <a:srgbClr val="F9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717A6E-1587-0BFE-90DC-9FDD3219A6A0}"/>
              </a:ext>
            </a:extLst>
          </p:cNvPr>
          <p:cNvSpPr txBox="1"/>
          <p:nvPr/>
        </p:nvSpPr>
        <p:spPr>
          <a:xfrm>
            <a:off x="2214922" y="5557721"/>
            <a:ext cx="3429000" cy="1015663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Fields</a:t>
            </a:r>
            <a:r>
              <a:rPr lang="en-IE" sz="2000" dirty="0"/>
              <a:t> </a:t>
            </a:r>
            <a:br>
              <a:rPr lang="en-IE" sz="2000" dirty="0"/>
            </a:br>
            <a:r>
              <a:rPr lang="en-IE" sz="2000" dirty="0"/>
              <a:t>i.e. the </a:t>
            </a:r>
            <a:r>
              <a:rPr lang="en-IE" sz="2000" b="1" dirty="0"/>
              <a:t>attributes / properties</a:t>
            </a:r>
            <a:r>
              <a:rPr lang="en-IE" sz="2000" dirty="0"/>
              <a:t> </a:t>
            </a:r>
            <a:br>
              <a:rPr lang="en-IE" sz="2000" dirty="0"/>
            </a:br>
            <a:r>
              <a:rPr lang="en-IE" sz="2000" dirty="0"/>
              <a:t>of the class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EED9950-0D50-5ECF-A5FE-E719C12AC29F}"/>
              </a:ext>
            </a:extLst>
          </p:cNvPr>
          <p:cNvCxnSpPr>
            <a:cxnSpLocks/>
          </p:cNvCxnSpPr>
          <p:nvPr/>
        </p:nvCxnSpPr>
        <p:spPr>
          <a:xfrm>
            <a:off x="5415322" y="6172200"/>
            <a:ext cx="1195669" cy="0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DB676A2-0AD3-AD8D-27DF-2B3D72B3B6CC}"/>
              </a:ext>
            </a:extLst>
          </p:cNvPr>
          <p:cNvSpPr txBox="1"/>
          <p:nvPr/>
        </p:nvSpPr>
        <p:spPr>
          <a:xfrm>
            <a:off x="2209800" y="4953000"/>
            <a:ext cx="3205522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b="0" dirty="0"/>
              <a:t>The </a:t>
            </a:r>
            <a:r>
              <a:rPr lang="en-IE" dirty="0"/>
              <a:t>f</a:t>
            </a:r>
            <a:r>
              <a:rPr lang="en-IE" b="0" dirty="0"/>
              <a:t> icon means it is a </a:t>
            </a:r>
            <a:r>
              <a:rPr lang="en-IE" dirty="0"/>
              <a:t>field</a:t>
            </a:r>
            <a:r>
              <a:rPr lang="en-IE" b="0" dirty="0"/>
              <a:t>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6283BF-FC02-3429-B985-01C29E1A679F}"/>
              </a:ext>
            </a:extLst>
          </p:cNvPr>
          <p:cNvCxnSpPr>
            <a:cxnSpLocks/>
          </p:cNvCxnSpPr>
          <p:nvPr/>
        </p:nvCxnSpPr>
        <p:spPr>
          <a:xfrm>
            <a:off x="5415324" y="5161304"/>
            <a:ext cx="1195667" cy="989624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A94FFA-7E46-3560-813D-CB92CE0B6C97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401234" y="4059641"/>
            <a:ext cx="1524000" cy="1266301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2848BF-B176-F686-4A63-41776D63B223}"/>
              </a:ext>
            </a:extLst>
          </p:cNvPr>
          <p:cNvSpPr txBox="1"/>
          <p:nvPr/>
        </p:nvSpPr>
        <p:spPr>
          <a:xfrm>
            <a:off x="2209800" y="3705697"/>
            <a:ext cx="3191434" cy="707886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b="0" dirty="0"/>
              <a:t>The </a:t>
            </a:r>
            <a:r>
              <a:rPr lang="en-IE" b="0" u="sng" dirty="0"/>
              <a:t>closed padlock </a:t>
            </a:r>
            <a:r>
              <a:rPr lang="en-IE" b="0" dirty="0"/>
              <a:t>means it is </a:t>
            </a:r>
            <a:r>
              <a:rPr lang="en-IE" dirty="0"/>
              <a:t>private</a:t>
            </a:r>
            <a:r>
              <a:rPr lang="en-IE" b="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4597D7-942E-7FFC-C0CE-82446B46C78A}"/>
              </a:ext>
            </a:extLst>
          </p:cNvPr>
          <p:cNvSpPr txBox="1"/>
          <p:nvPr/>
        </p:nvSpPr>
        <p:spPr>
          <a:xfrm>
            <a:off x="3858183" y="2904505"/>
            <a:ext cx="1600200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dirty="0"/>
              <a:t>field </a:t>
            </a:r>
            <a:r>
              <a:rPr lang="en-IE" b="1" dirty="0"/>
              <a:t>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B6B0BC-2989-48F7-8774-19F673CA6D6B}"/>
              </a:ext>
            </a:extLst>
          </p:cNvPr>
          <p:cNvSpPr txBox="1"/>
          <p:nvPr/>
        </p:nvSpPr>
        <p:spPr>
          <a:xfrm>
            <a:off x="3858184" y="2362200"/>
            <a:ext cx="1615890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dirty="0"/>
              <a:t>field </a:t>
            </a:r>
            <a:r>
              <a:rPr lang="en-IE" b="1" dirty="0"/>
              <a:t>type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C4BDCA-66CC-3683-1C87-CE34686B4B63}"/>
              </a:ext>
            </a:extLst>
          </p:cNvPr>
          <p:cNvCxnSpPr>
            <a:cxnSpLocks/>
          </p:cNvCxnSpPr>
          <p:nvPr/>
        </p:nvCxnSpPr>
        <p:spPr>
          <a:xfrm>
            <a:off x="5474073" y="3288488"/>
            <a:ext cx="1841127" cy="2037454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4256265-9807-F92F-AFDC-916B85743A86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5474074" y="2562255"/>
            <a:ext cx="2450726" cy="2763687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33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Class…Constructor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pic>
        <p:nvPicPr>
          <p:cNvPr id="6" name="Picture 5" descr="Table&#10;&#10;Description automatically generated with medium confidence">
            <a:extLst>
              <a:ext uri="{FF2B5EF4-FFF2-40B4-BE49-F238E27FC236}">
                <a16:creationId xmlns:a16="http://schemas.microsoft.com/office/drawing/2014/main" id="{C82FF24B-5CE1-8941-ECC7-295A8C5DCE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" b="88637"/>
          <a:stretch/>
        </p:blipFill>
        <p:spPr>
          <a:xfrm>
            <a:off x="6031522" y="1610092"/>
            <a:ext cx="5474678" cy="5701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C3C2130-7317-AD37-2101-4A4D75F9F4D6}"/>
              </a:ext>
            </a:extLst>
          </p:cNvPr>
          <p:cNvSpPr txBox="1"/>
          <p:nvPr/>
        </p:nvSpPr>
        <p:spPr>
          <a:xfrm>
            <a:off x="2517369" y="1680613"/>
            <a:ext cx="3093945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Constructor</a:t>
            </a:r>
            <a:r>
              <a:rPr lang="en-IE" sz="2400" dirty="0"/>
              <a:t> </a:t>
            </a:r>
            <a:br>
              <a:rPr lang="en-IE" sz="2400" dirty="0"/>
            </a:br>
            <a:r>
              <a:rPr lang="en-IE" sz="2400" dirty="0"/>
              <a:t>i.e. for building objects.</a:t>
            </a:r>
          </a:p>
        </p:txBody>
      </p:sp>
      <p:sp>
        <p:nvSpPr>
          <p:cNvPr id="27" name="Rectangle: Rounded Corners 20">
            <a:extLst>
              <a:ext uri="{FF2B5EF4-FFF2-40B4-BE49-F238E27FC236}">
                <a16:creationId xmlns:a16="http://schemas.microsoft.com/office/drawing/2014/main" id="{291AFB0E-BDD0-B50D-0B6F-7D4FE04E05BC}"/>
              </a:ext>
            </a:extLst>
          </p:cNvPr>
          <p:cNvSpPr/>
          <p:nvPr/>
        </p:nvSpPr>
        <p:spPr>
          <a:xfrm>
            <a:off x="6497214" y="1874658"/>
            <a:ext cx="4932786" cy="335937"/>
          </a:xfrm>
          <a:prstGeom prst="roundRect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3EA4806-BB4F-BFE5-791A-8424C761DD6F}"/>
              </a:ext>
            </a:extLst>
          </p:cNvPr>
          <p:cNvCxnSpPr>
            <a:cxnSpLocks/>
          </p:cNvCxnSpPr>
          <p:nvPr/>
        </p:nvCxnSpPr>
        <p:spPr>
          <a:xfrm>
            <a:off x="5611314" y="2066094"/>
            <a:ext cx="558055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CF06EBA-C925-FFCD-3898-183E5D3C8BE0}"/>
              </a:ext>
            </a:extLst>
          </p:cNvPr>
          <p:cNvSpPr txBox="1"/>
          <p:nvPr/>
        </p:nvSpPr>
        <p:spPr>
          <a:xfrm>
            <a:off x="2514600" y="3096998"/>
            <a:ext cx="3816407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The </a:t>
            </a:r>
            <a:r>
              <a:rPr lang="en-IE" sz="2000" b="1" dirty="0"/>
              <a:t>m</a:t>
            </a:r>
            <a:r>
              <a:rPr lang="en-IE" sz="2000" dirty="0"/>
              <a:t> icon means it is a </a:t>
            </a:r>
            <a:r>
              <a:rPr lang="en-IE" sz="2000" b="1" dirty="0"/>
              <a:t>method</a:t>
            </a:r>
            <a:r>
              <a:rPr lang="en-IE" sz="2000" dirty="0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EA449A-6A72-EF05-DAAB-D344D8230751}"/>
              </a:ext>
            </a:extLst>
          </p:cNvPr>
          <p:cNvSpPr txBox="1"/>
          <p:nvPr/>
        </p:nvSpPr>
        <p:spPr>
          <a:xfrm>
            <a:off x="3175633" y="4001754"/>
            <a:ext cx="4173072" cy="400110"/>
          </a:xfrm>
          <a:prstGeom prst="rect">
            <a:avLst/>
          </a:prstGeom>
          <a:solidFill>
            <a:srgbClr val="A1D38E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dirty="0"/>
              <a:t>The </a:t>
            </a:r>
            <a:r>
              <a:rPr lang="en-IE" u="sng" dirty="0"/>
              <a:t>open padlock </a:t>
            </a:r>
            <a:r>
              <a:rPr lang="en-IE" dirty="0"/>
              <a:t>means it is </a:t>
            </a:r>
            <a:r>
              <a:rPr lang="en-IE" b="1" dirty="0"/>
              <a:t>public</a:t>
            </a:r>
            <a:r>
              <a:rPr lang="en-IE" dirty="0"/>
              <a:t>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2DF585F-71AC-1D2B-B0A0-06A42045DDCB}"/>
              </a:ext>
            </a:extLst>
          </p:cNvPr>
          <p:cNvCxnSpPr>
            <a:cxnSpLocks/>
          </p:cNvCxnSpPr>
          <p:nvPr/>
        </p:nvCxnSpPr>
        <p:spPr>
          <a:xfrm flipV="1">
            <a:off x="5573214" y="2137813"/>
            <a:ext cx="1028701" cy="978500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C720D3-C2C2-133B-0F1E-7D4B6DF5D64D}"/>
              </a:ext>
            </a:extLst>
          </p:cNvPr>
          <p:cNvSpPr txBox="1"/>
          <p:nvPr/>
        </p:nvSpPr>
        <p:spPr>
          <a:xfrm>
            <a:off x="4549518" y="4887153"/>
            <a:ext cx="4572000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/>
              <a:t>Constructors have same </a:t>
            </a:r>
            <a:r>
              <a:rPr lang="en-IE" dirty="0"/>
              <a:t>name as the class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33143A6-BFBB-9AC4-C20B-7B5F884F2C92}"/>
              </a:ext>
            </a:extLst>
          </p:cNvPr>
          <p:cNvCxnSpPr>
            <a:cxnSpLocks/>
          </p:cNvCxnSpPr>
          <p:nvPr/>
        </p:nvCxnSpPr>
        <p:spPr>
          <a:xfrm flipH="1" flipV="1">
            <a:off x="7590990" y="2104037"/>
            <a:ext cx="382524" cy="2783116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71E4840-FF88-BF90-A403-619D6B7D4DAB}"/>
              </a:ext>
            </a:extLst>
          </p:cNvPr>
          <p:cNvCxnSpPr>
            <a:cxnSpLocks/>
          </p:cNvCxnSpPr>
          <p:nvPr/>
        </p:nvCxnSpPr>
        <p:spPr>
          <a:xfrm flipV="1">
            <a:off x="6847323" y="2104037"/>
            <a:ext cx="77901" cy="1897718"/>
          </a:xfrm>
          <a:prstGeom prst="straightConnector1">
            <a:avLst/>
          </a:prstGeom>
          <a:ln w="28575">
            <a:solidFill>
              <a:srgbClr val="A1D38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06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9" grpId="0" animBg="1"/>
      <p:bldP spid="30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Class…Constructor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pic>
        <p:nvPicPr>
          <p:cNvPr id="6" name="Picture 5" descr="Table&#10;&#10;Description automatically generated with medium confidence">
            <a:extLst>
              <a:ext uri="{FF2B5EF4-FFF2-40B4-BE49-F238E27FC236}">
                <a16:creationId xmlns:a16="http://schemas.microsoft.com/office/drawing/2014/main" id="{C82FF24B-5CE1-8941-ECC7-295A8C5DCE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" b="88637"/>
          <a:stretch/>
        </p:blipFill>
        <p:spPr>
          <a:xfrm>
            <a:off x="6031522" y="1610092"/>
            <a:ext cx="5474678" cy="5701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C3C2130-7317-AD37-2101-4A4D75F9F4D6}"/>
              </a:ext>
            </a:extLst>
          </p:cNvPr>
          <p:cNvSpPr txBox="1"/>
          <p:nvPr/>
        </p:nvSpPr>
        <p:spPr>
          <a:xfrm>
            <a:off x="2517369" y="1680613"/>
            <a:ext cx="3093945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Constructor</a:t>
            </a:r>
            <a:r>
              <a:rPr lang="en-IE" sz="2400" dirty="0"/>
              <a:t> </a:t>
            </a:r>
            <a:br>
              <a:rPr lang="en-IE" sz="2400" dirty="0"/>
            </a:br>
            <a:r>
              <a:rPr lang="en-IE" sz="2400" dirty="0"/>
              <a:t>i.e. for building objects.</a:t>
            </a:r>
          </a:p>
        </p:txBody>
      </p:sp>
      <p:sp>
        <p:nvSpPr>
          <p:cNvPr id="27" name="Rectangle: Rounded Corners 20">
            <a:extLst>
              <a:ext uri="{FF2B5EF4-FFF2-40B4-BE49-F238E27FC236}">
                <a16:creationId xmlns:a16="http://schemas.microsoft.com/office/drawing/2014/main" id="{291AFB0E-BDD0-B50D-0B6F-7D4FE04E05BC}"/>
              </a:ext>
            </a:extLst>
          </p:cNvPr>
          <p:cNvSpPr/>
          <p:nvPr/>
        </p:nvSpPr>
        <p:spPr>
          <a:xfrm>
            <a:off x="6497214" y="1874658"/>
            <a:ext cx="4932786" cy="335937"/>
          </a:xfrm>
          <a:prstGeom prst="roundRect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3EA4806-BB4F-BFE5-791A-8424C761DD6F}"/>
              </a:ext>
            </a:extLst>
          </p:cNvPr>
          <p:cNvCxnSpPr>
            <a:cxnSpLocks/>
          </p:cNvCxnSpPr>
          <p:nvPr/>
        </p:nvCxnSpPr>
        <p:spPr>
          <a:xfrm>
            <a:off x="5611314" y="2066094"/>
            <a:ext cx="558055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CF06EBA-C925-FFCD-3898-183E5D3C8BE0}"/>
              </a:ext>
            </a:extLst>
          </p:cNvPr>
          <p:cNvSpPr txBox="1"/>
          <p:nvPr/>
        </p:nvSpPr>
        <p:spPr>
          <a:xfrm>
            <a:off x="2514600" y="3096998"/>
            <a:ext cx="3816407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The </a:t>
            </a:r>
            <a:r>
              <a:rPr lang="en-IE" sz="2000" b="1" dirty="0"/>
              <a:t>m</a:t>
            </a:r>
            <a:r>
              <a:rPr lang="en-IE" sz="2000" dirty="0"/>
              <a:t> icon means it is a </a:t>
            </a:r>
            <a:r>
              <a:rPr lang="en-IE" sz="2000" b="1" dirty="0"/>
              <a:t>method</a:t>
            </a:r>
            <a:r>
              <a:rPr lang="en-IE" sz="2000" dirty="0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EA449A-6A72-EF05-DAAB-D344D8230751}"/>
              </a:ext>
            </a:extLst>
          </p:cNvPr>
          <p:cNvSpPr txBox="1"/>
          <p:nvPr/>
        </p:nvSpPr>
        <p:spPr>
          <a:xfrm>
            <a:off x="3175633" y="4001754"/>
            <a:ext cx="4173072" cy="400110"/>
          </a:xfrm>
          <a:prstGeom prst="rect">
            <a:avLst/>
          </a:prstGeom>
          <a:solidFill>
            <a:srgbClr val="A1D38E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dirty="0"/>
              <a:t>The </a:t>
            </a:r>
            <a:r>
              <a:rPr lang="en-IE" u="sng" dirty="0"/>
              <a:t>open padlock </a:t>
            </a:r>
            <a:r>
              <a:rPr lang="en-IE" dirty="0"/>
              <a:t>means it is </a:t>
            </a:r>
            <a:r>
              <a:rPr lang="en-IE" b="1" dirty="0"/>
              <a:t>public</a:t>
            </a:r>
            <a:r>
              <a:rPr lang="en-IE" dirty="0"/>
              <a:t>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2DF585F-71AC-1D2B-B0A0-06A42045DDCB}"/>
              </a:ext>
            </a:extLst>
          </p:cNvPr>
          <p:cNvCxnSpPr>
            <a:cxnSpLocks/>
          </p:cNvCxnSpPr>
          <p:nvPr/>
        </p:nvCxnSpPr>
        <p:spPr>
          <a:xfrm flipV="1">
            <a:off x="5573214" y="2137813"/>
            <a:ext cx="1028701" cy="978500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C720D3-C2C2-133B-0F1E-7D4B6DF5D64D}"/>
              </a:ext>
            </a:extLst>
          </p:cNvPr>
          <p:cNvSpPr txBox="1"/>
          <p:nvPr/>
        </p:nvSpPr>
        <p:spPr>
          <a:xfrm>
            <a:off x="4549518" y="4887153"/>
            <a:ext cx="4572000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/>
              <a:t>Constructors have same </a:t>
            </a:r>
            <a:r>
              <a:rPr lang="en-IE" dirty="0"/>
              <a:t>name as the class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B057F5-17D0-63D5-413D-B3A244B90F9C}"/>
              </a:ext>
            </a:extLst>
          </p:cNvPr>
          <p:cNvSpPr txBox="1"/>
          <p:nvPr/>
        </p:nvSpPr>
        <p:spPr>
          <a:xfrm>
            <a:off x="8780720" y="5439767"/>
            <a:ext cx="2620254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dirty="0"/>
              <a:t>Five </a:t>
            </a:r>
            <a:r>
              <a:rPr lang="en-IE" b="1" dirty="0"/>
              <a:t>parameters</a:t>
            </a:r>
            <a:r>
              <a:rPr lang="en-IE" dirty="0"/>
              <a:t>; </a:t>
            </a:r>
            <a:br>
              <a:rPr lang="en-IE" dirty="0"/>
            </a:br>
            <a:r>
              <a:rPr lang="en-IE" dirty="0"/>
              <a:t>one for each field.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33143A6-BFBB-9AC4-C20B-7B5F884F2C92}"/>
              </a:ext>
            </a:extLst>
          </p:cNvPr>
          <p:cNvCxnSpPr>
            <a:cxnSpLocks/>
          </p:cNvCxnSpPr>
          <p:nvPr/>
        </p:nvCxnSpPr>
        <p:spPr>
          <a:xfrm flipH="1" flipV="1">
            <a:off x="7590990" y="2104037"/>
            <a:ext cx="382524" cy="2783116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71E4840-FF88-BF90-A403-619D6B7D4DAB}"/>
              </a:ext>
            </a:extLst>
          </p:cNvPr>
          <p:cNvCxnSpPr>
            <a:cxnSpLocks/>
          </p:cNvCxnSpPr>
          <p:nvPr/>
        </p:nvCxnSpPr>
        <p:spPr>
          <a:xfrm flipV="1">
            <a:off x="6847323" y="2104037"/>
            <a:ext cx="77901" cy="1897718"/>
          </a:xfrm>
          <a:prstGeom prst="straightConnector1">
            <a:avLst/>
          </a:prstGeom>
          <a:ln w="28575">
            <a:solidFill>
              <a:srgbClr val="A1D38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C1F215-80C0-BAF7-17C9-DA26F1AEE5D3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8534400" y="2210595"/>
            <a:ext cx="1556447" cy="3229172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EAF26A0-E50D-1F8A-A133-0E4FCD352956}"/>
              </a:ext>
            </a:extLst>
          </p:cNvPr>
          <p:cNvCxnSpPr>
            <a:cxnSpLocks/>
          </p:cNvCxnSpPr>
          <p:nvPr/>
        </p:nvCxnSpPr>
        <p:spPr>
          <a:xfrm flipH="1" flipV="1">
            <a:off x="9121518" y="2210595"/>
            <a:ext cx="937924" cy="3229172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57E2732-654D-11D0-F0BB-A8C4D20CDD1C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9906000" y="2180234"/>
            <a:ext cx="184847" cy="3259533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23A3FA4-A4E8-8C4C-3319-0AFE588B67E6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10090847" y="2210595"/>
            <a:ext cx="272353" cy="3229172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C8FBBE0-7668-DD0F-A057-08796CAC53DD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10090847" y="2180234"/>
            <a:ext cx="805753" cy="3259533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95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9" grpId="0" animBg="1"/>
      <p:bldP spid="30" grpId="0" animBg="1"/>
      <p:bldP spid="32" grpId="0" animBg="1"/>
      <p:bldP spid="3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Class…Fields and Constructor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5559702-2446-1EAE-ED35-26563BFFFB43}"/>
              </a:ext>
            </a:extLst>
          </p:cNvPr>
          <p:cNvSpPr/>
          <p:nvPr/>
        </p:nvSpPr>
        <p:spPr>
          <a:xfrm>
            <a:off x="228600" y="1828800"/>
            <a:ext cx="11887200" cy="4247317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endParaRPr lang="en-IE" b="1" dirty="0">
              <a:solidFill>
                <a:srgbClr val="000080"/>
              </a:solidFill>
            </a:endParaRPr>
          </a:p>
          <a:p>
            <a:r>
              <a:rPr lang="en-IE" b="1" dirty="0">
                <a:solidFill>
                  <a:srgbClr val="000080"/>
                </a:solidFill>
              </a:rPr>
              <a:t>private </a:t>
            </a:r>
            <a:r>
              <a:rPr lang="en-IE" dirty="0"/>
              <a:t>String </a:t>
            </a:r>
            <a:r>
              <a:rPr lang="en-IE" b="1" dirty="0">
                <a:solidFill>
                  <a:srgbClr val="660E7A"/>
                </a:solidFill>
              </a:rPr>
              <a:t>name </a:t>
            </a:r>
            <a:r>
              <a:rPr lang="en-IE" dirty="0"/>
              <a:t>= </a:t>
            </a:r>
            <a:r>
              <a:rPr lang="en-IE" b="1" dirty="0">
                <a:solidFill>
                  <a:srgbClr val="008000"/>
                </a:solidFill>
              </a:rPr>
              <a:t>"Unknown"</a:t>
            </a:r>
            <a:r>
              <a:rPr lang="en-IE" dirty="0"/>
              <a:t>;  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b="1" dirty="0">
                <a:solidFill>
                  <a:srgbClr val="000080"/>
                </a:solidFill>
              </a:rPr>
              <a:t>private double </a:t>
            </a:r>
            <a:r>
              <a:rPr lang="en-IE" b="1" dirty="0">
                <a:solidFill>
                  <a:srgbClr val="660E7A"/>
                </a:solidFill>
              </a:rPr>
              <a:t>height </a:t>
            </a:r>
            <a:r>
              <a:rPr lang="en-IE" dirty="0"/>
              <a:t>= </a:t>
            </a:r>
            <a:r>
              <a:rPr lang="en-IE" dirty="0">
                <a:solidFill>
                  <a:srgbClr val="0000FF"/>
                </a:solidFill>
              </a:rPr>
              <a:t>0.0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b="1" dirty="0">
                <a:solidFill>
                  <a:srgbClr val="000080"/>
                </a:solidFill>
              </a:rPr>
              <a:t>private double </a:t>
            </a:r>
            <a:r>
              <a:rPr lang="en-IE" b="1" dirty="0">
                <a:solidFill>
                  <a:srgbClr val="660E7A"/>
                </a:solidFill>
              </a:rPr>
              <a:t>weight </a:t>
            </a:r>
            <a:r>
              <a:rPr lang="en-IE" dirty="0"/>
              <a:t>= </a:t>
            </a:r>
            <a:r>
              <a:rPr lang="en-IE" dirty="0">
                <a:solidFill>
                  <a:srgbClr val="0000FF"/>
                </a:solidFill>
              </a:rPr>
              <a:t>0.0</a:t>
            </a:r>
            <a:r>
              <a:rPr lang="en-IE" dirty="0"/>
              <a:t>;   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b="1" dirty="0">
                <a:solidFill>
                  <a:srgbClr val="000080"/>
                </a:solidFill>
              </a:rPr>
              <a:t>private int </a:t>
            </a:r>
            <a:r>
              <a:rPr lang="en-IE" b="1" dirty="0" err="1">
                <a:solidFill>
                  <a:srgbClr val="660E7A"/>
                </a:solidFill>
              </a:rPr>
              <a:t>membershipNumber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dirty="0">
                <a:solidFill>
                  <a:srgbClr val="0000FF"/>
                </a:solidFill>
              </a:rPr>
              <a:t>99999</a:t>
            </a:r>
            <a:r>
              <a:rPr lang="en-IE" dirty="0"/>
              <a:t>; </a:t>
            </a:r>
          </a:p>
          <a:p>
            <a:r>
              <a:rPr lang="en-IE" b="1" dirty="0">
                <a:solidFill>
                  <a:srgbClr val="000080"/>
                </a:solidFill>
              </a:rPr>
              <a:t>private </a:t>
            </a:r>
            <a:r>
              <a:rPr lang="en-IE" b="1" dirty="0" err="1">
                <a:solidFill>
                  <a:srgbClr val="000080"/>
                </a:solidFill>
              </a:rPr>
              <a:t>boolean</a:t>
            </a:r>
            <a:r>
              <a:rPr lang="en-IE" b="1" dirty="0">
                <a:solidFill>
                  <a:srgbClr val="000080"/>
                </a:solidFill>
              </a:rPr>
              <a:t> </a:t>
            </a:r>
            <a:r>
              <a:rPr lang="en-IE" b="1" dirty="0" err="1">
                <a:solidFill>
                  <a:srgbClr val="660E7A"/>
                </a:solidFill>
              </a:rPr>
              <a:t>isCurrentGymMember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b="1" dirty="0">
                <a:solidFill>
                  <a:srgbClr val="000080"/>
                </a:solidFill>
              </a:rPr>
              <a:t>false</a:t>
            </a:r>
            <a:r>
              <a:rPr lang="en-IE" dirty="0"/>
              <a:t>;</a:t>
            </a:r>
            <a:br>
              <a:rPr lang="en-IE" dirty="0"/>
            </a:br>
            <a:br>
              <a:rPr lang="en-IE" dirty="0"/>
            </a:br>
            <a:r>
              <a:rPr lang="en-IE" b="1" dirty="0">
                <a:solidFill>
                  <a:srgbClr val="000080"/>
                </a:solidFill>
              </a:rPr>
              <a:t>public </a:t>
            </a:r>
            <a:r>
              <a:rPr lang="en-IE" dirty="0" err="1"/>
              <a:t>GymMember</a:t>
            </a:r>
            <a:r>
              <a:rPr lang="en-IE" dirty="0"/>
              <a:t>(String name, </a:t>
            </a:r>
            <a:r>
              <a:rPr lang="en-IE" b="1" dirty="0">
                <a:solidFill>
                  <a:srgbClr val="000080"/>
                </a:solidFill>
              </a:rPr>
              <a:t>double </a:t>
            </a:r>
            <a:r>
              <a:rPr lang="en-IE" dirty="0"/>
              <a:t>height, </a:t>
            </a:r>
            <a:r>
              <a:rPr lang="en-IE" b="1" dirty="0">
                <a:solidFill>
                  <a:srgbClr val="000080"/>
                </a:solidFill>
              </a:rPr>
              <a:t>double </a:t>
            </a:r>
            <a:r>
              <a:rPr lang="en-IE" dirty="0"/>
              <a:t>weight, </a:t>
            </a:r>
            <a:r>
              <a:rPr lang="en-IE" b="1" dirty="0">
                <a:solidFill>
                  <a:srgbClr val="000080"/>
                </a:solidFill>
              </a:rPr>
              <a:t>int </a:t>
            </a:r>
            <a:r>
              <a:rPr lang="en-IE" dirty="0" err="1"/>
              <a:t>membershipNumber</a:t>
            </a:r>
            <a:r>
              <a:rPr lang="en-IE" dirty="0"/>
              <a:t>, </a:t>
            </a:r>
            <a:r>
              <a:rPr lang="en-IE" b="1" dirty="0" err="1">
                <a:solidFill>
                  <a:srgbClr val="000080"/>
                </a:solidFill>
              </a:rPr>
              <a:t>boolean</a:t>
            </a:r>
            <a:r>
              <a:rPr lang="en-IE" b="1" dirty="0">
                <a:solidFill>
                  <a:srgbClr val="000080"/>
                </a:solidFill>
              </a:rPr>
              <a:t> </a:t>
            </a:r>
            <a:r>
              <a:rPr lang="en-IE" dirty="0" err="1"/>
              <a:t>isCurrentGymMember</a:t>
            </a:r>
            <a:r>
              <a:rPr lang="en-IE" dirty="0"/>
              <a:t>) {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initName</a:t>
            </a:r>
            <a:r>
              <a:rPr lang="en-IE" dirty="0"/>
              <a:t>(name);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setHeight</a:t>
            </a:r>
            <a:r>
              <a:rPr lang="en-IE" dirty="0"/>
              <a:t>(height);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setWeight</a:t>
            </a:r>
            <a:r>
              <a:rPr lang="en-IE" dirty="0"/>
              <a:t>(weight);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setMembershipNumber</a:t>
            </a:r>
            <a:r>
              <a:rPr lang="en-IE" dirty="0"/>
              <a:t>(</a:t>
            </a:r>
            <a:r>
              <a:rPr lang="en-IE" dirty="0" err="1"/>
              <a:t>membershipNumber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setCurrentGymMember</a:t>
            </a:r>
            <a:r>
              <a:rPr lang="en-IE" dirty="0"/>
              <a:t>(</a:t>
            </a:r>
            <a:r>
              <a:rPr lang="en-IE" dirty="0" err="1"/>
              <a:t>isCurrentGymMember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}</a:t>
            </a:r>
          </a:p>
          <a:p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DEF71E-A0D7-0034-6F43-A336BFC29338}"/>
              </a:ext>
            </a:extLst>
          </p:cNvPr>
          <p:cNvSpPr/>
          <p:nvPr/>
        </p:nvSpPr>
        <p:spPr>
          <a:xfrm>
            <a:off x="293915" y="2133600"/>
            <a:ext cx="4811482" cy="1401762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4CF50F-7000-1A83-A995-9E49D90398F7}"/>
              </a:ext>
            </a:extLst>
          </p:cNvPr>
          <p:cNvSpPr/>
          <p:nvPr/>
        </p:nvSpPr>
        <p:spPr>
          <a:xfrm>
            <a:off x="293913" y="3793867"/>
            <a:ext cx="11669487" cy="203305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77A5121-0DFA-EBC8-CF2C-04FB32759CD0}"/>
              </a:ext>
            </a:extLst>
          </p:cNvPr>
          <p:cNvCxnSpPr>
            <a:cxnSpLocks/>
          </p:cNvCxnSpPr>
          <p:nvPr/>
        </p:nvCxnSpPr>
        <p:spPr>
          <a:xfrm flipH="1">
            <a:off x="4876801" y="1012453"/>
            <a:ext cx="431871" cy="1105014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16C1FDF-C359-FD83-94F2-0BE1F369F755}"/>
              </a:ext>
            </a:extLst>
          </p:cNvPr>
          <p:cNvCxnSpPr>
            <a:cxnSpLocks/>
          </p:cNvCxnSpPr>
          <p:nvPr/>
        </p:nvCxnSpPr>
        <p:spPr>
          <a:xfrm>
            <a:off x="8305800" y="1012453"/>
            <a:ext cx="0" cy="278141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27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D81D05-8CAC-0EF9-09CC-409DE211C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294" y="1789204"/>
            <a:ext cx="5372100" cy="48556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Class…methods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7B87679-642A-C344-B856-5B77E5A63735}"/>
              </a:ext>
            </a:extLst>
          </p:cNvPr>
          <p:cNvSpPr txBox="1"/>
          <p:nvPr/>
        </p:nvSpPr>
        <p:spPr>
          <a:xfrm>
            <a:off x="2138722" y="4300547"/>
            <a:ext cx="3428999" cy="707886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Methods</a:t>
            </a:r>
            <a:br>
              <a:rPr lang="en-IE" sz="2000"/>
            </a:br>
            <a:r>
              <a:rPr lang="en-IE" sz="2000"/>
              <a:t>i.e</a:t>
            </a:r>
            <a:r>
              <a:rPr lang="en-IE" sz="2000" dirty="0"/>
              <a:t>. the </a:t>
            </a:r>
            <a:r>
              <a:rPr lang="en-IE" sz="2000" b="1" dirty="0"/>
              <a:t>behaviours</a:t>
            </a:r>
            <a:r>
              <a:rPr lang="en-IE" sz="2000" dirty="0"/>
              <a:t> of the class</a:t>
            </a:r>
          </a:p>
        </p:txBody>
      </p:sp>
      <p:sp>
        <p:nvSpPr>
          <p:cNvPr id="27" name="Rectangle: Rounded Corners 6">
            <a:extLst>
              <a:ext uri="{FF2B5EF4-FFF2-40B4-BE49-F238E27FC236}">
                <a16:creationId xmlns:a16="http://schemas.microsoft.com/office/drawing/2014/main" id="{A7592025-56BA-47D6-3F10-EF8DD7CD21F9}"/>
              </a:ext>
            </a:extLst>
          </p:cNvPr>
          <p:cNvSpPr/>
          <p:nvPr/>
        </p:nvSpPr>
        <p:spPr>
          <a:xfrm>
            <a:off x="6285216" y="2005344"/>
            <a:ext cx="4349163" cy="3328655"/>
          </a:xfrm>
          <a:prstGeom prst="roundRect">
            <a:avLst/>
          </a:prstGeom>
          <a:noFill/>
          <a:ln w="38100">
            <a:solidFill>
              <a:srgbClr val="FCBA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A60563F-E5D0-E91B-7C08-1D644C5AF865}"/>
              </a:ext>
            </a:extLst>
          </p:cNvPr>
          <p:cNvCxnSpPr>
            <a:cxnSpLocks/>
          </p:cNvCxnSpPr>
          <p:nvPr/>
        </p:nvCxnSpPr>
        <p:spPr>
          <a:xfrm>
            <a:off x="5339122" y="4928094"/>
            <a:ext cx="705972" cy="24907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653ED67-C259-959E-55A3-EBA2F640AFED}"/>
              </a:ext>
            </a:extLst>
          </p:cNvPr>
          <p:cNvSpPr txBox="1"/>
          <p:nvPr/>
        </p:nvSpPr>
        <p:spPr>
          <a:xfrm>
            <a:off x="2133600" y="3695827"/>
            <a:ext cx="3662720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b="0" dirty="0"/>
              <a:t>The </a:t>
            </a:r>
            <a:r>
              <a:rPr lang="en-IE" dirty="0"/>
              <a:t>m</a:t>
            </a:r>
            <a:r>
              <a:rPr lang="en-IE" b="0" dirty="0"/>
              <a:t> icon means it is a </a:t>
            </a:r>
            <a:r>
              <a:rPr lang="en-IE" dirty="0"/>
              <a:t>method</a:t>
            </a:r>
            <a:r>
              <a:rPr lang="en-IE" b="0" dirty="0"/>
              <a:t>.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BEDC7DC-EC3D-13B0-6B5E-8679630FB02C}"/>
              </a:ext>
            </a:extLst>
          </p:cNvPr>
          <p:cNvCxnSpPr>
            <a:cxnSpLocks/>
          </p:cNvCxnSpPr>
          <p:nvPr/>
        </p:nvCxnSpPr>
        <p:spPr>
          <a:xfrm>
            <a:off x="5415322" y="4015735"/>
            <a:ext cx="1119469" cy="759958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84F714D-5C69-FD1C-F62A-C9489EB74973}"/>
              </a:ext>
            </a:extLst>
          </p:cNvPr>
          <p:cNvCxnSpPr>
            <a:cxnSpLocks/>
          </p:cNvCxnSpPr>
          <p:nvPr/>
        </p:nvCxnSpPr>
        <p:spPr>
          <a:xfrm>
            <a:off x="5339122" y="3147736"/>
            <a:ext cx="1524000" cy="1266301"/>
          </a:xfrm>
          <a:prstGeom prst="straightConnector1">
            <a:avLst/>
          </a:prstGeom>
          <a:ln w="28575">
            <a:solidFill>
              <a:srgbClr val="A1D38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59D2A09-E097-F199-E84D-CEE6446EB38D}"/>
              </a:ext>
            </a:extLst>
          </p:cNvPr>
          <p:cNvSpPr txBox="1"/>
          <p:nvPr/>
        </p:nvSpPr>
        <p:spPr>
          <a:xfrm>
            <a:off x="2136805" y="3091107"/>
            <a:ext cx="4029633" cy="400110"/>
          </a:xfrm>
          <a:prstGeom prst="rect">
            <a:avLst/>
          </a:prstGeom>
          <a:solidFill>
            <a:srgbClr val="A1D38E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b="0" dirty="0"/>
              <a:t>The </a:t>
            </a:r>
            <a:r>
              <a:rPr lang="en-IE" b="0" u="sng" dirty="0"/>
              <a:t>open padlock </a:t>
            </a:r>
            <a:r>
              <a:rPr lang="en-IE" b="0" dirty="0"/>
              <a:t>means it is </a:t>
            </a:r>
            <a:r>
              <a:rPr lang="en-IE" dirty="0"/>
              <a:t>public</a:t>
            </a:r>
            <a:r>
              <a:rPr lang="en-IE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19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9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7F16C3-4F92-3FC7-49DB-D5439611A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1345930"/>
            <a:ext cx="4914900" cy="53215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Class…methods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0A2DD3-9767-4B2A-23EF-32BC53F4310D}"/>
              </a:ext>
            </a:extLst>
          </p:cNvPr>
          <p:cNvSpPr txBox="1"/>
          <p:nvPr/>
        </p:nvSpPr>
        <p:spPr>
          <a:xfrm>
            <a:off x="3783587" y="2951409"/>
            <a:ext cx="1876984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/>
              <a:t>Method </a:t>
            </a:r>
            <a:r>
              <a:rPr lang="en-IE" b="1"/>
              <a:t>name</a:t>
            </a:r>
            <a:endParaRPr lang="en-IE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5B38D2-6006-9158-F562-C1CE37E5B498}"/>
              </a:ext>
            </a:extLst>
          </p:cNvPr>
          <p:cNvSpPr txBox="1"/>
          <p:nvPr/>
        </p:nvSpPr>
        <p:spPr>
          <a:xfrm>
            <a:off x="3783587" y="1661974"/>
            <a:ext cx="1892675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b="1" dirty="0"/>
              <a:t>Return</a:t>
            </a:r>
            <a:r>
              <a:rPr lang="en-IE" dirty="0"/>
              <a:t> </a:t>
            </a:r>
            <a:r>
              <a:rPr lang="en-IE" b="1" dirty="0"/>
              <a:t>type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18E781-96A5-AB1D-A885-4E9361414588}"/>
              </a:ext>
            </a:extLst>
          </p:cNvPr>
          <p:cNvCxnSpPr>
            <a:cxnSpLocks/>
          </p:cNvCxnSpPr>
          <p:nvPr/>
        </p:nvCxnSpPr>
        <p:spPr>
          <a:xfrm flipV="1">
            <a:off x="5638800" y="2493595"/>
            <a:ext cx="1600199" cy="666559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CFF6382-B9DF-277B-EC0D-3CB17B91FF27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676262" y="1862029"/>
            <a:ext cx="2755525" cy="380524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623149-6C5D-DB8E-6A26-AA192D9C1B83}"/>
              </a:ext>
            </a:extLst>
          </p:cNvPr>
          <p:cNvCxnSpPr>
            <a:cxnSpLocks/>
          </p:cNvCxnSpPr>
          <p:nvPr/>
        </p:nvCxnSpPr>
        <p:spPr>
          <a:xfrm>
            <a:off x="7142629" y="2440840"/>
            <a:ext cx="78217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9CC4D31-58A2-ACAF-955A-4740D3ADF39F}"/>
              </a:ext>
            </a:extLst>
          </p:cNvPr>
          <p:cNvCxnSpPr/>
          <p:nvPr/>
        </p:nvCxnSpPr>
        <p:spPr>
          <a:xfrm>
            <a:off x="8077200" y="2438552"/>
            <a:ext cx="6096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48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C2E8BA-CEC7-6E90-3E87-6B2450064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1501761"/>
            <a:ext cx="5372100" cy="50816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Class…getters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C67D78-F217-E74F-BB81-DBC1C6D734D2}"/>
              </a:ext>
            </a:extLst>
          </p:cNvPr>
          <p:cNvSpPr txBox="1"/>
          <p:nvPr/>
        </p:nvSpPr>
        <p:spPr>
          <a:xfrm>
            <a:off x="2353645" y="3117732"/>
            <a:ext cx="1682355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get</a:t>
            </a:r>
            <a:r>
              <a:rPr lang="en-IE" sz="2400" dirty="0"/>
              <a:t>ters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07B670-35A2-DD7E-6743-DF6F5BD56676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 flipV="1">
            <a:off x="4036000" y="2186094"/>
            <a:ext cx="2402900" cy="116247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1C60B9F-27A4-4596-1D10-F0841DEB24DB}"/>
              </a:ext>
            </a:extLst>
          </p:cNvPr>
          <p:cNvSpPr/>
          <p:nvPr/>
        </p:nvSpPr>
        <p:spPr>
          <a:xfrm>
            <a:off x="6444343" y="3887160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2" name="Rectangle: Rounded Corners 20">
            <a:extLst>
              <a:ext uri="{FF2B5EF4-FFF2-40B4-BE49-F238E27FC236}">
                <a16:creationId xmlns:a16="http://schemas.microsoft.com/office/drawing/2014/main" id="{8E5EEAB2-FD5C-0E1A-753E-C0A8D43C8383}"/>
              </a:ext>
            </a:extLst>
          </p:cNvPr>
          <p:cNvSpPr/>
          <p:nvPr/>
        </p:nvSpPr>
        <p:spPr>
          <a:xfrm>
            <a:off x="6477000" y="3334607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3" name="Rectangle: Rounded Corners 20">
            <a:extLst>
              <a:ext uri="{FF2B5EF4-FFF2-40B4-BE49-F238E27FC236}">
                <a16:creationId xmlns:a16="http://schemas.microsoft.com/office/drawing/2014/main" id="{291AFE38-D714-0806-2E27-A56BF60ED7B8}"/>
              </a:ext>
            </a:extLst>
          </p:cNvPr>
          <p:cNvSpPr/>
          <p:nvPr/>
        </p:nvSpPr>
        <p:spPr>
          <a:xfrm>
            <a:off x="6444343" y="2888750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Rectangle: Rounded Corners 20">
            <a:extLst>
              <a:ext uri="{FF2B5EF4-FFF2-40B4-BE49-F238E27FC236}">
                <a16:creationId xmlns:a16="http://schemas.microsoft.com/office/drawing/2014/main" id="{DDDE1C1B-B461-B3F6-BE66-097198E2DCAB}"/>
              </a:ext>
            </a:extLst>
          </p:cNvPr>
          <p:cNvSpPr/>
          <p:nvPr/>
        </p:nvSpPr>
        <p:spPr>
          <a:xfrm>
            <a:off x="6438900" y="2069561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5" name="Rectangle: Rounded Corners 20">
            <a:extLst>
              <a:ext uri="{FF2B5EF4-FFF2-40B4-BE49-F238E27FC236}">
                <a16:creationId xmlns:a16="http://schemas.microsoft.com/office/drawing/2014/main" id="{7C1E616F-DB7E-4F9B-5BCF-DA981034E0F9}"/>
              </a:ext>
            </a:extLst>
          </p:cNvPr>
          <p:cNvSpPr/>
          <p:nvPr/>
        </p:nvSpPr>
        <p:spPr>
          <a:xfrm>
            <a:off x="6476999" y="4410061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2A5FA5-F6D6-7A12-036F-D2FDD2D3483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flipV="1">
            <a:off x="4036000" y="3005283"/>
            <a:ext cx="2408343" cy="34328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A75663C-0738-8E79-5C2B-F1BC27849AFA}"/>
              </a:ext>
            </a:extLst>
          </p:cNvPr>
          <p:cNvCxnSpPr>
            <a:cxnSpLocks/>
            <a:stCxn id="11" idx="3"/>
            <a:endCxn id="22" idx="1"/>
          </p:cNvCxnSpPr>
          <p:nvPr/>
        </p:nvCxnSpPr>
        <p:spPr>
          <a:xfrm>
            <a:off x="4036000" y="3348565"/>
            <a:ext cx="2441000" cy="10257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C7E6E1-BDA6-A38E-F1C2-50D74DF1BF9A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036000" y="3348565"/>
            <a:ext cx="2440999" cy="65512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57E43D-9224-A8C0-0B69-373EDA84A209}"/>
              </a:ext>
            </a:extLst>
          </p:cNvPr>
          <p:cNvCxnSpPr>
            <a:cxnSpLocks/>
          </p:cNvCxnSpPr>
          <p:nvPr/>
        </p:nvCxnSpPr>
        <p:spPr>
          <a:xfrm>
            <a:off x="4036000" y="3348565"/>
            <a:ext cx="2408343" cy="10257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54BF8E1-5B24-1062-5E52-82A80EC84CCD}"/>
              </a:ext>
            </a:extLst>
          </p:cNvPr>
          <p:cNvCxnSpPr>
            <a:cxnSpLocks/>
            <a:stCxn id="11" idx="3"/>
            <a:endCxn id="25" idx="1"/>
          </p:cNvCxnSpPr>
          <p:nvPr/>
        </p:nvCxnSpPr>
        <p:spPr>
          <a:xfrm>
            <a:off x="4036000" y="3348565"/>
            <a:ext cx="2440999" cy="117802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7173B77-488F-0C1C-4FB1-6BBB2717C0BF}"/>
              </a:ext>
            </a:extLst>
          </p:cNvPr>
          <p:cNvSpPr txBox="1"/>
          <p:nvPr/>
        </p:nvSpPr>
        <p:spPr>
          <a:xfrm>
            <a:off x="1452361" y="4893467"/>
            <a:ext cx="358140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Note the different naming standard for a </a:t>
            </a:r>
            <a:r>
              <a:rPr lang="en-IE" sz="2400" dirty="0" err="1"/>
              <a:t>boolean</a:t>
            </a:r>
            <a:r>
              <a:rPr lang="en-IE" sz="2400" dirty="0"/>
              <a:t> field getter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EB5D91A-98CE-F2B0-9798-BBE6BEDB2BA3}"/>
              </a:ext>
            </a:extLst>
          </p:cNvPr>
          <p:cNvCxnSpPr>
            <a:cxnSpLocks/>
          </p:cNvCxnSpPr>
          <p:nvPr/>
        </p:nvCxnSpPr>
        <p:spPr>
          <a:xfrm flipV="1">
            <a:off x="5033761" y="4662635"/>
            <a:ext cx="2124480" cy="830996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05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Get</a:t>
            </a:r>
            <a:r>
              <a:rPr lang="en-IE" dirty="0"/>
              <a:t>ters (Accessor Methods)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Accessor</a:t>
            </a:r>
            <a:r>
              <a:rPr lang="en-US" sz="2800" dirty="0"/>
              <a:t> methods </a:t>
            </a:r>
          </a:p>
          <a:p>
            <a:pPr lvl="1"/>
            <a:r>
              <a:rPr lang="en-US" sz="2400" dirty="0"/>
              <a:t>return information about the </a:t>
            </a:r>
            <a:r>
              <a:rPr lang="en-US" sz="2400" b="1" dirty="0"/>
              <a:t>state</a:t>
            </a:r>
            <a:r>
              <a:rPr lang="en-US" sz="2400" dirty="0"/>
              <a:t> of an object </a:t>
            </a:r>
          </a:p>
          <a:p>
            <a:pPr lvl="2"/>
            <a:r>
              <a:rPr lang="en-US" sz="2000" dirty="0"/>
              <a:t>i.e. </a:t>
            </a:r>
            <a:r>
              <a:rPr lang="en-US" sz="2000" b="1" dirty="0"/>
              <a:t>the values stored in the fields</a:t>
            </a:r>
            <a:r>
              <a:rPr lang="en-US" sz="2000" dirty="0"/>
              <a:t>.</a:t>
            </a:r>
          </a:p>
          <a:p>
            <a:endParaRPr lang="en-US" sz="2800" dirty="0"/>
          </a:p>
          <a:p>
            <a:r>
              <a:rPr lang="en-US" sz="2800" dirty="0"/>
              <a:t>A </a:t>
            </a:r>
            <a:r>
              <a:rPr lang="en-US" sz="2800" dirty="0">
                <a:solidFill>
                  <a:srgbClr val="FF0000"/>
                </a:solidFill>
              </a:rPr>
              <a:t>‘getter’ </a:t>
            </a:r>
            <a:r>
              <a:rPr lang="en-US" sz="2800" dirty="0"/>
              <a:t>method </a:t>
            </a:r>
          </a:p>
          <a:p>
            <a:pPr lvl="1"/>
            <a:r>
              <a:rPr lang="en-US" sz="2400" dirty="0"/>
              <a:t>is a specific type of </a:t>
            </a:r>
            <a:r>
              <a:rPr lang="en-US" sz="2400" b="1" dirty="0">
                <a:solidFill>
                  <a:srgbClr val="00B050"/>
                </a:solidFill>
              </a:rPr>
              <a:t>accessor</a:t>
            </a:r>
            <a:r>
              <a:rPr lang="en-US" sz="2400" dirty="0"/>
              <a:t> method and typically:</a:t>
            </a:r>
          </a:p>
          <a:p>
            <a:pPr lvl="2"/>
            <a:r>
              <a:rPr lang="en-US" sz="2000" b="1" dirty="0"/>
              <a:t>contains a return statement </a:t>
            </a:r>
            <a:r>
              <a:rPr lang="en-US" sz="2000" dirty="0"/>
              <a:t>(as the last executable statement in the method).</a:t>
            </a:r>
          </a:p>
          <a:p>
            <a:pPr lvl="2"/>
            <a:r>
              <a:rPr lang="en-US" sz="2000" dirty="0"/>
              <a:t>defines a </a:t>
            </a:r>
            <a:r>
              <a:rPr lang="en-US" sz="2000" b="1" dirty="0"/>
              <a:t>return</a:t>
            </a:r>
            <a:r>
              <a:rPr lang="en-US" sz="2000" dirty="0"/>
              <a:t> </a:t>
            </a:r>
            <a:r>
              <a:rPr lang="en-US" sz="2000" b="1" dirty="0"/>
              <a:t>type</a:t>
            </a:r>
            <a:r>
              <a:rPr lang="en-US" sz="2000" dirty="0"/>
              <a:t>.</a:t>
            </a:r>
          </a:p>
          <a:p>
            <a:pPr lvl="2"/>
            <a:r>
              <a:rPr lang="en-US" sz="2000" b="1" dirty="0"/>
              <a:t>does NOT change the object state</a:t>
            </a:r>
            <a:r>
              <a:rPr lang="en-US" sz="2000" dirty="0"/>
              <a:t>.</a:t>
            </a:r>
            <a:endParaRPr lang="en-US" dirty="0"/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0321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Get</a:t>
            </a:r>
            <a:r>
              <a:rPr lang="en-IE" dirty="0"/>
              <a:t>ters</a:t>
            </a:r>
            <a:endParaRPr lang="en-US" dirty="0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712206" y="3281289"/>
            <a:ext cx="4793300" cy="156966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public double </a:t>
            </a:r>
            <a:r>
              <a:rPr lang="en-IE" sz="2400" dirty="0" err="1">
                <a:latin typeface="Courier New" pitchFamily="49" charset="0"/>
                <a:cs typeface="Times" pitchFamily="-32" charset="0"/>
              </a:rPr>
              <a:t>getHeight</a:t>
            </a:r>
            <a:r>
              <a:rPr lang="en-IE" sz="2400" dirty="0">
                <a:latin typeface="Courier New" pitchFamily="49" charset="0"/>
                <a:cs typeface="Times" pitchFamily="-32" charset="0"/>
              </a:rPr>
              <a:t>()</a:t>
            </a:r>
          </a:p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     return height;</a:t>
            </a:r>
          </a:p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}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337051" y="2168526"/>
            <a:ext cx="1571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6419851" y="2489200"/>
            <a:ext cx="165647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7918450" y="3032126"/>
            <a:ext cx="20637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parameter list (empty)</a:t>
            </a:r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2728933" y="3752777"/>
            <a:ext cx="365125" cy="1098173"/>
          </a:xfrm>
          <a:prstGeom prst="ellipse">
            <a:avLst/>
          </a:prstGeom>
          <a:noFill/>
          <a:ln w="28575">
            <a:solidFill>
              <a:srgbClr val="A571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3117850" y="5089526"/>
            <a:ext cx="45529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start and end of method body (block)</a:t>
            </a: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8076330" y="4067145"/>
            <a:ext cx="20006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statement</a:t>
            </a:r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 flipH="1" flipV="1">
            <a:off x="2889250" y="4876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 flipH="1">
            <a:off x="4565650" y="2574925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 flipH="1">
            <a:off x="6394450" y="2819400"/>
            <a:ext cx="558800" cy="46188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 flipH="1">
            <a:off x="7299325" y="3306846"/>
            <a:ext cx="701675" cy="234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H="1">
            <a:off x="6699250" y="4251334"/>
            <a:ext cx="1377080" cy="158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1938339" y="2489200"/>
            <a:ext cx="19816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>
            <a:off x="2584451" y="2895601"/>
            <a:ext cx="762000" cy="365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" name="Oval 8"/>
          <p:cNvSpPr>
            <a:spLocks noChangeArrowheads="1"/>
          </p:cNvSpPr>
          <p:nvPr/>
        </p:nvSpPr>
        <p:spPr bwMode="auto">
          <a:xfrm>
            <a:off x="2610472" y="3255438"/>
            <a:ext cx="1421779" cy="478362"/>
          </a:xfrm>
          <a:prstGeom prst="ellipse">
            <a:avLst/>
          </a:prstGeom>
          <a:noFill/>
          <a:ln w="28575">
            <a:solidFill>
              <a:srgbClr val="A571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6357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  <p:bldP spid="17414" grpId="0"/>
      <p:bldP spid="17415" grpId="0"/>
      <p:bldP spid="17416" grpId="0" animBg="1"/>
      <p:bldP spid="17417" grpId="0"/>
      <p:bldP spid="17418" grpId="0"/>
      <p:bldP spid="17419" grpId="0" animBg="1"/>
      <p:bldP spid="17420" grpId="0" animBg="1"/>
      <p:bldP spid="17421" grpId="0" animBg="1"/>
      <p:bldP spid="17422" grpId="0" animBg="1"/>
      <p:bldP spid="17423" grpId="0" animBg="1"/>
      <p:bldP spid="17424" grpId="0"/>
      <p:bldP spid="17425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Class…getters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419A6C-9B5A-424C-99BA-93AEEC632613}"/>
              </a:ext>
            </a:extLst>
          </p:cNvPr>
          <p:cNvSpPr/>
          <p:nvPr/>
        </p:nvSpPr>
        <p:spPr>
          <a:xfrm>
            <a:off x="7156938" y="335498"/>
            <a:ext cx="4419600" cy="62478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000080"/>
                </a:solidFill>
              </a:rPr>
              <a:t>public </a:t>
            </a:r>
            <a:r>
              <a:rPr lang="en-IE" sz="2000" dirty="0"/>
              <a:t>String </a:t>
            </a:r>
            <a:r>
              <a:rPr lang="en-IE" sz="2000" dirty="0" err="1"/>
              <a:t>getName</a:t>
            </a:r>
            <a:r>
              <a:rPr lang="en-IE" sz="2000" dirty="0"/>
              <a:t>() {</a:t>
            </a:r>
            <a:br>
              <a:rPr lang="en-IE" sz="2000" dirty="0"/>
            </a:br>
            <a:r>
              <a:rPr lang="en-IE" sz="2000" dirty="0"/>
              <a:t>    </a:t>
            </a:r>
            <a:r>
              <a:rPr lang="en-IE" sz="2000" b="1" dirty="0">
                <a:solidFill>
                  <a:srgbClr val="000080"/>
                </a:solidFill>
              </a:rPr>
              <a:t>return </a:t>
            </a:r>
            <a:r>
              <a:rPr lang="en-IE" sz="2000" b="1" dirty="0">
                <a:solidFill>
                  <a:srgbClr val="660E7A"/>
                </a:solidFill>
              </a:rPr>
              <a:t>name</a:t>
            </a:r>
            <a:r>
              <a:rPr lang="en-IE" sz="2000" dirty="0"/>
              <a:t>;</a:t>
            </a:r>
            <a:br>
              <a:rPr lang="en-IE" sz="2000" dirty="0"/>
            </a:br>
            <a:r>
              <a:rPr lang="en-IE" sz="2000" dirty="0"/>
              <a:t>}</a:t>
            </a:r>
            <a:br>
              <a:rPr lang="en-IE" sz="2000" dirty="0"/>
            </a:br>
            <a:br>
              <a:rPr lang="en-IE" sz="2000" dirty="0"/>
            </a:br>
            <a:r>
              <a:rPr lang="en-IE" sz="2000" b="1" dirty="0">
                <a:solidFill>
                  <a:srgbClr val="000080"/>
                </a:solidFill>
              </a:rPr>
              <a:t>public double </a:t>
            </a:r>
            <a:r>
              <a:rPr lang="en-IE" sz="2000" dirty="0" err="1"/>
              <a:t>getHeight</a:t>
            </a:r>
            <a:r>
              <a:rPr lang="en-IE" sz="2000" dirty="0"/>
              <a:t>() {</a:t>
            </a:r>
            <a:br>
              <a:rPr lang="en-IE" sz="2000" dirty="0"/>
            </a:br>
            <a:r>
              <a:rPr lang="en-IE" sz="2000" dirty="0"/>
              <a:t>    </a:t>
            </a:r>
            <a:r>
              <a:rPr lang="en-IE" sz="2000" b="1" dirty="0">
                <a:solidFill>
                  <a:srgbClr val="000080"/>
                </a:solidFill>
              </a:rPr>
              <a:t>return </a:t>
            </a:r>
            <a:r>
              <a:rPr lang="en-IE" sz="2000" b="1" dirty="0">
                <a:solidFill>
                  <a:srgbClr val="660E7A"/>
                </a:solidFill>
              </a:rPr>
              <a:t>height</a:t>
            </a:r>
            <a:r>
              <a:rPr lang="en-IE" sz="2000" dirty="0"/>
              <a:t>;</a:t>
            </a:r>
            <a:br>
              <a:rPr lang="en-IE" sz="2000" dirty="0"/>
            </a:br>
            <a:r>
              <a:rPr lang="en-IE" sz="2000" dirty="0"/>
              <a:t>}</a:t>
            </a:r>
            <a:br>
              <a:rPr lang="en-IE" sz="2000" dirty="0"/>
            </a:br>
            <a:br>
              <a:rPr lang="en-IE" sz="2000" dirty="0"/>
            </a:br>
            <a:r>
              <a:rPr lang="en-IE" sz="2000" b="1" dirty="0">
                <a:solidFill>
                  <a:srgbClr val="000080"/>
                </a:solidFill>
              </a:rPr>
              <a:t>public double </a:t>
            </a:r>
            <a:r>
              <a:rPr lang="en-IE" sz="2000" dirty="0" err="1"/>
              <a:t>getWeight</a:t>
            </a:r>
            <a:r>
              <a:rPr lang="en-IE" sz="2000" dirty="0"/>
              <a:t>() {</a:t>
            </a:r>
            <a:br>
              <a:rPr lang="en-IE" sz="2000" dirty="0"/>
            </a:br>
            <a:r>
              <a:rPr lang="en-IE" sz="2000" dirty="0"/>
              <a:t>    </a:t>
            </a:r>
            <a:r>
              <a:rPr lang="en-IE" sz="2000" b="1" dirty="0">
                <a:solidFill>
                  <a:srgbClr val="000080"/>
                </a:solidFill>
              </a:rPr>
              <a:t>return </a:t>
            </a:r>
            <a:r>
              <a:rPr lang="en-IE" sz="2000" b="1" dirty="0">
                <a:solidFill>
                  <a:srgbClr val="660E7A"/>
                </a:solidFill>
              </a:rPr>
              <a:t>weight</a:t>
            </a:r>
            <a:r>
              <a:rPr lang="en-IE" sz="2000" dirty="0"/>
              <a:t>;</a:t>
            </a:r>
            <a:br>
              <a:rPr lang="en-IE" sz="2000" dirty="0"/>
            </a:br>
            <a:r>
              <a:rPr lang="en-IE" sz="2000" dirty="0"/>
              <a:t>}</a:t>
            </a:r>
            <a:br>
              <a:rPr lang="en-IE" sz="2000" dirty="0"/>
            </a:br>
            <a:br>
              <a:rPr lang="en-IE" sz="2000" dirty="0"/>
            </a:br>
            <a:br>
              <a:rPr lang="en-IE" sz="2000" dirty="0"/>
            </a:br>
            <a:r>
              <a:rPr lang="en-IE" sz="2000" b="1" dirty="0">
                <a:solidFill>
                  <a:srgbClr val="000080"/>
                </a:solidFill>
              </a:rPr>
              <a:t>public int </a:t>
            </a:r>
            <a:r>
              <a:rPr lang="en-IE" sz="2000" dirty="0" err="1"/>
              <a:t>getMembershipNumber</a:t>
            </a:r>
            <a:r>
              <a:rPr lang="en-IE" sz="2000" dirty="0"/>
              <a:t>() {</a:t>
            </a:r>
            <a:br>
              <a:rPr lang="en-IE" sz="2000" dirty="0"/>
            </a:br>
            <a:r>
              <a:rPr lang="en-IE" sz="2000" dirty="0"/>
              <a:t>    </a:t>
            </a:r>
            <a:r>
              <a:rPr lang="en-IE" sz="2000" b="1" dirty="0">
                <a:solidFill>
                  <a:srgbClr val="000080"/>
                </a:solidFill>
              </a:rPr>
              <a:t>return </a:t>
            </a:r>
            <a:r>
              <a:rPr lang="en-IE" sz="2000" b="1" dirty="0" err="1">
                <a:solidFill>
                  <a:srgbClr val="660E7A"/>
                </a:solidFill>
              </a:rPr>
              <a:t>membershipNumber</a:t>
            </a:r>
            <a:r>
              <a:rPr lang="en-IE" sz="2000" dirty="0"/>
              <a:t>;</a:t>
            </a:r>
            <a:br>
              <a:rPr lang="en-IE" sz="2000" dirty="0"/>
            </a:br>
            <a:r>
              <a:rPr lang="en-IE" sz="2000" dirty="0"/>
              <a:t>}</a:t>
            </a:r>
            <a:br>
              <a:rPr lang="en-IE" sz="2000" dirty="0"/>
            </a:br>
            <a:br>
              <a:rPr lang="en-IE" sz="2000" dirty="0"/>
            </a:br>
            <a:r>
              <a:rPr lang="en-IE" sz="2000" b="1" dirty="0">
                <a:solidFill>
                  <a:srgbClr val="000080"/>
                </a:solidFill>
              </a:rPr>
              <a:t>public </a:t>
            </a:r>
            <a:r>
              <a:rPr lang="en-IE" sz="2000" b="1" dirty="0" err="1">
                <a:solidFill>
                  <a:srgbClr val="000080"/>
                </a:solidFill>
              </a:rPr>
              <a:t>boolean</a:t>
            </a:r>
            <a:r>
              <a:rPr lang="en-IE" sz="2000" b="1" dirty="0">
                <a:solidFill>
                  <a:srgbClr val="000080"/>
                </a:solidFill>
              </a:rPr>
              <a:t> </a:t>
            </a:r>
            <a:r>
              <a:rPr lang="en-IE" sz="2000" dirty="0" err="1"/>
              <a:t>isCurrentGymMember</a:t>
            </a:r>
            <a:r>
              <a:rPr lang="en-IE" sz="2000" dirty="0"/>
              <a:t>() {</a:t>
            </a:r>
            <a:br>
              <a:rPr lang="en-IE" sz="2000" dirty="0"/>
            </a:br>
            <a:r>
              <a:rPr lang="en-IE" sz="2000" dirty="0"/>
              <a:t>    </a:t>
            </a:r>
            <a:r>
              <a:rPr lang="en-IE" sz="2000" b="1" dirty="0">
                <a:solidFill>
                  <a:srgbClr val="000080"/>
                </a:solidFill>
              </a:rPr>
              <a:t>return </a:t>
            </a:r>
            <a:r>
              <a:rPr lang="en-IE" sz="2000" b="1" dirty="0" err="1">
                <a:solidFill>
                  <a:srgbClr val="660E7A"/>
                </a:solidFill>
              </a:rPr>
              <a:t>isCurrentGymMember</a:t>
            </a:r>
            <a:r>
              <a:rPr lang="en-IE" sz="2000" dirty="0"/>
              <a:t>;</a:t>
            </a:r>
            <a:br>
              <a:rPr lang="en-IE" sz="2000" dirty="0"/>
            </a:br>
            <a:r>
              <a:rPr lang="en-IE" sz="2000" dirty="0"/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48010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A6D87F-1650-21F0-2A6F-FF2FCD5C0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878" y="1041400"/>
            <a:ext cx="5372100" cy="581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Class…setters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C67D78-F217-E74F-BB81-DBC1C6D734D2}"/>
              </a:ext>
            </a:extLst>
          </p:cNvPr>
          <p:cNvSpPr txBox="1"/>
          <p:nvPr/>
        </p:nvSpPr>
        <p:spPr>
          <a:xfrm>
            <a:off x="2353645" y="3410487"/>
            <a:ext cx="1682355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setters</a:t>
            </a:r>
            <a:r>
              <a:rPr lang="en-IE" sz="2400" dirty="0"/>
              <a:t>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07B670-35A2-DD7E-6743-DF6F5BD56676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 flipV="1">
            <a:off x="4036000" y="2101377"/>
            <a:ext cx="2408343" cy="153994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1C60B9F-27A4-4596-1D10-F0841DEB24DB}"/>
              </a:ext>
            </a:extLst>
          </p:cNvPr>
          <p:cNvSpPr/>
          <p:nvPr/>
        </p:nvSpPr>
        <p:spPr>
          <a:xfrm>
            <a:off x="6444343" y="4138767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2" name="Rectangle: Rounded Corners 20">
            <a:extLst>
              <a:ext uri="{FF2B5EF4-FFF2-40B4-BE49-F238E27FC236}">
                <a16:creationId xmlns:a16="http://schemas.microsoft.com/office/drawing/2014/main" id="{8E5EEAB2-FD5C-0E1A-753E-C0A8D43C8383}"/>
              </a:ext>
            </a:extLst>
          </p:cNvPr>
          <p:cNvSpPr/>
          <p:nvPr/>
        </p:nvSpPr>
        <p:spPr>
          <a:xfrm>
            <a:off x="6476999" y="3503270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3" name="Rectangle: Rounded Corners 20">
            <a:extLst>
              <a:ext uri="{FF2B5EF4-FFF2-40B4-BE49-F238E27FC236}">
                <a16:creationId xmlns:a16="http://schemas.microsoft.com/office/drawing/2014/main" id="{291AFE38-D714-0806-2E27-A56BF60ED7B8}"/>
              </a:ext>
            </a:extLst>
          </p:cNvPr>
          <p:cNvSpPr/>
          <p:nvPr/>
        </p:nvSpPr>
        <p:spPr>
          <a:xfrm>
            <a:off x="6444343" y="2929492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Rectangle: Rounded Corners 20">
            <a:extLst>
              <a:ext uri="{FF2B5EF4-FFF2-40B4-BE49-F238E27FC236}">
                <a16:creationId xmlns:a16="http://schemas.microsoft.com/office/drawing/2014/main" id="{DDDE1C1B-B461-B3F6-BE66-097198E2DCAB}"/>
              </a:ext>
            </a:extLst>
          </p:cNvPr>
          <p:cNvSpPr/>
          <p:nvPr/>
        </p:nvSpPr>
        <p:spPr>
          <a:xfrm>
            <a:off x="6444343" y="1984844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5" name="Rectangle: Rounded Corners 20">
            <a:extLst>
              <a:ext uri="{FF2B5EF4-FFF2-40B4-BE49-F238E27FC236}">
                <a16:creationId xmlns:a16="http://schemas.microsoft.com/office/drawing/2014/main" id="{7C1E616F-DB7E-4F9B-5BCF-DA981034E0F9}"/>
              </a:ext>
            </a:extLst>
          </p:cNvPr>
          <p:cNvSpPr/>
          <p:nvPr/>
        </p:nvSpPr>
        <p:spPr>
          <a:xfrm>
            <a:off x="6476999" y="4719934"/>
            <a:ext cx="3962401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2A5FA5-F6D6-7A12-036F-D2FDD2D3483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flipV="1">
            <a:off x="4036000" y="3046025"/>
            <a:ext cx="2408343" cy="59529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C7E6E1-BDA6-A38E-F1C2-50D74DF1BF9A}"/>
              </a:ext>
            </a:extLst>
          </p:cNvPr>
          <p:cNvCxnSpPr>
            <a:cxnSpLocks/>
          </p:cNvCxnSpPr>
          <p:nvPr/>
        </p:nvCxnSpPr>
        <p:spPr>
          <a:xfrm>
            <a:off x="4036000" y="3658438"/>
            <a:ext cx="2440999" cy="65512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57E43D-9224-A8C0-0B69-373EDA84A209}"/>
              </a:ext>
            </a:extLst>
          </p:cNvPr>
          <p:cNvCxnSpPr>
            <a:cxnSpLocks/>
          </p:cNvCxnSpPr>
          <p:nvPr/>
        </p:nvCxnSpPr>
        <p:spPr>
          <a:xfrm>
            <a:off x="4101312" y="3643132"/>
            <a:ext cx="2408343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54BF8E1-5B24-1062-5E52-82A80EC84CCD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4036000" y="3658438"/>
            <a:ext cx="2440999" cy="117802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456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Set</a:t>
            </a:r>
            <a:r>
              <a:rPr lang="en-IE" dirty="0"/>
              <a:t>ters (</a:t>
            </a:r>
            <a:r>
              <a:rPr lang="en-IE" dirty="0" err="1"/>
              <a:t>Mutator</a:t>
            </a:r>
            <a:r>
              <a:rPr lang="en-IE" dirty="0"/>
              <a:t> methods)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Mutator</a:t>
            </a:r>
            <a:r>
              <a:rPr lang="en-US" dirty="0"/>
              <a:t> methods </a:t>
            </a:r>
          </a:p>
          <a:p>
            <a:pPr lvl="1"/>
            <a:r>
              <a:rPr lang="en-US" dirty="0"/>
              <a:t>change (i.e. mutate!) an object’s state.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‘setter’ </a:t>
            </a:r>
            <a:r>
              <a:rPr lang="en-US" dirty="0"/>
              <a:t>method </a:t>
            </a:r>
          </a:p>
          <a:p>
            <a:pPr lvl="1"/>
            <a:r>
              <a:rPr lang="en-US" dirty="0"/>
              <a:t>is a specific type of </a:t>
            </a:r>
            <a:r>
              <a:rPr lang="en-US" b="1" dirty="0" err="1">
                <a:solidFill>
                  <a:srgbClr val="00B050"/>
                </a:solidFill>
              </a:rPr>
              <a:t>mutator</a:t>
            </a:r>
            <a:r>
              <a:rPr lang="en-US" dirty="0"/>
              <a:t> method and typically:</a:t>
            </a:r>
          </a:p>
          <a:p>
            <a:pPr lvl="2"/>
            <a:r>
              <a:rPr lang="en-US" dirty="0"/>
              <a:t>contains an </a:t>
            </a:r>
            <a:r>
              <a:rPr lang="en-US" b="1" dirty="0"/>
              <a:t>assignment statement </a:t>
            </a:r>
          </a:p>
          <a:p>
            <a:pPr lvl="2"/>
            <a:r>
              <a:rPr lang="en-US" dirty="0"/>
              <a:t>takes in a </a:t>
            </a:r>
            <a:r>
              <a:rPr lang="en-US" b="1" dirty="0"/>
              <a:t>parameter</a:t>
            </a:r>
          </a:p>
          <a:p>
            <a:pPr lvl="2"/>
            <a:r>
              <a:rPr lang="en-US" b="1" dirty="0"/>
              <a:t>changes the object state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8253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Setters – without validation</a:t>
            </a:r>
            <a:endParaRPr lang="en-US" dirty="0"/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2590801" y="3203575"/>
            <a:ext cx="6821098" cy="156966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public void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setHeight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(double height)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this.height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 = height;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sz="2400" dirty="0">
                <a:latin typeface="Courier New" pitchFamily="49" charset="0"/>
              </a:rPr>
              <a:t> 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4038601" y="1752600"/>
            <a:ext cx="13661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489576" y="2286000"/>
            <a:ext cx="165647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8458200" y="2286000"/>
            <a:ext cx="12845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parameter</a:t>
            </a:r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flipH="1">
            <a:off x="4268787" y="2133600"/>
            <a:ext cx="455613" cy="1135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flipH="1">
            <a:off x="5943600" y="2667000"/>
            <a:ext cx="457200" cy="601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flipH="1">
            <a:off x="8890000" y="2686970"/>
            <a:ext cx="266700" cy="4991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1828801" y="2270125"/>
            <a:ext cx="19816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2971801" y="2667001"/>
            <a:ext cx="131763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5576162" y="5029200"/>
            <a:ext cx="143423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assignment </a:t>
            </a:r>
          </a:p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statement</a:t>
            </a:r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 flipH="1" flipV="1">
            <a:off x="6019800" y="4239835"/>
            <a:ext cx="0" cy="7734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2991854" y="5089525"/>
            <a:ext cx="171046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Instance field </a:t>
            </a:r>
          </a:p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being mutated</a:t>
            </a:r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4268786" y="4343400"/>
            <a:ext cx="379414" cy="669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7543801" y="5083314"/>
            <a:ext cx="17755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Value passed </a:t>
            </a:r>
          </a:p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as a parameter</a:t>
            </a: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 flipH="1" flipV="1">
            <a:off x="7010401" y="4343399"/>
            <a:ext cx="977039" cy="7240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2882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61" grpId="0"/>
      <p:bldP spid="19462" grpId="0"/>
      <p:bldP spid="19463" grpId="0" animBg="1"/>
      <p:bldP spid="19464" grpId="0" animBg="1"/>
      <p:bldP spid="19465" grpId="0" animBg="1"/>
      <p:bldP spid="19466" grpId="0"/>
      <p:bldP spid="19467" grpId="0" animBg="1"/>
      <p:bldP spid="19468" grpId="0"/>
      <p:bldP spid="19469" grpId="0" animBg="1"/>
      <p:bldP spid="19470" grpId="0"/>
      <p:bldP spid="19471" grpId="0" animBg="1"/>
      <p:bldP spid="16" grpId="0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Setters – with validation</a:t>
            </a:r>
            <a:endParaRPr lang="en-US" dirty="0"/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2590800" y="3203574"/>
            <a:ext cx="8596295" cy="193899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public void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setHeight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(double height)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r>
              <a:rPr lang="en-US" sz="2400" dirty="0">
                <a:latin typeface="Courier New" pitchFamily="49" charset="0"/>
                <a:cs typeface="Times" pitchFamily="-32" charset="0"/>
              </a:rPr>
              <a:t>	</a:t>
            </a:r>
            <a:r>
              <a:rPr lang="en-IE" sz="2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((height &gt;= 0) &amp;&amp; (height &lt;= 3.0)){</a:t>
            </a:r>
            <a:endParaRPr lang="en-US" sz="24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       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this.height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 = height;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sz="2400" dirty="0">
                <a:latin typeface="Courier New" pitchFamily="49" charset="0"/>
              </a:rPr>
              <a:t> 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4038601" y="1752600"/>
            <a:ext cx="13661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489576" y="2286000"/>
            <a:ext cx="165647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8458200" y="2286000"/>
            <a:ext cx="12845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parameter</a:t>
            </a:r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flipH="1">
            <a:off x="4268787" y="2133600"/>
            <a:ext cx="455613" cy="1135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flipH="1">
            <a:off x="5943600" y="2667000"/>
            <a:ext cx="457200" cy="601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flipH="1">
            <a:off x="8890000" y="2686970"/>
            <a:ext cx="266700" cy="4991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1828801" y="2270125"/>
            <a:ext cx="19816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2971801" y="2667001"/>
            <a:ext cx="131763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2802148" y="5476417"/>
            <a:ext cx="171046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Instance field </a:t>
            </a:r>
          </a:p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being mutated</a:t>
            </a:r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4079080" y="4730292"/>
            <a:ext cx="379414" cy="669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7225439" y="5464314"/>
            <a:ext cx="17755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Value passed </a:t>
            </a:r>
          </a:p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as a parameter</a:t>
            </a: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 flipH="1" flipV="1">
            <a:off x="7146054" y="4746445"/>
            <a:ext cx="651679" cy="70788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35BD789C-CB2C-14B3-B28B-F6BCE63CF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26" y="3665238"/>
            <a:ext cx="217277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C00000"/>
                </a:solidFill>
              </a:rPr>
              <a:t>Validation of value </a:t>
            </a:r>
          </a:p>
          <a:p>
            <a:pPr algn="l" eaLnBrk="1" hangingPunct="1"/>
            <a:r>
              <a:rPr lang="en-US" sz="2000" dirty="0">
                <a:solidFill>
                  <a:srgbClr val="C00000"/>
                </a:solidFill>
              </a:rPr>
              <a:t>passed as a </a:t>
            </a:r>
          </a:p>
          <a:p>
            <a:pPr algn="l" eaLnBrk="1" hangingPunct="1"/>
            <a:r>
              <a:rPr lang="en-US" sz="2000" dirty="0">
                <a:solidFill>
                  <a:srgbClr val="C00000"/>
                </a:solidFill>
              </a:rPr>
              <a:t>parameter</a:t>
            </a:r>
          </a:p>
        </p:txBody>
      </p:sp>
      <p:sp>
        <p:nvSpPr>
          <p:cNvPr id="19" name="Line 13">
            <a:extLst>
              <a:ext uri="{FF2B5EF4-FFF2-40B4-BE49-F238E27FC236}">
                <a16:creationId xmlns:a16="http://schemas.microsoft.com/office/drawing/2014/main" id="{4DB32E9A-75EC-7198-929C-318A3582F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5428" y="4114800"/>
            <a:ext cx="1469772" cy="6845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0637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61" grpId="0"/>
      <p:bldP spid="19462" grpId="0"/>
      <p:bldP spid="19463" grpId="0" animBg="1"/>
      <p:bldP spid="19464" grpId="0" animBg="1"/>
      <p:bldP spid="19465" grpId="0" animBg="1"/>
      <p:bldP spid="19466" grpId="0"/>
      <p:bldP spid="19467" grpId="0" animBg="1"/>
      <p:bldP spid="19470" grpId="0"/>
      <p:bldP spid="19471" grpId="0" animBg="1"/>
      <p:bldP spid="16" grpId="0"/>
      <p:bldP spid="17" grpId="0" animBg="1"/>
      <p:bldP spid="18" grpId="0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Class…special case for Strings in </a:t>
            </a:r>
            <a:br>
              <a:rPr lang="en-IE" sz="3600" dirty="0"/>
            </a:br>
            <a:r>
              <a:rPr lang="en-IE" sz="3600" dirty="0"/>
              <a:t>Constructor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70BD2B-0A82-D798-AD1C-BF1A7413203D}"/>
              </a:ext>
            </a:extLst>
          </p:cNvPr>
          <p:cNvSpPr/>
          <p:nvPr/>
        </p:nvSpPr>
        <p:spPr>
          <a:xfrm>
            <a:off x="1485900" y="2209800"/>
            <a:ext cx="9220200" cy="30469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initName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name) {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(name != </a:t>
            </a: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name.length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&gt; </a:t>
            </a:r>
            <a:r>
              <a:rPr lang="en-IE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IE" sz="24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E" sz="24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IE" sz="24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name.substring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IE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b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IE" sz="24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E" sz="24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IE" sz="24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name;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8E0EBE-8BD6-88E6-08DE-27FC3CF79CCF}"/>
              </a:ext>
            </a:extLst>
          </p:cNvPr>
          <p:cNvSpPr txBox="1"/>
          <p:nvPr/>
        </p:nvSpPr>
        <p:spPr>
          <a:xfrm>
            <a:off x="1143000" y="5562600"/>
            <a:ext cx="4724400" cy="1200329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accent1">
                <a:alpha val="8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used in the constructor instead of the setter (</a:t>
            </a:r>
            <a:r>
              <a:rPr lang="en-US" dirty="0" err="1"/>
              <a:t>setName</a:t>
            </a:r>
            <a:r>
              <a:rPr lang="en-US" dirty="0"/>
              <a:t>()). This is because we assume that the name is somewhat correct (just too long)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A94FE6-68BE-ADEB-B2DE-068E74EE64B0}"/>
              </a:ext>
            </a:extLst>
          </p:cNvPr>
          <p:cNvSpPr txBox="1"/>
          <p:nvPr/>
        </p:nvSpPr>
        <p:spPr>
          <a:xfrm>
            <a:off x="6324600" y="5549900"/>
            <a:ext cx="4724400" cy="369332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accent1">
                <a:alpha val="8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We will always used this technique for Strings</a:t>
            </a:r>
          </a:p>
        </p:txBody>
      </p:sp>
    </p:spTree>
    <p:extLst>
      <p:ext uri="{BB962C8B-B14F-4D97-AF65-F5344CB8AC3E}">
        <p14:creationId xmlns:p14="http://schemas.microsoft.com/office/powerpoint/2010/main" val="245874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Class…setters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70BD2B-0A82-D798-AD1C-BF1A7413203D}"/>
              </a:ext>
            </a:extLst>
          </p:cNvPr>
          <p:cNvSpPr/>
          <p:nvPr/>
        </p:nvSpPr>
        <p:spPr>
          <a:xfrm>
            <a:off x="1485900" y="2209800"/>
            <a:ext cx="92202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setName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name) {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(name != </a:t>
            </a: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name.length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&gt; </a:t>
            </a:r>
            <a:r>
              <a:rPr lang="en-IE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IE" sz="24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E" sz="24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IE" sz="24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name.substring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IE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221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Class…setters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8F06C1E-5221-9622-305F-7ABBC13FB615}"/>
              </a:ext>
            </a:extLst>
          </p:cNvPr>
          <p:cNvSpPr/>
          <p:nvPr/>
        </p:nvSpPr>
        <p:spPr>
          <a:xfrm>
            <a:off x="1143000" y="1828800"/>
            <a:ext cx="79248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setHeight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height) {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((height &gt;= </a:t>
            </a:r>
            <a:r>
              <a:rPr lang="en-IE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&amp;&amp; (height &lt;= </a:t>
            </a:r>
            <a:r>
              <a:rPr lang="en-IE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3.0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20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E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height;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82639-DAED-D604-0F33-99D29B9B6B80}"/>
              </a:ext>
            </a:extLst>
          </p:cNvPr>
          <p:cNvSpPr/>
          <p:nvPr/>
        </p:nvSpPr>
        <p:spPr>
          <a:xfrm>
            <a:off x="2209800" y="3861604"/>
            <a:ext cx="77724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setWeight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weight) {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((weight &gt;= </a:t>
            </a:r>
            <a:r>
              <a:rPr lang="en-IE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&amp;&amp; (weight &lt;= </a:t>
            </a:r>
            <a:r>
              <a:rPr lang="en-IE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500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20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E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weight;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197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Class…setters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1023286-3CFA-B05F-4FF5-E8C8DD973931}"/>
              </a:ext>
            </a:extLst>
          </p:cNvPr>
          <p:cNvSpPr/>
          <p:nvPr/>
        </p:nvSpPr>
        <p:spPr>
          <a:xfrm>
            <a:off x="762000" y="2016369"/>
            <a:ext cx="98298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setMembershipNumber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membershipNumber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membershipNumber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IE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&amp;&amp; (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membershipNumber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IE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99999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20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E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membershipNumber</a:t>
            </a:r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membershipNumber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3B787B-7ABD-8003-C22F-1EA58B9AB393}"/>
              </a:ext>
            </a:extLst>
          </p:cNvPr>
          <p:cNvSpPr/>
          <p:nvPr/>
        </p:nvSpPr>
        <p:spPr>
          <a:xfrm>
            <a:off x="1836615" y="4246316"/>
            <a:ext cx="92964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setCurrentGymMember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20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currentGymMember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isCurrentGymMember</a:t>
            </a:r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currentGymMember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071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Getters/Setters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/>
              <a:t>For </a:t>
            </a:r>
            <a:r>
              <a:rPr lang="en-IE" dirty="0">
                <a:solidFill>
                  <a:srgbClr val="FF0000"/>
                </a:solidFill>
              </a:rPr>
              <a:t>each instance field </a:t>
            </a:r>
            <a:r>
              <a:rPr lang="en-IE" dirty="0"/>
              <a:t>in a class, you are normally asked to write: </a:t>
            </a:r>
          </a:p>
          <a:p>
            <a:pPr marL="0" indent="0">
              <a:buNone/>
            </a:pPr>
            <a:endParaRPr lang="en-IE" dirty="0"/>
          </a:p>
          <a:p>
            <a:pPr lvl="1"/>
            <a:r>
              <a:rPr lang="en-IE" dirty="0"/>
              <a:t>A </a:t>
            </a:r>
            <a:r>
              <a:rPr lang="en-IE" b="1" dirty="0"/>
              <a:t>get</a:t>
            </a:r>
            <a:r>
              <a:rPr lang="en-IE" dirty="0"/>
              <a:t>ter</a:t>
            </a:r>
          </a:p>
          <a:p>
            <a:pPr lvl="2"/>
            <a:r>
              <a:rPr lang="en-IE" dirty="0"/>
              <a:t>Return statement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A </a:t>
            </a:r>
            <a:r>
              <a:rPr lang="en-IE" b="1" dirty="0"/>
              <a:t>set</a:t>
            </a:r>
            <a:r>
              <a:rPr lang="en-IE" dirty="0"/>
              <a:t>ter</a:t>
            </a:r>
          </a:p>
          <a:p>
            <a:pPr lvl="2"/>
            <a:r>
              <a:rPr lang="en-IE" dirty="0"/>
              <a:t>Assignment statement</a:t>
            </a:r>
          </a:p>
        </p:txBody>
      </p:sp>
    </p:spTree>
    <p:extLst>
      <p:ext uri="{BB962C8B-B14F-4D97-AF65-F5344CB8AC3E}">
        <p14:creationId xmlns:p14="http://schemas.microsoft.com/office/powerpoint/2010/main" val="48582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F392D7-5EBE-460F-3D8F-9B613CDBF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1345930"/>
            <a:ext cx="4914900" cy="53215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</a:t>
            </a:r>
            <a:r>
              <a:rPr lang="en-IE" sz="3600" dirty="0" err="1"/>
              <a:t>toString</a:t>
            </a:r>
            <a:endParaRPr lang="en-IE" sz="3600" dirty="0"/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A860743-5B17-FF7A-F7BE-68896772DC12}"/>
              </a:ext>
            </a:extLst>
          </p:cNvPr>
          <p:cNvSpPr txBox="1"/>
          <p:nvPr/>
        </p:nvSpPr>
        <p:spPr>
          <a:xfrm>
            <a:off x="2153769" y="2667000"/>
            <a:ext cx="3180230" cy="206210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toString</a:t>
            </a:r>
            <a:r>
              <a:rPr lang="en-IE" sz="2400" dirty="0"/>
              <a:t>():</a:t>
            </a:r>
          </a:p>
          <a:p>
            <a:endParaRPr lang="en-IE" sz="2400" dirty="0"/>
          </a:p>
          <a:p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Courier New" panose="02070309020205020404" pitchFamily="49" charset="0"/>
              </a:rPr>
              <a:t>Builds and returns a String containing a user-friendly representation of the object state.</a:t>
            </a:r>
            <a:r>
              <a:rPr lang="en-IE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</a:t>
            </a:r>
          </a:p>
        </p:txBody>
      </p:sp>
      <p:sp>
        <p:nvSpPr>
          <p:cNvPr id="18" name="Rectangle: Rounded Corners 20">
            <a:extLst>
              <a:ext uri="{FF2B5EF4-FFF2-40B4-BE49-F238E27FC236}">
                <a16:creationId xmlns:a16="http://schemas.microsoft.com/office/drawing/2014/main" id="{DFC47359-E7ED-6055-AD5B-1EAF50DAFD54}"/>
              </a:ext>
            </a:extLst>
          </p:cNvPr>
          <p:cNvSpPr/>
          <p:nvPr/>
        </p:nvSpPr>
        <p:spPr>
          <a:xfrm flipV="1">
            <a:off x="6039973" y="4887455"/>
            <a:ext cx="4704227" cy="381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7912FA-256F-D976-AB82-A2C5F7C71DBB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5334000" y="3698051"/>
            <a:ext cx="705973" cy="134180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958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</a:t>
            </a:r>
            <a:r>
              <a:rPr lang="en-IE" sz="3600" dirty="0" err="1"/>
              <a:t>toString</a:t>
            </a:r>
            <a:endParaRPr lang="en-IE" sz="3600" dirty="0"/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8" name="Rectangle: Rounded Corners 5">
            <a:extLst>
              <a:ext uri="{FF2B5EF4-FFF2-40B4-BE49-F238E27FC236}">
                <a16:creationId xmlns:a16="http://schemas.microsoft.com/office/drawing/2014/main" id="{FF422864-AB66-318C-4A99-C6BBBF95BA6E}"/>
              </a:ext>
            </a:extLst>
          </p:cNvPr>
          <p:cNvSpPr/>
          <p:nvPr/>
        </p:nvSpPr>
        <p:spPr>
          <a:xfrm>
            <a:off x="1905000" y="4953000"/>
            <a:ext cx="7505700" cy="38100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/>
              <a:t>Sample Console Output if we don’t have a </a:t>
            </a:r>
            <a:r>
              <a:rPr lang="en-IE" sz="2000" dirty="0" err="1"/>
              <a:t>toString</a:t>
            </a:r>
            <a:r>
              <a:rPr lang="en-IE" sz="2000" dirty="0"/>
              <a:t> for </a:t>
            </a:r>
            <a:r>
              <a:rPr lang="en-IE" sz="2000" dirty="0" err="1"/>
              <a:t>GymMember</a:t>
            </a:r>
            <a:r>
              <a:rPr lang="en-IE" sz="2000" dirty="0"/>
              <a:t>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021BC8-ED83-C62C-3AEA-A7B700A2B7D3}"/>
              </a:ext>
            </a:extLst>
          </p:cNvPr>
          <p:cNvSpPr/>
          <p:nvPr/>
        </p:nvSpPr>
        <p:spPr>
          <a:xfrm>
            <a:off x="650631" y="1817309"/>
            <a:ext cx="8645770" cy="25545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br>
              <a:rPr lang="en-IE" sz="20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 </a:t>
            </a:r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IE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</a:p>
          <a:p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height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IE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"M, "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</a:p>
          <a:p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weight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IE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"KG (Member </a:t>
            </a:r>
            <a:r>
              <a:rPr lang="en-IE" sz="20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IE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"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</a:p>
          <a:p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E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membershipNumber</a:t>
            </a:r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IE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current member: "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		</a:t>
            </a:r>
            <a:r>
              <a:rPr lang="en-IE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isCurrentGymMember</a:t>
            </a:r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IE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")"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F98ED6-CA5D-9635-FB05-DD0F9D5CADDD}"/>
              </a:ext>
            </a:extLst>
          </p:cNvPr>
          <p:cNvCxnSpPr/>
          <p:nvPr/>
        </p:nvCxnSpPr>
        <p:spPr>
          <a:xfrm>
            <a:off x="2781300" y="1557338"/>
            <a:ext cx="4229100" cy="309086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C78D5B-1589-8028-26E2-F88B77818CBF}"/>
              </a:ext>
            </a:extLst>
          </p:cNvPr>
          <p:cNvCxnSpPr/>
          <p:nvPr/>
        </p:nvCxnSpPr>
        <p:spPr>
          <a:xfrm flipH="1">
            <a:off x="2781300" y="1557338"/>
            <a:ext cx="4533900" cy="324326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EA03E25-FA7E-8A11-266A-7407A0631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5638800"/>
            <a:ext cx="3124200" cy="6627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179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toString()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352800"/>
          </a:xfrm>
        </p:spPr>
        <p:txBody>
          <a:bodyPr>
            <a:normAutofit/>
          </a:bodyPr>
          <a:lstStyle/>
          <a:p>
            <a:r>
              <a:rPr lang="en-US" sz="2800" dirty="0"/>
              <a:t>This is a useful method and you will write a </a:t>
            </a:r>
            <a:r>
              <a:rPr lang="en-US" sz="2800" b="1" dirty="0"/>
              <a:t>toString</a:t>
            </a:r>
            <a:r>
              <a:rPr lang="en-US" sz="2800" dirty="0"/>
              <a:t>() method for most of your classes.</a:t>
            </a:r>
          </a:p>
          <a:p>
            <a:r>
              <a:rPr lang="en-IE" sz="2800" b="1" dirty="0"/>
              <a:t>When you print an object, Java automatically calls the toString() method </a:t>
            </a:r>
            <a:r>
              <a:rPr lang="en-IE" sz="2800" dirty="0"/>
              <a:t>e.g.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962400"/>
            <a:ext cx="7391400" cy="18928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 err="1">
                <a:solidFill>
                  <a:schemeClr val="tx1"/>
                </a:solidFill>
              </a:rPr>
              <a:t>GymMember</a:t>
            </a:r>
            <a:r>
              <a:rPr lang="en-IE" sz="2400" dirty="0">
                <a:solidFill>
                  <a:schemeClr val="tx1"/>
                </a:solidFill>
              </a:rPr>
              <a:t> </a:t>
            </a:r>
            <a:r>
              <a:rPr lang="en-IE" sz="2400" dirty="0" err="1">
                <a:solidFill>
                  <a:schemeClr val="tx1"/>
                </a:solidFill>
              </a:rPr>
              <a:t>gymMember</a:t>
            </a:r>
            <a:r>
              <a:rPr lang="en-IE" sz="2400" dirty="0">
                <a:solidFill>
                  <a:schemeClr val="tx1"/>
                </a:solidFill>
              </a:rPr>
              <a:t> = new </a:t>
            </a:r>
            <a:r>
              <a:rPr lang="en-IE" sz="2400" dirty="0" err="1">
                <a:solidFill>
                  <a:schemeClr val="tx1"/>
                </a:solidFill>
              </a:rPr>
              <a:t>GymMember</a:t>
            </a:r>
            <a:r>
              <a:rPr lang="en-IE" sz="2400" dirty="0">
                <a:solidFill>
                  <a:schemeClr val="tx1"/>
                </a:solidFill>
              </a:rPr>
              <a:t>();</a:t>
            </a:r>
          </a:p>
          <a:p>
            <a:endParaRPr lang="en-IE" sz="2100" dirty="0">
              <a:solidFill>
                <a:schemeClr val="tx1"/>
              </a:solidFill>
            </a:endParaRPr>
          </a:p>
          <a:p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//both of these lines of code do the same thing</a:t>
            </a:r>
          </a:p>
          <a:p>
            <a:r>
              <a:rPr lang="en-IE" sz="2400" dirty="0" err="1">
                <a:solidFill>
                  <a:schemeClr val="tx1"/>
                </a:solidFill>
              </a:rPr>
              <a:t>System.out.println</a:t>
            </a:r>
            <a:r>
              <a:rPr lang="en-IE" sz="2400" dirty="0">
                <a:solidFill>
                  <a:schemeClr val="tx1"/>
                </a:solidFill>
              </a:rPr>
              <a:t>(</a:t>
            </a:r>
            <a:r>
              <a:rPr lang="en-IE" sz="2400" dirty="0" err="1">
                <a:solidFill>
                  <a:schemeClr val="tx1"/>
                </a:solidFill>
              </a:rPr>
              <a:t>gymMember</a:t>
            </a:r>
            <a:r>
              <a:rPr lang="en-IE" sz="2400" dirty="0">
                <a:solidFill>
                  <a:schemeClr val="tx1"/>
                </a:solidFill>
              </a:rPr>
              <a:t>);</a:t>
            </a:r>
          </a:p>
          <a:p>
            <a:r>
              <a:rPr lang="en-IE" sz="2400" dirty="0" err="1">
                <a:solidFill>
                  <a:schemeClr val="tx1"/>
                </a:solidFill>
              </a:rPr>
              <a:t>System.out.println</a:t>
            </a:r>
            <a:r>
              <a:rPr lang="en-IE" sz="2400" dirty="0">
                <a:solidFill>
                  <a:schemeClr val="tx1"/>
                </a:solidFill>
              </a:rPr>
              <a:t>(</a:t>
            </a:r>
            <a:r>
              <a:rPr lang="en-IE" sz="2400" dirty="0" err="1">
                <a:solidFill>
                  <a:schemeClr val="tx1"/>
                </a:solidFill>
              </a:rPr>
              <a:t>gymMember.toString</a:t>
            </a:r>
            <a:r>
              <a:rPr lang="en-IE" sz="2400" dirty="0">
                <a:solidFill>
                  <a:schemeClr val="tx1"/>
                </a:solidFill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44478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 err="1"/>
              <a:t>Encapsulationrecap</a:t>
            </a:r>
            <a:endParaRPr lang="en-US" sz="44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464612" y="4750893"/>
            <a:ext cx="4087305" cy="11478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 err="1">
                <a:solidFill>
                  <a:schemeClr val="tx1"/>
                </a:solidFill>
              </a:rPr>
              <a:t>GymMember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4AD37017-98E4-1911-3861-EDA1382ED7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427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498204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Encapsulation in Java </a:t>
            </a:r>
            <a:r>
              <a:rPr lang="mr-IN" dirty="0"/>
              <a:t>–</a:t>
            </a:r>
            <a:r>
              <a:rPr lang="en-IE" dirty="0"/>
              <a:t> </a:t>
            </a:r>
            <a:r>
              <a:rPr lang="en-IE" b="1" dirty="0"/>
              <a:t>steps 1-3</a:t>
            </a:r>
          </a:p>
        </p:txBody>
      </p:sp>
      <p:sp>
        <p:nvSpPr>
          <p:cNvPr id="4" name="Rectangle 3"/>
          <p:cNvSpPr/>
          <p:nvPr/>
        </p:nvSpPr>
        <p:spPr>
          <a:xfrm>
            <a:off x="1676400" y="6488668"/>
            <a:ext cx="72991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2"/>
              </a:rPr>
              <a:t>http://www.tutorialspoint.com/java/java_encapsulation.htm</a:t>
            </a:r>
            <a:r>
              <a:rPr lang="en-IE" dirty="0"/>
              <a:t>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548714"/>
              </p:ext>
            </p:extLst>
          </p:nvPr>
        </p:nvGraphicFramePr>
        <p:xfrm>
          <a:off x="914400" y="1597062"/>
          <a:ext cx="10439400" cy="263203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918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Encapsulation Step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dirty="0"/>
                        <a:t>Approach</a:t>
                      </a:r>
                      <a:r>
                        <a:rPr lang="en-IE" sz="2400" baseline="0" dirty="0"/>
                        <a:t> in Java</a:t>
                      </a:r>
                      <a:endParaRPr lang="en-IE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898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1. </a:t>
                      </a:r>
                      <a:r>
                        <a:rPr lang="en-IE" sz="2400" b="1" dirty="0">
                          <a:solidFill>
                            <a:srgbClr val="00B050"/>
                          </a:solidFill>
                        </a:rPr>
                        <a:t>Wrap</a:t>
                      </a:r>
                      <a:r>
                        <a:rPr lang="en-IE" sz="2400" dirty="0"/>
                        <a:t> the data (fields) and code acting on the data (methods) together as single unit.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eaLnBrk="1" hangingPunct="1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public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class </a:t>
                      </a:r>
                      <a:r>
                        <a:rPr lang="en-US" sz="2200" i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ClassName</a:t>
                      </a:r>
                      <a:endParaRPr lang="en-US" sz="2200" dirty="0">
                        <a:solidFill>
                          <a:schemeClr val="tx1"/>
                        </a:solidFill>
                        <a:latin typeface="Courier New" pitchFamily="49" charset="0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{</a:t>
                      </a:r>
                    </a:p>
                    <a:p>
                      <a:pPr algn="l" eaLnBrk="1" hangingPunct="1"/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</a:t>
                      </a:r>
                      <a:r>
                        <a:rPr lang="en-US" sz="2200" b="0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Fields</a:t>
                      </a:r>
                      <a:endParaRPr lang="en-US" sz="2200" b="0" dirty="0">
                        <a:solidFill>
                          <a:schemeClr val="tx1"/>
                        </a:solidFill>
                        <a:latin typeface="Courier New" pitchFamily="49" charset="0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2200" b="0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</a:t>
                      </a:r>
                      <a:r>
                        <a:rPr lang="en-US" sz="2200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Constructors</a:t>
                      </a:r>
                      <a:endParaRPr lang="en-US" sz="2200" dirty="0">
                        <a:solidFill>
                          <a:schemeClr val="tx1"/>
                        </a:solidFill>
                        <a:latin typeface="Courier New" pitchFamily="49" charset="0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2200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  Methods</a:t>
                      </a:r>
                      <a:endParaRPr lang="en-US" sz="2200" dirty="0">
                        <a:solidFill>
                          <a:schemeClr val="tx1"/>
                        </a:solidFill>
                        <a:latin typeface="Courier New" pitchFamily="49" charset="0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}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37358"/>
              </p:ext>
            </p:extLst>
          </p:nvPr>
        </p:nvGraphicFramePr>
        <p:xfrm>
          <a:off x="914400" y="4275248"/>
          <a:ext cx="10439400" cy="925606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560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2.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Hide</a:t>
                      </a:r>
                      <a:r>
                        <a:rPr lang="en-IE" sz="2400" dirty="0"/>
                        <a:t> </a:t>
                      </a:r>
                      <a:r>
                        <a:rPr lang="en-IE" sz="2400" b="0" dirty="0"/>
                        <a:t>the fields from other classes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b="1" dirty="0"/>
                        <a:t>Declare the fields of a class as </a:t>
                      </a:r>
                      <a:r>
                        <a:rPr lang="en-IE" sz="2400" b="1" u="sng" dirty="0"/>
                        <a:t>private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207554"/>
              </p:ext>
            </p:extLst>
          </p:nvPr>
        </p:nvGraphicFramePr>
        <p:xfrm>
          <a:off x="913434" y="5258332"/>
          <a:ext cx="10439399" cy="925606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4801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560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3.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</a:rPr>
                        <a:t>Access</a:t>
                      </a:r>
                      <a:r>
                        <a:rPr lang="en-IE" sz="240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IE" sz="2400" dirty="0"/>
                        <a:t>the fields only through the methods of their current class.</a:t>
                      </a:r>
                      <a:endParaRPr lang="en-IE" sz="24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b="1" dirty="0"/>
                        <a:t>Provide </a:t>
                      </a:r>
                      <a:r>
                        <a:rPr lang="en-IE" sz="2400" b="1" u="sng" dirty="0"/>
                        <a:t>public</a:t>
                      </a:r>
                      <a:r>
                        <a:rPr lang="en-IE" sz="2400" b="1" dirty="0"/>
                        <a:t> set</a:t>
                      </a:r>
                      <a:r>
                        <a:rPr lang="en-IE" sz="2400" b="0" dirty="0"/>
                        <a:t>ter</a:t>
                      </a:r>
                      <a:r>
                        <a:rPr lang="en-IE" sz="2400" b="1" dirty="0"/>
                        <a:t> and get</a:t>
                      </a:r>
                      <a:r>
                        <a:rPr lang="en-IE" sz="2400" b="0" dirty="0"/>
                        <a:t>ter</a:t>
                      </a:r>
                      <a:r>
                        <a:rPr lang="en-IE" sz="2400" b="1" dirty="0"/>
                        <a:t> </a:t>
                      </a:r>
                      <a:r>
                        <a:rPr lang="en-IE" sz="2400" dirty="0"/>
                        <a:t>methods to modify and view the fields values.</a:t>
                      </a:r>
                      <a:endParaRPr lang="en-IE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0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7915"/>
              </p:ext>
            </p:extLst>
          </p:nvPr>
        </p:nvGraphicFramePr>
        <p:xfrm>
          <a:off x="1687288" y="1600200"/>
          <a:ext cx="3200400" cy="192024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71898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1. </a:t>
                      </a:r>
                      <a:r>
                        <a:rPr lang="en-IE" sz="2400" dirty="0" err="1"/>
                        <a:t>GymMember</a:t>
                      </a:r>
                      <a:r>
                        <a:rPr lang="en-IE" sz="2400" dirty="0"/>
                        <a:t> class </a:t>
                      </a:r>
                      <a:r>
                        <a:rPr lang="en-IE" sz="2400" b="1" dirty="0">
                          <a:solidFill>
                            <a:srgbClr val="00B050"/>
                          </a:solidFill>
                        </a:rPr>
                        <a:t>wraps</a:t>
                      </a:r>
                      <a:r>
                        <a:rPr lang="en-IE" sz="2400" dirty="0"/>
                        <a:t> the data (fields) and code acting on the data (methods) together as </a:t>
                      </a:r>
                      <a:r>
                        <a:rPr lang="en-IE" sz="2400" b="1" dirty="0"/>
                        <a:t>single unit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7382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dirty="0" err="1"/>
              <a:t>GymMember</a:t>
            </a:r>
            <a:r>
              <a:rPr lang="en-IE" sz="3600" dirty="0"/>
              <a:t> Class… </a:t>
            </a:r>
            <a:r>
              <a:rPr lang="en-IE" sz="3600" b="1" dirty="0"/>
              <a:t>An Encapsulated Class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>
            <a:off x="4887688" y="3276600"/>
            <a:ext cx="1122063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Table&#10;&#10;Description automatically generated with medium confidence">
            <a:extLst>
              <a:ext uri="{FF2B5EF4-FFF2-40B4-BE49-F238E27FC236}">
                <a16:creationId xmlns:a16="http://schemas.microsoft.com/office/drawing/2014/main" id="{36F9B6D5-1AAC-A1E0-3282-F77C96B3F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522" y="1610092"/>
            <a:ext cx="5486402" cy="50177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9422FAF-5E54-0470-D55C-F8DC20E4B589}"/>
              </a:ext>
            </a:extLst>
          </p:cNvPr>
          <p:cNvSpPr/>
          <p:nvPr/>
        </p:nvSpPr>
        <p:spPr>
          <a:xfrm>
            <a:off x="6009751" y="1610092"/>
            <a:ext cx="5508173" cy="50177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6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503BFC-59BD-540C-03B2-25127A115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897" y="1618030"/>
            <a:ext cx="5734732" cy="499707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210758"/>
              </p:ext>
            </p:extLst>
          </p:nvPr>
        </p:nvGraphicFramePr>
        <p:xfrm>
          <a:off x="1687288" y="1600200"/>
          <a:ext cx="3200400" cy="192024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71898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1. </a:t>
                      </a:r>
                      <a:r>
                        <a:rPr lang="en-IE" sz="2400" dirty="0" err="1"/>
                        <a:t>GymMember</a:t>
                      </a:r>
                      <a:r>
                        <a:rPr lang="en-IE" sz="2400" dirty="0"/>
                        <a:t> class </a:t>
                      </a:r>
                      <a:r>
                        <a:rPr lang="en-IE" sz="2400" b="1" dirty="0">
                          <a:solidFill>
                            <a:srgbClr val="FF0000"/>
                          </a:solidFill>
                        </a:rPr>
                        <a:t>wraps</a:t>
                      </a:r>
                      <a:r>
                        <a:rPr lang="en-IE" sz="2400" dirty="0"/>
                        <a:t> the data (fields) and code acting on the data (methods) together as </a:t>
                      </a:r>
                      <a:r>
                        <a:rPr lang="en-IE" sz="2400" b="1" dirty="0"/>
                        <a:t>single unit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7382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dirty="0" err="1"/>
              <a:t>GymMember</a:t>
            </a:r>
            <a:r>
              <a:rPr lang="en-IE" sz="3600" dirty="0"/>
              <a:t> Class… </a:t>
            </a:r>
            <a:r>
              <a:rPr lang="en-IE" sz="3600" b="1" dirty="0"/>
              <a:t>An Encapsulated Class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>
            <a:off x="4887688" y="3276600"/>
            <a:ext cx="1122063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9422FAF-5E54-0470-D55C-F8DC20E4B589}"/>
              </a:ext>
            </a:extLst>
          </p:cNvPr>
          <p:cNvSpPr/>
          <p:nvPr/>
        </p:nvSpPr>
        <p:spPr>
          <a:xfrm>
            <a:off x="6009751" y="1610092"/>
            <a:ext cx="5508173" cy="50177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D9702E-D09A-1A9D-FAFF-C4A28133557E}"/>
              </a:ext>
            </a:extLst>
          </p:cNvPr>
          <p:cNvGraphicFramePr>
            <a:graphicFrameLocks noGrp="1"/>
          </p:cNvGraphicFramePr>
          <p:nvPr/>
        </p:nvGraphicFramePr>
        <p:xfrm>
          <a:off x="1687288" y="3824328"/>
          <a:ext cx="3200400" cy="925606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92560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2. Fields are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hidden</a:t>
                      </a:r>
                      <a:r>
                        <a:rPr lang="en-IE" sz="2400" dirty="0"/>
                        <a:t> from other classes.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464674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41D938-D271-7F94-66F5-86534ABE30D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887688" y="4287131"/>
            <a:ext cx="1436914" cy="112307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onut 10">
            <a:extLst>
              <a:ext uri="{FF2B5EF4-FFF2-40B4-BE49-F238E27FC236}">
                <a16:creationId xmlns:a16="http://schemas.microsoft.com/office/drawing/2014/main" id="{6F89ED37-CCBD-9CC2-F359-B51DBF340194}"/>
              </a:ext>
            </a:extLst>
          </p:cNvPr>
          <p:cNvSpPr/>
          <p:nvPr/>
        </p:nvSpPr>
        <p:spPr>
          <a:xfrm>
            <a:off x="6519187" y="5105400"/>
            <a:ext cx="338813" cy="1522406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1725F8-77A8-D04B-E747-30A9ED808283}"/>
              </a:ext>
            </a:extLst>
          </p:cNvPr>
          <p:cNvSpPr/>
          <p:nvPr/>
        </p:nvSpPr>
        <p:spPr>
          <a:xfrm>
            <a:off x="6519187" y="5265998"/>
            <a:ext cx="4072613" cy="1317363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7018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F36061-9D56-AB41-4F37-A8259350C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520" y="1543846"/>
            <a:ext cx="4914900" cy="517953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/>
        </p:nvGraphicFramePr>
        <p:xfrm>
          <a:off x="1687288" y="1600200"/>
          <a:ext cx="3200400" cy="192024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71898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1. </a:t>
                      </a:r>
                      <a:r>
                        <a:rPr lang="en-IE" sz="2400" dirty="0" err="1"/>
                        <a:t>GymMember</a:t>
                      </a:r>
                      <a:r>
                        <a:rPr lang="en-IE" sz="2400" dirty="0"/>
                        <a:t> class </a:t>
                      </a:r>
                      <a:r>
                        <a:rPr lang="en-IE" sz="2400" b="1" dirty="0">
                          <a:solidFill>
                            <a:srgbClr val="FF0000"/>
                          </a:solidFill>
                        </a:rPr>
                        <a:t>wraps</a:t>
                      </a:r>
                      <a:r>
                        <a:rPr lang="en-IE" sz="2400" dirty="0"/>
                        <a:t> the data (fields) and code acting on the data (methods) together as </a:t>
                      </a:r>
                      <a:r>
                        <a:rPr lang="en-IE" sz="2400" b="1" dirty="0"/>
                        <a:t>single unit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7382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dirty="0" err="1"/>
              <a:t>GymMember</a:t>
            </a:r>
            <a:r>
              <a:rPr lang="en-IE" sz="3600" dirty="0"/>
              <a:t> Class… </a:t>
            </a:r>
            <a:r>
              <a:rPr lang="en-IE" sz="3600" b="1" dirty="0"/>
              <a:t>An Encapsulated Class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>
            <a:off x="4887688" y="3276600"/>
            <a:ext cx="1122063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9422FAF-5E54-0470-D55C-F8DC20E4B589}"/>
              </a:ext>
            </a:extLst>
          </p:cNvPr>
          <p:cNvSpPr/>
          <p:nvPr/>
        </p:nvSpPr>
        <p:spPr>
          <a:xfrm>
            <a:off x="6009751" y="1610092"/>
            <a:ext cx="5508173" cy="50177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D9702E-D09A-1A9D-FAFF-C4A28133557E}"/>
              </a:ext>
            </a:extLst>
          </p:cNvPr>
          <p:cNvGraphicFramePr>
            <a:graphicFrameLocks noGrp="1"/>
          </p:cNvGraphicFramePr>
          <p:nvPr/>
        </p:nvGraphicFramePr>
        <p:xfrm>
          <a:off x="1687288" y="3824328"/>
          <a:ext cx="3200400" cy="925606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92560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2. Fields are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hidden</a:t>
                      </a:r>
                      <a:r>
                        <a:rPr lang="en-IE" sz="2400" dirty="0"/>
                        <a:t> from other classes.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464674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41D938-D271-7F94-66F5-86534ABE30D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887688" y="4287131"/>
            <a:ext cx="1436914" cy="112307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onut 10">
            <a:extLst>
              <a:ext uri="{FF2B5EF4-FFF2-40B4-BE49-F238E27FC236}">
                <a16:creationId xmlns:a16="http://schemas.microsoft.com/office/drawing/2014/main" id="{6F89ED37-CCBD-9CC2-F359-B51DBF340194}"/>
              </a:ext>
            </a:extLst>
          </p:cNvPr>
          <p:cNvSpPr/>
          <p:nvPr/>
        </p:nvSpPr>
        <p:spPr>
          <a:xfrm>
            <a:off x="6733494" y="5310554"/>
            <a:ext cx="304800" cy="1522406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1725F8-77A8-D04B-E747-30A9ED808283}"/>
              </a:ext>
            </a:extLst>
          </p:cNvPr>
          <p:cNvSpPr/>
          <p:nvPr/>
        </p:nvSpPr>
        <p:spPr>
          <a:xfrm>
            <a:off x="6519187" y="5386407"/>
            <a:ext cx="4072613" cy="1317363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6B92D67-D74E-3B77-4142-62E7DDB0D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84867"/>
              </p:ext>
            </p:extLst>
          </p:nvPr>
        </p:nvGraphicFramePr>
        <p:xfrm>
          <a:off x="1687288" y="5181600"/>
          <a:ext cx="3200400" cy="155448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322294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3. </a:t>
                      </a:r>
                      <a:r>
                        <a:rPr lang="en-IE" sz="2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Access</a:t>
                      </a:r>
                      <a:r>
                        <a:rPr lang="en-IE" sz="2400" dirty="0"/>
                        <a:t> the fields only through the methods of Product (e.g. </a:t>
                      </a:r>
                      <a:r>
                        <a:rPr lang="en-IE" sz="2400" b="1" dirty="0"/>
                        <a:t>get</a:t>
                      </a:r>
                      <a:r>
                        <a:rPr lang="en-IE" sz="2400" dirty="0"/>
                        <a:t>ter and </a:t>
                      </a:r>
                      <a:r>
                        <a:rPr lang="en-IE" sz="2400" b="1" dirty="0"/>
                        <a:t>set</a:t>
                      </a:r>
                      <a:r>
                        <a:rPr lang="en-IE" sz="2400" dirty="0"/>
                        <a:t>ter methods).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987298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30A716-7D7A-89FE-2044-EFDC651F9F1D}"/>
              </a:ext>
            </a:extLst>
          </p:cNvPr>
          <p:cNvCxnSpPr>
            <a:cxnSpLocks/>
          </p:cNvCxnSpPr>
          <p:nvPr/>
        </p:nvCxnSpPr>
        <p:spPr>
          <a:xfrm flipV="1">
            <a:off x="4887688" y="3581400"/>
            <a:ext cx="1631499" cy="2438400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E84D071-866B-467E-FA08-9A102890BD88}"/>
              </a:ext>
            </a:extLst>
          </p:cNvPr>
          <p:cNvSpPr/>
          <p:nvPr/>
        </p:nvSpPr>
        <p:spPr>
          <a:xfrm>
            <a:off x="6551273" y="1828799"/>
            <a:ext cx="3953439" cy="3462033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86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User I/O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464612" y="4750893"/>
            <a:ext cx="4087305" cy="11478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solidFill>
                  <a:schemeClr val="tx1"/>
                </a:solidFill>
              </a:rPr>
              <a:t>Driver</a:t>
            </a:r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4AD37017-98E4-1911-3861-EDA1382ED7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427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133831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</a:t>
            </a:r>
            <a:r>
              <a:rPr lang="en-IE" dirty="0" err="1"/>
              <a:t>GymMember</a:t>
            </a:r>
            <a:r>
              <a:rPr lang="en-IE" dirty="0"/>
              <a:t> Class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638F2C-4F3A-4740-B1F7-98694765C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42209"/>
            <a:ext cx="5374341" cy="40011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5A02A5-FBE3-4BFD-A937-751A496B5248}"/>
              </a:ext>
            </a:extLst>
          </p:cNvPr>
          <p:cNvSpPr txBox="1"/>
          <p:nvPr/>
        </p:nvSpPr>
        <p:spPr>
          <a:xfrm>
            <a:off x="685799" y="2348003"/>
            <a:ext cx="5374341" cy="7694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Declaring an object </a:t>
            </a:r>
            <a:r>
              <a:rPr lang="en-IE" sz="2200" b="1" dirty="0" err="1">
                <a:solidFill>
                  <a:srgbClr val="7030A0"/>
                </a:solidFill>
              </a:rPr>
              <a:t>gymMember</a:t>
            </a:r>
            <a:r>
              <a:rPr lang="en-IE" sz="2200" dirty="0"/>
              <a:t>, of type </a:t>
            </a:r>
            <a:r>
              <a:rPr lang="en-IE" sz="2200" b="1" dirty="0" err="1">
                <a:solidFill>
                  <a:srgbClr val="C00000"/>
                </a:solidFill>
              </a:rPr>
              <a:t>GymMember</a:t>
            </a:r>
            <a:r>
              <a:rPr lang="en-IE" sz="2200" dirty="0"/>
              <a:t>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E86991-78E0-40A7-9D7A-068BB348EFE2}"/>
              </a:ext>
            </a:extLst>
          </p:cNvPr>
          <p:cNvCxnSpPr>
            <a:cxnSpLocks/>
            <a:stCxn id="24" idx="0"/>
            <a:endCxn id="7" idx="2"/>
          </p:cNvCxnSpPr>
          <p:nvPr/>
        </p:nvCxnSpPr>
        <p:spPr>
          <a:xfrm flipV="1">
            <a:off x="3372970" y="2042319"/>
            <a:ext cx="1" cy="30568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C93C307-7E7D-4619-BD7C-341559638F1F}"/>
              </a:ext>
            </a:extLst>
          </p:cNvPr>
          <p:cNvSpPr/>
          <p:nvPr/>
        </p:nvSpPr>
        <p:spPr>
          <a:xfrm>
            <a:off x="457200" y="1333757"/>
            <a:ext cx="457200" cy="4111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5C9017-7322-2713-33F7-50B2A81E8B15}"/>
              </a:ext>
            </a:extLst>
          </p:cNvPr>
          <p:cNvSpPr txBox="1"/>
          <p:nvPr/>
        </p:nvSpPr>
        <p:spPr>
          <a:xfrm>
            <a:off x="9202153" y="1798686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400" dirty="0" err="1">
                <a:solidFill>
                  <a:srgbClr val="7030A0"/>
                </a:solidFill>
              </a:rPr>
              <a:t>gymMember</a:t>
            </a:r>
            <a:endParaRPr lang="en-IE" sz="2400" dirty="0">
              <a:solidFill>
                <a:srgbClr val="7030A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31CE37-E245-4DD9-518D-99AD607A0482}"/>
              </a:ext>
            </a:extLst>
          </p:cNvPr>
          <p:cNvSpPr/>
          <p:nvPr/>
        </p:nvSpPr>
        <p:spPr>
          <a:xfrm>
            <a:off x="9659353" y="2287244"/>
            <a:ext cx="9525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0660015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</a:t>
            </a:r>
            <a:r>
              <a:rPr lang="en-IE" dirty="0" err="1"/>
              <a:t>GymMember</a:t>
            </a:r>
            <a:r>
              <a:rPr lang="en-IE" dirty="0"/>
              <a:t> Class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638F2C-4F3A-4740-B1F7-98694765C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42209"/>
            <a:ext cx="5374341" cy="40011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5A02A5-FBE3-4BFD-A937-751A496B5248}"/>
              </a:ext>
            </a:extLst>
          </p:cNvPr>
          <p:cNvSpPr txBox="1"/>
          <p:nvPr/>
        </p:nvSpPr>
        <p:spPr>
          <a:xfrm>
            <a:off x="685799" y="2348003"/>
            <a:ext cx="5374341" cy="7694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Declaring an object </a:t>
            </a:r>
            <a:r>
              <a:rPr lang="en-IE" sz="2200" b="1" dirty="0" err="1">
                <a:solidFill>
                  <a:srgbClr val="7030A0"/>
                </a:solidFill>
              </a:rPr>
              <a:t>gymMember</a:t>
            </a:r>
            <a:r>
              <a:rPr lang="en-IE" sz="2200" dirty="0"/>
              <a:t>, of type </a:t>
            </a:r>
            <a:r>
              <a:rPr lang="en-IE" sz="2200" b="1" dirty="0" err="1">
                <a:solidFill>
                  <a:srgbClr val="C00000"/>
                </a:solidFill>
              </a:rPr>
              <a:t>GymMember</a:t>
            </a:r>
            <a:r>
              <a:rPr lang="en-IE" sz="2200" dirty="0"/>
              <a:t>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E86991-78E0-40A7-9D7A-068BB348EFE2}"/>
              </a:ext>
            </a:extLst>
          </p:cNvPr>
          <p:cNvCxnSpPr>
            <a:cxnSpLocks/>
            <a:stCxn id="24" idx="0"/>
            <a:endCxn id="7" idx="2"/>
          </p:cNvCxnSpPr>
          <p:nvPr/>
        </p:nvCxnSpPr>
        <p:spPr>
          <a:xfrm flipV="1">
            <a:off x="3372970" y="2042319"/>
            <a:ext cx="1" cy="30568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C93C307-7E7D-4619-BD7C-341559638F1F}"/>
              </a:ext>
            </a:extLst>
          </p:cNvPr>
          <p:cNvSpPr/>
          <p:nvPr/>
        </p:nvSpPr>
        <p:spPr>
          <a:xfrm>
            <a:off x="457200" y="1333757"/>
            <a:ext cx="457200" cy="4111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9202153" y="1798686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400" dirty="0" err="1">
                <a:solidFill>
                  <a:srgbClr val="7030A0"/>
                </a:solidFill>
              </a:rPr>
              <a:t>gymMember</a:t>
            </a:r>
            <a:endParaRPr lang="en-IE" sz="2400" dirty="0">
              <a:solidFill>
                <a:srgbClr val="7030A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9659353" y="2287244"/>
            <a:ext cx="9525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8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61B6DCC-18CF-18CB-CFFC-96F2B7E9C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523324"/>
            <a:ext cx="8610600" cy="36933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(“Joe Soap”, 1.8, 175, 12001, true);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B6FC94-2A2E-A550-D013-05AB8190D4C0}"/>
              </a:ext>
            </a:extLst>
          </p:cNvPr>
          <p:cNvSpPr txBox="1"/>
          <p:nvPr/>
        </p:nvSpPr>
        <p:spPr>
          <a:xfrm>
            <a:off x="685800" y="4677177"/>
            <a:ext cx="3352800" cy="14465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Calls the </a:t>
            </a:r>
            <a:r>
              <a:rPr lang="en-IE" sz="2200" b="1" dirty="0" err="1">
                <a:solidFill>
                  <a:srgbClr val="FF0000"/>
                </a:solidFill>
              </a:rPr>
              <a:t>GymMember</a:t>
            </a:r>
            <a:r>
              <a:rPr lang="en-IE" sz="2200" b="1" dirty="0">
                <a:solidFill>
                  <a:srgbClr val="FF0000"/>
                </a:solidFill>
              </a:rPr>
              <a:t> </a:t>
            </a:r>
            <a:r>
              <a:rPr lang="en-IE" sz="2200" i="1" dirty="0"/>
              <a:t>constructor</a:t>
            </a:r>
            <a:r>
              <a:rPr lang="en-IE" sz="2200" dirty="0"/>
              <a:t> to build the </a:t>
            </a:r>
            <a:r>
              <a:rPr lang="en-IE" sz="2200" b="1" dirty="0" err="1">
                <a:solidFill>
                  <a:srgbClr val="7030A0"/>
                </a:solidFill>
              </a:rPr>
              <a:t>gymMember</a:t>
            </a:r>
            <a:r>
              <a:rPr lang="en-IE" sz="2200" b="1" dirty="0">
                <a:solidFill>
                  <a:srgbClr val="FF0000"/>
                </a:solidFill>
              </a:rPr>
              <a:t> </a:t>
            </a:r>
            <a:r>
              <a:rPr lang="en-IE" sz="2200" dirty="0"/>
              <a:t>object in memory.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D43B48-1E46-177E-8182-81FA3ABE24D8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2338138" y="3873981"/>
            <a:ext cx="24062" cy="80319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E99B3B1F-44D9-2F7E-868A-728AEEDE1D28}"/>
              </a:ext>
            </a:extLst>
          </p:cNvPr>
          <p:cNvSpPr/>
          <p:nvPr/>
        </p:nvSpPr>
        <p:spPr>
          <a:xfrm>
            <a:off x="381000" y="3276600"/>
            <a:ext cx="457200" cy="4111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2</a:t>
            </a:r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E55F4301-B9C0-EFFB-F26A-4DD824C411E3}"/>
              </a:ext>
            </a:extLst>
          </p:cNvPr>
          <p:cNvSpPr/>
          <p:nvPr/>
        </p:nvSpPr>
        <p:spPr>
          <a:xfrm>
            <a:off x="7924800" y="3937357"/>
            <a:ext cx="4114800" cy="281105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50E3B3-7AC2-BE40-BFF6-FAB632E2B8E1}"/>
              </a:ext>
            </a:extLst>
          </p:cNvPr>
          <p:cNvSpPr txBox="1"/>
          <p:nvPr/>
        </p:nvSpPr>
        <p:spPr>
          <a:xfrm>
            <a:off x="8001000" y="4496772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8A897E-3DBE-252B-A595-6FA50BE137E0}"/>
              </a:ext>
            </a:extLst>
          </p:cNvPr>
          <p:cNvSpPr txBox="1"/>
          <p:nvPr/>
        </p:nvSpPr>
        <p:spPr>
          <a:xfrm>
            <a:off x="8001000" y="4940579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height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AFA196-3F56-0CEC-9D55-7FE8279754B1}"/>
              </a:ext>
            </a:extLst>
          </p:cNvPr>
          <p:cNvSpPr txBox="1"/>
          <p:nvPr/>
        </p:nvSpPr>
        <p:spPr>
          <a:xfrm>
            <a:off x="10208879" y="4518248"/>
            <a:ext cx="1648326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“Joe Soap”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D3D98-CE7A-409E-43D7-5D411272D416}"/>
              </a:ext>
            </a:extLst>
          </p:cNvPr>
          <p:cNvSpPr txBox="1"/>
          <p:nvPr/>
        </p:nvSpPr>
        <p:spPr>
          <a:xfrm>
            <a:off x="10208879" y="4962055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1.8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C692F-20DE-D2FE-9029-784D3A4024E4}"/>
              </a:ext>
            </a:extLst>
          </p:cNvPr>
          <p:cNvSpPr txBox="1"/>
          <p:nvPr/>
        </p:nvSpPr>
        <p:spPr>
          <a:xfrm>
            <a:off x="9234237" y="3992868"/>
            <a:ext cx="164832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 err="1"/>
              <a:t>gymMember</a:t>
            </a:r>
            <a:endParaRPr lang="en-IE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3C8B58-3C6D-2D9E-6E4D-77EB2DCF2271}"/>
              </a:ext>
            </a:extLst>
          </p:cNvPr>
          <p:cNvSpPr txBox="1"/>
          <p:nvPr/>
        </p:nvSpPr>
        <p:spPr>
          <a:xfrm>
            <a:off x="8001001" y="5397779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234B88-8CCA-932C-77CB-22596114F50C}"/>
              </a:ext>
            </a:extLst>
          </p:cNvPr>
          <p:cNvSpPr txBox="1"/>
          <p:nvPr/>
        </p:nvSpPr>
        <p:spPr>
          <a:xfrm>
            <a:off x="10184816" y="5419255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175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58E6DA-0CBF-73E5-3312-C23943CDCFCB}"/>
              </a:ext>
            </a:extLst>
          </p:cNvPr>
          <p:cNvSpPr txBox="1"/>
          <p:nvPr/>
        </p:nvSpPr>
        <p:spPr>
          <a:xfrm>
            <a:off x="8001001" y="5834131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membershipNumber</a:t>
            </a:r>
            <a:endParaRPr lang="en-IE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A19CB4-2003-00A0-167E-3349A5A7860F}"/>
              </a:ext>
            </a:extLst>
          </p:cNvPr>
          <p:cNvSpPr txBox="1"/>
          <p:nvPr/>
        </p:nvSpPr>
        <p:spPr>
          <a:xfrm>
            <a:off x="10175851" y="5834009"/>
            <a:ext cx="871228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12001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159D2B-D703-61F0-6103-1B3E7A2749C0}"/>
              </a:ext>
            </a:extLst>
          </p:cNvPr>
          <p:cNvSpPr txBox="1"/>
          <p:nvPr/>
        </p:nvSpPr>
        <p:spPr>
          <a:xfrm>
            <a:off x="8003296" y="6248320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isCurrentGymMember</a:t>
            </a:r>
            <a:endParaRPr lang="en-IE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B1FF5D-DB20-0DE4-1DC7-DC3D3AB2A45F}"/>
              </a:ext>
            </a:extLst>
          </p:cNvPr>
          <p:cNvSpPr txBox="1"/>
          <p:nvPr/>
        </p:nvSpPr>
        <p:spPr>
          <a:xfrm>
            <a:off x="10187111" y="6269796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true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907B77-D9C9-05BE-EFB4-ED8A861D475E}"/>
              </a:ext>
            </a:extLst>
          </p:cNvPr>
          <p:cNvCxnSpPr>
            <a:cxnSpLocks/>
          </p:cNvCxnSpPr>
          <p:nvPr/>
        </p:nvCxnSpPr>
        <p:spPr>
          <a:xfrm>
            <a:off x="10134600" y="2494089"/>
            <a:ext cx="58153" cy="1498779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8666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Multiple </a:t>
            </a:r>
            <a:r>
              <a:rPr lang="en-IE" dirty="0" err="1"/>
              <a:t>GymMember</a:t>
            </a:r>
            <a:r>
              <a:rPr lang="en-IE" dirty="0"/>
              <a:t>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902368" y="2614562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400" dirty="0" err="1">
                <a:solidFill>
                  <a:srgbClr val="7030A0"/>
                </a:solidFill>
              </a:rPr>
              <a:t>gymMember</a:t>
            </a:r>
            <a:endParaRPr lang="en-IE" sz="2400" dirty="0">
              <a:solidFill>
                <a:srgbClr val="7030A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1466850" y="3104218"/>
            <a:ext cx="9525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8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61B6DCC-18CF-18CB-CFFC-96F2B7E9C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35668"/>
            <a:ext cx="10972800" cy="36933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(“Joe Soap”, 1.8, 175, 12001, true);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E55F4301-B9C0-EFFB-F26A-4DD824C411E3}"/>
              </a:ext>
            </a:extLst>
          </p:cNvPr>
          <p:cNvSpPr/>
          <p:nvPr/>
        </p:nvSpPr>
        <p:spPr>
          <a:xfrm>
            <a:off x="838200" y="3894548"/>
            <a:ext cx="4114800" cy="281105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50E3B3-7AC2-BE40-BFF6-FAB632E2B8E1}"/>
              </a:ext>
            </a:extLst>
          </p:cNvPr>
          <p:cNvSpPr txBox="1"/>
          <p:nvPr/>
        </p:nvSpPr>
        <p:spPr>
          <a:xfrm>
            <a:off x="914400" y="4453963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8A897E-3DBE-252B-A595-6FA50BE137E0}"/>
              </a:ext>
            </a:extLst>
          </p:cNvPr>
          <p:cNvSpPr txBox="1"/>
          <p:nvPr/>
        </p:nvSpPr>
        <p:spPr>
          <a:xfrm>
            <a:off x="914400" y="4897770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height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AFA196-3F56-0CEC-9D55-7FE8279754B1}"/>
              </a:ext>
            </a:extLst>
          </p:cNvPr>
          <p:cNvSpPr txBox="1"/>
          <p:nvPr/>
        </p:nvSpPr>
        <p:spPr>
          <a:xfrm>
            <a:off x="3122279" y="4475439"/>
            <a:ext cx="1648326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“Joe Soap”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D3D98-CE7A-409E-43D7-5D411272D416}"/>
              </a:ext>
            </a:extLst>
          </p:cNvPr>
          <p:cNvSpPr txBox="1"/>
          <p:nvPr/>
        </p:nvSpPr>
        <p:spPr>
          <a:xfrm>
            <a:off x="3122279" y="4919246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1.8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C692F-20DE-D2FE-9029-784D3A4024E4}"/>
              </a:ext>
            </a:extLst>
          </p:cNvPr>
          <p:cNvSpPr txBox="1"/>
          <p:nvPr/>
        </p:nvSpPr>
        <p:spPr>
          <a:xfrm>
            <a:off x="2147637" y="3950059"/>
            <a:ext cx="164832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 err="1"/>
              <a:t>gymMember</a:t>
            </a:r>
            <a:endParaRPr lang="en-IE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3C8B58-3C6D-2D9E-6E4D-77EB2DCF2271}"/>
              </a:ext>
            </a:extLst>
          </p:cNvPr>
          <p:cNvSpPr txBox="1"/>
          <p:nvPr/>
        </p:nvSpPr>
        <p:spPr>
          <a:xfrm>
            <a:off x="914401" y="5354970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234B88-8CCA-932C-77CB-22596114F50C}"/>
              </a:ext>
            </a:extLst>
          </p:cNvPr>
          <p:cNvSpPr txBox="1"/>
          <p:nvPr/>
        </p:nvSpPr>
        <p:spPr>
          <a:xfrm>
            <a:off x="3098216" y="5376446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175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58E6DA-0CBF-73E5-3312-C23943CDCFCB}"/>
              </a:ext>
            </a:extLst>
          </p:cNvPr>
          <p:cNvSpPr txBox="1"/>
          <p:nvPr/>
        </p:nvSpPr>
        <p:spPr>
          <a:xfrm>
            <a:off x="914401" y="5791322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membershipNumber</a:t>
            </a:r>
            <a:endParaRPr lang="en-IE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A19CB4-2003-00A0-167E-3349A5A7860F}"/>
              </a:ext>
            </a:extLst>
          </p:cNvPr>
          <p:cNvSpPr txBox="1"/>
          <p:nvPr/>
        </p:nvSpPr>
        <p:spPr>
          <a:xfrm>
            <a:off x="3089251" y="5791200"/>
            <a:ext cx="871228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12001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159D2B-D703-61F0-6103-1B3E7A2749C0}"/>
              </a:ext>
            </a:extLst>
          </p:cNvPr>
          <p:cNvSpPr txBox="1"/>
          <p:nvPr/>
        </p:nvSpPr>
        <p:spPr>
          <a:xfrm>
            <a:off x="916696" y="6205511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isCurrentGymMember</a:t>
            </a:r>
            <a:endParaRPr lang="en-IE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B1FF5D-DB20-0DE4-1DC7-DC3D3AB2A45F}"/>
              </a:ext>
            </a:extLst>
          </p:cNvPr>
          <p:cNvSpPr txBox="1"/>
          <p:nvPr/>
        </p:nvSpPr>
        <p:spPr>
          <a:xfrm>
            <a:off x="3100511" y="6226987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true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907B77-D9C9-05BE-EFB4-ED8A861D475E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943100" y="3402458"/>
            <a:ext cx="952500" cy="49209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9327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Multiple </a:t>
            </a:r>
            <a:r>
              <a:rPr lang="en-IE" dirty="0" err="1"/>
              <a:t>GymMember</a:t>
            </a:r>
            <a:r>
              <a:rPr lang="en-IE" dirty="0"/>
              <a:t>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902368" y="2614562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400" dirty="0" err="1">
                <a:solidFill>
                  <a:srgbClr val="7030A0"/>
                </a:solidFill>
              </a:rPr>
              <a:t>gymMember</a:t>
            </a:r>
            <a:endParaRPr lang="en-IE" sz="2400" dirty="0">
              <a:solidFill>
                <a:srgbClr val="7030A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1466850" y="3104218"/>
            <a:ext cx="9525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800" dirty="0"/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E55F4301-B9C0-EFFB-F26A-4DD824C411E3}"/>
              </a:ext>
            </a:extLst>
          </p:cNvPr>
          <p:cNvSpPr/>
          <p:nvPr/>
        </p:nvSpPr>
        <p:spPr>
          <a:xfrm>
            <a:off x="838200" y="3894548"/>
            <a:ext cx="4114800" cy="281105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50E3B3-7AC2-BE40-BFF6-FAB632E2B8E1}"/>
              </a:ext>
            </a:extLst>
          </p:cNvPr>
          <p:cNvSpPr txBox="1"/>
          <p:nvPr/>
        </p:nvSpPr>
        <p:spPr>
          <a:xfrm>
            <a:off x="914400" y="4453963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8A897E-3DBE-252B-A595-6FA50BE137E0}"/>
              </a:ext>
            </a:extLst>
          </p:cNvPr>
          <p:cNvSpPr txBox="1"/>
          <p:nvPr/>
        </p:nvSpPr>
        <p:spPr>
          <a:xfrm>
            <a:off x="914400" y="4897770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height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AFA196-3F56-0CEC-9D55-7FE8279754B1}"/>
              </a:ext>
            </a:extLst>
          </p:cNvPr>
          <p:cNvSpPr txBox="1"/>
          <p:nvPr/>
        </p:nvSpPr>
        <p:spPr>
          <a:xfrm>
            <a:off x="3122279" y="4475439"/>
            <a:ext cx="1648326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“Joe Soap”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D3D98-CE7A-409E-43D7-5D411272D416}"/>
              </a:ext>
            </a:extLst>
          </p:cNvPr>
          <p:cNvSpPr txBox="1"/>
          <p:nvPr/>
        </p:nvSpPr>
        <p:spPr>
          <a:xfrm>
            <a:off x="3122279" y="4919246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1.8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C692F-20DE-D2FE-9029-784D3A4024E4}"/>
              </a:ext>
            </a:extLst>
          </p:cNvPr>
          <p:cNvSpPr txBox="1"/>
          <p:nvPr/>
        </p:nvSpPr>
        <p:spPr>
          <a:xfrm>
            <a:off x="2147637" y="3950059"/>
            <a:ext cx="164832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 err="1"/>
              <a:t>gymMember</a:t>
            </a:r>
            <a:endParaRPr lang="en-IE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3C8B58-3C6D-2D9E-6E4D-77EB2DCF2271}"/>
              </a:ext>
            </a:extLst>
          </p:cNvPr>
          <p:cNvSpPr txBox="1"/>
          <p:nvPr/>
        </p:nvSpPr>
        <p:spPr>
          <a:xfrm>
            <a:off x="914401" y="5354970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234B88-8CCA-932C-77CB-22596114F50C}"/>
              </a:ext>
            </a:extLst>
          </p:cNvPr>
          <p:cNvSpPr txBox="1"/>
          <p:nvPr/>
        </p:nvSpPr>
        <p:spPr>
          <a:xfrm>
            <a:off x="3098216" y="5376446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175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58E6DA-0CBF-73E5-3312-C23943CDCFCB}"/>
              </a:ext>
            </a:extLst>
          </p:cNvPr>
          <p:cNvSpPr txBox="1"/>
          <p:nvPr/>
        </p:nvSpPr>
        <p:spPr>
          <a:xfrm>
            <a:off x="914401" y="5791322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membershipNumber</a:t>
            </a:r>
            <a:endParaRPr lang="en-IE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A19CB4-2003-00A0-167E-3349A5A7860F}"/>
              </a:ext>
            </a:extLst>
          </p:cNvPr>
          <p:cNvSpPr txBox="1"/>
          <p:nvPr/>
        </p:nvSpPr>
        <p:spPr>
          <a:xfrm>
            <a:off x="3089251" y="5791200"/>
            <a:ext cx="871228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12001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159D2B-D703-61F0-6103-1B3E7A2749C0}"/>
              </a:ext>
            </a:extLst>
          </p:cNvPr>
          <p:cNvSpPr txBox="1"/>
          <p:nvPr/>
        </p:nvSpPr>
        <p:spPr>
          <a:xfrm>
            <a:off x="916696" y="6205511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isCurrentGymMember</a:t>
            </a:r>
            <a:endParaRPr lang="en-IE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B1FF5D-DB20-0DE4-1DC7-DC3D3AB2A45F}"/>
              </a:ext>
            </a:extLst>
          </p:cNvPr>
          <p:cNvSpPr txBox="1"/>
          <p:nvPr/>
        </p:nvSpPr>
        <p:spPr>
          <a:xfrm>
            <a:off x="3100511" y="6226987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true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907B77-D9C9-05BE-EFB4-ED8A861D475E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943100" y="3402458"/>
            <a:ext cx="952500" cy="49209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BE2A4DF-F44C-EAE0-C906-DFF43A92015E}"/>
              </a:ext>
            </a:extLst>
          </p:cNvPr>
          <p:cNvSpPr txBox="1"/>
          <p:nvPr/>
        </p:nvSpPr>
        <p:spPr>
          <a:xfrm>
            <a:off x="5779168" y="2644724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400" dirty="0">
                <a:solidFill>
                  <a:srgbClr val="7030A0"/>
                </a:solidFill>
              </a:rPr>
              <a:t>gymMember2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C5D202-A3AF-2C66-ACA5-2576FFDAA536}"/>
              </a:ext>
            </a:extLst>
          </p:cNvPr>
          <p:cNvSpPr/>
          <p:nvPr/>
        </p:nvSpPr>
        <p:spPr>
          <a:xfrm>
            <a:off x="6343650" y="3134380"/>
            <a:ext cx="9525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800" dirty="0"/>
          </a:p>
        </p:txBody>
      </p:sp>
      <p:sp>
        <p:nvSpPr>
          <p:cNvPr id="33" name="Rounded Rectangle 11">
            <a:extLst>
              <a:ext uri="{FF2B5EF4-FFF2-40B4-BE49-F238E27FC236}">
                <a16:creationId xmlns:a16="http://schemas.microsoft.com/office/drawing/2014/main" id="{33A16050-59EB-E85A-418D-5E0D536FEB58}"/>
              </a:ext>
            </a:extLst>
          </p:cNvPr>
          <p:cNvSpPr/>
          <p:nvPr/>
        </p:nvSpPr>
        <p:spPr>
          <a:xfrm>
            <a:off x="5715000" y="3924710"/>
            <a:ext cx="4114800" cy="281105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9A3064-B75A-97DC-5244-F09626A302EE}"/>
              </a:ext>
            </a:extLst>
          </p:cNvPr>
          <p:cNvSpPr txBox="1"/>
          <p:nvPr/>
        </p:nvSpPr>
        <p:spPr>
          <a:xfrm>
            <a:off x="5791200" y="4484125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name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30D897-C3B0-6B4D-B12B-84518102E150}"/>
              </a:ext>
            </a:extLst>
          </p:cNvPr>
          <p:cNvSpPr txBox="1"/>
          <p:nvPr/>
        </p:nvSpPr>
        <p:spPr>
          <a:xfrm>
            <a:off x="5791200" y="4927932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height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A4E12F-9E15-16E1-345E-0B877D2E1DCD}"/>
              </a:ext>
            </a:extLst>
          </p:cNvPr>
          <p:cNvSpPr txBox="1"/>
          <p:nvPr/>
        </p:nvSpPr>
        <p:spPr>
          <a:xfrm>
            <a:off x="7999079" y="4505601"/>
            <a:ext cx="1648326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“Mary Lee”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DDB276-3718-D7F4-5938-075F7037C19E}"/>
              </a:ext>
            </a:extLst>
          </p:cNvPr>
          <p:cNvSpPr txBox="1"/>
          <p:nvPr/>
        </p:nvSpPr>
        <p:spPr>
          <a:xfrm>
            <a:off x="7999079" y="4949408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1.5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BA347D-200D-6DBD-D468-69650FE42ED3}"/>
              </a:ext>
            </a:extLst>
          </p:cNvPr>
          <p:cNvSpPr txBox="1"/>
          <p:nvPr/>
        </p:nvSpPr>
        <p:spPr>
          <a:xfrm>
            <a:off x="7024437" y="3980221"/>
            <a:ext cx="164832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gymMember2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C6BA1B-3537-02F1-39C9-F77BDB0DD6F5}"/>
              </a:ext>
            </a:extLst>
          </p:cNvPr>
          <p:cNvSpPr txBox="1"/>
          <p:nvPr/>
        </p:nvSpPr>
        <p:spPr>
          <a:xfrm>
            <a:off x="5791201" y="5385132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weight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A53199-EDF8-086E-1E1B-9AE933143140}"/>
              </a:ext>
            </a:extLst>
          </p:cNvPr>
          <p:cNvSpPr txBox="1"/>
          <p:nvPr/>
        </p:nvSpPr>
        <p:spPr>
          <a:xfrm>
            <a:off x="7975016" y="5406608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714943-B817-B0F4-6AA5-FE0521535ADD}"/>
              </a:ext>
            </a:extLst>
          </p:cNvPr>
          <p:cNvSpPr txBox="1"/>
          <p:nvPr/>
        </p:nvSpPr>
        <p:spPr>
          <a:xfrm>
            <a:off x="5791201" y="5821484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membershipNumber</a:t>
            </a:r>
            <a:endParaRPr lang="en-IE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4BD87C-0A0F-6097-2D77-836B820AB3DE}"/>
              </a:ext>
            </a:extLst>
          </p:cNvPr>
          <p:cNvSpPr txBox="1"/>
          <p:nvPr/>
        </p:nvSpPr>
        <p:spPr>
          <a:xfrm>
            <a:off x="7966051" y="5821362"/>
            <a:ext cx="871228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12002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0E8B5E-07A8-8D57-8F91-23DBEC2EF1DC}"/>
              </a:ext>
            </a:extLst>
          </p:cNvPr>
          <p:cNvSpPr txBox="1"/>
          <p:nvPr/>
        </p:nvSpPr>
        <p:spPr>
          <a:xfrm>
            <a:off x="5793496" y="6235673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isCurrentGymMember</a:t>
            </a:r>
            <a:endParaRPr lang="en-IE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557CDE-CF4A-E30F-CD98-F0E56A864D0D}"/>
              </a:ext>
            </a:extLst>
          </p:cNvPr>
          <p:cNvSpPr txBox="1"/>
          <p:nvPr/>
        </p:nvSpPr>
        <p:spPr>
          <a:xfrm>
            <a:off x="7977311" y="6257149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false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BEE2C3-88C1-69B9-7CD4-7865F1A256DE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6819900" y="3432620"/>
            <a:ext cx="952500" cy="49209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2">
            <a:extLst>
              <a:ext uri="{FF2B5EF4-FFF2-40B4-BE49-F238E27FC236}">
                <a16:creationId xmlns:a16="http://schemas.microsoft.com/office/drawing/2014/main" id="{2C537D81-5F1F-639D-A686-7608D21CD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35668"/>
            <a:ext cx="10972800" cy="36933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(“Joe Soap”, 1.8, 175, 12001, true);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47" name="Rectangle 2">
            <a:extLst>
              <a:ext uri="{FF2B5EF4-FFF2-40B4-BE49-F238E27FC236}">
                <a16:creationId xmlns:a16="http://schemas.microsoft.com/office/drawing/2014/main" id="{96EDE36F-3D8A-492B-DA5B-5F2D9167E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145268"/>
            <a:ext cx="11353800" cy="36933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gymMember2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(“Mary Lee”, 1.5, 125, 12002, false);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2760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62E0F6-DCEA-7145-9380-E55370C13C9E}"/>
              </a:ext>
            </a:extLst>
          </p:cNvPr>
          <p:cNvSpPr/>
          <p:nvPr/>
        </p:nvSpPr>
        <p:spPr>
          <a:xfrm>
            <a:off x="4343400" y="612844"/>
            <a:ext cx="6096000" cy="56323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E" b="1" dirty="0">
                <a:solidFill>
                  <a:srgbClr val="000080"/>
                </a:solidFill>
              </a:rPr>
              <a:t>import </a:t>
            </a:r>
            <a:r>
              <a:rPr lang="en-IE" dirty="0" err="1"/>
              <a:t>java.util.Scanner</a:t>
            </a:r>
            <a:r>
              <a:rPr lang="en-IE" dirty="0"/>
              <a:t>;</a:t>
            </a:r>
            <a:br>
              <a:rPr lang="en-IE" dirty="0"/>
            </a:br>
            <a:br>
              <a:rPr lang="en-IE" dirty="0"/>
            </a:br>
            <a:r>
              <a:rPr lang="en-IE" b="1" dirty="0">
                <a:solidFill>
                  <a:srgbClr val="000080"/>
                </a:solidFill>
              </a:rPr>
              <a:t>public class </a:t>
            </a:r>
            <a:r>
              <a:rPr lang="en-IE" dirty="0"/>
              <a:t>Driver {</a:t>
            </a:r>
            <a:br>
              <a:rPr lang="en-IE" i="1" dirty="0">
                <a:solidFill>
                  <a:srgbClr val="808080"/>
                </a:solidFill>
              </a:rPr>
            </a:b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    </a:t>
            </a:r>
            <a:r>
              <a:rPr lang="en-IE" b="1" dirty="0">
                <a:solidFill>
                  <a:srgbClr val="000080"/>
                </a:solidFill>
              </a:rPr>
              <a:t>private </a:t>
            </a:r>
            <a:r>
              <a:rPr lang="en-IE" dirty="0"/>
              <a:t>Scanner </a:t>
            </a:r>
            <a:r>
              <a:rPr lang="en-IE" b="1" dirty="0">
                <a:solidFill>
                  <a:srgbClr val="660E7A"/>
                </a:solidFill>
              </a:rPr>
              <a:t>input </a:t>
            </a:r>
            <a:r>
              <a:rPr lang="en-IE" dirty="0"/>
              <a:t>= </a:t>
            </a:r>
            <a:r>
              <a:rPr lang="en-IE" b="1" dirty="0">
                <a:solidFill>
                  <a:srgbClr val="000080"/>
                </a:solidFill>
              </a:rPr>
              <a:t>new </a:t>
            </a:r>
            <a:r>
              <a:rPr lang="en-IE" dirty="0"/>
              <a:t>Scanner(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in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b="1" dirty="0">
                <a:solidFill>
                  <a:srgbClr val="000080"/>
                </a:solidFill>
              </a:rPr>
              <a:t>private </a:t>
            </a:r>
            <a:r>
              <a:rPr lang="en-IE" dirty="0" err="1"/>
              <a:t>GymMember</a:t>
            </a:r>
            <a:r>
              <a:rPr lang="en-IE" dirty="0"/>
              <a:t> </a:t>
            </a:r>
            <a:r>
              <a:rPr lang="en-IE" b="1" dirty="0" err="1">
                <a:solidFill>
                  <a:srgbClr val="660E7A"/>
                </a:solidFill>
              </a:rPr>
              <a:t>gymMember</a:t>
            </a:r>
            <a:r>
              <a:rPr lang="en-IE" dirty="0"/>
              <a:t>;</a:t>
            </a:r>
            <a:br>
              <a:rPr lang="en-IE" dirty="0"/>
            </a:br>
            <a:br>
              <a:rPr lang="en-IE" dirty="0"/>
            </a:br>
            <a:r>
              <a:rPr lang="en-IE" dirty="0"/>
              <a:t>        </a:t>
            </a:r>
            <a:r>
              <a:rPr lang="en-IE" b="1" dirty="0">
                <a:solidFill>
                  <a:srgbClr val="000080"/>
                </a:solidFill>
              </a:rPr>
              <a:t>public static void </a:t>
            </a:r>
            <a:r>
              <a:rPr lang="en-IE" dirty="0"/>
              <a:t>main(String[] </a:t>
            </a:r>
            <a:r>
              <a:rPr lang="en-IE" dirty="0" err="1"/>
              <a:t>arg</a:t>
            </a:r>
            <a:r>
              <a:rPr lang="en-IE" dirty="0"/>
              <a:t>) {</a:t>
            </a:r>
            <a:br>
              <a:rPr lang="en-IE" dirty="0"/>
            </a:br>
            <a:r>
              <a:rPr lang="en-IE" dirty="0"/>
              <a:t>            </a:t>
            </a:r>
            <a:r>
              <a:rPr lang="en-IE" b="1" dirty="0">
                <a:solidFill>
                  <a:srgbClr val="000080"/>
                </a:solidFill>
              </a:rPr>
              <a:t>new </a:t>
            </a:r>
            <a:r>
              <a:rPr lang="en-IE" dirty="0"/>
              <a:t>Driver();</a:t>
            </a:r>
            <a:br>
              <a:rPr lang="en-IE" dirty="0"/>
            </a:br>
            <a:r>
              <a:rPr lang="en-IE" dirty="0"/>
              <a:t>        }</a:t>
            </a:r>
            <a:br>
              <a:rPr lang="en-IE" dirty="0"/>
            </a:br>
            <a:br>
              <a:rPr lang="en-IE" dirty="0"/>
            </a:br>
            <a:r>
              <a:rPr lang="en-IE" dirty="0"/>
              <a:t>        </a:t>
            </a:r>
            <a:r>
              <a:rPr lang="en-IE" b="1" dirty="0">
                <a:solidFill>
                  <a:srgbClr val="000080"/>
                </a:solidFill>
              </a:rPr>
              <a:t>public </a:t>
            </a:r>
            <a:r>
              <a:rPr lang="en-IE" dirty="0"/>
              <a:t>Driver() {</a:t>
            </a:r>
            <a:br>
              <a:rPr lang="en-IE" dirty="0"/>
            </a:br>
            <a:r>
              <a:rPr lang="en-IE" dirty="0"/>
              <a:t>            </a:t>
            </a:r>
            <a:r>
              <a:rPr lang="en-IE" dirty="0" err="1"/>
              <a:t>addGymMember</a:t>
            </a:r>
            <a:r>
              <a:rPr lang="en-IE" dirty="0"/>
              <a:t>();</a:t>
            </a:r>
            <a:br>
              <a:rPr lang="en-IE" dirty="0"/>
            </a:br>
            <a:r>
              <a:rPr lang="en-IE" dirty="0"/>
              <a:t>            </a:t>
            </a:r>
            <a:r>
              <a:rPr lang="en-IE" dirty="0" err="1"/>
              <a:t>printGymMember</a:t>
            </a:r>
            <a:r>
              <a:rPr lang="en-IE" dirty="0"/>
              <a:t>();</a:t>
            </a:r>
            <a:br>
              <a:rPr lang="en-IE" dirty="0"/>
            </a:br>
            <a:r>
              <a:rPr lang="en-IE" dirty="0"/>
              <a:t>        }</a:t>
            </a:r>
          </a:p>
          <a:p>
            <a:endParaRPr lang="en-IE" dirty="0"/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    //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addGymMember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() code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    //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printGymMember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() code</a:t>
            </a:r>
          </a:p>
          <a:p>
            <a:endParaRPr lang="en-IE" dirty="0"/>
          </a:p>
          <a:p>
            <a:r>
              <a:rPr lang="en-IE" dirty="0"/>
              <a:t>}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A6AB3A-F57F-9281-4BAF-10300A9514ED}"/>
              </a:ext>
            </a:extLst>
          </p:cNvPr>
          <p:cNvSpPr txBox="1"/>
          <p:nvPr/>
        </p:nvSpPr>
        <p:spPr>
          <a:xfrm>
            <a:off x="9525000" y="685800"/>
            <a:ext cx="236220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Driver Class</a:t>
            </a:r>
          </a:p>
        </p:txBody>
      </p:sp>
    </p:spTree>
    <p:extLst>
      <p:ext uri="{BB962C8B-B14F-4D97-AF65-F5344CB8AC3E}">
        <p14:creationId xmlns:p14="http://schemas.microsoft.com/office/powerpoint/2010/main" val="9730891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04611F-EF1A-8C76-298C-9E04DBB5D80C}"/>
              </a:ext>
            </a:extLst>
          </p:cNvPr>
          <p:cNvSpPr/>
          <p:nvPr/>
        </p:nvSpPr>
        <p:spPr>
          <a:xfrm>
            <a:off x="838200" y="335845"/>
            <a:ext cx="9982200" cy="618630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b="1" dirty="0">
                <a:solidFill>
                  <a:srgbClr val="000080"/>
                </a:solidFill>
              </a:rPr>
              <a:t>private void </a:t>
            </a:r>
            <a:r>
              <a:rPr lang="en-IE" dirty="0" err="1"/>
              <a:t>addGymMember</a:t>
            </a:r>
            <a:r>
              <a:rPr lang="en-IE" dirty="0"/>
              <a:t>() {</a:t>
            </a:r>
            <a:br>
              <a:rPr lang="en-IE" dirty="0"/>
            </a:br>
            <a:r>
              <a:rPr lang="en-IE" dirty="0"/>
              <a:t>    </a:t>
            </a:r>
            <a:r>
              <a:rPr lang="en-IE" i="1" dirty="0">
                <a:solidFill>
                  <a:srgbClr val="808080"/>
                </a:solidFill>
              </a:rPr>
              <a:t>//obtaining the data from the user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.println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"Entering details"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.println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"----------------"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   Enter your name:             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String name = </a:t>
            </a:r>
            <a:r>
              <a:rPr lang="en-IE" b="1" dirty="0" err="1">
                <a:solidFill>
                  <a:srgbClr val="660E7A"/>
                </a:solidFill>
              </a:rPr>
              <a:t>input</a:t>
            </a:r>
            <a:r>
              <a:rPr lang="en-IE" dirty="0" err="1"/>
              <a:t>.nextLine</a:t>
            </a:r>
            <a:r>
              <a:rPr lang="en-IE" dirty="0"/>
              <a:t>();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   Enter your height (meters):  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double </a:t>
            </a:r>
            <a:r>
              <a:rPr lang="en-IE" dirty="0"/>
              <a:t>height = </a:t>
            </a:r>
            <a:r>
              <a:rPr lang="en-IE" b="1" dirty="0" err="1">
                <a:solidFill>
                  <a:srgbClr val="660E7A"/>
                </a:solidFill>
              </a:rPr>
              <a:t>input</a:t>
            </a:r>
            <a:r>
              <a:rPr lang="en-IE" dirty="0" err="1"/>
              <a:t>.nextDouble</a:t>
            </a:r>
            <a:r>
              <a:rPr lang="en-IE" dirty="0"/>
              <a:t>();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   Enter your weight (kgs):     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double </a:t>
            </a:r>
            <a:r>
              <a:rPr lang="en-IE" dirty="0"/>
              <a:t>weight = </a:t>
            </a:r>
            <a:r>
              <a:rPr lang="en-IE" b="1" dirty="0" err="1">
                <a:solidFill>
                  <a:srgbClr val="660E7A"/>
                </a:solidFill>
              </a:rPr>
              <a:t>input</a:t>
            </a:r>
            <a:r>
              <a:rPr lang="en-IE" dirty="0" err="1"/>
              <a:t>.nextDouble</a:t>
            </a:r>
            <a:r>
              <a:rPr lang="en-IE" dirty="0"/>
              <a:t>();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   Enter the membership number: 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int </a:t>
            </a:r>
            <a:r>
              <a:rPr lang="en-IE" dirty="0" err="1"/>
              <a:t>membershipNumber</a:t>
            </a:r>
            <a:r>
              <a:rPr lang="en-IE" dirty="0"/>
              <a:t> = </a:t>
            </a:r>
            <a:r>
              <a:rPr lang="en-IE" b="1" dirty="0" err="1">
                <a:solidFill>
                  <a:srgbClr val="660E7A"/>
                </a:solidFill>
              </a:rPr>
              <a:t>input</a:t>
            </a:r>
            <a:r>
              <a:rPr lang="en-IE" dirty="0" err="1"/>
              <a:t>.nextInt</a:t>
            </a:r>
            <a:r>
              <a:rPr lang="en-IE" dirty="0"/>
              <a:t>();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   Is current member (y/n):     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char </a:t>
            </a:r>
            <a:r>
              <a:rPr lang="en-IE" dirty="0" err="1"/>
              <a:t>isCurrentMemberChar</a:t>
            </a:r>
            <a:r>
              <a:rPr lang="en-IE" dirty="0"/>
              <a:t> = </a:t>
            </a:r>
            <a:r>
              <a:rPr lang="en-IE" b="1" dirty="0" err="1">
                <a:solidFill>
                  <a:srgbClr val="660E7A"/>
                </a:solidFill>
              </a:rPr>
              <a:t>input</a:t>
            </a:r>
            <a:r>
              <a:rPr lang="en-IE" dirty="0" err="1"/>
              <a:t>.next</a:t>
            </a:r>
            <a:r>
              <a:rPr lang="en-IE" dirty="0"/>
              <a:t>().</a:t>
            </a:r>
            <a:r>
              <a:rPr lang="en-IE" dirty="0" err="1"/>
              <a:t>charAt</a:t>
            </a:r>
            <a:r>
              <a:rPr lang="en-IE" dirty="0"/>
              <a:t>(</a:t>
            </a:r>
            <a:r>
              <a:rPr lang="en-IE" dirty="0">
                <a:solidFill>
                  <a:srgbClr val="0000FF"/>
                </a:solidFill>
              </a:rPr>
              <a:t>0</a:t>
            </a:r>
            <a:r>
              <a:rPr lang="en-IE" dirty="0"/>
              <a:t>);</a:t>
            </a:r>
            <a:br>
              <a:rPr lang="en-IE" dirty="0"/>
            </a:br>
            <a:br>
              <a:rPr lang="en-IE" dirty="0"/>
            </a:br>
            <a:r>
              <a:rPr lang="en-IE" dirty="0"/>
              <a:t>    </a:t>
            </a:r>
            <a:r>
              <a:rPr lang="en-IE" b="1" dirty="0" err="1">
                <a:solidFill>
                  <a:srgbClr val="000080"/>
                </a:solidFill>
              </a:rPr>
              <a:t>boolean</a:t>
            </a:r>
            <a:r>
              <a:rPr lang="en-IE" b="1" dirty="0">
                <a:solidFill>
                  <a:srgbClr val="000080"/>
                </a:solidFill>
              </a:rPr>
              <a:t> </a:t>
            </a:r>
            <a:r>
              <a:rPr lang="en-IE" dirty="0" err="1"/>
              <a:t>isCurrentMember</a:t>
            </a:r>
            <a:r>
              <a:rPr lang="en-IE" dirty="0"/>
              <a:t> = </a:t>
            </a:r>
            <a:r>
              <a:rPr lang="en-IE" b="1" dirty="0">
                <a:solidFill>
                  <a:srgbClr val="000080"/>
                </a:solidFill>
              </a:rPr>
              <a:t>false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if </a:t>
            </a:r>
            <a:r>
              <a:rPr lang="en-IE" dirty="0"/>
              <a:t>((</a:t>
            </a:r>
            <a:r>
              <a:rPr lang="en-IE" dirty="0" err="1"/>
              <a:t>isCurrentMemberChar</a:t>
            </a:r>
            <a:r>
              <a:rPr lang="en-IE" dirty="0"/>
              <a:t> == </a:t>
            </a:r>
            <a:r>
              <a:rPr lang="en-IE" b="1" dirty="0">
                <a:solidFill>
                  <a:srgbClr val="008000"/>
                </a:solidFill>
              </a:rPr>
              <a:t>'Y'</a:t>
            </a:r>
            <a:r>
              <a:rPr lang="en-IE" dirty="0"/>
              <a:t>) || (</a:t>
            </a:r>
            <a:r>
              <a:rPr lang="en-IE" dirty="0" err="1"/>
              <a:t>isCurrentMemberChar</a:t>
            </a:r>
            <a:r>
              <a:rPr lang="en-IE" dirty="0"/>
              <a:t> == </a:t>
            </a:r>
            <a:r>
              <a:rPr lang="en-IE" b="1" dirty="0">
                <a:solidFill>
                  <a:srgbClr val="008000"/>
                </a:solidFill>
              </a:rPr>
              <a:t>'y'</a:t>
            </a:r>
            <a:r>
              <a:rPr lang="en-IE" dirty="0"/>
              <a:t>)) {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dirty="0" err="1"/>
              <a:t>isCurrentMember</a:t>
            </a:r>
            <a:r>
              <a:rPr lang="en-IE" dirty="0"/>
              <a:t> = </a:t>
            </a:r>
            <a:r>
              <a:rPr lang="en-IE" b="1" dirty="0">
                <a:solidFill>
                  <a:srgbClr val="000080"/>
                </a:solidFill>
              </a:rPr>
              <a:t>true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}</a:t>
            </a:r>
            <a:br>
              <a:rPr lang="en-IE" dirty="0"/>
            </a:br>
            <a:br>
              <a:rPr lang="en-IE" dirty="0"/>
            </a:br>
            <a:r>
              <a:rPr lang="en-IE" dirty="0"/>
              <a:t>    </a:t>
            </a:r>
            <a:r>
              <a:rPr lang="en-IE" b="1" dirty="0" err="1">
                <a:solidFill>
                  <a:srgbClr val="660E7A"/>
                </a:solidFill>
              </a:rPr>
              <a:t>gymMember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b="1" dirty="0">
                <a:solidFill>
                  <a:srgbClr val="000080"/>
                </a:solidFill>
              </a:rPr>
              <a:t>new </a:t>
            </a:r>
            <a:r>
              <a:rPr lang="en-IE" dirty="0" err="1"/>
              <a:t>GymMember</a:t>
            </a:r>
            <a:r>
              <a:rPr lang="en-IE" dirty="0"/>
              <a:t>(name, height, weight, </a:t>
            </a:r>
            <a:r>
              <a:rPr lang="en-IE" dirty="0" err="1"/>
              <a:t>membershipNumber</a:t>
            </a:r>
            <a:r>
              <a:rPr lang="en-IE" dirty="0"/>
              <a:t>, </a:t>
            </a:r>
            <a:r>
              <a:rPr lang="en-IE" dirty="0" err="1"/>
              <a:t>isCurrentMember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}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774EB-C422-1A78-7898-E3F4F37DFEE9}"/>
              </a:ext>
            </a:extLst>
          </p:cNvPr>
          <p:cNvSpPr txBox="1"/>
          <p:nvPr/>
        </p:nvSpPr>
        <p:spPr>
          <a:xfrm>
            <a:off x="9525000" y="685800"/>
            <a:ext cx="236220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Driver Class</a:t>
            </a:r>
          </a:p>
        </p:txBody>
      </p:sp>
      <p:pic>
        <p:nvPicPr>
          <p:cNvPr id="6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305CA633-E1AB-0A43-886D-A4423C5CBA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9" t="13687" r="30571" b="41297"/>
          <a:stretch/>
        </p:blipFill>
        <p:spPr>
          <a:xfrm>
            <a:off x="7467600" y="1808187"/>
            <a:ext cx="4267200" cy="2057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28815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A774EB-C422-1A78-7898-E3F4F37DFEE9}"/>
              </a:ext>
            </a:extLst>
          </p:cNvPr>
          <p:cNvSpPr txBox="1"/>
          <p:nvPr/>
        </p:nvSpPr>
        <p:spPr>
          <a:xfrm>
            <a:off x="9525000" y="685800"/>
            <a:ext cx="236220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Driver Class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7931C-48F5-38B2-322B-14E4EB3F612D}"/>
              </a:ext>
            </a:extLst>
          </p:cNvPr>
          <p:cNvSpPr/>
          <p:nvPr/>
        </p:nvSpPr>
        <p:spPr>
          <a:xfrm>
            <a:off x="990600" y="677779"/>
            <a:ext cx="609600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E" b="1" dirty="0">
                <a:solidFill>
                  <a:srgbClr val="000080"/>
                </a:solidFill>
              </a:rPr>
              <a:t>private void </a:t>
            </a:r>
            <a:r>
              <a:rPr lang="en-IE" dirty="0" err="1"/>
              <a:t>printGymMember</a:t>
            </a:r>
            <a:r>
              <a:rPr lang="en-IE" dirty="0"/>
              <a:t>()</a:t>
            </a:r>
            <a:br>
              <a:rPr lang="en-IE" dirty="0"/>
            </a:br>
            <a:r>
              <a:rPr lang="en-IE" dirty="0"/>
              <a:t>{</a:t>
            </a:r>
            <a:br>
              <a:rPr lang="en-IE" dirty="0"/>
            </a:br>
            <a:r>
              <a:rPr lang="en-IE" dirty="0"/>
              <a:t>    </a:t>
            </a:r>
            <a:r>
              <a:rPr lang="en-IE" i="1" dirty="0">
                <a:solidFill>
                  <a:srgbClr val="808080"/>
                </a:solidFill>
              </a:rPr>
              <a:t>//printing out the data to the user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.println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</a:t>
            </a:r>
            <a:r>
              <a:rPr lang="en-IE" b="1" dirty="0">
                <a:solidFill>
                  <a:srgbClr val="000080"/>
                </a:solidFill>
              </a:rPr>
              <a:t>\n\</a:t>
            </a:r>
            <a:r>
              <a:rPr lang="en-IE" b="1" dirty="0" err="1">
                <a:solidFill>
                  <a:srgbClr val="000080"/>
                </a:solidFill>
              </a:rPr>
              <a:t>n</a:t>
            </a:r>
            <a:r>
              <a:rPr lang="en-IE" b="1" dirty="0" err="1">
                <a:solidFill>
                  <a:srgbClr val="008000"/>
                </a:solidFill>
              </a:rPr>
              <a:t>Printing</a:t>
            </a:r>
            <a:r>
              <a:rPr lang="en-IE" b="1" dirty="0">
                <a:solidFill>
                  <a:srgbClr val="008000"/>
                </a:solidFill>
              </a:rPr>
              <a:t> details"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.println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"----------------"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.println</a:t>
            </a:r>
            <a:r>
              <a:rPr lang="en-IE" dirty="0"/>
              <a:t>(</a:t>
            </a:r>
            <a:r>
              <a:rPr lang="en-IE" b="1" dirty="0" err="1">
                <a:solidFill>
                  <a:srgbClr val="660E7A"/>
                </a:solidFill>
              </a:rPr>
              <a:t>gymMember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}</a:t>
            </a:r>
            <a:endParaRPr lang="en-US" dirty="0"/>
          </a:p>
        </p:txBody>
      </p:sp>
      <p:pic>
        <p:nvPicPr>
          <p:cNvPr id="6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9F5B110E-76C5-20CB-0A68-CAF7DA58B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799" y="2193850"/>
            <a:ext cx="7243611" cy="45703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8D5E5FD6-4CE8-2945-F877-DC0AEE100044}"/>
              </a:ext>
            </a:extLst>
          </p:cNvPr>
          <p:cNvSpPr/>
          <p:nvPr/>
        </p:nvSpPr>
        <p:spPr>
          <a:xfrm>
            <a:off x="3200400" y="3429000"/>
            <a:ext cx="1295400" cy="609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938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a-shop-v1</Template>
  <TotalTime>5768</TotalTime>
  <Words>2141</Words>
  <Application>Microsoft Macintosh PowerPoint</Application>
  <PresentationFormat>Widescreen</PresentationFormat>
  <Paragraphs>300</Paragraphs>
  <Slides>46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Courier New</vt:lpstr>
      <vt:lpstr>a-processing-mouse-event-methods</vt:lpstr>
      <vt:lpstr>Gym App V1</vt:lpstr>
      <vt:lpstr>Gym App</vt:lpstr>
      <vt:lpstr>Gym App V1.0</vt:lpstr>
      <vt:lpstr>Gym App V1.0</vt:lpstr>
      <vt:lpstr>Gym App V1.0</vt:lpstr>
      <vt:lpstr>Gym App V1.0 – Sample I/O</vt:lpstr>
      <vt:lpstr>Encapsulated Class:</vt:lpstr>
      <vt:lpstr>A GymMember Class…</vt:lpstr>
      <vt:lpstr>A GymMember Class…</vt:lpstr>
      <vt:lpstr>A GymMember Class…</vt:lpstr>
      <vt:lpstr>A GymMember Class…</vt:lpstr>
      <vt:lpstr>A GymMember Class…Constructor</vt:lpstr>
      <vt:lpstr>A GymMember Class…Constructor</vt:lpstr>
      <vt:lpstr>A GymMember Class…Fields and Constructor</vt:lpstr>
      <vt:lpstr>A GymMember Class…methods</vt:lpstr>
      <vt:lpstr>A GymMember Class…methods</vt:lpstr>
      <vt:lpstr>A GymMember Class…getters</vt:lpstr>
      <vt:lpstr>Getters (Accessor Methods)</vt:lpstr>
      <vt:lpstr>Getters</vt:lpstr>
      <vt:lpstr>A GymMember Class…getters</vt:lpstr>
      <vt:lpstr>A GymMember Class…setters</vt:lpstr>
      <vt:lpstr>Setters (Mutator methods)</vt:lpstr>
      <vt:lpstr>Setters – without validation</vt:lpstr>
      <vt:lpstr>Setters – with validation</vt:lpstr>
      <vt:lpstr>A GymMember Class…special case for Strings in  Constructor</vt:lpstr>
      <vt:lpstr>A GymMember Class…setters</vt:lpstr>
      <vt:lpstr>A GymMember Class…setters</vt:lpstr>
      <vt:lpstr>A GymMember Class…setters</vt:lpstr>
      <vt:lpstr>Getters/Setters</vt:lpstr>
      <vt:lpstr>A GymMember Class…toString</vt:lpstr>
      <vt:lpstr>A GymMember Class…toString</vt:lpstr>
      <vt:lpstr>toString()</vt:lpstr>
      <vt:lpstr>Encapsulationrecap</vt:lpstr>
      <vt:lpstr>Encapsulation in Java – steps 1-3</vt:lpstr>
      <vt:lpstr>A GymMember Class… An Encapsulated Class</vt:lpstr>
      <vt:lpstr>A GymMember Class… An Encapsulated Class</vt:lpstr>
      <vt:lpstr>A GymMember Class… An Encapsulated Class</vt:lpstr>
      <vt:lpstr>User I/O</vt:lpstr>
      <vt:lpstr>Using the GymMember Class</vt:lpstr>
      <vt:lpstr>Using the GymMember Class</vt:lpstr>
      <vt:lpstr>Multiple GymMember objects</vt:lpstr>
      <vt:lpstr>Multiple GymMember objects</vt:lpstr>
      <vt:lpstr>PowerPoint Presentation</vt:lpstr>
      <vt:lpstr>PowerPoint Presentation</vt:lpstr>
      <vt:lpstr>PowerPoint Presentation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 of OO concepts</dc:title>
  <dc:creator>Siobhan Drohan</dc:creator>
  <cp:lastModifiedBy>Mairead Meagher</cp:lastModifiedBy>
  <cp:revision>153</cp:revision>
  <cp:lastPrinted>2018-03-10T18:49:08Z</cp:lastPrinted>
  <dcterms:created xsi:type="dcterms:W3CDTF">2006-08-16T00:00:00Z</dcterms:created>
  <dcterms:modified xsi:type="dcterms:W3CDTF">2025-11-03T22:31:16Z</dcterms:modified>
</cp:coreProperties>
</file>