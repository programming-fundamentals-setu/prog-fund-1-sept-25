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56" r:id="rId2"/>
    <p:sldId id="633" r:id="rId3"/>
    <p:sldId id="585" r:id="rId4"/>
    <p:sldId id="639" r:id="rId5"/>
    <p:sldId id="641" r:id="rId6"/>
    <p:sldId id="640" r:id="rId7"/>
    <p:sldId id="662" r:id="rId8"/>
    <p:sldId id="588" r:id="rId9"/>
    <p:sldId id="646" r:id="rId10"/>
    <p:sldId id="649" r:id="rId11"/>
    <p:sldId id="650" r:id="rId12"/>
    <p:sldId id="651" r:id="rId13"/>
    <p:sldId id="652" r:id="rId14"/>
    <p:sldId id="624" r:id="rId15"/>
    <p:sldId id="625" r:id="rId16"/>
    <p:sldId id="653" r:id="rId17"/>
    <p:sldId id="654" r:id="rId18"/>
    <p:sldId id="626" r:id="rId19"/>
    <p:sldId id="627" r:id="rId20"/>
    <p:sldId id="655" r:id="rId21"/>
    <p:sldId id="656" r:id="rId22"/>
    <p:sldId id="673" r:id="rId23"/>
    <p:sldId id="657" r:id="rId24"/>
    <p:sldId id="658" r:id="rId25"/>
    <p:sldId id="628" r:id="rId26"/>
    <p:sldId id="659" r:id="rId27"/>
    <p:sldId id="660" r:id="rId28"/>
    <p:sldId id="614" r:id="rId29"/>
    <p:sldId id="663" r:id="rId30"/>
    <p:sldId id="629" r:id="rId31"/>
    <p:sldId id="613" r:id="rId32"/>
    <p:sldId id="665" r:id="rId33"/>
    <p:sldId id="666" r:id="rId34"/>
    <p:sldId id="664" r:id="rId35"/>
    <p:sldId id="617" r:id="rId36"/>
    <p:sldId id="667" r:id="rId37"/>
    <p:sldId id="668" r:id="rId38"/>
    <p:sldId id="669" r:id="rId39"/>
    <p:sldId id="670" r:id="rId40"/>
    <p:sldId id="671" r:id="rId41"/>
    <p:sldId id="672" r:id="rId42"/>
    <p:sldId id="30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BAC5"/>
    <a:srgbClr val="A1D38E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3" autoAdjust="0"/>
    <p:restoredTop sz="94638"/>
  </p:normalViewPr>
  <p:slideViewPr>
    <p:cSldViewPr>
      <p:cViewPr varScale="1">
        <p:scale>
          <a:sx n="100" d="100"/>
          <a:sy n="100" d="100"/>
        </p:scale>
        <p:origin x="176" y="4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04/11/2025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15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19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20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08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71876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201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90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CA29CA4-0D75-B25E-E49E-22B12462988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809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544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FA33F7-BD25-8F44-1DDF-3807C3A6A00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997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DE626A-C732-60D0-0562-1226E2D9377D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08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251A29-7993-54F5-5393-4446E4070D1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26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57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39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46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94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27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033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2234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3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180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Gym App V1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457200" y="3124200"/>
            <a:ext cx="11201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 App (with Validation)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F8303-DD1D-6B8F-CC0E-2BB32D50A1BF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853B1-E5DC-3BE1-C428-88FD7658E381}"/>
              </a:ext>
            </a:extLst>
          </p:cNvPr>
          <p:cNvSpPr txBox="1"/>
          <p:nvPr/>
        </p:nvSpPr>
        <p:spPr>
          <a:xfrm>
            <a:off x="3505200" y="3743235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47E3AD-2570-D159-F739-FC6AF9C1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/>
              <a:t>Gym App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>
                <a:solidFill>
                  <a:schemeClr val="tx1"/>
                </a:solidFill>
              </a:rPr>
              <a:t>Version 1.0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133600" y="23622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5867400" y="4114800"/>
            <a:ext cx="3200400" cy="10668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191000" y="2895600"/>
            <a:ext cx="32766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731328" y="1839686"/>
            <a:ext cx="569867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 err="1">
                <a:solidFill>
                  <a:srgbClr val="FF0000"/>
                </a:solidFill>
              </a:rPr>
              <a:t>GymMember</a:t>
            </a:r>
            <a:r>
              <a:rPr lang="en-IE" sz="2800" dirty="0"/>
              <a:t> class stores </a:t>
            </a:r>
            <a:r>
              <a:rPr lang="en-IE" sz="2800" b="1" dirty="0"/>
              <a:t>details</a:t>
            </a:r>
            <a:r>
              <a:rPr lang="en-IE" sz="2800" dirty="0"/>
              <a:t> about a single member of a gym i.e.: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name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height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weight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 err="1"/>
              <a:t>membershipNumber</a:t>
            </a:r>
            <a:r>
              <a:rPr lang="en-IE" sz="2800" dirty="0"/>
              <a:t>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if they are current members or not? (i.e. have they paid their membership fee)</a:t>
            </a:r>
          </a:p>
        </p:txBody>
      </p:sp>
    </p:spTree>
    <p:extLst>
      <p:ext uri="{BB962C8B-B14F-4D97-AF65-F5344CB8AC3E}">
        <p14:creationId xmlns:p14="http://schemas.microsoft.com/office/powerpoint/2010/main" val="1861602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638800" y="2209800"/>
            <a:ext cx="5851072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rgbClr val="FF0000"/>
                </a:solidFill>
              </a:rPr>
              <a:t>Driver</a:t>
            </a:r>
            <a:r>
              <a:rPr lang="en-IE" sz="2800" dirty="0"/>
              <a:t> class:</a:t>
            </a:r>
          </a:p>
          <a:p>
            <a:endParaRPr lang="en-IE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dirty="0"/>
              <a:t>has the </a:t>
            </a:r>
            <a:r>
              <a:rPr lang="en-IE" sz="2400" b="1" dirty="0">
                <a:solidFill>
                  <a:srgbClr val="FF0000"/>
                </a:solidFill>
              </a:rPr>
              <a:t>main()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method.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reads</a:t>
            </a:r>
            <a:r>
              <a:rPr lang="en-IE" sz="2400" dirty="0"/>
              <a:t> the gym member details from the user (via the console)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creates</a:t>
            </a:r>
            <a:r>
              <a:rPr lang="en-IE" sz="2400" dirty="0"/>
              <a:t> a new </a:t>
            </a:r>
            <a:r>
              <a:rPr lang="en-IE" sz="2400" dirty="0" err="1"/>
              <a:t>GymMember</a:t>
            </a:r>
            <a:r>
              <a:rPr lang="en-IE" sz="2400" dirty="0"/>
              <a:t> object.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prints</a:t>
            </a:r>
            <a:r>
              <a:rPr lang="en-IE" sz="2400" dirty="0"/>
              <a:t> the gym member details from the object (to the console)</a:t>
            </a:r>
          </a:p>
        </p:txBody>
      </p:sp>
    </p:spTree>
    <p:extLst>
      <p:ext uri="{BB962C8B-B14F-4D97-AF65-F5344CB8AC3E}">
        <p14:creationId xmlns:p14="http://schemas.microsoft.com/office/powerpoint/2010/main" val="952633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C336-986E-C25B-9667-2885E0F7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 – Sample I/O</a:t>
            </a:r>
            <a:endParaRPr lang="en-US" dirty="0"/>
          </a:p>
        </p:txBody>
      </p:sp>
      <p:pic>
        <p:nvPicPr>
          <p:cNvPr id="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01E5F4F4-122A-E9DD-D7F2-1754FC721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205221-F9AA-8F59-32C7-95ADB834E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981200"/>
            <a:ext cx="11446934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64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Encapsulated Class: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8690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00309E-762A-0888-2948-C19504259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300" y="1708764"/>
            <a:ext cx="7772400" cy="42394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87813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5" name="TextBox 4"/>
          <p:cNvSpPr txBox="1"/>
          <p:nvPr/>
        </p:nvSpPr>
        <p:spPr>
          <a:xfrm>
            <a:off x="419100" y="1593344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</a:t>
            </a:r>
            <a:r>
              <a:rPr lang="en-IE" sz="2400" dirty="0" err="1"/>
              <a:t>GymMember</a:t>
            </a:r>
            <a:endParaRPr lang="en-IE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254001" y="2678275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 flipV="1">
            <a:off x="3987800" y="1969061"/>
            <a:ext cx="3708400" cy="686115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254001" y="6156022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‘+’ sign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 flipV="1">
            <a:off x="1987550" y="5152882"/>
            <a:ext cx="2705100" cy="984898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 flipV="1">
            <a:off x="3771900" y="1929280"/>
            <a:ext cx="190500" cy="79562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327899" y="1816661"/>
            <a:ext cx="1981202" cy="3048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06270-0EBE-A930-A388-AD9B51319A3A}"/>
              </a:ext>
            </a:extLst>
          </p:cNvPr>
          <p:cNvSpPr txBox="1"/>
          <p:nvPr/>
        </p:nvSpPr>
        <p:spPr>
          <a:xfrm>
            <a:off x="254001" y="3777971"/>
            <a:ext cx="3936999" cy="46166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Fields/Attributes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6256FB-20AA-F1B1-4A51-96977E4F9C95}"/>
              </a:ext>
            </a:extLst>
          </p:cNvPr>
          <p:cNvCxnSpPr>
            <a:cxnSpLocks/>
          </p:cNvCxnSpPr>
          <p:nvPr/>
        </p:nvCxnSpPr>
        <p:spPr>
          <a:xfrm flipV="1">
            <a:off x="2654301" y="3038389"/>
            <a:ext cx="1777999" cy="765420"/>
          </a:xfrm>
          <a:prstGeom prst="straightConnector1">
            <a:avLst/>
          </a:prstGeom>
          <a:ln w="28575"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84C094-A2EA-FB05-5B8D-CD80093AA284}"/>
              </a:ext>
            </a:extLst>
          </p:cNvPr>
          <p:cNvSpPr txBox="1"/>
          <p:nvPr/>
        </p:nvSpPr>
        <p:spPr>
          <a:xfrm>
            <a:off x="6449730" y="6099680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‘-’ sign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58FA8F-E7F7-5F2F-C3C2-C16363157246}"/>
              </a:ext>
            </a:extLst>
          </p:cNvPr>
          <p:cNvCxnSpPr>
            <a:cxnSpLocks/>
          </p:cNvCxnSpPr>
          <p:nvPr/>
        </p:nvCxnSpPr>
        <p:spPr>
          <a:xfrm flipH="1" flipV="1">
            <a:off x="4624105" y="2859709"/>
            <a:ext cx="3910295" cy="3239971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7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788B41-0263-517D-657F-E01BB99DA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736481"/>
            <a:ext cx="7772400" cy="42394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3C2130-7317-AD37-2101-4A4D75F9F4D6}"/>
              </a:ext>
            </a:extLst>
          </p:cNvPr>
          <p:cNvSpPr txBox="1"/>
          <p:nvPr/>
        </p:nvSpPr>
        <p:spPr>
          <a:xfrm>
            <a:off x="335561" y="1610092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7" name="Rectangle: Rounded Corners 20">
            <a:extLst>
              <a:ext uri="{FF2B5EF4-FFF2-40B4-BE49-F238E27FC236}">
                <a16:creationId xmlns:a16="http://schemas.microsoft.com/office/drawing/2014/main" id="{291AFB0E-BDD0-B50D-0B6F-7D4FE04E05BC}"/>
              </a:ext>
            </a:extLst>
          </p:cNvPr>
          <p:cNvSpPr/>
          <p:nvPr/>
        </p:nvSpPr>
        <p:spPr>
          <a:xfrm>
            <a:off x="4191000" y="3313715"/>
            <a:ext cx="7772399" cy="486454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A449A-6A72-EF05-DAAB-D344D8230751}"/>
              </a:ext>
            </a:extLst>
          </p:cNvPr>
          <p:cNvSpPr txBox="1"/>
          <p:nvPr/>
        </p:nvSpPr>
        <p:spPr>
          <a:xfrm>
            <a:off x="334583" y="4216857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‘+’ sign 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C720D3-C2C2-133B-0F1E-7D4B6DF5D64D}"/>
              </a:ext>
            </a:extLst>
          </p:cNvPr>
          <p:cNvSpPr txBox="1"/>
          <p:nvPr/>
        </p:nvSpPr>
        <p:spPr>
          <a:xfrm>
            <a:off x="135119" y="6255363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3143A6-BFBB-9AC4-C20B-7B5F884F2C92}"/>
              </a:ext>
            </a:extLst>
          </p:cNvPr>
          <p:cNvCxnSpPr>
            <a:cxnSpLocks/>
          </p:cNvCxnSpPr>
          <p:nvPr/>
        </p:nvCxnSpPr>
        <p:spPr>
          <a:xfrm flipV="1">
            <a:off x="2051453" y="3657600"/>
            <a:ext cx="3053947" cy="249751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1E4840-FF88-BF90-A403-619D6B7D4DAB}"/>
              </a:ext>
            </a:extLst>
          </p:cNvPr>
          <p:cNvCxnSpPr>
            <a:cxnSpLocks/>
          </p:cNvCxnSpPr>
          <p:nvPr/>
        </p:nvCxnSpPr>
        <p:spPr>
          <a:xfrm flipV="1">
            <a:off x="2082858" y="3647882"/>
            <a:ext cx="2336742" cy="603859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49E474-2D84-1F0A-EB2A-538ECC198F6D}"/>
              </a:ext>
            </a:extLst>
          </p:cNvPr>
          <p:cNvSpPr txBox="1"/>
          <p:nvPr/>
        </p:nvSpPr>
        <p:spPr>
          <a:xfrm>
            <a:off x="7794688" y="6239658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Five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976827-8803-DDF0-1A89-8AA29D48691B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592701" y="3673529"/>
            <a:ext cx="3512114" cy="2566129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6382CA-C0D8-F38E-C3B8-2083C80BD18B}"/>
              </a:ext>
            </a:extLst>
          </p:cNvPr>
          <p:cNvCxnSpPr>
            <a:cxnSpLocks/>
          </p:cNvCxnSpPr>
          <p:nvPr/>
        </p:nvCxnSpPr>
        <p:spPr>
          <a:xfrm flipV="1">
            <a:off x="9104815" y="3673529"/>
            <a:ext cx="1785082" cy="248158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E417AA-86B3-2C4F-3306-DA3743BF47D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6421962" y="3724471"/>
            <a:ext cx="2682853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041A39-9044-B023-5016-62A0000A4E0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678700" y="3724471"/>
            <a:ext cx="1426115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D2F0B1-A86D-910A-EF79-D5E8039544A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8888031" y="3724471"/>
            <a:ext cx="216784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806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0" grpId="0" animBg="1"/>
      <p:bldP spid="32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Class…Fields and 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5559702-2446-1EAE-ED35-26563BFFFB43}"/>
              </a:ext>
            </a:extLst>
          </p:cNvPr>
          <p:cNvSpPr/>
          <p:nvPr/>
        </p:nvSpPr>
        <p:spPr>
          <a:xfrm>
            <a:off x="228600" y="1828800"/>
            <a:ext cx="11887200" cy="4247317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endParaRPr lang="en-IE" b="1" dirty="0">
              <a:solidFill>
                <a:srgbClr val="000080"/>
              </a:solidFill>
            </a:endParaRP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String </a:t>
            </a:r>
            <a:r>
              <a:rPr lang="en-IE" b="1" dirty="0">
                <a:solidFill>
                  <a:srgbClr val="660E7A"/>
                </a:solidFill>
              </a:rPr>
              <a:t>name </a:t>
            </a:r>
            <a:r>
              <a:rPr lang="en-IE" dirty="0"/>
              <a:t>= </a:t>
            </a:r>
            <a:r>
              <a:rPr lang="en-IE" b="1" dirty="0">
                <a:solidFill>
                  <a:srgbClr val="008000"/>
                </a:solidFill>
              </a:rPr>
              <a:t>"Unknown"</a:t>
            </a:r>
            <a:r>
              <a:rPr lang="en-IE" dirty="0"/>
              <a:t>;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height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weight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r>
              <a:rPr lang="en-IE" dirty="0"/>
              <a:t>; 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int </a:t>
            </a:r>
            <a:r>
              <a:rPr lang="en-IE" b="1" dirty="0" err="1">
                <a:solidFill>
                  <a:srgbClr val="660E7A"/>
                </a:solidFill>
              </a:rPr>
              <a:t>membershipNumber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99999</a:t>
            </a:r>
            <a:r>
              <a:rPr lang="en-IE" dirty="0"/>
              <a:t>; </a:t>
            </a: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b="1" dirty="0" err="1">
                <a:solidFill>
                  <a:srgbClr val="660E7A"/>
                </a:solidFill>
              </a:rPr>
              <a:t>isCurrentGymMember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 err="1"/>
              <a:t>GymMember</a:t>
            </a:r>
            <a:r>
              <a:rPr lang="en-IE" dirty="0"/>
              <a:t>(String name,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weight,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isCurrentGymMember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initName</a:t>
            </a:r>
            <a:r>
              <a:rPr lang="en-IE" dirty="0"/>
              <a:t>(name);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setHeight</a:t>
            </a:r>
            <a:r>
              <a:rPr lang="en-IE" dirty="0"/>
              <a:t>(height);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setWeight</a:t>
            </a:r>
            <a:r>
              <a:rPr lang="en-IE" dirty="0"/>
              <a:t>(weight);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setMembershipNumber</a:t>
            </a:r>
            <a:r>
              <a:rPr lang="en-IE" dirty="0"/>
              <a:t>(</a:t>
            </a:r>
            <a:r>
              <a:rPr lang="en-IE" dirty="0" err="1"/>
              <a:t>membershipNumber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setCurrentGymMember</a:t>
            </a:r>
            <a:r>
              <a:rPr lang="en-IE" dirty="0"/>
              <a:t>(</a:t>
            </a:r>
            <a:r>
              <a:rPr lang="en-IE" dirty="0" err="1"/>
              <a:t>isCurrentGymMember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</a:p>
          <a:p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DEF71E-A0D7-0034-6F43-A336BFC29338}"/>
              </a:ext>
            </a:extLst>
          </p:cNvPr>
          <p:cNvSpPr/>
          <p:nvPr/>
        </p:nvSpPr>
        <p:spPr>
          <a:xfrm>
            <a:off x="293915" y="2133600"/>
            <a:ext cx="4811482" cy="1401762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4CF50F-7000-1A83-A995-9E49D90398F7}"/>
              </a:ext>
            </a:extLst>
          </p:cNvPr>
          <p:cNvSpPr/>
          <p:nvPr/>
        </p:nvSpPr>
        <p:spPr>
          <a:xfrm>
            <a:off x="293913" y="3793867"/>
            <a:ext cx="1166948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77A5121-0DFA-EBC8-CF2C-04FB32759CD0}"/>
              </a:ext>
            </a:extLst>
          </p:cNvPr>
          <p:cNvCxnSpPr>
            <a:cxnSpLocks/>
          </p:cNvCxnSpPr>
          <p:nvPr/>
        </p:nvCxnSpPr>
        <p:spPr>
          <a:xfrm flipH="1">
            <a:off x="4876801" y="1012453"/>
            <a:ext cx="431871" cy="1105014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6C1FDF-C359-FD83-94F2-0BE1F369F755}"/>
              </a:ext>
            </a:extLst>
          </p:cNvPr>
          <p:cNvCxnSpPr>
            <a:cxnSpLocks/>
          </p:cNvCxnSpPr>
          <p:nvPr/>
        </p:nvCxnSpPr>
        <p:spPr>
          <a:xfrm>
            <a:off x="8305800" y="1012453"/>
            <a:ext cx="0" cy="278141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27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7B87679-642A-C344-B856-5B77E5A63735}"/>
              </a:ext>
            </a:extLst>
          </p:cNvPr>
          <p:cNvSpPr txBox="1"/>
          <p:nvPr/>
        </p:nvSpPr>
        <p:spPr>
          <a:xfrm>
            <a:off x="111740" y="4574151"/>
            <a:ext cx="3428999" cy="707886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27" name="Rectangle: Rounded Corners 6">
            <a:extLst>
              <a:ext uri="{FF2B5EF4-FFF2-40B4-BE49-F238E27FC236}">
                <a16:creationId xmlns:a16="http://schemas.microsoft.com/office/drawing/2014/main" id="{A7592025-56BA-47D6-3F10-EF8DD7CD21F9}"/>
              </a:ext>
            </a:extLst>
          </p:cNvPr>
          <p:cNvSpPr/>
          <p:nvPr/>
        </p:nvSpPr>
        <p:spPr>
          <a:xfrm>
            <a:off x="6285216" y="2005344"/>
            <a:ext cx="4349163" cy="3328655"/>
          </a:xfrm>
          <a:prstGeom prst="roundRect">
            <a:avLst/>
          </a:prstGeom>
          <a:noFill/>
          <a:ln w="38100">
            <a:solidFill>
              <a:srgbClr val="FCBA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60563F-E5D0-E91B-7C08-1D644C5AF865}"/>
              </a:ext>
            </a:extLst>
          </p:cNvPr>
          <p:cNvCxnSpPr>
            <a:cxnSpLocks/>
          </p:cNvCxnSpPr>
          <p:nvPr/>
        </p:nvCxnSpPr>
        <p:spPr>
          <a:xfrm>
            <a:off x="5339122" y="4928094"/>
            <a:ext cx="705972" cy="24907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BEDC7DC-EC3D-13B0-6B5E-8679630FB02C}"/>
              </a:ext>
            </a:extLst>
          </p:cNvPr>
          <p:cNvCxnSpPr>
            <a:cxnSpLocks/>
          </p:cNvCxnSpPr>
          <p:nvPr/>
        </p:nvCxnSpPr>
        <p:spPr>
          <a:xfrm>
            <a:off x="5415322" y="4015735"/>
            <a:ext cx="1119469" cy="759958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84F714D-5C69-FD1C-F62A-C9489EB74973}"/>
              </a:ext>
            </a:extLst>
          </p:cNvPr>
          <p:cNvCxnSpPr>
            <a:cxnSpLocks/>
          </p:cNvCxnSpPr>
          <p:nvPr/>
        </p:nvCxnSpPr>
        <p:spPr>
          <a:xfrm>
            <a:off x="5339122" y="3147736"/>
            <a:ext cx="1524000" cy="1266301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64CBCC7-A390-38BE-EC92-ADAB32B31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900" y="1752600"/>
            <a:ext cx="7772400" cy="4239490"/>
          </a:xfrm>
          <a:prstGeom prst="rect">
            <a:avLst/>
          </a:prstGeom>
        </p:spPr>
      </p:pic>
      <p:sp>
        <p:nvSpPr>
          <p:cNvPr id="5" name="Left Brace 4">
            <a:extLst>
              <a:ext uri="{FF2B5EF4-FFF2-40B4-BE49-F238E27FC236}">
                <a16:creationId xmlns:a16="http://schemas.microsoft.com/office/drawing/2014/main" id="{47DA0DBC-8D9F-519B-C955-D29A7FD724C6}"/>
              </a:ext>
            </a:extLst>
          </p:cNvPr>
          <p:cNvSpPr/>
          <p:nvPr/>
        </p:nvSpPr>
        <p:spPr>
          <a:xfrm>
            <a:off x="4038600" y="4015735"/>
            <a:ext cx="348556" cy="1851665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9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1272AB-22F0-4EA0-5FDA-EE52F3E05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736481"/>
            <a:ext cx="7772400" cy="42394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0A2DD3-9767-4B2A-23EF-32BC53F4310D}"/>
              </a:ext>
            </a:extLst>
          </p:cNvPr>
          <p:cNvSpPr txBox="1"/>
          <p:nvPr/>
        </p:nvSpPr>
        <p:spPr>
          <a:xfrm>
            <a:off x="1219200" y="4611886"/>
            <a:ext cx="1876984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B38D2-6006-9158-F562-C1CE37E5B498}"/>
              </a:ext>
            </a:extLst>
          </p:cNvPr>
          <p:cNvSpPr txBox="1"/>
          <p:nvPr/>
        </p:nvSpPr>
        <p:spPr>
          <a:xfrm>
            <a:off x="831156" y="3360738"/>
            <a:ext cx="1892675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18E781-96A5-AB1D-A885-4E9361414588}"/>
              </a:ext>
            </a:extLst>
          </p:cNvPr>
          <p:cNvCxnSpPr>
            <a:cxnSpLocks/>
          </p:cNvCxnSpPr>
          <p:nvPr/>
        </p:nvCxnSpPr>
        <p:spPr>
          <a:xfrm flipV="1">
            <a:off x="3074413" y="4154072"/>
            <a:ext cx="1600199" cy="66655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FF6382-B9DF-277B-EC0D-3CB17B91FF2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2723831" y="3560793"/>
            <a:ext cx="2755525" cy="38052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623149-6C5D-DB8E-6A26-AA192D9C1B83}"/>
              </a:ext>
            </a:extLst>
          </p:cNvPr>
          <p:cNvCxnSpPr>
            <a:cxnSpLocks/>
          </p:cNvCxnSpPr>
          <p:nvPr/>
        </p:nvCxnSpPr>
        <p:spPr>
          <a:xfrm>
            <a:off x="7142629" y="2440840"/>
            <a:ext cx="782171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9CC4D31-58A2-ACAF-955A-4740D3ADF39F}"/>
              </a:ext>
            </a:extLst>
          </p:cNvPr>
          <p:cNvCxnSpPr/>
          <p:nvPr/>
        </p:nvCxnSpPr>
        <p:spPr>
          <a:xfrm>
            <a:off x="8077200" y="2438552"/>
            <a:ext cx="6096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48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E4B770-CEE2-737D-CD65-53B7AB20E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328" y="1640165"/>
            <a:ext cx="7772400" cy="42394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187388" y="3005283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>
            <a:off x="1869743" y="3236116"/>
            <a:ext cx="2483240" cy="7799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445000" y="4930558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70400" y="4648956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444999" y="4313018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52983" y="389951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419600" y="5262115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>
            <a:off x="1869743" y="3236116"/>
            <a:ext cx="2575256" cy="119343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A75663C-0738-8E79-5C2B-F1BC27849AFA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>
            <a:off x="1869743" y="3236116"/>
            <a:ext cx="2600657" cy="15293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1869743" y="3236116"/>
            <a:ext cx="2575257" cy="181097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stCxn id="11" idx="3"/>
            <a:endCxn id="25" idx="1"/>
          </p:cNvCxnSpPr>
          <p:nvPr/>
        </p:nvCxnSpPr>
        <p:spPr>
          <a:xfrm>
            <a:off x="1869743" y="3236116"/>
            <a:ext cx="2549857" cy="2142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7173B77-488F-0C1C-4FB1-6BBB2717C0BF}"/>
              </a:ext>
            </a:extLst>
          </p:cNvPr>
          <p:cNvSpPr txBox="1"/>
          <p:nvPr/>
        </p:nvSpPr>
        <p:spPr>
          <a:xfrm>
            <a:off x="152400" y="5279491"/>
            <a:ext cx="3581400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Note the different naming standard for a </a:t>
            </a:r>
            <a:r>
              <a:rPr lang="en-IE" sz="2400" dirty="0" err="1"/>
              <a:t>boolean</a:t>
            </a:r>
            <a:r>
              <a:rPr lang="en-IE" sz="2400" dirty="0"/>
              <a:t> field getter 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B5D91A-98CE-F2B0-9798-BBE6BEDB2BA3}"/>
              </a:ext>
            </a:extLst>
          </p:cNvPr>
          <p:cNvCxnSpPr>
            <a:cxnSpLocks/>
          </p:cNvCxnSpPr>
          <p:nvPr/>
        </p:nvCxnSpPr>
        <p:spPr>
          <a:xfrm flipV="1">
            <a:off x="2671560" y="5564021"/>
            <a:ext cx="2124480" cy="830996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05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4793300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getHeight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height;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299325" y="3306846"/>
            <a:ext cx="701675" cy="234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419A6C-9B5A-424C-99BA-93AEEC632613}"/>
              </a:ext>
            </a:extLst>
          </p:cNvPr>
          <p:cNvSpPr/>
          <p:nvPr/>
        </p:nvSpPr>
        <p:spPr>
          <a:xfrm>
            <a:off x="7156938" y="335498"/>
            <a:ext cx="4419600" cy="62478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</a:t>
            </a:r>
            <a:r>
              <a:rPr lang="en-IE" sz="2000" dirty="0" err="1"/>
              <a:t>getName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name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getHeight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height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getWeight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weight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int </a:t>
            </a:r>
            <a:r>
              <a:rPr lang="en-IE" sz="2000" dirty="0" err="1"/>
              <a:t>getMembershipNumber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membershipNumber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b="1" dirty="0" err="1">
                <a:solidFill>
                  <a:srgbClr val="000080"/>
                </a:solidFill>
              </a:rPr>
              <a:t>boolean</a:t>
            </a:r>
            <a:r>
              <a:rPr lang="en-IE" sz="2000" b="1" dirty="0">
                <a:solidFill>
                  <a:srgbClr val="000080"/>
                </a:solidFill>
              </a:rPr>
              <a:t> </a:t>
            </a:r>
            <a:r>
              <a:rPr lang="en-IE" sz="2000" dirty="0" err="1"/>
              <a:t>isCurrentGymMember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isCurrentGymMember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801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22F4536-A5A0-5124-9856-0D89DF6FE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54" y="470049"/>
            <a:ext cx="9336805" cy="61425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304800" y="4648200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setters</a:t>
            </a:r>
            <a:r>
              <a:rPr lang="en-IE" sz="2400" dirty="0"/>
              <a:t>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1987155" y="4130621"/>
            <a:ext cx="2334473" cy="74841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395498" y="550183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40854" y="5115654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375542" y="4639220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21628" y="4014088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428154" y="5957647"/>
            <a:ext cx="3962401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987155" y="4755753"/>
            <a:ext cx="2388387" cy="12328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</p:cNvCxnSpPr>
          <p:nvPr/>
        </p:nvCxnSpPr>
        <p:spPr>
          <a:xfrm>
            <a:off x="1987155" y="4896151"/>
            <a:ext cx="2440999" cy="65512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57E43D-9224-A8C0-0B69-373EDA84A209}"/>
              </a:ext>
            </a:extLst>
          </p:cNvPr>
          <p:cNvCxnSpPr>
            <a:cxnSpLocks/>
          </p:cNvCxnSpPr>
          <p:nvPr/>
        </p:nvCxnSpPr>
        <p:spPr>
          <a:xfrm>
            <a:off x="2052467" y="4880845"/>
            <a:ext cx="2388387" cy="34287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987155" y="4896151"/>
            <a:ext cx="2440999" cy="117802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BA1B842-CFCB-1B22-BBBE-55441DA9E42B}"/>
              </a:ext>
            </a:extLst>
          </p:cNvPr>
          <p:cNvSpPr txBox="1"/>
          <p:nvPr/>
        </p:nvSpPr>
        <p:spPr>
          <a:xfrm>
            <a:off x="1358900" y="6438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4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 – without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6821098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Setters – with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0" y="3203574"/>
            <a:ext cx="8596295" cy="1938992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US" sz="2400" dirty="0">
                <a:latin typeface="Courier New" pitchFamily="49" charset="0"/>
                <a:cs typeface="Times" pitchFamily="-32" charset="0"/>
              </a:rPr>
              <a:t>	</a:t>
            </a:r>
            <a:r>
              <a:rPr lang="en-IE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((height &gt;= 0) &amp;&amp; (height &lt;= 3.0)){</a:t>
            </a:r>
            <a:endParaRPr lang="en-US" sz="24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802148" y="5476417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079080" y="4730292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225439" y="5464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146054" y="4746445"/>
            <a:ext cx="651679" cy="70788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35BD789C-CB2C-14B3-B28B-F6BCE63CF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026" y="3665238"/>
            <a:ext cx="217277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Validation of value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passed as a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19" name="Line 13">
            <a:extLst>
              <a:ext uri="{FF2B5EF4-FFF2-40B4-BE49-F238E27FC236}">
                <a16:creationId xmlns:a16="http://schemas.microsoft.com/office/drawing/2014/main" id="{4DB32E9A-75EC-7198-929C-318A3582F1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5428" y="4114800"/>
            <a:ext cx="1469772" cy="6845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6373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70" grpId="0"/>
      <p:bldP spid="19471" grpId="0" animBg="1"/>
      <p:bldP spid="16" grpId="0"/>
      <p:bldP spid="17" grpId="0" animBg="1"/>
      <p:bldP spid="18" grpId="0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Class…special case for Strings in </a:t>
            </a:r>
            <a:br>
              <a:rPr lang="en-IE" sz="3600" dirty="0"/>
            </a:br>
            <a:r>
              <a:rPr lang="en-IE" sz="3600" dirty="0"/>
              <a:t>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30469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b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name;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E0EBE-8BD6-88E6-08DE-27FC3CF79CCF}"/>
              </a:ext>
            </a:extLst>
          </p:cNvPr>
          <p:cNvSpPr txBox="1"/>
          <p:nvPr/>
        </p:nvSpPr>
        <p:spPr>
          <a:xfrm>
            <a:off x="1143000" y="5562600"/>
            <a:ext cx="4724400" cy="1200329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used in the constructor instead of the setter (</a:t>
            </a:r>
            <a:r>
              <a:rPr lang="en-US" dirty="0" err="1"/>
              <a:t>setName</a:t>
            </a:r>
            <a:r>
              <a:rPr lang="en-US" dirty="0"/>
              <a:t>()). This is because we assume that the name is somewhat correct (just too long)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A94FE6-68BE-ADEB-B2DE-068E74EE64B0}"/>
              </a:ext>
            </a:extLst>
          </p:cNvPr>
          <p:cNvSpPr txBox="1"/>
          <p:nvPr/>
        </p:nvSpPr>
        <p:spPr>
          <a:xfrm>
            <a:off x="6324600" y="5549900"/>
            <a:ext cx="4724400" cy="36933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will always used this technique for Strings</a:t>
            </a:r>
          </a:p>
        </p:txBody>
      </p:sp>
    </p:spTree>
    <p:extLst>
      <p:ext uri="{BB962C8B-B14F-4D97-AF65-F5344CB8AC3E}">
        <p14:creationId xmlns:p14="http://schemas.microsoft.com/office/powerpoint/2010/main" val="245874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221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F06C1E-5221-9622-305F-7ABBC13FB615}"/>
              </a:ext>
            </a:extLst>
          </p:cNvPr>
          <p:cNvSpPr/>
          <p:nvPr/>
        </p:nvSpPr>
        <p:spPr>
          <a:xfrm>
            <a:off x="1143000" y="1828800"/>
            <a:ext cx="7924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setHeight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((height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(height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height;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82639-DAED-D604-0F33-99D29B9B6B80}"/>
              </a:ext>
            </a:extLst>
          </p:cNvPr>
          <p:cNvSpPr/>
          <p:nvPr/>
        </p:nvSpPr>
        <p:spPr>
          <a:xfrm>
            <a:off x="2209800" y="3861604"/>
            <a:ext cx="77724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setWeight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((weight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(weight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500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weight;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81977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023286-3CFA-B05F-4FF5-E8C8DD973931}"/>
              </a:ext>
            </a:extLst>
          </p:cNvPr>
          <p:cNvSpPr/>
          <p:nvPr/>
        </p:nvSpPr>
        <p:spPr>
          <a:xfrm>
            <a:off x="762000" y="2016369"/>
            <a:ext cx="9829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99999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3B787B-7ABD-8003-C22F-1EA58B9AB393}"/>
              </a:ext>
            </a:extLst>
          </p:cNvPr>
          <p:cNvSpPr/>
          <p:nvPr/>
        </p:nvSpPr>
        <p:spPr>
          <a:xfrm>
            <a:off x="1836615" y="4246316"/>
            <a:ext cx="92964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071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CCD5C1-D3B3-55C3-E5D1-62B2DA0BF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54" y="470049"/>
            <a:ext cx="9336805" cy="61425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A860743-5B17-FF7A-F7BE-68896772DC12}"/>
              </a:ext>
            </a:extLst>
          </p:cNvPr>
          <p:cNvSpPr txBox="1"/>
          <p:nvPr/>
        </p:nvSpPr>
        <p:spPr>
          <a:xfrm>
            <a:off x="152400" y="2133600"/>
            <a:ext cx="3180230" cy="206210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18" name="Rectangle: Rounded Corners 20">
            <a:extLst>
              <a:ext uri="{FF2B5EF4-FFF2-40B4-BE49-F238E27FC236}">
                <a16:creationId xmlns:a16="http://schemas.microsoft.com/office/drawing/2014/main" id="{DFC47359-E7ED-6055-AD5B-1EAF50DAFD54}"/>
              </a:ext>
            </a:extLst>
          </p:cNvPr>
          <p:cNvSpPr/>
          <p:nvPr/>
        </p:nvSpPr>
        <p:spPr>
          <a:xfrm flipV="1">
            <a:off x="4405029" y="6197451"/>
            <a:ext cx="4704227" cy="381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7912FA-256F-D976-AB82-A2C5F7C71DB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1742515" y="4195703"/>
            <a:ext cx="2687918" cy="20251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958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FF422864-AB66-318C-4A99-C6BBBF95BA6E}"/>
              </a:ext>
            </a:extLst>
          </p:cNvPr>
          <p:cNvSpPr/>
          <p:nvPr/>
        </p:nvSpPr>
        <p:spPr>
          <a:xfrm>
            <a:off x="25400" y="6111009"/>
            <a:ext cx="8051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</a:t>
            </a:r>
            <a:r>
              <a:rPr lang="en-IE" sz="2000" dirty="0">
                <a:solidFill>
                  <a:srgbClr val="FF0000"/>
                </a:solidFill>
              </a:rPr>
              <a:t>don’</a:t>
            </a:r>
            <a:r>
              <a:rPr lang="en-IE" sz="2000" dirty="0"/>
              <a:t>t have a </a:t>
            </a:r>
            <a:r>
              <a:rPr lang="en-IE" sz="2000" dirty="0" err="1"/>
              <a:t>toString</a:t>
            </a:r>
            <a:r>
              <a:rPr lang="en-IE" sz="2000" dirty="0"/>
              <a:t> written for GymMember: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021BC8-ED83-C62C-3AEA-A7B700A2B7D3}"/>
              </a:ext>
            </a:extLst>
          </p:cNvPr>
          <p:cNvSpPr/>
          <p:nvPr/>
        </p:nvSpPr>
        <p:spPr>
          <a:xfrm>
            <a:off x="650631" y="1817309"/>
            <a:ext cx="8645770" cy="25545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b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 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height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"M,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weight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"KG (Member </a:t>
            </a:r>
            <a:r>
              <a:rPr lang="en-IE" sz="2000" b="1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 member: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")"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A03E25-FA7E-8A11-266A-7407A0631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5920653"/>
            <a:ext cx="3124200" cy="6627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A812D9-D142-7665-99D9-09B1D257C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4776974"/>
            <a:ext cx="7772400" cy="352789"/>
          </a:xfrm>
          <a:prstGeom prst="rect">
            <a:avLst/>
          </a:prstGeom>
        </p:spPr>
      </p:pic>
      <p:sp>
        <p:nvSpPr>
          <p:cNvPr id="5" name="Rectangle: Rounded Corners 5">
            <a:extLst>
              <a:ext uri="{FF2B5EF4-FFF2-40B4-BE49-F238E27FC236}">
                <a16:creationId xmlns:a16="http://schemas.microsoft.com/office/drawing/2014/main" id="{22F9D073-264C-068E-F537-AC7D5B311801}"/>
              </a:ext>
            </a:extLst>
          </p:cNvPr>
          <p:cNvSpPr/>
          <p:nvPr/>
        </p:nvSpPr>
        <p:spPr>
          <a:xfrm>
            <a:off x="0" y="4762868"/>
            <a:ext cx="3733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:</a:t>
            </a:r>
          </a:p>
        </p:txBody>
      </p:sp>
    </p:spTree>
    <p:extLst>
      <p:ext uri="{BB962C8B-B14F-4D97-AF65-F5344CB8AC3E}">
        <p14:creationId xmlns:p14="http://schemas.microsoft.com/office/powerpoint/2010/main" val="79179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" grpId="0" animBg="1"/>
      <p:bldP spid="5" grpId="0" animBg="1"/>
      <p:bldP spid="5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73914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= new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Encapsulationrecap</a:t>
            </a:r>
            <a:endParaRPr lang="en-US" sz="4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9820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7915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20BF0D-17F9-A746-A974-0712BE1E1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751" y="1610092"/>
            <a:ext cx="7626975" cy="501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10758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2819400"/>
            <a:ext cx="1262997" cy="1467731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6519187" y="5105400"/>
            <a:ext cx="338813" cy="1522406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519187" y="5265998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056AAD-B2A4-E0C5-651F-F6F7259C3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685" y="1594931"/>
            <a:ext cx="7626974" cy="501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8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048D88-EA1D-06E6-8266-2A570E983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7900" y="1733527"/>
            <a:ext cx="7603929" cy="500255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6182249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3619174"/>
            <a:ext cx="1286042" cy="667957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5985764" y="2505612"/>
            <a:ext cx="338836" cy="1265052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051781" y="2329874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6B92D67-D74E-3B77-4142-62E7DDB0D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4867"/>
              </p:ext>
            </p:extLst>
          </p:nvPr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70C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30A716-7D7A-89FE-2044-EFDC651F9F1D}"/>
              </a:ext>
            </a:extLst>
          </p:cNvPr>
          <p:cNvCxnSpPr>
            <a:cxnSpLocks/>
          </p:cNvCxnSpPr>
          <p:nvPr/>
        </p:nvCxnSpPr>
        <p:spPr>
          <a:xfrm flipV="1">
            <a:off x="4887688" y="5135563"/>
            <a:ext cx="1098076" cy="884237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E84D071-866B-467E-FA08-9A102890BD88}"/>
              </a:ext>
            </a:extLst>
          </p:cNvPr>
          <p:cNvSpPr/>
          <p:nvPr/>
        </p:nvSpPr>
        <p:spPr>
          <a:xfrm>
            <a:off x="5985764" y="4367019"/>
            <a:ext cx="4138630" cy="2430774"/>
          </a:xfrm>
          <a:prstGeom prst="rect">
            <a:avLst/>
          </a:prstGeom>
          <a:noFill/>
          <a:ln w="444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86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User I/O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chemeClr val="tx1"/>
                </a:solidFill>
              </a:rPr>
              <a:t>Driver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13383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C9017-7322-2713-33F7-50B2A81E8B1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31CE37-E245-4DD9-518D-99AD607A0482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523324"/>
            <a:ext cx="86106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6FC94-2A2E-A550-D013-05AB8190D4C0}"/>
              </a:ext>
            </a:extLst>
          </p:cNvPr>
          <p:cNvSpPr txBox="1"/>
          <p:nvPr/>
        </p:nvSpPr>
        <p:spPr>
          <a:xfrm>
            <a:off x="685800" y="4677177"/>
            <a:ext cx="3352800" cy="144655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 err="1">
                <a:solidFill>
                  <a:srgbClr val="FF000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D43B48-1E46-177E-8182-81FA3ABE24D8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2338138" y="387398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99B3B1F-44D9-2F7E-868A-728AEEDE1D28}"/>
              </a:ext>
            </a:extLst>
          </p:cNvPr>
          <p:cNvSpPr/>
          <p:nvPr/>
        </p:nvSpPr>
        <p:spPr>
          <a:xfrm>
            <a:off x="381000" y="327660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7924800" y="3937357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8001000" y="449677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8001000" y="4940579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10208879" y="4518248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10208879" y="49620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9234237" y="3992868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8001001" y="5397779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10184816" y="54192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8001001" y="583413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10175851" y="583400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8003296" y="624832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10187111" y="626979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</p:cNvCxnSpPr>
          <p:nvPr/>
        </p:nvCxnSpPr>
        <p:spPr>
          <a:xfrm>
            <a:off x="10134600" y="2494089"/>
            <a:ext cx="58153" cy="1498779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8666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9327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BE2A4DF-F44C-EAE0-C906-DFF43A92015E}"/>
              </a:ext>
            </a:extLst>
          </p:cNvPr>
          <p:cNvSpPr txBox="1"/>
          <p:nvPr/>
        </p:nvSpPr>
        <p:spPr>
          <a:xfrm>
            <a:off x="5779168" y="2644724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rgbClr val="7030A0"/>
                </a:solidFill>
              </a:rPr>
              <a:t>gymMember2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C5D202-A3AF-2C66-ACA5-2576FFDAA536}"/>
              </a:ext>
            </a:extLst>
          </p:cNvPr>
          <p:cNvSpPr/>
          <p:nvPr/>
        </p:nvSpPr>
        <p:spPr>
          <a:xfrm>
            <a:off x="6343650" y="313438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33" name="Rounded Rectangle 11">
            <a:extLst>
              <a:ext uri="{FF2B5EF4-FFF2-40B4-BE49-F238E27FC236}">
                <a16:creationId xmlns:a16="http://schemas.microsoft.com/office/drawing/2014/main" id="{33A16050-59EB-E85A-418D-5E0D536FEB58}"/>
              </a:ext>
            </a:extLst>
          </p:cNvPr>
          <p:cNvSpPr/>
          <p:nvPr/>
        </p:nvSpPr>
        <p:spPr>
          <a:xfrm>
            <a:off x="5715000" y="3924710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3064-B75A-97DC-5244-F09626A302EE}"/>
              </a:ext>
            </a:extLst>
          </p:cNvPr>
          <p:cNvSpPr txBox="1"/>
          <p:nvPr/>
        </p:nvSpPr>
        <p:spPr>
          <a:xfrm>
            <a:off x="5791200" y="4484125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30D897-C3B0-6B4D-B12B-84518102E150}"/>
              </a:ext>
            </a:extLst>
          </p:cNvPr>
          <p:cNvSpPr txBox="1"/>
          <p:nvPr/>
        </p:nvSpPr>
        <p:spPr>
          <a:xfrm>
            <a:off x="5791200" y="492793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A4E12F-9E15-16E1-345E-0B877D2E1DCD}"/>
              </a:ext>
            </a:extLst>
          </p:cNvPr>
          <p:cNvSpPr txBox="1"/>
          <p:nvPr/>
        </p:nvSpPr>
        <p:spPr>
          <a:xfrm>
            <a:off x="7999079" y="4505601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“Mary Lee”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DB276-3718-D7F4-5938-075F7037C19E}"/>
              </a:ext>
            </a:extLst>
          </p:cNvPr>
          <p:cNvSpPr txBox="1"/>
          <p:nvPr/>
        </p:nvSpPr>
        <p:spPr>
          <a:xfrm>
            <a:off x="7999079" y="49494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BA347D-200D-6DBD-D468-69650FE42ED3}"/>
              </a:ext>
            </a:extLst>
          </p:cNvPr>
          <p:cNvSpPr txBox="1"/>
          <p:nvPr/>
        </p:nvSpPr>
        <p:spPr>
          <a:xfrm>
            <a:off x="7024437" y="3980221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gymMember2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C6BA1B-3537-02F1-39C9-F77BDB0DD6F5}"/>
              </a:ext>
            </a:extLst>
          </p:cNvPr>
          <p:cNvSpPr txBox="1"/>
          <p:nvPr/>
        </p:nvSpPr>
        <p:spPr>
          <a:xfrm>
            <a:off x="5791201" y="538513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53199-EDF8-086E-1E1B-9AE933143140}"/>
              </a:ext>
            </a:extLst>
          </p:cNvPr>
          <p:cNvSpPr txBox="1"/>
          <p:nvPr/>
        </p:nvSpPr>
        <p:spPr>
          <a:xfrm>
            <a:off x="7975016" y="54066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714943-B817-B0F4-6AA5-FE0521535ADD}"/>
              </a:ext>
            </a:extLst>
          </p:cNvPr>
          <p:cNvSpPr txBox="1"/>
          <p:nvPr/>
        </p:nvSpPr>
        <p:spPr>
          <a:xfrm>
            <a:off x="5791201" y="5821484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BD87C-0A0F-6097-2D77-836B820AB3DE}"/>
              </a:ext>
            </a:extLst>
          </p:cNvPr>
          <p:cNvSpPr txBox="1"/>
          <p:nvPr/>
        </p:nvSpPr>
        <p:spPr>
          <a:xfrm>
            <a:off x="7966051" y="5821362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0E8B5E-07A8-8D57-8F91-23DBEC2EF1DC}"/>
              </a:ext>
            </a:extLst>
          </p:cNvPr>
          <p:cNvSpPr txBox="1"/>
          <p:nvPr/>
        </p:nvSpPr>
        <p:spPr>
          <a:xfrm>
            <a:off x="5793496" y="623567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557CDE-CF4A-E30F-CD98-F0E56A864D0D}"/>
              </a:ext>
            </a:extLst>
          </p:cNvPr>
          <p:cNvSpPr txBox="1"/>
          <p:nvPr/>
        </p:nvSpPr>
        <p:spPr>
          <a:xfrm>
            <a:off x="7977311" y="625714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BEE2C3-88C1-69B9-7CD4-7865F1A256DE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6819900" y="3432620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2">
            <a:extLst>
              <a:ext uri="{FF2B5EF4-FFF2-40B4-BE49-F238E27FC236}">
                <a16:creationId xmlns:a16="http://schemas.microsoft.com/office/drawing/2014/main" id="{2C537D81-5F1F-639D-A686-7608D21CD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96EDE36F-3D8A-492B-DA5B-5F2D9167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145268"/>
            <a:ext cx="11353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gymMember2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(“Mary Lee”, 1.5, 125, 12002, false);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2760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62E0F6-DCEA-7145-9380-E55370C13C9E}"/>
              </a:ext>
            </a:extLst>
          </p:cNvPr>
          <p:cNvSpPr/>
          <p:nvPr/>
        </p:nvSpPr>
        <p:spPr>
          <a:xfrm>
            <a:off x="4343400" y="612844"/>
            <a:ext cx="6096000" cy="56323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import </a:t>
            </a:r>
            <a:r>
              <a:rPr lang="en-IE" dirty="0" err="1"/>
              <a:t>java.util.Scanner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class </a:t>
            </a:r>
            <a:r>
              <a:rPr lang="en-IE" dirty="0"/>
              <a:t>Driver {</a:t>
            </a:r>
            <a:br>
              <a:rPr lang="en-IE" i="1" dirty="0">
                <a:solidFill>
                  <a:srgbClr val="808080"/>
                </a:solidFill>
              </a:rPr>
            </a:b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Scanner </a:t>
            </a:r>
            <a:r>
              <a:rPr lang="en-IE" b="1" dirty="0">
                <a:solidFill>
                  <a:srgbClr val="660E7A"/>
                </a:solidFill>
              </a:rPr>
              <a:t>input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Scanner(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in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 err="1"/>
              <a:t>GymMember</a:t>
            </a:r>
            <a:r>
              <a:rPr lang="en-IE" dirty="0"/>
              <a:t>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static void </a:t>
            </a:r>
            <a:r>
              <a:rPr lang="en-IE" dirty="0"/>
              <a:t>main(String[] </a:t>
            </a:r>
            <a:r>
              <a:rPr lang="en-IE" dirty="0" err="1"/>
              <a:t>arg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Driver();</a:t>
            </a:r>
            <a:br>
              <a:rPr lang="en-IE" dirty="0"/>
            </a:br>
            <a:r>
              <a:rPr lang="en-IE" dirty="0"/>
              <a:t>    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/>
              <a:t>Driver()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addGymMember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printGymMember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}</a:t>
            </a:r>
          </a:p>
          <a:p>
            <a:endParaRPr lang="en-IE" dirty="0"/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addGymMember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() code</a:t>
            </a:r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printGymMember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() code</a:t>
            </a:r>
          </a:p>
          <a:p>
            <a:endParaRPr lang="en-IE" dirty="0"/>
          </a:p>
          <a:p>
            <a:r>
              <a:rPr lang="en-IE" dirty="0"/>
              <a:t>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A6AB3A-F57F-9281-4BAF-10300A9514ED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973089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4611F-EF1A-8C76-298C-9E04DBB5D80C}"/>
              </a:ext>
            </a:extLst>
          </p:cNvPr>
          <p:cNvSpPr/>
          <p:nvPr/>
        </p:nvSpPr>
        <p:spPr>
          <a:xfrm>
            <a:off x="838200" y="335845"/>
            <a:ext cx="9982200" cy="618630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addGymMember</a:t>
            </a:r>
            <a:r>
              <a:rPr lang="en-IE" dirty="0"/>
              <a:t>() 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//obtaining the data from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"Entering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name:        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String name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.nextLine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height (meters):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weight (kgs):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the membership number: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.nextInt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Is current member (y/n):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char </a:t>
            </a:r>
            <a:r>
              <a:rPr lang="en-IE" dirty="0" err="1"/>
              <a:t>isCurrentMemberChar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</a:t>
            </a:r>
            <a:r>
              <a:rPr lang="en-IE" dirty="0"/>
              <a:t>().</a:t>
            </a:r>
            <a:r>
              <a:rPr lang="en-IE" dirty="0" err="1"/>
              <a:t>charAt</a:t>
            </a:r>
            <a:r>
              <a:rPr lang="en-IE" dirty="0"/>
              <a:t>(</a:t>
            </a:r>
            <a:r>
              <a:rPr lang="en-IE" dirty="0">
                <a:solidFill>
                  <a:srgbClr val="0000FF"/>
                </a:solidFill>
              </a:rPr>
              <a:t>0</a:t>
            </a:r>
            <a:r>
              <a:rPr lang="en-IE" dirty="0"/>
              <a:t>);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if </a:t>
            </a:r>
            <a:r>
              <a:rPr lang="en-IE" dirty="0"/>
              <a:t>((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 || 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true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 err="1"/>
              <a:t>GymMember</a:t>
            </a:r>
            <a:r>
              <a:rPr lang="en-IE" dirty="0"/>
              <a:t>(name, height, weight,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dirty="0" err="1"/>
              <a:t>isCurrentMember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28514C-A921-953E-68F0-DC54AA87C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2286000"/>
            <a:ext cx="4749800" cy="176530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28815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7931C-48F5-38B2-322B-14E4EB3F612D}"/>
              </a:ext>
            </a:extLst>
          </p:cNvPr>
          <p:cNvSpPr/>
          <p:nvPr/>
        </p:nvSpPr>
        <p:spPr>
          <a:xfrm>
            <a:off x="990600" y="677779"/>
            <a:ext cx="609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printGymMember</a:t>
            </a:r>
            <a:r>
              <a:rPr lang="en-IE" dirty="0"/>
              <a:t>()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//printing out the data to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</a:t>
            </a:r>
            <a:r>
              <a:rPr lang="en-IE" b="1" dirty="0">
                <a:solidFill>
                  <a:srgbClr val="000080"/>
                </a:solidFill>
              </a:rPr>
              <a:t>\n\</a:t>
            </a:r>
            <a:r>
              <a:rPr lang="en-IE" b="1" dirty="0" err="1">
                <a:solidFill>
                  <a:srgbClr val="000080"/>
                </a:solidFill>
              </a:rPr>
              <a:t>n</a:t>
            </a:r>
            <a:r>
              <a:rPr lang="en-IE" b="1" dirty="0" err="1">
                <a:solidFill>
                  <a:srgbClr val="008000"/>
                </a:solidFill>
              </a:rPr>
              <a:t>Printing</a:t>
            </a:r>
            <a:r>
              <a:rPr lang="en-IE" b="1" dirty="0">
                <a:solidFill>
                  <a:srgbClr val="008000"/>
                </a:solidFill>
              </a:rPr>
              <a:t>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D5E5FD6-4CE8-2945-F877-DC0AEE100044}"/>
              </a:ext>
            </a:extLst>
          </p:cNvPr>
          <p:cNvSpPr/>
          <p:nvPr/>
        </p:nvSpPr>
        <p:spPr>
          <a:xfrm>
            <a:off x="3200400" y="3429000"/>
            <a:ext cx="12954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5934D1-CBF1-19FF-F8F2-21F0EBBC2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0" y="2971800"/>
            <a:ext cx="7772400" cy="295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938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A955AA4-C93A-1418-BEC4-C92187BC1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a-shop-v1</Template>
  <TotalTime>5842</TotalTime>
  <Words>1991</Words>
  <Application>Microsoft Macintosh PowerPoint</Application>
  <PresentationFormat>Widescreen</PresentationFormat>
  <Paragraphs>282</Paragraphs>
  <Slides>42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Courier New</vt:lpstr>
      <vt:lpstr>a-processing-mouse-event-methods</vt:lpstr>
      <vt:lpstr>Gym App V1</vt:lpstr>
      <vt:lpstr>Gym App</vt:lpstr>
      <vt:lpstr>Gym App V1.0</vt:lpstr>
      <vt:lpstr>Gym App V1.0</vt:lpstr>
      <vt:lpstr>Gym App V1.0</vt:lpstr>
      <vt:lpstr>Gym App V1.0 – Sample I/O</vt:lpstr>
      <vt:lpstr>Encapsulated Class:</vt:lpstr>
      <vt:lpstr>A GymMember Class…</vt:lpstr>
      <vt:lpstr>A GymMember Class…Constructor</vt:lpstr>
      <vt:lpstr>A GymMember Class…Fields and Constructor</vt:lpstr>
      <vt:lpstr>A GymMember Class…methods</vt:lpstr>
      <vt:lpstr>A GymMember Class…methods</vt:lpstr>
      <vt:lpstr>A GymMember Class…getters</vt:lpstr>
      <vt:lpstr>Getters (Accessor Methods)</vt:lpstr>
      <vt:lpstr>Getters</vt:lpstr>
      <vt:lpstr>A GymMember Class…getters</vt:lpstr>
      <vt:lpstr>A GymMember Class…setters</vt:lpstr>
      <vt:lpstr>Setters (Mutator methods)</vt:lpstr>
      <vt:lpstr>Setters – without validation</vt:lpstr>
      <vt:lpstr>Setters – with validation</vt:lpstr>
      <vt:lpstr>A GymMember Class…special case for Strings in  Constructor</vt:lpstr>
      <vt:lpstr>A GymMember Class…setters</vt:lpstr>
      <vt:lpstr>A GymMember Class…setters</vt:lpstr>
      <vt:lpstr>A GymMember Class…setters</vt:lpstr>
      <vt:lpstr>Getters/Setters</vt:lpstr>
      <vt:lpstr>A GymMember Class…toString</vt:lpstr>
      <vt:lpstr>A GymMember Class…toString</vt:lpstr>
      <vt:lpstr>toString()</vt:lpstr>
      <vt:lpstr>Encapsulationrecap</vt:lpstr>
      <vt:lpstr>Encapsulation in Java – steps 1-3</vt:lpstr>
      <vt:lpstr>A GymMember Class… An Encapsulated Class</vt:lpstr>
      <vt:lpstr>A GymMember Class… An Encapsulated Class</vt:lpstr>
      <vt:lpstr>A GymMember Class… An Encapsulated Class</vt:lpstr>
      <vt:lpstr>User I/O</vt:lpstr>
      <vt:lpstr>Using the GymMember Class</vt:lpstr>
      <vt:lpstr>Using the GymMember Class</vt:lpstr>
      <vt:lpstr>Multiple GymMember objects</vt:lpstr>
      <vt:lpstr>Multiple GymMember objects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155</cp:revision>
  <cp:lastPrinted>2018-03-10T18:49:08Z</cp:lastPrinted>
  <dcterms:created xsi:type="dcterms:W3CDTF">2006-08-16T00:00:00Z</dcterms:created>
  <dcterms:modified xsi:type="dcterms:W3CDTF">2025-11-04T11:56:55Z</dcterms:modified>
</cp:coreProperties>
</file>