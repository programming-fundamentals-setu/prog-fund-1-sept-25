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6" r:id="rId1"/>
  </p:sldMasterIdLst>
  <p:notesMasterIdLst>
    <p:notesMasterId r:id="rId12"/>
  </p:notesMasterIdLst>
  <p:sldIdLst>
    <p:sldId id="379" r:id="rId2"/>
    <p:sldId id="257" r:id="rId3"/>
    <p:sldId id="307" r:id="rId4"/>
    <p:sldId id="380" r:id="rId5"/>
    <p:sldId id="376" r:id="rId6"/>
    <p:sldId id="377" r:id="rId7"/>
    <p:sldId id="381" r:id="rId8"/>
    <p:sldId id="378" r:id="rId9"/>
    <p:sldId id="317" r:id="rId10"/>
    <p:sldId id="34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5" autoAdjust="0"/>
    <p:restoredTop sz="80432" autoAdjust="0"/>
  </p:normalViewPr>
  <p:slideViewPr>
    <p:cSldViewPr>
      <p:cViewPr varScale="1">
        <p:scale>
          <a:sx n="95" d="100"/>
          <a:sy n="95" d="100"/>
        </p:scale>
        <p:origin x="1384" y="16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16/10/2025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Objects First with Java</a:t>
            </a:r>
          </a:p>
        </p:txBody>
      </p:sp>
      <p:sp>
        <p:nvSpPr>
          <p:cNvPr id="18434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l"/>
            <a:r>
              <a:rPr lang="en-GB" altLang="en-US" sz="1200" b="0">
                <a:solidFill>
                  <a:schemeClr val="tx1"/>
                </a:solidFill>
                <a:latin typeface="Times New Roman" charset="0"/>
              </a:rPr>
              <a:t>© David J. Barnes and Michael Kölling</a:t>
            </a:r>
          </a:p>
        </p:txBody>
      </p:sp>
      <p:sp>
        <p:nvSpPr>
          <p:cNvPr id="1843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1pPr>
            <a:lvl2pPr marL="742950" indent="-28575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2pPr>
            <a:lvl3pPr marL="11430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3pPr>
            <a:lvl4pPr marL="16002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4pPr>
            <a:lvl5pPr marL="2057400" indent="-228600" algn="ctr"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rgbClr val="006600"/>
                </a:solidFill>
                <a:latin typeface="Trebuchet MS" charset="0"/>
                <a:ea typeface="MS PGothic" charset="-128"/>
              </a:defRPr>
            </a:lvl9pPr>
          </a:lstStyle>
          <a:p>
            <a:pPr algn="r"/>
            <a:fld id="{7FE2BB65-6B68-B449-A95C-B1A6D9CE7C69}" type="slidenum">
              <a:rPr lang="en-GB" altLang="en-US" sz="1200" b="0">
                <a:solidFill>
                  <a:schemeClr val="tx1"/>
                </a:solidFill>
                <a:latin typeface="Times New Roman" charset="0"/>
              </a:rPr>
              <a:pPr algn="r"/>
              <a:t>1</a:t>
            </a:fld>
            <a:endParaRPr lang="en-GB" altLang="en-US" sz="1200" b="0">
              <a:solidFill>
                <a:schemeClr val="tx1"/>
              </a:solidFill>
              <a:latin typeface="Times New Roman" charset="0"/>
            </a:endParaRPr>
          </a:p>
        </p:txBody>
      </p:sp>
      <p:sp>
        <p:nvSpPr>
          <p:cNvPr id="1843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22" name="Rectangle 3"/>
          <p:cNvSpPr>
            <a:spLocks noGrp="1" noChangeArrowheads="1"/>
          </p:cNvSpPr>
          <p:nvPr>
            <p:ph type="body" idx="1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endParaRPr lang="en-GB">
              <a:latin typeface="Times New Roman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73158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GB"/>
              <a:t>Objects First with Java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ftr" sz="quarter" idx="4"/>
          </p:nvPr>
        </p:nvSpPr>
        <p:spPr>
          <a:ln/>
        </p:spPr>
        <p:txBody>
          <a:bodyPr/>
          <a:lstStyle/>
          <a:p>
            <a:r>
              <a:rPr lang="en-GB"/>
              <a:t>© David J. Barnes and Michael Kölling</a:t>
            </a:r>
          </a:p>
        </p:txBody>
      </p:sp>
      <p:sp>
        <p:nvSpPr>
          <p:cNvPr id="9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D04BDCC-1B69-4379-AD71-AF0260C358FD}" type="slidenum">
              <a:rPr lang="en-GB"/>
              <a:pPr/>
              <a:t>5</a:t>
            </a:fld>
            <a:endParaRPr lang="en-GB"/>
          </a:p>
        </p:txBody>
      </p:sp>
      <p:sp>
        <p:nvSpPr>
          <p:cNvPr id="121858" name="Rectangle 2"/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l" eaLnBrk="1" hangingPunct="1"/>
            <a:r>
              <a:rPr lang="en-GB" sz="1200" b="0">
                <a:solidFill>
                  <a:schemeClr val="tx1"/>
                </a:solidFill>
                <a:latin typeface="Times New Roman" pitchFamily="28" charset="0"/>
                <a:ea typeface="ＭＳ Ｐゴシック" pitchFamily="28" charset="-128"/>
              </a:rPr>
              <a:t>Objects First with Java</a:t>
            </a:r>
          </a:p>
        </p:txBody>
      </p:sp>
      <p:sp>
        <p:nvSpPr>
          <p:cNvPr id="121859" name="Rectangle 6"/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l" eaLnBrk="1" hangingPunct="1"/>
            <a:r>
              <a:rPr lang="en-GB" sz="1200" b="0">
                <a:solidFill>
                  <a:schemeClr val="tx1"/>
                </a:solidFill>
                <a:latin typeface="Times New Roman" pitchFamily="28" charset="0"/>
                <a:ea typeface="ＭＳ Ｐゴシック" pitchFamily="28" charset="-128"/>
              </a:rPr>
              <a:t>© David J. Barnes and Michael Kölling</a:t>
            </a:r>
          </a:p>
        </p:txBody>
      </p:sp>
      <p:sp>
        <p:nvSpPr>
          <p:cNvPr id="12186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hangingPunct="1"/>
            <a:fld id="{EC1CCF03-FCF0-45D4-961C-29AE295685E2}" type="slidenum">
              <a:rPr lang="en-GB" sz="1200" b="0">
                <a:solidFill>
                  <a:schemeClr val="tx1"/>
                </a:solidFill>
                <a:latin typeface="Times New Roman" pitchFamily="28" charset="0"/>
                <a:ea typeface="ＭＳ Ｐゴシック" pitchFamily="28" charset="-128"/>
              </a:rPr>
              <a:pPr algn="r" eaLnBrk="1" hangingPunct="1"/>
              <a:t>5</a:t>
            </a:fld>
            <a:endParaRPr lang="en-GB" sz="1200" b="0">
              <a:solidFill>
                <a:schemeClr val="tx1"/>
              </a:solidFill>
              <a:latin typeface="Times New Roman" pitchFamily="28" charset="0"/>
              <a:ea typeface="ＭＳ Ｐゴシック" pitchFamily="28" charset="-128"/>
            </a:endParaRPr>
          </a:p>
        </p:txBody>
      </p:sp>
      <p:sp>
        <p:nvSpPr>
          <p:cNvPr id="12186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1862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723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81B23-C832-43C5-9B50-044EE2C12CE3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899858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A1:  31</a:t>
            </a:r>
          </a:p>
          <a:p>
            <a:r>
              <a:rPr lang="en-IE" dirty="0"/>
              <a:t>A2:  21</a:t>
            </a:r>
          </a:p>
          <a:p>
            <a:r>
              <a:rPr lang="en-IE" dirty="0"/>
              <a:t>A3:  43</a:t>
            </a:r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E81B23-C832-43C5-9B50-044EE2C12CE3}" type="slidenum">
              <a:rPr lang="en-IE" smtClean="0"/>
              <a:t>9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189985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486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C51F014-A304-3672-EB37-723E4843A104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577319E-D913-0186-1403-29DAAB909981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803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79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4861E-C2E3-2C0F-0C43-CF6F042CC211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E2AD0E-60F6-798F-5218-679762744249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21033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3436290-11E2-F20B-966B-F18296CC48D7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669D825-370C-D932-7B44-4C1EE0EB0E21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2936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CF61A43-37C0-D158-13BE-1753663F3BEC}"/>
              </a:ext>
            </a:extLst>
          </p:cNvPr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D85FD0A-2A17-4E36-7ACE-8DDECE72BE20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5409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681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630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69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81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237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/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4134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863600" y="2286000"/>
            <a:ext cx="10464801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dirty="0"/>
          </a:p>
        </p:txBody>
      </p:sp>
      <p:sp>
        <p:nvSpPr>
          <p:cNvPr id="1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957115" y="3465604"/>
            <a:ext cx="10134430" cy="846384"/>
          </a:xfrm>
          <a:prstGeom prst="rect">
            <a:avLst/>
          </a:prstGeom>
        </p:spPr>
        <p:txBody>
          <a:bodyPr anchor="ctr">
            <a:spAutoFit/>
          </a:bodyPr>
          <a:lstStyle>
            <a:lvl1pPr marL="0" indent="0" algn="ctr">
              <a:spcBef>
                <a:spcPts val="0"/>
              </a:spcBef>
              <a:buClrTx/>
              <a:buSzTx/>
              <a:buFontTx/>
              <a:buNone/>
              <a:defRPr>
                <a:solidFill>
                  <a:srgbClr val="2F4468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091544" y="6360984"/>
            <a:ext cx="495649" cy="49244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4604232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691066" y="6493542"/>
            <a:ext cx="434734" cy="430885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4" name="Title Text"/>
          <p:cNvSpPr txBox="1">
            <a:spLocks noGrp="1"/>
          </p:cNvSpPr>
          <p:nvPr>
            <p:ph type="title"/>
          </p:nvPr>
        </p:nvSpPr>
        <p:spPr>
          <a:xfrm>
            <a:off x="729736" y="395556"/>
            <a:ext cx="10747254" cy="114300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5661005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20800" y="381000"/>
            <a:ext cx="10363200" cy="1143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625600" y="1828800"/>
            <a:ext cx="4876800" cy="42672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6705600" y="1828800"/>
            <a:ext cx="4876800" cy="4267200"/>
          </a:xfrm>
        </p:spPr>
        <p:txBody>
          <a:bodyPr/>
          <a:lstStyle/>
          <a:p>
            <a:pPr lvl="0"/>
            <a:r>
              <a:rPr lang="en-GB" noProof="0"/>
              <a:t>Click icon to add chart</a:t>
            </a:r>
            <a:endParaRPr lang="en-US" noProof="0"/>
          </a:p>
        </p:txBody>
      </p:sp>
      <p:sp>
        <p:nvSpPr>
          <p:cNvPr id="5" name="Rectangle 1028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139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286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  <p:sldLayoutId id="2147483689" r:id="rId13"/>
    <p:sldLayoutId id="2147483690" r:id="rId14"/>
    <p:sldLayoutId id="2147483691" r:id="rId15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209446" y="380999"/>
            <a:ext cx="10464801" cy="114300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GB" dirty="0"/>
              <a:t>Miscellaneous</a:t>
            </a:r>
            <a:endParaRPr lang="en-GB" dirty="0">
              <a:ea typeface="+mj-ea"/>
              <a:cs typeface="+mj-cs"/>
            </a:endParaRP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sz="quarter" idx="22"/>
          </p:nvPr>
        </p:nvSpPr>
        <p:spPr>
          <a:xfrm>
            <a:off x="1676400" y="1503560"/>
            <a:ext cx="7140064" cy="1587102"/>
          </a:xfrm>
        </p:spPr>
        <p:txBody>
          <a:bodyPr/>
          <a:lstStyle/>
          <a:p>
            <a:pPr>
              <a:defRPr/>
            </a:pPr>
            <a:r>
              <a:rPr lang="en-GB" sz="2800" dirty="0"/>
              <a:t>Arithmetic Ops, Compound Assignment </a:t>
            </a:r>
            <a:r>
              <a:rPr lang="en-GB" sz="2800" dirty="0" err="1"/>
              <a:t>Stmts</a:t>
            </a:r>
            <a:r>
              <a:rPr lang="en-GB" sz="2800" dirty="0"/>
              <a:t>, Order of Eval</a:t>
            </a:r>
            <a:endParaRPr lang="en-GB" sz="2800" dirty="0">
              <a:ea typeface="+mn-ea"/>
              <a:cs typeface="+mn-cs"/>
            </a:endParaRPr>
          </a:p>
        </p:txBody>
      </p:sp>
      <p:sp>
        <p:nvSpPr>
          <p:cNvPr id="17411" name="Text Box 4"/>
          <p:cNvSpPr txBox="1">
            <a:spLocks noChangeArrowheads="1"/>
          </p:cNvSpPr>
          <p:nvPr/>
        </p:nvSpPr>
        <p:spPr bwMode="auto">
          <a:xfrm>
            <a:off x="10050463" y="6537328"/>
            <a:ext cx="3658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rgbClr val="264D8B"/>
              </a:buClr>
              <a:buFont typeface="Times" charset="0"/>
              <a:buChar char="•"/>
              <a:defRPr sz="3200">
                <a:solidFill>
                  <a:srgbClr val="1A3170"/>
                </a:solidFill>
                <a:latin typeface="Trebuchet MS" charset="0"/>
                <a:ea typeface="MS PGothic" charset="-128"/>
              </a:defRPr>
            </a:lvl1pPr>
            <a:lvl2pPr marL="742950" indent="-285750">
              <a:spcBef>
                <a:spcPct val="20000"/>
              </a:spcBef>
              <a:buClr>
                <a:srgbClr val="264D8B"/>
              </a:buClr>
              <a:buChar char="–"/>
              <a:defRPr sz="2800">
                <a:solidFill>
                  <a:srgbClr val="1A3170"/>
                </a:solidFill>
                <a:latin typeface="Trebuchet MS" charset="0"/>
                <a:ea typeface="MS PGothic" charset="-128"/>
              </a:defRPr>
            </a:lvl2pPr>
            <a:lvl3pPr marL="1143000" indent="-228600">
              <a:spcBef>
                <a:spcPct val="20000"/>
              </a:spcBef>
              <a:buClr>
                <a:srgbClr val="264D8B"/>
              </a:buClr>
              <a:buChar char="•"/>
              <a:defRPr sz="2400">
                <a:solidFill>
                  <a:srgbClr val="1A3170"/>
                </a:solidFill>
                <a:latin typeface="Trebuchet MS" charset="0"/>
                <a:ea typeface="MS PGothic" charset="-128"/>
              </a:defRPr>
            </a:lvl3pPr>
            <a:lvl4pPr marL="1600200" indent="-228600">
              <a:spcBef>
                <a:spcPct val="20000"/>
              </a:spcBef>
              <a:buClr>
                <a:srgbClr val="264D8B"/>
              </a:buClr>
              <a:buChar char="–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4pPr>
            <a:lvl5pPr marL="2057400" indent="-228600">
              <a:spcBef>
                <a:spcPct val="20000"/>
              </a:spcBef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264D8B"/>
              </a:buClr>
              <a:buChar char="»"/>
              <a:defRPr sz="2000">
                <a:solidFill>
                  <a:srgbClr val="1A3170"/>
                </a:solidFill>
                <a:latin typeface="Trebuchet MS" charset="0"/>
                <a:ea typeface="MS PGothic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1000" b="0" dirty="0">
                <a:solidFill>
                  <a:schemeClr val="tx1"/>
                </a:solidFill>
              </a:rPr>
              <a:t>7.0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21513C8-B0FF-BA55-A698-0A8D7677585F}"/>
              </a:ext>
            </a:extLst>
          </p:cNvPr>
          <p:cNvSpPr txBox="1">
            <a:spLocks/>
          </p:cNvSpPr>
          <p:nvPr/>
        </p:nvSpPr>
        <p:spPr>
          <a:xfrm>
            <a:off x="1596259" y="3809999"/>
            <a:ext cx="1866900" cy="1066800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10000"/>
              </a:lnSpc>
              <a:spcBef>
                <a:spcPts val="0"/>
              </a:spcBef>
              <a:buNone/>
            </a:pPr>
            <a:r>
              <a:rPr lang="en-IE" sz="2400" dirty="0"/>
              <a:t>Produced </a:t>
            </a:r>
          </a:p>
          <a:p>
            <a:pPr marL="0" indent="0" algn="r">
              <a:lnSpc>
                <a:spcPct val="110000"/>
              </a:lnSpc>
              <a:spcBef>
                <a:spcPts val="0"/>
              </a:spcBef>
              <a:buNone/>
            </a:pPr>
            <a:r>
              <a:rPr lang="en-IE" sz="2400" dirty="0"/>
              <a:t>by: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E0755C-E815-5AA3-D4B2-32A9F0530610}"/>
              </a:ext>
            </a:extLst>
          </p:cNvPr>
          <p:cNvSpPr txBox="1"/>
          <p:nvPr/>
        </p:nvSpPr>
        <p:spPr>
          <a:xfrm>
            <a:off x="7620000" y="5849826"/>
            <a:ext cx="40727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/>
              <a:t>Department of Computing and Mathematics</a:t>
            </a:r>
          </a:p>
          <a:p>
            <a:r>
              <a:rPr lang="en-IE" sz="1600" dirty="0"/>
              <a:t>http://</a:t>
            </a:r>
            <a:r>
              <a:rPr lang="en-IE" sz="1600" dirty="0" err="1"/>
              <a:t>www.setu.ie</a:t>
            </a:r>
            <a:r>
              <a:rPr lang="en-IE" sz="1600"/>
              <a:t>/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2BA0C4-2BF0-58D8-E3BD-B3765AC49632}"/>
              </a:ext>
            </a:extLst>
          </p:cNvPr>
          <p:cNvSpPr txBox="1"/>
          <p:nvPr/>
        </p:nvSpPr>
        <p:spPr>
          <a:xfrm>
            <a:off x="3647728" y="3876597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Meagher,</a:t>
            </a:r>
          </a:p>
          <a:p>
            <a:r>
              <a:rPr lang="en-IE" sz="2400">
                <a:solidFill>
                  <a:schemeClr val="tx1">
                    <a:lumMod val="75000"/>
                    <a:lumOff val="25000"/>
                  </a:schemeClr>
                </a:solidFill>
              </a:rPr>
              <a:t>Ms. Siobhán Roche.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8FA2458C-C466-1502-FE9B-6FD66EA775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88286" y="952499"/>
            <a:ext cx="3524354" cy="268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4D6796C-CA1E-3126-988E-9F9B5849F52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242" y="5565517"/>
            <a:ext cx="2057400" cy="1153391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on Arithmetic Operators.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Compound Assignment Statements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Order of Evaluation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Rectangle 3"/>
          <p:cNvSpPr/>
          <p:nvPr/>
        </p:nvSpPr>
        <p:spPr>
          <a:xfrm>
            <a:off x="609600" y="1524000"/>
            <a:ext cx="5943600" cy="6096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35913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Arithmetic Operators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E628E40-3168-D0C8-765E-F580E2893A5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767408" y="1412776"/>
              <a:ext cx="11007516" cy="5212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69172">
                      <a:extLst>
                        <a:ext uri="{9D8B030D-6E8A-4147-A177-3AD203B41FA5}">
                          <a16:colId xmlns:a16="http://schemas.microsoft.com/office/drawing/2014/main" val="2846493749"/>
                        </a:ext>
                      </a:extLst>
                    </a:gridCol>
                    <a:gridCol w="3669172">
                      <a:extLst>
                        <a:ext uri="{9D8B030D-6E8A-4147-A177-3AD203B41FA5}">
                          <a16:colId xmlns:a16="http://schemas.microsoft.com/office/drawing/2014/main" val="4029540119"/>
                        </a:ext>
                      </a:extLst>
                    </a:gridCol>
                    <a:gridCol w="3669172">
                      <a:extLst>
                        <a:ext uri="{9D8B030D-6E8A-4147-A177-3AD203B41FA5}">
                          <a16:colId xmlns:a16="http://schemas.microsoft.com/office/drawing/2014/main" val="4127282100"/>
                        </a:ext>
                      </a:extLst>
                    </a:gridCol>
                  </a:tblGrid>
                  <a:tr h="47666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2800" dirty="0"/>
                            <a:t>Arithmetic</a:t>
                          </a:r>
                          <a:r>
                            <a:rPr lang="en-IE" sz="2800" baseline="0" dirty="0"/>
                            <a:t> Operator</a:t>
                          </a:r>
                          <a:endParaRPr lang="en-IE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2800" dirty="0"/>
                            <a:t>Explanation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2800" dirty="0"/>
                            <a:t>Example(s)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72146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5400" dirty="0"/>
                            <a:t>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E" sz="2800" dirty="0"/>
                            <a:t>Addition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800" dirty="0"/>
                            <a:t>6 + 2</a:t>
                          </a:r>
                        </a:p>
                        <a:p>
                          <a:r>
                            <a:rPr lang="en-IE" sz="2800" dirty="0" err="1"/>
                            <a:t>amountOwed</a:t>
                          </a:r>
                          <a:r>
                            <a:rPr lang="en-IE" sz="2800" baseline="0" dirty="0"/>
                            <a:t>  + 10</a:t>
                          </a:r>
                          <a:endParaRPr lang="en-IE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984736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5400" dirty="0"/>
                            <a:t>-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E" sz="2800" dirty="0"/>
                            <a:t>Subtraction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800" dirty="0"/>
                            <a:t>6 – 2</a:t>
                          </a:r>
                        </a:p>
                        <a:p>
                          <a:r>
                            <a:rPr lang="en-IE" sz="2800" dirty="0" err="1"/>
                            <a:t>amountOwed</a:t>
                          </a:r>
                          <a:r>
                            <a:rPr lang="en-IE" sz="2800" dirty="0"/>
                            <a:t>  – 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652197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5400" dirty="0"/>
                            <a:t>*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E" sz="2800" dirty="0"/>
                            <a:t>Multiplication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800" dirty="0"/>
                            <a:t>6 * 2</a:t>
                          </a:r>
                        </a:p>
                        <a:p>
                          <a:r>
                            <a:rPr lang="en-IE" sz="2800" dirty="0" err="1"/>
                            <a:t>amountOwed</a:t>
                          </a:r>
                          <a:r>
                            <a:rPr lang="en-IE" sz="2800" dirty="0"/>
                            <a:t> </a:t>
                          </a:r>
                          <a:r>
                            <a:rPr lang="en-IE" sz="2800" baseline="0" dirty="0"/>
                            <a:t> *</a:t>
                          </a:r>
                          <a:r>
                            <a:rPr lang="en-IE" sz="2800" dirty="0"/>
                            <a:t> 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3602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5400" dirty="0"/>
                            <a:t>/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E" sz="2800" dirty="0"/>
                            <a:t>Division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800" dirty="0"/>
                            <a:t>6 / 2</a:t>
                          </a:r>
                        </a:p>
                        <a:p>
                          <a:r>
                            <a:rPr lang="en-IE" sz="2800" dirty="0" err="1"/>
                            <a:t>amountOwed</a:t>
                          </a:r>
                          <a:r>
                            <a:rPr lang="en-IE" sz="2800" dirty="0"/>
                            <a:t> </a:t>
                          </a:r>
                          <a:r>
                            <a:rPr lang="en-IE" sz="2800" baseline="0" dirty="0"/>
                            <a:t> / </a:t>
                          </a:r>
                          <a:r>
                            <a:rPr lang="en-IE" sz="28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01664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5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n-US" sz="2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Remainder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n-US" sz="2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16 % 5  </a:t>
                          </a:r>
                          <a14:m>
                            <m:oMath xmlns:m="http://schemas.openxmlformats.org/officeDocument/2006/math">
                              <m:r>
                                <a:rPr lang="en-US" sz="2800" i="1" kern="1200" dirty="0" smtClean="0">
                                  <a:solidFill>
                                    <a:schemeClr val="dk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+mn-cs"/>
                                </a:rPr>
                                <m:t>→</m:t>
                              </m:r>
                            </m:oMath>
                          </a14:m>
                          <a:r>
                            <a:rPr lang="en-US" sz="2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14534869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E628E40-3168-D0C8-765E-F580E2893A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59623651"/>
                  </p:ext>
                </p:extLst>
              </p:nvPr>
            </p:nvGraphicFramePr>
            <p:xfrm>
              <a:off x="767408" y="1412776"/>
              <a:ext cx="11007516" cy="52120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669172">
                      <a:extLst>
                        <a:ext uri="{9D8B030D-6E8A-4147-A177-3AD203B41FA5}">
                          <a16:colId xmlns:a16="http://schemas.microsoft.com/office/drawing/2014/main" val="2846493749"/>
                        </a:ext>
                      </a:extLst>
                    </a:gridCol>
                    <a:gridCol w="3669172">
                      <a:extLst>
                        <a:ext uri="{9D8B030D-6E8A-4147-A177-3AD203B41FA5}">
                          <a16:colId xmlns:a16="http://schemas.microsoft.com/office/drawing/2014/main" val="4029540119"/>
                        </a:ext>
                      </a:extLst>
                    </a:gridCol>
                    <a:gridCol w="3669172">
                      <a:extLst>
                        <a:ext uri="{9D8B030D-6E8A-4147-A177-3AD203B41FA5}">
                          <a16:colId xmlns:a16="http://schemas.microsoft.com/office/drawing/2014/main" val="4127282100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2800" dirty="0"/>
                            <a:t>Arithmetic</a:t>
                          </a:r>
                          <a:r>
                            <a:rPr lang="en-IE" sz="2800" baseline="0" dirty="0"/>
                            <a:t> Operator</a:t>
                          </a:r>
                          <a:endParaRPr lang="en-IE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2800" dirty="0"/>
                            <a:t>Explanation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2800" dirty="0"/>
                            <a:t>Example(s)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45721465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5400" dirty="0"/>
                            <a:t>+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E" sz="2800" dirty="0"/>
                            <a:t>Addition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800" dirty="0"/>
                            <a:t>6 + 2</a:t>
                          </a:r>
                        </a:p>
                        <a:p>
                          <a:r>
                            <a:rPr lang="en-IE" sz="2800" dirty="0" err="1"/>
                            <a:t>amountOwed</a:t>
                          </a:r>
                          <a:r>
                            <a:rPr lang="en-IE" sz="2800" baseline="0" dirty="0"/>
                            <a:t>  + 10</a:t>
                          </a:r>
                          <a:endParaRPr lang="en-IE" sz="28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49847360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5400" dirty="0"/>
                            <a:t>- 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E" sz="2800" dirty="0"/>
                            <a:t>Subtraction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800" dirty="0"/>
                            <a:t>6 – 2</a:t>
                          </a:r>
                        </a:p>
                        <a:p>
                          <a:r>
                            <a:rPr lang="en-IE" sz="2800" dirty="0" err="1"/>
                            <a:t>amountOwed</a:t>
                          </a:r>
                          <a:r>
                            <a:rPr lang="en-IE" sz="2800" dirty="0"/>
                            <a:t>  – 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16521978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5400" dirty="0"/>
                            <a:t>*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E" sz="2800" dirty="0"/>
                            <a:t>Multiplication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800" dirty="0"/>
                            <a:t>6 * 2</a:t>
                          </a:r>
                        </a:p>
                        <a:p>
                          <a:r>
                            <a:rPr lang="en-IE" sz="2800" dirty="0" err="1"/>
                            <a:t>amountOwed</a:t>
                          </a:r>
                          <a:r>
                            <a:rPr lang="en-IE" sz="2800" dirty="0"/>
                            <a:t> </a:t>
                          </a:r>
                          <a:r>
                            <a:rPr lang="en-IE" sz="2800" baseline="0" dirty="0"/>
                            <a:t> *</a:t>
                          </a:r>
                          <a:r>
                            <a:rPr lang="en-IE" sz="2800" dirty="0"/>
                            <a:t> 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8360200"/>
                      </a:ext>
                    </a:extLst>
                  </a:tr>
                  <a:tr h="9448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IE" sz="5400" dirty="0"/>
                            <a:t>/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l"/>
                          <a:r>
                            <a:rPr lang="en-IE" sz="2800" dirty="0"/>
                            <a:t>Division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r>
                            <a:rPr lang="en-IE" sz="2800" dirty="0"/>
                            <a:t>6 / 2</a:t>
                          </a:r>
                        </a:p>
                        <a:p>
                          <a:r>
                            <a:rPr lang="en-IE" sz="2800" dirty="0" err="1"/>
                            <a:t>amountOwed</a:t>
                          </a:r>
                          <a:r>
                            <a:rPr lang="en-IE" sz="2800" dirty="0"/>
                            <a:t> </a:t>
                          </a:r>
                          <a:r>
                            <a:rPr lang="en-IE" sz="2800" baseline="0" dirty="0"/>
                            <a:t> / </a:t>
                          </a:r>
                          <a:r>
                            <a:rPr lang="en-IE" sz="2800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70166474"/>
                      </a:ext>
                    </a:extLst>
                  </a:tr>
                  <a:tr h="914400">
                    <a:tc>
                      <a:txBody>
                        <a:bodyPr/>
                        <a:lstStyle/>
                        <a:p>
                          <a:pPr marL="0" algn="ctr" defTabSz="914400" rtl="0" eaLnBrk="1" latinLnBrk="0" hangingPunct="1"/>
                          <a:r>
                            <a:rPr lang="en-US" sz="54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%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algn="l" defTabSz="914400" rtl="0" eaLnBrk="1" latinLnBrk="0" hangingPunct="1"/>
                          <a:r>
                            <a:rPr lang="en-US" sz="2800" kern="1200" dirty="0">
                              <a:solidFill>
                                <a:schemeClr val="dk1"/>
                              </a:solidFill>
                              <a:latin typeface="+mn-lt"/>
                              <a:ea typeface="+mn-ea"/>
                              <a:cs typeface="+mn-cs"/>
                            </a:rPr>
                            <a:t>Remainder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692" t="-477778" r="-692" b="-4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453486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50563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C3D35-C83F-261D-E615-B29E840BBB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2EE61-82E5-B425-3DBF-C32E8ABCEF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E7BCEB-7D91-1E5A-AE36-D25E08F6AD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on Arithmetic Operators.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Compound Assignment Statements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Order of Evaluation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2AA7B4-8135-9C55-E9B8-43D14992EC30}"/>
              </a:ext>
            </a:extLst>
          </p:cNvPr>
          <p:cNvSpPr/>
          <p:nvPr/>
        </p:nvSpPr>
        <p:spPr>
          <a:xfrm>
            <a:off x="614082" y="2667000"/>
            <a:ext cx="6548718" cy="7620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98755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Compound Assignment Statements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1981200" y="1752602"/>
          <a:ext cx="8305800" cy="3733799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8613">
                <a:tc>
                  <a:txBody>
                    <a:bodyPr/>
                    <a:lstStyle/>
                    <a:p>
                      <a:endParaRPr lang="en-IE" sz="28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b="0" dirty="0"/>
                        <a:t>Full</a:t>
                      </a:r>
                      <a:r>
                        <a:rPr lang="en-IE" sz="2800" b="0" baseline="0" dirty="0"/>
                        <a:t> statement</a:t>
                      </a:r>
                      <a:endParaRPr lang="en-IE" sz="2800" b="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800" b="0" dirty="0"/>
                        <a:t>Shortcut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737">
                <a:tc rowSpan="4">
                  <a:txBody>
                    <a:bodyPr/>
                    <a:lstStyle/>
                    <a:p>
                      <a:endParaRPr lang="en-IE" sz="2800" dirty="0"/>
                    </a:p>
                    <a:p>
                      <a:endParaRPr lang="en-IE" sz="1800" dirty="0"/>
                    </a:p>
                    <a:p>
                      <a:r>
                        <a:rPr lang="en-IE" sz="2800" dirty="0"/>
                        <a:t>Mathematical</a:t>
                      </a:r>
                      <a:r>
                        <a:rPr lang="en-IE" sz="2800" baseline="0" dirty="0"/>
                        <a:t> shortcuts</a:t>
                      </a:r>
                      <a:endParaRPr lang="en-IE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x = x + a; </a:t>
                      </a:r>
                      <a:endParaRPr lang="en-IE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x </a:t>
                      </a:r>
                      <a:r>
                        <a:rPr lang="en-US" sz="2800" b="1" dirty="0"/>
                        <a:t>+=</a:t>
                      </a:r>
                      <a:r>
                        <a:rPr lang="en-US" sz="2800" dirty="0"/>
                        <a:t> a;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737">
                <a:tc v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x = x - a; </a:t>
                      </a:r>
                      <a:endParaRPr lang="en-IE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x </a:t>
                      </a:r>
                      <a:r>
                        <a:rPr lang="en-US" sz="2800" b="1" dirty="0"/>
                        <a:t>-=</a:t>
                      </a:r>
                      <a:r>
                        <a:rPr lang="en-US" sz="2800" dirty="0"/>
                        <a:t> a; </a:t>
                      </a:r>
                      <a:endParaRPr lang="en-IE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737">
                <a:tc v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x = x * a; </a:t>
                      </a:r>
                      <a:endParaRPr lang="en-IE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x </a:t>
                      </a:r>
                      <a:r>
                        <a:rPr lang="en-US" sz="2800" b="1" dirty="0"/>
                        <a:t>*=</a:t>
                      </a:r>
                      <a:r>
                        <a:rPr lang="en-US" sz="2800" dirty="0"/>
                        <a:t> a;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737">
                <a:tc vMerge="1">
                  <a:txBody>
                    <a:bodyPr/>
                    <a:lstStyle/>
                    <a:p>
                      <a:endParaRPr lang="en-I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x = x/a; </a:t>
                      </a:r>
                      <a:endParaRPr lang="en-IE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x </a:t>
                      </a:r>
                      <a:r>
                        <a:rPr lang="en-US" sz="2800" b="1" dirty="0"/>
                        <a:t>/=</a:t>
                      </a:r>
                      <a:r>
                        <a:rPr lang="en-US" sz="2800" dirty="0"/>
                        <a:t>a;</a:t>
                      </a:r>
                      <a:endParaRPr lang="en-IE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291">
                <a:tc>
                  <a:txBody>
                    <a:bodyPr/>
                    <a:lstStyle/>
                    <a:p>
                      <a:pPr lvl="0">
                        <a:lnSpc>
                          <a:spcPct val="90000"/>
                        </a:lnSpc>
                        <a:buFontTx/>
                        <a:buNone/>
                      </a:pPr>
                      <a:r>
                        <a:rPr lang="en-US" sz="2800" dirty="0"/>
                        <a:t>Increment shortcut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x = x+1; </a:t>
                      </a:r>
                      <a:endParaRPr lang="en-IE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b="0" dirty="0"/>
                        <a:t>x</a:t>
                      </a:r>
                      <a:r>
                        <a:rPr lang="en-US" sz="2800" b="1" dirty="0"/>
                        <a:t>++</a:t>
                      </a:r>
                      <a:r>
                        <a:rPr lang="en-US" sz="2800" dirty="0"/>
                        <a:t>;</a:t>
                      </a:r>
                      <a:endParaRPr lang="en-IE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lvl="0">
                        <a:lnSpc>
                          <a:spcPct val="90000"/>
                        </a:lnSpc>
                        <a:buFontTx/>
                        <a:buNone/>
                      </a:pPr>
                      <a:r>
                        <a:rPr lang="en-US" sz="2800" dirty="0"/>
                        <a:t>Decrement shortcut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x = x - 1; </a:t>
                      </a:r>
                      <a:endParaRPr lang="en-IE" sz="2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x</a:t>
                      </a:r>
                      <a:r>
                        <a:rPr lang="en-US" sz="2800" b="1" dirty="0"/>
                        <a:t>--</a:t>
                      </a:r>
                      <a:r>
                        <a:rPr lang="en-US" sz="2800" dirty="0"/>
                        <a:t>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Donut 3"/>
          <p:cNvSpPr/>
          <p:nvPr/>
        </p:nvSpPr>
        <p:spPr>
          <a:xfrm>
            <a:off x="8915400" y="1905000"/>
            <a:ext cx="457200" cy="2667000"/>
          </a:xfrm>
          <a:prstGeom prst="donut">
            <a:avLst>
              <a:gd name="adj" fmla="val 3902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5" name="Donut 4"/>
          <p:cNvSpPr/>
          <p:nvPr/>
        </p:nvSpPr>
        <p:spPr>
          <a:xfrm>
            <a:off x="8915400" y="4335463"/>
            <a:ext cx="360000" cy="693738"/>
          </a:xfrm>
          <a:prstGeom prst="donut">
            <a:avLst>
              <a:gd name="adj" fmla="val 3902"/>
            </a:avLst>
          </a:prstGeom>
          <a:solidFill>
            <a:srgbClr val="FF0000"/>
          </a:solidFill>
          <a:ln w="254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Donut 5"/>
          <p:cNvSpPr/>
          <p:nvPr/>
        </p:nvSpPr>
        <p:spPr>
          <a:xfrm>
            <a:off x="8915400" y="5029201"/>
            <a:ext cx="228600" cy="457200"/>
          </a:xfrm>
          <a:prstGeom prst="donut">
            <a:avLst>
              <a:gd name="adj" fmla="val 3902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2475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Arithmetic Operators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11125200" cy="4525963"/>
          </a:xfrm>
        </p:spPr>
        <p:txBody>
          <a:bodyPr/>
          <a:lstStyle/>
          <a:p>
            <a:r>
              <a:rPr lang="en-IE" dirty="0"/>
              <a:t>These examples are straightforward uses of the </a:t>
            </a:r>
            <a:br>
              <a:rPr lang="en-IE" dirty="0"/>
            </a:br>
            <a:r>
              <a:rPr lang="en-IE" dirty="0"/>
              <a:t>arithmetic operators.</a:t>
            </a:r>
          </a:p>
          <a:p>
            <a:r>
              <a:rPr lang="en-IE" dirty="0"/>
              <a:t>However, we typically want to do more complex calculations involving many arithmetic operators.</a:t>
            </a:r>
          </a:p>
          <a:p>
            <a:r>
              <a:rPr lang="en-IE" dirty="0"/>
              <a:t>To do this, we need to understand the </a:t>
            </a:r>
            <a:r>
              <a:rPr lang="en-IE" b="1" dirty="0">
                <a:solidFill>
                  <a:srgbClr val="FF0000"/>
                </a:solidFill>
              </a:rPr>
              <a:t>Order of Evaluation</a:t>
            </a:r>
            <a:r>
              <a:rPr lang="en-IE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295207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1CAF7-6287-5C2D-53B4-EF7B36DF8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16A1E-F8C2-53E3-1373-E2CFBD08DF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/>
              <a:t>Topics list</a:t>
            </a:r>
            <a:endParaRPr lang="en-IE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7A017BC-4519-FFC2-2506-BB9D332311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E" dirty="0"/>
              <a:t>Recap on Arithmetic Operators.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Compound Assignment Statements</a:t>
            </a:r>
          </a:p>
          <a:p>
            <a:pPr marL="514350" indent="-514350">
              <a:buFont typeface="+mj-lt"/>
              <a:buAutoNum type="arabicPeriod"/>
            </a:pPr>
            <a:endParaRPr lang="en-IE" dirty="0"/>
          </a:p>
          <a:p>
            <a:pPr marL="514350" indent="-514350">
              <a:buFont typeface="+mj-lt"/>
              <a:buAutoNum type="arabicPeriod"/>
            </a:pPr>
            <a:r>
              <a:rPr lang="en-IE" dirty="0"/>
              <a:t>Order of Evaluation</a:t>
            </a:r>
          </a:p>
          <a:p>
            <a:pPr marL="0" indent="0">
              <a:buNone/>
            </a:pPr>
            <a:endParaRPr lang="en-I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E276E25-7CD2-FFA6-D04C-629EB9E529C2}"/>
              </a:ext>
            </a:extLst>
          </p:cNvPr>
          <p:cNvSpPr/>
          <p:nvPr/>
        </p:nvSpPr>
        <p:spPr>
          <a:xfrm>
            <a:off x="573741" y="3867664"/>
            <a:ext cx="4150659" cy="762000"/>
          </a:xfrm>
          <a:prstGeom prst="rect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90109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Order of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1600201"/>
            <a:ext cx="8229600" cy="3200399"/>
          </a:xfrm>
        </p:spPr>
        <p:txBody>
          <a:bodyPr>
            <a:normAutofit/>
          </a:bodyPr>
          <a:lstStyle/>
          <a:p>
            <a:r>
              <a:rPr lang="en-IE" b="1" dirty="0">
                <a:solidFill>
                  <a:srgbClr val="FF0000"/>
                </a:solidFill>
              </a:rPr>
              <a:t>B</a:t>
            </a:r>
            <a:r>
              <a:rPr lang="en-IE" dirty="0"/>
              <a:t>rackets </a:t>
            </a:r>
            <a:r>
              <a:rPr lang="en-IE" b="1" dirty="0"/>
              <a:t>()</a:t>
            </a:r>
          </a:p>
          <a:p>
            <a:r>
              <a:rPr lang="en-IE" b="1" dirty="0">
                <a:solidFill>
                  <a:srgbClr val="FF0000"/>
                </a:solidFill>
              </a:rPr>
              <a:t>M</a:t>
            </a:r>
            <a:r>
              <a:rPr lang="en-IE" dirty="0"/>
              <a:t>ultiplication (</a:t>
            </a:r>
            <a:r>
              <a:rPr lang="en-IE" b="1" dirty="0"/>
              <a:t>*</a:t>
            </a:r>
            <a:r>
              <a:rPr lang="en-IE" dirty="0"/>
              <a:t>)</a:t>
            </a:r>
          </a:p>
          <a:p>
            <a:r>
              <a:rPr lang="en-IE" b="1" dirty="0">
                <a:solidFill>
                  <a:srgbClr val="FF0000"/>
                </a:solidFill>
              </a:rPr>
              <a:t>D</a:t>
            </a:r>
            <a:r>
              <a:rPr lang="en-IE" dirty="0"/>
              <a:t>ivision (</a:t>
            </a:r>
            <a:r>
              <a:rPr lang="en-IE" b="1" dirty="0"/>
              <a:t>/</a:t>
            </a:r>
            <a:r>
              <a:rPr lang="en-IE" dirty="0"/>
              <a:t>)</a:t>
            </a:r>
          </a:p>
          <a:p>
            <a:r>
              <a:rPr lang="en-IE" b="1" dirty="0">
                <a:solidFill>
                  <a:srgbClr val="FF0000"/>
                </a:solidFill>
              </a:rPr>
              <a:t>A</a:t>
            </a:r>
            <a:r>
              <a:rPr lang="en-IE" dirty="0"/>
              <a:t>ddition (</a:t>
            </a:r>
            <a:r>
              <a:rPr lang="en-IE" b="1" dirty="0"/>
              <a:t>+</a:t>
            </a:r>
            <a:r>
              <a:rPr lang="en-IE" dirty="0"/>
              <a:t>)</a:t>
            </a:r>
          </a:p>
          <a:p>
            <a:r>
              <a:rPr lang="en-IE" b="1" dirty="0">
                <a:solidFill>
                  <a:srgbClr val="FF0000"/>
                </a:solidFill>
              </a:rPr>
              <a:t>S</a:t>
            </a:r>
            <a:r>
              <a:rPr lang="en-IE" dirty="0"/>
              <a:t>ubtraction (</a:t>
            </a:r>
            <a:r>
              <a:rPr lang="en-IE" b="1" dirty="0"/>
              <a:t>-</a:t>
            </a:r>
            <a:r>
              <a:rPr lang="en-IE" dirty="0"/>
              <a:t>)</a:t>
            </a:r>
          </a:p>
          <a:p>
            <a:endParaRPr lang="en-IE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981200" y="4572000"/>
            <a:ext cx="8229600" cy="1951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IE" dirty="0"/>
          </a:p>
          <a:p>
            <a:pPr marL="0" indent="0" algn="ctr">
              <a:buNone/>
            </a:pPr>
            <a:r>
              <a:rPr lang="en-IE" dirty="0" err="1">
                <a:solidFill>
                  <a:srgbClr val="FF0000"/>
                </a:solidFill>
              </a:rPr>
              <a:t>B</a:t>
            </a:r>
            <a:r>
              <a:rPr lang="en-IE" dirty="0" err="1"/>
              <a:t>o</a:t>
            </a:r>
            <a:r>
              <a:rPr lang="en-IE" dirty="0" err="1">
                <a:solidFill>
                  <a:srgbClr val="FF0000"/>
                </a:solidFill>
              </a:rPr>
              <a:t>MDAS</a:t>
            </a:r>
            <a:endParaRPr lang="en-IE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r>
              <a:rPr lang="en-IE" dirty="0">
                <a:solidFill>
                  <a:srgbClr val="FF0000"/>
                </a:solidFill>
              </a:rPr>
              <a:t>B</a:t>
            </a:r>
            <a:r>
              <a:rPr lang="en-IE" dirty="0"/>
              <a:t>eware </a:t>
            </a:r>
            <a:r>
              <a:rPr lang="en-IE" dirty="0">
                <a:solidFill>
                  <a:srgbClr val="FF0000"/>
                </a:solidFill>
              </a:rPr>
              <a:t>M</a:t>
            </a:r>
            <a:r>
              <a:rPr lang="en-IE" dirty="0"/>
              <a:t>y </a:t>
            </a:r>
            <a:r>
              <a:rPr lang="en-IE" dirty="0">
                <a:solidFill>
                  <a:srgbClr val="FF0000"/>
                </a:solidFill>
              </a:rPr>
              <a:t>D</a:t>
            </a:r>
            <a:r>
              <a:rPr lang="en-IE" dirty="0"/>
              <a:t>ear </a:t>
            </a:r>
            <a:r>
              <a:rPr lang="en-IE" dirty="0">
                <a:solidFill>
                  <a:srgbClr val="FF0000"/>
                </a:solidFill>
              </a:rPr>
              <a:t>A</a:t>
            </a:r>
            <a:r>
              <a:rPr lang="en-IE" dirty="0"/>
              <a:t>unt </a:t>
            </a:r>
            <a:r>
              <a:rPr lang="en-IE" dirty="0">
                <a:solidFill>
                  <a:srgbClr val="FF0000"/>
                </a:solidFill>
              </a:rPr>
              <a:t>S</a:t>
            </a:r>
            <a:r>
              <a:rPr lang="en-IE" dirty="0"/>
              <a:t>ally</a:t>
            </a:r>
          </a:p>
        </p:txBody>
      </p:sp>
    </p:spTree>
    <p:extLst>
      <p:ext uri="{BB962C8B-B14F-4D97-AF65-F5344CB8AC3E}">
        <p14:creationId xmlns:p14="http://schemas.microsoft.com/office/powerpoint/2010/main" val="333524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Order of Evaluation - </a:t>
            </a:r>
            <a:r>
              <a:rPr lang="en-IE" b="1" dirty="0"/>
              <a:t>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8229600" cy="3276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dirty="0"/>
              <a:t>What are the results of these calculations?</a:t>
            </a:r>
          </a:p>
          <a:p>
            <a:pPr marL="0" indent="0">
              <a:buNone/>
            </a:pPr>
            <a:endParaRPr lang="en-IE" dirty="0"/>
          </a:p>
          <a:p>
            <a:r>
              <a:rPr lang="en-IE" dirty="0"/>
              <a:t>	Q1: 		3+6*5-2</a:t>
            </a:r>
          </a:p>
          <a:p>
            <a:r>
              <a:rPr lang="en-IE" dirty="0"/>
              <a:t>	Q2:		3+6*(5-2)</a:t>
            </a:r>
          </a:p>
          <a:p>
            <a:r>
              <a:rPr lang="en-IE" dirty="0"/>
              <a:t>	Q3:		(3+6)*5-2</a:t>
            </a:r>
          </a:p>
          <a:p>
            <a:pPr marL="0" indent="0">
              <a:buNone/>
            </a:pPr>
            <a:endParaRPr lang="en-IE" dirty="0"/>
          </a:p>
        </p:txBody>
      </p:sp>
      <p:pic>
        <p:nvPicPr>
          <p:cNvPr id="4" name="Picture 2" descr="Image result for questions">
            <a:extLst>
              <a:ext uri="{FF2B5EF4-FFF2-40B4-BE49-F238E27FC236}">
                <a16:creationId xmlns:a16="http://schemas.microsoft.com/office/drawing/2014/main" id="{549E31E9-6BD2-1043-A9B8-BF667A6F7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72600" y="465138"/>
            <a:ext cx="2357671" cy="1904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3294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" name="Picture 2" descr="A green question mark in a circle&#10;&#10;AI-generated content may be incorrect.">
            <a:extLst>
              <a:ext uri="{FF2B5EF4-FFF2-40B4-BE49-F238E27FC236}">
                <a16:creationId xmlns:a16="http://schemas.microsoft.com/office/drawing/2014/main" id="{4021528B-859B-0F0C-6479-D9428D88B2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1800" y="1325562"/>
            <a:ext cx="525780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503280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b-local-vars</Template>
  <TotalTime>22</TotalTime>
  <Words>342</Words>
  <Application>Microsoft Macintosh PowerPoint</Application>
  <PresentationFormat>Widescreen</PresentationFormat>
  <Paragraphs>104</Paragraphs>
  <Slides>10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 Math</vt:lpstr>
      <vt:lpstr>Times New Roman</vt:lpstr>
      <vt:lpstr>a-processing-mouse-event-methods</vt:lpstr>
      <vt:lpstr>Miscellaneous</vt:lpstr>
      <vt:lpstr>Topics list</vt:lpstr>
      <vt:lpstr>Arithmetic Operators </vt:lpstr>
      <vt:lpstr>Topics list</vt:lpstr>
      <vt:lpstr>Compound Assignment Statements</vt:lpstr>
      <vt:lpstr>Arithmetic Operators</vt:lpstr>
      <vt:lpstr>Topics list</vt:lpstr>
      <vt:lpstr>Order of Evaluation</vt:lpstr>
      <vt:lpstr>Order of Evaluation - Quiz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types</dc:title>
  <dc:creator>Siobhan Drohan</dc:creator>
  <cp:lastModifiedBy>Mairead Meagher</cp:lastModifiedBy>
  <cp:revision>142</cp:revision>
  <dcterms:created xsi:type="dcterms:W3CDTF">2006-08-16T00:00:00Z</dcterms:created>
  <dcterms:modified xsi:type="dcterms:W3CDTF">2025-10-16T20:26:18Z</dcterms:modified>
</cp:coreProperties>
</file>