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notesMasterIdLst>
    <p:notesMasterId r:id="rId12"/>
  </p:notesMasterIdLst>
  <p:sldIdLst>
    <p:sldId id="379" r:id="rId2"/>
    <p:sldId id="257" r:id="rId3"/>
    <p:sldId id="307" r:id="rId4"/>
    <p:sldId id="380" r:id="rId5"/>
    <p:sldId id="376" r:id="rId6"/>
    <p:sldId id="377" r:id="rId7"/>
    <p:sldId id="381" r:id="rId8"/>
    <p:sldId id="378" r:id="rId9"/>
    <p:sldId id="317" r:id="rId10"/>
    <p:sldId id="34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1" autoAdjust="0"/>
    <p:restoredTop sz="80432" autoAdjust="0"/>
  </p:normalViewPr>
  <p:slideViewPr>
    <p:cSldViewPr>
      <p:cViewPr varScale="1">
        <p:scale>
          <a:sx n="95" d="100"/>
          <a:sy n="95" d="100"/>
        </p:scale>
        <p:origin x="1384" y="16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04/10/2025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9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D04BDCC-1B69-4379-AD71-AF0260C358FD}" type="slidenum">
              <a:rPr lang="en-GB"/>
              <a:pPr/>
              <a:t>5</a:t>
            </a:fld>
            <a:endParaRPr lang="en-GB"/>
          </a:p>
        </p:txBody>
      </p:sp>
      <p:sp>
        <p:nvSpPr>
          <p:cNvPr id="121858" name="Rectangle 2"/>
          <p:cNvSpPr txBox="1">
            <a:spLocks noGrp="1"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 eaLnBrk="1" hangingPunct="1"/>
            <a:r>
              <a:rPr lang="en-GB" sz="1200" b="0">
                <a:solidFill>
                  <a:schemeClr val="tx1"/>
                </a:solidFill>
                <a:latin typeface="Times New Roman" pitchFamily="28" charset="0"/>
                <a:ea typeface="ＭＳ Ｐゴシック" pitchFamily="28" charset="-128"/>
              </a:rPr>
              <a:t>Objects First with Java</a:t>
            </a:r>
          </a:p>
        </p:txBody>
      </p:sp>
      <p:sp>
        <p:nvSpPr>
          <p:cNvPr id="121859" name="Rectangle 6"/>
          <p:cNvSpPr txBox="1">
            <a:spLocks noGrp="1" noChangeArrowheads="1"/>
          </p:cNvSpPr>
          <p:nvPr/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/>
          <a:p>
            <a:pPr algn="l" eaLnBrk="1" hangingPunct="1"/>
            <a:r>
              <a:rPr lang="en-GB" sz="1200" b="0">
                <a:solidFill>
                  <a:schemeClr val="tx1"/>
                </a:solidFill>
                <a:latin typeface="Times New Roman" pitchFamily="28" charset="0"/>
                <a:ea typeface="ＭＳ Ｐゴシック" pitchFamily="28" charset="-128"/>
              </a:rPr>
              <a:t>© David J. Barnes and Michael Kölling</a:t>
            </a:r>
          </a:p>
        </p:txBody>
      </p:sp>
      <p:sp>
        <p:nvSpPr>
          <p:cNvPr id="121860" name="Rectangle 7"/>
          <p:cNvSpPr txBox="1">
            <a:spLocks noGrp="1" noChangeArrowheads="1"/>
          </p:cNvSpPr>
          <p:nvPr/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/>
          <a:p>
            <a:pPr algn="r" eaLnBrk="1" hangingPunct="1"/>
            <a:fld id="{EC1CCF03-FCF0-45D4-961C-29AE295685E2}" type="slidenum">
              <a:rPr lang="en-GB" sz="1200" b="0">
                <a:solidFill>
                  <a:schemeClr val="tx1"/>
                </a:solidFill>
                <a:latin typeface="Times New Roman" pitchFamily="28" charset="0"/>
                <a:ea typeface="ＭＳ Ｐゴシック" pitchFamily="28" charset="-128"/>
              </a:rPr>
              <a:pPr algn="r" eaLnBrk="1" hangingPunct="1"/>
              <a:t>5</a:t>
            </a:fld>
            <a:endParaRPr lang="en-GB" sz="1200" b="0">
              <a:solidFill>
                <a:schemeClr val="tx1"/>
              </a:solidFill>
              <a:latin typeface="Times New Roman" pitchFamily="28" charset="0"/>
              <a:ea typeface="ＭＳ Ｐゴシック" pitchFamily="28" charset="-128"/>
            </a:endParaRPr>
          </a:p>
        </p:txBody>
      </p:sp>
      <p:sp>
        <p:nvSpPr>
          <p:cNvPr id="12186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21862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7231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E81B23-C832-43C5-9B50-044EE2C12CE3}" type="slidenum">
              <a:rPr lang="en-IE" smtClean="0"/>
              <a:t>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899858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A1:  31</a:t>
            </a:r>
          </a:p>
          <a:p>
            <a:r>
              <a:rPr lang="en-IE" dirty="0"/>
              <a:t>A2:  21</a:t>
            </a:r>
          </a:p>
          <a:p>
            <a:r>
              <a:rPr lang="en-IE" dirty="0"/>
              <a:t>A3:  43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E81B23-C832-43C5-9B50-044EE2C12CE3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89985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486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803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279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21033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2936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0540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81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9630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269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581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7237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4134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60423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625661005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139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286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GB" dirty="0"/>
              <a:t>Miscellaneous</a:t>
            </a:r>
            <a:endParaRPr lang="en-GB" dirty="0">
              <a:ea typeface="+mj-ea"/>
              <a:cs typeface="+mj-cs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quarter" idx="22"/>
          </p:nvPr>
        </p:nvSpPr>
        <p:spPr>
          <a:xfrm>
            <a:off x="1676400" y="1503560"/>
            <a:ext cx="7140064" cy="1587102"/>
          </a:xfrm>
        </p:spPr>
        <p:txBody>
          <a:bodyPr/>
          <a:lstStyle/>
          <a:p>
            <a:pPr>
              <a:defRPr/>
            </a:pPr>
            <a:r>
              <a:rPr lang="en-GB" sz="2800" dirty="0"/>
              <a:t>Arithmetic Ops, Compound Assignment </a:t>
            </a:r>
            <a:r>
              <a:rPr lang="en-GB" sz="2800" dirty="0" err="1"/>
              <a:t>Stmts</a:t>
            </a:r>
            <a:r>
              <a:rPr lang="en-GB" sz="2800" dirty="0"/>
              <a:t>, Order of Eval</a:t>
            </a:r>
            <a:endParaRPr lang="en-GB" sz="2800" dirty="0">
              <a:ea typeface="+mn-ea"/>
              <a:cs typeface="+mn-cs"/>
            </a:endParaRP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</a:t>
            </a:r>
            <a:r>
              <a:rPr lang="en-IE" sz="1600" dirty="0" err="1"/>
              <a:t>www.setu.ie</a:t>
            </a:r>
            <a:r>
              <a:rPr lang="en-IE" sz="1600"/>
              <a:t>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D6796C-CA1E-3126-988E-9F9B5849F5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Recap on Arithmetic Operators.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Compound Assignment Statements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Order of Evaluation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609600" y="1524000"/>
            <a:ext cx="5943600" cy="6096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Arithmetic Operators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2E628E40-3168-D0C8-765E-F580E2893A5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67408" y="1412776"/>
              <a:ext cx="11007516" cy="5212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69172">
                      <a:extLst>
                        <a:ext uri="{9D8B030D-6E8A-4147-A177-3AD203B41FA5}">
                          <a16:colId xmlns:a16="http://schemas.microsoft.com/office/drawing/2014/main" val="284649374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02954011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127282100"/>
                        </a:ext>
                      </a:extLst>
                    </a:gridCol>
                  </a:tblGrid>
                  <a:tr h="47666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Arithmetic</a:t>
                          </a:r>
                          <a:r>
                            <a:rPr lang="en-IE" sz="2800" baseline="0" dirty="0"/>
                            <a:t> Operator</a:t>
                          </a:r>
                          <a:endParaRPr lang="en-IE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Explanation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Example(s)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7214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+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Addition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+ 2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baseline="0" dirty="0"/>
                            <a:t>  + 10</a:t>
                          </a:r>
                          <a:endParaRPr lang="en-IE" sz="2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9847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-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Subtraction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–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 –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6521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*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Multiplication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*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*</a:t>
                          </a:r>
                          <a:r>
                            <a:rPr lang="en-IE" sz="2800" dirty="0"/>
                            <a:t>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3602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/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Division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/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/ </a:t>
                          </a:r>
                          <a:r>
                            <a:rPr lang="en-IE" sz="28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0166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54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%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Remainder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16 % 5 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i="1" kern="1200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→</m:t>
                              </m:r>
                            </m:oMath>
                          </a14:m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453486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2E628E40-3168-D0C8-765E-F580E2893A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9623651"/>
                  </p:ext>
                </p:extLst>
              </p:nvPr>
            </p:nvGraphicFramePr>
            <p:xfrm>
              <a:off x="767408" y="1412776"/>
              <a:ext cx="11007516" cy="5212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69172">
                      <a:extLst>
                        <a:ext uri="{9D8B030D-6E8A-4147-A177-3AD203B41FA5}">
                          <a16:colId xmlns:a16="http://schemas.microsoft.com/office/drawing/2014/main" val="284649374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02954011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127282100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Arithmetic</a:t>
                          </a:r>
                          <a:r>
                            <a:rPr lang="en-IE" sz="2800" baseline="0" dirty="0"/>
                            <a:t> Operator</a:t>
                          </a:r>
                          <a:endParaRPr lang="en-IE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Explanation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Example(s)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721465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+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Addition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+ 2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baseline="0" dirty="0"/>
                            <a:t>  + 10</a:t>
                          </a:r>
                          <a:endParaRPr lang="en-IE" sz="2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9847360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-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Subtraction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–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 –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6521978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*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Multiplication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*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*</a:t>
                          </a:r>
                          <a:r>
                            <a:rPr lang="en-IE" sz="2800" dirty="0"/>
                            <a:t>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360200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/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Division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/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/ </a:t>
                          </a:r>
                          <a:r>
                            <a:rPr lang="en-IE" sz="28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016647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54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%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Remainder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2" t="-477778" r="-692" b="-4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4534869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5056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C3D35-C83F-261D-E615-B29E840BB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2EE61-82E5-B425-3DBF-C32E8ABCE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E7BCEB-7D91-1E5A-AE36-D25E08F6A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Recap on Arithmetic Operators.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Compound Assignment Statements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Order of Evaluation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2AA7B4-8135-9C55-E9B8-43D14992EC30}"/>
              </a:ext>
            </a:extLst>
          </p:cNvPr>
          <p:cNvSpPr/>
          <p:nvPr/>
        </p:nvSpPr>
        <p:spPr>
          <a:xfrm>
            <a:off x="614082" y="2667000"/>
            <a:ext cx="6548718" cy="7620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87552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Compound Assignment Statements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981200" y="1752602"/>
          <a:ext cx="8305800" cy="3733799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8613">
                <a:tc>
                  <a:txBody>
                    <a:bodyPr/>
                    <a:lstStyle/>
                    <a:p>
                      <a:endParaRPr lang="en-IE" sz="28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b="0" dirty="0"/>
                        <a:t>Full</a:t>
                      </a:r>
                      <a:r>
                        <a:rPr lang="en-IE" sz="2800" b="0" baseline="0" dirty="0"/>
                        <a:t> statement</a:t>
                      </a:r>
                      <a:endParaRPr lang="en-IE" sz="28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b="0" dirty="0"/>
                        <a:t>Shortcut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737">
                <a:tc rowSpan="4">
                  <a:txBody>
                    <a:bodyPr/>
                    <a:lstStyle/>
                    <a:p>
                      <a:endParaRPr lang="en-IE" sz="2800" dirty="0"/>
                    </a:p>
                    <a:p>
                      <a:endParaRPr lang="en-IE" sz="1800" dirty="0"/>
                    </a:p>
                    <a:p>
                      <a:r>
                        <a:rPr lang="en-IE" sz="2800" dirty="0"/>
                        <a:t>Mathematical</a:t>
                      </a:r>
                      <a:r>
                        <a:rPr lang="en-IE" sz="2800" baseline="0" dirty="0"/>
                        <a:t> shortcuts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 = x + a;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 </a:t>
                      </a:r>
                      <a:r>
                        <a:rPr lang="en-US" sz="2800" b="1" dirty="0"/>
                        <a:t>+=</a:t>
                      </a:r>
                      <a:r>
                        <a:rPr lang="en-US" sz="2800" dirty="0"/>
                        <a:t> a;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73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 = x - a;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x </a:t>
                      </a:r>
                      <a:r>
                        <a:rPr lang="en-US" sz="2800" b="1" dirty="0"/>
                        <a:t>-=</a:t>
                      </a:r>
                      <a:r>
                        <a:rPr lang="en-US" sz="2800" dirty="0"/>
                        <a:t> a;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73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 = x * a;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 </a:t>
                      </a:r>
                      <a:r>
                        <a:rPr lang="en-US" sz="2800" b="1" dirty="0"/>
                        <a:t>*=</a:t>
                      </a:r>
                      <a:r>
                        <a:rPr lang="en-US" sz="2800" dirty="0"/>
                        <a:t> a;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773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 = x/a;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x </a:t>
                      </a:r>
                      <a:r>
                        <a:rPr lang="en-US" sz="2800" b="1" dirty="0"/>
                        <a:t>/=</a:t>
                      </a:r>
                      <a:r>
                        <a:rPr lang="en-US" sz="2800" dirty="0"/>
                        <a:t>a;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291">
                <a:tc>
                  <a:txBody>
                    <a:bodyPr/>
                    <a:lstStyle/>
                    <a:p>
                      <a:pPr lvl="0">
                        <a:lnSpc>
                          <a:spcPct val="90000"/>
                        </a:lnSpc>
                        <a:buFontTx/>
                        <a:buNone/>
                      </a:pPr>
                      <a:r>
                        <a:rPr lang="en-US" sz="2800" dirty="0"/>
                        <a:t>Increment shortcut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x = x+1;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/>
                        <a:t>x</a:t>
                      </a:r>
                      <a:r>
                        <a:rPr lang="en-US" sz="2800" b="1" dirty="0"/>
                        <a:t>++</a:t>
                      </a:r>
                      <a:r>
                        <a:rPr lang="en-US" sz="2800" dirty="0"/>
                        <a:t>;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lvl="0">
                        <a:lnSpc>
                          <a:spcPct val="90000"/>
                        </a:lnSpc>
                        <a:buFontTx/>
                        <a:buNone/>
                      </a:pPr>
                      <a:r>
                        <a:rPr lang="en-US" sz="2800" dirty="0"/>
                        <a:t>Decrement shortcut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x = x - 1;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</a:t>
                      </a:r>
                      <a:r>
                        <a:rPr lang="en-US" sz="2800" b="1" dirty="0"/>
                        <a:t>--</a:t>
                      </a:r>
                      <a:r>
                        <a:rPr lang="en-US" sz="2800" dirty="0"/>
                        <a:t>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Donut 3"/>
          <p:cNvSpPr/>
          <p:nvPr/>
        </p:nvSpPr>
        <p:spPr>
          <a:xfrm>
            <a:off x="8915400" y="1905000"/>
            <a:ext cx="457200" cy="2667000"/>
          </a:xfrm>
          <a:prstGeom prst="donut">
            <a:avLst>
              <a:gd name="adj" fmla="val 3902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Donut 4"/>
          <p:cNvSpPr/>
          <p:nvPr/>
        </p:nvSpPr>
        <p:spPr>
          <a:xfrm>
            <a:off x="8915400" y="4335463"/>
            <a:ext cx="360000" cy="693738"/>
          </a:xfrm>
          <a:prstGeom prst="donut">
            <a:avLst>
              <a:gd name="adj" fmla="val 3902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Donut 5"/>
          <p:cNvSpPr/>
          <p:nvPr/>
        </p:nvSpPr>
        <p:spPr>
          <a:xfrm>
            <a:off x="8915400" y="5029201"/>
            <a:ext cx="228600" cy="457200"/>
          </a:xfrm>
          <a:prstGeom prst="donut">
            <a:avLst>
              <a:gd name="adj" fmla="val 3902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475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600200"/>
            <a:ext cx="11125200" cy="4525963"/>
          </a:xfrm>
        </p:spPr>
        <p:txBody>
          <a:bodyPr/>
          <a:lstStyle/>
          <a:p>
            <a:r>
              <a:rPr lang="en-IE" dirty="0"/>
              <a:t>These examples are straightforward uses of the </a:t>
            </a:r>
            <a:br>
              <a:rPr lang="en-IE" dirty="0"/>
            </a:br>
            <a:r>
              <a:rPr lang="en-IE" dirty="0"/>
              <a:t>arithmetic operators.</a:t>
            </a:r>
          </a:p>
          <a:p>
            <a:r>
              <a:rPr lang="en-IE" dirty="0"/>
              <a:t>However, we typically want to do more complex calculations involving many arithmetic operators.</a:t>
            </a:r>
          </a:p>
          <a:p>
            <a:r>
              <a:rPr lang="en-IE" dirty="0"/>
              <a:t>To do this, we need to understand the </a:t>
            </a:r>
            <a:r>
              <a:rPr lang="en-IE" b="1" dirty="0">
                <a:solidFill>
                  <a:srgbClr val="FF0000"/>
                </a:solidFill>
              </a:rPr>
              <a:t>Order of Evaluation</a:t>
            </a:r>
            <a:r>
              <a:rPr lang="en-IE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95207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1CAF7-6287-5C2D-53B4-EF7B36DF8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16A1E-F8C2-53E3-1373-E2CFBD08D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A017BC-4519-FFC2-2506-BB9D332311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Recap on Arithmetic Operators.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Compound Assignment Statements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Order of Evaluation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276E25-7CD2-FFA6-D04C-629EB9E529C2}"/>
              </a:ext>
            </a:extLst>
          </p:cNvPr>
          <p:cNvSpPr/>
          <p:nvPr/>
        </p:nvSpPr>
        <p:spPr>
          <a:xfrm>
            <a:off x="573741" y="3867664"/>
            <a:ext cx="4150659" cy="7620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7901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Order of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3200399"/>
          </a:xfrm>
        </p:spPr>
        <p:txBody>
          <a:bodyPr>
            <a:normAutofit/>
          </a:bodyPr>
          <a:lstStyle/>
          <a:p>
            <a:r>
              <a:rPr lang="en-IE" b="1" dirty="0">
                <a:solidFill>
                  <a:srgbClr val="FF0000"/>
                </a:solidFill>
              </a:rPr>
              <a:t>B</a:t>
            </a:r>
            <a:r>
              <a:rPr lang="en-IE" dirty="0"/>
              <a:t>rackets </a:t>
            </a:r>
            <a:r>
              <a:rPr lang="en-IE" b="1" dirty="0"/>
              <a:t>()</a:t>
            </a:r>
          </a:p>
          <a:p>
            <a:r>
              <a:rPr lang="en-IE" b="1" dirty="0">
                <a:solidFill>
                  <a:srgbClr val="FF0000"/>
                </a:solidFill>
              </a:rPr>
              <a:t>M</a:t>
            </a:r>
            <a:r>
              <a:rPr lang="en-IE" dirty="0"/>
              <a:t>ultiplication (</a:t>
            </a:r>
            <a:r>
              <a:rPr lang="en-IE" b="1" dirty="0"/>
              <a:t>*</a:t>
            </a:r>
            <a:r>
              <a:rPr lang="en-IE" dirty="0"/>
              <a:t>)</a:t>
            </a:r>
          </a:p>
          <a:p>
            <a:r>
              <a:rPr lang="en-IE" b="1" dirty="0">
                <a:solidFill>
                  <a:srgbClr val="FF0000"/>
                </a:solidFill>
              </a:rPr>
              <a:t>D</a:t>
            </a:r>
            <a:r>
              <a:rPr lang="en-IE" dirty="0"/>
              <a:t>ivision (</a:t>
            </a:r>
            <a:r>
              <a:rPr lang="en-IE" b="1" dirty="0"/>
              <a:t>/</a:t>
            </a:r>
            <a:r>
              <a:rPr lang="en-IE" dirty="0"/>
              <a:t>)</a:t>
            </a:r>
          </a:p>
          <a:p>
            <a:r>
              <a:rPr lang="en-IE" b="1" dirty="0">
                <a:solidFill>
                  <a:srgbClr val="FF0000"/>
                </a:solidFill>
              </a:rPr>
              <a:t>A</a:t>
            </a:r>
            <a:r>
              <a:rPr lang="en-IE" dirty="0"/>
              <a:t>ddition (</a:t>
            </a:r>
            <a:r>
              <a:rPr lang="en-IE" b="1" dirty="0"/>
              <a:t>+</a:t>
            </a:r>
            <a:r>
              <a:rPr lang="en-IE" dirty="0"/>
              <a:t>)</a:t>
            </a:r>
          </a:p>
          <a:p>
            <a:r>
              <a:rPr lang="en-IE" b="1" dirty="0">
                <a:solidFill>
                  <a:srgbClr val="FF0000"/>
                </a:solidFill>
              </a:rPr>
              <a:t>S</a:t>
            </a:r>
            <a:r>
              <a:rPr lang="en-IE" dirty="0"/>
              <a:t>ubtraction (</a:t>
            </a:r>
            <a:r>
              <a:rPr lang="en-IE" b="1" dirty="0"/>
              <a:t>-</a:t>
            </a:r>
            <a:r>
              <a:rPr lang="en-IE" dirty="0"/>
              <a:t>)</a:t>
            </a:r>
          </a:p>
          <a:p>
            <a:endParaRPr lang="en-IE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1981200" y="4572000"/>
            <a:ext cx="8229600" cy="1951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IE" dirty="0"/>
          </a:p>
          <a:p>
            <a:pPr marL="0" indent="0" algn="ctr">
              <a:buNone/>
            </a:pPr>
            <a:r>
              <a:rPr lang="en-IE" dirty="0" err="1">
                <a:solidFill>
                  <a:srgbClr val="FF0000"/>
                </a:solidFill>
              </a:rPr>
              <a:t>B</a:t>
            </a:r>
            <a:r>
              <a:rPr lang="en-IE" dirty="0" err="1"/>
              <a:t>o</a:t>
            </a:r>
            <a:r>
              <a:rPr lang="en-IE" dirty="0" err="1">
                <a:solidFill>
                  <a:srgbClr val="FF0000"/>
                </a:solidFill>
              </a:rPr>
              <a:t>MDAS</a:t>
            </a:r>
            <a:endParaRPr lang="en-IE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IE" dirty="0">
                <a:solidFill>
                  <a:srgbClr val="FF0000"/>
                </a:solidFill>
              </a:rPr>
              <a:t>B</a:t>
            </a:r>
            <a:r>
              <a:rPr lang="en-IE" dirty="0"/>
              <a:t>eware </a:t>
            </a:r>
            <a:r>
              <a:rPr lang="en-IE" dirty="0">
                <a:solidFill>
                  <a:srgbClr val="FF0000"/>
                </a:solidFill>
              </a:rPr>
              <a:t>M</a:t>
            </a:r>
            <a:r>
              <a:rPr lang="en-IE" dirty="0"/>
              <a:t>y </a:t>
            </a:r>
            <a:r>
              <a:rPr lang="en-IE" dirty="0">
                <a:solidFill>
                  <a:srgbClr val="FF0000"/>
                </a:solidFill>
              </a:rPr>
              <a:t>D</a:t>
            </a:r>
            <a:r>
              <a:rPr lang="en-IE" dirty="0"/>
              <a:t>ear </a:t>
            </a:r>
            <a:r>
              <a:rPr lang="en-IE" dirty="0">
                <a:solidFill>
                  <a:srgbClr val="FF0000"/>
                </a:solidFill>
              </a:rPr>
              <a:t>A</a:t>
            </a:r>
            <a:r>
              <a:rPr lang="en-IE" dirty="0"/>
              <a:t>unt </a:t>
            </a:r>
            <a:r>
              <a:rPr lang="en-IE" dirty="0">
                <a:solidFill>
                  <a:srgbClr val="FF0000"/>
                </a:solidFill>
              </a:rPr>
              <a:t>S</a:t>
            </a:r>
            <a:r>
              <a:rPr lang="en-IE" dirty="0"/>
              <a:t>ally</a:t>
            </a:r>
          </a:p>
        </p:txBody>
      </p:sp>
    </p:spTree>
    <p:extLst>
      <p:ext uri="{BB962C8B-B14F-4D97-AF65-F5344CB8AC3E}">
        <p14:creationId xmlns:p14="http://schemas.microsoft.com/office/powerpoint/2010/main" val="3335249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Order of Evaluation - </a:t>
            </a:r>
            <a:r>
              <a:rPr lang="en-IE" b="1" dirty="0"/>
              <a:t>Quiz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8229600" cy="3276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What are the results of these calculations?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	Q1: 		3+6*5-2</a:t>
            </a:r>
          </a:p>
          <a:p>
            <a:r>
              <a:rPr lang="en-IE" dirty="0"/>
              <a:t>	Q2:		3+6*(5-2)</a:t>
            </a:r>
          </a:p>
          <a:p>
            <a:r>
              <a:rPr lang="en-IE" dirty="0"/>
              <a:t>	Q3:		(3+6)*5-2</a:t>
            </a:r>
          </a:p>
          <a:p>
            <a:pPr marL="0" indent="0">
              <a:buNone/>
            </a:pPr>
            <a:endParaRPr lang="en-IE" dirty="0"/>
          </a:p>
        </p:txBody>
      </p:sp>
      <p:pic>
        <p:nvPicPr>
          <p:cNvPr id="4" name="Picture 2" descr="Image result for questions">
            <a:extLst>
              <a:ext uri="{FF2B5EF4-FFF2-40B4-BE49-F238E27FC236}">
                <a16:creationId xmlns:a16="http://schemas.microsoft.com/office/drawing/2014/main" id="{549E31E9-6BD2-1043-A9B8-BF667A6F7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600" y="465138"/>
            <a:ext cx="2357671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3294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021528B-859B-0F0C-6479-D9428D88B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b-local-vars</Template>
  <TotalTime>22</TotalTime>
  <Words>342</Words>
  <Application>Microsoft Macintosh PowerPoint</Application>
  <PresentationFormat>Widescreen</PresentationFormat>
  <Paragraphs>104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 Math</vt:lpstr>
      <vt:lpstr>Times New Roman</vt:lpstr>
      <vt:lpstr>a-processing-mouse-event-methods</vt:lpstr>
      <vt:lpstr>Miscellaneous</vt:lpstr>
      <vt:lpstr>Topics list</vt:lpstr>
      <vt:lpstr>Arithmetic Operators </vt:lpstr>
      <vt:lpstr>Topics list</vt:lpstr>
      <vt:lpstr>Compound Assignment Statements</vt:lpstr>
      <vt:lpstr>Arithmetic Operators</vt:lpstr>
      <vt:lpstr>Topics list</vt:lpstr>
      <vt:lpstr>Order of Evaluation</vt:lpstr>
      <vt:lpstr>Order of Evaluation - Quiz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types</dc:title>
  <dc:creator>Siobhan Drohan</dc:creator>
  <cp:lastModifiedBy>Mairead Meagher</cp:lastModifiedBy>
  <cp:revision>141</cp:revision>
  <dcterms:created xsi:type="dcterms:W3CDTF">2006-08-16T00:00:00Z</dcterms:created>
  <dcterms:modified xsi:type="dcterms:W3CDTF">2025-10-04T20:25:54Z</dcterms:modified>
</cp:coreProperties>
</file>