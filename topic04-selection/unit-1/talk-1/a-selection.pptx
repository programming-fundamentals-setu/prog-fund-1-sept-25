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21"/>
  </p:notesMasterIdLst>
  <p:handoutMasterIdLst>
    <p:handoutMasterId r:id="rId22"/>
  </p:handoutMasterIdLst>
  <p:sldIdLst>
    <p:sldId id="256" r:id="rId2"/>
    <p:sldId id="348" r:id="rId3"/>
    <p:sldId id="270" r:id="rId4"/>
    <p:sldId id="355" r:id="rId5"/>
    <p:sldId id="360" r:id="rId6"/>
    <p:sldId id="276" r:id="rId7"/>
    <p:sldId id="361" r:id="rId8"/>
    <p:sldId id="293" r:id="rId9"/>
    <p:sldId id="296" r:id="rId10"/>
    <p:sldId id="271" r:id="rId11"/>
    <p:sldId id="362" r:id="rId12"/>
    <p:sldId id="359" r:id="rId13"/>
    <p:sldId id="363" r:id="rId14"/>
    <p:sldId id="356" r:id="rId15"/>
    <p:sldId id="357" r:id="rId16"/>
    <p:sldId id="306" r:id="rId17"/>
    <p:sldId id="313" r:id="rId18"/>
    <p:sldId id="358" r:id="rId19"/>
    <p:sldId id="35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4F"/>
    <a:srgbClr val="009C5C"/>
    <a:srgbClr val="7F6F5E"/>
    <a:srgbClr val="C81D2B"/>
    <a:srgbClr val="1A3170"/>
    <a:srgbClr val="A57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5"/>
  </p:normalViewPr>
  <p:slideViewPr>
    <p:cSldViewPr>
      <p:cViewPr varScale="1">
        <p:scale>
          <a:sx n="109" d="100"/>
          <a:sy n="109" d="100"/>
        </p:scale>
        <p:origin x="760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2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758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75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69974D1-C273-1A44-83FD-CD5A69E869C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75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204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6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83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ED87-AC10-B89C-20DE-8013F002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76401945-7709-DF74-E0D9-8758BC07AB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>
            <a:extLst>
              <a:ext uri="{FF2B5EF4-FFF2-40B4-BE49-F238E27FC236}">
                <a16:creationId xmlns:a16="http://schemas.microsoft.com/office/drawing/2014/main" id="{C53D51BE-67ED-05B5-2346-21149BCF70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615B9518-7F24-DCB3-E90D-5328421EF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7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54503B63-6077-4B2E-7EFC-AFFF2CAED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F34A593F-867A-B84E-CC68-E199F9231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579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9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05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10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485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12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half multiple </a:t>
            </a:r>
            <a:r>
              <a:rPr lang="en-US" dirty="0" err="1"/>
              <a:t>ocurences</a:t>
            </a:r>
            <a:r>
              <a:rPr lang="en-US" dirty="0"/>
              <a:t> of “else if” </a:t>
            </a:r>
          </a:p>
        </p:txBody>
      </p:sp>
    </p:spTree>
    <p:extLst>
      <p:ext uri="{BB962C8B-B14F-4D97-AF65-F5344CB8AC3E}">
        <p14:creationId xmlns:p14="http://schemas.microsoft.com/office/powerpoint/2010/main" val="646854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E054-A482-661A-E72C-5437454B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98BA9EB9-9E4C-A193-9837-1A492941A4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>
            <a:extLst>
              <a:ext uri="{FF2B5EF4-FFF2-40B4-BE49-F238E27FC236}">
                <a16:creationId xmlns:a16="http://schemas.microsoft.com/office/drawing/2014/main" id="{1375909F-167B-F7A5-11C7-253D1E3452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36D45D92-73AD-B7A6-F0DE-2D55A13D4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95ABC380-CA8E-3E50-4B02-939E753D9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EFF46FC0-B7F8-6E55-6841-F9C59DAD2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6523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I would advise to use use them to avoid errors</a:t>
            </a:r>
            <a:r>
              <a:rPr lang="en-GB" baseline="0" dirty="0"/>
              <a:t> when updating programs later.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7875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Why?</a:t>
            </a:r>
          </a:p>
          <a:p>
            <a:pPr marL="171450" indent="-171450">
              <a:buFontTx/>
              <a:buChar char="-"/>
            </a:pPr>
            <a:r>
              <a:rPr lang="en-GB" dirty="0"/>
              <a:t>A simple</a:t>
            </a:r>
            <a:r>
              <a:rPr lang="en-GB" baseline="0" dirty="0"/>
              <a:t> statement ends in a semi colon</a:t>
            </a:r>
          </a:p>
          <a:p>
            <a:pPr marL="171450" indent="-171450">
              <a:buFontTx/>
              <a:buChar char="-"/>
            </a:pPr>
            <a:r>
              <a:rPr lang="en-GB" baseline="0" dirty="0"/>
              <a:t>A compound statement is a collection of statement surround by curly braces</a:t>
            </a:r>
          </a:p>
          <a:p>
            <a:pPr marL="171450" indent="-171450">
              <a:buFontTx/>
              <a:buChar char="-"/>
            </a:pPr>
            <a:r>
              <a:rPr lang="en-GB" baseline="0" dirty="0"/>
              <a:t>An if statement is the if keyword followed by a condition in brackets followed by compound statement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7184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8853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1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23484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9818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27121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1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9364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6138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2226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65391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68582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8154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00583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36371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81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javaguide.com/relational_operators.ht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Understanding </a:t>
            </a:r>
            <a:r>
              <a:rPr lang="en-GB"/>
              <a:t>class definitions 3</a:t>
            </a:r>
            <a:endParaRPr lang="en-GB" dirty="0"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580294"/>
            <a:ext cx="10134430" cy="523220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Selection – if statements</a:t>
            </a:r>
            <a:endParaRPr lang="en-GB" sz="2800" dirty="0">
              <a:ea typeface="+mn-ea"/>
              <a:cs typeface="+mn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</a:t>
            </a:r>
            <a:r>
              <a:rPr lang="en-IE" sz="1600" dirty="0" err="1"/>
              <a:t>www.setu.ie</a:t>
            </a:r>
            <a:r>
              <a:rPr lang="en-IE" sz="1600"/>
              <a:t>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D98B-EAD8-17AC-9CB8-C2BBF11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Upcoming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FC1126-1F70-0EA1-DCE5-D16434703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Conditional statements;</a:t>
            </a:r>
          </a:p>
          <a:p>
            <a:pPr marL="782638" lvl="1"/>
            <a:r>
              <a:rPr lang="en-US" altLang="en-US" dirty="0">
                <a:ea typeface="MS PGothic" charset="-128"/>
              </a:rPr>
              <a:t>When do we need them</a:t>
            </a:r>
          </a:p>
          <a:p>
            <a:pPr marL="782638" lvl="1"/>
            <a:r>
              <a:rPr lang="en-US" altLang="en-US" dirty="0">
                <a:ea typeface="MS PGothic" charset="-128"/>
              </a:rPr>
              <a:t>Syntax</a:t>
            </a:r>
          </a:p>
          <a:p>
            <a:pPr marL="782638" lvl="1"/>
            <a:r>
              <a:rPr lang="en-US" altLang="en-US" dirty="0">
                <a:ea typeface="MS PGothic" charset="-128"/>
              </a:rPr>
              <a:t>If </a:t>
            </a:r>
            <a:r>
              <a:rPr lang="en-US" altLang="en-US" dirty="0" err="1">
                <a:ea typeface="MS PGothic" charset="-128"/>
              </a:rPr>
              <a:t>stmt</a:t>
            </a:r>
            <a:r>
              <a:rPr lang="en-US" altLang="en-US" dirty="0">
                <a:ea typeface="MS PGothic" charset="-128"/>
              </a:rPr>
              <a:t>, if-else </a:t>
            </a:r>
            <a:r>
              <a:rPr lang="en-US" altLang="en-US" dirty="0" err="1">
                <a:ea typeface="MS PGothic" charset="-128"/>
              </a:rPr>
              <a:t>stmts</a:t>
            </a:r>
            <a:endParaRPr lang="en-US" altLang="en-US" dirty="0">
              <a:ea typeface="MS PGothic" charset="-128"/>
            </a:endParaRPr>
          </a:p>
          <a:p>
            <a:pPr marL="782638" lvl="1"/>
            <a:r>
              <a:rPr lang="en-US" altLang="en-US" dirty="0">
                <a:ea typeface="MS PGothic" charset="-128"/>
              </a:rPr>
              <a:t>Examples</a:t>
            </a:r>
          </a:p>
          <a:p>
            <a:pPr marL="382588"/>
            <a:r>
              <a:rPr lang="en-US" altLang="en-US" dirty="0">
                <a:ea typeface="MS PGothic" charset="-128"/>
              </a:rPr>
              <a:t>Local variables. (next </a:t>
            </a:r>
            <a:r>
              <a:rPr lang="en-US" altLang="en-US" dirty="0" err="1">
                <a:ea typeface="MS PGothic" charset="-128"/>
              </a:rPr>
              <a:t>slidedeck</a:t>
            </a:r>
            <a:r>
              <a:rPr lang="en-US" altLang="en-US" dirty="0">
                <a:ea typeface="MS PGothic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46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Reflecting on the ticket machines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>
                <a:ea typeface="+mn-ea"/>
                <a:cs typeface="+mn-cs"/>
              </a:rPr>
              <a:t>Their behavior is inadequate in several ways: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No checks on the amounts entered.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No refunds.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No checks for a sensible initialization.</a:t>
            </a:r>
          </a:p>
          <a:p>
            <a:pPr eaLnBrk="1" hangingPunct="1">
              <a:defRPr/>
            </a:pPr>
            <a:r>
              <a:rPr lang="en-US">
                <a:ea typeface="+mn-ea"/>
                <a:cs typeface="+mn-cs"/>
              </a:rPr>
              <a:t>How can we do better?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We need the ability to choose between different courses of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7270-F5C8-38C1-18BD-6F7B11A1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Conditionals – the if statement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041921-7F50-1E1B-D9D8-916D31098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670" y="1801442"/>
            <a:ext cx="4204447" cy="4525963"/>
          </a:xfrm>
          <a:prstGeom prst="rect">
            <a:avLst/>
          </a:prstGeom>
          <a:noFill/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BA4961D-9019-5941-C5E2-44B00673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0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E356-5A74-54D6-F90E-C0000329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2C9053EF-3838-CB2E-C031-45C009FFA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/>
              <a:t>Making choices in everyday life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28AC5360-7A2B-F340-D47B-7763CF24800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5384800" cy="2188839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pPr marL="0" indent="0">
              <a:buNone/>
            </a:pPr>
            <a:endParaRPr lang="en-GB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D04ADE-DD9B-F79A-9275-51C096D494BB}"/>
              </a:ext>
            </a:extLst>
          </p:cNvPr>
          <p:cNvGrpSpPr/>
          <p:nvPr/>
        </p:nvGrpSpPr>
        <p:grpSpPr>
          <a:xfrm>
            <a:off x="6492155" y="1600201"/>
            <a:ext cx="4795690" cy="2032484"/>
            <a:chOff x="2892002" y="1916832"/>
            <a:chExt cx="4417516" cy="1872208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F96B6B5C-92D0-44A6-0A7B-E2431F93B687}"/>
                </a:ext>
              </a:extLst>
            </p:cNvPr>
            <p:cNvSpPr/>
            <p:nvPr/>
          </p:nvSpPr>
          <p:spPr>
            <a:xfrm>
              <a:off x="2892002" y="1916832"/>
              <a:ext cx="1800200" cy="1872208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46762FCB-FC28-D412-B4B5-2C7615EEFD9E}"/>
                </a:ext>
              </a:extLst>
            </p:cNvPr>
            <p:cNvSpPr/>
            <p:nvPr/>
          </p:nvSpPr>
          <p:spPr>
            <a:xfrm>
              <a:off x="4717230" y="2600908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88A1C9A8-376D-284A-E78A-657F64D9414D}"/>
                </a:ext>
              </a:extLst>
            </p:cNvPr>
            <p:cNvSpPr/>
            <p:nvPr/>
          </p:nvSpPr>
          <p:spPr>
            <a:xfrm>
              <a:off x="6013374" y="2352581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Just Do it!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B248F7-DAE0-6FF7-1156-54D389EFEE24}"/>
                </a:ext>
              </a:extLst>
            </p:cNvPr>
            <p:cNvSpPr txBox="1"/>
            <p:nvPr/>
          </p:nvSpPr>
          <p:spPr>
            <a:xfrm>
              <a:off x="5231904" y="27089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C0AD28A-A431-C243-E5AA-69859C014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167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(1)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34138" y="3680801"/>
            <a:ext cx="76290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872044" y="4237400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2067198" y="3212976"/>
            <a:ext cx="8258688" cy="184780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TextBox 2"/>
          <p:cNvSpPr txBox="1"/>
          <p:nvPr/>
        </p:nvSpPr>
        <p:spPr>
          <a:xfrm>
            <a:off x="15328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071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FCE5A-6E4F-798E-1AC6-8B65ACA5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E64DE0F6-CB72-FC7D-00F8-DD16D9C0C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(1) 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A6D230AE-022D-FDFE-5073-2C87699AE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844824"/>
            <a:ext cx="663675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105A7-A16D-95C9-C7FE-11852CD9F45D}"/>
              </a:ext>
            </a:extLst>
          </p:cNvPr>
          <p:cNvSpPr txBox="1"/>
          <p:nvPr/>
        </p:nvSpPr>
        <p:spPr>
          <a:xfrm>
            <a:off x="2817671" y="5661248"/>
            <a:ext cx="551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conditional statement avoids an inappropriate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149A0-1148-9C6B-9119-96610A48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34317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Making choices in everyday life (2)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r>
              <a:rPr lang="en-GB" altLang="en-US" sz="3200" dirty="0"/>
              <a:t>Otherwise I will go to the Gym</a:t>
            </a:r>
            <a:endParaRPr lang="en-US" dirty="0"/>
          </a:p>
          <a:p>
            <a:endParaRPr lang="en-GB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964897-A944-0134-49D9-2FA76A199444}"/>
              </a:ext>
            </a:extLst>
          </p:cNvPr>
          <p:cNvGrpSpPr/>
          <p:nvPr/>
        </p:nvGrpSpPr>
        <p:grpSpPr>
          <a:xfrm>
            <a:off x="6529608" y="1600201"/>
            <a:ext cx="4795690" cy="4525963"/>
            <a:chOff x="2892002" y="1916832"/>
            <a:chExt cx="4417516" cy="4169059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C6D22CD9-A7BF-21C4-3E8D-20166D90545D}"/>
                </a:ext>
              </a:extLst>
            </p:cNvPr>
            <p:cNvSpPr/>
            <p:nvPr/>
          </p:nvSpPr>
          <p:spPr>
            <a:xfrm>
              <a:off x="2892002" y="1916832"/>
              <a:ext cx="1800200" cy="1872208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938698A8-1757-FD75-40DF-E0F881582ACA}"/>
                </a:ext>
              </a:extLst>
            </p:cNvPr>
            <p:cNvSpPr/>
            <p:nvPr/>
          </p:nvSpPr>
          <p:spPr>
            <a:xfrm>
              <a:off x="4717230" y="2600908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/>
            </a:p>
          </p:txBody>
        </p:sp>
        <p:sp>
          <p:nvSpPr>
            <p:cNvPr id="5" name="Right Arrow 4">
              <a:extLst>
                <a:ext uri="{FF2B5EF4-FFF2-40B4-BE49-F238E27FC236}">
                  <a16:creationId xmlns:a16="http://schemas.microsoft.com/office/drawing/2014/main" id="{51103EC7-E323-EF35-4DE0-59EC1547CC5E}"/>
                </a:ext>
              </a:extLst>
            </p:cNvPr>
            <p:cNvSpPr/>
            <p:nvPr/>
          </p:nvSpPr>
          <p:spPr>
            <a:xfrm rot="5400000">
              <a:off x="3144030" y="4185084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709C3EBA-99CF-33A9-FC4C-A8CF5F625EAC}"/>
                </a:ext>
              </a:extLst>
            </p:cNvPr>
            <p:cNvSpPr/>
            <p:nvPr/>
          </p:nvSpPr>
          <p:spPr>
            <a:xfrm>
              <a:off x="6013374" y="2352582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dirty="0"/>
                <a:t>Just Do it!</a:t>
              </a:r>
              <a:endParaRPr lang="en-US" dirty="0"/>
            </a:p>
          </p:txBody>
        </p:sp>
        <p:sp>
          <p:nvSpPr>
            <p:cNvPr id="8" name="Process 7">
              <a:extLst>
                <a:ext uri="{FF2B5EF4-FFF2-40B4-BE49-F238E27FC236}">
                  <a16:creationId xmlns:a16="http://schemas.microsoft.com/office/drawing/2014/main" id="{D293AC4E-A84D-5A61-9186-5CE8029ADC53}"/>
                </a:ext>
              </a:extLst>
            </p:cNvPr>
            <p:cNvSpPr/>
            <p:nvPr/>
          </p:nvSpPr>
          <p:spPr>
            <a:xfrm>
              <a:off x="3215680" y="5085184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Go to Gym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8CC582-C776-32FC-1D7E-492E5757E136}"/>
                </a:ext>
              </a:extLst>
            </p:cNvPr>
            <p:cNvSpPr txBox="1"/>
            <p:nvPr/>
          </p:nvSpPr>
          <p:spPr>
            <a:xfrm>
              <a:off x="5231904" y="27089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567E5-0B19-1C91-EC06-DC4DA7C2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(2)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62200" y="3117850"/>
            <a:ext cx="7729538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else 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false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b="1" dirty="0">
                <a:latin typeface="Courier New" pitchFamily="49" charset="0"/>
              </a:rPr>
              <a:t> 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438401" y="2055813"/>
            <a:ext cx="14098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‘if’ keyword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572000" y="1905001"/>
            <a:ext cx="3810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 err="1">
                <a:solidFill>
                  <a:srgbClr val="A57133"/>
                </a:solidFill>
              </a:rPr>
              <a:t>boolean</a:t>
            </a:r>
            <a:r>
              <a:rPr lang="en-US" sz="2000" dirty="0">
                <a:solidFill>
                  <a:srgbClr val="A57133"/>
                </a:solidFill>
              </a:rPr>
              <a:t> condition to be tested</a:t>
            </a:r>
            <a:endParaRPr lang="en-US" sz="2000" dirty="0">
              <a:solidFill>
                <a:srgbClr val="A57133"/>
              </a:solidFill>
              <a:latin typeface="Times New Roman" pitchFamily="18" charset="0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6781801" y="2513013"/>
            <a:ext cx="28948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true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6477000" y="5103814"/>
            <a:ext cx="3352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false</a:t>
            </a: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2590800" y="5256213"/>
            <a:ext cx="1664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>
                <a:solidFill>
                  <a:srgbClr val="A57133"/>
                </a:solidFill>
              </a:rPr>
              <a:t>‘else’ keyword</a:t>
            </a:r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H="1">
            <a:off x="2667000" y="24384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 flipH="1" flipV="1">
            <a:off x="2743200" y="42672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 flipH="1">
            <a:off x="4267200" y="2286000"/>
            <a:ext cx="1905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 flipH="1">
            <a:off x="7696200" y="28956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 flipH="1" flipV="1">
            <a:off x="7010400" y="46482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b="1"/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2895600" y="4243388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 b="1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895600" y="3429000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 b="1"/>
          </a:p>
        </p:txBody>
      </p:sp>
      <p:sp>
        <p:nvSpPr>
          <p:cNvPr id="16" name="Rectangle 15"/>
          <p:cNvSpPr/>
          <p:nvPr/>
        </p:nvSpPr>
        <p:spPr>
          <a:xfrm>
            <a:off x="2057400" y="1752600"/>
            <a:ext cx="8305800" cy="4419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903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/>
      <p:bldP spid="24582" grpId="0"/>
      <p:bldP spid="24583" grpId="0"/>
      <p:bldP spid="24584" grpId="0"/>
      <p:bldP spid="24585" grpId="0" animBg="1"/>
      <p:bldP spid="24586" grpId="0" animBg="1"/>
      <p:bldP spid="24587" grpId="0" animBg="1"/>
      <p:bldP spid="24588" grpId="0" animBg="1"/>
      <p:bldP spid="2458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(2)</a:t>
            </a:r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1631504" y="1844824"/>
            <a:ext cx="7742825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else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System.out.printf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br>
              <a:rPr lang="en-US" altLang="en-US" sz="240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   "Use a positive amount: %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d%n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",</a:t>
            </a:r>
            <a:br>
              <a:rPr lang="en-US" altLang="en-US" sz="240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    amount);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17671" y="5661248"/>
            <a:ext cx="551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conditional statement avoids an inappropriate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8DDF6-29CC-488C-2927-B2CF39E84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A519C-088B-71A0-55F9-1DE850CD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CE71C172-2413-DFCA-2FB5-3F7C55A08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Making choices in everyday life (3)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1E67BD42-8EF1-DD0E-145F-3FF7AD4975E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4857392" cy="4525963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r>
              <a:rPr lang="en-GB" altLang="en-US" sz="3200" dirty="0"/>
              <a:t>Otherwise </a:t>
            </a:r>
            <a:r>
              <a:rPr lang="en-IE" altLang="en-US" sz="3200" dirty="0"/>
              <a:t>if I am a member of a gym, go to the gym</a:t>
            </a:r>
          </a:p>
          <a:p>
            <a:r>
              <a:rPr lang="en-IE" sz="3200" dirty="0"/>
              <a:t>Otherwise I will go for a run</a:t>
            </a:r>
            <a:endParaRPr lang="en-US" dirty="0"/>
          </a:p>
          <a:p>
            <a:endParaRPr lang="en-GB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3418C-AD97-5D99-1130-1CAF2694E733}"/>
              </a:ext>
            </a:extLst>
          </p:cNvPr>
          <p:cNvSpPr txBox="1"/>
          <p:nvPr/>
        </p:nvSpPr>
        <p:spPr>
          <a:xfrm>
            <a:off x="7800563" y="2632713"/>
            <a:ext cx="271010" cy="400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C2B05F-789E-9A0D-4094-2DBBAD885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65D3738C-BD9E-4240-BB18-D46D617922B9}"/>
              </a:ext>
            </a:extLst>
          </p:cNvPr>
          <p:cNvGrpSpPr/>
          <p:nvPr/>
        </p:nvGrpSpPr>
        <p:grpSpPr>
          <a:xfrm>
            <a:off x="6094160" y="1817263"/>
            <a:ext cx="4968552" cy="4987921"/>
            <a:chOff x="4367808" y="1772817"/>
            <a:chExt cx="4968552" cy="4987921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14BFD934-8BF7-C0EB-A471-32C431055967}"/>
                </a:ext>
              </a:extLst>
            </p:cNvPr>
            <p:cNvSpPr/>
            <p:nvPr/>
          </p:nvSpPr>
          <p:spPr>
            <a:xfrm>
              <a:off x="4367808" y="1772817"/>
              <a:ext cx="1901028" cy="1291974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 dirty="0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667F6C9B-5CD1-022D-FEA3-6C5A9C4009CB}"/>
                </a:ext>
              </a:extLst>
            </p:cNvPr>
            <p:cNvSpPr/>
            <p:nvPr/>
          </p:nvSpPr>
          <p:spPr>
            <a:xfrm>
              <a:off x="6269022" y="2194681"/>
              <a:ext cx="1523523" cy="4090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 dirty="0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8ECD6C22-EA17-CBEC-15A9-C8E82D94A83B}"/>
                </a:ext>
              </a:extLst>
            </p:cNvPr>
            <p:cNvSpPr/>
            <p:nvPr/>
          </p:nvSpPr>
          <p:spPr>
            <a:xfrm>
              <a:off x="7812837" y="1993143"/>
              <a:ext cx="1523523" cy="812160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dirty="0"/>
                <a:t>Just Do it!</a:t>
              </a:r>
              <a:endParaRPr lang="en-US" dirty="0"/>
            </a:p>
          </p:txBody>
        </p:sp>
        <p:sp>
          <p:nvSpPr>
            <p:cNvPr id="2" name="Decision 1">
              <a:extLst>
                <a:ext uri="{FF2B5EF4-FFF2-40B4-BE49-F238E27FC236}">
                  <a16:creationId xmlns:a16="http://schemas.microsoft.com/office/drawing/2014/main" id="{8124FB81-879C-11B2-1770-31C91EC3E381}"/>
                </a:ext>
              </a:extLst>
            </p:cNvPr>
            <p:cNvSpPr/>
            <p:nvPr/>
          </p:nvSpPr>
          <p:spPr>
            <a:xfrm>
              <a:off x="4497940" y="4127676"/>
              <a:ext cx="1640762" cy="1101525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4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Am I a member of a gym?</a:t>
              </a:r>
              <a:endParaRPr lang="en-US" sz="1400" dirty="0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5D6AFEEC-2A75-76EE-462A-386672190E51}"/>
                </a:ext>
              </a:extLst>
            </p:cNvPr>
            <p:cNvSpPr/>
            <p:nvPr/>
          </p:nvSpPr>
          <p:spPr>
            <a:xfrm>
              <a:off x="6145724" y="4473896"/>
              <a:ext cx="1523523" cy="4090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 dirty="0"/>
            </a:p>
          </p:txBody>
        </p:sp>
        <p:sp>
          <p:nvSpPr>
            <p:cNvPr id="13" name="Process 12">
              <a:extLst>
                <a:ext uri="{FF2B5EF4-FFF2-40B4-BE49-F238E27FC236}">
                  <a16:creationId xmlns:a16="http://schemas.microsoft.com/office/drawing/2014/main" id="{7B95F671-5258-E198-391E-4513EDEA89D1}"/>
                </a:ext>
              </a:extLst>
            </p:cNvPr>
            <p:cNvSpPr/>
            <p:nvPr/>
          </p:nvSpPr>
          <p:spPr>
            <a:xfrm>
              <a:off x="7676268" y="4272357"/>
              <a:ext cx="1523523" cy="812160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Go to the gym</a:t>
              </a:r>
              <a:endParaRPr lang="en-US" dirty="0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EB47B363-2D10-C825-AAA5-36E4B71115DB}"/>
                </a:ext>
              </a:extLst>
            </p:cNvPr>
            <p:cNvSpPr/>
            <p:nvPr/>
          </p:nvSpPr>
          <p:spPr>
            <a:xfrm rot="5400000">
              <a:off x="4866667" y="5525353"/>
              <a:ext cx="903141" cy="2984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 dirty="0"/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F6F9178F-88E1-5E88-20BE-94D7EE42DB21}"/>
                </a:ext>
              </a:extLst>
            </p:cNvPr>
            <p:cNvSpPr/>
            <p:nvPr/>
          </p:nvSpPr>
          <p:spPr>
            <a:xfrm rot="5400000">
              <a:off x="4778011" y="3302660"/>
              <a:ext cx="1101526" cy="62578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 dirty="0"/>
            </a:p>
          </p:txBody>
        </p:sp>
        <p:sp>
          <p:nvSpPr>
            <p:cNvPr id="31" name="Process 30">
              <a:extLst>
                <a:ext uri="{FF2B5EF4-FFF2-40B4-BE49-F238E27FC236}">
                  <a16:creationId xmlns:a16="http://schemas.microsoft.com/office/drawing/2014/main" id="{D8315F1E-C916-1F6D-41C1-6C4EB638A79C}"/>
                </a:ext>
              </a:extLst>
            </p:cNvPr>
            <p:cNvSpPr/>
            <p:nvPr/>
          </p:nvSpPr>
          <p:spPr>
            <a:xfrm>
              <a:off x="4560413" y="6148090"/>
              <a:ext cx="1523523" cy="612648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Go for a run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512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(3)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162533" y="1897082"/>
            <a:ext cx="79047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  <a:p>
            <a:r>
              <a:rPr lang="en-US" b="1" dirty="0">
                <a:latin typeface="Courier New" pitchFamily="49" charset="0"/>
                <a:cs typeface="Times" pitchFamily="-32" charset="0"/>
              </a:rPr>
              <a:t>else 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condition2…perform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false </a:t>
            </a:r>
            <a:b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</a:b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  result and condition2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b="1" dirty="0">
                <a:latin typeface="Courier New" pitchFamily="49" charset="0"/>
              </a:rPr>
              <a:t>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else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{</a:t>
            </a:r>
          </a:p>
          <a:p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both condition1 and </a:t>
            </a:r>
          </a:p>
          <a:p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  condition2 gave a false result</a:t>
            </a:r>
            <a:endParaRPr lang="en-US" b="1" dirty="0">
              <a:solidFill>
                <a:srgbClr val="00B050"/>
              </a:solidFill>
              <a:latin typeface="Courier New" pitchFamily="49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}</a:t>
            </a:r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2724286" y="3604895"/>
            <a:ext cx="7371328" cy="633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695933" y="2461895"/>
            <a:ext cx="7371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2695933" y="4900295"/>
            <a:ext cx="7371328" cy="633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2" name="Rectangle 1"/>
          <p:cNvSpPr/>
          <p:nvPr/>
        </p:nvSpPr>
        <p:spPr>
          <a:xfrm>
            <a:off x="2057400" y="1752600"/>
            <a:ext cx="8305800" cy="4419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5-Point Star 5"/>
          <p:cNvSpPr/>
          <p:nvPr/>
        </p:nvSpPr>
        <p:spPr>
          <a:xfrm>
            <a:off x="1599894" y="2971800"/>
            <a:ext cx="533400" cy="457200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49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9D09-F4F7-81A9-BB49-A1961C2A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B3EBDA19-B0CA-FF24-A4E3-35D84CCFC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(3)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2CDA4B6D-7D8D-D629-6D49-C481D307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844824"/>
            <a:ext cx="6821098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specialOffer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&gt;100)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+ 50;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if amount &gt; 50{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+ 25;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amount = amount + 5;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3AC94E-0F7C-95B1-4362-1BBDC100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EE4EC2-6E4A-26A9-7252-DFC158659CE5}"/>
              </a:ext>
            </a:extLst>
          </p:cNvPr>
          <p:cNvSpPr txBox="1"/>
          <p:nvPr/>
        </p:nvSpPr>
        <p:spPr>
          <a:xfrm>
            <a:off x="9048328" y="3356992"/>
            <a:ext cx="2160240" cy="20313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  <a:alpha val="62000"/>
              </a:schemeClr>
            </a:solidFill>
          </a:ln>
          <a:effectLst>
            <a:outerShdw blurRad="50800" dist="50800" dir="5400000" algn="ctr" rotWithShape="0">
              <a:srgbClr val="000000">
                <a:alpha val="68539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Note that if any condition is true, the associated statements are executed AND the if statement is finished.</a:t>
            </a:r>
          </a:p>
        </p:txBody>
      </p:sp>
    </p:spTree>
    <p:extLst>
      <p:ext uri="{BB962C8B-B14F-4D97-AF65-F5344CB8AC3E}">
        <p14:creationId xmlns:p14="http://schemas.microsoft.com/office/powerpoint/2010/main" val="20003476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</a:t>
            </a:r>
            <a:r>
              <a:rPr lang="en-IE" b="1" dirty="0"/>
              <a:t>true</a:t>
            </a:r>
            <a:r>
              <a:rPr lang="en-IE" dirty="0"/>
              <a:t> or </a:t>
            </a:r>
            <a:r>
              <a:rPr lang="en-IE" b="1" dirty="0"/>
              <a:t>false</a:t>
            </a:r>
            <a:r>
              <a:rPr lang="en-IE" dirty="0"/>
              <a:t> e.g.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price </a:t>
            </a:r>
            <a:r>
              <a:rPr lang="en-IE" sz="2800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 </a:t>
            </a:r>
          </a:p>
          <a:p>
            <a:pPr marL="0" indent="0">
              <a:buNone/>
            </a:pPr>
            <a:endParaRPr lang="en-IE" sz="2800" dirty="0">
              <a:solidFill>
                <a:schemeClr val="accent4">
                  <a:lumMod val="50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IE" dirty="0"/>
              <a:t>An if statement evaluates a </a:t>
            </a:r>
            <a:r>
              <a:rPr lang="en-IE" b="1" dirty="0" err="1"/>
              <a:t>boolean</a:t>
            </a:r>
            <a:r>
              <a:rPr lang="en-IE" b="1" dirty="0"/>
              <a:t> condition </a:t>
            </a:r>
            <a:r>
              <a:rPr lang="en-IE" dirty="0"/>
              <a:t>and its result will determine which portion of the if statement is executed.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29080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1" y="2133600"/>
            <a:ext cx="7102549" cy="34163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nonymous" pitchFamily="49" charset="0"/>
                <a:ea typeface="ＭＳ Ｐゴシック" pitchFamily="28" charset="-128"/>
              </a:rPr>
              <a:t>// Do these statements before.</a:t>
            </a:r>
          </a:p>
          <a:p>
            <a:endParaRPr lang="en-US" sz="2400" b="1" dirty="0">
              <a:solidFill>
                <a:srgbClr val="FF0000"/>
              </a:solidFill>
              <a:latin typeface="Anonymous" pitchFamily="49" charset="0"/>
              <a:ea typeface="ＭＳ Ｐゴシック" pitchFamily="28" charset="-128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if (</a:t>
            </a:r>
            <a:r>
              <a:rPr lang="en-US" sz="2400" b="1" dirty="0" err="1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boolean</a:t>
            </a:r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 condition) </a:t>
            </a: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{</a:t>
            </a:r>
          </a:p>
          <a:p>
            <a:r>
              <a:rPr lang="en-US" sz="2400" b="1" dirty="0">
                <a:solidFill>
                  <a:srgbClr val="00B050"/>
                </a:solidFill>
                <a:latin typeface="Anonymous" pitchFamily="49" charset="0"/>
                <a:ea typeface="ＭＳ Ｐゴシック" pitchFamily="28" charset="-128"/>
              </a:rPr>
              <a:t>     // Perform this clause if the </a:t>
            </a:r>
          </a:p>
          <a:p>
            <a:r>
              <a:rPr lang="en-US" sz="2400" b="1" dirty="0">
                <a:solidFill>
                  <a:srgbClr val="00B050"/>
                </a:solidFill>
                <a:latin typeface="Anonymous" pitchFamily="49" charset="0"/>
                <a:ea typeface="ＭＳ Ｐゴシック" pitchFamily="28" charset="-128"/>
              </a:rPr>
              <a:t>	// condition is true.</a:t>
            </a: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}</a:t>
            </a:r>
          </a:p>
          <a:p>
            <a:endParaRPr lang="en-US" sz="2400" b="1" dirty="0">
              <a:solidFill>
                <a:srgbClr val="FF0000"/>
              </a:solidFill>
              <a:latin typeface="Anonymous" pitchFamily="49" charset="0"/>
              <a:ea typeface="ＭＳ Ｐゴシック" pitchFamily="28" charset="-128"/>
            </a:endParaRPr>
          </a:p>
          <a:p>
            <a:r>
              <a:rPr lang="en-US" sz="2400" b="1" dirty="0">
                <a:solidFill>
                  <a:schemeClr val="tx2"/>
                </a:solidFill>
                <a:latin typeface="Anonymous" pitchFamily="49" charset="0"/>
                <a:ea typeface="ＭＳ Ｐゴシック" pitchFamily="28" charset="-128"/>
              </a:rPr>
              <a:t>// Do these statements after.</a:t>
            </a:r>
          </a:p>
        </p:txBody>
      </p:sp>
    </p:spTree>
    <p:extLst>
      <p:ext uri="{BB962C8B-B14F-4D97-AF65-F5344CB8AC3E}">
        <p14:creationId xmlns:p14="http://schemas.microsoft.com/office/powerpoint/2010/main" val="3669506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 Relational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524001"/>
          <a:ext cx="8382000" cy="38013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Operator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Use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Returns true if…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 op2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l-NL" sz="2400" dirty="0">
                          <a:effectLst/>
                        </a:rPr>
                        <a:t>op1 is </a:t>
                      </a:r>
                      <a:r>
                        <a:rPr lang="nl-NL" sz="2400" b="1" dirty="0">
                          <a:effectLst/>
                        </a:rPr>
                        <a:t>greater</a:t>
                      </a:r>
                      <a:r>
                        <a:rPr lang="nl-NL" sz="2400" dirty="0">
                          <a:effectLst/>
                        </a:rPr>
                        <a:t> than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greater than or equal</a:t>
                      </a:r>
                      <a:r>
                        <a:rPr lang="en-IE" sz="2400" dirty="0">
                          <a:effectLst/>
                        </a:rPr>
                        <a:t>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</a:t>
                      </a:r>
                      <a:r>
                        <a:rPr lang="en-IE" sz="2400" dirty="0">
                          <a:effectLst/>
                        </a:rPr>
                        <a:t> than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 than or equal </a:t>
                      </a:r>
                      <a:r>
                        <a:rPr lang="en-IE" sz="2400" dirty="0">
                          <a:effectLst/>
                        </a:rPr>
                        <a:t>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==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==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!=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!=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not 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19600" y="6488668"/>
            <a:ext cx="6248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600" dirty="0"/>
              <a:t>Source: </a:t>
            </a:r>
            <a:r>
              <a:rPr lang="en-IE" sz="1600" dirty="0">
                <a:hlinkClick r:id="rId2"/>
              </a:rPr>
              <a:t>http://www.freejavaguide.com/relational_operators.htm</a:t>
            </a:r>
            <a:r>
              <a:rPr lang="en-IE" sz="16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5604" y="5867401"/>
            <a:ext cx="6813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BEWARE </a:t>
            </a:r>
            <a:r>
              <a:rPr lang="en-GB" b="1" dirty="0">
                <a:solidFill>
                  <a:srgbClr val="FF0000"/>
                </a:solidFill>
              </a:rPr>
              <a:t>=</a:t>
            </a:r>
            <a:r>
              <a:rPr lang="en-GB" dirty="0">
                <a:solidFill>
                  <a:srgbClr val="FF0000"/>
                </a:solidFill>
              </a:rPr>
              <a:t> is an assignment operator. </a:t>
            </a:r>
          </a:p>
          <a:p>
            <a:r>
              <a:rPr lang="en-GB" dirty="0">
                <a:solidFill>
                  <a:srgbClr val="FF0000"/>
                </a:solidFill>
              </a:rPr>
              <a:t>It doesn’t test for equality. Use </a:t>
            </a:r>
            <a:r>
              <a:rPr lang="en-GB" b="1" dirty="0">
                <a:solidFill>
                  <a:srgbClr val="FF0000"/>
                </a:solidFill>
              </a:rPr>
              <a:t>==</a:t>
            </a:r>
            <a:r>
              <a:rPr lang="en-GB" dirty="0">
                <a:solidFill>
                  <a:srgbClr val="FF0000"/>
                </a:solidFill>
              </a:rPr>
              <a:t> to test for equality in primitive types</a:t>
            </a:r>
          </a:p>
        </p:txBody>
      </p:sp>
    </p:spTree>
    <p:extLst>
      <p:ext uri="{BB962C8B-B14F-4D97-AF65-F5344CB8AC3E}">
        <p14:creationId xmlns:p14="http://schemas.microsoft.com/office/powerpoint/2010/main" val="163129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notes on the if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An if statement </a:t>
            </a:r>
            <a:r>
              <a:rPr lang="en-IE" dirty="0">
                <a:solidFill>
                  <a:srgbClr val="FF0000"/>
                </a:solidFill>
              </a:rPr>
              <a:t>IS</a:t>
            </a:r>
            <a:r>
              <a:rPr lang="en-IE" dirty="0"/>
              <a:t> a </a:t>
            </a:r>
            <a:r>
              <a:rPr lang="en-IE" b="1" dirty="0"/>
              <a:t>statement</a:t>
            </a:r>
            <a:r>
              <a:rPr lang="en-IE" dirty="0"/>
              <a:t>; </a:t>
            </a:r>
            <a:br>
              <a:rPr lang="en-IE" dirty="0"/>
            </a:br>
            <a:r>
              <a:rPr lang="en-IE" dirty="0"/>
              <a:t>	it is only executed once.</a:t>
            </a:r>
          </a:p>
          <a:p>
            <a:r>
              <a:rPr lang="en-IE" dirty="0"/>
              <a:t>When your if statement only has </a:t>
            </a:r>
            <a:r>
              <a:rPr lang="en-IE" u="sng" dirty="0"/>
              <a:t>one</a:t>
            </a:r>
            <a:r>
              <a:rPr lang="en-IE" dirty="0"/>
              <a:t> statement inside it, you do not need to use the curly braces.</a:t>
            </a:r>
          </a:p>
          <a:p>
            <a:r>
              <a:rPr lang="en-IE" dirty="0"/>
              <a:t>For example, both of these are the same:</a:t>
            </a:r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2667000" y="4840070"/>
            <a:ext cx="29718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price = 50;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 </a:t>
            </a: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384032" y="4978569"/>
            <a:ext cx="297180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price = 50;</a:t>
            </a:r>
          </a:p>
        </p:txBody>
      </p:sp>
    </p:spTree>
    <p:extLst>
      <p:ext uri="{BB962C8B-B14F-4D97-AF65-F5344CB8AC3E}">
        <p14:creationId xmlns:p14="http://schemas.microsoft.com/office/powerpoint/2010/main" val="93314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notes on the if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semi-colon (</a:t>
            </a:r>
            <a:r>
              <a:rPr lang="en-IE" b="1" dirty="0"/>
              <a:t>;</a:t>
            </a:r>
            <a:r>
              <a:rPr lang="en-IE" dirty="0"/>
              <a:t>) is a </a:t>
            </a:r>
            <a:r>
              <a:rPr lang="en-IE" b="1" dirty="0"/>
              <a:t>statement terminator</a:t>
            </a:r>
            <a:r>
              <a:rPr lang="en-IE" dirty="0"/>
              <a:t>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4610100" y="2947479"/>
            <a:ext cx="29718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en-IE" dirty="0" err="1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rect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(0, 0, 50, 100) ;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 </a:t>
            </a:r>
            <a:endParaRPr lang="en-IE" dirty="0"/>
          </a:p>
        </p:txBody>
      </p:sp>
      <p:sp>
        <p:nvSpPr>
          <p:cNvPr id="2" name="Oval 1"/>
          <p:cNvSpPr/>
          <p:nvPr/>
        </p:nvSpPr>
        <p:spPr>
          <a:xfrm>
            <a:off x="6816080" y="3284016"/>
            <a:ext cx="152400" cy="97609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b="1" dirty="0"/>
          </a:p>
        </p:txBody>
      </p:sp>
      <p:sp>
        <p:nvSpPr>
          <p:cNvPr id="6" name="Left Arrow 5"/>
          <p:cNvSpPr/>
          <p:nvPr/>
        </p:nvSpPr>
        <p:spPr>
          <a:xfrm rot="820408">
            <a:off x="6169718" y="3294826"/>
            <a:ext cx="2783160" cy="268345"/>
          </a:xfrm>
          <a:prstGeom prst="leftArrow">
            <a:avLst>
              <a:gd name="adj1" fmla="val 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8863716" y="3429000"/>
            <a:ext cx="1752600" cy="7078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No semi-colon needed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C40B62-FD9D-F06E-C2CF-FE9F8035F4F9}"/>
              </a:ext>
            </a:extLst>
          </p:cNvPr>
          <p:cNvSpPr txBox="1"/>
          <p:nvPr/>
        </p:nvSpPr>
        <p:spPr>
          <a:xfrm>
            <a:off x="4943872" y="5064336"/>
            <a:ext cx="1752600" cy="7078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No semi-colon needed here</a:t>
            </a: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024E6194-C19D-4EEF-0A92-D0337CD58009}"/>
              </a:ext>
            </a:extLst>
          </p:cNvPr>
          <p:cNvSpPr/>
          <p:nvPr/>
        </p:nvSpPr>
        <p:spPr>
          <a:xfrm rot="2969422">
            <a:off x="4670779" y="4362194"/>
            <a:ext cx="1445982" cy="289225"/>
          </a:xfrm>
          <a:prstGeom prst="leftArrow">
            <a:avLst>
              <a:gd name="adj1" fmla="val 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0B0C3-4CF6-F722-66FB-94F3A279831F}"/>
              </a:ext>
            </a:extLst>
          </p:cNvPr>
          <p:cNvSpPr txBox="1"/>
          <p:nvPr/>
        </p:nvSpPr>
        <p:spPr>
          <a:xfrm>
            <a:off x="9485575" y="5211871"/>
            <a:ext cx="1752600" cy="70788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Semi-colon </a:t>
            </a:r>
            <a:r>
              <a:rPr lang="en-IE" sz="2000" b="1" dirty="0"/>
              <a:t>IS </a:t>
            </a:r>
            <a:r>
              <a:rPr lang="en-IE" sz="2000" dirty="0"/>
              <a:t>needed here</a:t>
            </a:r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0EC9097B-0C94-BE25-8BC3-C361ECBB5A44}"/>
              </a:ext>
            </a:extLst>
          </p:cNvPr>
          <p:cNvSpPr/>
          <p:nvPr/>
        </p:nvSpPr>
        <p:spPr>
          <a:xfrm rot="1607918" flipV="1">
            <a:off x="6884288" y="4472615"/>
            <a:ext cx="2800454" cy="219325"/>
          </a:xfrm>
          <a:prstGeom prst="leftArrow">
            <a:avLst>
              <a:gd name="adj1" fmla="val 7692"/>
              <a:gd name="adj2" fmla="val 50000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34460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5CEC-C519-7415-E8C5-6165A0F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BD32-6831-866D-240C-B756434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63E13AD8-C2EB-2965-C5E5-DBF2EFD0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4034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class-definitions</Template>
  <TotalTime>604</TotalTime>
  <Words>1107</Words>
  <Application>Microsoft Macintosh PowerPoint</Application>
  <PresentationFormat>Widescreen</PresentationFormat>
  <Paragraphs>204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 Unicode MS</vt:lpstr>
      <vt:lpstr>MS PGothic</vt:lpstr>
      <vt:lpstr>Anonymous</vt:lpstr>
      <vt:lpstr>Arial</vt:lpstr>
      <vt:lpstr>Calibri</vt:lpstr>
      <vt:lpstr>Courier New</vt:lpstr>
      <vt:lpstr>Times New Roman</vt:lpstr>
      <vt:lpstr>a-processing-mouse-event-methods</vt:lpstr>
      <vt:lpstr>Understanding class definitions 3</vt:lpstr>
      <vt:lpstr>Upcoming</vt:lpstr>
      <vt:lpstr>Reflecting on the ticket machines</vt:lpstr>
      <vt:lpstr>Conditionals – the if statement</vt:lpstr>
      <vt:lpstr>Making choices in everyday life</vt:lpstr>
      <vt:lpstr>Conditional Statement Syntax (1)</vt:lpstr>
      <vt:lpstr>Making a choice in the ticket machine (1) </vt:lpstr>
      <vt:lpstr>Making choices in everyday life (2)</vt:lpstr>
      <vt:lpstr>Conditional Statement Syntax (2) </vt:lpstr>
      <vt:lpstr>Making a choice in the ticket machine (2)</vt:lpstr>
      <vt:lpstr>Making choices in everyday life (3)</vt:lpstr>
      <vt:lpstr>Conditional Statement Syntax (3) </vt:lpstr>
      <vt:lpstr>Making a choice in the ticket machine (3)</vt:lpstr>
      <vt:lpstr>Boolean conditions</vt:lpstr>
      <vt:lpstr>Boolean conditions</vt:lpstr>
      <vt:lpstr>Java Relational Operators</vt:lpstr>
      <vt:lpstr>Some notes on the if statement</vt:lpstr>
      <vt:lpstr>Some notes on the if statement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199</cp:revision>
  <cp:lastPrinted>2003-09-01T07:04:41Z</cp:lastPrinted>
  <dcterms:created xsi:type="dcterms:W3CDTF">2009-04-22T19:24:48Z</dcterms:created>
  <dcterms:modified xsi:type="dcterms:W3CDTF">2025-09-20T21:11:50Z</dcterms:modified>
  <cp:category/>
</cp:coreProperties>
</file>