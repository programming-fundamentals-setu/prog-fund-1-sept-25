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7" r:id="rId1"/>
  </p:sldMasterIdLst>
  <p:notesMasterIdLst>
    <p:notesMasterId r:id="rId17"/>
  </p:notesMasterIdLst>
  <p:handoutMasterIdLst>
    <p:handoutMasterId r:id="rId18"/>
  </p:handoutMasterIdLst>
  <p:sldIdLst>
    <p:sldId id="256" r:id="rId2"/>
    <p:sldId id="377" r:id="rId3"/>
    <p:sldId id="378" r:id="rId4"/>
    <p:sldId id="379" r:id="rId5"/>
    <p:sldId id="380" r:id="rId6"/>
    <p:sldId id="306" r:id="rId7"/>
    <p:sldId id="381" r:id="rId8"/>
    <p:sldId id="382" r:id="rId9"/>
    <p:sldId id="383" r:id="rId10"/>
    <p:sldId id="384" r:id="rId11"/>
    <p:sldId id="385" r:id="rId12"/>
    <p:sldId id="386" r:id="rId13"/>
    <p:sldId id="387" r:id="rId14"/>
    <p:sldId id="388" r:id="rId15"/>
    <p:sldId id="35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E4F"/>
    <a:srgbClr val="009C5C"/>
    <a:srgbClr val="7F6F5E"/>
    <a:srgbClr val="C81D2B"/>
    <a:srgbClr val="1A3170"/>
    <a:srgbClr val="A571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02"/>
    <p:restoredTop sz="94708"/>
  </p:normalViewPr>
  <p:slideViewPr>
    <p:cSldViewPr>
      <p:cViewPr varScale="1">
        <p:scale>
          <a:sx n="87" d="100"/>
          <a:sy n="87" d="100"/>
        </p:scale>
        <p:origin x="232" y="7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220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533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86400" y="8686800"/>
            <a:ext cx="1371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BD304B27-EDAE-2B42-B931-F4A43A4E72E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5991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86EFD2CC-C5C9-994E-897A-55750BC6900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0659979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1843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FE2BB65-6B68-B449-A95C-B1A6D9CE7C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18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15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088531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710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234847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898188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2271219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419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3556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293640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161385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22263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653910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685827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181542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36371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816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8" r:id="rId1"/>
    <p:sldLayoutId id="2147483959" r:id="rId2"/>
    <p:sldLayoutId id="2147483960" r:id="rId3"/>
    <p:sldLayoutId id="2147483961" r:id="rId4"/>
    <p:sldLayoutId id="2147483962" r:id="rId5"/>
    <p:sldLayoutId id="2147483963" r:id="rId6"/>
    <p:sldLayoutId id="2147483964" r:id="rId7"/>
    <p:sldLayoutId id="2147483965" r:id="rId8"/>
    <p:sldLayoutId id="2147483966" r:id="rId9"/>
    <p:sldLayoutId id="2147483967" r:id="rId10"/>
    <p:sldLayoutId id="2147483968" r:id="rId11"/>
    <p:sldLayoutId id="2147483969" r:id="rId12"/>
    <p:sldLayoutId id="2147483970" r:id="rId13"/>
    <p:sldLayoutId id="2147483972" r:id="rId14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reejavaguide.com/relational_operators.ht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9446" y="380999"/>
            <a:ext cx="10464801" cy="11430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dirty="0"/>
              <a:t>Boolean Values, conditions, algebra</a:t>
            </a:r>
            <a:endParaRPr lang="en-GB" dirty="0">
              <a:ea typeface="+mj-ea"/>
              <a:cs typeface="+mj-cs"/>
            </a:endParaRPr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10050463" y="6537328"/>
            <a:ext cx="3658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0" dirty="0">
                <a:solidFill>
                  <a:schemeClr val="tx1"/>
                </a:solidFill>
              </a:rPr>
              <a:t>7.0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21513C8-B0FF-BA55-A698-0A8D7677585F}"/>
              </a:ext>
            </a:extLst>
          </p:cNvPr>
          <p:cNvSpPr txBox="1">
            <a:spLocks/>
          </p:cNvSpPr>
          <p:nvPr/>
        </p:nvSpPr>
        <p:spPr>
          <a:xfrm>
            <a:off x="1596259" y="3809999"/>
            <a:ext cx="1866900" cy="1066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0755C-E815-5AA3-D4B2-32A9F0530610}"/>
              </a:ext>
            </a:extLst>
          </p:cNvPr>
          <p:cNvSpPr txBox="1"/>
          <p:nvPr/>
        </p:nvSpPr>
        <p:spPr>
          <a:xfrm>
            <a:off x="7620000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</a:t>
            </a:r>
            <a:r>
              <a:rPr lang="en-IE" sz="1600" dirty="0" err="1"/>
              <a:t>www.setu.ie</a:t>
            </a:r>
            <a:r>
              <a:rPr lang="en-IE" sz="1600"/>
              <a:t>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2BA0C4-2BF0-58D8-E3BD-B3765AC49632}"/>
              </a:ext>
            </a:extLst>
          </p:cNvPr>
          <p:cNvSpPr txBox="1"/>
          <p:nvPr/>
        </p:nvSpPr>
        <p:spPr>
          <a:xfrm>
            <a:off x="3647728" y="3876597"/>
            <a:ext cx="556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FA2458C-C466-1502-FE9B-6FD66EA77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1189" y="1033535"/>
            <a:ext cx="3524354" cy="268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8F3F18-9325-6664-56FD-D759D31EB6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42" y="5565517"/>
            <a:ext cx="2057400" cy="11533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DD1684-11CE-70AA-C096-99D5290433F1}"/>
              </a:ext>
            </a:extLst>
          </p:cNvPr>
          <p:cNvSpPr txBox="1"/>
          <p:nvPr/>
        </p:nvSpPr>
        <p:spPr>
          <a:xfrm>
            <a:off x="2036427" y="1596311"/>
            <a:ext cx="6810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Conditions, AND, OR,  NOT, if statements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17F48-C739-69EF-C7AA-BBA324868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F30B0-5058-822C-2534-12D3C5CE3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ECE3B2-0A7A-83A5-18B7-FBC9774CC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82638" indent="-742950">
              <a:buFont typeface="+mj-lt"/>
              <a:buAutoNum type="arabicPeriod"/>
            </a:pPr>
            <a:r>
              <a:rPr lang="en-US" altLang="en-US" sz="4000" dirty="0">
                <a:ea typeface="MS PGothic" charset="-128"/>
              </a:rPr>
              <a:t>Boolean values</a:t>
            </a:r>
            <a:endParaRPr lang="en-IE" altLang="en-US" sz="4000" dirty="0"/>
          </a:p>
          <a:p>
            <a:pPr marL="782638" indent="-742950">
              <a:buFont typeface="+mj-lt"/>
              <a:buAutoNum type="arabicPeriod"/>
            </a:pPr>
            <a:r>
              <a:rPr lang="en-US" altLang="en-US" sz="4000" dirty="0">
                <a:ea typeface="MS PGothic" charset="-128"/>
              </a:rPr>
              <a:t>Boolean conditions and variables</a:t>
            </a:r>
          </a:p>
          <a:p>
            <a:pPr marL="782638" indent="-742950">
              <a:buFont typeface="+mj-lt"/>
              <a:buAutoNum type="arabicPeriod"/>
            </a:pPr>
            <a:r>
              <a:rPr lang="en-US" altLang="en-US" sz="4000" dirty="0">
                <a:ea typeface="MS PGothic" charset="-128"/>
              </a:rPr>
              <a:t>Compound conditions / Boolean Algebra</a:t>
            </a:r>
          </a:p>
          <a:p>
            <a:pPr marL="1296988" lvl="1" indent="-857250">
              <a:buFont typeface="+mj-lt"/>
              <a:buAutoNum type="romanLcPeriod"/>
            </a:pPr>
            <a:r>
              <a:rPr lang="en-US" altLang="en-US" sz="3600" dirty="0">
                <a:ea typeface="MS PGothic" charset="-128"/>
              </a:rPr>
              <a:t>Logical operators</a:t>
            </a:r>
          </a:p>
          <a:p>
            <a:pPr marL="1296988" lvl="1" indent="-857250">
              <a:buFont typeface="+mj-lt"/>
              <a:buAutoNum type="romanLcPeriod"/>
            </a:pPr>
            <a:r>
              <a:rPr lang="en-US" altLang="en-US" sz="3600" dirty="0">
                <a:ea typeface="MS PGothic" charset="-128"/>
              </a:rPr>
              <a:t>Bringing conditions together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EF1519-B24C-A61D-D815-2F6E7CBDFDE7}"/>
              </a:ext>
            </a:extLst>
          </p:cNvPr>
          <p:cNvSpPr/>
          <p:nvPr/>
        </p:nvSpPr>
        <p:spPr>
          <a:xfrm>
            <a:off x="609600" y="1567994"/>
            <a:ext cx="4118248" cy="693003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9739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E0F29-58BF-1B65-946A-4F114BFBD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8F0EC-7C28-A90B-7FD9-BB7673E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 </a:t>
            </a:r>
            <a:r>
              <a:rPr lang="en-IE" b="1" dirty="0" err="1"/>
              <a:t>boolean</a:t>
            </a:r>
            <a:r>
              <a:rPr lang="en-IE" dirty="0"/>
              <a:t> is a data type that can only have two possible values:</a:t>
            </a:r>
          </a:p>
          <a:p>
            <a:pPr lvl="1"/>
            <a:r>
              <a:rPr lang="en-IE" dirty="0"/>
              <a:t>true</a:t>
            </a:r>
          </a:p>
          <a:p>
            <a:pPr lvl="1"/>
            <a:r>
              <a:rPr lang="en-IE" dirty="0"/>
              <a:t>false</a:t>
            </a:r>
          </a:p>
          <a:p>
            <a:r>
              <a:rPr lang="en-IE" dirty="0"/>
              <a:t>Think of it like a light switch - it's either ON or OFF. There's no in-between!</a:t>
            </a:r>
          </a:p>
          <a:p>
            <a:r>
              <a:rPr lang="en-IE" dirty="0"/>
              <a:t>Booleans are named after George Boole, a mathematician who developed Boolean algebra.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A9009B-100E-54AA-D054-C71CA689E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640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F85C4-FB7D-DBD5-A268-A15ED8705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Booleans?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E3BB6-286C-959A-18DD-9F04D8D84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In programming, we constantly need to make decisions:</a:t>
            </a:r>
          </a:p>
          <a:p>
            <a:pPr lvl="1"/>
            <a:r>
              <a:rPr lang="en-IE" dirty="0"/>
              <a:t>Is the user old enough to vote?</a:t>
            </a:r>
          </a:p>
          <a:p>
            <a:pPr lvl="1"/>
            <a:r>
              <a:rPr lang="en-IE" dirty="0"/>
              <a:t>Does the student have enough credits to graduate?</a:t>
            </a:r>
          </a:p>
          <a:p>
            <a:pPr lvl="1"/>
            <a:r>
              <a:rPr lang="en-IE" dirty="0"/>
              <a:t>Is there enough money in the account for this purchase?</a:t>
            </a:r>
          </a:p>
          <a:p>
            <a:pPr lvl="1"/>
            <a:r>
              <a:rPr lang="en-IE" dirty="0"/>
              <a:t>Has the password been entered correctly?</a:t>
            </a:r>
          </a:p>
          <a:p>
            <a:r>
              <a:rPr lang="en-IE" dirty="0"/>
              <a:t>All of these questions have </a:t>
            </a:r>
          </a:p>
          <a:p>
            <a:pPr lvl="1"/>
            <a:r>
              <a:rPr lang="en-IE" dirty="0"/>
              <a:t>YES/NO or </a:t>
            </a:r>
          </a:p>
          <a:p>
            <a:pPr lvl="1"/>
            <a:r>
              <a:rPr lang="en-IE" dirty="0"/>
              <a:t>TRUE/FALSE answers – </a:t>
            </a:r>
          </a:p>
          <a:p>
            <a:r>
              <a:rPr lang="en-IE" dirty="0"/>
              <a:t>that's where </a:t>
            </a:r>
            <a:r>
              <a:rPr lang="en-IE" dirty="0" err="1"/>
              <a:t>booleans</a:t>
            </a:r>
            <a:r>
              <a:rPr lang="en-IE" dirty="0"/>
              <a:t> come in!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15D01-006B-F677-2B25-F41C635A9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87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F05B7-216F-F7F8-6141-EC546560C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</a:t>
            </a:r>
            <a:r>
              <a:rPr lang="en-IE" b="1" dirty="0" err="1"/>
              <a:t>oolean</a:t>
            </a:r>
            <a:r>
              <a:rPr lang="en-IE" b="1" dirty="0"/>
              <a:t> Conditions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E7C35-C51B-20F2-6903-380BAF499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 </a:t>
            </a:r>
            <a:r>
              <a:rPr lang="en-IE" dirty="0" err="1"/>
              <a:t>boolean</a:t>
            </a:r>
            <a:r>
              <a:rPr lang="en-IE" dirty="0"/>
              <a:t> condition is an expression that evaluates to either </a:t>
            </a:r>
          </a:p>
          <a:p>
            <a:pPr lvl="1"/>
            <a:r>
              <a:rPr lang="en-IE" dirty="0"/>
              <a:t>true or 	</a:t>
            </a:r>
          </a:p>
          <a:p>
            <a:pPr lvl="1"/>
            <a:r>
              <a:rPr lang="en-IE" dirty="0"/>
              <a:t>false.</a:t>
            </a:r>
          </a:p>
          <a:p>
            <a:r>
              <a:rPr lang="en-IE" dirty="0"/>
              <a:t>Example Boolean Conditions: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A17791-F5DD-823E-5BB8-272F395DA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3186CD-93B0-3A6E-C7FB-391A28DDE82A}"/>
              </a:ext>
            </a:extLst>
          </p:cNvPr>
          <p:cNvSpPr/>
          <p:nvPr/>
        </p:nvSpPr>
        <p:spPr>
          <a:xfrm>
            <a:off x="1487488" y="4221088"/>
            <a:ext cx="8712968" cy="154076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Lucida Sans Typewriter" panose="020B0509030504030204" pitchFamily="49" charset="77"/>
              </a:rPr>
              <a:t>age &gt;= 18           // Is age greater than or equal to 18?</a:t>
            </a:r>
          </a:p>
          <a:p>
            <a:r>
              <a:rPr lang="en-US" dirty="0">
                <a:latin typeface="Lucida Sans Typewriter" panose="020B0509030504030204" pitchFamily="49" charset="77"/>
              </a:rPr>
              <a:t>temperature &lt; 0     // Is temperature less than 0?</a:t>
            </a:r>
          </a:p>
          <a:p>
            <a:r>
              <a:rPr lang="en-US" dirty="0">
                <a:latin typeface="Lucida Sans Typewriter" panose="020B0509030504030204" pitchFamily="49" charset="77"/>
              </a:rPr>
              <a:t>score == 100        // Is score equal to 100?</a:t>
            </a:r>
          </a:p>
          <a:p>
            <a:r>
              <a:rPr lang="en-US" dirty="0">
                <a:latin typeface="Lucida Sans Typewriter" panose="020B0509030504030204" pitchFamily="49" charset="77"/>
              </a:rPr>
              <a:t>balance != 0        // Is balance not equal to 0?</a:t>
            </a:r>
          </a:p>
        </p:txBody>
      </p:sp>
    </p:spTree>
    <p:extLst>
      <p:ext uri="{BB962C8B-B14F-4D97-AF65-F5344CB8AC3E}">
        <p14:creationId xmlns:p14="http://schemas.microsoft.com/office/powerpoint/2010/main" val="3663151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Java Relational Operators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0" y="1524001"/>
          <a:ext cx="8382000" cy="380135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59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4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E" sz="2400" b="1" dirty="0">
                          <a:effectLst/>
                        </a:rPr>
                        <a:t>Operator</a:t>
                      </a:r>
                    </a:p>
                  </a:txBody>
                  <a:tcPr marL="25558" marR="25558" marT="25558" marB="2555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b="1" dirty="0">
                          <a:effectLst/>
                        </a:rPr>
                        <a:t>Use</a:t>
                      </a:r>
                    </a:p>
                  </a:txBody>
                  <a:tcPr marL="25558" marR="25558" marT="25558" marB="2555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b="1" dirty="0">
                          <a:effectLst/>
                        </a:rPr>
                        <a:t>Returns true if…</a:t>
                      </a:r>
                    </a:p>
                  </a:txBody>
                  <a:tcPr marL="25558" marR="25558" marT="25558" marB="2555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&gt;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&gt; op2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l-NL" sz="2400" dirty="0">
                          <a:effectLst/>
                        </a:rPr>
                        <a:t>op1 is </a:t>
                      </a:r>
                      <a:r>
                        <a:rPr lang="nl-NL" sz="2400" b="1" dirty="0">
                          <a:effectLst/>
                        </a:rPr>
                        <a:t>greater</a:t>
                      </a:r>
                      <a:r>
                        <a:rPr lang="nl-NL" sz="2400" dirty="0">
                          <a:effectLst/>
                        </a:rPr>
                        <a:t> than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&gt;=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&gt;=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is </a:t>
                      </a:r>
                      <a:r>
                        <a:rPr lang="en-IE" sz="2400" b="1" dirty="0">
                          <a:effectLst/>
                        </a:rPr>
                        <a:t>greater than or equal</a:t>
                      </a:r>
                      <a:r>
                        <a:rPr lang="en-IE" sz="2400" dirty="0">
                          <a:effectLst/>
                        </a:rPr>
                        <a:t> to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&lt;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&lt;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is </a:t>
                      </a:r>
                      <a:r>
                        <a:rPr lang="en-IE" sz="2400" b="1" dirty="0">
                          <a:effectLst/>
                        </a:rPr>
                        <a:t>less</a:t>
                      </a:r>
                      <a:r>
                        <a:rPr lang="en-IE" sz="2400" dirty="0">
                          <a:effectLst/>
                        </a:rPr>
                        <a:t> than to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&lt;=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&lt;=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is </a:t>
                      </a:r>
                      <a:r>
                        <a:rPr lang="en-IE" sz="2400" b="1" dirty="0">
                          <a:effectLst/>
                        </a:rPr>
                        <a:t>less than or equal </a:t>
                      </a:r>
                      <a:r>
                        <a:rPr lang="en-IE" sz="2400" dirty="0">
                          <a:effectLst/>
                        </a:rPr>
                        <a:t>to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==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==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and op2 are </a:t>
                      </a:r>
                      <a:r>
                        <a:rPr lang="en-IE" sz="2400" b="1" dirty="0">
                          <a:effectLst/>
                        </a:rPr>
                        <a:t>equal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!=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!=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and op2 are </a:t>
                      </a:r>
                      <a:r>
                        <a:rPr lang="en-IE" sz="2400" b="1" dirty="0">
                          <a:effectLst/>
                        </a:rPr>
                        <a:t>not equal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419600" y="6488668"/>
            <a:ext cx="62484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600" dirty="0"/>
              <a:t>Source: </a:t>
            </a:r>
            <a:r>
              <a:rPr lang="en-IE" sz="1600" dirty="0">
                <a:hlinkClick r:id="rId2"/>
              </a:rPr>
              <a:t>http://www.freejavaguide.com/relational_operators.htm</a:t>
            </a:r>
            <a:r>
              <a:rPr lang="en-IE" sz="1600" dirty="0"/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25604" y="5867401"/>
            <a:ext cx="6813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BEWARE </a:t>
            </a:r>
            <a:r>
              <a:rPr lang="en-GB" b="1" dirty="0">
                <a:solidFill>
                  <a:srgbClr val="FF0000"/>
                </a:solidFill>
              </a:rPr>
              <a:t>=</a:t>
            </a:r>
            <a:r>
              <a:rPr lang="en-GB" dirty="0">
                <a:solidFill>
                  <a:srgbClr val="FF0000"/>
                </a:solidFill>
              </a:rPr>
              <a:t> is an assignment operator. </a:t>
            </a:r>
          </a:p>
          <a:p>
            <a:r>
              <a:rPr lang="en-GB" dirty="0">
                <a:solidFill>
                  <a:srgbClr val="FF0000"/>
                </a:solidFill>
              </a:rPr>
              <a:t>It doesn’t test for equality. Use </a:t>
            </a:r>
            <a:r>
              <a:rPr lang="en-GB" b="1" dirty="0">
                <a:solidFill>
                  <a:srgbClr val="FF0000"/>
                </a:solidFill>
              </a:rPr>
              <a:t>==</a:t>
            </a:r>
            <a:r>
              <a:rPr lang="en-GB" dirty="0">
                <a:solidFill>
                  <a:srgbClr val="FF0000"/>
                </a:solidFill>
              </a:rPr>
              <a:t> to test for equality in primitive types</a:t>
            </a:r>
          </a:p>
        </p:txBody>
      </p:sp>
    </p:spTree>
    <p:extLst>
      <p:ext uri="{BB962C8B-B14F-4D97-AF65-F5344CB8AC3E}">
        <p14:creationId xmlns:p14="http://schemas.microsoft.com/office/powerpoint/2010/main" val="163129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D8CD2-5152-7328-4CEF-420B7D325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Variables - use in if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46036-9D02-C6C9-C87D-D74F2D318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 </a:t>
            </a:r>
            <a:r>
              <a:rPr lang="en-IE" dirty="0" err="1"/>
              <a:t>boolean</a:t>
            </a:r>
            <a:r>
              <a:rPr lang="en-IE" dirty="0"/>
              <a:t> variable stores a true or false value. </a:t>
            </a:r>
          </a:p>
          <a:p>
            <a:r>
              <a:rPr lang="en-IE" dirty="0"/>
              <a:t>They can be used to make your code more readable and lets you reuse conditions.</a:t>
            </a:r>
          </a:p>
          <a:p>
            <a:endParaRPr lang="en-IE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9E828-92D8-8DC2-448F-1C56FB9C8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3AC3F5-BB50-4867-3A1E-AD1DD7AA4348}"/>
              </a:ext>
            </a:extLst>
          </p:cNvPr>
          <p:cNvSpPr/>
          <p:nvPr/>
        </p:nvSpPr>
        <p:spPr>
          <a:xfrm>
            <a:off x="1213248" y="3284984"/>
            <a:ext cx="9073008" cy="154076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>
                <a:latin typeface="Lucida Sans Typewriter" panose="020B0509030504030204" pitchFamily="49" charset="77"/>
              </a:rPr>
              <a:t>boolean</a:t>
            </a:r>
            <a:r>
              <a:rPr lang="en-US" dirty="0">
                <a:latin typeface="Lucida Sans Typewriter" panose="020B0509030504030204" pitchFamily="49" charset="77"/>
              </a:rPr>
              <a:t> </a:t>
            </a:r>
            <a:r>
              <a:rPr lang="en-US" dirty="0" err="1">
                <a:latin typeface="Lucida Sans Typewriter" panose="020B0509030504030204" pitchFamily="49" charset="77"/>
              </a:rPr>
              <a:t>canVote</a:t>
            </a:r>
            <a:r>
              <a:rPr lang="en-US" dirty="0">
                <a:latin typeface="Lucida Sans Typewriter" panose="020B0509030504030204" pitchFamily="49" charset="77"/>
              </a:rPr>
              <a:t>;    // Is age greater than or equal to 18?</a:t>
            </a:r>
          </a:p>
          <a:p>
            <a:endParaRPr lang="en-US" dirty="0">
              <a:latin typeface="Lucida Sans Typewriter" panose="020B0509030504030204" pitchFamily="49" charset="77"/>
            </a:endParaRPr>
          </a:p>
          <a:p>
            <a:r>
              <a:rPr lang="en-US" dirty="0" err="1">
                <a:latin typeface="Lucida Sans Typewriter" panose="020B0509030504030204" pitchFamily="49" charset="77"/>
              </a:rPr>
              <a:t>canVote</a:t>
            </a:r>
            <a:r>
              <a:rPr lang="en-US" dirty="0">
                <a:latin typeface="Lucida Sans Typewriter" panose="020B0509030504030204" pitchFamily="49" charset="77"/>
              </a:rPr>
              <a:t> = age &gt;= 18;</a:t>
            </a:r>
          </a:p>
          <a:p>
            <a:endParaRPr lang="en-US" dirty="0">
              <a:latin typeface="Lucida Sans Typewriter" panose="020B0509030504030204" pitchFamily="49" charset="77"/>
            </a:endParaRPr>
          </a:p>
          <a:p>
            <a:r>
              <a:rPr lang="en-US" dirty="0">
                <a:latin typeface="Lucida Sans Typewriter" panose="020B0509030504030204" pitchFamily="49" charset="77"/>
              </a:rPr>
              <a:t>if (</a:t>
            </a:r>
            <a:r>
              <a:rPr lang="en-US" dirty="0" err="1">
                <a:latin typeface="Lucida Sans Typewriter" panose="020B0509030504030204" pitchFamily="49" charset="77"/>
              </a:rPr>
              <a:t>canVote</a:t>
            </a:r>
            <a:r>
              <a:rPr lang="en-US" dirty="0">
                <a:latin typeface="Lucida Sans Typewriter" panose="020B0509030504030204" pitchFamily="49" charset="77"/>
              </a:rPr>
              <a:t>) </a:t>
            </a:r>
            <a:r>
              <a:rPr lang="en-US" dirty="0" err="1">
                <a:latin typeface="Lucida Sans Typewriter" panose="020B0509030504030204" pitchFamily="49" charset="77"/>
              </a:rPr>
              <a:t>System.out.println</a:t>
            </a:r>
            <a:r>
              <a:rPr lang="en-US" dirty="0">
                <a:latin typeface="Lucida Sans Typewriter" panose="020B0509030504030204" pitchFamily="49" charset="77"/>
              </a:rPr>
              <a:t>(“You can vote!”);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C6D0DB-D5AB-5399-7C56-D2D700D9F743}"/>
              </a:ext>
            </a:extLst>
          </p:cNvPr>
          <p:cNvSpPr/>
          <p:nvPr/>
        </p:nvSpPr>
        <p:spPr>
          <a:xfrm>
            <a:off x="1213248" y="5180709"/>
            <a:ext cx="10369152" cy="154076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>
                <a:latin typeface="Lucida Sans Typewriter" panose="020B0509030504030204" pitchFamily="49" charset="77"/>
              </a:rPr>
              <a:t>boolean</a:t>
            </a:r>
            <a:r>
              <a:rPr lang="en-US" dirty="0">
                <a:latin typeface="Lucida Sans Typewriter" panose="020B0509030504030204" pitchFamily="49" charset="77"/>
              </a:rPr>
              <a:t> found = false;  //checking are vars equal to a </a:t>
            </a:r>
            <a:r>
              <a:rPr lang="en-US" dirty="0" err="1">
                <a:latin typeface="Lucida Sans Typewriter" panose="020B0509030504030204" pitchFamily="49" charset="77"/>
              </a:rPr>
              <a:t>lookingFor</a:t>
            </a:r>
            <a:r>
              <a:rPr lang="en-US" dirty="0">
                <a:latin typeface="Lucida Sans Typewriter" panose="020B0509030504030204" pitchFamily="49" charset="77"/>
              </a:rPr>
              <a:t> </a:t>
            </a:r>
            <a:r>
              <a:rPr lang="en-US" dirty="0" err="1">
                <a:latin typeface="Lucida Sans Typewriter" panose="020B0509030504030204" pitchFamily="49" charset="77"/>
              </a:rPr>
              <a:t>val</a:t>
            </a:r>
            <a:r>
              <a:rPr lang="en-US" dirty="0">
                <a:latin typeface="Lucida Sans Typewriter" panose="020B0509030504030204" pitchFamily="49" charset="77"/>
              </a:rPr>
              <a:t> </a:t>
            </a:r>
          </a:p>
          <a:p>
            <a:r>
              <a:rPr lang="en-US" dirty="0">
                <a:latin typeface="Lucida Sans Typewriter" panose="020B0509030504030204" pitchFamily="49" charset="77"/>
              </a:rPr>
              <a:t>   :   // some code </a:t>
            </a:r>
          </a:p>
          <a:p>
            <a:r>
              <a:rPr lang="en-US" dirty="0">
                <a:latin typeface="Lucida Sans Typewriter" panose="020B0509030504030204" pitchFamily="49" charset="77"/>
              </a:rPr>
              <a:t>if (</a:t>
            </a:r>
            <a:r>
              <a:rPr lang="en-US" dirty="0" err="1">
                <a:latin typeface="Lucida Sans Typewriter" panose="020B0509030504030204" pitchFamily="49" charset="77"/>
              </a:rPr>
              <a:t>val</a:t>
            </a:r>
            <a:r>
              <a:rPr lang="en-US" dirty="0">
                <a:latin typeface="Lucida Sans Typewriter" panose="020B0509030504030204" pitchFamily="49" charset="77"/>
              </a:rPr>
              <a:t> == </a:t>
            </a:r>
            <a:r>
              <a:rPr lang="en-US" dirty="0" err="1">
                <a:latin typeface="Lucida Sans Typewriter" panose="020B0509030504030204" pitchFamily="49" charset="77"/>
              </a:rPr>
              <a:t>lookingFor</a:t>
            </a:r>
            <a:r>
              <a:rPr lang="en-US" dirty="0">
                <a:latin typeface="Lucida Sans Typewriter" panose="020B0509030504030204" pitchFamily="49" charset="77"/>
              </a:rPr>
              <a:t>) {</a:t>
            </a:r>
          </a:p>
          <a:p>
            <a:r>
              <a:rPr lang="en-US" dirty="0">
                <a:latin typeface="Lucida Sans Typewriter" panose="020B0509030504030204" pitchFamily="49" charset="77"/>
              </a:rPr>
              <a:t>    found = true;</a:t>
            </a:r>
          </a:p>
          <a:p>
            <a:r>
              <a:rPr lang="en-US" dirty="0">
                <a:latin typeface="Lucida Sans Typewriter" panose="020B0509030504030204" pitchFamily="49" charset="77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174569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771FF-5F38-D13F-BA9E-E5712D4A9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conditions – one condition only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1825D6-E270-2D78-5229-0AE28CCBA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041245-D656-31A6-89CD-9003ED7A9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538" y="1621878"/>
            <a:ext cx="11247040" cy="226511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latin typeface="Lucida Sans Typewriter" panose="020B0509030504030204" pitchFamily="49" charset="77"/>
              </a:rPr>
              <a:t> if (age &gt;= 18 ) { // Is age greater than 18</a:t>
            </a:r>
          </a:p>
          <a:p>
            <a:pPr marL="0" indent="0">
              <a:buNone/>
            </a:pPr>
            <a:r>
              <a:rPr lang="en-US" dirty="0">
                <a:latin typeface="Lucida Sans Typewriter" panose="020B0509030504030204" pitchFamily="49" charset="77"/>
              </a:rPr>
              <a:t>    </a:t>
            </a:r>
            <a:r>
              <a:rPr lang="en-US" dirty="0" err="1">
                <a:latin typeface="Lucida Sans Typewriter" panose="020B0509030504030204" pitchFamily="49" charset="77"/>
              </a:rPr>
              <a:t>System.out.println</a:t>
            </a:r>
            <a:r>
              <a:rPr lang="en-US" dirty="0">
                <a:latin typeface="Lucida Sans Typewriter" panose="020B0509030504030204" pitchFamily="49" charset="77"/>
              </a:rPr>
              <a:t>(“I’m an adult!”);</a:t>
            </a:r>
          </a:p>
          <a:p>
            <a:pPr marL="0" indent="0">
              <a:buNone/>
            </a:pPr>
            <a:r>
              <a:rPr lang="en-US" dirty="0">
                <a:latin typeface="Lucida Sans Typewriter" panose="020B0509030504030204" pitchFamily="49" charset="77"/>
              </a:rPr>
              <a:t>  }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9088F4-6B5B-B206-AD54-F655E377014E}"/>
              </a:ext>
            </a:extLst>
          </p:cNvPr>
          <p:cNvSpPr txBox="1">
            <a:spLocks/>
          </p:cNvSpPr>
          <p:nvPr/>
        </p:nvSpPr>
        <p:spPr>
          <a:xfrm>
            <a:off x="472480" y="3903018"/>
            <a:ext cx="11247040" cy="226511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>
                <a:latin typeface="Lucida Sans Typewriter" panose="020B0509030504030204" pitchFamily="49" charset="77"/>
              </a:rPr>
              <a:t> if (price &lt; 0) { // invalid price </a:t>
            </a:r>
          </a:p>
          <a:p>
            <a:pPr marL="0" indent="0">
              <a:buFont typeface="Arial" pitchFamily="34" charset="0"/>
              <a:buNone/>
            </a:pPr>
            <a:r>
              <a:rPr lang="en-US" dirty="0">
                <a:latin typeface="Lucida Sans Typewriter" panose="020B0509030504030204" pitchFamily="49" charset="77"/>
              </a:rPr>
              <a:t>    </a:t>
            </a:r>
            <a:r>
              <a:rPr lang="en-US" dirty="0" err="1">
                <a:latin typeface="Lucida Sans Typewriter" panose="020B0509030504030204" pitchFamily="49" charset="77"/>
              </a:rPr>
              <a:t>System.out.println</a:t>
            </a:r>
            <a:r>
              <a:rPr lang="en-US" dirty="0">
                <a:latin typeface="Lucida Sans Typewriter" panose="020B0509030504030204" pitchFamily="49" charset="77"/>
              </a:rPr>
              <a:t>(“Too cheap!”);</a:t>
            </a:r>
          </a:p>
          <a:p>
            <a:pPr marL="0" indent="0">
              <a:buFont typeface="Arial" pitchFamily="34" charset="0"/>
              <a:buNone/>
            </a:pPr>
            <a:r>
              <a:rPr lang="en-US" dirty="0">
                <a:latin typeface="Lucida Sans Typewriter" panose="020B0509030504030204" pitchFamily="49" charset="77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2715888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97B80-6FED-D77D-0BA8-B75B97284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Compound conditions – using Boolean algebra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B33A3-2F2F-C48D-E788-11D4FDBA1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use a combination of conditions we call it a compound condition. </a:t>
            </a:r>
          </a:p>
          <a:p>
            <a:r>
              <a:rPr lang="en-US" dirty="0"/>
              <a:t>This is done by taking simple compound statements and putting it with another condition with either an </a:t>
            </a:r>
          </a:p>
          <a:p>
            <a:pPr lvl="3"/>
            <a:r>
              <a:rPr lang="en-US" dirty="0"/>
              <a:t> </a:t>
            </a:r>
            <a:r>
              <a:rPr lang="en-US" sz="2800" dirty="0"/>
              <a:t>and (&amp;&amp;)   or</a:t>
            </a:r>
          </a:p>
          <a:p>
            <a:pPr lvl="3"/>
            <a:r>
              <a:rPr lang="en-US" sz="2800" dirty="0"/>
              <a:t> or(||)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884FC-A422-2D10-F1AE-16CF6D1A7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371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09792-DBA0-CF1A-106E-6D4E59903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Boolean Conditions with AND (&amp;&amp;)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58EC0-80E8-BCD1-CDBB-0C3C38198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An AND condition requires </a:t>
            </a:r>
            <a:r>
              <a:rPr lang="en-IE" b="1" dirty="0"/>
              <a:t>both tests</a:t>
            </a:r>
            <a:r>
              <a:rPr lang="en-IE" dirty="0"/>
              <a:t> to be true.</a:t>
            </a:r>
          </a:p>
          <a:p>
            <a:r>
              <a:rPr lang="en-IE" dirty="0"/>
              <a:t>Everyday example:</a:t>
            </a:r>
          </a:p>
          <a:p>
            <a:pPr marL="0" indent="0">
              <a:buNone/>
            </a:pPr>
            <a:br>
              <a:rPr lang="en-IE" dirty="0"/>
            </a:br>
            <a:r>
              <a:rPr lang="en-IE" dirty="0"/>
              <a:t>    </a:t>
            </a:r>
            <a:r>
              <a:rPr lang="en-IE" i="1" dirty="0"/>
              <a:t>“If     </a:t>
            </a:r>
            <a:r>
              <a:rPr lang="en-IE" i="1" dirty="0">
                <a:solidFill>
                  <a:srgbClr val="FF0000"/>
                </a:solidFill>
              </a:rPr>
              <a:t>it is Friday        </a:t>
            </a:r>
            <a:r>
              <a:rPr lang="en-IE" b="1" i="1" dirty="0"/>
              <a:t>AND</a:t>
            </a:r>
            <a:r>
              <a:rPr lang="en-IE" i="1" dirty="0"/>
              <a:t>     </a:t>
            </a:r>
            <a:r>
              <a:rPr lang="en-IE" i="1" dirty="0">
                <a:solidFill>
                  <a:srgbClr val="FF0000"/>
                </a:solidFill>
              </a:rPr>
              <a:t>it is raining         </a:t>
            </a:r>
            <a:r>
              <a:rPr lang="en-IE" i="1" dirty="0"/>
              <a:t>,  then </a:t>
            </a:r>
          </a:p>
          <a:p>
            <a:pPr marL="0" indent="0">
              <a:buNone/>
            </a:pPr>
            <a:r>
              <a:rPr lang="en-IE" i="1" dirty="0">
                <a:solidFill>
                  <a:srgbClr val="00B050"/>
                </a:solidFill>
              </a:rPr>
              <a:t>                </a:t>
            </a:r>
          </a:p>
          <a:p>
            <a:pPr marL="0" indent="0">
              <a:buNone/>
            </a:pPr>
            <a:r>
              <a:rPr lang="en-IE" i="1" dirty="0">
                <a:solidFill>
                  <a:srgbClr val="00B050"/>
                </a:solidFill>
              </a:rPr>
              <a:t>			I will take a taxi to college</a:t>
            </a:r>
            <a:r>
              <a:rPr lang="en-IE" i="1" dirty="0"/>
              <a:t>.”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i="1" dirty="0"/>
              <a:t>The two conditions are brought together to make one condition.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8C3025-8E5A-3AD0-A01D-ADB37111B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A44B1BBE-0442-49CB-B41F-AFC16B20E7A9}"/>
              </a:ext>
            </a:extLst>
          </p:cNvPr>
          <p:cNvSpPr/>
          <p:nvPr/>
        </p:nvSpPr>
        <p:spPr>
          <a:xfrm rot="16200000">
            <a:off x="4084610" y="2934905"/>
            <a:ext cx="1368152" cy="1090653"/>
          </a:xfrm>
          <a:prstGeom prst="fram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ame 13">
            <a:extLst>
              <a:ext uri="{FF2B5EF4-FFF2-40B4-BE49-F238E27FC236}">
                <a16:creationId xmlns:a16="http://schemas.microsoft.com/office/drawing/2014/main" id="{E0B4D6ED-0FF3-D7AE-0171-75C3B059DEDC}"/>
              </a:ext>
            </a:extLst>
          </p:cNvPr>
          <p:cNvSpPr/>
          <p:nvPr/>
        </p:nvSpPr>
        <p:spPr>
          <a:xfrm rot="16200000">
            <a:off x="6342114" y="2022297"/>
            <a:ext cx="720081" cy="2736305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Frame 14">
            <a:extLst>
              <a:ext uri="{FF2B5EF4-FFF2-40B4-BE49-F238E27FC236}">
                <a16:creationId xmlns:a16="http://schemas.microsoft.com/office/drawing/2014/main" id="{10E8C7AF-9BDE-BDAC-98A1-498F15988DAD}"/>
              </a:ext>
            </a:extLst>
          </p:cNvPr>
          <p:cNvSpPr/>
          <p:nvPr/>
        </p:nvSpPr>
        <p:spPr>
          <a:xfrm rot="16200000">
            <a:off x="2527968" y="2312876"/>
            <a:ext cx="720081" cy="2232248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1D23B5-5B3E-9C9C-84C4-F41BEDAC1C76}"/>
              </a:ext>
            </a:extLst>
          </p:cNvPr>
          <p:cNvSpPr/>
          <p:nvPr/>
        </p:nvSpPr>
        <p:spPr>
          <a:xfrm>
            <a:off x="191344" y="4131701"/>
            <a:ext cx="2376264" cy="739592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conditions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3227291-61DA-8416-82DD-124339EE3EC0}"/>
              </a:ext>
            </a:extLst>
          </p:cNvPr>
          <p:cNvCxnSpPr>
            <a:cxnSpLocks/>
          </p:cNvCxnSpPr>
          <p:nvPr/>
        </p:nvCxnSpPr>
        <p:spPr>
          <a:xfrm flipV="1">
            <a:off x="1127448" y="3863182"/>
            <a:ext cx="648072" cy="26762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8B22559-1523-0696-9FD4-1F3ACE4F7BEB}"/>
              </a:ext>
            </a:extLst>
          </p:cNvPr>
          <p:cNvCxnSpPr>
            <a:cxnSpLocks/>
          </p:cNvCxnSpPr>
          <p:nvPr/>
        </p:nvCxnSpPr>
        <p:spPr>
          <a:xfrm flipV="1">
            <a:off x="2538500" y="3803293"/>
            <a:ext cx="4536504" cy="60939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1EFB4F13-4C2C-BAAC-2C3D-E115EDB7322F}"/>
              </a:ext>
            </a:extLst>
          </p:cNvPr>
          <p:cNvSpPr/>
          <p:nvPr/>
        </p:nvSpPr>
        <p:spPr>
          <a:xfrm>
            <a:off x="7824192" y="2204864"/>
            <a:ext cx="1944216" cy="7200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Logical operator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1E3650D-75C2-915D-BCEE-997CFBC5E6AB}"/>
              </a:ext>
            </a:extLst>
          </p:cNvPr>
          <p:cNvCxnSpPr>
            <a:stCxn id="22" idx="1"/>
          </p:cNvCxnSpPr>
          <p:nvPr/>
        </p:nvCxnSpPr>
        <p:spPr>
          <a:xfrm flipH="1">
            <a:off x="5303914" y="2564904"/>
            <a:ext cx="2520278" cy="360039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90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1" animBg="1"/>
      <p:bldP spid="14" grpId="0" animBg="1"/>
      <p:bldP spid="15" grpId="0" animBg="1"/>
      <p:bldP spid="17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036DB-D0FD-F67F-3FC5-6DE4D2E0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2CE80-E6BA-AFA9-4EDE-C22FA1D61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Boolean Conditions with AND (&amp;&amp;)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C9CF1-D79E-9DA7-03FE-72AB684F4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    </a:t>
            </a:r>
            <a:r>
              <a:rPr lang="en-IE" i="1" dirty="0"/>
              <a:t>“If     </a:t>
            </a:r>
            <a:r>
              <a:rPr lang="en-IE" i="1" dirty="0">
                <a:solidFill>
                  <a:srgbClr val="FF0000"/>
                </a:solidFill>
              </a:rPr>
              <a:t>it is Friday        </a:t>
            </a:r>
            <a:r>
              <a:rPr lang="en-IE" b="1" i="1" dirty="0"/>
              <a:t>AND</a:t>
            </a:r>
            <a:r>
              <a:rPr lang="en-IE" i="1" dirty="0"/>
              <a:t>     </a:t>
            </a:r>
            <a:r>
              <a:rPr lang="en-IE" i="1" dirty="0">
                <a:solidFill>
                  <a:srgbClr val="FF0000"/>
                </a:solidFill>
              </a:rPr>
              <a:t>it is raining         </a:t>
            </a:r>
            <a:r>
              <a:rPr lang="en-IE" i="1" dirty="0"/>
              <a:t>,  then </a:t>
            </a:r>
          </a:p>
          <a:p>
            <a:pPr marL="0" indent="0">
              <a:buNone/>
            </a:pPr>
            <a:r>
              <a:rPr lang="en-IE" i="1" dirty="0">
                <a:solidFill>
                  <a:srgbClr val="00B050"/>
                </a:solidFill>
              </a:rPr>
              <a:t>                I will take a taxi to college</a:t>
            </a:r>
            <a:r>
              <a:rPr lang="en-IE" i="1" dirty="0"/>
              <a:t>.”</a:t>
            </a:r>
          </a:p>
          <a:p>
            <a:pPr marL="0" indent="0">
              <a:buNone/>
            </a:pPr>
            <a:r>
              <a:rPr lang="en-IE" dirty="0"/>
              <a:t>Only if both conditions are true will I take a taxi. 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/>
              <a:t>I will </a:t>
            </a:r>
            <a:r>
              <a:rPr lang="en-IE" b="1" dirty="0"/>
              <a:t>NOT</a:t>
            </a:r>
            <a:r>
              <a:rPr lang="en-IE" dirty="0"/>
              <a:t> take a taxi if either (or both)  of the following is </a:t>
            </a:r>
            <a:r>
              <a:rPr lang="en-IE" b="1" dirty="0"/>
              <a:t>False</a:t>
            </a:r>
          </a:p>
          <a:p>
            <a:pPr marL="0" indent="0">
              <a:buNone/>
            </a:pPr>
            <a:r>
              <a:rPr lang="en-IE" dirty="0"/>
              <a:t>	‘it is Friday’     is false (e.g. it’s Thursday) </a:t>
            </a:r>
          </a:p>
          <a:p>
            <a:pPr marL="0" indent="0">
              <a:buNone/>
            </a:pPr>
            <a:r>
              <a:rPr lang="en-IE" dirty="0"/>
              <a:t>           ‘it is raining’   is false (i.e. it is dry)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023F27-C581-E4D6-561D-01FD4B316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524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BC92-7D76-87DF-895C-F9F051CA5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example using AND (&amp;&amp;)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B78314-DEB9-9EB1-244D-2308112B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1AEC2DB-9D33-5520-1115-F12E07082A55}"/>
              </a:ext>
            </a:extLst>
          </p:cNvPr>
          <p:cNvSpPr/>
          <p:nvPr/>
        </p:nvSpPr>
        <p:spPr>
          <a:xfrm>
            <a:off x="391326" y="1628800"/>
            <a:ext cx="11191074" cy="18002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Lucida Sans Typewriter" panose="020B0509030504030204" pitchFamily="49" charset="77"/>
              </a:rPr>
              <a:t>if  ( (mark &gt;= 0 ) &amp;&amp; ( mark &lt;= 100) ){</a:t>
            </a:r>
          </a:p>
          <a:p>
            <a:r>
              <a:rPr lang="en-US" sz="2800" dirty="0">
                <a:solidFill>
                  <a:schemeClr val="tx1"/>
                </a:solidFill>
                <a:latin typeface="Lucida Sans Typewriter" panose="020B0509030504030204" pitchFamily="49" charset="77"/>
              </a:rPr>
              <a:t>   </a:t>
            </a:r>
            <a:r>
              <a:rPr lang="en-US" sz="2800" dirty="0" err="1">
                <a:solidFill>
                  <a:schemeClr val="tx1"/>
                </a:solidFill>
                <a:latin typeface="Lucida Sans Typewriter" panose="020B0509030504030204" pitchFamily="49" charset="77"/>
              </a:rPr>
              <a:t>System.out.println</a:t>
            </a:r>
            <a:r>
              <a:rPr lang="en-US" sz="2800" dirty="0">
                <a:solidFill>
                  <a:schemeClr val="tx1"/>
                </a:solidFill>
                <a:latin typeface="Lucida Sans Typewriter" panose="020B0509030504030204" pitchFamily="49" charset="77"/>
              </a:rPr>
              <a:t>(“This is a valid % mark.”);</a:t>
            </a:r>
          </a:p>
          <a:p>
            <a:r>
              <a:rPr lang="en-US" sz="2800" dirty="0">
                <a:solidFill>
                  <a:schemeClr val="tx1"/>
                </a:solidFill>
                <a:latin typeface="Lucida Sans Typewriter" panose="020B0509030504030204" pitchFamily="49" charset="77"/>
              </a:rPr>
              <a:t>  }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417E0-30F0-728E-C18C-1032BF9FBFBB}"/>
              </a:ext>
            </a:extLst>
          </p:cNvPr>
          <p:cNvSpPr txBox="1"/>
          <p:nvPr/>
        </p:nvSpPr>
        <p:spPr>
          <a:xfrm>
            <a:off x="767408" y="3459485"/>
            <a:ext cx="93610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Question : Will the following values of mark lead the condition to be true or false:</a:t>
            </a:r>
          </a:p>
          <a:p>
            <a:r>
              <a:rPr lang="en-US" sz="3200" dirty="0"/>
              <a:t> mark has value    0   ?</a:t>
            </a:r>
          </a:p>
          <a:p>
            <a:r>
              <a:rPr lang="en-US" sz="3200" dirty="0"/>
              <a:t>                              -1    ? </a:t>
            </a:r>
          </a:p>
          <a:p>
            <a:r>
              <a:rPr lang="en-US" sz="3200" dirty="0"/>
              <a:t>			100 ?</a:t>
            </a:r>
          </a:p>
          <a:p>
            <a:r>
              <a:rPr lang="en-US" sz="3200" dirty="0"/>
              <a:t>			101 ?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88785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E4684-82F7-C14A-5B26-A0F37FBAD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416F-7573-ADD1-1982-E5BFF6617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Boolean Conditions with OR (||)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43FEC-69E9-7528-B0CB-E248CFD36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    </a:t>
            </a:r>
            <a:r>
              <a:rPr lang="en-IE" i="1" dirty="0"/>
              <a:t>“If     </a:t>
            </a:r>
            <a:r>
              <a:rPr lang="en-IE" i="1" dirty="0">
                <a:solidFill>
                  <a:srgbClr val="FF0000"/>
                </a:solidFill>
              </a:rPr>
              <a:t>it is Friday        </a:t>
            </a:r>
            <a:r>
              <a:rPr lang="en-IE" b="1" i="1" dirty="0"/>
              <a:t>OR</a:t>
            </a:r>
            <a:r>
              <a:rPr lang="en-IE" i="1" dirty="0"/>
              <a:t>     </a:t>
            </a:r>
            <a:r>
              <a:rPr lang="en-IE" i="1" dirty="0">
                <a:solidFill>
                  <a:srgbClr val="FF0000"/>
                </a:solidFill>
              </a:rPr>
              <a:t>it is raining         </a:t>
            </a:r>
            <a:r>
              <a:rPr lang="en-IE" i="1" dirty="0"/>
              <a:t>,  then </a:t>
            </a:r>
          </a:p>
          <a:p>
            <a:pPr marL="0" indent="0">
              <a:buNone/>
            </a:pPr>
            <a:r>
              <a:rPr lang="en-IE" i="1" dirty="0">
                <a:solidFill>
                  <a:srgbClr val="00B050"/>
                </a:solidFill>
              </a:rPr>
              <a:t>                I will take a taxi to college</a:t>
            </a:r>
            <a:r>
              <a:rPr lang="en-IE" i="1" dirty="0"/>
              <a:t>.”</a:t>
            </a:r>
          </a:p>
          <a:p>
            <a:pPr marL="0" indent="0">
              <a:buNone/>
            </a:pPr>
            <a:r>
              <a:rPr lang="en-IE" dirty="0"/>
              <a:t>if either or both conditions are true will I take a taxi. 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/>
              <a:t>The only way I won’t take a taxi is if both of the conditions are false.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ABA12A-12AA-A568-43ED-FB8C7A5BC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391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F9172-B517-D46A-A4B6-5813FB213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F036A-4B56-8C83-C881-868620723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example using AND (&amp;&amp;)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14880D-D678-B99B-DE0F-71E5A928C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B89B26C-EF56-2CA6-19D4-B874A8453F34}"/>
              </a:ext>
            </a:extLst>
          </p:cNvPr>
          <p:cNvSpPr/>
          <p:nvPr/>
        </p:nvSpPr>
        <p:spPr>
          <a:xfrm>
            <a:off x="0" y="1659285"/>
            <a:ext cx="11969370" cy="18002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Lucida Sans Typewriter" panose="020B0509030504030204" pitchFamily="49" charset="77"/>
              </a:rPr>
              <a:t>if  ( (mark &lt;0 ) || ( mark &gt; 100) ){</a:t>
            </a:r>
          </a:p>
          <a:p>
            <a:r>
              <a:rPr lang="en-US" sz="2800" dirty="0">
                <a:solidFill>
                  <a:schemeClr val="tx1"/>
                </a:solidFill>
                <a:latin typeface="Lucida Sans Typewriter" panose="020B0509030504030204" pitchFamily="49" charset="77"/>
              </a:rPr>
              <a:t>   </a:t>
            </a:r>
            <a:r>
              <a:rPr lang="en-US" sz="2800" dirty="0" err="1">
                <a:solidFill>
                  <a:schemeClr val="tx1"/>
                </a:solidFill>
                <a:latin typeface="Lucida Sans Typewriter" panose="020B0509030504030204" pitchFamily="49" charset="77"/>
              </a:rPr>
              <a:t>System.out.println</a:t>
            </a:r>
            <a:r>
              <a:rPr lang="en-US" sz="2800" dirty="0">
                <a:solidFill>
                  <a:schemeClr val="tx1"/>
                </a:solidFill>
                <a:latin typeface="Lucida Sans Typewriter" panose="020B0509030504030204" pitchFamily="49" charset="77"/>
              </a:rPr>
              <a:t>(“This is NOT a valid % mark.”);</a:t>
            </a:r>
          </a:p>
          <a:p>
            <a:r>
              <a:rPr lang="en-US" sz="2800" dirty="0">
                <a:solidFill>
                  <a:schemeClr val="tx1"/>
                </a:solidFill>
                <a:latin typeface="Lucida Sans Typewriter" panose="020B0509030504030204" pitchFamily="49" charset="77"/>
              </a:rPr>
              <a:t>  }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AA1C92-8979-141C-ABC4-6ECFC364ABB3}"/>
              </a:ext>
            </a:extLst>
          </p:cNvPr>
          <p:cNvSpPr txBox="1"/>
          <p:nvPr/>
        </p:nvSpPr>
        <p:spPr>
          <a:xfrm>
            <a:off x="767408" y="3459485"/>
            <a:ext cx="93610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Question : Will the following values of mark lead the condition to be true or false:</a:t>
            </a:r>
          </a:p>
          <a:p>
            <a:r>
              <a:rPr lang="en-US" sz="3200" dirty="0"/>
              <a:t> mark has value    0   ?</a:t>
            </a:r>
          </a:p>
          <a:p>
            <a:r>
              <a:rPr lang="en-US" sz="3200" dirty="0"/>
              <a:t>                              -1    ? </a:t>
            </a:r>
          </a:p>
          <a:p>
            <a:r>
              <a:rPr lang="en-US" sz="3200" dirty="0"/>
              <a:t>			100 ?</a:t>
            </a:r>
          </a:p>
          <a:p>
            <a:r>
              <a:rPr lang="en-US" sz="3200" dirty="0"/>
              <a:t>			101 ?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05223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F5CEC-C519-7415-E8C5-6165A0F60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BD32-6831-866D-240C-B756434CF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63E13AD8-C2EB-2965-C5E5-DBF2EFD05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25562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740345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-fund-1" id="{82CCE168-77CC-814B-8A2F-8520E8A6A75D}" vid="{4B930EE9-D6E6-E64C-A928-F4FAD685DB7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a-processing-mouse-event-methods</Template>
  <TotalTime>320</TotalTime>
  <Words>915</Words>
  <Application>Microsoft Macintosh PowerPoint</Application>
  <PresentationFormat>Widescreen</PresentationFormat>
  <Paragraphs>136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MS PGothic</vt:lpstr>
      <vt:lpstr>Arial</vt:lpstr>
      <vt:lpstr>Calibri</vt:lpstr>
      <vt:lpstr>Lucida Sans Typewriter</vt:lpstr>
      <vt:lpstr>Times New Roman</vt:lpstr>
      <vt:lpstr>a-processing-mouse-event-methods</vt:lpstr>
      <vt:lpstr>Boolean Values, conditions, algebra</vt:lpstr>
      <vt:lpstr>Topics list</vt:lpstr>
      <vt:lpstr>Boolean values</vt:lpstr>
      <vt:lpstr>Why do we need Booleans? </vt:lpstr>
      <vt:lpstr>Boolean Conditions</vt:lpstr>
      <vt:lpstr>Java Relational Operators</vt:lpstr>
      <vt:lpstr>Boolean Variables - use in if statement</vt:lpstr>
      <vt:lpstr>Simple conditions – one condition only</vt:lpstr>
      <vt:lpstr>Compound conditions – using Boolean algebra</vt:lpstr>
      <vt:lpstr>Boolean Conditions with AND (&amp;&amp;)</vt:lpstr>
      <vt:lpstr>Boolean Conditions with AND (&amp;&amp;)</vt:lpstr>
      <vt:lpstr>Code example using AND (&amp;&amp;)</vt:lpstr>
      <vt:lpstr>Boolean Conditions with OR (||)</vt:lpstr>
      <vt:lpstr>Code example using AND (&amp;&amp;)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Mairead Meagher</dc:creator>
  <cp:keywords/>
  <dc:description>Copyright © David J. Barnes, Michael Kölling</dc:description>
  <cp:lastModifiedBy>Mairead Meagher</cp:lastModifiedBy>
  <cp:revision>3</cp:revision>
  <cp:lastPrinted>2003-09-01T07:04:41Z</cp:lastPrinted>
  <dcterms:created xsi:type="dcterms:W3CDTF">2025-10-03T18:23:57Z</dcterms:created>
  <dcterms:modified xsi:type="dcterms:W3CDTF">2025-10-04T20:17:33Z</dcterms:modified>
  <cp:category/>
</cp:coreProperties>
</file>