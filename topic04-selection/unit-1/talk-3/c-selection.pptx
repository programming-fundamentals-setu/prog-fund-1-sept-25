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27"/>
  </p:notesMasterIdLst>
  <p:handoutMasterIdLst>
    <p:handoutMasterId r:id="rId28"/>
  </p:handoutMasterIdLst>
  <p:sldIdLst>
    <p:sldId id="256" r:id="rId2"/>
    <p:sldId id="348" r:id="rId3"/>
    <p:sldId id="355" r:id="rId4"/>
    <p:sldId id="360" r:id="rId5"/>
    <p:sldId id="276" r:id="rId6"/>
    <p:sldId id="361" r:id="rId7"/>
    <p:sldId id="293" r:id="rId8"/>
    <p:sldId id="296" r:id="rId9"/>
    <p:sldId id="271" r:id="rId10"/>
    <p:sldId id="362" r:id="rId11"/>
    <p:sldId id="359" r:id="rId12"/>
    <p:sldId id="363" r:id="rId13"/>
    <p:sldId id="356" r:id="rId14"/>
    <p:sldId id="357" r:id="rId15"/>
    <p:sldId id="306" r:id="rId16"/>
    <p:sldId id="313" r:id="rId17"/>
    <p:sldId id="358" r:id="rId18"/>
    <p:sldId id="320" r:id="rId19"/>
    <p:sldId id="319" r:id="rId20"/>
    <p:sldId id="321" r:id="rId21"/>
    <p:sldId id="298" r:id="rId22"/>
    <p:sldId id="365" r:id="rId23"/>
    <p:sldId id="331" r:id="rId24"/>
    <p:sldId id="364" r:id="rId25"/>
    <p:sldId id="35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4F"/>
    <a:srgbClr val="009C5C"/>
    <a:srgbClr val="7F6F5E"/>
    <a:srgbClr val="C81D2B"/>
    <a:srgbClr val="1A3170"/>
    <a:srgbClr val="A57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708"/>
  </p:normalViewPr>
  <p:slideViewPr>
    <p:cSldViewPr>
      <p:cViewPr varScale="1">
        <p:scale>
          <a:sx n="91" d="100"/>
          <a:sy n="91" d="100"/>
        </p:scale>
        <p:origin x="208" y="6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22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5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83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EED87-AC10-B89C-20DE-8013F002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76401945-7709-DF74-E0D9-8758BC07AB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C53D51BE-67ED-05B5-2346-21149BCF70C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615B9518-7F24-DCB3-E90D-5328421EF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54503B63-6077-4B2E-7EFC-AFFF2CAED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F34A593F-867A-B84E-CC68-E199F9231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7579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8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05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0485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FB914E-CF00-448E-A14B-E53BADD4D4F1}" type="slidenum">
              <a:rPr lang="en-GB"/>
              <a:pPr/>
              <a:t>11</a:t>
            </a:fld>
            <a:endParaRPr lang="en-GB"/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half multiple </a:t>
            </a:r>
            <a:r>
              <a:rPr lang="en-US" dirty="0" err="1"/>
              <a:t>ocurences</a:t>
            </a:r>
            <a:r>
              <a:rPr lang="en-US" dirty="0"/>
              <a:t> of “else if” </a:t>
            </a:r>
          </a:p>
        </p:txBody>
      </p:sp>
    </p:spTree>
    <p:extLst>
      <p:ext uri="{BB962C8B-B14F-4D97-AF65-F5344CB8AC3E}">
        <p14:creationId xmlns:p14="http://schemas.microsoft.com/office/powerpoint/2010/main" val="646854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E054-A482-661A-E72C-5437454B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98BA9EB9-9E4C-A193-9837-1A492941A4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73730" name="Rectangle 6">
            <a:extLst>
              <a:ext uri="{FF2B5EF4-FFF2-40B4-BE49-F238E27FC236}">
                <a16:creationId xmlns:a16="http://schemas.microsoft.com/office/drawing/2014/main" id="{1375909F-167B-F7A5-11C7-253D1E3452B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73731" name="Rectangle 7">
            <a:extLst>
              <a:ext uri="{FF2B5EF4-FFF2-40B4-BE49-F238E27FC236}">
                <a16:creationId xmlns:a16="http://schemas.microsoft.com/office/drawing/2014/main" id="{36D45D92-73AD-B7A6-F0DE-2D55A13D4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3BDD55DC-E889-CD43-96CD-A94D179C49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95ABC380-CA8E-3E50-4B02-939E753D9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EFF46FC0-B7F8-6E55-6841-F9C59DAD2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6523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I would advise to use use them to avoid errors</a:t>
            </a:r>
            <a:r>
              <a:rPr lang="en-GB" baseline="0" dirty="0"/>
              <a:t> when updating programs later.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78756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Why?</a:t>
            </a:r>
          </a:p>
          <a:p>
            <a:pPr marL="171450" indent="-171450">
              <a:buFontTx/>
              <a:buChar char="-"/>
            </a:pPr>
            <a:r>
              <a:rPr lang="en-GB" dirty="0"/>
              <a:t>A simple</a:t>
            </a:r>
            <a:r>
              <a:rPr lang="en-GB" baseline="0" dirty="0"/>
              <a:t> statement ends in a semi colon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 compound statement is a collection of statement surround by curly braces</a:t>
            </a:r>
          </a:p>
          <a:p>
            <a:pPr marL="171450" indent="-171450">
              <a:buFontTx/>
              <a:buChar char="-"/>
            </a:pPr>
            <a:r>
              <a:rPr lang="en-GB" baseline="0" dirty="0"/>
              <a:t>An if statement is the if keyword followed by a condition in brackets followed by compound statement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771847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QUESTION:</a:t>
            </a:r>
            <a:r>
              <a:rPr lang="en-IE" baseline="0" dirty="0"/>
              <a:t> </a:t>
            </a:r>
            <a:r>
              <a:rPr lang="en-IE" dirty="0"/>
              <a:t>Replace the x</a:t>
            </a:r>
            <a:r>
              <a:rPr lang="en-IE" baseline="0" dirty="0"/>
              <a:t> value in the </a:t>
            </a:r>
            <a:r>
              <a:rPr lang="en-IE" baseline="0" dirty="0" err="1"/>
              <a:t>rect</a:t>
            </a:r>
            <a:r>
              <a:rPr lang="en-IE" baseline="0" dirty="0"/>
              <a:t>() function call with a statement that calculates the width of the rectangle to draw</a:t>
            </a:r>
            <a:endParaRPr lang="en-IE" dirty="0"/>
          </a:p>
          <a:p>
            <a:endParaRPr lang="en-IE" dirty="0"/>
          </a:p>
          <a:p>
            <a:r>
              <a:rPr lang="en-IE" dirty="0"/>
              <a:t>//</a:t>
            </a:r>
            <a:r>
              <a:rPr lang="en-IE" dirty="0" err="1"/>
              <a:t>Reas</a:t>
            </a:r>
            <a:r>
              <a:rPr lang="en-IE" dirty="0"/>
              <a:t>, C. &amp; Fry, B. (2014) Processing – A Programming Handbook for Visual Designers and Artists, 2nd Edition, MIT Press, London.</a:t>
            </a:r>
          </a:p>
          <a:p>
            <a:endParaRPr lang="en-IE" dirty="0"/>
          </a:p>
          <a:p>
            <a:r>
              <a:rPr lang="en-IE" dirty="0"/>
              <a:t>void setup() {</a:t>
            </a:r>
          </a:p>
          <a:p>
            <a:r>
              <a:rPr lang="en-IE" dirty="0"/>
              <a:t>  size(100, 100);</a:t>
            </a:r>
          </a:p>
          <a:p>
            <a:r>
              <a:rPr lang="en-IE" dirty="0"/>
              <a:t>  </a:t>
            </a:r>
            <a:r>
              <a:rPr lang="en-IE" dirty="0" err="1"/>
              <a:t>noStroke</a:t>
            </a:r>
            <a:r>
              <a:rPr lang="en-IE" dirty="0"/>
              <a:t>();</a:t>
            </a:r>
          </a:p>
          <a:p>
            <a:r>
              <a:rPr lang="en-IE" dirty="0"/>
              <a:t>  fill(0);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void draw() {</a:t>
            </a:r>
          </a:p>
          <a:p>
            <a:r>
              <a:rPr lang="en-IE" dirty="0"/>
              <a:t>  background(204);</a:t>
            </a:r>
          </a:p>
          <a:p>
            <a:r>
              <a:rPr lang="en-IE" dirty="0"/>
              <a:t>  if (</a:t>
            </a:r>
            <a:r>
              <a:rPr lang="en-IE" dirty="0" err="1"/>
              <a:t>mouseX</a:t>
            </a:r>
            <a:r>
              <a:rPr lang="en-IE" dirty="0"/>
              <a:t> &lt; 50) {</a:t>
            </a:r>
          </a:p>
          <a:p>
            <a:r>
              <a:rPr lang="en-IE" dirty="0"/>
              <a:t>    </a:t>
            </a:r>
            <a:r>
              <a:rPr lang="en-IE" dirty="0" err="1"/>
              <a:t>rect</a:t>
            </a:r>
            <a:r>
              <a:rPr lang="en-IE" dirty="0"/>
              <a:t>(0, 0, 50, 100); // Left</a:t>
            </a:r>
          </a:p>
          <a:p>
            <a:r>
              <a:rPr lang="en-IE" dirty="0"/>
              <a:t>  } else {</a:t>
            </a:r>
          </a:p>
          <a:p>
            <a:r>
              <a:rPr lang="en-IE" dirty="0"/>
              <a:t>    </a:t>
            </a:r>
            <a:r>
              <a:rPr lang="en-IE" dirty="0" err="1"/>
              <a:t>rect</a:t>
            </a:r>
            <a:r>
              <a:rPr lang="en-IE" dirty="0"/>
              <a:t>(50, 0, 50, 100); // Right</a:t>
            </a:r>
          </a:p>
          <a:p>
            <a:r>
              <a:rPr lang="en-IE" dirty="0"/>
              <a:t>  }</a:t>
            </a:r>
          </a:p>
          <a:p>
            <a:r>
              <a:rPr lang="en-IE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123542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98556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35731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5D6B8-C637-608E-6D04-E6E713E4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5D49B-1FAC-3474-893A-5A43AD486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84064-7CED-5DDA-341A-B68D49EB5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BBDEF-A94A-DD97-A283-0A3FDF040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7785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FE03-5A8A-2F92-EAEE-486DD62E5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805D2-FCAF-23EB-D110-2730BA623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5300D-C467-332D-9BE2-094B960BE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BFD23-4E71-831B-6341-625D76262D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24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2507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088531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10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23484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98188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271219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1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556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293640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161385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22263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65391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685827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81542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00583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36371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81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reejavaguide.com/relational_operators.htm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Selection – if statements</a:t>
            </a:r>
            <a:endParaRPr lang="en-GB" dirty="0">
              <a:ea typeface="+mj-ea"/>
              <a:cs typeface="+mj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</a:t>
            </a:r>
            <a:r>
              <a:rPr lang="en-IE" sz="1600" dirty="0" err="1"/>
              <a:t>www.setu.ie</a:t>
            </a:r>
            <a:r>
              <a:rPr lang="en-IE" sz="1600"/>
              <a:t>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C1D98B-EAD8-17AC-9CB8-C2BBF11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Upcoming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FC1126-1F70-0EA1-DCE5-D16434703A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Conditional statements;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Recap</a:t>
            </a:r>
          </a:p>
          <a:p>
            <a:pPr marL="782638" lvl="1"/>
            <a:r>
              <a:rPr lang="en-US" altLang="en-US" dirty="0">
                <a:ea typeface="MS PGothic" charset="-128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374469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7270-F5C8-38C1-18BD-6F7B11A1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Conditionals – the if statement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041921-7F50-1E1B-D9D8-916D31098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670" y="1801442"/>
            <a:ext cx="4204447" cy="4525963"/>
          </a:xfrm>
          <a:prstGeom prst="rect">
            <a:avLst/>
          </a:prstGeom>
          <a:noFill/>
        </p:spPr>
      </p:pic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BA4961D-9019-5941-C5E2-44B00673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0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E356-5A74-54D6-F90E-C0000329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2C9053EF-3838-CB2E-C031-45C009FFA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/>
              <a:t>Making choices in everyday life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28AC5360-7A2B-F340-D47B-7763CF24800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2188839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pPr marL="0" indent="0">
              <a:buNone/>
            </a:pPr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D04ADE-DD9B-F79A-9275-51C096D494BB}"/>
              </a:ext>
            </a:extLst>
          </p:cNvPr>
          <p:cNvGrpSpPr/>
          <p:nvPr/>
        </p:nvGrpSpPr>
        <p:grpSpPr>
          <a:xfrm>
            <a:off x="6492155" y="1600201"/>
            <a:ext cx="4795690" cy="2032484"/>
            <a:chOff x="2892002" y="1916832"/>
            <a:chExt cx="4417516" cy="1872208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F96B6B5C-92D0-44A6-0A7B-E2431F93B687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46762FCB-FC28-D412-B4B5-2C7615EEFD9E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8A1C9A8-376D-284A-E78A-657F64D9414D}"/>
                </a:ext>
              </a:extLst>
            </p:cNvPr>
            <p:cNvSpPr/>
            <p:nvPr/>
          </p:nvSpPr>
          <p:spPr>
            <a:xfrm>
              <a:off x="6013374" y="2352581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Just Do it!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1B248F7-DAE0-6FF7-1156-54D389EFEE24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C0AD28A-A431-C243-E5AA-69859C014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167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(1)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34138" y="3680801"/>
            <a:ext cx="76290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72044" y="42374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1" name="Rectangle 10"/>
          <p:cNvSpPr/>
          <p:nvPr/>
        </p:nvSpPr>
        <p:spPr>
          <a:xfrm>
            <a:off x="2067198" y="3212976"/>
            <a:ext cx="8258688" cy="184780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" name="TextBox 2"/>
          <p:cNvSpPr txBox="1"/>
          <p:nvPr/>
        </p:nvSpPr>
        <p:spPr>
          <a:xfrm>
            <a:off x="15328900" y="-1130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07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FCE5A-6E4F-798E-1AC6-8B65ACA54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E64DE0F6-CB72-FC7D-00F8-DD16D9C0C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(1) 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A6D230AE-022D-FDFE-5073-2C87699AE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63675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105A7-A16D-95C9-C7FE-11852CD9F45D}"/>
              </a:ext>
            </a:extLst>
          </p:cNvPr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149A0-1148-9C6B-9119-96610A48A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34317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(2)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I will go to the Gym</a:t>
            </a:r>
            <a:endParaRPr lang="en-US" dirty="0"/>
          </a:p>
          <a:p>
            <a:endParaRPr lang="en-GB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964897-A944-0134-49D9-2FA76A199444}"/>
              </a:ext>
            </a:extLst>
          </p:cNvPr>
          <p:cNvGrpSpPr/>
          <p:nvPr/>
        </p:nvGrpSpPr>
        <p:grpSpPr>
          <a:xfrm>
            <a:off x="6529608" y="1600201"/>
            <a:ext cx="4795690" cy="4525963"/>
            <a:chOff x="2892002" y="1916832"/>
            <a:chExt cx="4417516" cy="4169059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C6D22CD9-A7BF-21C4-3E8D-20166D90545D}"/>
                </a:ext>
              </a:extLst>
            </p:cNvPr>
            <p:cNvSpPr/>
            <p:nvPr/>
          </p:nvSpPr>
          <p:spPr>
            <a:xfrm>
              <a:off x="2892002" y="1916832"/>
              <a:ext cx="1800200" cy="1872208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938698A8-1757-FD75-40DF-E0F881582ACA}"/>
                </a:ext>
              </a:extLst>
            </p:cNvPr>
            <p:cNvSpPr/>
            <p:nvPr/>
          </p:nvSpPr>
          <p:spPr>
            <a:xfrm>
              <a:off x="4717230" y="2600908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/>
            </a:p>
          </p:txBody>
        </p:sp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51103EC7-E323-EF35-4DE0-59EC1547CC5E}"/>
                </a:ext>
              </a:extLst>
            </p:cNvPr>
            <p:cNvSpPr/>
            <p:nvPr/>
          </p:nvSpPr>
          <p:spPr>
            <a:xfrm rot="5400000">
              <a:off x="3144030" y="4185084"/>
              <a:ext cx="1296144" cy="5040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709C3EBA-99CF-33A9-FC4C-A8CF5F625EAC}"/>
                </a:ext>
              </a:extLst>
            </p:cNvPr>
            <p:cNvSpPr/>
            <p:nvPr/>
          </p:nvSpPr>
          <p:spPr>
            <a:xfrm>
              <a:off x="6013374" y="2352582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8" name="Process 7">
              <a:extLst>
                <a:ext uri="{FF2B5EF4-FFF2-40B4-BE49-F238E27FC236}">
                  <a16:creationId xmlns:a16="http://schemas.microsoft.com/office/drawing/2014/main" id="{D293AC4E-A84D-5A61-9186-5CE8029ADC53}"/>
                </a:ext>
              </a:extLst>
            </p:cNvPr>
            <p:cNvSpPr/>
            <p:nvPr/>
          </p:nvSpPr>
          <p:spPr>
            <a:xfrm>
              <a:off x="3215680" y="5085184"/>
              <a:ext cx="1296144" cy="1000707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Gym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8CC582-C776-32FC-1D7E-492E5757E136}"/>
                </a:ext>
              </a:extLst>
            </p:cNvPr>
            <p:cNvSpPr txBox="1"/>
            <p:nvPr/>
          </p:nvSpPr>
          <p:spPr>
            <a:xfrm>
              <a:off x="5231904" y="270892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567E5-0B19-1C91-EC06-DC4DA7C27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(2)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362200" y="3117850"/>
            <a:ext cx="7729538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else 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the test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2438401" y="2055813"/>
            <a:ext cx="140987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‘if’ keyword</a:t>
            </a: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4572000" y="1905001"/>
            <a:ext cx="3810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 err="1">
                <a:solidFill>
                  <a:srgbClr val="A57133"/>
                </a:solidFill>
              </a:rPr>
              <a:t>boolean</a:t>
            </a:r>
            <a:r>
              <a:rPr lang="en-US" sz="2000" dirty="0">
                <a:solidFill>
                  <a:srgbClr val="A57133"/>
                </a:solidFill>
              </a:rPr>
              <a:t> condition to be tested</a:t>
            </a:r>
            <a:endParaRPr lang="en-US" sz="2000" dirty="0">
              <a:solidFill>
                <a:srgbClr val="A57133"/>
              </a:solidFill>
              <a:latin typeface="Times New Roman" pitchFamily="18" charset="0"/>
            </a:endParaRPr>
          </a:p>
        </p:txBody>
      </p:sp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6781801" y="2513013"/>
            <a:ext cx="28948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true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6477000" y="5103814"/>
            <a:ext cx="3352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/>
            <a:r>
              <a:rPr lang="en-US" sz="2000" dirty="0">
                <a:solidFill>
                  <a:srgbClr val="A57133"/>
                </a:solidFill>
              </a:rPr>
              <a:t>actions if condition is </a:t>
            </a:r>
            <a:r>
              <a:rPr lang="en-US" sz="2000" b="1" dirty="0">
                <a:solidFill>
                  <a:srgbClr val="A57133"/>
                </a:solidFill>
              </a:rPr>
              <a:t>false</a:t>
            </a:r>
          </a:p>
        </p:txBody>
      </p:sp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2590800" y="5256213"/>
            <a:ext cx="16642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sz="2000">
                <a:solidFill>
                  <a:srgbClr val="A57133"/>
                </a:solidFill>
              </a:rPr>
              <a:t>‘else’ keyword</a:t>
            </a:r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H="1">
            <a:off x="2667000" y="2438400"/>
            <a:ext cx="304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6" name="Line 10"/>
          <p:cNvSpPr>
            <a:spLocks noChangeShapeType="1"/>
          </p:cNvSpPr>
          <p:nvPr/>
        </p:nvSpPr>
        <p:spPr bwMode="auto">
          <a:xfrm flipH="1" flipV="1">
            <a:off x="2743200" y="4267200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7" name="Line 11"/>
          <p:cNvSpPr>
            <a:spLocks noChangeShapeType="1"/>
          </p:cNvSpPr>
          <p:nvPr/>
        </p:nvSpPr>
        <p:spPr bwMode="auto">
          <a:xfrm flipH="1">
            <a:off x="4267200" y="2286000"/>
            <a:ext cx="1905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 flipH="1">
            <a:off x="7696200" y="28956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/>
          </a:p>
        </p:txBody>
      </p:sp>
      <p:sp>
        <p:nvSpPr>
          <p:cNvPr id="24589" name="Line 13"/>
          <p:cNvSpPr>
            <a:spLocks noChangeShapeType="1"/>
          </p:cNvSpPr>
          <p:nvPr/>
        </p:nvSpPr>
        <p:spPr bwMode="auto">
          <a:xfrm flipH="1" flipV="1">
            <a:off x="7010400" y="4648200"/>
            <a:ext cx="685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E" b="1"/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895600" y="4243388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895600" y="3429000"/>
            <a:ext cx="72390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 b="1"/>
          </a:p>
        </p:txBody>
      </p:sp>
      <p:sp>
        <p:nvSpPr>
          <p:cNvPr id="16" name="Rectangle 15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903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1" grpId="0"/>
      <p:bldP spid="24582" grpId="0"/>
      <p:bldP spid="24583" grpId="0"/>
      <p:bldP spid="24584" grpId="0"/>
      <p:bldP spid="24585" grpId="0" animBg="1"/>
      <p:bldP spid="24586" grpId="0" animBg="1"/>
      <p:bldP spid="24587" grpId="0" animBg="1"/>
      <p:bldP spid="24588" grpId="0" animBg="1"/>
      <p:bldP spid="2458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(2)</a:t>
            </a:r>
          </a:p>
        </p:txBody>
      </p:sp>
      <p:sp>
        <p:nvSpPr>
          <p:cNvPr id="72707" name="Text Box 4"/>
          <p:cNvSpPr txBox="1">
            <a:spLocks noChangeArrowheads="1"/>
          </p:cNvSpPr>
          <p:nvPr/>
        </p:nvSpPr>
        <p:spPr bwMode="auto">
          <a:xfrm>
            <a:off x="1631504" y="1844824"/>
            <a:ext cx="7742825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insertMoney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if(amount &gt; 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balance = balance + amount;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else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System.out.printf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(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"Use a positive amount: %</a:t>
            </a:r>
            <a:r>
              <a:rPr lang="en-US" altLang="en-US" sz="2400" err="1">
                <a:solidFill>
                  <a:schemeClr val="tx1"/>
                </a:solidFill>
                <a:latin typeface="Courier New" charset="0"/>
              </a:rPr>
              <a:t>d%n</a:t>
            </a: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",</a:t>
            </a:r>
            <a:br>
              <a:rPr lang="en-US" altLang="en-US" sz="2400">
                <a:solidFill>
                  <a:schemeClr val="tx1"/>
                </a:solidFill>
                <a:latin typeface="Courier New" charset="0"/>
              </a:rPr>
            </a:b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        amount);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17671" y="5661248"/>
            <a:ext cx="5513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conditional statement avoids an inappropriate 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8DDF6-29CC-488C-2927-B2CF39E84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A519C-088B-71A0-55F9-1DE850CD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CE71C172-2413-DFCA-2FB5-3F7C55A08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GB" altLang="en-US" dirty="0"/>
              <a:t>Making choices in everyday life (3)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1E67BD42-8EF1-DD0E-145F-3FF7AD4975E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09600" y="1600201"/>
            <a:ext cx="4857392" cy="4525963"/>
          </a:xfrm>
        </p:spPr>
        <p:txBody>
          <a:bodyPr>
            <a:normAutofit/>
          </a:bodyPr>
          <a:lstStyle/>
          <a:p>
            <a:r>
              <a:rPr lang="en-GB" altLang="en-US" sz="3200" dirty="0"/>
              <a:t>If I have an assignment to complete, then I shall work on my assignment</a:t>
            </a:r>
          </a:p>
          <a:p>
            <a:r>
              <a:rPr lang="en-GB" altLang="en-US" sz="3200" dirty="0"/>
              <a:t>Otherwise </a:t>
            </a:r>
            <a:r>
              <a:rPr lang="en-IE" altLang="en-US" sz="3200" dirty="0"/>
              <a:t>if I am a member of a gym, go to the gym</a:t>
            </a:r>
          </a:p>
          <a:p>
            <a:r>
              <a:rPr lang="en-IE" sz="3200" dirty="0"/>
              <a:t>Otherwise I will go for a run</a:t>
            </a:r>
            <a:endParaRPr lang="en-US" dirty="0"/>
          </a:p>
          <a:p>
            <a:endParaRPr lang="en-GB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93418C-AD97-5D99-1130-1CAF2694E733}"/>
              </a:ext>
            </a:extLst>
          </p:cNvPr>
          <p:cNvSpPr txBox="1"/>
          <p:nvPr/>
        </p:nvSpPr>
        <p:spPr>
          <a:xfrm>
            <a:off x="7800563" y="2632713"/>
            <a:ext cx="271010" cy="400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C2B05F-789E-9A0D-4094-2DBBAD885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65D3738C-BD9E-4240-BB18-D46D617922B9}"/>
              </a:ext>
            </a:extLst>
          </p:cNvPr>
          <p:cNvGrpSpPr/>
          <p:nvPr/>
        </p:nvGrpSpPr>
        <p:grpSpPr>
          <a:xfrm>
            <a:off x="6094160" y="1817263"/>
            <a:ext cx="4968552" cy="4987921"/>
            <a:chOff x="4367808" y="1772817"/>
            <a:chExt cx="4968552" cy="4987921"/>
          </a:xfrm>
        </p:grpSpPr>
        <p:sp>
          <p:nvSpPr>
            <p:cNvPr id="3" name="Decision 2">
              <a:extLst>
                <a:ext uri="{FF2B5EF4-FFF2-40B4-BE49-F238E27FC236}">
                  <a16:creationId xmlns:a16="http://schemas.microsoft.com/office/drawing/2014/main" id="{14BFD934-8BF7-C0EB-A471-32C431055967}"/>
                </a:ext>
              </a:extLst>
            </p:cNvPr>
            <p:cNvSpPr/>
            <p:nvPr/>
          </p:nvSpPr>
          <p:spPr>
            <a:xfrm>
              <a:off x="4367808" y="1772817"/>
              <a:ext cx="1901028" cy="1291974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Have I work to do? </a:t>
              </a:r>
              <a:endParaRPr lang="en-US" dirty="0"/>
            </a:p>
          </p:txBody>
        </p:sp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667F6C9B-5CD1-022D-FEA3-6C5A9C4009CB}"/>
                </a:ext>
              </a:extLst>
            </p:cNvPr>
            <p:cNvSpPr/>
            <p:nvPr/>
          </p:nvSpPr>
          <p:spPr>
            <a:xfrm>
              <a:off x="6269022" y="2194681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6" name="Process 5">
              <a:extLst>
                <a:ext uri="{FF2B5EF4-FFF2-40B4-BE49-F238E27FC236}">
                  <a16:creationId xmlns:a16="http://schemas.microsoft.com/office/drawing/2014/main" id="{8ECD6C22-EA17-CBEC-15A9-C8E82D94A83B}"/>
                </a:ext>
              </a:extLst>
            </p:cNvPr>
            <p:cNvSpPr/>
            <p:nvPr/>
          </p:nvSpPr>
          <p:spPr>
            <a:xfrm>
              <a:off x="7812837" y="1993143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dirty="0"/>
                <a:t>Just Do it!</a:t>
              </a:r>
              <a:endParaRPr lang="en-US" dirty="0"/>
            </a:p>
          </p:txBody>
        </p:sp>
        <p:sp>
          <p:nvSpPr>
            <p:cNvPr id="2" name="Decision 1">
              <a:extLst>
                <a:ext uri="{FF2B5EF4-FFF2-40B4-BE49-F238E27FC236}">
                  <a16:creationId xmlns:a16="http://schemas.microsoft.com/office/drawing/2014/main" id="{8124FB81-879C-11B2-1770-31C91EC3E381}"/>
                </a:ext>
              </a:extLst>
            </p:cNvPr>
            <p:cNvSpPr/>
            <p:nvPr/>
          </p:nvSpPr>
          <p:spPr>
            <a:xfrm>
              <a:off x="4497940" y="4127676"/>
              <a:ext cx="1640762" cy="1101525"/>
            </a:xfrm>
            <a:prstGeom prst="flowChartDecision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400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Am I a member of a gym?</a:t>
              </a:r>
              <a:endParaRPr lang="en-US" sz="1400" dirty="0"/>
            </a:p>
          </p:txBody>
        </p:sp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5D6AFEEC-2A75-76EE-462A-386672190E51}"/>
                </a:ext>
              </a:extLst>
            </p:cNvPr>
            <p:cNvSpPr/>
            <p:nvPr/>
          </p:nvSpPr>
          <p:spPr>
            <a:xfrm>
              <a:off x="6145724" y="4473896"/>
              <a:ext cx="1523523" cy="4090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Yes</a:t>
              </a:r>
              <a:endParaRPr lang="en-US" dirty="0"/>
            </a:p>
          </p:txBody>
        </p:sp>
        <p:sp>
          <p:nvSpPr>
            <p:cNvPr id="13" name="Process 12">
              <a:extLst>
                <a:ext uri="{FF2B5EF4-FFF2-40B4-BE49-F238E27FC236}">
                  <a16:creationId xmlns:a16="http://schemas.microsoft.com/office/drawing/2014/main" id="{7B95F671-5258-E198-391E-4513EDEA89D1}"/>
                </a:ext>
              </a:extLst>
            </p:cNvPr>
            <p:cNvSpPr/>
            <p:nvPr/>
          </p:nvSpPr>
          <p:spPr>
            <a:xfrm>
              <a:off x="7676268" y="4272357"/>
              <a:ext cx="1523523" cy="812160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Go to the gym</a:t>
              </a:r>
              <a:endParaRPr lang="en-US" dirty="0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EB47B363-2D10-C825-AAA5-36E4B71115DB}"/>
                </a:ext>
              </a:extLst>
            </p:cNvPr>
            <p:cNvSpPr/>
            <p:nvPr/>
          </p:nvSpPr>
          <p:spPr>
            <a:xfrm rot="5400000">
              <a:off x="4866667" y="5525353"/>
              <a:ext cx="903141" cy="29848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18" name="Right Arrow 17">
              <a:extLst>
                <a:ext uri="{FF2B5EF4-FFF2-40B4-BE49-F238E27FC236}">
                  <a16:creationId xmlns:a16="http://schemas.microsoft.com/office/drawing/2014/main" id="{F6F9178F-88E1-5E88-20BE-94D7EE42DB21}"/>
                </a:ext>
              </a:extLst>
            </p:cNvPr>
            <p:cNvSpPr/>
            <p:nvPr/>
          </p:nvSpPr>
          <p:spPr>
            <a:xfrm rot="5400000">
              <a:off x="4778011" y="3302660"/>
              <a:ext cx="1101526" cy="625788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7552">
                <a:spcAft>
                  <a:spcPts val="600"/>
                </a:spcAft>
              </a:pPr>
              <a:r>
                <a:rPr lang="en-US" sz="1944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No</a:t>
              </a:r>
              <a:endParaRPr lang="en-US" dirty="0"/>
            </a:p>
          </p:txBody>
        </p:sp>
        <p:sp>
          <p:nvSpPr>
            <p:cNvPr id="31" name="Process 30">
              <a:extLst>
                <a:ext uri="{FF2B5EF4-FFF2-40B4-BE49-F238E27FC236}">
                  <a16:creationId xmlns:a16="http://schemas.microsoft.com/office/drawing/2014/main" id="{D8315F1E-C916-1F6D-41C1-6C4EB638A79C}"/>
                </a:ext>
              </a:extLst>
            </p:cNvPr>
            <p:cNvSpPr/>
            <p:nvPr/>
          </p:nvSpPr>
          <p:spPr>
            <a:xfrm>
              <a:off x="4560413" y="6148090"/>
              <a:ext cx="1523523" cy="612648"/>
            </a:xfrm>
            <a:prstGeom prst="flowChartProcess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Go for a run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512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 Syntax (3)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162533" y="1897082"/>
            <a:ext cx="79047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condition1…perform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else if(</a:t>
            </a:r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condition2…perform some test</a:t>
            </a:r>
            <a:r>
              <a:rPr lang="en-US" b="1" dirty="0">
                <a:latin typeface="Courier New" pitchFamily="49" charset="0"/>
                <a:cs typeface="Times" pitchFamily="-32" charset="0"/>
              </a:rPr>
              <a:t>) </a:t>
            </a:r>
          </a:p>
          <a:p>
            <a:r>
              <a:rPr lang="en-US" b="1" dirty="0">
                <a:latin typeface="Courier New" pitchFamily="49" charset="0"/>
                <a:cs typeface="Times" pitchFamily="-32" charset="0"/>
              </a:rPr>
              <a:t>{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condition1 gave a false </a:t>
            </a:r>
            <a:b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</a:b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result and condition2 gave a true result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Times" pitchFamily="-32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  <a:cs typeface="Times" pitchFamily="-32" charset="0"/>
              </a:rPr>
              <a:t>}</a:t>
            </a:r>
            <a:r>
              <a:rPr lang="en-US" b="1" dirty="0">
                <a:latin typeface="Courier New" pitchFamily="49" charset="0"/>
              </a:rPr>
              <a:t> 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else</a:t>
            </a: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{</a:t>
            </a:r>
          </a:p>
          <a:p>
            <a:r>
              <a:rPr lang="en-US" b="1" i="1" dirty="0">
                <a:solidFill>
                  <a:srgbClr val="C81D2B"/>
                </a:solidFill>
                <a:latin typeface="Courier New" pitchFamily="49" charset="0"/>
                <a:cs typeface="Times" pitchFamily="-32" charset="0"/>
              </a:rPr>
              <a:t>    </a:t>
            </a:r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Do these statements if both condition1 and </a:t>
            </a:r>
          </a:p>
          <a:p>
            <a:r>
              <a:rPr lang="en-US" b="1" i="1" dirty="0">
                <a:solidFill>
                  <a:srgbClr val="00B050"/>
                </a:solidFill>
                <a:latin typeface="Courier New" pitchFamily="49" charset="0"/>
                <a:cs typeface="Times" pitchFamily="-32" charset="0"/>
              </a:rPr>
              <a:t>    condition2 gave a false result</a:t>
            </a:r>
            <a:endParaRPr lang="en-US" b="1" dirty="0">
              <a:solidFill>
                <a:srgbClr val="00B050"/>
              </a:solidFill>
              <a:latin typeface="Courier New" pitchFamily="49" charset="0"/>
            </a:endParaRPr>
          </a:p>
          <a:p>
            <a:pPr algn="l" eaLnBrk="1" hangingPunct="1"/>
            <a:r>
              <a:rPr lang="en-US" b="1" dirty="0">
                <a:latin typeface="Courier New" pitchFamily="49" charset="0"/>
              </a:rPr>
              <a:t>}</a:t>
            </a:r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2724286" y="36048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2695933" y="2461895"/>
            <a:ext cx="7371328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2695933" y="4900295"/>
            <a:ext cx="7371328" cy="6334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E"/>
          </a:p>
        </p:txBody>
      </p:sp>
      <p:sp>
        <p:nvSpPr>
          <p:cNvPr id="2" name="Rectangle 1"/>
          <p:cNvSpPr/>
          <p:nvPr/>
        </p:nvSpPr>
        <p:spPr>
          <a:xfrm>
            <a:off x="2057400" y="1752600"/>
            <a:ext cx="8305800" cy="441960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5-Point Star 5"/>
          <p:cNvSpPr/>
          <p:nvPr/>
        </p:nvSpPr>
        <p:spPr>
          <a:xfrm>
            <a:off x="1599894" y="2971800"/>
            <a:ext cx="533400" cy="457200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49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9D09-F4F7-81A9-BB49-A1961C2A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B3EBDA19-B0CA-FF24-A4E3-35D84CCFC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Making a choice in the ticket machine (3)</a:t>
            </a:r>
          </a:p>
        </p:txBody>
      </p:sp>
      <p:sp>
        <p:nvSpPr>
          <p:cNvPr id="72707" name="Text Box 4">
            <a:extLst>
              <a:ext uri="{FF2B5EF4-FFF2-40B4-BE49-F238E27FC236}">
                <a16:creationId xmlns:a16="http://schemas.microsoft.com/office/drawing/2014/main" id="{2CDA4B6D-7D8D-D629-6D49-C481D307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844824"/>
            <a:ext cx="682109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public void </a:t>
            </a:r>
            <a:r>
              <a:rPr lang="en-US" altLang="en-US" sz="2400" dirty="0" err="1">
                <a:solidFill>
                  <a:schemeClr val="tx1"/>
                </a:solidFill>
                <a:latin typeface="Courier New" charset="0"/>
              </a:rPr>
              <a:t>specialOffer</a:t>
            </a: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(int amount)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if(amount &gt;100) 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+ 50;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if (amount &gt; 50){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    balance = balance + 25;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    else amount = amount + 5;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tx1"/>
                </a:solidFill>
                <a:latin typeface="Courier New" charset="0"/>
              </a:rPr>
              <a:t>}</a:t>
            </a: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3AC94E-0F7C-95B1-4362-1BBDC100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528" y="363485"/>
            <a:ext cx="953541" cy="1026459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EE4EC2-6E4A-26A9-7252-DFC158659CE5}"/>
              </a:ext>
            </a:extLst>
          </p:cNvPr>
          <p:cNvSpPr txBox="1"/>
          <p:nvPr/>
        </p:nvSpPr>
        <p:spPr>
          <a:xfrm>
            <a:off x="9048328" y="3356992"/>
            <a:ext cx="2160240" cy="20313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  <a:alpha val="62000"/>
              </a:schemeClr>
            </a:solidFill>
          </a:ln>
          <a:effectLst>
            <a:outerShdw blurRad="50800" dist="50800" dir="5400000" algn="ctr" rotWithShape="0">
              <a:srgbClr val="000000">
                <a:alpha val="68539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Note that if any condition is true, the associated statements are executed AND the if statement is finished.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8818881-955A-F47A-E2DC-45A3C571EADD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4655840" y="2924944"/>
            <a:ext cx="4392488" cy="1447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6F76B0-339F-820C-B63B-0CCB114598E8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4511824" y="4005064"/>
            <a:ext cx="4536504" cy="3675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3476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</a:t>
            </a:r>
            <a:r>
              <a:rPr lang="en-IE" b="1" dirty="0"/>
              <a:t>true</a:t>
            </a:r>
            <a:r>
              <a:rPr lang="en-IE" dirty="0"/>
              <a:t> or </a:t>
            </a:r>
            <a:r>
              <a:rPr lang="en-IE" b="1" dirty="0"/>
              <a:t>false</a:t>
            </a:r>
            <a:r>
              <a:rPr lang="en-IE" dirty="0"/>
              <a:t>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price </a:t>
            </a:r>
            <a:r>
              <a:rPr lang="en-IE" sz="2800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 </a:t>
            </a:r>
          </a:p>
          <a:p>
            <a:pPr marL="0" indent="0">
              <a:buNone/>
            </a:pPr>
            <a:endParaRPr lang="en-IE" sz="2800" dirty="0">
              <a:solidFill>
                <a:schemeClr val="accent4">
                  <a:lumMod val="50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n-IE" dirty="0"/>
              <a:t>An if statement evaluates a </a:t>
            </a:r>
            <a:r>
              <a:rPr lang="en-IE" b="1" dirty="0" err="1"/>
              <a:t>boolean</a:t>
            </a:r>
            <a:r>
              <a:rPr lang="en-IE" b="1" dirty="0"/>
              <a:t> condition </a:t>
            </a:r>
            <a:r>
              <a:rPr lang="en-IE" dirty="0"/>
              <a:t>and its result will determine which portion of the if statement is executed.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29080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Boolean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1" y="2133600"/>
            <a:ext cx="7102549" cy="34163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before.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if (</a:t>
            </a:r>
            <a:r>
              <a:rPr lang="en-US" sz="2400" b="1" dirty="0" err="1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boolean</a:t>
            </a:r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 condition) 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{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     // Perform this clause if the </a:t>
            </a:r>
          </a:p>
          <a:p>
            <a:r>
              <a:rPr lang="en-US" sz="2400" b="1" dirty="0">
                <a:solidFill>
                  <a:srgbClr val="00B050"/>
                </a:solidFill>
                <a:latin typeface="Anonymous" pitchFamily="49" charset="0"/>
                <a:ea typeface="ＭＳ Ｐゴシック" pitchFamily="28" charset="-128"/>
              </a:rPr>
              <a:t>	// condition is true.</a:t>
            </a:r>
          </a:p>
          <a:p>
            <a:r>
              <a:rPr lang="en-US" sz="2400" b="1" dirty="0">
                <a:solidFill>
                  <a:srgbClr val="FF0000"/>
                </a:solidFill>
                <a:latin typeface="Anonymous" pitchFamily="49" charset="0"/>
                <a:ea typeface="ＭＳ Ｐゴシック" pitchFamily="28" charset="-128"/>
              </a:rPr>
              <a:t>}</a:t>
            </a:r>
          </a:p>
          <a:p>
            <a:endParaRPr lang="en-US" sz="2400" b="1" dirty="0">
              <a:solidFill>
                <a:srgbClr val="FF0000"/>
              </a:solidFill>
              <a:latin typeface="Anonymous" pitchFamily="49" charset="0"/>
              <a:ea typeface="ＭＳ Ｐゴシック" pitchFamily="28" charset="-128"/>
            </a:endParaRPr>
          </a:p>
          <a:p>
            <a:r>
              <a:rPr lang="en-US" sz="2400" b="1" dirty="0">
                <a:solidFill>
                  <a:schemeClr val="tx2"/>
                </a:solidFill>
                <a:latin typeface="Anonymous" pitchFamily="49" charset="0"/>
                <a:ea typeface="ＭＳ Ｐゴシック" pitchFamily="28" charset="-128"/>
              </a:rPr>
              <a:t>// Do these statements after.</a:t>
            </a:r>
          </a:p>
        </p:txBody>
      </p:sp>
    </p:spTree>
    <p:extLst>
      <p:ext uri="{BB962C8B-B14F-4D97-AF65-F5344CB8AC3E}">
        <p14:creationId xmlns:p14="http://schemas.microsoft.com/office/powerpoint/2010/main" val="3669506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Java Relational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0" y="1524001"/>
          <a:ext cx="8382000" cy="38013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59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4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Operator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Use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b="1" dirty="0">
                          <a:effectLst/>
                        </a:rPr>
                        <a:t>Returns true if…</a:t>
                      </a:r>
                    </a:p>
                  </a:txBody>
                  <a:tcPr marL="25558" marR="25558" marT="25558" marB="2555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 op2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nl-NL" sz="2400" dirty="0">
                          <a:effectLst/>
                        </a:rPr>
                        <a:t>op1 is </a:t>
                      </a:r>
                      <a:r>
                        <a:rPr lang="nl-NL" sz="2400" b="1" dirty="0">
                          <a:effectLst/>
                        </a:rPr>
                        <a:t>greater</a:t>
                      </a:r>
                      <a:r>
                        <a:rPr lang="nl-NL" sz="2400" dirty="0">
                          <a:effectLst/>
                        </a:rPr>
                        <a:t> than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&gt;=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&gt;=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greater than or equal</a:t>
                      </a:r>
                      <a:r>
                        <a:rPr lang="en-IE" sz="2400" dirty="0">
                          <a:effectLst/>
                        </a:rPr>
                        <a:t>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</a:t>
                      </a:r>
                      <a:r>
                        <a:rPr lang="en-IE" sz="2400" dirty="0">
                          <a:effectLst/>
                        </a:rPr>
                        <a:t> than 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&lt;=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&lt;=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is </a:t>
                      </a:r>
                      <a:r>
                        <a:rPr lang="en-IE" sz="2400" b="1" dirty="0">
                          <a:effectLst/>
                        </a:rPr>
                        <a:t>less than or equal </a:t>
                      </a:r>
                      <a:r>
                        <a:rPr lang="en-IE" sz="2400" dirty="0">
                          <a:effectLst/>
                        </a:rPr>
                        <a:t>to op2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==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==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E" sz="3200" b="1" dirty="0">
                          <a:effectLst/>
                        </a:rPr>
                        <a:t>!=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 != op2 </a:t>
                      </a:r>
                    </a:p>
                  </a:txBody>
                  <a:tcPr marL="25558" marR="25558" marT="25558" marB="2555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E" sz="2400" dirty="0">
                          <a:effectLst/>
                        </a:rPr>
                        <a:t>op1 and op2 are </a:t>
                      </a:r>
                      <a:r>
                        <a:rPr lang="en-IE" sz="2400" b="1" dirty="0">
                          <a:effectLst/>
                        </a:rPr>
                        <a:t>not equal</a:t>
                      </a:r>
                    </a:p>
                  </a:txBody>
                  <a:tcPr marL="25558" marR="25558" marT="25558" marB="255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19600" y="6488668"/>
            <a:ext cx="6248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600" dirty="0"/>
              <a:t>Source: </a:t>
            </a:r>
            <a:r>
              <a:rPr lang="en-IE" sz="1600" dirty="0">
                <a:hlinkClick r:id="rId2"/>
              </a:rPr>
              <a:t>http://www.freejavaguide.com/relational_operators.htm</a:t>
            </a:r>
            <a:r>
              <a:rPr lang="en-IE" sz="16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5604" y="5867401"/>
            <a:ext cx="6813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BEWARE </a:t>
            </a:r>
            <a:r>
              <a:rPr lang="en-GB" b="1" dirty="0">
                <a:solidFill>
                  <a:srgbClr val="FF0000"/>
                </a:solidFill>
              </a:rPr>
              <a:t>=</a:t>
            </a:r>
            <a:r>
              <a:rPr lang="en-GB" dirty="0">
                <a:solidFill>
                  <a:srgbClr val="FF0000"/>
                </a:solidFill>
              </a:rPr>
              <a:t> is an assignment operator. </a:t>
            </a:r>
          </a:p>
          <a:p>
            <a:r>
              <a:rPr lang="en-GB" dirty="0">
                <a:solidFill>
                  <a:srgbClr val="FF0000"/>
                </a:solidFill>
              </a:rPr>
              <a:t>It doesn’t test for equality. Use </a:t>
            </a:r>
            <a:r>
              <a:rPr lang="en-GB" b="1" dirty="0">
                <a:solidFill>
                  <a:srgbClr val="FF0000"/>
                </a:solidFill>
              </a:rPr>
              <a:t>==</a:t>
            </a:r>
            <a:r>
              <a:rPr lang="en-GB" dirty="0">
                <a:solidFill>
                  <a:srgbClr val="FF0000"/>
                </a:solidFill>
              </a:rPr>
              <a:t> to test for equality in primitive types</a:t>
            </a:r>
          </a:p>
        </p:txBody>
      </p:sp>
    </p:spTree>
    <p:extLst>
      <p:ext uri="{BB962C8B-B14F-4D97-AF65-F5344CB8AC3E}">
        <p14:creationId xmlns:p14="http://schemas.microsoft.com/office/powerpoint/2010/main" val="163129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An if statement </a:t>
            </a:r>
            <a:r>
              <a:rPr lang="en-IE" dirty="0">
                <a:solidFill>
                  <a:srgbClr val="FF0000"/>
                </a:solidFill>
              </a:rPr>
              <a:t>IS</a:t>
            </a:r>
            <a:r>
              <a:rPr lang="en-IE" dirty="0"/>
              <a:t> a </a:t>
            </a:r>
            <a:r>
              <a:rPr lang="en-IE" b="1" dirty="0"/>
              <a:t>statement</a:t>
            </a:r>
            <a:r>
              <a:rPr lang="en-IE" dirty="0"/>
              <a:t>; </a:t>
            </a:r>
            <a:br>
              <a:rPr lang="en-IE" dirty="0"/>
            </a:br>
            <a:r>
              <a:rPr lang="en-IE" dirty="0"/>
              <a:t>	it is only executed once.</a:t>
            </a:r>
          </a:p>
          <a:p>
            <a:r>
              <a:rPr lang="en-IE" dirty="0"/>
              <a:t>When your if statement only has </a:t>
            </a:r>
            <a:r>
              <a:rPr lang="en-IE" u="sng" dirty="0"/>
              <a:t>one</a:t>
            </a:r>
            <a:r>
              <a:rPr lang="en-IE" dirty="0"/>
              <a:t> statement inside it, you do not need to use the curly braces.</a:t>
            </a:r>
          </a:p>
          <a:p>
            <a:r>
              <a:rPr lang="en-IE" dirty="0"/>
              <a:t>For example, both of these are the same:</a:t>
            </a:r>
          </a:p>
          <a:p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2667000" y="4840070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price = 50;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384032" y="4978569"/>
            <a:ext cx="2971800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price = 50;</a:t>
            </a:r>
          </a:p>
        </p:txBody>
      </p:sp>
    </p:spTree>
    <p:extLst>
      <p:ext uri="{BB962C8B-B14F-4D97-AF65-F5344CB8AC3E}">
        <p14:creationId xmlns:p14="http://schemas.microsoft.com/office/powerpoint/2010/main" val="93314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notes on the if statement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 semi-colon (</a:t>
            </a:r>
            <a:r>
              <a:rPr lang="en-IE" b="1" dirty="0"/>
              <a:t>;</a:t>
            </a:r>
            <a:r>
              <a:rPr lang="en-IE" dirty="0"/>
              <a:t>) is a </a:t>
            </a:r>
            <a:r>
              <a:rPr lang="en-IE" b="1" dirty="0"/>
              <a:t>statement terminator</a:t>
            </a:r>
            <a:r>
              <a:rPr lang="en-IE" dirty="0"/>
              <a:t>.</a:t>
            </a:r>
          </a:p>
          <a:p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5" name="Rectangle 4"/>
          <p:cNvSpPr/>
          <p:nvPr/>
        </p:nvSpPr>
        <p:spPr>
          <a:xfrm>
            <a:off x="4610100" y="2947479"/>
            <a:ext cx="2971800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if (</a:t>
            </a:r>
            <a:r>
              <a:rPr lang="en-IE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price 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50)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{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en-IE" dirty="0" err="1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rect</a:t>
            </a:r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(0, 0, 50, 100) ; </a:t>
            </a:r>
          </a:p>
          <a:p>
            <a:r>
              <a:rPr lang="en-IE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} </a:t>
            </a:r>
            <a:endParaRPr lang="en-IE" dirty="0"/>
          </a:p>
        </p:txBody>
      </p:sp>
      <p:sp>
        <p:nvSpPr>
          <p:cNvPr id="2" name="Oval 1"/>
          <p:cNvSpPr/>
          <p:nvPr/>
        </p:nvSpPr>
        <p:spPr>
          <a:xfrm>
            <a:off x="6816080" y="3284016"/>
            <a:ext cx="152400" cy="97609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b="1" dirty="0"/>
          </a:p>
        </p:txBody>
      </p:sp>
      <p:sp>
        <p:nvSpPr>
          <p:cNvPr id="6" name="Left Arrow 5"/>
          <p:cNvSpPr/>
          <p:nvPr/>
        </p:nvSpPr>
        <p:spPr>
          <a:xfrm rot="820408">
            <a:off x="6169718" y="3294826"/>
            <a:ext cx="2783160" cy="26834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8863716" y="3429000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40B62-FD9D-F06E-C2CF-FE9F8035F4F9}"/>
              </a:ext>
            </a:extLst>
          </p:cNvPr>
          <p:cNvSpPr txBox="1"/>
          <p:nvPr/>
        </p:nvSpPr>
        <p:spPr>
          <a:xfrm>
            <a:off x="4943872" y="5064336"/>
            <a:ext cx="1752600" cy="70788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No semi-colon needed here</a:t>
            </a: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024E6194-C19D-4EEF-0A92-D0337CD58009}"/>
              </a:ext>
            </a:extLst>
          </p:cNvPr>
          <p:cNvSpPr/>
          <p:nvPr/>
        </p:nvSpPr>
        <p:spPr>
          <a:xfrm rot="2969422">
            <a:off x="4670779" y="4362194"/>
            <a:ext cx="1445982" cy="289225"/>
          </a:xfrm>
          <a:prstGeom prst="leftArrow">
            <a:avLst>
              <a:gd name="adj1" fmla="val 769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0B0C3-4CF6-F722-66FB-94F3A279831F}"/>
              </a:ext>
            </a:extLst>
          </p:cNvPr>
          <p:cNvSpPr txBox="1"/>
          <p:nvPr/>
        </p:nvSpPr>
        <p:spPr>
          <a:xfrm>
            <a:off x="9485575" y="5211871"/>
            <a:ext cx="1752600" cy="70788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Semi-colon </a:t>
            </a:r>
            <a:r>
              <a:rPr lang="en-IE" sz="2000" b="1" dirty="0"/>
              <a:t>IS </a:t>
            </a:r>
            <a:r>
              <a:rPr lang="en-IE" sz="2000" dirty="0"/>
              <a:t>needed here</a:t>
            </a:r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0EC9097B-0C94-BE25-8BC3-C361ECBB5A44}"/>
              </a:ext>
            </a:extLst>
          </p:cNvPr>
          <p:cNvSpPr/>
          <p:nvPr/>
        </p:nvSpPr>
        <p:spPr>
          <a:xfrm rot="1607918" flipV="1">
            <a:off x="6884288" y="4472615"/>
            <a:ext cx="2800454" cy="219325"/>
          </a:xfrm>
          <a:prstGeom prst="leftArrow">
            <a:avLst>
              <a:gd name="adj1" fmla="val 7692"/>
              <a:gd name="adj2" fmla="val 50000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234460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E" dirty="0"/>
              <a:t>Conditional Example 1– Child or Adult?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Functionality:</a:t>
            </a:r>
          </a:p>
          <a:p>
            <a:pPr marL="457200" lvl="1" indent="0">
              <a:buNone/>
            </a:pPr>
            <a:endParaRPr lang="en-IE" sz="2800" dirty="0"/>
          </a:p>
          <a:p>
            <a:pPr marL="0" indent="0">
              <a:buNone/>
            </a:pPr>
            <a:r>
              <a:rPr lang="en-IE" b="1" dirty="0"/>
              <a:t>Anyone less than 19 is a child and everyone else is an adult</a:t>
            </a:r>
            <a:endParaRPr lang="en-IE" dirty="0"/>
          </a:p>
          <a:p>
            <a:endParaRPr lang="en-IE" dirty="0"/>
          </a:p>
          <a:p>
            <a:pPr lvl="1"/>
            <a:r>
              <a:rPr lang="en-IE" sz="2800" b="1" dirty="0"/>
              <a:t>age &lt; 19 - child</a:t>
            </a:r>
            <a:endParaRPr lang="en-IE" sz="2800" dirty="0"/>
          </a:p>
          <a:p>
            <a:pPr lvl="1"/>
            <a:endParaRPr lang="en-IE" sz="2800" dirty="0"/>
          </a:p>
          <a:p>
            <a:pPr lvl="1"/>
            <a:r>
              <a:rPr lang="en-IE" sz="2800" b="1" dirty="0"/>
              <a:t>Otherwise adult</a:t>
            </a:r>
            <a:endParaRPr lang="en-IE" sz="2800" dirty="0"/>
          </a:p>
        </p:txBody>
      </p:sp>
      <p:pic>
        <p:nvPicPr>
          <p:cNvPr id="1028" name="Picture 4" descr="Opposite words with adult and child | Free Vector">
            <a:extLst>
              <a:ext uri="{FF2B5EF4-FFF2-40B4-BE49-F238E27FC236}">
                <a16:creationId xmlns:a16="http://schemas.microsoft.com/office/drawing/2014/main" id="{6237AFDF-7FCD-D056-A42F-409BCBB9E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15394" y="1600201"/>
            <a:ext cx="3349212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27990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2DA89E-C0B7-D537-5887-A9C7567CF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48" y="1887113"/>
            <a:ext cx="7739561" cy="4013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31958" y="2057401"/>
            <a:ext cx="2283642" cy="419099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Conditional Example 1 - code</a:t>
            </a: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6477000" y="3021012"/>
            <a:ext cx="1831158" cy="40798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6359917" y="4724400"/>
            <a:ext cx="2293506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E2AD5ED-DF42-3F87-52F5-27C25FA6B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209800"/>
            <a:ext cx="1143000" cy="17019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4CCC231-D48F-5147-947C-979340D89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423" y="4064138"/>
            <a:ext cx="752554" cy="169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5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E" sz="3700" dirty="0"/>
              <a:t>Conditional Example 2 – Introduce more age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E" sz="1800" dirty="0"/>
              <a:t>Functionality: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IE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IE" sz="1800" b="1" dirty="0"/>
              <a:t>If</a:t>
            </a:r>
            <a:r>
              <a:rPr lang="en-IE" sz="1800" dirty="0"/>
              <a:t> the </a:t>
            </a:r>
            <a:r>
              <a:rPr lang="en-IE" sz="1800" b="1" dirty="0"/>
              <a:t>age is</a:t>
            </a:r>
            <a:endParaRPr lang="en-IE" sz="1800" dirty="0"/>
          </a:p>
          <a:p>
            <a:pPr marL="0" indent="0">
              <a:lnSpc>
                <a:spcPct val="90000"/>
              </a:lnSpc>
              <a:buNone/>
            </a:pPr>
            <a:endParaRPr lang="en-IE" sz="1800" dirty="0"/>
          </a:p>
          <a:p>
            <a:pPr>
              <a:lnSpc>
                <a:spcPct val="90000"/>
              </a:lnSpc>
            </a:pPr>
            <a:r>
              <a:rPr lang="en-IE" sz="1800" b="1" dirty="0"/>
              <a:t>&lt; 4 Baby</a:t>
            </a:r>
            <a:endParaRPr lang="en-IE" sz="1800" dirty="0"/>
          </a:p>
          <a:p>
            <a:pPr>
              <a:lnSpc>
                <a:spcPct val="90000"/>
              </a:lnSpc>
            </a:pPr>
            <a:endParaRPr lang="en-IE" sz="1800" dirty="0"/>
          </a:p>
          <a:p>
            <a:pPr>
              <a:lnSpc>
                <a:spcPct val="90000"/>
              </a:lnSpc>
            </a:pPr>
            <a:r>
              <a:rPr lang="en-IE" sz="1800" b="1" dirty="0"/>
              <a:t>&lt; 13- Child</a:t>
            </a:r>
            <a:endParaRPr lang="en-IE" sz="1800" dirty="0"/>
          </a:p>
          <a:p>
            <a:pPr>
              <a:lnSpc>
                <a:spcPct val="90000"/>
              </a:lnSpc>
            </a:pPr>
            <a:endParaRPr lang="en-IE" sz="1800" dirty="0"/>
          </a:p>
          <a:p>
            <a:pPr>
              <a:lnSpc>
                <a:spcPct val="90000"/>
              </a:lnSpc>
            </a:pPr>
            <a:r>
              <a:rPr lang="en-IE" sz="1800" b="1" dirty="0"/>
              <a:t>&lt; 19 – Teenager</a:t>
            </a:r>
          </a:p>
          <a:p>
            <a:pPr>
              <a:lnSpc>
                <a:spcPct val="90000"/>
              </a:lnSpc>
            </a:pPr>
            <a:endParaRPr lang="en-IE" sz="1800" b="1" dirty="0"/>
          </a:p>
          <a:p>
            <a:pPr>
              <a:lnSpc>
                <a:spcPct val="90000"/>
              </a:lnSpc>
            </a:pPr>
            <a:r>
              <a:rPr lang="en-IE" sz="1800" b="1" dirty="0"/>
              <a:t>Otherwise Adult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CDCA7B5-CFF0-2B8B-9FAC-2FEFD3A3F8E4}"/>
              </a:ext>
            </a:extLst>
          </p:cNvPr>
          <p:cNvGrpSpPr/>
          <p:nvPr/>
        </p:nvGrpSpPr>
        <p:grpSpPr>
          <a:xfrm>
            <a:off x="6197600" y="2081070"/>
            <a:ext cx="5384800" cy="3024330"/>
            <a:chOff x="6197600" y="2081070"/>
            <a:chExt cx="5384800" cy="3024330"/>
          </a:xfrm>
        </p:grpSpPr>
        <p:pic>
          <p:nvPicPr>
            <p:cNvPr id="2050" name="Picture 2" descr="Solved Please use HTML and PHP a. The user will enter their | Chegg.com">
              <a:extLst>
                <a:ext uri="{FF2B5EF4-FFF2-40B4-BE49-F238E27FC236}">
                  <a16:creationId xmlns:a16="http://schemas.microsoft.com/office/drawing/2014/main" id="{D9DD5FA4-7E54-305F-94B6-C52FA9F125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148"/>
            <a:stretch>
              <a:fillRect/>
            </a:stretch>
          </p:blipFill>
          <p:spPr bwMode="auto">
            <a:xfrm>
              <a:off x="6197600" y="2081070"/>
              <a:ext cx="5384800" cy="3024330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CB1B7B-93E0-8948-FC63-65011C0CB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0" y="4680652"/>
              <a:ext cx="1447800" cy="3916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9268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7E6B9B-42C9-1394-E2FC-AFB38F8CE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309" y="1501470"/>
            <a:ext cx="6553200" cy="558660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Conditional Example 2 - code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>
            <a:off x="4953000" y="2743200"/>
            <a:ext cx="297180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4953000" y="3861048"/>
            <a:ext cx="297180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>
            <a:off x="5334000" y="4941168"/>
            <a:ext cx="259080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7556BD7-1753-6923-28C7-B2F6FF76F53F}"/>
              </a:ext>
            </a:extLst>
          </p:cNvPr>
          <p:cNvCxnSpPr>
            <a:cxnSpLocks/>
          </p:cNvCxnSpPr>
          <p:nvPr/>
        </p:nvCxnSpPr>
        <p:spPr>
          <a:xfrm>
            <a:off x="5036634" y="6021288"/>
            <a:ext cx="297180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F64AFC-AA1E-D63E-C527-B962BA1839DA}"/>
              </a:ext>
            </a:extLst>
          </p:cNvPr>
          <p:cNvGrpSpPr/>
          <p:nvPr/>
        </p:nvGrpSpPr>
        <p:grpSpPr>
          <a:xfrm>
            <a:off x="7816781" y="1524000"/>
            <a:ext cx="1327219" cy="5103454"/>
            <a:chOff x="7816781" y="1524000"/>
            <a:chExt cx="1327219" cy="5103454"/>
          </a:xfrm>
        </p:grpSpPr>
        <p:sp>
          <p:nvSpPr>
            <p:cNvPr id="9" name="Rectangle 8"/>
            <p:cNvSpPr/>
            <p:nvPr/>
          </p:nvSpPr>
          <p:spPr>
            <a:xfrm>
              <a:off x="7816781" y="1524000"/>
              <a:ext cx="1327219" cy="510345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4A4822F-DB3B-EDAF-F142-2A0464E94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3096" y="3405274"/>
              <a:ext cx="492442" cy="73325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D22A0B8-C1B1-F1F8-EB09-6DCDF4F6F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9600" y="5330687"/>
              <a:ext cx="533400" cy="120179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6030167-E8BB-AB40-AE11-A518724A2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26370" y="2103026"/>
              <a:ext cx="845893" cy="1013548"/>
            </a:xfrm>
            <a:prstGeom prst="rect">
              <a:avLst/>
            </a:prstGeom>
          </p:spPr>
        </p:pic>
        <p:pic>
          <p:nvPicPr>
            <p:cNvPr id="3074" name="Picture 2" descr="Teenager clipart Images - Free Download on Freepik">
              <a:extLst>
                <a:ext uri="{FF2B5EF4-FFF2-40B4-BE49-F238E27FC236}">
                  <a16:creationId xmlns:a16="http://schemas.microsoft.com/office/drawing/2014/main" id="{438BD6B7-DEF6-9B3D-E276-F877002857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229600" y="4272730"/>
              <a:ext cx="321388" cy="92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1752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2EE63-8455-6C30-BC07-945E0547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6DD88F-D318-3DC3-FC9D-E49967888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309" y="1501470"/>
            <a:ext cx="6553200" cy="5586603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5C0C0A-A198-CEFC-2688-5275C650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Conditional Example 2 – different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B053C0-D29C-E37E-962C-B10DF34486DB}"/>
              </a:ext>
            </a:extLst>
          </p:cNvPr>
          <p:cNvSpPr txBox="1"/>
          <p:nvPr/>
        </p:nvSpPr>
        <p:spPr>
          <a:xfrm>
            <a:off x="7248128" y="1647161"/>
            <a:ext cx="433427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What happens when the value of age changes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21 </a:t>
            </a:r>
          </a:p>
        </p:txBody>
      </p:sp>
    </p:spTree>
    <p:extLst>
      <p:ext uri="{BB962C8B-B14F-4D97-AF65-F5344CB8AC3E}">
        <p14:creationId xmlns:p14="http://schemas.microsoft.com/office/powerpoint/2010/main" val="2958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8DFB-4F19-D546-B1D8-F43CC772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Boolean Conditions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18F721-C5AC-694A-B1B7-88D0D44B0831}"/>
              </a:ext>
            </a:extLst>
          </p:cNvPr>
          <p:cNvSpPr txBox="1"/>
          <p:nvPr/>
        </p:nvSpPr>
        <p:spPr>
          <a:xfrm>
            <a:off x="6249320" y="2042556"/>
            <a:ext cx="292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600" dirty="0"/>
              <a:t>if (age &lt; 4)</a:t>
            </a:r>
            <a:endParaRPr lang="en-GB" sz="5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C3FFD9-2B4F-114D-8436-48B601B565DD}"/>
              </a:ext>
            </a:extLst>
          </p:cNvPr>
          <p:cNvSpPr txBox="1"/>
          <p:nvPr/>
        </p:nvSpPr>
        <p:spPr>
          <a:xfrm>
            <a:off x="6240710" y="3026483"/>
            <a:ext cx="3234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3600" dirty="0"/>
              <a:t>else if (age &lt; 13)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02258D-5C66-C228-55DA-61CD27079665}"/>
              </a:ext>
            </a:extLst>
          </p:cNvPr>
          <p:cNvGrpSpPr/>
          <p:nvPr/>
        </p:nvGrpSpPr>
        <p:grpSpPr>
          <a:xfrm>
            <a:off x="2419945" y="1752600"/>
            <a:ext cx="2283642" cy="4190996"/>
            <a:chOff x="7651683" y="1976880"/>
            <a:chExt cx="2283642" cy="41909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9C26B2-FA45-07B5-6650-1018A857CB08}"/>
                </a:ext>
              </a:extLst>
            </p:cNvPr>
            <p:cNvSpPr/>
            <p:nvPr/>
          </p:nvSpPr>
          <p:spPr>
            <a:xfrm>
              <a:off x="7651683" y="1976880"/>
              <a:ext cx="2283642" cy="419099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875F475-CF3A-7F55-1C35-1C3622DD17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58200" y="2209800"/>
              <a:ext cx="1143000" cy="170193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5B6BA28-8D62-3B3A-B6EB-7EEB15FF3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53423" y="4064138"/>
              <a:ext cx="752554" cy="169557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96DADDA-8D53-EA73-A3D9-7E83A65C6713}"/>
              </a:ext>
            </a:extLst>
          </p:cNvPr>
          <p:cNvGrpSpPr/>
          <p:nvPr/>
        </p:nvGrpSpPr>
        <p:grpSpPr>
          <a:xfrm>
            <a:off x="9475250" y="1417638"/>
            <a:ext cx="1327219" cy="5103454"/>
            <a:chOff x="7816781" y="1524000"/>
            <a:chExt cx="1327219" cy="51034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5A67AED-367D-2978-3D95-11DFD4CD7133}"/>
                </a:ext>
              </a:extLst>
            </p:cNvPr>
            <p:cNvSpPr/>
            <p:nvPr/>
          </p:nvSpPr>
          <p:spPr>
            <a:xfrm>
              <a:off x="7816781" y="1524000"/>
              <a:ext cx="1327219" cy="510345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214F29C-6B41-C687-8224-1F72A617D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44073" y="3132845"/>
              <a:ext cx="492442" cy="733251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355BBD0-65CB-39A2-7A91-CF6308B88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3115" y="5029884"/>
              <a:ext cx="533400" cy="12017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4B89283-F9C3-B23C-5716-08FE1D641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26370" y="1867659"/>
              <a:ext cx="845893" cy="1013548"/>
            </a:xfrm>
            <a:prstGeom prst="rect">
              <a:avLst/>
            </a:prstGeom>
          </p:spPr>
        </p:pic>
        <p:pic>
          <p:nvPicPr>
            <p:cNvPr id="22" name="Picture 2" descr="Teenager clipart Images - Free Download on Freepik">
              <a:extLst>
                <a:ext uri="{FF2B5EF4-FFF2-40B4-BE49-F238E27FC236}">
                  <a16:creationId xmlns:a16="http://schemas.microsoft.com/office/drawing/2014/main" id="{89F5D764-B5FB-C568-96C2-89C6FB1487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185033" y="4001861"/>
              <a:ext cx="321388" cy="92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20867C4-815A-4E4F-A95F-09F9AFB3D40E}"/>
              </a:ext>
            </a:extLst>
          </p:cNvPr>
          <p:cNvSpPr txBox="1"/>
          <p:nvPr/>
        </p:nvSpPr>
        <p:spPr>
          <a:xfrm>
            <a:off x="237161" y="2175514"/>
            <a:ext cx="2146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if (age &lt; 19)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8065AA-810B-58CC-350E-914E8C06ABA2}"/>
              </a:ext>
            </a:extLst>
          </p:cNvPr>
          <p:cNvSpPr txBox="1"/>
          <p:nvPr/>
        </p:nvSpPr>
        <p:spPr>
          <a:xfrm>
            <a:off x="6240710" y="4010410"/>
            <a:ext cx="3234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3600" dirty="0"/>
              <a:t>else if (age &lt; 20)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32B457-2C2C-5982-2B14-CE90060A873F}"/>
              </a:ext>
            </a:extLst>
          </p:cNvPr>
          <p:cNvSpPr txBox="1"/>
          <p:nvPr/>
        </p:nvSpPr>
        <p:spPr>
          <a:xfrm>
            <a:off x="6276717" y="4994337"/>
            <a:ext cx="10342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3600" dirty="0"/>
              <a:t>else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CD3645-B534-1DBF-EBF6-A0E3BAA37C43}"/>
              </a:ext>
            </a:extLst>
          </p:cNvPr>
          <p:cNvSpPr txBox="1"/>
          <p:nvPr/>
        </p:nvSpPr>
        <p:spPr>
          <a:xfrm>
            <a:off x="237161" y="4305077"/>
            <a:ext cx="846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else</a:t>
            </a:r>
          </a:p>
        </p:txBody>
      </p:sp>
    </p:spTree>
    <p:extLst>
      <p:ext uri="{BB962C8B-B14F-4D97-AF65-F5344CB8AC3E}">
        <p14:creationId xmlns:p14="http://schemas.microsoft.com/office/powerpoint/2010/main" val="205316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FCCEC-0643-A08B-5FD8-1B2CE1E5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1">
            <a:extLst>
              <a:ext uri="{FF2B5EF4-FFF2-40B4-BE49-F238E27FC236}">
                <a16:creationId xmlns:a16="http://schemas.microsoft.com/office/drawing/2014/main" id="{F5FCE49E-81AF-8285-011D-1EAC6EF58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97" y="1801224"/>
            <a:ext cx="5611137" cy="45490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0A23FD-A50F-1968-D078-EA1B6AF98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Conditional Example 2 -  better code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4A2D57-E0EB-FF6F-8F8D-25D21E1A513A}"/>
              </a:ext>
            </a:extLst>
          </p:cNvPr>
          <p:cNvCxnSpPr>
            <a:cxnSpLocks/>
          </p:cNvCxnSpPr>
          <p:nvPr/>
        </p:nvCxnSpPr>
        <p:spPr>
          <a:xfrm>
            <a:off x="4953000" y="2743200"/>
            <a:ext cx="297180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063945-2A42-571F-E87C-A49C071D46F9}"/>
              </a:ext>
            </a:extLst>
          </p:cNvPr>
          <p:cNvCxnSpPr>
            <a:cxnSpLocks/>
          </p:cNvCxnSpPr>
          <p:nvPr/>
        </p:nvCxnSpPr>
        <p:spPr>
          <a:xfrm>
            <a:off x="4953000" y="3717032"/>
            <a:ext cx="297180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C9E48EE-56A1-9260-92A2-A350BBBD9D65}"/>
              </a:ext>
            </a:extLst>
          </p:cNvPr>
          <p:cNvCxnSpPr>
            <a:cxnSpLocks/>
          </p:cNvCxnSpPr>
          <p:nvPr/>
        </p:nvCxnSpPr>
        <p:spPr>
          <a:xfrm>
            <a:off x="5334000" y="4581128"/>
            <a:ext cx="2590800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B8D07E-6285-B9D7-ECC9-1EC45892B984}"/>
              </a:ext>
            </a:extLst>
          </p:cNvPr>
          <p:cNvCxnSpPr>
            <a:cxnSpLocks/>
          </p:cNvCxnSpPr>
          <p:nvPr/>
        </p:nvCxnSpPr>
        <p:spPr>
          <a:xfrm>
            <a:off x="4953000" y="5445224"/>
            <a:ext cx="2863781" cy="3600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EA16FF-F7FD-522E-9190-E9638BF8CBD9}"/>
              </a:ext>
            </a:extLst>
          </p:cNvPr>
          <p:cNvGrpSpPr/>
          <p:nvPr/>
        </p:nvGrpSpPr>
        <p:grpSpPr>
          <a:xfrm>
            <a:off x="7816781" y="1524000"/>
            <a:ext cx="1327219" cy="5103454"/>
            <a:chOff x="7816781" y="1524000"/>
            <a:chExt cx="1327219" cy="510345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261654-DB7B-5288-232F-E02E28A881CF}"/>
                </a:ext>
              </a:extLst>
            </p:cNvPr>
            <p:cNvSpPr/>
            <p:nvPr/>
          </p:nvSpPr>
          <p:spPr>
            <a:xfrm>
              <a:off x="7816781" y="1524000"/>
              <a:ext cx="1327219" cy="5103454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38497CA-F145-AD12-395C-5229ED603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3096" y="3405274"/>
              <a:ext cx="492442" cy="73325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C7C89BA-E6B6-FB71-54F6-2B6A62290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29600" y="5330687"/>
              <a:ext cx="533400" cy="120179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5FA70C8-EE37-87B1-AC15-ABFC4A997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26370" y="2103026"/>
              <a:ext cx="845893" cy="1013548"/>
            </a:xfrm>
            <a:prstGeom prst="rect">
              <a:avLst/>
            </a:prstGeom>
          </p:spPr>
        </p:pic>
        <p:pic>
          <p:nvPicPr>
            <p:cNvPr id="3074" name="Picture 2" descr="Teenager clipart Images - Free Download on Freepik">
              <a:extLst>
                <a:ext uri="{FF2B5EF4-FFF2-40B4-BE49-F238E27FC236}">
                  <a16:creationId xmlns:a16="http://schemas.microsoft.com/office/drawing/2014/main" id="{90CFC45E-B479-C77B-61C7-7E311C97E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229600" y="4272730"/>
              <a:ext cx="321388" cy="923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DD3F4F6-B303-4E46-B308-791061F86886}"/>
              </a:ext>
            </a:extLst>
          </p:cNvPr>
          <p:cNvSpPr/>
          <p:nvPr/>
        </p:nvSpPr>
        <p:spPr>
          <a:xfrm>
            <a:off x="10056440" y="2204864"/>
            <a:ext cx="1800200" cy="20678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 when a condition is true, once the </a:t>
            </a:r>
            <a:r>
              <a:rPr lang="en-US" dirty="0" err="1"/>
              <a:t>stmt</a:t>
            </a:r>
            <a:r>
              <a:rPr lang="en-US" dirty="0"/>
              <a:t> is executed, the if </a:t>
            </a:r>
            <a:r>
              <a:rPr lang="en-US" dirty="0" err="1"/>
              <a:t>stmt</a:t>
            </a:r>
            <a:r>
              <a:rPr lang="en-US" dirty="0"/>
              <a:t> is terminated</a:t>
            </a:r>
          </a:p>
        </p:txBody>
      </p:sp>
    </p:spTree>
    <p:extLst>
      <p:ext uri="{BB962C8B-B14F-4D97-AF65-F5344CB8AC3E}">
        <p14:creationId xmlns:p14="http://schemas.microsoft.com/office/powerpoint/2010/main" val="164242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CEC-C519-7415-E8C5-6165A0F60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BD32-6831-866D-240C-B756434C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3E13AD8-C2EB-2965-C5E5-DBF2EFD05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4034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class-definitions</Template>
  <TotalTime>802</TotalTime>
  <Words>1298</Words>
  <Application>Microsoft Macintosh PowerPoint</Application>
  <PresentationFormat>Widescreen</PresentationFormat>
  <Paragraphs>251</Paragraphs>
  <Slides>25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 Unicode MS</vt:lpstr>
      <vt:lpstr>MS PGothic</vt:lpstr>
      <vt:lpstr>Anonymous</vt:lpstr>
      <vt:lpstr>Arial</vt:lpstr>
      <vt:lpstr>Calibri</vt:lpstr>
      <vt:lpstr>Courier New</vt:lpstr>
      <vt:lpstr>Times New Roman</vt:lpstr>
      <vt:lpstr>a-processing-mouse-event-methods</vt:lpstr>
      <vt:lpstr>Selection – if statements</vt:lpstr>
      <vt:lpstr>Upcoming</vt:lpstr>
      <vt:lpstr>Conditionals – the if statement</vt:lpstr>
      <vt:lpstr>Making choices in everyday life</vt:lpstr>
      <vt:lpstr>Conditional Statement Syntax (1)</vt:lpstr>
      <vt:lpstr>Making a choice in the ticket machine (1) </vt:lpstr>
      <vt:lpstr>Making choices in everyday life (2)</vt:lpstr>
      <vt:lpstr>Conditional Statement Syntax (2) </vt:lpstr>
      <vt:lpstr>Making a choice in the ticket machine (2)</vt:lpstr>
      <vt:lpstr>Making choices in everyday life (3)</vt:lpstr>
      <vt:lpstr>Conditional Statement Syntax (3) </vt:lpstr>
      <vt:lpstr>Making a choice in the ticket machine (3)</vt:lpstr>
      <vt:lpstr>Boolean conditions</vt:lpstr>
      <vt:lpstr>Boolean conditions</vt:lpstr>
      <vt:lpstr>Java Relational Operators</vt:lpstr>
      <vt:lpstr>Some notes on the if statement</vt:lpstr>
      <vt:lpstr>Some notes on the if statement</vt:lpstr>
      <vt:lpstr>Conditional Example 1– Child or Adult?</vt:lpstr>
      <vt:lpstr>Conditional Example 1 - code</vt:lpstr>
      <vt:lpstr>Conditional Example 2 – Introduce more age groups</vt:lpstr>
      <vt:lpstr>Conditional Example 2 - code</vt:lpstr>
      <vt:lpstr>Conditional Example 2 – different values</vt:lpstr>
      <vt:lpstr>Simple Boolean Conditions</vt:lpstr>
      <vt:lpstr>Conditional Example 2 -  better code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202</cp:revision>
  <cp:lastPrinted>2003-09-01T07:04:41Z</cp:lastPrinted>
  <dcterms:created xsi:type="dcterms:W3CDTF">2009-04-22T19:24:48Z</dcterms:created>
  <dcterms:modified xsi:type="dcterms:W3CDTF">2025-10-05T15:40:08Z</dcterms:modified>
  <cp:category/>
</cp:coreProperties>
</file>