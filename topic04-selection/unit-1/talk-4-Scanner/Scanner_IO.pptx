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56" r:id="rId2"/>
    <p:sldId id="323" r:id="rId3"/>
    <p:sldId id="335" r:id="rId4"/>
    <p:sldId id="359" r:id="rId5"/>
    <p:sldId id="327" r:id="rId6"/>
    <p:sldId id="324" r:id="rId7"/>
    <p:sldId id="357" r:id="rId8"/>
    <p:sldId id="325" r:id="rId9"/>
    <p:sldId id="326" r:id="rId10"/>
    <p:sldId id="349" r:id="rId11"/>
    <p:sldId id="330" r:id="rId12"/>
    <p:sldId id="358" r:id="rId13"/>
    <p:sldId id="34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9646"/>
    <a:srgbClr val="FACF8B"/>
    <a:srgbClr val="FCBA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97" autoAdjust="0"/>
    <p:restoredTop sz="94799"/>
  </p:normalViewPr>
  <p:slideViewPr>
    <p:cSldViewPr>
      <p:cViewPr varScale="1">
        <p:scale>
          <a:sx n="114" d="100"/>
          <a:sy n="114" d="100"/>
        </p:scale>
        <p:origin x="352" y="17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6BC3C30-7F3D-4B20-9974-47C57B22CA6E}" type="datetimeFigureOut">
              <a:rPr lang="en-IE" smtClean="0"/>
              <a:t>05/10/2025</a:t>
            </a:fld>
            <a:endParaRPr lang="en-IE"/>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609BE90-ABBD-4931-8E0C-089E0ACACA6B}" type="slidenum">
              <a:rPr lang="en-IE" smtClean="0"/>
              <a:t>‹#›</a:t>
            </a:fld>
            <a:endParaRPr lang="en-IE"/>
          </a:p>
        </p:txBody>
      </p:sp>
    </p:spTree>
    <p:extLst>
      <p:ext uri="{BB962C8B-B14F-4D97-AF65-F5344CB8AC3E}">
        <p14:creationId xmlns:p14="http://schemas.microsoft.com/office/powerpoint/2010/main" val="389818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GB"/>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661294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lumMod val="65000"/>
                    <a:lumOff val="35000"/>
                  </a:schemeClr>
                </a:solidFill>
              </a:defRPr>
            </a:lvl1p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7" name="Straight Connector 6"/>
          <p:cNvCxnSpPr/>
          <p:nvPr/>
        </p:nvCxnSpPr>
        <p:spPr>
          <a:xfrm>
            <a:off x="609600" y="1447800"/>
            <a:ext cx="1107440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54FA624-7CFC-3CFB-8384-E3FA99B20E94}"/>
              </a:ext>
            </a:extLst>
          </p:cNvPr>
          <p:cNvCxnSpPr/>
          <p:nvPr/>
        </p:nvCxnSpPr>
        <p:spPr>
          <a:xfrm>
            <a:off x="609600" y="1447800"/>
            <a:ext cx="1107440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C51F014-A304-3672-EB37-723E4843A104}"/>
              </a:ext>
            </a:extLst>
          </p:cNvPr>
          <p:cNvCxnSpPr/>
          <p:nvPr/>
        </p:nvCxnSpPr>
        <p:spPr>
          <a:xfrm>
            <a:off x="609600" y="1447800"/>
            <a:ext cx="1107440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20C5E54-C280-3DCA-A740-33122394ADAE}"/>
              </a:ext>
            </a:extLst>
          </p:cNvPr>
          <p:cNvCxnSpPr/>
          <p:nvPr userDrawn="1"/>
        </p:nvCxnSpPr>
        <p:spPr>
          <a:xfrm>
            <a:off x="609600" y="1447800"/>
            <a:ext cx="1107440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34396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440652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lumMod val="65000"/>
                    <a:lumOff val="35000"/>
                  </a:schemeClr>
                </a:solidFill>
              </a:defRPr>
            </a:lvl1pPr>
          </a:lstStyle>
          <a:p>
            <a:r>
              <a:rPr lang="en-GB"/>
              <a:t>Click to edit Master title style</a:t>
            </a:r>
            <a:endParaRPr lang="en-US" dirty="0"/>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10/5/25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cxnSp>
        <p:nvCxnSpPr>
          <p:cNvPr id="8" name="Straight Connector 7"/>
          <p:cNvCxnSpPr/>
          <p:nvPr/>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2A16B-6893-A143-E832-A99D7B6427B3}"/>
              </a:ext>
            </a:extLst>
          </p:cNvPr>
          <p:cNvCxnSpPr/>
          <p:nvPr/>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B64861E-C2E3-2C0F-0C43-CF6F042CC211}"/>
              </a:ext>
            </a:extLst>
          </p:cNvPr>
          <p:cNvCxnSpPr/>
          <p:nvPr/>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E1B7175-76FE-9275-37DB-FC3B56AF3179}"/>
              </a:ext>
            </a:extLst>
          </p:cNvPr>
          <p:cNvCxnSpPr/>
          <p:nvPr userDrawn="1"/>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99923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lumMod val="65000"/>
                    <a:lumOff val="35000"/>
                  </a:schemeClr>
                </a:solidFill>
              </a:defRPr>
            </a:lvl1pPr>
          </a:lstStyle>
          <a:p>
            <a:r>
              <a:rPr lang="en-GB"/>
              <a:t>Click to edit Master title style</a:t>
            </a:r>
            <a:endParaRPr lang="en-US" dirty="0"/>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10/5/25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cxnSp>
        <p:nvCxnSpPr>
          <p:cNvPr id="10" name="Straight Connector 9"/>
          <p:cNvCxnSpPr/>
          <p:nvPr/>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3436290-11E2-F20B-966B-F18296CC48D7}"/>
              </a:ext>
            </a:extLst>
          </p:cNvPr>
          <p:cNvCxnSpPr/>
          <p:nvPr/>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0CD4B1-893F-6D01-FC64-1496A5B23C33}"/>
              </a:ext>
            </a:extLst>
          </p:cNvPr>
          <p:cNvCxnSpPr/>
          <p:nvPr userDrawn="1"/>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73437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lumMod val="65000"/>
                    <a:lumOff val="35000"/>
                  </a:schemeClr>
                </a:solidFill>
              </a:defRPr>
            </a:lvl1p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10/5/25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cxnSp>
        <p:nvCxnSpPr>
          <p:cNvPr id="6" name="Straight Connector 5"/>
          <p:cNvCxnSpPr/>
          <p:nvPr/>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DB4946F-2A50-46DF-D246-8E463A5B9E4E}"/>
              </a:ext>
            </a:extLst>
          </p:cNvPr>
          <p:cNvCxnSpPr/>
          <p:nvPr/>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CF61A43-37C0-D158-13BE-1753663F3BEC}"/>
              </a:ext>
            </a:extLst>
          </p:cNvPr>
          <p:cNvCxnSpPr/>
          <p:nvPr/>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FCD9638-6A36-9F8C-6BC5-98A37515D996}"/>
              </a:ext>
            </a:extLst>
          </p:cNvPr>
          <p:cNvCxnSpPr/>
          <p:nvPr userDrawn="1"/>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80649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11098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103550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835458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224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435357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22" name="Shape 22"/>
          <p:cNvSpPr>
            <a:spLocks noGrp="1"/>
          </p:cNvSpPr>
          <p:nvPr>
            <p:ph type="title"/>
          </p:nvPr>
        </p:nvSpPr>
        <p:spPr>
          <a:prstGeom prst="rect">
            <a:avLst/>
          </a:prstGeom>
        </p:spPr>
        <p:txBody>
          <a:bodyPr/>
          <a:lstStyle/>
          <a:p>
            <a:r>
              <a:rPr lang="en-GB"/>
              <a:t>Click to edit Master title style</a:t>
            </a:r>
            <a:endParaRPr/>
          </a:p>
        </p:txBody>
      </p:sp>
      <p:sp>
        <p:nvSpPr>
          <p:cNvPr id="23" name="Shape 23"/>
          <p:cNvSpPr>
            <a:spLocks noGrp="1"/>
          </p:cNvSpPr>
          <p:nvPr>
            <p:ph type="body" idx="1"/>
          </p:nvPr>
        </p:nvSpPr>
        <p:spPr>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24" name="Shape 24"/>
          <p:cNvSpPr>
            <a:spLocks noGrp="1"/>
          </p:cNvSpPr>
          <p:nvPr>
            <p:ph type="sldNum" sz="quarter" idx="2"/>
          </p:nvPr>
        </p:nvSpPr>
        <p:spPr>
          <a:prstGeom prst="rect">
            <a:avLst/>
          </a:prstGeo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62781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1_Title Slide">
    <p:spTree>
      <p:nvGrpSpPr>
        <p:cNvPr id="1" name=""/>
        <p:cNvGrpSpPr/>
        <p:nvPr/>
      </p:nvGrpSpPr>
      <p:grpSpPr>
        <a:xfrm>
          <a:off x="0" y="0"/>
          <a:ext cx="0" cy="0"/>
          <a:chOff x="0" y="0"/>
          <a:chExt cx="0" cy="0"/>
        </a:xfrm>
      </p:grpSpPr>
      <p:sp>
        <p:nvSpPr>
          <p:cNvPr id="15" name="Title Text"/>
          <p:cNvSpPr txBox="1">
            <a:spLocks noGrp="1"/>
          </p:cNvSpPr>
          <p:nvPr>
            <p:ph type="title"/>
          </p:nvPr>
        </p:nvSpPr>
        <p:spPr>
          <a:xfrm>
            <a:off x="863600" y="2286000"/>
            <a:ext cx="10464801" cy="1143001"/>
          </a:xfrm>
          <a:prstGeom prst="rect">
            <a:avLst/>
          </a:prstGeom>
        </p:spPr>
        <p:txBody>
          <a:bodyPr/>
          <a:lstStyle/>
          <a:p>
            <a:r>
              <a:rPr lang="en-GB"/>
              <a:t>Click to edit Master title style</a:t>
            </a:r>
            <a:endParaRPr dirty="0"/>
          </a:p>
        </p:txBody>
      </p:sp>
      <p:sp>
        <p:nvSpPr>
          <p:cNvPr id="16" name="Subtitle"/>
          <p:cNvSpPr txBox="1">
            <a:spLocks noGrp="1"/>
          </p:cNvSpPr>
          <p:nvPr>
            <p:ph type="body" sz="quarter" idx="22"/>
          </p:nvPr>
        </p:nvSpPr>
        <p:spPr>
          <a:xfrm>
            <a:off x="957115" y="3465604"/>
            <a:ext cx="10134430" cy="846384"/>
          </a:xfrm>
          <a:prstGeom prst="rect">
            <a:avLst/>
          </a:prstGeom>
        </p:spPr>
        <p:txBody>
          <a:bodyPr anchor="ctr">
            <a:spAutoFit/>
          </a:bodyPr>
          <a:lstStyle>
            <a:lvl1pPr marL="0" indent="0" algn="ctr">
              <a:spcBef>
                <a:spcPts val="0"/>
              </a:spcBef>
              <a:buClrTx/>
              <a:buSzTx/>
              <a:buFontTx/>
              <a:buNone/>
              <a:defRPr>
                <a:solidFill>
                  <a:srgbClr val="2F4468"/>
                </a:solidFill>
              </a:defRPr>
            </a:lvl1pPr>
          </a:lstStyle>
          <a:p>
            <a:pPr lvl="0"/>
            <a:r>
              <a:rPr lang="en-GB"/>
              <a:t>Click to edit Master text styles</a:t>
            </a:r>
          </a:p>
        </p:txBody>
      </p:sp>
      <p:sp>
        <p:nvSpPr>
          <p:cNvPr id="17" name="Slide Number"/>
          <p:cNvSpPr txBox="1">
            <a:spLocks noGrp="1"/>
          </p:cNvSpPr>
          <p:nvPr>
            <p:ph type="sldNum" sz="quarter" idx="2"/>
          </p:nvPr>
        </p:nvSpPr>
        <p:spPr>
          <a:xfrm>
            <a:off x="11091544" y="6360984"/>
            <a:ext cx="495649" cy="492440"/>
          </a:xfrm>
          <a:prstGeom prst="rect">
            <a:avLst/>
          </a:prstGeom>
        </p:spPr>
        <p:txBody>
          <a:bodyPr/>
          <a:lstStyle>
            <a:lvl1pPr>
              <a:defRPr sz="2000"/>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726066952"/>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hart">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1320800" y="381000"/>
            <a:ext cx="10363200" cy="1143000"/>
          </a:xfrm>
        </p:spPr>
        <p:txBody>
          <a:bodyPr/>
          <a:lstStyle/>
          <a:p>
            <a:r>
              <a:rPr lang="en-GB"/>
              <a:t>Click to edit Master title style</a:t>
            </a:r>
            <a:endParaRPr lang="en-US"/>
          </a:p>
        </p:txBody>
      </p:sp>
      <p:sp>
        <p:nvSpPr>
          <p:cNvPr id="3" name="Text Placeholder 2"/>
          <p:cNvSpPr>
            <a:spLocks noGrp="1"/>
          </p:cNvSpPr>
          <p:nvPr>
            <p:ph type="body" sz="half" idx="1"/>
          </p:nvPr>
        </p:nvSpPr>
        <p:spPr>
          <a:xfrm>
            <a:off x="1625600" y="1828800"/>
            <a:ext cx="4876800" cy="42672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hart Placeholder 3"/>
          <p:cNvSpPr>
            <a:spLocks noGrp="1"/>
          </p:cNvSpPr>
          <p:nvPr>
            <p:ph type="chart" sz="half" idx="2"/>
          </p:nvPr>
        </p:nvSpPr>
        <p:spPr>
          <a:xfrm>
            <a:off x="6705600" y="1828800"/>
            <a:ext cx="4876800" cy="4267200"/>
          </a:xfrm>
        </p:spPr>
        <p:txBody>
          <a:bodyPr/>
          <a:lstStyle/>
          <a:p>
            <a:pPr lvl="0"/>
            <a:r>
              <a:rPr lang="en-GB" noProof="0"/>
              <a:t>Click icon to add chart</a:t>
            </a:r>
            <a:endParaRPr lang="en-US" noProof="0"/>
          </a:p>
        </p:txBody>
      </p:sp>
      <p:sp>
        <p:nvSpPr>
          <p:cNvPr id="5" name="Rectangle 1028"/>
          <p:cNvSpPr>
            <a:spLocks noGrp="1" noChangeArrowheads="1"/>
          </p:cNvSpPr>
          <p:nvPr>
            <p:ph type="ftr" sz="quarter" idx="10"/>
          </p:nvPr>
        </p:nvSpPr>
        <p:spPr>
          <a:ln/>
        </p:spPr>
        <p:txBody>
          <a:bodyPr/>
          <a:lstStyle>
            <a:lvl1pPr>
              <a:defRPr/>
            </a:lvl1pPr>
          </a:lstStyle>
          <a:p>
            <a:endParaRPr lang="en-US"/>
          </a:p>
        </p:txBody>
      </p:sp>
    </p:spTree>
    <p:extLst>
      <p:ext uri="{BB962C8B-B14F-4D97-AF65-F5344CB8AC3E}">
        <p14:creationId xmlns:p14="http://schemas.microsoft.com/office/powerpoint/2010/main" val="40630042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10/5/25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3582789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docs.oracle.com/javase/8/docs/api/java/util/package-summary.html"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75641" y="914401"/>
            <a:ext cx="7772400" cy="1470025"/>
          </a:xfrm>
        </p:spPr>
        <p:txBody>
          <a:bodyPr>
            <a:normAutofit/>
          </a:bodyPr>
          <a:lstStyle/>
          <a:p>
            <a:pPr algn="l"/>
            <a:r>
              <a:rPr lang="en-IE" sz="4000" dirty="0"/>
              <a:t>Input / Output</a:t>
            </a:r>
          </a:p>
        </p:txBody>
      </p:sp>
      <p:sp>
        <p:nvSpPr>
          <p:cNvPr id="3" name="Subtitle 2"/>
          <p:cNvSpPr>
            <a:spLocks noGrp="1"/>
          </p:cNvSpPr>
          <p:nvPr>
            <p:ph type="subTitle" idx="1"/>
          </p:nvPr>
        </p:nvSpPr>
        <p:spPr>
          <a:xfrm>
            <a:off x="1638300" y="3810000"/>
            <a:ext cx="1866900" cy="1066800"/>
          </a:xfrm>
        </p:spPr>
        <p:txBody>
          <a:bodyPr>
            <a:normAutofit/>
          </a:bodyPr>
          <a:lstStyle/>
          <a:p>
            <a:pPr algn="r">
              <a:lnSpc>
                <a:spcPct val="110000"/>
              </a:lnSpc>
              <a:spcBef>
                <a:spcPts val="0"/>
              </a:spcBef>
            </a:pPr>
            <a:r>
              <a:rPr lang="en-IE" sz="2400" dirty="0"/>
              <a:t>Produced </a:t>
            </a:r>
          </a:p>
          <a:p>
            <a:pPr algn="r">
              <a:lnSpc>
                <a:spcPct val="110000"/>
              </a:lnSpc>
              <a:spcBef>
                <a:spcPts val="0"/>
              </a:spcBef>
            </a:pPr>
            <a:r>
              <a:rPr lang="en-IE" sz="2400" dirty="0"/>
              <a:t>by:</a:t>
            </a:r>
          </a:p>
        </p:txBody>
      </p:sp>
      <p:cxnSp>
        <p:nvCxnSpPr>
          <p:cNvPr id="6" name="Straight Connector 5"/>
          <p:cNvCxnSpPr/>
          <p:nvPr/>
        </p:nvCxnSpPr>
        <p:spPr>
          <a:xfrm>
            <a:off x="2251841" y="3124200"/>
            <a:ext cx="76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itle 1"/>
          <p:cNvSpPr txBox="1">
            <a:spLocks/>
          </p:cNvSpPr>
          <p:nvPr/>
        </p:nvSpPr>
        <p:spPr>
          <a:xfrm>
            <a:off x="2175641" y="2133601"/>
            <a:ext cx="7772400" cy="93662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E" sz="3200" dirty="0">
                <a:solidFill>
                  <a:schemeClr val="tx1">
                    <a:lumMod val="50000"/>
                    <a:lumOff val="50000"/>
                  </a:schemeClr>
                </a:solidFill>
              </a:rPr>
              <a:t>Scanner class</a:t>
            </a:r>
          </a:p>
        </p:txBody>
      </p:sp>
      <p:sp>
        <p:nvSpPr>
          <p:cNvPr id="5" name="TextBox 4">
            <a:extLst>
              <a:ext uri="{FF2B5EF4-FFF2-40B4-BE49-F238E27FC236}">
                <a16:creationId xmlns:a16="http://schemas.microsoft.com/office/drawing/2014/main" id="{B9126917-00D7-B775-4F68-452E8926203B}"/>
              </a:ext>
            </a:extLst>
          </p:cNvPr>
          <p:cNvSpPr txBox="1"/>
          <p:nvPr/>
        </p:nvSpPr>
        <p:spPr>
          <a:xfrm>
            <a:off x="7445567" y="5849826"/>
            <a:ext cx="4072758" cy="584775"/>
          </a:xfrm>
          <a:prstGeom prst="rect">
            <a:avLst/>
          </a:prstGeom>
          <a:noFill/>
        </p:spPr>
        <p:txBody>
          <a:bodyPr wrap="square" rtlCol="0">
            <a:spAutoFit/>
          </a:bodyPr>
          <a:lstStyle/>
          <a:p>
            <a:r>
              <a:rPr lang="en-IE" sz="1600" dirty="0"/>
              <a:t>Department of Computing and Mathematics</a:t>
            </a:r>
          </a:p>
          <a:p>
            <a:r>
              <a:rPr lang="en-IE" sz="1600" dirty="0"/>
              <a:t>http://www.setu.ie/</a:t>
            </a:r>
          </a:p>
        </p:txBody>
      </p:sp>
      <p:sp>
        <p:nvSpPr>
          <p:cNvPr id="4" name="TextBox 3">
            <a:extLst>
              <a:ext uri="{FF2B5EF4-FFF2-40B4-BE49-F238E27FC236}">
                <a16:creationId xmlns:a16="http://schemas.microsoft.com/office/drawing/2014/main" id="{A65F5982-9D58-F37C-3FA5-1351F45A82CD}"/>
              </a:ext>
            </a:extLst>
          </p:cNvPr>
          <p:cNvSpPr txBox="1"/>
          <p:nvPr/>
        </p:nvSpPr>
        <p:spPr>
          <a:xfrm>
            <a:off x="3733800" y="3654700"/>
            <a:ext cx="5562600" cy="1200329"/>
          </a:xfrm>
          <a:prstGeom prst="rect">
            <a:avLst/>
          </a:prstGeom>
          <a:noFill/>
        </p:spPr>
        <p:txBody>
          <a:bodyPr wrap="square" rtlCol="0">
            <a:spAutoFit/>
          </a:bodyPr>
          <a:lstStyle/>
          <a:p>
            <a:r>
              <a:rPr lang="en-IE" sz="2400" dirty="0">
                <a:solidFill>
                  <a:schemeClr val="tx1">
                    <a:lumMod val="75000"/>
                    <a:lumOff val="25000"/>
                  </a:schemeClr>
                </a:solidFill>
              </a:rPr>
              <a:t>Dr. </a:t>
            </a:r>
            <a:r>
              <a:rPr lang="en-IE" sz="2400" dirty="0" err="1">
                <a:solidFill>
                  <a:schemeClr val="tx1">
                    <a:lumMod val="75000"/>
                    <a:lumOff val="25000"/>
                  </a:schemeClr>
                </a:solidFill>
              </a:rPr>
              <a:t>Siobhán</a:t>
            </a:r>
            <a:r>
              <a:rPr lang="en-IE" sz="2400" dirty="0">
                <a:solidFill>
                  <a:schemeClr val="tx1">
                    <a:lumMod val="75000"/>
                    <a:lumOff val="25000"/>
                  </a:schemeClr>
                </a:solidFill>
              </a:rPr>
              <a:t> </a:t>
            </a:r>
            <a:r>
              <a:rPr lang="en-IE" sz="2400" dirty="0" err="1">
                <a:solidFill>
                  <a:schemeClr val="tx1">
                    <a:lumMod val="75000"/>
                    <a:lumOff val="25000"/>
                  </a:schemeClr>
                </a:solidFill>
              </a:rPr>
              <a:t>Drohan,</a:t>
            </a:r>
            <a:endParaRPr lang="en-IE" sz="2400" dirty="0">
              <a:solidFill>
                <a:schemeClr val="tx1">
                  <a:lumMod val="75000"/>
                  <a:lumOff val="25000"/>
                </a:schemeClr>
              </a:solidFill>
            </a:endParaRPr>
          </a:p>
          <a:p>
            <a:r>
              <a:rPr lang="en-IE" sz="2400" dirty="0">
                <a:solidFill>
                  <a:schemeClr val="tx1">
                    <a:lumMod val="75000"/>
                    <a:lumOff val="25000"/>
                  </a:schemeClr>
                </a:solidFill>
              </a:rPr>
              <a:t>Ms. Mairead Meagher,</a:t>
            </a:r>
          </a:p>
          <a:p>
            <a:r>
              <a:rPr lang="en-IE" sz="2400" dirty="0">
                <a:solidFill>
                  <a:schemeClr val="tx1">
                    <a:lumMod val="75000"/>
                    <a:lumOff val="25000"/>
                  </a:schemeClr>
                </a:solidFill>
              </a:rPr>
              <a:t>Ms. Siobhán Roche.</a:t>
            </a:r>
          </a:p>
        </p:txBody>
      </p:sp>
      <p:pic>
        <p:nvPicPr>
          <p:cNvPr id="8" name="Picture 7">
            <a:extLst>
              <a:ext uri="{FF2B5EF4-FFF2-40B4-BE49-F238E27FC236}">
                <a16:creationId xmlns:a16="http://schemas.microsoft.com/office/drawing/2014/main" id="{126FBE1B-7739-C671-D5D9-F0027126473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9242" y="5565517"/>
            <a:ext cx="2057400" cy="1153391"/>
          </a:xfrm>
          <a:prstGeom prst="rect">
            <a:avLst/>
          </a:prstGeom>
        </p:spPr>
      </p:pic>
    </p:spTree>
    <p:extLst>
      <p:ext uri="{BB962C8B-B14F-4D97-AF65-F5344CB8AC3E}">
        <p14:creationId xmlns:p14="http://schemas.microsoft.com/office/powerpoint/2010/main" val="3042371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Before we start..</a:t>
            </a:r>
          </a:p>
        </p:txBody>
      </p:sp>
      <p:sp>
        <p:nvSpPr>
          <p:cNvPr id="3" name="Content Placeholder 2"/>
          <p:cNvSpPr>
            <a:spLocks noGrp="1"/>
          </p:cNvSpPr>
          <p:nvPr>
            <p:ph idx="1"/>
          </p:nvPr>
        </p:nvSpPr>
        <p:spPr>
          <a:xfrm>
            <a:off x="0" y="1444677"/>
            <a:ext cx="11277600" cy="5181599"/>
          </a:xfrm>
        </p:spPr>
        <p:txBody>
          <a:bodyPr>
            <a:normAutofit/>
          </a:bodyPr>
          <a:lstStyle/>
          <a:p>
            <a:r>
              <a:rPr lang="en-GB" dirty="0"/>
              <a:t>Java is an Object Orientated (OO) Language,</a:t>
            </a:r>
          </a:p>
          <a:p>
            <a:r>
              <a:rPr lang="en-GB" dirty="0"/>
              <a:t>Everything in Java is associated with classes and objects, along with its attributes and methods. For example: in real life, a house is an object. The house has </a:t>
            </a:r>
            <a:r>
              <a:rPr lang="en-GB" b="1" dirty="0"/>
              <a:t>attributes</a:t>
            </a:r>
            <a:r>
              <a:rPr lang="en-GB" dirty="0"/>
              <a:t>, such as owner and </a:t>
            </a:r>
            <a:r>
              <a:rPr lang="en-GB" dirty="0" err="1"/>
              <a:t>numberOfRooms</a:t>
            </a:r>
            <a:r>
              <a:rPr lang="en-GB" dirty="0"/>
              <a:t>, and </a:t>
            </a:r>
            <a:r>
              <a:rPr lang="en-GB" b="1" dirty="0"/>
              <a:t>methods</a:t>
            </a:r>
            <a:r>
              <a:rPr lang="en-GB" dirty="0"/>
              <a:t>, such as </a:t>
            </a:r>
            <a:r>
              <a:rPr lang="en-GB" dirty="0" err="1"/>
              <a:t>changeOwner</a:t>
            </a:r>
            <a:r>
              <a:rPr lang="en-GB" dirty="0"/>
              <a:t> and </a:t>
            </a:r>
            <a:r>
              <a:rPr lang="en-GB" dirty="0" err="1"/>
              <a:t>calculateArea</a:t>
            </a:r>
            <a:r>
              <a:rPr lang="en-GB" dirty="0"/>
              <a:t>.</a:t>
            </a:r>
          </a:p>
          <a:p>
            <a:r>
              <a:rPr lang="en-GB" dirty="0"/>
              <a:t>A Class is like an object constructor, </a:t>
            </a:r>
          </a:p>
          <a:p>
            <a:pPr marL="0" indent="0">
              <a:buNone/>
            </a:pPr>
            <a:r>
              <a:rPr lang="en-GB" dirty="0"/>
              <a:t>    or a "blueprint" for creating objects </a:t>
            </a:r>
          </a:p>
          <a:p>
            <a:pPr marL="0" indent="0">
              <a:buNone/>
            </a:pPr>
            <a:r>
              <a:rPr lang="en-GB" dirty="0"/>
              <a:t>     e.g. the house plan.</a:t>
            </a:r>
          </a:p>
          <a:p>
            <a:endParaRPr lang="en-GB" dirty="0"/>
          </a:p>
        </p:txBody>
      </p:sp>
      <p:pic>
        <p:nvPicPr>
          <p:cNvPr id="4" name="Picture 3"/>
          <p:cNvPicPr>
            <a:picLocks noChangeAspect="1"/>
          </p:cNvPicPr>
          <p:nvPr/>
        </p:nvPicPr>
        <p:blipFill>
          <a:blip r:embed="rId2"/>
          <a:stretch>
            <a:fillRect/>
          </a:stretch>
        </p:blipFill>
        <p:spPr>
          <a:xfrm>
            <a:off x="7010401" y="4062515"/>
            <a:ext cx="4495800" cy="2737827"/>
          </a:xfrm>
          <a:prstGeom prst="rect">
            <a:avLst/>
          </a:prstGeom>
        </p:spPr>
      </p:pic>
    </p:spTree>
    <p:extLst>
      <p:ext uri="{BB962C8B-B14F-4D97-AF65-F5344CB8AC3E}">
        <p14:creationId xmlns:p14="http://schemas.microsoft.com/office/powerpoint/2010/main" val="3595893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Before we start (</a:t>
            </a:r>
            <a:r>
              <a:rPr lang="en-GB" b="1" dirty="0" err="1"/>
              <a:t>contd</a:t>
            </a:r>
            <a:r>
              <a:rPr lang="en-GB" b="1" dirty="0"/>
              <a:t>)..</a:t>
            </a:r>
          </a:p>
        </p:txBody>
      </p:sp>
      <p:sp>
        <p:nvSpPr>
          <p:cNvPr id="3" name="Content Placeholder 2"/>
          <p:cNvSpPr>
            <a:spLocks noGrp="1"/>
          </p:cNvSpPr>
          <p:nvPr>
            <p:ph idx="1"/>
          </p:nvPr>
        </p:nvSpPr>
        <p:spPr>
          <a:xfrm>
            <a:off x="609600" y="2719958"/>
            <a:ext cx="10972800" cy="4525963"/>
          </a:xfrm>
        </p:spPr>
        <p:txBody>
          <a:bodyPr>
            <a:normAutofit fontScale="92500"/>
          </a:bodyPr>
          <a:lstStyle/>
          <a:p>
            <a:r>
              <a:rPr lang="en-GB" dirty="0"/>
              <a:t>An object is an instance of a class, created based on that blueprint.</a:t>
            </a:r>
          </a:p>
          <a:p>
            <a:r>
              <a:rPr lang="en-GB" dirty="0"/>
              <a:t>You need to create an object before you can use the methods of a class because methods belong to objects—they are the actions that objects can perform based on the blueprint provided by the class.</a:t>
            </a:r>
          </a:p>
          <a:p>
            <a:r>
              <a:rPr lang="en-GB" dirty="0"/>
              <a:t>In Java, you create an object using the new keyword followed by the class name and any necessary arguments to the constructor, if applicable. Once the object is created, you can call its methods using the dot notation (</a:t>
            </a:r>
            <a:r>
              <a:rPr lang="en-GB" dirty="0" err="1"/>
              <a:t>object.method</a:t>
            </a:r>
            <a:r>
              <a:rPr lang="en-GB" dirty="0"/>
              <a:t>()).</a:t>
            </a:r>
          </a:p>
        </p:txBody>
      </p:sp>
      <p:pic>
        <p:nvPicPr>
          <p:cNvPr id="5" name="Picture 4"/>
          <p:cNvPicPr>
            <a:picLocks noChangeAspect="1"/>
          </p:cNvPicPr>
          <p:nvPr/>
        </p:nvPicPr>
        <p:blipFill>
          <a:blip r:embed="rId2"/>
          <a:stretch>
            <a:fillRect/>
          </a:stretch>
        </p:blipFill>
        <p:spPr>
          <a:xfrm>
            <a:off x="7467600" y="194978"/>
            <a:ext cx="3888881" cy="2445320"/>
          </a:xfrm>
          <a:prstGeom prst="rect">
            <a:avLst/>
          </a:prstGeom>
        </p:spPr>
      </p:pic>
    </p:spTree>
    <p:extLst>
      <p:ext uri="{BB962C8B-B14F-4D97-AF65-F5344CB8AC3E}">
        <p14:creationId xmlns:p14="http://schemas.microsoft.com/office/powerpoint/2010/main" val="1158838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45"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2000"/>
                                        <p:tgtEl>
                                          <p:spTgt spid="5"/>
                                        </p:tgtEl>
                                      </p:cBhvr>
                                    </p:animEffect>
                                    <p:anim calcmode="lin" valueType="num">
                                      <p:cBhvr>
                                        <p:cTn id="10" dur="2000" fill="hold"/>
                                        <p:tgtEl>
                                          <p:spTgt spid="5"/>
                                        </p:tgtEl>
                                        <p:attrNameLst>
                                          <p:attrName>ppt_w</p:attrName>
                                        </p:attrNameLst>
                                      </p:cBhvr>
                                      <p:tavLst>
                                        <p:tav tm="0" fmla="#ppt_w*sin(2.5*pi*$)">
                                          <p:val>
                                            <p:fltVal val="0"/>
                                          </p:val>
                                        </p:tav>
                                        <p:tav tm="100000">
                                          <p:val>
                                            <p:fltVal val="1"/>
                                          </p:val>
                                        </p:tav>
                                      </p:tavLst>
                                    </p:anim>
                                    <p:anim calcmode="lin" valueType="num">
                                      <p:cBhvr>
                                        <p:cTn id="11" dur="20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Packages</a:t>
            </a:r>
          </a:p>
        </p:txBody>
      </p:sp>
      <p:sp>
        <p:nvSpPr>
          <p:cNvPr id="5" name="Content Placeholder 4"/>
          <p:cNvSpPr>
            <a:spLocks noGrp="1"/>
          </p:cNvSpPr>
          <p:nvPr>
            <p:ph idx="1"/>
          </p:nvPr>
        </p:nvSpPr>
        <p:spPr/>
        <p:txBody>
          <a:bodyPr>
            <a:normAutofit lnSpcReduction="10000"/>
          </a:bodyPr>
          <a:lstStyle/>
          <a:p>
            <a:r>
              <a:rPr lang="en-GB" dirty="0"/>
              <a:t>Packages are containers for organising classes and interfaces in Java.</a:t>
            </a:r>
          </a:p>
          <a:p>
            <a:r>
              <a:rPr lang="en-GB" dirty="0"/>
              <a:t>Packages help manage large codebases, prevent naming conflicts, and improve code organisation.</a:t>
            </a:r>
          </a:p>
          <a:p>
            <a:r>
              <a:rPr lang="en-GB" dirty="0"/>
              <a:t>Packages contains Classes that help us to code</a:t>
            </a:r>
          </a:p>
          <a:p>
            <a:r>
              <a:rPr lang="en-GB" dirty="0"/>
              <a:t>We will import them into our code and use them to reduce the amount of code that we need to write.</a:t>
            </a:r>
          </a:p>
          <a:p>
            <a:r>
              <a:rPr lang="en-GB" dirty="0"/>
              <a:t>Example: </a:t>
            </a:r>
            <a:r>
              <a:rPr lang="en-GB" dirty="0" err="1"/>
              <a:t>java.util</a:t>
            </a:r>
            <a:r>
              <a:rPr lang="en-GB" dirty="0"/>
              <a:t> package contains utility classes like </a:t>
            </a:r>
            <a:r>
              <a:rPr lang="en-GB" dirty="0" err="1"/>
              <a:t>ArrayList</a:t>
            </a:r>
            <a:r>
              <a:rPr lang="en-GB" dirty="0"/>
              <a:t>, </a:t>
            </a:r>
            <a:r>
              <a:rPr lang="en-GB" dirty="0" err="1"/>
              <a:t>HashMap</a:t>
            </a:r>
            <a:r>
              <a:rPr lang="en-GB" dirty="0"/>
              <a:t>, </a:t>
            </a:r>
            <a:r>
              <a:rPr lang="en-GB" b="1" dirty="0"/>
              <a:t>Scanner</a:t>
            </a:r>
          </a:p>
        </p:txBody>
      </p:sp>
    </p:spTree>
    <p:extLst>
      <p:ext uri="{BB962C8B-B14F-4D97-AF65-F5344CB8AC3E}">
        <p14:creationId xmlns:p14="http://schemas.microsoft.com/office/powerpoint/2010/main" val="565123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Accessing Methods in Packages</a:t>
            </a:r>
          </a:p>
        </p:txBody>
      </p:sp>
      <p:sp>
        <p:nvSpPr>
          <p:cNvPr id="3" name="Content Placeholder 2"/>
          <p:cNvSpPr>
            <a:spLocks noGrp="1"/>
          </p:cNvSpPr>
          <p:nvPr>
            <p:ph idx="1"/>
          </p:nvPr>
        </p:nvSpPr>
        <p:spPr/>
        <p:txBody>
          <a:bodyPr/>
          <a:lstStyle/>
          <a:p>
            <a:r>
              <a:rPr lang="en-GB" dirty="0"/>
              <a:t>Importing: Use the import statement to access methods from other packages.</a:t>
            </a:r>
          </a:p>
          <a:p>
            <a:r>
              <a:rPr lang="en-GB" dirty="0"/>
              <a:t>Syntax: import </a:t>
            </a:r>
            <a:r>
              <a:rPr lang="en-GB" dirty="0" err="1"/>
              <a:t>package_name.ClassName</a:t>
            </a:r>
            <a:r>
              <a:rPr lang="en-GB" dirty="0"/>
              <a:t>;</a:t>
            </a:r>
          </a:p>
          <a:p>
            <a:endParaRPr lang="en-GB" dirty="0"/>
          </a:p>
        </p:txBody>
      </p:sp>
      <p:pic>
        <p:nvPicPr>
          <p:cNvPr id="4" name="Picture 3"/>
          <p:cNvPicPr>
            <a:picLocks noChangeAspect="1"/>
          </p:cNvPicPr>
          <p:nvPr/>
        </p:nvPicPr>
        <p:blipFill>
          <a:blip r:embed="rId2"/>
          <a:stretch>
            <a:fillRect/>
          </a:stretch>
        </p:blipFill>
        <p:spPr>
          <a:xfrm>
            <a:off x="3200400" y="3962400"/>
            <a:ext cx="4143375" cy="1228725"/>
          </a:xfrm>
          <a:prstGeom prst="rect">
            <a:avLst/>
          </a:prstGeom>
        </p:spPr>
      </p:pic>
    </p:spTree>
    <p:extLst>
      <p:ext uri="{BB962C8B-B14F-4D97-AF65-F5344CB8AC3E}">
        <p14:creationId xmlns:p14="http://schemas.microsoft.com/office/powerpoint/2010/main" val="3513238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5"/>
          <p:cNvSpPr>
            <a:spLocks noGrp="1"/>
          </p:cNvSpPr>
          <p:nvPr>
            <p:ph type="title"/>
          </p:nvPr>
        </p:nvSpPr>
        <p:spPr/>
        <p:txBody>
          <a:bodyPr/>
          <a:lstStyle/>
          <a:p>
            <a:pPr eaLnBrk="1" hangingPunct="1"/>
            <a:r>
              <a:rPr lang="en-GB" altLang="en-US" dirty="0"/>
              <a:t>Input in Java: the </a:t>
            </a:r>
            <a:r>
              <a:rPr lang="en-GB" altLang="en-US" b="1" dirty="0"/>
              <a:t>Scanner</a:t>
            </a:r>
            <a:r>
              <a:rPr lang="en-GB" altLang="en-US" i="1" dirty="0"/>
              <a:t> </a:t>
            </a:r>
            <a:r>
              <a:rPr lang="en-GB" altLang="en-US" dirty="0"/>
              <a:t>Class</a:t>
            </a:r>
            <a:endParaRPr lang="en-IE" altLang="en-US" dirty="0"/>
          </a:p>
        </p:txBody>
      </p:sp>
      <p:sp>
        <p:nvSpPr>
          <p:cNvPr id="63491" name="Content Placeholder 6"/>
          <p:cNvSpPr>
            <a:spLocks noGrp="1"/>
          </p:cNvSpPr>
          <p:nvPr>
            <p:ph idx="1"/>
          </p:nvPr>
        </p:nvSpPr>
        <p:spPr>
          <a:xfrm>
            <a:off x="533400" y="1454509"/>
            <a:ext cx="11125200" cy="4495800"/>
          </a:xfrm>
        </p:spPr>
        <p:txBody>
          <a:bodyPr>
            <a:noAutofit/>
          </a:bodyPr>
          <a:lstStyle/>
          <a:p>
            <a:pPr eaLnBrk="1" hangingPunct="1"/>
            <a:r>
              <a:rPr lang="en-IE" altLang="en-US" sz="2800" dirty="0"/>
              <a:t>The </a:t>
            </a:r>
            <a:r>
              <a:rPr lang="en-IE" altLang="en-US" sz="2800" b="1" dirty="0"/>
              <a:t>Scanner</a:t>
            </a:r>
            <a:r>
              <a:rPr lang="en-IE" altLang="en-US" sz="2800" dirty="0"/>
              <a:t> class comes with Java.</a:t>
            </a:r>
          </a:p>
          <a:p>
            <a:r>
              <a:rPr lang="en-GB" altLang="en-US" sz="2800" dirty="0"/>
              <a:t>The Scanner class allows us to read input from various sources, such as the keyboard or a file.</a:t>
            </a:r>
          </a:p>
          <a:p>
            <a:r>
              <a:rPr lang="en-IE" altLang="en-US" sz="2800" dirty="0"/>
              <a:t>It allows us to </a:t>
            </a:r>
            <a:r>
              <a:rPr lang="en-IE" altLang="en-US" sz="2800" b="1" dirty="0"/>
              <a:t>take in data from the console </a:t>
            </a:r>
            <a:r>
              <a:rPr lang="en-IE" altLang="en-US" sz="2800" dirty="0"/>
              <a:t>/ terminal window.</a:t>
            </a:r>
          </a:p>
          <a:p>
            <a:pPr eaLnBrk="1" hangingPunct="1"/>
            <a:r>
              <a:rPr lang="en-IE" altLang="en-US" sz="2800" dirty="0"/>
              <a:t>It is part of the</a:t>
            </a:r>
            <a:r>
              <a:rPr lang="en-IE" altLang="en-US" sz="2800" dirty="0">
                <a:hlinkClick r:id="rId2"/>
              </a:rPr>
              <a:t> </a:t>
            </a:r>
            <a:r>
              <a:rPr lang="en-IE" altLang="en-US" sz="2800" b="1" dirty="0" err="1">
                <a:solidFill>
                  <a:srgbClr val="FF0000"/>
                </a:solidFill>
                <a:hlinkClick r:id="rId2"/>
              </a:rPr>
              <a:t>java.util</a:t>
            </a:r>
            <a:r>
              <a:rPr lang="en-IE" altLang="en-US" sz="2800" dirty="0">
                <a:solidFill>
                  <a:srgbClr val="FF0000"/>
                </a:solidFill>
                <a:hlinkClick r:id="rId2"/>
              </a:rPr>
              <a:t> </a:t>
            </a:r>
            <a:r>
              <a:rPr lang="en-IE" altLang="en-US" sz="2800" dirty="0"/>
              <a:t>package in the Java Application Programming Interfaces (API).</a:t>
            </a:r>
          </a:p>
        </p:txBody>
      </p:sp>
      <p:pic>
        <p:nvPicPr>
          <p:cNvPr id="5" name="Picture 4">
            <a:extLst>
              <a:ext uri="{FF2B5EF4-FFF2-40B4-BE49-F238E27FC236}">
                <a16:creationId xmlns:a16="http://schemas.microsoft.com/office/drawing/2014/main" id="{31E36309-0B28-A003-3814-BB7627D80FD5}"/>
              </a:ext>
            </a:extLst>
          </p:cNvPr>
          <p:cNvPicPr>
            <a:picLocks noChangeAspect="1"/>
          </p:cNvPicPr>
          <p:nvPr/>
        </p:nvPicPr>
        <p:blipFill>
          <a:blip r:embed="rId3"/>
          <a:stretch>
            <a:fillRect/>
          </a:stretch>
        </p:blipFill>
        <p:spPr>
          <a:xfrm>
            <a:off x="4419600" y="3852594"/>
            <a:ext cx="6236058" cy="2990658"/>
          </a:xfrm>
          <a:prstGeom prst="rect">
            <a:avLst/>
          </a:prstGeom>
        </p:spPr>
      </p:pic>
    </p:spTree>
    <p:extLst>
      <p:ext uri="{BB962C8B-B14F-4D97-AF65-F5344CB8AC3E}">
        <p14:creationId xmlns:p14="http://schemas.microsoft.com/office/powerpoint/2010/main" val="162452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4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4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349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349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How Does Scanner Work?</a:t>
            </a:r>
            <a:endParaRPr lang="en-GB" dirty="0"/>
          </a:p>
        </p:txBody>
      </p:sp>
      <p:sp>
        <p:nvSpPr>
          <p:cNvPr id="3" name="Content Placeholder 2"/>
          <p:cNvSpPr>
            <a:spLocks noGrp="1"/>
          </p:cNvSpPr>
          <p:nvPr>
            <p:ph idx="1"/>
          </p:nvPr>
        </p:nvSpPr>
        <p:spPr/>
        <p:txBody>
          <a:bodyPr>
            <a:normAutofit fontScale="92500" lnSpcReduction="20000"/>
          </a:bodyPr>
          <a:lstStyle/>
          <a:p>
            <a:r>
              <a:rPr lang="en-GB" b="1" dirty="0"/>
              <a:t>Create a Scanner Object: </a:t>
            </a:r>
            <a:r>
              <a:rPr lang="en-GB" sz="3000" dirty="0"/>
              <a:t>To use the Scanner class, you first need to create a Scanner object. This object is your tool for reading input.</a:t>
            </a:r>
          </a:p>
          <a:p>
            <a:endParaRPr lang="en-GB" dirty="0"/>
          </a:p>
          <a:p>
            <a:r>
              <a:rPr lang="en-GB" b="1" dirty="0"/>
              <a:t>Specify Input Source: </a:t>
            </a:r>
            <a:r>
              <a:rPr lang="en-GB" sz="3000" dirty="0"/>
              <a:t>Next, you specify where you want to read input from. In most cases, we'll read input from the keyboard, which is represented by System.in.</a:t>
            </a:r>
          </a:p>
          <a:p>
            <a:endParaRPr lang="en-GB" dirty="0"/>
          </a:p>
          <a:p>
            <a:r>
              <a:rPr lang="en-GB" b="1" dirty="0"/>
              <a:t>Read Input: </a:t>
            </a:r>
            <a:r>
              <a:rPr lang="en-GB" sz="3000" dirty="0"/>
              <a:t>Once you have a Scanner object and specified the input source, you can use various methods provided by the Scanner class to read input. These methods allow you to read different types of data, such as integers, doubles, or strings.</a:t>
            </a:r>
          </a:p>
        </p:txBody>
      </p:sp>
    </p:spTree>
    <p:extLst>
      <p:ext uri="{BB962C8B-B14F-4D97-AF65-F5344CB8AC3E}">
        <p14:creationId xmlns:p14="http://schemas.microsoft.com/office/powerpoint/2010/main" val="16445690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p:txBody>
          <a:bodyPr/>
          <a:lstStyle/>
          <a:p>
            <a:pPr eaLnBrk="1" hangingPunct="1"/>
            <a:r>
              <a:rPr lang="en-GB" altLang="en-US" dirty="0"/>
              <a:t>Input in Java: the </a:t>
            </a:r>
            <a:r>
              <a:rPr lang="en-GB" altLang="en-US" b="1" dirty="0"/>
              <a:t>Scanner</a:t>
            </a:r>
            <a:r>
              <a:rPr lang="en-GB" altLang="en-US" i="1" dirty="0"/>
              <a:t> </a:t>
            </a:r>
            <a:r>
              <a:rPr lang="en-GB" altLang="en-US" dirty="0"/>
              <a:t>Class</a:t>
            </a:r>
            <a:endParaRPr lang="en-IE" altLang="en-US" dirty="0"/>
          </a:p>
        </p:txBody>
      </p:sp>
      <p:sp>
        <p:nvSpPr>
          <p:cNvPr id="64515" name="Content Placeholder 2"/>
          <p:cNvSpPr>
            <a:spLocks noGrp="1"/>
          </p:cNvSpPr>
          <p:nvPr>
            <p:ph idx="1"/>
          </p:nvPr>
        </p:nvSpPr>
        <p:spPr>
          <a:xfrm>
            <a:off x="2057400" y="1752600"/>
            <a:ext cx="8229600" cy="1981200"/>
          </a:xfrm>
        </p:spPr>
        <p:style>
          <a:lnRef idx="1">
            <a:schemeClr val="accent4"/>
          </a:lnRef>
          <a:fillRef idx="2">
            <a:schemeClr val="accent4"/>
          </a:fillRef>
          <a:effectRef idx="1">
            <a:schemeClr val="accent4"/>
          </a:effectRef>
          <a:fontRef idx="minor">
            <a:schemeClr val="dk1"/>
          </a:fontRef>
        </p:style>
        <p:txBody>
          <a:bodyPr>
            <a:normAutofit/>
          </a:bodyPr>
          <a:lstStyle/>
          <a:p>
            <a:pPr eaLnBrk="1" hangingPunct="1"/>
            <a:r>
              <a:rPr lang="en-GB" altLang="en-US" sz="2400" dirty="0"/>
              <a:t>In order to use the Scanner class, place the following line as the </a:t>
            </a:r>
            <a:r>
              <a:rPr lang="en-GB" altLang="en-US" sz="2400" b="1" dirty="0"/>
              <a:t>first line of code in your file </a:t>
            </a:r>
            <a:r>
              <a:rPr lang="en-GB" altLang="en-US" sz="2400" dirty="0"/>
              <a:t>(i.e. before class declaration):</a:t>
            </a:r>
            <a:endParaRPr lang="en-IE" altLang="en-US" sz="2400" dirty="0"/>
          </a:p>
          <a:p>
            <a:pPr marL="857250" lvl="3" indent="0">
              <a:lnSpc>
                <a:spcPct val="150000"/>
              </a:lnSpc>
              <a:buNone/>
            </a:pPr>
            <a:r>
              <a:rPr lang="en-IE" altLang="en-US" b="1" dirty="0">
                <a:solidFill>
                  <a:srgbClr val="FF0000"/>
                </a:solidFill>
                <a:latin typeface="Courier New" charset="0"/>
                <a:ea typeface="Courier New" charset="0"/>
                <a:cs typeface="Courier New" charset="0"/>
              </a:rPr>
              <a:t> </a:t>
            </a:r>
            <a:r>
              <a:rPr lang="en-IE" altLang="en-US" sz="2400" b="1" dirty="0">
                <a:solidFill>
                  <a:srgbClr val="FF0000"/>
                </a:solidFill>
                <a:latin typeface="Courier New" charset="0"/>
                <a:ea typeface="Courier New" charset="0"/>
                <a:cs typeface="Courier New" charset="0"/>
              </a:rPr>
              <a:t>import </a:t>
            </a:r>
            <a:r>
              <a:rPr lang="en-IE" altLang="en-US" sz="2400" b="1" dirty="0" err="1">
                <a:solidFill>
                  <a:srgbClr val="FF0000"/>
                </a:solidFill>
                <a:latin typeface="Courier New" charset="0"/>
                <a:ea typeface="Courier New" charset="0"/>
                <a:cs typeface="Courier New" charset="0"/>
              </a:rPr>
              <a:t>java.util.Scanner</a:t>
            </a:r>
            <a:r>
              <a:rPr lang="en-IE" altLang="en-US" sz="2400" b="1" dirty="0">
                <a:solidFill>
                  <a:srgbClr val="FF0000"/>
                </a:solidFill>
                <a:latin typeface="Courier New" charset="0"/>
                <a:ea typeface="Courier New" charset="0"/>
                <a:cs typeface="Courier New" charset="0"/>
              </a:rPr>
              <a:t>;</a:t>
            </a:r>
            <a:endParaRPr lang="en-IE" altLang="en-US" sz="3600" b="1" dirty="0">
              <a:solidFill>
                <a:srgbClr val="FF0000"/>
              </a:solidFill>
              <a:latin typeface="Courier New" charset="0"/>
              <a:ea typeface="Courier New" charset="0"/>
              <a:cs typeface="Courier New" charset="0"/>
            </a:endParaRPr>
          </a:p>
          <a:p>
            <a:pPr marL="0" indent="0">
              <a:lnSpc>
                <a:spcPct val="150000"/>
              </a:lnSpc>
              <a:buNone/>
            </a:pPr>
            <a:endParaRPr lang="en-GB" altLang="en-US" sz="2400" dirty="0"/>
          </a:p>
          <a:p>
            <a:pPr marL="0" indent="0">
              <a:lnSpc>
                <a:spcPct val="150000"/>
              </a:lnSpc>
              <a:buNone/>
            </a:pPr>
            <a:endParaRPr lang="en-IE" altLang="en-US" sz="2400" dirty="0"/>
          </a:p>
        </p:txBody>
      </p:sp>
      <p:pic>
        <p:nvPicPr>
          <p:cNvPr id="4" name="Picture 3">
            <a:extLst>
              <a:ext uri="{FF2B5EF4-FFF2-40B4-BE49-F238E27FC236}">
                <a16:creationId xmlns:a16="http://schemas.microsoft.com/office/drawing/2014/main" id="{32301581-C424-4C47-B677-9B7D7C021030}"/>
              </a:ext>
            </a:extLst>
          </p:cNvPr>
          <p:cNvPicPr>
            <a:picLocks noChangeAspect="1"/>
          </p:cNvPicPr>
          <p:nvPr/>
        </p:nvPicPr>
        <p:blipFill rotWithShape="1">
          <a:blip r:embed="rId2"/>
          <a:srcRect r="650" b="58920"/>
          <a:stretch/>
        </p:blipFill>
        <p:spPr>
          <a:xfrm>
            <a:off x="2057400" y="4068763"/>
            <a:ext cx="8218864" cy="2396481"/>
          </a:xfrm>
          <a:prstGeom prst="rect">
            <a:avLst/>
          </a:prstGeom>
          <a:ln>
            <a:solidFill>
              <a:schemeClr val="accent1"/>
            </a:solidFill>
          </a:ln>
        </p:spPr>
      </p:pic>
      <p:sp>
        <p:nvSpPr>
          <p:cNvPr id="5" name="Donut 4"/>
          <p:cNvSpPr/>
          <p:nvPr/>
        </p:nvSpPr>
        <p:spPr>
          <a:xfrm flipV="1">
            <a:off x="2514601" y="4419599"/>
            <a:ext cx="3886201" cy="381000"/>
          </a:xfrm>
          <a:prstGeom prst="donut">
            <a:avLst>
              <a:gd name="adj" fmla="val 102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990507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0"/>
                            </p:stCondLst>
                            <p:childTnLst>
                              <p:par>
                                <p:cTn id="8" presetID="21" presetClass="entr" presetSubtype="1" fill="hold" grpId="0" nodeType="after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heel(1)">
                                      <p:cBhvr>
                                        <p:cTn id="10"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p:txBody>
          <a:bodyPr/>
          <a:lstStyle/>
          <a:p>
            <a:pPr eaLnBrk="1" hangingPunct="1"/>
            <a:r>
              <a:rPr lang="en-GB" altLang="en-US" dirty="0"/>
              <a:t>Input in Java: the </a:t>
            </a:r>
            <a:r>
              <a:rPr lang="en-GB" altLang="en-US" b="1" dirty="0"/>
              <a:t>Scanner</a:t>
            </a:r>
            <a:r>
              <a:rPr lang="en-GB" altLang="en-US" i="1" dirty="0"/>
              <a:t> </a:t>
            </a:r>
            <a:r>
              <a:rPr lang="en-GB" altLang="en-US" dirty="0"/>
              <a:t>Class</a:t>
            </a:r>
            <a:endParaRPr lang="en-IE" altLang="en-US" dirty="0"/>
          </a:p>
        </p:txBody>
      </p:sp>
      <p:sp>
        <p:nvSpPr>
          <p:cNvPr id="65539" name="Content Placeholder 2"/>
          <p:cNvSpPr>
            <a:spLocks noGrp="1"/>
          </p:cNvSpPr>
          <p:nvPr>
            <p:ph idx="1"/>
          </p:nvPr>
        </p:nvSpPr>
        <p:spPr>
          <a:xfrm>
            <a:off x="1981200" y="1600201"/>
            <a:ext cx="8229600" cy="1981200"/>
          </a:xfrm>
        </p:spPr>
        <p:style>
          <a:lnRef idx="1">
            <a:schemeClr val="accent1"/>
          </a:lnRef>
          <a:fillRef idx="2">
            <a:schemeClr val="accent1"/>
          </a:fillRef>
          <a:effectRef idx="1">
            <a:schemeClr val="accent1"/>
          </a:effectRef>
          <a:fontRef idx="minor">
            <a:schemeClr val="dk1"/>
          </a:fontRef>
        </p:style>
        <p:txBody>
          <a:bodyPr>
            <a:normAutofit/>
          </a:bodyPr>
          <a:lstStyle/>
          <a:p>
            <a:pPr eaLnBrk="1" hangingPunct="1"/>
            <a:r>
              <a:rPr lang="en-GB" altLang="en-US" sz="2600" dirty="0"/>
              <a:t>Having imported the </a:t>
            </a:r>
            <a:r>
              <a:rPr lang="en-GB" altLang="en-US" sz="2600" b="1" dirty="0" err="1"/>
              <a:t>util</a:t>
            </a:r>
            <a:r>
              <a:rPr lang="en-GB" altLang="en-US" sz="2600" dirty="0"/>
              <a:t> package, you will need to write the following instruction in your program. </a:t>
            </a:r>
            <a:endParaRPr lang="en-IE" altLang="en-US" sz="2600" dirty="0"/>
          </a:p>
          <a:p>
            <a:pPr eaLnBrk="1" hangingPunct="1">
              <a:buFont typeface="Wingdings" pitchFamily="2" charset="2"/>
              <a:buNone/>
            </a:pPr>
            <a:r>
              <a:rPr lang="en-IE" altLang="en-US" sz="2600" dirty="0"/>
              <a:t>		</a:t>
            </a:r>
            <a:r>
              <a:rPr lang="en-IE" altLang="en-US" sz="2400" b="1" dirty="0">
                <a:solidFill>
                  <a:srgbClr val="FF0000"/>
                </a:solidFill>
                <a:latin typeface="Courier New" charset="0"/>
                <a:ea typeface="Courier New" charset="0"/>
                <a:cs typeface="Courier New" charset="0"/>
              </a:rPr>
              <a:t>Scanner </a:t>
            </a:r>
            <a:r>
              <a:rPr lang="en-IE" altLang="en-US" sz="2400" b="1" dirty="0">
                <a:solidFill>
                  <a:srgbClr val="7030A0"/>
                </a:solidFill>
                <a:latin typeface="Courier New" charset="0"/>
                <a:ea typeface="Courier New" charset="0"/>
                <a:cs typeface="Courier New" charset="0"/>
              </a:rPr>
              <a:t>input</a:t>
            </a:r>
            <a:r>
              <a:rPr lang="en-IE" altLang="en-US" sz="2400" b="1" dirty="0">
                <a:solidFill>
                  <a:srgbClr val="FF0000"/>
                </a:solidFill>
                <a:latin typeface="Courier New" charset="0"/>
                <a:ea typeface="Courier New" charset="0"/>
                <a:cs typeface="Courier New" charset="0"/>
              </a:rPr>
              <a:t> = new Scanner(System.in);</a:t>
            </a:r>
          </a:p>
          <a:p>
            <a:pPr eaLnBrk="1" hangingPunct="1">
              <a:buFont typeface="Wingdings" pitchFamily="2" charset="2"/>
              <a:buNone/>
            </a:pPr>
            <a:endParaRPr lang="en-IE" altLang="en-US" sz="2600" dirty="0"/>
          </a:p>
        </p:txBody>
      </p:sp>
      <p:pic>
        <p:nvPicPr>
          <p:cNvPr id="4" name="Picture 3">
            <a:extLst>
              <a:ext uri="{FF2B5EF4-FFF2-40B4-BE49-F238E27FC236}">
                <a16:creationId xmlns:a16="http://schemas.microsoft.com/office/drawing/2014/main" id="{A15C4220-7230-40BB-8C08-637AF55243EC}"/>
              </a:ext>
            </a:extLst>
          </p:cNvPr>
          <p:cNvPicPr>
            <a:picLocks noChangeAspect="1"/>
          </p:cNvPicPr>
          <p:nvPr/>
        </p:nvPicPr>
        <p:blipFill rotWithShape="1">
          <a:blip r:embed="rId2"/>
          <a:srcRect t="-1" b="41157"/>
          <a:stretch/>
        </p:blipFill>
        <p:spPr>
          <a:xfrm>
            <a:off x="2209800" y="3790858"/>
            <a:ext cx="8001000" cy="2667000"/>
          </a:xfrm>
          <a:prstGeom prst="rect">
            <a:avLst/>
          </a:prstGeom>
          <a:ln>
            <a:solidFill>
              <a:schemeClr val="accent1"/>
            </a:solidFill>
          </a:ln>
        </p:spPr>
      </p:pic>
      <p:sp>
        <p:nvSpPr>
          <p:cNvPr id="5" name="Donut 4"/>
          <p:cNvSpPr/>
          <p:nvPr/>
        </p:nvSpPr>
        <p:spPr>
          <a:xfrm flipV="1">
            <a:off x="2971800" y="6096000"/>
            <a:ext cx="6248400" cy="381000"/>
          </a:xfrm>
          <a:prstGeom prst="donut">
            <a:avLst>
              <a:gd name="adj" fmla="val 102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3357987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0"/>
                            </p:stCondLst>
                            <p:childTnLst>
                              <p:par>
                                <p:cTn id="8" presetID="21" presetClass="entr" presetSubtype="1" fill="hold" grpId="0" nodeType="after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heel(1)">
                                      <p:cBhvr>
                                        <p:cTn id="10"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p:txBody>
          <a:bodyPr/>
          <a:lstStyle/>
          <a:p>
            <a:pPr eaLnBrk="1" hangingPunct="1"/>
            <a:r>
              <a:rPr lang="en-GB" altLang="en-US" dirty="0"/>
              <a:t>Input in Java: the </a:t>
            </a:r>
            <a:r>
              <a:rPr lang="en-GB" altLang="en-US" b="1" dirty="0"/>
              <a:t>Scanner</a:t>
            </a:r>
            <a:r>
              <a:rPr lang="en-GB" altLang="en-US" i="1" dirty="0"/>
              <a:t> </a:t>
            </a:r>
            <a:r>
              <a:rPr lang="en-GB" altLang="en-US" dirty="0"/>
              <a:t>Class</a:t>
            </a:r>
            <a:endParaRPr lang="en-IE" altLang="en-US" dirty="0"/>
          </a:p>
        </p:txBody>
      </p:sp>
      <p:sp>
        <p:nvSpPr>
          <p:cNvPr id="7" name="Content Placeholder 2"/>
          <p:cNvSpPr>
            <a:spLocks noGrp="1"/>
          </p:cNvSpPr>
          <p:nvPr>
            <p:ph idx="1"/>
          </p:nvPr>
        </p:nvSpPr>
        <p:spPr>
          <a:xfrm>
            <a:off x="1981200" y="1676400"/>
            <a:ext cx="8229600" cy="1828800"/>
          </a:xfrm>
        </p:spPr>
        <p:style>
          <a:lnRef idx="1">
            <a:schemeClr val="accent2"/>
          </a:lnRef>
          <a:fillRef idx="2">
            <a:schemeClr val="accent2"/>
          </a:fillRef>
          <a:effectRef idx="1">
            <a:schemeClr val="accent2"/>
          </a:effectRef>
          <a:fontRef idx="minor">
            <a:schemeClr val="dk1"/>
          </a:fontRef>
        </p:style>
        <p:txBody>
          <a:bodyPr>
            <a:normAutofit fontScale="92500" lnSpcReduction="10000"/>
          </a:bodyPr>
          <a:lstStyle/>
          <a:p>
            <a:pPr>
              <a:spcBef>
                <a:spcPts val="0"/>
              </a:spcBef>
            </a:pPr>
            <a:r>
              <a:rPr lang="en-GB" altLang="en-US" sz="2600" dirty="0"/>
              <a:t>This declares a Scanner </a:t>
            </a:r>
            <a:r>
              <a:rPr lang="en-GB" altLang="en-US" sz="2600" b="1" dirty="0"/>
              <a:t>object</a:t>
            </a:r>
            <a:r>
              <a:rPr lang="en-GB" altLang="en-US" sz="2600" dirty="0"/>
              <a:t> called </a:t>
            </a:r>
            <a:r>
              <a:rPr lang="en-GB" altLang="en-US" sz="2600" b="1" dirty="0">
                <a:solidFill>
                  <a:srgbClr val="FF0000"/>
                </a:solidFill>
              </a:rPr>
              <a:t>input</a:t>
            </a:r>
            <a:r>
              <a:rPr lang="en-GB" altLang="en-US" sz="2600" dirty="0"/>
              <a:t> </a:t>
            </a:r>
            <a:br>
              <a:rPr lang="en-GB" altLang="en-US" sz="2600" dirty="0"/>
            </a:br>
            <a:r>
              <a:rPr lang="en-GB" altLang="en-US" sz="2600" dirty="0"/>
              <a:t>(you can name this object anything you wish).</a:t>
            </a:r>
            <a:br>
              <a:rPr lang="en-GB" altLang="en-US" sz="2600" dirty="0"/>
            </a:br>
            <a:endParaRPr lang="en-US" altLang="en-US" sz="2600" dirty="0"/>
          </a:p>
          <a:p>
            <a:pPr>
              <a:spcBef>
                <a:spcPts val="0"/>
              </a:spcBef>
            </a:pPr>
            <a:r>
              <a:rPr lang="en-IE" altLang="en-US" sz="2600" dirty="0"/>
              <a:t>You must have this instruction to be able to call the methods in the Scanner class.</a:t>
            </a:r>
          </a:p>
          <a:p>
            <a:pPr eaLnBrk="1" hangingPunct="1">
              <a:buFont typeface="Wingdings" pitchFamily="2" charset="2"/>
              <a:buNone/>
            </a:pPr>
            <a:endParaRPr lang="en-IE" altLang="en-US" dirty="0"/>
          </a:p>
        </p:txBody>
      </p:sp>
      <p:pic>
        <p:nvPicPr>
          <p:cNvPr id="4" name="Picture 3">
            <a:extLst>
              <a:ext uri="{FF2B5EF4-FFF2-40B4-BE49-F238E27FC236}">
                <a16:creationId xmlns:a16="http://schemas.microsoft.com/office/drawing/2014/main" id="{A15C4220-7230-40BB-8C08-637AF55243EC}"/>
              </a:ext>
            </a:extLst>
          </p:cNvPr>
          <p:cNvPicPr>
            <a:picLocks noChangeAspect="1"/>
          </p:cNvPicPr>
          <p:nvPr/>
        </p:nvPicPr>
        <p:blipFill rotWithShape="1">
          <a:blip r:embed="rId2"/>
          <a:srcRect t="-1" b="41157"/>
          <a:stretch/>
        </p:blipFill>
        <p:spPr>
          <a:xfrm>
            <a:off x="2209800" y="3790858"/>
            <a:ext cx="8001000" cy="2667000"/>
          </a:xfrm>
          <a:prstGeom prst="rect">
            <a:avLst/>
          </a:prstGeom>
          <a:ln>
            <a:solidFill>
              <a:schemeClr val="accent1"/>
            </a:solidFill>
          </a:ln>
        </p:spPr>
      </p:pic>
      <p:sp>
        <p:nvSpPr>
          <p:cNvPr id="5" name="Donut 4"/>
          <p:cNvSpPr/>
          <p:nvPr/>
        </p:nvSpPr>
        <p:spPr>
          <a:xfrm flipV="1">
            <a:off x="2971800" y="6096000"/>
            <a:ext cx="6248400" cy="381000"/>
          </a:xfrm>
          <a:prstGeom prst="donut">
            <a:avLst>
              <a:gd name="adj" fmla="val 102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8652308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p:txBody>
          <a:bodyPr/>
          <a:lstStyle/>
          <a:p>
            <a:pPr eaLnBrk="1" hangingPunct="1"/>
            <a:r>
              <a:rPr lang="en-GB" altLang="en-US" dirty="0"/>
              <a:t>Input in Java: the </a:t>
            </a:r>
            <a:r>
              <a:rPr lang="en-GB" altLang="en-US" b="1" dirty="0"/>
              <a:t>Scanner</a:t>
            </a:r>
            <a:r>
              <a:rPr lang="en-GB" altLang="en-US" i="1" dirty="0"/>
              <a:t> </a:t>
            </a:r>
            <a:r>
              <a:rPr lang="en-GB" altLang="en-US" dirty="0"/>
              <a:t>Class</a:t>
            </a:r>
            <a:endParaRPr lang="en-IE" altLang="en-US" dirty="0"/>
          </a:p>
        </p:txBody>
      </p:sp>
      <p:sp>
        <p:nvSpPr>
          <p:cNvPr id="64515" name="Content Placeholder 2"/>
          <p:cNvSpPr>
            <a:spLocks noGrp="1"/>
          </p:cNvSpPr>
          <p:nvPr>
            <p:ph idx="1"/>
          </p:nvPr>
        </p:nvSpPr>
        <p:spPr>
          <a:xfrm>
            <a:off x="609600" y="1600200"/>
            <a:ext cx="9601200" cy="4852988"/>
          </a:xfrm>
        </p:spPr>
        <p:txBody>
          <a:bodyPr>
            <a:normAutofit/>
          </a:bodyPr>
          <a:lstStyle/>
          <a:p>
            <a:pPr eaLnBrk="1" hangingPunct="1"/>
            <a:r>
              <a:rPr lang="en-GB" altLang="en-US" sz="2400" dirty="0"/>
              <a:t>Now that a Scanner object is set up, we can use all the </a:t>
            </a:r>
            <a:r>
              <a:rPr lang="en-GB" altLang="en-US" sz="2400" b="1" dirty="0"/>
              <a:t>input method</a:t>
            </a:r>
            <a:r>
              <a:rPr lang="en-GB" altLang="en-US" sz="2400" dirty="0"/>
              <a:t>s </a:t>
            </a:r>
            <a:br>
              <a:rPr lang="en-GB" altLang="en-US" sz="2400" dirty="0"/>
            </a:br>
            <a:r>
              <a:rPr lang="en-GB" altLang="en-US" sz="2400" dirty="0"/>
              <a:t>that have been defined in the Scanner class. </a:t>
            </a:r>
            <a:br>
              <a:rPr lang="en-GB" altLang="en-US" sz="2400" dirty="0"/>
            </a:br>
            <a:endParaRPr lang="en-GB" altLang="en-US" sz="2400" dirty="0"/>
          </a:p>
          <a:p>
            <a:pPr eaLnBrk="1" hangingPunct="1"/>
            <a:r>
              <a:rPr lang="en-IE" altLang="en-US" sz="2400" dirty="0"/>
              <a:t>There are </a:t>
            </a:r>
            <a:r>
              <a:rPr lang="en-IE" altLang="en-US" sz="2400" b="1" dirty="0"/>
              <a:t>methods</a:t>
            </a:r>
            <a:r>
              <a:rPr lang="en-IE" altLang="en-US" sz="2400" dirty="0"/>
              <a:t> to take in:</a:t>
            </a:r>
          </a:p>
          <a:p>
            <a:pPr eaLnBrk="1" hangingPunct="1"/>
            <a:endParaRPr lang="en-IE" altLang="en-US" sz="2400" dirty="0"/>
          </a:p>
          <a:p>
            <a:pPr eaLnBrk="1" hangingPunct="1"/>
            <a:endParaRPr lang="en-IE" altLang="en-US" sz="2000" dirty="0"/>
          </a:p>
        </p:txBody>
      </p:sp>
      <p:graphicFrame>
        <p:nvGraphicFramePr>
          <p:cNvPr id="3" name="Table 3">
            <a:extLst>
              <a:ext uri="{FF2B5EF4-FFF2-40B4-BE49-F238E27FC236}">
                <a16:creationId xmlns:a16="http://schemas.microsoft.com/office/drawing/2014/main" id="{B99776E3-1E74-4435-A606-23D2A5092C76}"/>
              </a:ext>
            </a:extLst>
          </p:cNvPr>
          <p:cNvGraphicFramePr>
            <a:graphicFrameLocks noGrp="1"/>
          </p:cNvGraphicFramePr>
          <p:nvPr>
            <p:extLst>
              <p:ext uri="{D42A27DB-BD31-4B8C-83A1-F6EECF244321}">
                <p14:modId xmlns:p14="http://schemas.microsoft.com/office/powerpoint/2010/main" val="3843135302"/>
              </p:ext>
            </p:extLst>
          </p:nvPr>
        </p:nvGraphicFramePr>
        <p:xfrm>
          <a:off x="1949885" y="3581400"/>
          <a:ext cx="8032315" cy="3058925"/>
        </p:xfrm>
        <a:graphic>
          <a:graphicData uri="http://schemas.openxmlformats.org/drawingml/2006/table">
            <a:tbl>
              <a:tblPr firstRow="1" bandRow="1">
                <a:tableStyleId>{2D5ABB26-0587-4C30-8999-92F81FD0307C}</a:tableStyleId>
              </a:tblPr>
              <a:tblGrid>
                <a:gridCol w="3261154">
                  <a:extLst>
                    <a:ext uri="{9D8B030D-6E8A-4147-A177-3AD203B41FA5}">
                      <a16:colId xmlns:a16="http://schemas.microsoft.com/office/drawing/2014/main" val="4229874743"/>
                    </a:ext>
                  </a:extLst>
                </a:gridCol>
                <a:gridCol w="4771161">
                  <a:extLst>
                    <a:ext uri="{9D8B030D-6E8A-4147-A177-3AD203B41FA5}">
                      <a16:colId xmlns:a16="http://schemas.microsoft.com/office/drawing/2014/main" val="1553790355"/>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altLang="en-US" sz="2400" dirty="0" err="1"/>
                        <a:t>ints</a:t>
                      </a:r>
                      <a:endParaRPr lang="en-IE"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dirty="0">
                          <a:solidFill>
                            <a:srgbClr val="0070C0"/>
                          </a:solidFill>
                        </a:rPr>
                        <a:t>.</a:t>
                      </a:r>
                      <a:r>
                        <a:rPr lang="en-GB" sz="2400" b="1" dirty="0" err="1">
                          <a:solidFill>
                            <a:srgbClr val="0070C0"/>
                          </a:solidFill>
                        </a:rPr>
                        <a:t>nextInt</a:t>
                      </a:r>
                      <a:r>
                        <a:rPr lang="en-GB" sz="2400" b="1" dirty="0">
                          <a:solidFill>
                            <a:srgbClr val="0070C0"/>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218988"/>
                  </a:ext>
                </a:extLst>
              </a:tr>
              <a:tr h="370840">
                <a:tc>
                  <a:txBody>
                    <a:bodyPr/>
                    <a:lstStyle/>
                    <a:p>
                      <a:r>
                        <a:rPr lang="en-IE" altLang="en-US" sz="2400" dirty="0"/>
                        <a:t>doubles</a:t>
                      </a:r>
                      <a:endParaRPr lang="en-VI"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dirty="0">
                          <a:solidFill>
                            <a:srgbClr val="0070C0"/>
                          </a:solidFill>
                        </a:rPr>
                        <a:t>.</a:t>
                      </a:r>
                      <a:r>
                        <a:rPr lang="en-GB" sz="2400" b="1" dirty="0" err="1">
                          <a:solidFill>
                            <a:srgbClr val="0070C0"/>
                          </a:solidFill>
                        </a:rPr>
                        <a:t>nextDouble</a:t>
                      </a:r>
                      <a:r>
                        <a:rPr lang="en-GB" sz="2400" b="1" dirty="0">
                          <a:solidFill>
                            <a:srgbClr val="0070C0"/>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0657839"/>
                  </a:ext>
                </a:extLst>
              </a:tr>
              <a:tr h="370840">
                <a:tc>
                  <a:txBody>
                    <a:bodyPr/>
                    <a:lstStyle/>
                    <a:p>
                      <a:r>
                        <a:rPr lang="en-GB" sz="2400" dirty="0"/>
                        <a:t>Strings</a:t>
                      </a:r>
                      <a:endParaRPr lang="en-VI"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dirty="0">
                          <a:solidFill>
                            <a:srgbClr val="0070C0"/>
                          </a:solidFill>
                        </a:rPr>
                        <a:t>.</a:t>
                      </a:r>
                      <a:r>
                        <a:rPr lang="en-GB" sz="2400" b="1" dirty="0" err="1">
                          <a:solidFill>
                            <a:srgbClr val="0070C0"/>
                          </a:solidFill>
                        </a:rPr>
                        <a:t>nextLine</a:t>
                      </a:r>
                      <a:r>
                        <a:rPr lang="en-GB" sz="2400" b="1" dirty="0">
                          <a:solidFill>
                            <a:srgbClr val="0070C0"/>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3852803"/>
                  </a:ext>
                </a:extLst>
              </a:tr>
              <a:tr h="498605">
                <a:tc>
                  <a:txBody>
                    <a:bodyPr/>
                    <a:lstStyle/>
                    <a:p>
                      <a:r>
                        <a:rPr lang="en-GB" sz="2400" dirty="0"/>
                        <a:t>chars</a:t>
                      </a:r>
                      <a:endParaRPr lang="en-VI"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dirty="0">
                          <a:solidFill>
                            <a:srgbClr val="0070C0"/>
                          </a:solidFill>
                        </a:rPr>
                        <a:t>.next().</a:t>
                      </a:r>
                      <a:r>
                        <a:rPr lang="en-GB" sz="2400" b="1" dirty="0" err="1">
                          <a:solidFill>
                            <a:srgbClr val="0070C0"/>
                          </a:solidFill>
                        </a:rPr>
                        <a:t>charAt</a:t>
                      </a:r>
                      <a:r>
                        <a:rPr lang="en-GB" sz="2400" b="1" dirty="0">
                          <a:solidFill>
                            <a:srgbClr val="0070C0"/>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260044"/>
                  </a:ext>
                </a:extLst>
              </a:tr>
              <a:tr h="370840">
                <a:tc>
                  <a:txBody>
                    <a:bodyPr/>
                    <a:lstStyle/>
                    <a:p>
                      <a:r>
                        <a:rPr lang="en-GB" sz="2400" dirty="0"/>
                        <a:t>etc…</a:t>
                      </a:r>
                      <a:endParaRPr lang="en-VI"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2400" dirty="0"/>
                        <a:t>See API docs for more (https://docs.oracle.com/javase/8/docs/api/java/util/Scanner.html)</a:t>
                      </a:r>
                      <a:endParaRPr lang="en-VI"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6422126"/>
                  </a:ext>
                </a:extLst>
              </a:tr>
            </a:tbl>
          </a:graphicData>
        </a:graphic>
      </p:graphicFrame>
    </p:spTree>
    <p:extLst>
      <p:ext uri="{BB962C8B-B14F-4D97-AF65-F5344CB8AC3E}">
        <p14:creationId xmlns:p14="http://schemas.microsoft.com/office/powerpoint/2010/main" val="3586907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45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451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Using Scanner Class</a:t>
            </a:r>
          </a:p>
        </p:txBody>
      </p:sp>
      <p:pic>
        <p:nvPicPr>
          <p:cNvPr id="4" name="Picture 3"/>
          <p:cNvPicPr>
            <a:picLocks noChangeAspect="1"/>
          </p:cNvPicPr>
          <p:nvPr/>
        </p:nvPicPr>
        <p:blipFill>
          <a:blip r:embed="rId2"/>
          <a:stretch>
            <a:fillRect/>
          </a:stretch>
        </p:blipFill>
        <p:spPr>
          <a:xfrm>
            <a:off x="381000" y="1417638"/>
            <a:ext cx="10658475" cy="5338017"/>
          </a:xfrm>
          <a:prstGeom prst="rect">
            <a:avLst/>
          </a:prstGeom>
        </p:spPr>
      </p:pic>
    </p:spTree>
    <p:extLst>
      <p:ext uri="{BB962C8B-B14F-4D97-AF65-F5344CB8AC3E}">
        <p14:creationId xmlns:p14="http://schemas.microsoft.com/office/powerpoint/2010/main" val="2966386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Questions?</a:t>
            </a:r>
          </a:p>
        </p:txBody>
      </p:sp>
      <p:pic>
        <p:nvPicPr>
          <p:cNvPr id="3" name="Picture 2" descr="A green question mark in a circle&#10;&#10;AI-generated content may be incorrect.">
            <a:extLst>
              <a:ext uri="{FF2B5EF4-FFF2-40B4-BE49-F238E27FC236}">
                <a16:creationId xmlns:a16="http://schemas.microsoft.com/office/drawing/2014/main" id="{4021528B-859B-0F0C-6479-D9428D88B2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1800" y="1325562"/>
            <a:ext cx="5257800" cy="5257800"/>
          </a:xfrm>
          <a:prstGeom prst="rect">
            <a:avLst/>
          </a:prstGeom>
        </p:spPr>
      </p:pic>
    </p:spTree>
    <p:extLst>
      <p:ext uri="{BB962C8B-B14F-4D97-AF65-F5344CB8AC3E}">
        <p14:creationId xmlns:p14="http://schemas.microsoft.com/office/powerpoint/2010/main" val="815503280"/>
      </p:ext>
    </p:extLst>
  </p:cSld>
  <p:clrMapOvr>
    <a:masterClrMapping/>
  </p:clrMapOvr>
</p:sld>
</file>

<file path=ppt/theme/theme1.xml><?xml version="1.0" encoding="utf-8"?>
<a:theme xmlns:a="http://schemas.openxmlformats.org/drawingml/2006/main" name="a-processing-mouse-event-method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og-fund-1" id="{82CCE168-77CC-814B-8A2F-8520E8A6A75D}" vid="{4B930EE9-D6E6-E64C-A928-F4FAD685DB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b-boolean-cond</Template>
  <TotalTime>1</TotalTime>
  <Words>737</Words>
  <Application>Microsoft Macintosh PowerPoint</Application>
  <PresentationFormat>Widescreen</PresentationFormat>
  <Paragraphs>63</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Courier New</vt:lpstr>
      <vt:lpstr>Wingdings</vt:lpstr>
      <vt:lpstr>a-processing-mouse-event-methods</vt:lpstr>
      <vt:lpstr>Input / Output</vt:lpstr>
      <vt:lpstr>Before we start..</vt:lpstr>
      <vt:lpstr>Before we start (contd)..</vt:lpstr>
      <vt:lpstr>Packages</vt:lpstr>
      <vt:lpstr>Accessing Methods in Packages</vt:lpstr>
      <vt:lpstr>Input in Java: the Scanner Class</vt:lpstr>
      <vt:lpstr>How Does Scanner Work?</vt:lpstr>
      <vt:lpstr>Input in Java: the Scanner Class</vt:lpstr>
      <vt:lpstr>Input in Java: the Scanner Class</vt:lpstr>
      <vt:lpstr>Input in Java: the Scanner Class</vt:lpstr>
      <vt:lpstr>Input in Java: the Scanner Class</vt:lpstr>
      <vt:lpstr>Using Scanner Class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Input / Output</dc:title>
  <dc:creator>Siobhan Drohan</dc:creator>
  <cp:lastModifiedBy>Mairead Meagher</cp:lastModifiedBy>
  <cp:revision>134</cp:revision>
  <dcterms:created xsi:type="dcterms:W3CDTF">2006-08-16T00:00:00Z</dcterms:created>
  <dcterms:modified xsi:type="dcterms:W3CDTF">2025-10-05T15:47:22Z</dcterms:modified>
</cp:coreProperties>
</file>