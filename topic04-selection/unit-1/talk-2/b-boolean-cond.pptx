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1"/>
  </p:notesMasterIdLst>
  <p:handoutMasterIdLst>
    <p:handoutMasterId r:id="rId22"/>
  </p:handoutMasterIdLst>
  <p:sldIdLst>
    <p:sldId id="256" r:id="rId2"/>
    <p:sldId id="377" r:id="rId3"/>
    <p:sldId id="378" r:id="rId4"/>
    <p:sldId id="379" r:id="rId5"/>
    <p:sldId id="391" r:id="rId6"/>
    <p:sldId id="380" r:id="rId7"/>
    <p:sldId id="306" r:id="rId8"/>
    <p:sldId id="381" r:id="rId9"/>
    <p:sldId id="382" r:id="rId10"/>
    <p:sldId id="392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5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66"/>
    <p:restoredTop sz="91416"/>
  </p:normalViewPr>
  <p:slideViewPr>
    <p:cSldViewPr>
      <p:cViewPr varScale="1">
        <p:scale>
          <a:sx n="106" d="100"/>
          <a:sy n="106" d="100"/>
        </p:scale>
        <p:origin x="144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2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Boolean Values, conditions, algebra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Produced </a:t>
            </a:r>
          </a:p>
          <a:p>
            <a:pPr marL="0" indent="0" algn="r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189" y="1033535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F3F18-9325-6664-56FD-D759D31EB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DD1684-11CE-70AA-C096-99D5290433F1}"/>
              </a:ext>
            </a:extLst>
          </p:cNvPr>
          <p:cNvSpPr txBox="1"/>
          <p:nvPr/>
        </p:nvSpPr>
        <p:spPr>
          <a:xfrm>
            <a:off x="2036427" y="1596311"/>
            <a:ext cx="6810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Conditions, AND, OR,  NOT, if statements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7F48-C739-69EF-C7AA-BBA32486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30B0-5058-822C-2534-12D3C5CE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ECE3B2-0A7A-83A5-18B7-FBC9774CC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values</a:t>
            </a:r>
            <a:endParaRPr lang="en-IE" altLang="en-US" sz="4000" dirty="0"/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conditions and variables</a:t>
            </a:r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Compound conditions / Boolean Algebra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Logical operators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Bringing conditions together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F1519-B24C-A61D-D815-2F6E7CBDFDE7}"/>
              </a:ext>
            </a:extLst>
          </p:cNvPr>
          <p:cNvSpPr/>
          <p:nvPr/>
        </p:nvSpPr>
        <p:spPr>
          <a:xfrm>
            <a:off x="609600" y="1567994"/>
            <a:ext cx="4118248" cy="6930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739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0F29-58BF-1B65-946A-4F114BFB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8F0EC-7C28-A90B-7FD9-BB7673E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b="1" dirty="0" err="1"/>
              <a:t>boolean</a:t>
            </a:r>
            <a:r>
              <a:rPr lang="en-IE" dirty="0"/>
              <a:t> is a data type that can only have two possible values:</a:t>
            </a:r>
          </a:p>
          <a:p>
            <a:pPr lvl="1"/>
            <a:r>
              <a:rPr lang="en-IE" dirty="0"/>
              <a:t>true</a:t>
            </a:r>
          </a:p>
          <a:p>
            <a:pPr lvl="1"/>
            <a:r>
              <a:rPr lang="en-IE" dirty="0"/>
              <a:t>false</a:t>
            </a:r>
          </a:p>
          <a:p>
            <a:r>
              <a:rPr lang="en-IE" dirty="0"/>
              <a:t>Think of it like a light switch - it's either ON or OFF. There's no in-between!</a:t>
            </a:r>
          </a:p>
          <a:p>
            <a:r>
              <a:rPr lang="en-IE" dirty="0"/>
              <a:t>Booleans are named after George Boole, a mathematician who developed Boolean algebra.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9009B-100E-54AA-D054-C71CA689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4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85C4-FB7D-DBD5-A268-A15ED870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Booleans?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3BB6-286C-959A-18DD-9F04D8D84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In programming, we constantly need to make decisions:</a:t>
            </a:r>
          </a:p>
          <a:p>
            <a:pPr lvl="1"/>
            <a:r>
              <a:rPr lang="en-IE" dirty="0"/>
              <a:t>Is the user old enough to vote?</a:t>
            </a:r>
          </a:p>
          <a:p>
            <a:pPr lvl="1"/>
            <a:r>
              <a:rPr lang="en-IE" dirty="0"/>
              <a:t>Does the student have enough credits to graduate?</a:t>
            </a:r>
          </a:p>
          <a:p>
            <a:pPr lvl="1"/>
            <a:r>
              <a:rPr lang="en-IE" dirty="0"/>
              <a:t>Is there enough money in the account for this purchase?</a:t>
            </a:r>
          </a:p>
          <a:p>
            <a:pPr lvl="1"/>
            <a:r>
              <a:rPr lang="en-IE" dirty="0"/>
              <a:t>Has the password been entered correctly?</a:t>
            </a:r>
          </a:p>
          <a:p>
            <a:r>
              <a:rPr lang="en-IE" dirty="0"/>
              <a:t>All of these questions have </a:t>
            </a:r>
          </a:p>
          <a:p>
            <a:pPr lvl="1"/>
            <a:r>
              <a:rPr lang="en-IE" dirty="0"/>
              <a:t>YES/NO or </a:t>
            </a:r>
          </a:p>
          <a:p>
            <a:pPr lvl="1"/>
            <a:r>
              <a:rPr lang="en-IE" dirty="0"/>
              <a:t>TRUE/FALSE answers – </a:t>
            </a:r>
          </a:p>
          <a:p>
            <a:r>
              <a:rPr lang="en-IE" dirty="0"/>
              <a:t>that's where </a:t>
            </a:r>
            <a:r>
              <a:rPr lang="en-IE" dirty="0" err="1"/>
              <a:t>booleans</a:t>
            </a:r>
            <a:r>
              <a:rPr lang="en-IE" dirty="0"/>
              <a:t> come in!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15D01-006B-F677-2B25-F41C635A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F7EA-4E17-7F20-ECE2-43DFE68F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33EF-C4C5-0C63-8D9A-389DD087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6FC031-B914-BC9D-0BD7-F84F783A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values</a:t>
            </a:r>
            <a:endParaRPr lang="en-IE" altLang="en-US" sz="4000" dirty="0"/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conditions and variables</a:t>
            </a:r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Compound conditions / Boolean Algebra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Logical operators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Bringing conditions together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69CE20-A717-A414-EC05-92BBF6F5CEF7}"/>
              </a:ext>
            </a:extLst>
          </p:cNvPr>
          <p:cNvSpPr/>
          <p:nvPr/>
        </p:nvSpPr>
        <p:spPr>
          <a:xfrm>
            <a:off x="695400" y="2276872"/>
            <a:ext cx="7920880" cy="6930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149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05B7-216F-F7F8-6141-EC546560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</a:t>
            </a:r>
            <a:r>
              <a:rPr lang="en-IE" b="1" dirty="0" err="1"/>
              <a:t>oolean</a:t>
            </a:r>
            <a:r>
              <a:rPr lang="en-IE" b="1" dirty="0"/>
              <a:t> Conditions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E7C35-C51B-20F2-6903-380BAF499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</a:p>
          <a:p>
            <a:pPr lvl="1"/>
            <a:r>
              <a:rPr lang="en-IE" dirty="0"/>
              <a:t>true or 	</a:t>
            </a:r>
          </a:p>
          <a:p>
            <a:pPr lvl="1"/>
            <a:r>
              <a:rPr lang="en-IE" dirty="0"/>
              <a:t>false.</a:t>
            </a:r>
          </a:p>
          <a:p>
            <a:r>
              <a:rPr lang="en-IE" dirty="0"/>
              <a:t>Example Boolean Conditions: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17791-F5DD-823E-5BB8-272F395D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186CD-93B0-3A6E-C7FB-391A28DDE82A}"/>
              </a:ext>
            </a:extLst>
          </p:cNvPr>
          <p:cNvSpPr/>
          <p:nvPr/>
        </p:nvSpPr>
        <p:spPr>
          <a:xfrm>
            <a:off x="1487488" y="4221088"/>
            <a:ext cx="8712968" cy="1540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Lucida Sans Typewriter" panose="020B0509030504030204" pitchFamily="49" charset="77"/>
              </a:rPr>
              <a:t>age &gt;= 18           // Is age greater than or equal to 18?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temperature &lt; 0     // Is temperature less than 0?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score == 100        // Is score equal to 100?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balance != 0        // Is balance not equal to 0?</a:t>
            </a:r>
          </a:p>
        </p:txBody>
      </p:sp>
    </p:spTree>
    <p:extLst>
      <p:ext uri="{BB962C8B-B14F-4D97-AF65-F5344CB8AC3E}">
        <p14:creationId xmlns:p14="http://schemas.microsoft.com/office/powerpoint/2010/main" val="366315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8CD2-5152-7328-4CEF-420B7D32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Variables - use in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6036-9D02-C6C9-C87D-D74F2D31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variable stores a true or false value. </a:t>
            </a:r>
          </a:p>
          <a:p>
            <a:r>
              <a:rPr lang="en-IE" dirty="0"/>
              <a:t>They can be used to make your code more readable and lets you reuse conditions.</a:t>
            </a:r>
          </a:p>
          <a:p>
            <a:endParaRPr lang="en-IE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9E828-92D8-8DC2-448F-1C56FB9C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3AC3F5-BB50-4867-3A1E-AD1DD7AA4348}"/>
              </a:ext>
            </a:extLst>
          </p:cNvPr>
          <p:cNvSpPr/>
          <p:nvPr/>
        </p:nvSpPr>
        <p:spPr>
          <a:xfrm>
            <a:off x="1213248" y="3284984"/>
            <a:ext cx="9073008" cy="1540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latin typeface="Lucida Sans Typewriter" panose="020B0509030504030204" pitchFamily="49" charset="77"/>
              </a:rPr>
              <a:t>boolean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  <a:r>
              <a:rPr lang="en-US" dirty="0" err="1">
                <a:latin typeface="Lucida Sans Typewriter" panose="020B0509030504030204" pitchFamily="49" charset="77"/>
              </a:rPr>
              <a:t>canVote</a:t>
            </a:r>
            <a:r>
              <a:rPr lang="en-US" dirty="0">
                <a:latin typeface="Lucida Sans Typewriter" panose="020B0509030504030204" pitchFamily="49" charset="77"/>
              </a:rPr>
              <a:t>;    // Is age greater than or equal to 18?</a:t>
            </a:r>
          </a:p>
          <a:p>
            <a:endParaRPr lang="en-US" dirty="0">
              <a:latin typeface="Lucida Sans Typewriter" panose="020B0509030504030204" pitchFamily="49" charset="77"/>
            </a:endParaRPr>
          </a:p>
          <a:p>
            <a:r>
              <a:rPr lang="en-US" dirty="0" err="1">
                <a:latin typeface="Lucida Sans Typewriter" panose="020B0509030504030204" pitchFamily="49" charset="77"/>
              </a:rPr>
              <a:t>canVote</a:t>
            </a:r>
            <a:r>
              <a:rPr lang="en-US" dirty="0">
                <a:latin typeface="Lucida Sans Typewriter" panose="020B0509030504030204" pitchFamily="49" charset="77"/>
              </a:rPr>
              <a:t> = age &gt;= 18;</a:t>
            </a:r>
          </a:p>
          <a:p>
            <a:endParaRPr lang="en-US" dirty="0">
              <a:latin typeface="Lucida Sans Typewriter" panose="020B0509030504030204" pitchFamily="49" charset="77"/>
            </a:endParaRPr>
          </a:p>
          <a:p>
            <a:r>
              <a:rPr lang="en-US" dirty="0">
                <a:latin typeface="Lucida Sans Typewriter" panose="020B0509030504030204" pitchFamily="49" charset="77"/>
              </a:rPr>
              <a:t>if (</a:t>
            </a:r>
            <a:r>
              <a:rPr lang="en-US" dirty="0" err="1">
                <a:latin typeface="Lucida Sans Typewriter" panose="020B0509030504030204" pitchFamily="49" charset="77"/>
              </a:rPr>
              <a:t>canVote</a:t>
            </a:r>
            <a:r>
              <a:rPr lang="en-US" dirty="0">
                <a:latin typeface="Lucida Sans Typewriter" panose="020B0509030504030204" pitchFamily="49" charset="77"/>
              </a:rPr>
              <a:t>) </a:t>
            </a:r>
            <a:r>
              <a:rPr lang="en-US" dirty="0" err="1">
                <a:latin typeface="Lucida Sans Typewriter" panose="020B0509030504030204" pitchFamily="49" charset="77"/>
              </a:rPr>
              <a:t>System.out.println</a:t>
            </a:r>
            <a:r>
              <a:rPr lang="en-US" dirty="0">
                <a:latin typeface="Lucida Sans Typewriter" panose="020B0509030504030204" pitchFamily="49" charset="77"/>
              </a:rPr>
              <a:t>(“You can vote!”);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6D0DB-D5AB-5399-7C56-D2D700D9F743}"/>
              </a:ext>
            </a:extLst>
          </p:cNvPr>
          <p:cNvSpPr/>
          <p:nvPr/>
        </p:nvSpPr>
        <p:spPr>
          <a:xfrm>
            <a:off x="1213248" y="5180709"/>
            <a:ext cx="10369152" cy="1540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latin typeface="Lucida Sans Typewriter" panose="020B0509030504030204" pitchFamily="49" charset="77"/>
              </a:rPr>
              <a:t>boolean</a:t>
            </a:r>
            <a:r>
              <a:rPr lang="en-US" dirty="0">
                <a:latin typeface="Lucida Sans Typewriter" panose="020B0509030504030204" pitchFamily="49" charset="77"/>
              </a:rPr>
              <a:t> found = false;  //checking are vars equal to a </a:t>
            </a:r>
            <a:r>
              <a:rPr lang="en-US" dirty="0" err="1">
                <a:latin typeface="Lucida Sans Typewriter" panose="020B0509030504030204" pitchFamily="49" charset="77"/>
              </a:rPr>
              <a:t>lookingFor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  <a:r>
              <a:rPr lang="en-US" dirty="0" err="1">
                <a:latin typeface="Lucida Sans Typewriter" panose="020B0509030504030204" pitchFamily="49" charset="77"/>
              </a:rPr>
              <a:t>val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   :   // some code 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if (</a:t>
            </a:r>
            <a:r>
              <a:rPr lang="en-US" dirty="0" err="1">
                <a:latin typeface="Lucida Sans Typewriter" panose="020B0509030504030204" pitchFamily="49" charset="77"/>
              </a:rPr>
              <a:t>val</a:t>
            </a:r>
            <a:r>
              <a:rPr lang="en-US" dirty="0">
                <a:latin typeface="Lucida Sans Typewriter" panose="020B0509030504030204" pitchFamily="49" charset="77"/>
              </a:rPr>
              <a:t> == </a:t>
            </a:r>
            <a:r>
              <a:rPr lang="en-US" dirty="0" err="1">
                <a:latin typeface="Lucida Sans Typewriter" panose="020B0509030504030204" pitchFamily="49" charset="77"/>
              </a:rPr>
              <a:t>lookingFor</a:t>
            </a:r>
            <a:r>
              <a:rPr lang="en-US" dirty="0">
                <a:latin typeface="Lucida Sans Typewriter" panose="020B0509030504030204" pitchFamily="49" charset="77"/>
              </a:rPr>
              <a:t>) {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    found = true;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7456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71FF-5F38-D13F-BA9E-E5712D4A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conditions – one condition only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825D6-E270-2D78-5229-0AE28CCB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041245-D656-31A6-89CD-9003ED7A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38" y="1621878"/>
            <a:ext cx="11247040" cy="22651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if (age &gt;= 18 ) { // Is age greater than 18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   </a:t>
            </a:r>
            <a:r>
              <a:rPr lang="en-US" dirty="0" err="1">
                <a:latin typeface="Lucida Sans Typewriter" panose="020B0509030504030204" pitchFamily="49" charset="77"/>
              </a:rPr>
              <a:t>System.out.println</a:t>
            </a:r>
            <a:r>
              <a:rPr lang="en-US" dirty="0">
                <a:latin typeface="Lucida Sans Typewriter" panose="020B0509030504030204" pitchFamily="49" charset="77"/>
              </a:rPr>
              <a:t>(“I’m an adult!”);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 }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9088F4-6B5B-B206-AD54-F655E377014E}"/>
              </a:ext>
            </a:extLst>
          </p:cNvPr>
          <p:cNvSpPr txBox="1">
            <a:spLocks/>
          </p:cNvSpPr>
          <p:nvPr/>
        </p:nvSpPr>
        <p:spPr>
          <a:xfrm>
            <a:off x="472480" y="3903018"/>
            <a:ext cx="11247040" cy="22651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latin typeface="Lucida Sans Typewriter" panose="020B0509030504030204" pitchFamily="49" charset="77"/>
              </a:rPr>
              <a:t> if (price &lt; 0) { // invalid price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Lucida Sans Typewriter" panose="020B0509030504030204" pitchFamily="49" charset="77"/>
              </a:rPr>
              <a:t>    </a:t>
            </a:r>
            <a:r>
              <a:rPr lang="en-US" dirty="0" err="1">
                <a:latin typeface="Lucida Sans Typewriter" panose="020B0509030504030204" pitchFamily="49" charset="77"/>
              </a:rPr>
              <a:t>System.out.println</a:t>
            </a:r>
            <a:r>
              <a:rPr lang="en-US" dirty="0">
                <a:latin typeface="Lucida Sans Typewriter" panose="020B0509030504030204" pitchFamily="49" charset="77"/>
              </a:rPr>
              <a:t>(“Too cheap!”);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Lucida Sans Typewriter" panose="020B0509030504030204" pitchFamily="49" charset="77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71588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D41F-2E6F-5859-CED3-604C3519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AD31-EA3E-2B42-E97A-0FB8A250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CF8203-A25F-388F-8F26-A0A0BD28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values</a:t>
            </a:r>
            <a:endParaRPr lang="en-IE" altLang="en-US" sz="4000" dirty="0"/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conditions and variables</a:t>
            </a:r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Compound conditions / Boolean Algebra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Logical operators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Bringing conditions together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B3543-9311-DD47-C344-219C2EABF9F8}"/>
              </a:ext>
            </a:extLst>
          </p:cNvPr>
          <p:cNvSpPr/>
          <p:nvPr/>
        </p:nvSpPr>
        <p:spPr>
          <a:xfrm>
            <a:off x="629306" y="3082498"/>
            <a:ext cx="9427134" cy="207469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4707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7B80-6FED-D77D-0BA8-B75B9728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conditions – using 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33A3-2F2F-C48D-E788-11D4FDBA1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use a combination of conditions we call it a compound condition. </a:t>
            </a:r>
          </a:p>
          <a:p>
            <a:r>
              <a:rPr lang="en-US" dirty="0"/>
              <a:t>This is done by taking simple compound statements and putting it with another condition with either an </a:t>
            </a:r>
          </a:p>
          <a:p>
            <a:pPr lvl="3"/>
            <a:r>
              <a:rPr lang="en-US" dirty="0"/>
              <a:t> </a:t>
            </a:r>
            <a:r>
              <a:rPr lang="en-US" sz="2800" dirty="0"/>
              <a:t>and (&amp;&amp;)   or</a:t>
            </a:r>
          </a:p>
          <a:p>
            <a:pPr lvl="3"/>
            <a:r>
              <a:rPr lang="en-US" sz="2800" dirty="0"/>
              <a:t> or(||) </a:t>
            </a:r>
          </a:p>
          <a:p>
            <a:pPr lvl="3"/>
            <a:r>
              <a:rPr lang="en-US" sz="2800" dirty="0"/>
              <a:t> not (!)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84FC-A422-2D10-F1AE-16CF6D1A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71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9792-DBA0-CF1A-106E-6D4E5990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AND (&amp;&amp;)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8EC0-80E8-BCD1-CDBB-0C3C38198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An AND condition requires </a:t>
            </a:r>
            <a:r>
              <a:rPr lang="en-IE" b="1" dirty="0"/>
              <a:t>both tests</a:t>
            </a:r>
            <a:r>
              <a:rPr lang="en-IE" dirty="0"/>
              <a:t> to be true.</a:t>
            </a:r>
          </a:p>
          <a:p>
            <a:r>
              <a:rPr lang="en-IE" dirty="0"/>
              <a:t>Everyday example:</a:t>
            </a:r>
          </a:p>
          <a:p>
            <a:pPr marL="0" indent="0">
              <a:buNone/>
            </a:pPr>
            <a:br>
              <a:rPr lang="en-IE" dirty="0"/>
            </a:br>
            <a:r>
              <a:rPr lang="en-IE" dirty="0"/>
              <a:t>    </a:t>
            </a:r>
            <a:r>
              <a:rPr lang="en-IE" i="1" dirty="0"/>
              <a:t>“If     </a:t>
            </a:r>
            <a:r>
              <a:rPr lang="en-IE" i="1" dirty="0">
                <a:solidFill>
                  <a:srgbClr val="FF0000"/>
                </a:solidFill>
              </a:rPr>
              <a:t>it is Friday        </a:t>
            </a:r>
            <a:r>
              <a:rPr lang="en-IE" b="1" i="1" dirty="0"/>
              <a:t>AND</a:t>
            </a:r>
            <a:r>
              <a:rPr lang="en-IE" i="1" dirty="0"/>
              <a:t>     </a:t>
            </a:r>
            <a:r>
              <a:rPr lang="en-IE" i="1" dirty="0">
                <a:solidFill>
                  <a:srgbClr val="FF0000"/>
                </a:solidFill>
              </a:rPr>
              <a:t>it is raining        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			I will take a taxi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i="1" dirty="0"/>
              <a:t>The two conditions are brought together to make one condition.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C3025-8E5A-3AD0-A01D-ADB37111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A44B1BBE-0442-49CB-B41F-AFC16B20E7A9}"/>
              </a:ext>
            </a:extLst>
          </p:cNvPr>
          <p:cNvSpPr/>
          <p:nvPr/>
        </p:nvSpPr>
        <p:spPr>
          <a:xfrm rot="16200000">
            <a:off x="4084610" y="2934905"/>
            <a:ext cx="1368152" cy="1090653"/>
          </a:xfrm>
          <a:prstGeom prst="fram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E0B4D6ED-0FF3-D7AE-0171-75C3B059DEDC}"/>
              </a:ext>
            </a:extLst>
          </p:cNvPr>
          <p:cNvSpPr/>
          <p:nvPr/>
        </p:nvSpPr>
        <p:spPr>
          <a:xfrm rot="16200000">
            <a:off x="6342114" y="2022297"/>
            <a:ext cx="720081" cy="2736305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10E8C7AF-9BDE-BDAC-98A1-498F15988DAD}"/>
              </a:ext>
            </a:extLst>
          </p:cNvPr>
          <p:cNvSpPr/>
          <p:nvPr/>
        </p:nvSpPr>
        <p:spPr>
          <a:xfrm rot="16200000">
            <a:off x="2527968" y="2312876"/>
            <a:ext cx="720081" cy="2232248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1D23B5-5B3E-9C9C-84C4-F41BEDAC1C76}"/>
              </a:ext>
            </a:extLst>
          </p:cNvPr>
          <p:cNvSpPr/>
          <p:nvPr/>
        </p:nvSpPr>
        <p:spPr>
          <a:xfrm>
            <a:off x="191344" y="4131701"/>
            <a:ext cx="2376264" cy="739592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conditions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227291-61DA-8416-82DD-124339EE3EC0}"/>
              </a:ext>
            </a:extLst>
          </p:cNvPr>
          <p:cNvCxnSpPr>
            <a:cxnSpLocks/>
          </p:cNvCxnSpPr>
          <p:nvPr/>
        </p:nvCxnSpPr>
        <p:spPr>
          <a:xfrm flipV="1">
            <a:off x="1127448" y="3863182"/>
            <a:ext cx="648072" cy="26762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B22559-1523-0696-9FD4-1F3ACE4F7BEB}"/>
              </a:ext>
            </a:extLst>
          </p:cNvPr>
          <p:cNvCxnSpPr>
            <a:cxnSpLocks/>
          </p:cNvCxnSpPr>
          <p:nvPr/>
        </p:nvCxnSpPr>
        <p:spPr>
          <a:xfrm flipV="1">
            <a:off x="2538500" y="3803293"/>
            <a:ext cx="4536504" cy="6093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EFB4F13-4C2C-BAAC-2C3D-E115EDB7322F}"/>
              </a:ext>
            </a:extLst>
          </p:cNvPr>
          <p:cNvSpPr/>
          <p:nvPr/>
        </p:nvSpPr>
        <p:spPr>
          <a:xfrm>
            <a:off x="7824192" y="2204864"/>
            <a:ext cx="1944216" cy="7200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operator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E3650D-75C2-915D-BCEE-997CFBC5E6AB}"/>
              </a:ext>
            </a:extLst>
          </p:cNvPr>
          <p:cNvCxnSpPr>
            <a:stCxn id="22" idx="1"/>
          </p:cNvCxnSpPr>
          <p:nvPr/>
        </p:nvCxnSpPr>
        <p:spPr>
          <a:xfrm flipH="1">
            <a:off x="5303914" y="2564904"/>
            <a:ext cx="2520278" cy="360039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14" grpId="0" animBg="1"/>
      <p:bldP spid="15" grpId="0" animBg="1"/>
      <p:bldP spid="17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36DB-D0FD-F67F-3FC5-6DE4D2E0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CE80-E6BA-AFA9-4EDE-C22FA1D6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AND (&amp;&amp;)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9CF1-D79E-9DA7-03FE-72AB684F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    </a:t>
            </a:r>
            <a:r>
              <a:rPr lang="en-IE" i="1" dirty="0"/>
              <a:t>“If     </a:t>
            </a:r>
            <a:r>
              <a:rPr lang="en-IE" i="1" dirty="0">
                <a:solidFill>
                  <a:srgbClr val="FF0000"/>
                </a:solidFill>
              </a:rPr>
              <a:t>it is Friday        </a:t>
            </a:r>
            <a:r>
              <a:rPr lang="en-IE" b="1" i="1" dirty="0"/>
              <a:t>AND</a:t>
            </a:r>
            <a:r>
              <a:rPr lang="en-IE" i="1" dirty="0"/>
              <a:t>     </a:t>
            </a:r>
            <a:r>
              <a:rPr lang="en-IE" i="1" dirty="0">
                <a:solidFill>
                  <a:srgbClr val="FF0000"/>
                </a:solidFill>
              </a:rPr>
              <a:t>it is raining        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I will take a taxi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r>
              <a:rPr lang="en-IE" dirty="0"/>
              <a:t>Only if both conditions are true will I take a taxi. 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I will </a:t>
            </a:r>
            <a:r>
              <a:rPr lang="en-IE" b="1" dirty="0"/>
              <a:t>NOT</a:t>
            </a:r>
            <a:r>
              <a:rPr lang="en-IE" dirty="0"/>
              <a:t> take a taxi if either (or both)  of the following is </a:t>
            </a:r>
            <a:r>
              <a:rPr lang="en-IE" b="1" dirty="0"/>
              <a:t>False</a:t>
            </a:r>
          </a:p>
          <a:p>
            <a:pPr marL="0" indent="0">
              <a:buNone/>
            </a:pPr>
            <a:r>
              <a:rPr lang="en-IE" dirty="0"/>
              <a:t>	‘it is Friday’     is false (e.g. it’s Thursday) </a:t>
            </a:r>
          </a:p>
          <a:p>
            <a:pPr marL="0" indent="0">
              <a:buNone/>
            </a:pPr>
            <a:r>
              <a:rPr lang="en-IE" dirty="0"/>
              <a:t>           ‘it is raining’   is false (i.e. it is dry)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23F27-C581-E4D6-561D-01FD4B31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2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BC92-7D76-87DF-895C-F9F051CA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 using AND (&amp;&amp;)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78314-DEB9-9EB1-244D-2308112B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AEC2DB-9D33-5520-1115-F12E07082A55}"/>
              </a:ext>
            </a:extLst>
          </p:cNvPr>
          <p:cNvSpPr/>
          <p:nvPr/>
        </p:nvSpPr>
        <p:spPr>
          <a:xfrm>
            <a:off x="391326" y="1628800"/>
            <a:ext cx="11191074" cy="1800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if  ( (mark &gt;= 0 ) &amp;&amp; ( mark &lt;= 100) ){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System.out.println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(“This is a valid % mark.”);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417E0-30F0-728E-C18C-1032BF9FBFBB}"/>
              </a:ext>
            </a:extLst>
          </p:cNvPr>
          <p:cNvSpPr txBox="1"/>
          <p:nvPr/>
        </p:nvSpPr>
        <p:spPr>
          <a:xfrm>
            <a:off x="767408" y="3459485"/>
            <a:ext cx="9361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Question : Will the following values of mark lead the condition to be true or false:</a:t>
            </a:r>
          </a:p>
          <a:p>
            <a:r>
              <a:rPr lang="en-US" sz="3200" dirty="0"/>
              <a:t> mark has value    0   ?</a:t>
            </a:r>
          </a:p>
          <a:p>
            <a:r>
              <a:rPr lang="en-US" sz="3200" dirty="0"/>
              <a:t>                              -1    ? </a:t>
            </a:r>
          </a:p>
          <a:p>
            <a:r>
              <a:rPr lang="en-US" sz="3200" dirty="0"/>
              <a:t>			100 ?</a:t>
            </a:r>
          </a:p>
          <a:p>
            <a:r>
              <a:rPr lang="en-US" sz="3200" dirty="0"/>
              <a:t>			101 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8878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4684-82F7-C14A-5B26-A0F37FBA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416F-7573-ADD1-1982-E5BFF661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OR (||)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3FEC-69E9-7528-B0CB-E248CFD36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    </a:t>
            </a:r>
            <a:r>
              <a:rPr lang="en-IE" i="1" dirty="0"/>
              <a:t>“If     </a:t>
            </a:r>
            <a:r>
              <a:rPr lang="en-IE" i="1" dirty="0">
                <a:solidFill>
                  <a:srgbClr val="FF0000"/>
                </a:solidFill>
              </a:rPr>
              <a:t>it is Friday        </a:t>
            </a:r>
            <a:r>
              <a:rPr lang="en-IE" b="1" i="1" dirty="0"/>
              <a:t>OR</a:t>
            </a:r>
            <a:r>
              <a:rPr lang="en-IE" i="1" dirty="0"/>
              <a:t>     </a:t>
            </a:r>
            <a:r>
              <a:rPr lang="en-IE" i="1" dirty="0">
                <a:solidFill>
                  <a:srgbClr val="FF0000"/>
                </a:solidFill>
              </a:rPr>
              <a:t>it is raining        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I will take a taxi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r>
              <a:rPr lang="en-IE" dirty="0"/>
              <a:t>if either or both conditions are true will I take a taxi. 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The only way I won’t take a taxi is if both of the conditions are false.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BA12A-12AA-A568-43ED-FB8C7A5B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9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9172-B517-D46A-A4B6-5813FB21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036A-4B56-8C83-C881-86862072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 using AND (&amp;&amp;)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4880D-D678-B99B-DE0F-71E5A928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89B26C-EF56-2CA6-19D4-B874A8453F34}"/>
              </a:ext>
            </a:extLst>
          </p:cNvPr>
          <p:cNvSpPr/>
          <p:nvPr/>
        </p:nvSpPr>
        <p:spPr>
          <a:xfrm>
            <a:off x="0" y="1659285"/>
            <a:ext cx="11969370" cy="1800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if  ( (mark &lt;0 ) || ( mark &gt; 100) ){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System.out.println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(“This is NOT a valid % mark.”);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A1C92-8979-141C-ABC4-6ECFC364ABB3}"/>
              </a:ext>
            </a:extLst>
          </p:cNvPr>
          <p:cNvSpPr txBox="1"/>
          <p:nvPr/>
        </p:nvSpPr>
        <p:spPr>
          <a:xfrm>
            <a:off x="767408" y="3459485"/>
            <a:ext cx="9361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Question : Will the following values of mark lead the condition to be true or false:</a:t>
            </a:r>
          </a:p>
          <a:p>
            <a:r>
              <a:rPr lang="en-US" sz="3200" dirty="0"/>
              <a:t> mark has value    0   ?</a:t>
            </a:r>
          </a:p>
          <a:p>
            <a:r>
              <a:rPr lang="en-US" sz="3200" dirty="0"/>
              <a:t>                              -1    ? </a:t>
            </a:r>
          </a:p>
          <a:p>
            <a:r>
              <a:rPr lang="en-US" sz="3200" dirty="0"/>
              <a:t>			100 ?</a:t>
            </a:r>
          </a:p>
          <a:p>
            <a:r>
              <a:rPr lang="en-US" sz="3200" dirty="0"/>
              <a:t>			101 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0522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65E48-837A-0A90-B7E2-872F5DC9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D7A9-AEE5-34D8-90FC-FEA6ACE5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NOT (!)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4BB2-7A13-E2F9-6039-30C26B740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214592" cy="1324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    </a:t>
            </a:r>
            <a:r>
              <a:rPr lang="en-IE" i="1" dirty="0"/>
              <a:t>“If    NOT(  </a:t>
            </a:r>
            <a:r>
              <a:rPr lang="en-IE" i="1" dirty="0">
                <a:solidFill>
                  <a:srgbClr val="FF0000"/>
                </a:solidFill>
              </a:rPr>
              <a:t>it is Friday)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I will take the bike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69F6E-DF8F-ED92-4EC3-59A95EC3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CC9A7-0DFE-BC42-9DF1-F234A9413DC9}"/>
              </a:ext>
            </a:extLst>
          </p:cNvPr>
          <p:cNvSpPr txBox="1"/>
          <p:nvPr/>
        </p:nvSpPr>
        <p:spPr>
          <a:xfrm>
            <a:off x="6384032" y="3725416"/>
            <a:ext cx="3038128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sz="2800" dirty="0"/>
              <a:t>NOT False is True</a:t>
            </a:r>
          </a:p>
          <a:p>
            <a:endParaRPr lang="en-IE" sz="2800" dirty="0"/>
          </a:p>
          <a:p>
            <a:r>
              <a:rPr lang="en-IE" sz="2800" dirty="0"/>
              <a:t>! False -&gt; 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85491-5604-E125-670C-A183EF8D1AA2}"/>
              </a:ext>
            </a:extLst>
          </p:cNvPr>
          <p:cNvSpPr txBox="1"/>
          <p:nvPr/>
        </p:nvSpPr>
        <p:spPr>
          <a:xfrm>
            <a:off x="8688288" y="1636275"/>
            <a:ext cx="2664296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E" dirty="0"/>
              <a:t>If it is NOT Friday I will take the bike to college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29F06-59B1-6AA5-5879-7EECD7B3062B}"/>
              </a:ext>
            </a:extLst>
          </p:cNvPr>
          <p:cNvSpPr txBox="1"/>
          <p:nvPr/>
        </p:nvSpPr>
        <p:spPr>
          <a:xfrm>
            <a:off x="762000" y="3725416"/>
            <a:ext cx="3038128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sz="2800" dirty="0"/>
              <a:t>NOT True is False</a:t>
            </a:r>
          </a:p>
          <a:p>
            <a:endParaRPr lang="en-IE" sz="2800" dirty="0"/>
          </a:p>
          <a:p>
            <a:r>
              <a:rPr lang="en-IE" sz="2800" dirty="0"/>
              <a:t>! True </a:t>
            </a:r>
            <a:r>
              <a:rPr lang="en-IE" sz="2800" dirty="0">
                <a:sym typeface="Wingdings" pitchFamily="2" charset="2"/>
              </a:rPr>
              <a:t> False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568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5099-1AB0-CECF-584D-B4075670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A5EA-1867-D768-7E7D-2E221383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 using NOT  (!)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91477-663D-4F17-9F92-9AD263B5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5708B2-347E-B3A4-9292-1E1DB1837B30}"/>
              </a:ext>
            </a:extLst>
          </p:cNvPr>
          <p:cNvSpPr/>
          <p:nvPr/>
        </p:nvSpPr>
        <p:spPr>
          <a:xfrm>
            <a:off x="0" y="1659285"/>
            <a:ext cx="11969370" cy="1800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boolean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isEligible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= false;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if  ( !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isEligible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){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System.out.println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(“Sorry you cannot vote.”);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7999F-BF8B-787A-0C33-80A431C77FC5}"/>
              </a:ext>
            </a:extLst>
          </p:cNvPr>
          <p:cNvSpPr txBox="1"/>
          <p:nvPr/>
        </p:nvSpPr>
        <p:spPr>
          <a:xfrm>
            <a:off x="767408" y="3921442"/>
            <a:ext cx="93610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Question</a:t>
            </a:r>
            <a:r>
              <a:rPr lang="en-US" sz="3200" dirty="0"/>
              <a:t> : Will the following values of ineligible lead to</a:t>
            </a:r>
          </a:p>
          <a:p>
            <a:r>
              <a:rPr lang="en-US" sz="3200" dirty="0"/>
              <a:t>“Sorry you cannot vote.”  being printed: </a:t>
            </a:r>
          </a:p>
          <a:p>
            <a:endParaRPr lang="en-US" sz="3200" dirty="0"/>
          </a:p>
          <a:p>
            <a:r>
              <a:rPr lang="en-US" sz="3200" dirty="0"/>
              <a:t> ineligible  has value    true ?</a:t>
            </a:r>
          </a:p>
          <a:p>
            <a:r>
              <a:rPr lang="en-US" sz="3200" dirty="0"/>
              <a:t>                              	false  ? </a:t>
            </a:r>
          </a:p>
          <a:p>
            <a:r>
              <a:rPr lang="en-US" sz="3200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89932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-fund-1" id="{82CCE168-77CC-814B-8A2F-8520E8A6A75D}" vid="{4B930EE9-D6E6-E64C-A928-F4FAD685DB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a-processing-mouse-event-methods</Template>
  <TotalTime>367</TotalTime>
  <Words>1068</Words>
  <Application>Microsoft Macintosh PowerPoint</Application>
  <PresentationFormat>Widescreen</PresentationFormat>
  <Paragraphs>170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MS PGothic</vt:lpstr>
      <vt:lpstr>Arial</vt:lpstr>
      <vt:lpstr>Calibri</vt:lpstr>
      <vt:lpstr>Lucida Sans Typewriter</vt:lpstr>
      <vt:lpstr>Times New Roman</vt:lpstr>
      <vt:lpstr>Wingdings</vt:lpstr>
      <vt:lpstr>a-processing-mouse-event-methods</vt:lpstr>
      <vt:lpstr>Boolean Values, conditions, algebra</vt:lpstr>
      <vt:lpstr>Topics list</vt:lpstr>
      <vt:lpstr>Boolean values</vt:lpstr>
      <vt:lpstr>Why do we need Booleans? </vt:lpstr>
      <vt:lpstr>Topics list</vt:lpstr>
      <vt:lpstr>Boolean Conditions</vt:lpstr>
      <vt:lpstr>Java Relational Operators</vt:lpstr>
      <vt:lpstr>Boolean Variables - use in if statement</vt:lpstr>
      <vt:lpstr>Simple conditions – one condition only</vt:lpstr>
      <vt:lpstr>Topics list</vt:lpstr>
      <vt:lpstr>Compound conditions – using Boolean algebra</vt:lpstr>
      <vt:lpstr>Boolean Conditions with AND (&amp;&amp;)</vt:lpstr>
      <vt:lpstr>Boolean Conditions with AND (&amp;&amp;)</vt:lpstr>
      <vt:lpstr>Code example using AND (&amp;&amp;)</vt:lpstr>
      <vt:lpstr>Boolean Conditions with OR (||)</vt:lpstr>
      <vt:lpstr>Code example using AND (&amp;&amp;)</vt:lpstr>
      <vt:lpstr>Boolean Conditions with NOT (!)</vt:lpstr>
      <vt:lpstr>Code example using NOT  (!)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Mairead Meagher</dc:creator>
  <cp:keywords/>
  <dc:description>Copyright © David J. Barnes, Michael Kölling</dc:description>
  <cp:lastModifiedBy>Mairead Meagher</cp:lastModifiedBy>
  <cp:revision>5</cp:revision>
  <cp:lastPrinted>2003-09-01T07:04:41Z</cp:lastPrinted>
  <dcterms:created xsi:type="dcterms:W3CDTF">2025-10-03T18:23:57Z</dcterms:created>
  <dcterms:modified xsi:type="dcterms:W3CDTF">2025-10-05T16:00:57Z</dcterms:modified>
  <cp:category/>
</cp:coreProperties>
</file>