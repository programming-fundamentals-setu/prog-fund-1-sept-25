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0"/>
  </p:notesMasterIdLst>
  <p:handoutMasterIdLst>
    <p:handoutMasterId r:id="rId21"/>
  </p:handoutMasterIdLst>
  <p:sldIdLst>
    <p:sldId id="256" r:id="rId2"/>
    <p:sldId id="348" r:id="rId3"/>
    <p:sldId id="355" r:id="rId4"/>
    <p:sldId id="360" r:id="rId5"/>
    <p:sldId id="276" r:id="rId6"/>
    <p:sldId id="361" r:id="rId7"/>
    <p:sldId id="293" r:id="rId8"/>
    <p:sldId id="296" r:id="rId9"/>
    <p:sldId id="271" r:id="rId10"/>
    <p:sldId id="362" r:id="rId11"/>
    <p:sldId id="359" r:id="rId12"/>
    <p:sldId id="363" r:id="rId13"/>
    <p:sldId id="356" r:id="rId14"/>
    <p:sldId id="357" r:id="rId15"/>
    <p:sldId id="306" r:id="rId16"/>
    <p:sldId id="313" r:id="rId17"/>
    <p:sldId id="358" r:id="rId18"/>
    <p:sldId id="35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F"/>
    <a:srgbClr val="009C5C"/>
    <a:srgbClr val="7F6F5E"/>
    <a:srgbClr val="C81D2B"/>
    <a:srgbClr val="1A3170"/>
    <a:srgbClr val="A5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8"/>
  </p:normalViewPr>
  <p:slideViewPr>
    <p:cSldViewPr>
      <p:cViewPr varScale="1">
        <p:scale>
          <a:sx n="93" d="100"/>
          <a:sy n="93" d="100"/>
        </p:scale>
        <p:origin x="208" y="6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5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83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ED87-AC10-B89C-20DE-8013F002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6401945-7709-DF74-E0D9-8758BC07AB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C53D51BE-67ED-05B5-2346-21149BCF70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15B9518-7F24-DCB3-E90D-5328421EF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54503B63-6077-4B2E-7EFC-AFFF2CAED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F34A593F-867A-B84E-CC68-E199F9231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579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8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05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485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11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half multiple </a:t>
            </a:r>
            <a:r>
              <a:rPr lang="en-US" dirty="0" err="1"/>
              <a:t>ocurences</a:t>
            </a:r>
            <a:r>
              <a:rPr lang="en-US" dirty="0"/>
              <a:t> of “else if” </a:t>
            </a:r>
          </a:p>
        </p:txBody>
      </p:sp>
    </p:spTree>
    <p:extLst>
      <p:ext uri="{BB962C8B-B14F-4D97-AF65-F5344CB8AC3E}">
        <p14:creationId xmlns:p14="http://schemas.microsoft.com/office/powerpoint/2010/main" val="646854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E054-A482-661A-E72C-5437454B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98BA9EB9-9E4C-A193-9837-1A492941A4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1375909F-167B-F7A5-11C7-253D1E3452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36D45D92-73AD-B7A6-F0DE-2D55A13D4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95ABC380-CA8E-3E50-4B02-939E753D9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EFF46FC0-B7F8-6E55-6841-F9C59DAD2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52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I would advise to use use them to avoid errors</a:t>
            </a:r>
            <a:r>
              <a:rPr lang="en-GB" baseline="0" dirty="0"/>
              <a:t> when updating programs later.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875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Why?</a:t>
            </a:r>
          </a:p>
          <a:p>
            <a:pPr marL="171450" indent="-171450">
              <a:buFontTx/>
              <a:buChar char="-"/>
            </a:pPr>
            <a:r>
              <a:rPr lang="en-GB" dirty="0"/>
              <a:t>A simple</a:t>
            </a:r>
            <a:r>
              <a:rPr lang="en-GB" baseline="0" dirty="0"/>
              <a:t> statement ends in a semi colon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 compound statement is a collection of statement surround by curly braces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An if statement is the if keyword followed by a condition in brackets followed by compound statement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7184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00583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javaguide.com/relational_operators.ht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Selection – if statements</a:t>
            </a:r>
            <a:endParaRPr lang="en-GB" dirty="0">
              <a:ea typeface="+mj-ea"/>
              <a:cs typeface="+mj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Recap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7270-F5C8-38C1-18BD-6F7B11A1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Conditionals – the if 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041921-7F50-1E1B-D9D8-916D3109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670" y="1801442"/>
            <a:ext cx="4204447" cy="4525963"/>
          </a:xfrm>
          <a:prstGeom prst="rect">
            <a:avLst/>
          </a:prstGeom>
          <a:noFill/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BA4961D-9019-5941-C5E2-44B00673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0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E356-5A74-54D6-F90E-C0000329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2C9053EF-3838-CB2E-C031-45C009FFA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/>
              <a:t>Making choices in everyday life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28AC5360-7A2B-F340-D47B-7763CF24800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2188839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pPr marL="0" indent="0">
              <a:buNone/>
            </a:pPr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04ADE-DD9B-F79A-9275-51C096D494BB}"/>
              </a:ext>
            </a:extLst>
          </p:cNvPr>
          <p:cNvGrpSpPr/>
          <p:nvPr/>
        </p:nvGrpSpPr>
        <p:grpSpPr>
          <a:xfrm>
            <a:off x="6492155" y="1600201"/>
            <a:ext cx="4795690" cy="2032484"/>
            <a:chOff x="2892002" y="1916832"/>
            <a:chExt cx="4417516" cy="1872208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F96B6B5C-92D0-44A6-0A7B-E2431F93B687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46762FCB-FC28-D412-B4B5-2C7615EEFD9E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8A1C9A8-376D-284A-E78A-657F64D9414D}"/>
                </a:ext>
              </a:extLst>
            </p:cNvPr>
            <p:cNvSpPr/>
            <p:nvPr/>
          </p:nvSpPr>
          <p:spPr>
            <a:xfrm>
              <a:off x="6013374" y="2352581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Just Do it!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B248F7-DAE0-6FF7-1156-54D389EFEE24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C0AD28A-A431-C243-E5AA-69859C014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167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(1)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34138" y="3680801"/>
            <a:ext cx="76290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72044" y="42374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2067198" y="3212976"/>
            <a:ext cx="8258688" cy="184780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TextBox 2"/>
          <p:cNvSpPr txBox="1"/>
          <p:nvPr/>
        </p:nvSpPr>
        <p:spPr>
          <a:xfrm>
            <a:off x="15328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07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CE5A-6E4F-798E-1AC6-8B65ACA5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E64DE0F6-CB72-FC7D-00F8-DD16D9C0C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(1) 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A6D230AE-022D-FDFE-5073-2C87699A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63675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105A7-A16D-95C9-C7FE-11852CD9F45D}"/>
              </a:ext>
            </a:extLst>
          </p:cNvPr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149A0-1148-9C6B-9119-96610A48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3431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(2)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I will go to the Gym</a:t>
            </a:r>
            <a:endParaRPr lang="en-US" dirty="0"/>
          </a:p>
          <a:p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964897-A944-0134-49D9-2FA76A199444}"/>
              </a:ext>
            </a:extLst>
          </p:cNvPr>
          <p:cNvGrpSpPr/>
          <p:nvPr/>
        </p:nvGrpSpPr>
        <p:grpSpPr>
          <a:xfrm>
            <a:off x="6529608" y="1600201"/>
            <a:ext cx="4795690" cy="4525963"/>
            <a:chOff x="2892002" y="1916832"/>
            <a:chExt cx="4417516" cy="4169059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C6D22CD9-A7BF-21C4-3E8D-20166D90545D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938698A8-1757-FD75-40DF-E0F881582ACA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51103EC7-E323-EF35-4DE0-59EC1547CC5E}"/>
                </a:ext>
              </a:extLst>
            </p:cNvPr>
            <p:cNvSpPr/>
            <p:nvPr/>
          </p:nvSpPr>
          <p:spPr>
            <a:xfrm rot="5400000">
              <a:off x="3144030" y="4185084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709C3EBA-99CF-33A9-FC4C-A8CF5F625EAC}"/>
                </a:ext>
              </a:extLst>
            </p:cNvPr>
            <p:cNvSpPr/>
            <p:nvPr/>
          </p:nvSpPr>
          <p:spPr>
            <a:xfrm>
              <a:off x="6013374" y="2352582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8" name="Process 7">
              <a:extLst>
                <a:ext uri="{FF2B5EF4-FFF2-40B4-BE49-F238E27FC236}">
                  <a16:creationId xmlns:a16="http://schemas.microsoft.com/office/drawing/2014/main" id="{D293AC4E-A84D-5A61-9186-5CE8029ADC53}"/>
                </a:ext>
              </a:extLst>
            </p:cNvPr>
            <p:cNvSpPr/>
            <p:nvPr/>
          </p:nvSpPr>
          <p:spPr>
            <a:xfrm>
              <a:off x="3215680" y="5085184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Gym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8CC582-C776-32FC-1D7E-492E5757E136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567E5-0B19-1C91-EC06-DC4DA7C2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(2)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62200" y="3117850"/>
            <a:ext cx="7729538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else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438401" y="2055813"/>
            <a:ext cx="14098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‘if’ keyword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572000" y="1905001"/>
            <a:ext cx="381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 err="1">
                <a:solidFill>
                  <a:srgbClr val="A57133"/>
                </a:solidFill>
              </a:rPr>
              <a:t>boolean</a:t>
            </a:r>
            <a:r>
              <a:rPr lang="en-US" sz="2000" dirty="0">
                <a:solidFill>
                  <a:srgbClr val="A57133"/>
                </a:solidFill>
              </a:rPr>
              <a:t> condition to be tested</a:t>
            </a:r>
            <a:endParaRPr lang="en-US" sz="2000" dirty="0">
              <a:solidFill>
                <a:srgbClr val="A57133"/>
              </a:solidFill>
              <a:latin typeface="Times New Roman" pitchFamily="18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6781801" y="2513013"/>
            <a:ext cx="28948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true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6477000" y="5103814"/>
            <a:ext cx="3352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false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2590800" y="5256213"/>
            <a:ext cx="1664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>
                <a:solidFill>
                  <a:srgbClr val="A57133"/>
                </a:solidFill>
              </a:rPr>
              <a:t>‘else’ keyword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2667000" y="2438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H="1" flipV="1">
            <a:off x="2743200" y="42672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4267200" y="22860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H="1">
            <a:off x="7696200" y="2895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 flipH="1" flipV="1">
            <a:off x="7010400" y="4648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b="1"/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895600" y="4243388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95600" y="34290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16" name="Rectangle 15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903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  <p:bldP spid="24582" grpId="0"/>
      <p:bldP spid="24583" grpId="0"/>
      <p:bldP spid="24584" grpId="0"/>
      <p:bldP spid="24585" grpId="0" animBg="1"/>
      <p:bldP spid="24586" grpId="0" animBg="1"/>
      <p:bldP spid="24587" grpId="0" animBg="1"/>
      <p:bldP spid="24588" grpId="0" animBg="1"/>
      <p:bldP spid="2458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(2)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631504" y="1844824"/>
            <a:ext cx="77428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"Use a positive amount: %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d%n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",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 amount);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8DDF6-29CC-488C-2927-B2CF39E8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519C-088B-71A0-55F9-1DE850CD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CE71C172-2413-DFCA-2FB5-3F7C55A08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(3)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1E67BD42-8EF1-DD0E-145F-3FF7AD4975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4857392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</a:t>
            </a:r>
            <a:r>
              <a:rPr lang="en-IE" altLang="en-US" sz="3200" dirty="0"/>
              <a:t>if I am a member of a gym, go to the gym</a:t>
            </a:r>
          </a:p>
          <a:p>
            <a:r>
              <a:rPr lang="en-IE" sz="3200" dirty="0"/>
              <a:t>Otherwise I will go for a run</a:t>
            </a:r>
            <a:endParaRPr lang="en-US" dirty="0"/>
          </a:p>
          <a:p>
            <a:endParaRPr lang="en-GB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3418C-AD97-5D99-1130-1CAF2694E733}"/>
              </a:ext>
            </a:extLst>
          </p:cNvPr>
          <p:cNvSpPr txBox="1"/>
          <p:nvPr/>
        </p:nvSpPr>
        <p:spPr>
          <a:xfrm>
            <a:off x="7800563" y="2632713"/>
            <a:ext cx="271010" cy="400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2B05F-789E-9A0D-4094-2DBBAD88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5D3738C-BD9E-4240-BB18-D46D617922B9}"/>
              </a:ext>
            </a:extLst>
          </p:cNvPr>
          <p:cNvGrpSpPr/>
          <p:nvPr/>
        </p:nvGrpSpPr>
        <p:grpSpPr>
          <a:xfrm>
            <a:off x="6094160" y="1817263"/>
            <a:ext cx="4968552" cy="4987921"/>
            <a:chOff x="4367808" y="1772817"/>
            <a:chExt cx="4968552" cy="4987921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14BFD934-8BF7-C0EB-A471-32C431055967}"/>
                </a:ext>
              </a:extLst>
            </p:cNvPr>
            <p:cNvSpPr/>
            <p:nvPr/>
          </p:nvSpPr>
          <p:spPr>
            <a:xfrm>
              <a:off x="4367808" y="1772817"/>
              <a:ext cx="1901028" cy="1291974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 dirty="0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667F6C9B-5CD1-022D-FEA3-6C5A9C4009CB}"/>
                </a:ext>
              </a:extLst>
            </p:cNvPr>
            <p:cNvSpPr/>
            <p:nvPr/>
          </p:nvSpPr>
          <p:spPr>
            <a:xfrm>
              <a:off x="6269022" y="2194681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ECD6C22-EA17-CBEC-15A9-C8E82D94A83B}"/>
                </a:ext>
              </a:extLst>
            </p:cNvPr>
            <p:cNvSpPr/>
            <p:nvPr/>
          </p:nvSpPr>
          <p:spPr>
            <a:xfrm>
              <a:off x="7812837" y="1993143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2" name="Decision 1">
              <a:extLst>
                <a:ext uri="{FF2B5EF4-FFF2-40B4-BE49-F238E27FC236}">
                  <a16:creationId xmlns:a16="http://schemas.microsoft.com/office/drawing/2014/main" id="{8124FB81-879C-11B2-1770-31C91EC3E381}"/>
                </a:ext>
              </a:extLst>
            </p:cNvPr>
            <p:cNvSpPr/>
            <p:nvPr/>
          </p:nvSpPr>
          <p:spPr>
            <a:xfrm>
              <a:off x="4497940" y="4127676"/>
              <a:ext cx="1640762" cy="1101525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Am I a member of a gym?</a:t>
              </a:r>
              <a:endParaRPr lang="en-US" sz="1400" dirty="0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5D6AFEEC-2A75-76EE-462A-386672190E51}"/>
                </a:ext>
              </a:extLst>
            </p:cNvPr>
            <p:cNvSpPr/>
            <p:nvPr/>
          </p:nvSpPr>
          <p:spPr>
            <a:xfrm>
              <a:off x="6145724" y="4473896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13" name="Process 12">
              <a:extLst>
                <a:ext uri="{FF2B5EF4-FFF2-40B4-BE49-F238E27FC236}">
                  <a16:creationId xmlns:a16="http://schemas.microsoft.com/office/drawing/2014/main" id="{7B95F671-5258-E198-391E-4513EDEA89D1}"/>
                </a:ext>
              </a:extLst>
            </p:cNvPr>
            <p:cNvSpPr/>
            <p:nvPr/>
          </p:nvSpPr>
          <p:spPr>
            <a:xfrm>
              <a:off x="7676268" y="4272357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the gym</a:t>
              </a:r>
              <a:endParaRPr lang="en-US" dirty="0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B47B363-2D10-C825-AAA5-36E4B71115DB}"/>
                </a:ext>
              </a:extLst>
            </p:cNvPr>
            <p:cNvSpPr/>
            <p:nvPr/>
          </p:nvSpPr>
          <p:spPr>
            <a:xfrm rot="5400000">
              <a:off x="4866667" y="5525353"/>
              <a:ext cx="903141" cy="2984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F6F9178F-88E1-5E88-20BE-94D7EE42DB21}"/>
                </a:ext>
              </a:extLst>
            </p:cNvPr>
            <p:cNvSpPr/>
            <p:nvPr/>
          </p:nvSpPr>
          <p:spPr>
            <a:xfrm rot="5400000">
              <a:off x="4778011" y="3302660"/>
              <a:ext cx="1101526" cy="62578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31" name="Process 30">
              <a:extLst>
                <a:ext uri="{FF2B5EF4-FFF2-40B4-BE49-F238E27FC236}">
                  <a16:creationId xmlns:a16="http://schemas.microsoft.com/office/drawing/2014/main" id="{D8315F1E-C916-1F6D-41C1-6C4EB638A79C}"/>
                </a:ext>
              </a:extLst>
            </p:cNvPr>
            <p:cNvSpPr/>
            <p:nvPr/>
          </p:nvSpPr>
          <p:spPr>
            <a:xfrm>
              <a:off x="4560413" y="6148090"/>
              <a:ext cx="1523523" cy="612648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Go for a run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1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(3)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62533" y="1897082"/>
            <a:ext cx="79047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else 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condition2…perform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false </a:t>
            </a:r>
            <a:b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</a:b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result and condition2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else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{</a:t>
            </a:r>
          </a:p>
          <a:p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both condition1 and </a:t>
            </a:r>
          </a:p>
          <a:p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condition2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724286" y="36048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695933" y="2461895"/>
            <a:ext cx="7371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2695933" y="49002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" name="Rectangle 1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5-Point Star 5"/>
          <p:cNvSpPr/>
          <p:nvPr/>
        </p:nvSpPr>
        <p:spPr>
          <a:xfrm>
            <a:off x="1599894" y="2971800"/>
            <a:ext cx="533400" cy="457200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49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9D09-F4F7-81A9-BB49-A1961C2A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B3EBDA19-B0CA-FF24-A4E3-35D84CCFC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(3)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2CDA4B6D-7D8D-D629-6D49-C481D307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82109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specialOffer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&gt;100)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+ 50;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if (amount &gt; 50){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+ 25;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amount = amount + 5;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AC94E-0F7C-95B1-4362-1BBDC100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EE4EC2-6E4A-26A9-7252-DFC158659CE5}"/>
              </a:ext>
            </a:extLst>
          </p:cNvPr>
          <p:cNvSpPr txBox="1"/>
          <p:nvPr/>
        </p:nvSpPr>
        <p:spPr>
          <a:xfrm>
            <a:off x="9048328" y="3356992"/>
            <a:ext cx="2160240" cy="2031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  <a:alpha val="62000"/>
              </a:schemeClr>
            </a:solidFill>
          </a:ln>
          <a:effectLst>
            <a:outerShdw blurRad="50800" dist="50800" dir="5400000" algn="ctr" rotWithShape="0">
              <a:srgbClr val="000000">
                <a:alpha val="68539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Note that if any condition is true, the associated statements are executed AND the if statement is finished.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818881-955A-F47A-E2DC-45A3C571EADD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4655840" y="2924944"/>
            <a:ext cx="4392488" cy="144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6F76B0-339F-820C-B63B-0CCB114598E8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511824" y="4005064"/>
            <a:ext cx="4536504" cy="3675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3476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</a:t>
            </a:r>
            <a:r>
              <a:rPr lang="en-IE" b="1" dirty="0"/>
              <a:t>true</a:t>
            </a:r>
            <a:r>
              <a:rPr lang="en-IE" dirty="0"/>
              <a:t> or </a:t>
            </a:r>
            <a:r>
              <a:rPr lang="en-IE" b="1" dirty="0"/>
              <a:t>false</a:t>
            </a:r>
            <a:r>
              <a:rPr lang="en-IE" dirty="0"/>
              <a:t>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price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 </a:t>
            </a:r>
          </a:p>
          <a:p>
            <a:pPr marL="0" indent="0">
              <a:buNone/>
            </a:pPr>
            <a:endParaRPr lang="en-IE" sz="2800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E" dirty="0"/>
              <a:t>An if statement evaluates a </a:t>
            </a:r>
            <a:r>
              <a:rPr lang="en-IE" b="1" dirty="0" err="1"/>
              <a:t>boolean</a:t>
            </a:r>
            <a:r>
              <a:rPr lang="en-IE" b="1" dirty="0"/>
              <a:t> condition </a:t>
            </a:r>
            <a:r>
              <a:rPr lang="en-IE" dirty="0"/>
              <a:t>and its result will determine which portion of the if statement is executed.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29080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1" y="2133600"/>
            <a:ext cx="7102549" cy="34163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before.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if (</a:t>
            </a:r>
            <a:r>
              <a:rPr lang="en-US" sz="2400" b="1" dirty="0" err="1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boolean</a:t>
            </a:r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 condition) 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{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     // Perform this clause if the 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	// condition is true.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}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after.</a:t>
            </a:r>
          </a:p>
        </p:txBody>
      </p:sp>
    </p:spTree>
    <p:extLst>
      <p:ext uri="{BB962C8B-B14F-4D97-AF65-F5344CB8AC3E}">
        <p14:creationId xmlns:p14="http://schemas.microsoft.com/office/powerpoint/2010/main" val="366950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524001"/>
          <a:ext cx="8382000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Use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true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 op2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op1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==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!=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19600" y="6488668"/>
            <a:ext cx="6248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600" dirty="0"/>
              <a:t>Source: </a:t>
            </a:r>
            <a:r>
              <a:rPr lang="en-IE" sz="1600" dirty="0">
                <a:hlinkClick r:id="rId2"/>
              </a:rPr>
              <a:t>http://www.freejavaguide.com/relational_operators.htm</a:t>
            </a:r>
            <a:r>
              <a:rPr lang="en-IE" sz="16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5604" y="5867401"/>
            <a:ext cx="6813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BEWARE </a:t>
            </a:r>
            <a:r>
              <a:rPr lang="en-GB" b="1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</a:rPr>
              <a:t> is an assignment operator. </a:t>
            </a:r>
          </a:p>
          <a:p>
            <a:r>
              <a:rPr lang="en-GB" dirty="0">
                <a:solidFill>
                  <a:srgbClr val="FF0000"/>
                </a:solidFill>
              </a:rPr>
              <a:t>It doesn’t test for equality. Use </a:t>
            </a:r>
            <a:r>
              <a:rPr lang="en-GB" b="1" dirty="0">
                <a:solidFill>
                  <a:srgbClr val="FF0000"/>
                </a:solidFill>
              </a:rPr>
              <a:t>==</a:t>
            </a:r>
            <a:r>
              <a:rPr lang="en-GB" dirty="0">
                <a:solidFill>
                  <a:srgbClr val="FF0000"/>
                </a:solidFill>
              </a:rPr>
              <a:t> to test for equality in primitive types</a:t>
            </a:r>
          </a:p>
        </p:txBody>
      </p:sp>
    </p:spTree>
    <p:extLst>
      <p:ext uri="{BB962C8B-B14F-4D97-AF65-F5344CB8AC3E}">
        <p14:creationId xmlns:p14="http://schemas.microsoft.com/office/powerpoint/2010/main" val="16312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if statement </a:t>
            </a:r>
            <a:r>
              <a:rPr lang="en-IE" dirty="0">
                <a:solidFill>
                  <a:srgbClr val="FF0000"/>
                </a:solidFill>
              </a:rPr>
              <a:t>IS</a:t>
            </a:r>
            <a:r>
              <a:rPr lang="en-IE" dirty="0"/>
              <a:t> a </a:t>
            </a:r>
            <a:r>
              <a:rPr lang="en-IE" b="1" dirty="0"/>
              <a:t>statement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	it is only executed once.</a:t>
            </a:r>
          </a:p>
          <a:p>
            <a:r>
              <a:rPr lang="en-IE" dirty="0"/>
              <a:t>When your if statement only has </a:t>
            </a:r>
            <a:r>
              <a:rPr lang="en-IE" u="sng" dirty="0"/>
              <a:t>one</a:t>
            </a:r>
            <a:r>
              <a:rPr lang="en-IE" dirty="0"/>
              <a:t> statement inside it, you do not need to use the curly braces.</a:t>
            </a:r>
          </a:p>
          <a:p>
            <a:r>
              <a:rPr lang="en-IE" dirty="0"/>
              <a:t>For example, both of these are the same:</a:t>
            </a:r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2667000" y="4840070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price = 50;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384032" y="4978569"/>
            <a:ext cx="29718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price = 50;</a:t>
            </a:r>
          </a:p>
        </p:txBody>
      </p:sp>
    </p:spTree>
    <p:extLst>
      <p:ext uri="{BB962C8B-B14F-4D97-AF65-F5344CB8AC3E}">
        <p14:creationId xmlns:p14="http://schemas.microsoft.com/office/powerpoint/2010/main" val="93314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semi-colon (</a:t>
            </a:r>
            <a:r>
              <a:rPr lang="en-IE" b="1" dirty="0"/>
              <a:t>;</a:t>
            </a:r>
            <a:r>
              <a:rPr lang="en-IE" dirty="0"/>
              <a:t>) is a </a:t>
            </a:r>
            <a:r>
              <a:rPr lang="en-IE" b="1" dirty="0"/>
              <a:t>statement terminator</a:t>
            </a:r>
            <a:r>
              <a:rPr lang="en-IE" dirty="0"/>
              <a:t>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610100" y="2947479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en-IE" dirty="0" err="1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rect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(0, 0, 50, 100) ;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2" name="Oval 1"/>
          <p:cNvSpPr/>
          <p:nvPr/>
        </p:nvSpPr>
        <p:spPr>
          <a:xfrm>
            <a:off x="6816080" y="3284016"/>
            <a:ext cx="152400" cy="9760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b="1" dirty="0"/>
          </a:p>
        </p:txBody>
      </p:sp>
      <p:sp>
        <p:nvSpPr>
          <p:cNvPr id="6" name="Left Arrow 5"/>
          <p:cNvSpPr/>
          <p:nvPr/>
        </p:nvSpPr>
        <p:spPr>
          <a:xfrm rot="820408">
            <a:off x="6169718" y="3294826"/>
            <a:ext cx="2783160" cy="26834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8863716" y="3429000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40B62-FD9D-F06E-C2CF-FE9F8035F4F9}"/>
              </a:ext>
            </a:extLst>
          </p:cNvPr>
          <p:cNvSpPr txBox="1"/>
          <p:nvPr/>
        </p:nvSpPr>
        <p:spPr>
          <a:xfrm>
            <a:off x="4943872" y="5064336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024E6194-C19D-4EEF-0A92-D0337CD58009}"/>
              </a:ext>
            </a:extLst>
          </p:cNvPr>
          <p:cNvSpPr/>
          <p:nvPr/>
        </p:nvSpPr>
        <p:spPr>
          <a:xfrm rot="2969422">
            <a:off x="4670779" y="4362194"/>
            <a:ext cx="1445982" cy="28922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0B0C3-4CF6-F722-66FB-94F3A279831F}"/>
              </a:ext>
            </a:extLst>
          </p:cNvPr>
          <p:cNvSpPr txBox="1"/>
          <p:nvPr/>
        </p:nvSpPr>
        <p:spPr>
          <a:xfrm>
            <a:off x="9485575" y="5211871"/>
            <a:ext cx="1752600" cy="70788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Semi-colon </a:t>
            </a:r>
            <a:r>
              <a:rPr lang="en-IE" sz="2000" b="1" dirty="0"/>
              <a:t>IS </a:t>
            </a:r>
            <a:r>
              <a:rPr lang="en-IE" sz="2000" dirty="0"/>
              <a:t>needed here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0EC9097B-0C94-BE25-8BC3-C361ECBB5A44}"/>
              </a:ext>
            </a:extLst>
          </p:cNvPr>
          <p:cNvSpPr/>
          <p:nvPr/>
        </p:nvSpPr>
        <p:spPr>
          <a:xfrm rot="1607918" flipV="1">
            <a:off x="6884288" y="4472615"/>
            <a:ext cx="2800454" cy="219325"/>
          </a:xfrm>
          <a:prstGeom prst="leftArrow">
            <a:avLst>
              <a:gd name="adj1" fmla="val 7692"/>
              <a:gd name="adj2" fmla="val 50000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3446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class-definitions</Template>
  <TotalTime>677</TotalTime>
  <Words>1026</Words>
  <Application>Microsoft Macintosh PowerPoint</Application>
  <PresentationFormat>Widescreen</PresentationFormat>
  <Paragraphs>190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 Unicode MS</vt:lpstr>
      <vt:lpstr>MS PGothic</vt:lpstr>
      <vt:lpstr>Anonymous</vt:lpstr>
      <vt:lpstr>Arial</vt:lpstr>
      <vt:lpstr>Calibri</vt:lpstr>
      <vt:lpstr>Courier New</vt:lpstr>
      <vt:lpstr>Times New Roman</vt:lpstr>
      <vt:lpstr>a-processing-mouse-event-methods</vt:lpstr>
      <vt:lpstr>Selection – if statements</vt:lpstr>
      <vt:lpstr>Upcoming</vt:lpstr>
      <vt:lpstr>Conditionals – the if statement</vt:lpstr>
      <vt:lpstr>Making choices in everyday life</vt:lpstr>
      <vt:lpstr>Conditional Statement Syntax (1)</vt:lpstr>
      <vt:lpstr>Making a choice in the ticket machine (1) </vt:lpstr>
      <vt:lpstr>Making choices in everyday life (2)</vt:lpstr>
      <vt:lpstr>Conditional Statement Syntax (2) </vt:lpstr>
      <vt:lpstr>Making a choice in the ticket machine (2)</vt:lpstr>
      <vt:lpstr>Making choices in everyday life (3)</vt:lpstr>
      <vt:lpstr>Conditional Statement Syntax (3) </vt:lpstr>
      <vt:lpstr>Making a choice in the ticket machine (3)</vt:lpstr>
      <vt:lpstr>Boolean conditions</vt:lpstr>
      <vt:lpstr>Boolean conditions</vt:lpstr>
      <vt:lpstr>Java Relational Operators</vt:lpstr>
      <vt:lpstr>Some notes on the if statement</vt:lpstr>
      <vt:lpstr>Some notes on the if statement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200</cp:revision>
  <cp:lastPrinted>2003-09-01T07:04:41Z</cp:lastPrinted>
  <dcterms:created xsi:type="dcterms:W3CDTF">2009-04-22T19:24:48Z</dcterms:created>
  <dcterms:modified xsi:type="dcterms:W3CDTF">2025-09-30T22:57:26Z</dcterms:modified>
  <cp:category/>
</cp:coreProperties>
</file>