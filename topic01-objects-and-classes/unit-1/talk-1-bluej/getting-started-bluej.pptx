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0"/>
  </p:notesMasterIdLst>
  <p:sldIdLst>
    <p:sldId id="325" r:id="rId2"/>
    <p:sldId id="665" r:id="rId3"/>
    <p:sldId id="687" r:id="rId4"/>
    <p:sldId id="283" r:id="rId5"/>
    <p:sldId id="688" r:id="rId6"/>
    <p:sldId id="689" r:id="rId7"/>
    <p:sldId id="286" r:id="rId8"/>
    <p:sldId id="667" r:id="rId9"/>
    <p:sldId id="680" r:id="rId10"/>
    <p:sldId id="693" r:id="rId11"/>
    <p:sldId id="692" r:id="rId12"/>
    <p:sldId id="670" r:id="rId13"/>
    <p:sldId id="678" r:id="rId14"/>
    <p:sldId id="690" r:id="rId15"/>
    <p:sldId id="673" r:id="rId16"/>
    <p:sldId id="691" r:id="rId17"/>
    <p:sldId id="679" r:id="rId18"/>
    <p:sldId id="34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15" autoAdjust="0"/>
    <p:restoredTop sz="89136" autoAdjust="0"/>
  </p:normalViewPr>
  <p:slideViewPr>
    <p:cSldViewPr>
      <p:cViewPr varScale="1">
        <p:scale>
          <a:sx n="106" d="100"/>
          <a:sy n="106" d="100"/>
        </p:scale>
        <p:origin x="5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39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141-1E1C-433C-AD3A-CD56CBBB4F9F}" type="datetimeFigureOut">
              <a:rPr lang="en-IE" smtClean="0"/>
              <a:t>15/09/2025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DB36-5273-45A5-A77C-FE9BE0779D8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5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dirty="0"/>
              <a:t>You should </a:t>
            </a:r>
            <a:r>
              <a:rPr lang="en-IE" dirty="0">
                <a:solidFill>
                  <a:srgbClr val="FF0000"/>
                </a:solidFill>
              </a:rPr>
              <a:t>ALWAYS</a:t>
            </a:r>
            <a:r>
              <a:rPr lang="en-IE" dirty="0"/>
              <a:t> think about how you are going to solve the programming problem </a:t>
            </a:r>
            <a:r>
              <a:rPr lang="en-IE" dirty="0">
                <a:solidFill>
                  <a:srgbClr val="FF0000"/>
                </a:solidFill>
              </a:rPr>
              <a:t>BEFORE</a:t>
            </a:r>
            <a:r>
              <a:rPr lang="en-IE" dirty="0"/>
              <a:t> jumping in and starting to code.</a:t>
            </a:r>
          </a:p>
          <a:p>
            <a:endParaRPr lang="en-IE" dirty="0"/>
          </a:p>
          <a:p>
            <a:r>
              <a:rPr lang="en-IE" dirty="0"/>
              <a:t>Give examples of problem being solved e.g. registering students on day 1 of a college course…steps involved are broken down into individual instructions, followed in a particular order (sequence), with some instructions being made conditionally (selection) and some instructions being done repetitively (iteration).  Selection could be if they have a previous qualification, do something.   Repetition…maybe they have multiple phone numbers that need to be entered?</a:t>
            </a:r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94329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7C775-05BC-E21D-A880-7BF739DAE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8F58C8-3810-A340-2472-ABA8EDF616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AFD155-25A1-F00E-5800-1C64CD6AE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55BD4-2FE1-6923-F2DB-7C68AEA2AE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252429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709A0-D0ED-0D19-ED7C-8BE21926A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A13544-54CB-82B7-BABB-49B999125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0816D8-6089-162D-6D70-D2448A8A1C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02530-3819-BE0E-1DD8-EB8A13CEAD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0486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86879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072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537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830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3325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817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397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852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810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579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790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0883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839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051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600" y="914400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 err="1"/>
              <a:t>BlueJ</a:t>
            </a:r>
            <a:endParaRPr lang="en-IE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6259" y="3809999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762000" y="3124200"/>
            <a:ext cx="10820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33600" y="2133600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Lets get started.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406392-0CEA-881F-E422-C03EE4574066}"/>
              </a:ext>
            </a:extLst>
          </p:cNvPr>
          <p:cNvSpPr txBox="1"/>
          <p:nvPr/>
        </p:nvSpPr>
        <p:spPr>
          <a:xfrm>
            <a:off x="7620000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BDE01219-C54D-0342-F78E-4ACB9D888F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34D5BA-1012-8CE9-28B7-775887F16CFA}"/>
              </a:ext>
            </a:extLst>
          </p:cNvPr>
          <p:cNvSpPr txBox="1"/>
          <p:nvPr/>
        </p:nvSpPr>
        <p:spPr>
          <a:xfrm>
            <a:off x="3657600" y="3743234"/>
            <a:ext cx="556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A3FC321-C0DB-753C-A96A-04748B180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179388"/>
            <a:ext cx="3524354" cy="268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643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3D816-8677-CB3E-C9F7-372AF52C2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</a:t>
            </a:r>
            <a:r>
              <a:rPr lang="en-US" dirty="0" err="1"/>
              <a:t>BlueJ</a:t>
            </a:r>
            <a:r>
              <a:rPr lang="en-US" dirty="0"/>
              <a:t>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7B64FE-847E-7DAA-1B09-737EF6751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2672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BlueJ</a:t>
            </a:r>
            <a:r>
              <a:rPr lang="en-US" dirty="0"/>
              <a:t> is a free, beginner-friendly integrated development environment (IDE) for the Java programming language, designed to teach object-oriented programming concepts. </a:t>
            </a:r>
            <a:endParaRPr lang="en-IE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C369805-E3C2-70DF-AACA-36E5461DB15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20158" y="1529006"/>
            <a:ext cx="7086196" cy="4955009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F055A7D3-CD27-F2C3-A124-68CC69F4DD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9400" y="223775"/>
            <a:ext cx="1466954" cy="1119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0387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605A0-AC7C-F4CF-5384-1841941C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Why are we using </a:t>
            </a:r>
            <a:r>
              <a:rPr lang="en-IE" dirty="0" err="1"/>
              <a:t>BlueJ</a:t>
            </a:r>
            <a:r>
              <a:rPr lang="en-IE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1A0B3-EB00-30E7-0953-EDF2C1A6F6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7277" y="1866762"/>
            <a:ext cx="10515600" cy="4351338"/>
          </a:xfrm>
        </p:spPr>
        <p:txBody>
          <a:bodyPr>
            <a:normAutofit/>
          </a:bodyPr>
          <a:lstStyle/>
          <a:p>
            <a:r>
              <a:rPr lang="en-US" sz="3600" dirty="0"/>
              <a:t>Simple, non-intimidating interface</a:t>
            </a:r>
          </a:p>
          <a:p>
            <a:r>
              <a:rPr lang="en-US" sz="3600" dirty="0"/>
              <a:t>Interactive object creation</a:t>
            </a:r>
          </a:p>
          <a:p>
            <a:r>
              <a:rPr lang="en-US" sz="3600" dirty="0"/>
              <a:t>Powerful </a:t>
            </a:r>
            <a:r>
              <a:rPr lang="en-US" sz="3600" dirty="0" err="1"/>
              <a:t>visualisation</a:t>
            </a:r>
            <a:r>
              <a:rPr lang="en-US" sz="3600" dirty="0"/>
              <a:t> of class structure and objects</a:t>
            </a:r>
          </a:p>
          <a:p>
            <a:r>
              <a:rPr lang="en-US" sz="3600" dirty="0"/>
              <a:t>Makes complex Object-Oriented Programming (OOP) concepts easier for beginners to grasp and experiment with.</a:t>
            </a:r>
            <a:endParaRPr lang="en-IE" sz="3600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C2E81D6-8C97-744C-998A-16F15A594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9400" y="223775"/>
            <a:ext cx="1466954" cy="1119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8561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Programming?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0" y="2743201"/>
            <a:ext cx="4191000" cy="2544763"/>
          </a:xfrm>
        </p:spPr>
        <p:txBody>
          <a:bodyPr/>
          <a:lstStyle/>
          <a:p>
            <a:pPr marL="0" indent="0" algn="ctr">
              <a:buNone/>
            </a:pPr>
            <a:endParaRPr lang="en-IE" dirty="0"/>
          </a:p>
          <a:p>
            <a:pPr marL="0" indent="0" algn="ctr">
              <a:buNone/>
            </a:pPr>
            <a:r>
              <a:rPr lang="en-IE" dirty="0"/>
              <a:t>Programming </a:t>
            </a:r>
            <a:r>
              <a:rPr lang="en-IE" dirty="0">
                <a:solidFill>
                  <a:srgbClr val="FF0000"/>
                </a:solidFill>
              </a:rPr>
              <a:t>IS </a:t>
            </a:r>
            <a:r>
              <a:rPr lang="en-IE" dirty="0"/>
              <a:t>problem solving.</a:t>
            </a:r>
          </a:p>
        </p:txBody>
      </p:sp>
      <p:pic>
        <p:nvPicPr>
          <p:cNvPr id="1028" name="Picture 4" descr="Image result for problem solving icon">
            <a:extLst>
              <a:ext uri="{FF2B5EF4-FFF2-40B4-BE49-F238E27FC236}">
                <a16:creationId xmlns:a16="http://schemas.microsoft.com/office/drawing/2014/main" id="{33AF4571-A839-400A-AEAC-7D669954E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8815" y="1981200"/>
            <a:ext cx="304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6233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EB2D0-BF8D-4F1B-1164-AD8461A85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A5140-3E3F-BE39-C197-310AE2AD0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Object Oriented Programming (OOP)?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917F7-CAEB-FC72-1B7D-721CBC62E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90689"/>
            <a:ext cx="6281615" cy="480218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IE" dirty="0"/>
          </a:p>
          <a:p>
            <a:r>
              <a:rPr lang="en-US" dirty="0"/>
              <a:t>Object-oriented programming is based on the concept of objects. </a:t>
            </a:r>
          </a:p>
          <a:p>
            <a:r>
              <a:rPr lang="en-US" dirty="0"/>
              <a:t>In object-oriented programming data structures, or objects are defined, each with its own properties or attributes.</a:t>
            </a:r>
          </a:p>
          <a:p>
            <a:r>
              <a:rPr lang="en-US" dirty="0"/>
              <a:t>Each object can also contain its own procedures or methods</a:t>
            </a:r>
            <a:endParaRPr lang="en-IE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081E5CA-0DD7-E850-17FF-452A35B8B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286000"/>
            <a:ext cx="6096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118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54707-C1E8-56B5-757C-C5CC5A544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What is Java and what are its advantages? - ATL Academy">
            <a:extLst>
              <a:ext uri="{FF2B5EF4-FFF2-40B4-BE49-F238E27FC236}">
                <a16:creationId xmlns:a16="http://schemas.microsoft.com/office/drawing/2014/main" id="{14CBEC13-7AE3-2A45-3518-C2E2A7CD8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1600200"/>
            <a:ext cx="6069957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5E9E41-DE11-9537-39F8-921CE2F52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Java?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90D50-113E-BC22-C44F-6A87867A5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90689"/>
            <a:ext cx="5181601" cy="4802186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endParaRPr lang="en-IE" dirty="0"/>
          </a:p>
          <a:p>
            <a:r>
              <a:rPr lang="en-US" dirty="0"/>
              <a:t>Java is a multiplatform, object-oriented programming language that runs on billions of devices worldwide. </a:t>
            </a:r>
          </a:p>
          <a:p>
            <a:r>
              <a:rPr lang="en-US" dirty="0"/>
              <a:t>It powers applications, smartphone operating systems, enterprise software, and many well-known programs.</a:t>
            </a:r>
          </a:p>
          <a:p>
            <a:r>
              <a:rPr lang="en-US" dirty="0"/>
              <a:t>Despite having been invented over 20 years ago, Java is currently the most popular programming language for app developers.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709269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Flow of Control in a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9601200" cy="685800"/>
          </a:xfrm>
        </p:spPr>
        <p:txBody>
          <a:bodyPr>
            <a:normAutofit/>
          </a:bodyPr>
          <a:lstStyle/>
          <a:p>
            <a:r>
              <a:rPr lang="en-IE" dirty="0"/>
              <a:t>Each program you write will typically have:</a:t>
            </a:r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66800" y="2468564"/>
          <a:ext cx="9372600" cy="283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16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5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E" sz="2800" b="1" dirty="0"/>
                        <a:t>Sequence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sz="2800" dirty="0"/>
                        <a:t>Things that will be done in a </a:t>
                      </a:r>
                      <a:r>
                        <a:rPr lang="en-IE" sz="2800" b="1" dirty="0"/>
                        <a:t>particular order</a:t>
                      </a:r>
                    </a:p>
                    <a:p>
                      <a:endParaRPr lang="en-IE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2800" b="1" dirty="0"/>
                        <a:t>Selection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sz="2800" dirty="0"/>
                        <a:t>Things</a:t>
                      </a:r>
                      <a:r>
                        <a:rPr lang="en-IE" sz="2800" baseline="0" dirty="0"/>
                        <a:t> that will be done </a:t>
                      </a:r>
                      <a:r>
                        <a:rPr lang="en-IE" sz="2800" b="1" baseline="0" dirty="0"/>
                        <a:t>conditionally</a:t>
                      </a:r>
                    </a:p>
                    <a:p>
                      <a:endParaRPr lang="en-IE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2800" b="1" dirty="0"/>
                        <a:t>Iteration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sz="2800" dirty="0"/>
                        <a:t>Things</a:t>
                      </a:r>
                      <a:r>
                        <a:rPr lang="en-IE" sz="2800" baseline="0" dirty="0"/>
                        <a:t> that will be done </a:t>
                      </a:r>
                      <a:r>
                        <a:rPr lang="en-IE" sz="2800" b="1" baseline="0" dirty="0"/>
                        <a:t>repetitively</a:t>
                      </a:r>
                    </a:p>
                    <a:p>
                      <a:endParaRPr lang="en-IE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7245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B3334-F850-ADE4-669A-01F16F6B7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Launch </a:t>
            </a:r>
            <a:r>
              <a:rPr lang="en-US" dirty="0" err="1"/>
              <a:t>BlueJ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23361A-6C66-B3DA-249A-FD7951935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71600"/>
            <a:ext cx="7087632" cy="53887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728251-5FE0-F03F-FB94-E5E43EF26397}"/>
              </a:ext>
            </a:extLst>
          </p:cNvPr>
          <p:cNvSpPr txBox="1"/>
          <p:nvPr/>
        </p:nvSpPr>
        <p:spPr>
          <a:xfrm>
            <a:off x="6782316" y="450890"/>
            <a:ext cx="1980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Project Window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68CD9B8-8673-B2EF-BD39-6ADA58C1063B}"/>
              </a:ext>
            </a:extLst>
          </p:cNvPr>
          <p:cNvCxnSpPr>
            <a:cxnSpLocks/>
          </p:cNvCxnSpPr>
          <p:nvPr/>
        </p:nvCxnSpPr>
        <p:spPr>
          <a:xfrm flipH="1">
            <a:off x="7162800" y="838200"/>
            <a:ext cx="76200" cy="533400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8444FD9-C910-9B4C-3225-647C7F120BFD}"/>
              </a:ext>
            </a:extLst>
          </p:cNvPr>
          <p:cNvSpPr txBox="1"/>
          <p:nvPr/>
        </p:nvSpPr>
        <p:spPr>
          <a:xfrm>
            <a:off x="838200" y="2057400"/>
            <a:ext cx="1218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Toolbar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0441D41-7F3C-F05F-E726-BB84D39CB3E7}"/>
              </a:ext>
            </a:extLst>
          </p:cNvPr>
          <p:cNvCxnSpPr>
            <a:cxnSpLocks/>
          </p:cNvCxnSpPr>
          <p:nvPr/>
        </p:nvCxnSpPr>
        <p:spPr>
          <a:xfrm flipV="1">
            <a:off x="1676400" y="1872734"/>
            <a:ext cx="1676400" cy="369332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A56EB24-11E7-EA3D-3BAE-4F99FBAEC694}"/>
              </a:ext>
            </a:extLst>
          </p:cNvPr>
          <p:cNvSpPr txBox="1"/>
          <p:nvPr/>
        </p:nvSpPr>
        <p:spPr>
          <a:xfrm>
            <a:off x="684768" y="4267200"/>
            <a:ext cx="1753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Class Diagram Area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6097602-FB66-5687-55A8-68FC0A83713C}"/>
              </a:ext>
            </a:extLst>
          </p:cNvPr>
          <p:cNvCxnSpPr>
            <a:cxnSpLocks/>
          </p:cNvCxnSpPr>
          <p:nvPr/>
        </p:nvCxnSpPr>
        <p:spPr>
          <a:xfrm flipV="1">
            <a:off x="1754664" y="4267200"/>
            <a:ext cx="3503136" cy="413266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843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34F26A-FAC8-A19A-6B8D-46A179DC4F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Hello World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1A86A50-7263-C578-208E-FB439DF17A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BlueJ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294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A1368-C4F3-3755-BFA2-4897EA048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9B550-1A00-C14E-0084-D0A9A74ED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Java Project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AC2DC8-CE43-6376-0541-6EEABE3B4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86200" cy="4351338"/>
          </a:xfrm>
        </p:spPr>
        <p:txBody>
          <a:bodyPr/>
          <a:lstStyle/>
          <a:p>
            <a:r>
              <a:rPr lang="en-IE" dirty="0"/>
              <a:t>Click on Project -&gt; New Project</a:t>
            </a:r>
          </a:p>
          <a:p>
            <a:endParaRPr lang="en-IE" dirty="0"/>
          </a:p>
          <a:p>
            <a:endParaRPr lang="en-I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A4C8DB-8BF1-9EE6-4D50-15C7350E4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762000"/>
            <a:ext cx="7440063" cy="558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39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09A26-C23E-05D0-B687-F14D42547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C0DA8-BCD3-EF59-968A-E7BC523F8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Java Project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601A54-2A75-E90D-0C18-2653F5E4B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86200" cy="4351338"/>
          </a:xfrm>
        </p:spPr>
        <p:txBody>
          <a:bodyPr/>
          <a:lstStyle/>
          <a:p>
            <a:r>
              <a:rPr lang="en-IE" dirty="0"/>
              <a:t>Give your project a name and location, press OK</a:t>
            </a:r>
          </a:p>
          <a:p>
            <a:endParaRPr lang="en-IE" dirty="0"/>
          </a:p>
          <a:p>
            <a:endParaRPr lang="en-I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23AFCF-F5F5-156A-B508-D046A5F98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762000"/>
            <a:ext cx="7440063" cy="55824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2314FF-C562-5006-0D58-43EEB0234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370" y="2362200"/>
            <a:ext cx="4277322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553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87A9B-75BD-2B7B-ED53-385535B5B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Java Project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45F4E7-767C-A09E-16B7-7ABF4139C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86200" cy="4351338"/>
          </a:xfrm>
        </p:spPr>
        <p:txBody>
          <a:bodyPr/>
          <a:lstStyle/>
          <a:p>
            <a:r>
              <a:rPr lang="en-IE" dirty="0"/>
              <a:t>Click on New Class, and name it</a:t>
            </a:r>
          </a:p>
          <a:p>
            <a:endParaRPr lang="en-IE" dirty="0"/>
          </a:p>
          <a:p>
            <a:endParaRPr lang="en-IE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C8697CD-C7FD-0740-BAE5-5A901F813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2667000"/>
            <a:ext cx="2476846" cy="41344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3025BBB-B915-17E8-078C-5054ADA8F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551792"/>
            <a:ext cx="7008879" cy="530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995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F0649-3217-07F3-C116-BBA26DB1B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method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C1F229-DB98-341B-0FCD-D1B7812BFB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9982200" cy="4486275"/>
          </a:xfrm>
        </p:spPr>
        <p:txBody>
          <a:bodyPr/>
          <a:lstStyle/>
          <a:p>
            <a:r>
              <a:rPr lang="en-IE" dirty="0"/>
              <a:t>Double-Click on the HelloWorld class, and add the following code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4F87917-B1D4-4BBB-9197-08E25E808E8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b="27018"/>
          <a:stretch>
            <a:fillRect/>
          </a:stretch>
        </p:blipFill>
        <p:spPr>
          <a:xfrm>
            <a:off x="4312919" y="2394466"/>
            <a:ext cx="7560713" cy="4098409"/>
          </a:xfrm>
          <a:prstGeom prst="rect">
            <a:avLst/>
          </a:prstGeom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D87D2976-DB31-FF23-050C-C73BC739F777}"/>
              </a:ext>
            </a:extLst>
          </p:cNvPr>
          <p:cNvSpPr/>
          <p:nvPr/>
        </p:nvSpPr>
        <p:spPr>
          <a:xfrm rot="20638677">
            <a:off x="2595486" y="5890670"/>
            <a:ext cx="1794249" cy="304889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D31CE1-0E34-78BD-CF42-13975BD25352}"/>
              </a:ext>
            </a:extLst>
          </p:cNvPr>
          <p:cNvSpPr txBox="1"/>
          <p:nvPr/>
        </p:nvSpPr>
        <p:spPr>
          <a:xfrm>
            <a:off x="1478280" y="5679459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 method</a:t>
            </a:r>
          </a:p>
        </p:txBody>
      </p:sp>
    </p:spTree>
    <p:extLst>
      <p:ext uri="{BB962C8B-B14F-4D97-AF65-F5344CB8AC3E}">
        <p14:creationId xmlns:p14="http://schemas.microsoft.com/office/powerpoint/2010/main" val="3637959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F428E-AD79-2296-5F8D-7D5CEE3B6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882B6-561F-4A10-3FFA-E3FF27240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5FD7B9-C671-3C82-80D8-9A74302FA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214" y="1524000"/>
            <a:ext cx="9326277" cy="5258534"/>
          </a:xfrm>
          <a:prstGeom prst="rect">
            <a:avLst/>
          </a:prstGeom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AA80237F-02AB-3533-4BAA-81C0F99A5E68}"/>
              </a:ext>
            </a:extLst>
          </p:cNvPr>
          <p:cNvSpPr/>
          <p:nvPr/>
        </p:nvSpPr>
        <p:spPr>
          <a:xfrm rot="19591274">
            <a:off x="44468" y="3345099"/>
            <a:ext cx="1859362" cy="167802"/>
          </a:xfrm>
          <a:prstGeom prst="rightArrow">
            <a:avLst>
              <a:gd name="adj1" fmla="val 50000"/>
              <a:gd name="adj2" fmla="val 121962"/>
            </a:avLst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9E9BAB-0DC3-257E-8A70-50A2ACF7D4A6}"/>
              </a:ext>
            </a:extLst>
          </p:cNvPr>
          <p:cNvSpPr txBox="1"/>
          <p:nvPr/>
        </p:nvSpPr>
        <p:spPr>
          <a:xfrm>
            <a:off x="0" y="3968601"/>
            <a:ext cx="1647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Click Compile</a:t>
            </a:r>
          </a:p>
        </p:txBody>
      </p:sp>
    </p:spTree>
    <p:extLst>
      <p:ext uri="{BB962C8B-B14F-4D97-AF65-F5344CB8AC3E}">
        <p14:creationId xmlns:p14="http://schemas.microsoft.com/office/powerpoint/2010/main" val="4133354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0409A-85FF-226D-09EF-79DBFB76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your Code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751670E-430C-022A-8FCA-387F9B793D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E" dirty="0"/>
              <a:t>Right-Click on your class, and choose your main method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063CEF-BEDB-891C-646A-6D4849BBA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1638" y="1690688"/>
            <a:ext cx="5655304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242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A7DED-2BCF-B6A1-5F46-C1AACB702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22B4A-904C-B6F6-1EE3-4816B3776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your Code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5D0D6D-4A5A-DE86-226C-910D2BC7FD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E" dirty="0"/>
              <a:t>Click OK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21474E-FF6E-BA1A-046C-8D57AAC232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80" t="15568" r="11828" b="8443"/>
          <a:stretch>
            <a:fillRect/>
          </a:stretch>
        </p:blipFill>
        <p:spPr>
          <a:xfrm>
            <a:off x="4551539" y="2763838"/>
            <a:ext cx="6802261" cy="394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8551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0409A-85FF-226D-09EF-79DBFB76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68A8FD-3B30-D9DC-E393-C41CDFD98D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E" dirty="0"/>
              <a:t>You should see the following in your code window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7922874-E803-8597-AB32-022CE1B312F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89700" y="2643981"/>
            <a:ext cx="48006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18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4" name="Picture 3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CEE65562-5B42-3D67-0325-51491B484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325562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503280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a-intro-to-programming</Template>
  <TotalTime>3104</TotalTime>
  <Words>448</Words>
  <Application>Microsoft Macintosh PowerPoint</Application>
  <PresentationFormat>Widescreen</PresentationFormat>
  <Paragraphs>70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a-processing-mouse-event-methods</vt:lpstr>
      <vt:lpstr>BlueJ</vt:lpstr>
      <vt:lpstr>What is BlueJ?</vt:lpstr>
      <vt:lpstr>Why are we using BlueJ?</vt:lpstr>
      <vt:lpstr>What is Programming?</vt:lpstr>
      <vt:lpstr>What is Object Oriented Programming (OOP)?</vt:lpstr>
      <vt:lpstr>What is Java?</vt:lpstr>
      <vt:lpstr>Flow of Control in a Program</vt:lpstr>
      <vt:lpstr>Launch BlueJ</vt:lpstr>
      <vt:lpstr>Hello World</vt:lpstr>
      <vt:lpstr>New Java Project</vt:lpstr>
      <vt:lpstr>New Java Project</vt:lpstr>
      <vt:lpstr>New Java Project</vt:lpstr>
      <vt:lpstr>main method</vt:lpstr>
      <vt:lpstr>Compile</vt:lpstr>
      <vt:lpstr>Run your Code</vt:lpstr>
      <vt:lpstr>Run your Code</vt:lpstr>
      <vt:lpstr>Output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Classes - adding behaviour</dc:title>
  <dc:creator>Siobhan Drohan</dc:creator>
  <cp:lastModifiedBy>Mairead Meagher</cp:lastModifiedBy>
  <cp:revision>361</cp:revision>
  <cp:lastPrinted>2018-02-13T22:25:55Z</cp:lastPrinted>
  <dcterms:created xsi:type="dcterms:W3CDTF">2006-08-16T00:00:00Z</dcterms:created>
  <dcterms:modified xsi:type="dcterms:W3CDTF">2025-09-17T11:52:07Z</dcterms:modified>
</cp:coreProperties>
</file>