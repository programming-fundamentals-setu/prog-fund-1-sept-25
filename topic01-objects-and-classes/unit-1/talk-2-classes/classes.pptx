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5" r:id="rId1"/>
  </p:sldMasterIdLst>
  <p:notesMasterIdLst>
    <p:notesMasterId r:id="rId22"/>
  </p:notesMasterIdLst>
  <p:sldIdLst>
    <p:sldId id="325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47" r:id="rId21"/>
  </p:sldIdLst>
  <p:sldSz cx="12192000" cy="6858000"/>
  <p:notesSz cx="6858000" cy="9144000"/>
  <p:embeddedFontLst>
    <p:embeddedFont>
      <p:font typeface="Courier" panose="020B0604020202020204" charset="0"/>
      <p:regular r:id="rId23"/>
      <p:bold r:id="rId24"/>
      <p:italic r:id="rId25"/>
      <p:boldItalic r:id="rId26"/>
    </p:embeddedFont>
    <p:embeddedFont>
      <p:font typeface="Linux Biolinum" panose="020B0604020202020204" charset="0"/>
      <p:regular r:id="rId27"/>
      <p:bold r:id="rId28"/>
      <p:italic r:id="rId29"/>
    </p:embeddedFont>
    <p:embeddedFont>
      <p:font typeface="Tw Cen MT" panose="020B06020201040206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6"/>
    <p:restoredTop sz="94694"/>
  </p:normalViewPr>
  <p:slideViewPr>
    <p:cSldViewPr snapToGrid="0">
      <p:cViewPr varScale="1">
        <p:scale>
          <a:sx n="80" d="100"/>
          <a:sy n="80" d="100"/>
        </p:scale>
        <p:origin x="7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1pPr>
    <a:lvl2pPr indent="1143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2pPr>
    <a:lvl3pPr indent="2286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3pPr>
    <a:lvl4pPr indent="3429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4pPr>
    <a:lvl5pPr indent="4572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5pPr>
    <a:lvl6pPr indent="5715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6pPr>
    <a:lvl7pPr indent="6858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7pPr>
    <a:lvl8pPr indent="8001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8pPr>
    <a:lvl9pPr indent="914400" defTabSz="914400" latinLnBrk="0">
      <a:spcBef>
        <a:spcPts val="400"/>
      </a:spcBef>
      <a:defRPr sz="1200">
        <a:latin typeface="+mn-lt"/>
        <a:ea typeface="+mn-ea"/>
        <a:cs typeface="+mn-cs"/>
        <a:sym typeface="Times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340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994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81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308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543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926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6664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400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13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574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38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88116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800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7600" y="242149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Objects First with </a:t>
            </a:r>
            <a:r>
              <a:rPr lang="en-IE" dirty="0">
                <a:latin typeface="Linux Biolinum"/>
                <a:ea typeface="Linux Biolinum"/>
                <a:cs typeface="Linux Biolinum"/>
                <a:sym typeface="Linux Biolinum"/>
              </a:rPr>
              <a:t>JAVA</a:t>
            </a:r>
            <a:endParaRPr lang="en-IE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6259" y="3809999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762000" y="3124200"/>
            <a:ext cx="1082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1117600" y="1657338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A Practical Introduction using </a:t>
            </a:r>
            <a:r>
              <a:rPr lang="en-US" sz="3200" dirty="0" err="1"/>
              <a:t>BlueJ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6392-0CEA-881F-E422-C03EE4574066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DE01219-C54D-0342-F78E-4ACB9D888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34D5BA-1012-8CE9-28B7-775887F16CFA}"/>
              </a:ext>
            </a:extLst>
          </p:cNvPr>
          <p:cNvSpPr txBox="1"/>
          <p:nvPr/>
        </p:nvSpPr>
        <p:spPr>
          <a:xfrm>
            <a:off x="3657600" y="3743234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3FC321-C0DB-753C-A96A-04748B18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79388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VID J. BARNES • MICHAEL KÖLLING">
            <a:extLst>
              <a:ext uri="{FF2B5EF4-FFF2-40B4-BE49-F238E27FC236}">
                <a16:creationId xmlns:a16="http://schemas.microsoft.com/office/drawing/2014/main" id="{E0CFFDA5-4A54-1325-32E8-3671BFEE7B30}"/>
              </a:ext>
            </a:extLst>
          </p:cNvPr>
          <p:cNvSpPr txBox="1"/>
          <p:nvPr/>
        </p:nvSpPr>
        <p:spPr>
          <a:xfrm>
            <a:off x="1117600" y="2593963"/>
            <a:ext cx="6178294" cy="54630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45720" bIns="45720">
            <a:spAutoFit/>
          </a:bodyPr>
          <a:lstStyle>
            <a:lvl1pPr>
              <a:defRPr sz="5900" b="0"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2950" dirty="0"/>
              <a:t>DAVID J. BARNES • MICHAEL KÖLLING 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Course Contents</a:t>
            </a:r>
          </a:p>
        </p:txBody>
      </p:sp>
      <p:sp>
        <p:nvSpPr>
          <p:cNvPr id="80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Introduction to object-oriented programming…</a:t>
            </a:r>
          </a:p>
          <a:p>
            <a:r>
              <a:t>…with a strong software engineering foundation…</a:t>
            </a:r>
          </a:p>
          <a:p>
            <a:r>
              <a:t>…aimed at producing and maintaining large, high-quality software systems.</a:t>
            </a:r>
          </a:p>
        </p:txBody>
      </p:sp>
      <p:sp>
        <p:nvSpPr>
          <p:cNvPr id="78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Terminology</a:t>
            </a:r>
          </a:p>
        </p:txBody>
      </p:sp>
      <p:sp>
        <p:nvSpPr>
          <p:cNvPr id="84" name="Rectangle 3"/>
          <p:cNvSpPr txBox="1">
            <a:spLocks noGrp="1"/>
          </p:cNvSpPr>
          <p:nvPr>
            <p:ph idx="1"/>
          </p:nvPr>
        </p:nvSpPr>
        <p:spPr>
          <a:xfrm>
            <a:off x="6016591" y="3524806"/>
            <a:ext cx="1676401" cy="519114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651509" indent="-651509" defTabSz="1737360">
              <a:spcBef>
                <a:spcPts val="1200"/>
              </a:spcBef>
              <a:buSzTx/>
              <a:buNone/>
              <a:defRPr sz="6175"/>
            </a:lvl1pPr>
          </a:lstStyle>
          <a:p>
            <a:r>
              <a:t>interface</a:t>
            </a:r>
          </a:p>
        </p:txBody>
      </p:sp>
      <p:sp>
        <p:nvSpPr>
          <p:cNvPr id="82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552938" y="6512059"/>
            <a:ext cx="284052" cy="4001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85" name="Rectangle 4"/>
          <p:cNvSpPr txBox="1"/>
          <p:nvPr/>
        </p:nvSpPr>
        <p:spPr>
          <a:xfrm>
            <a:off x="4445962" y="3917157"/>
            <a:ext cx="23469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javadoc</a:t>
            </a:r>
          </a:p>
        </p:txBody>
      </p:sp>
      <p:sp>
        <p:nvSpPr>
          <p:cNvPr id="86" name="Rectangle 5"/>
          <p:cNvSpPr txBox="1"/>
          <p:nvPr/>
        </p:nvSpPr>
        <p:spPr>
          <a:xfrm>
            <a:off x="6701765" y="2569293"/>
            <a:ext cx="24993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encapsulation</a:t>
            </a:r>
          </a:p>
        </p:txBody>
      </p:sp>
      <p:sp>
        <p:nvSpPr>
          <p:cNvPr id="87" name="Rectangle 6"/>
          <p:cNvSpPr txBox="1"/>
          <p:nvPr/>
        </p:nvSpPr>
        <p:spPr>
          <a:xfrm>
            <a:off x="9357361" y="3176905"/>
            <a:ext cx="1765497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 dirty="0"/>
              <a:t>coupling</a:t>
            </a:r>
          </a:p>
        </p:txBody>
      </p:sp>
      <p:sp>
        <p:nvSpPr>
          <p:cNvPr id="88" name="Rectangle 7"/>
          <p:cNvSpPr txBox="1"/>
          <p:nvPr/>
        </p:nvSpPr>
        <p:spPr>
          <a:xfrm>
            <a:off x="2653367" y="3602471"/>
            <a:ext cx="23469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cohesion</a:t>
            </a:r>
          </a:p>
        </p:txBody>
      </p:sp>
      <p:sp>
        <p:nvSpPr>
          <p:cNvPr id="89" name="Rectangle 8"/>
          <p:cNvSpPr txBox="1"/>
          <p:nvPr/>
        </p:nvSpPr>
        <p:spPr>
          <a:xfrm>
            <a:off x="5425723" y="5519972"/>
            <a:ext cx="44805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polymorphic method call</a:t>
            </a:r>
          </a:p>
        </p:txBody>
      </p:sp>
      <p:sp>
        <p:nvSpPr>
          <p:cNvPr id="90" name="Rectangle 9"/>
          <p:cNvSpPr txBox="1"/>
          <p:nvPr/>
        </p:nvSpPr>
        <p:spPr>
          <a:xfrm>
            <a:off x="333796" y="2065103"/>
            <a:ext cx="22707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 dirty="0"/>
              <a:t>inheritance</a:t>
            </a:r>
          </a:p>
        </p:txBody>
      </p:sp>
      <p:sp>
        <p:nvSpPr>
          <p:cNvPr id="91" name="Rectangle 10"/>
          <p:cNvSpPr txBox="1"/>
          <p:nvPr/>
        </p:nvSpPr>
        <p:spPr>
          <a:xfrm>
            <a:off x="6356261" y="4455177"/>
            <a:ext cx="15849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mutator</a:t>
            </a:r>
          </a:p>
        </p:txBody>
      </p:sp>
      <p:sp>
        <p:nvSpPr>
          <p:cNvPr id="92" name="Rectangle 11"/>
          <p:cNvSpPr txBox="1"/>
          <p:nvPr/>
        </p:nvSpPr>
        <p:spPr>
          <a:xfrm>
            <a:off x="1687805" y="4459447"/>
            <a:ext cx="30327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collection class</a:t>
            </a:r>
          </a:p>
        </p:txBody>
      </p:sp>
      <p:sp>
        <p:nvSpPr>
          <p:cNvPr id="93" name="Rectangle 12"/>
          <p:cNvSpPr txBox="1"/>
          <p:nvPr/>
        </p:nvSpPr>
        <p:spPr>
          <a:xfrm>
            <a:off x="4325234" y="2982516"/>
            <a:ext cx="20421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overriding</a:t>
            </a:r>
          </a:p>
        </p:txBody>
      </p:sp>
      <p:sp>
        <p:nvSpPr>
          <p:cNvPr id="94" name="Rectangle 13"/>
          <p:cNvSpPr txBox="1"/>
          <p:nvPr/>
        </p:nvSpPr>
        <p:spPr>
          <a:xfrm>
            <a:off x="2126193" y="2768521"/>
            <a:ext cx="1740809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iterator</a:t>
            </a:r>
          </a:p>
        </p:txBody>
      </p:sp>
      <p:sp>
        <p:nvSpPr>
          <p:cNvPr id="95" name="Rectangle 14"/>
          <p:cNvSpPr txBox="1"/>
          <p:nvPr/>
        </p:nvSpPr>
        <p:spPr>
          <a:xfrm>
            <a:off x="3166085" y="1961681"/>
            <a:ext cx="47853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 dirty="0"/>
              <a:t>responsibility-driven design</a:t>
            </a:r>
          </a:p>
        </p:txBody>
      </p:sp>
      <p:sp>
        <p:nvSpPr>
          <p:cNvPr id="96" name="Rectangle 9"/>
          <p:cNvSpPr txBox="1"/>
          <p:nvPr/>
        </p:nvSpPr>
        <p:spPr>
          <a:xfrm>
            <a:off x="48236" y="3329262"/>
            <a:ext cx="22707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 dirty="0"/>
              <a:t>abstraction</a:t>
            </a:r>
          </a:p>
        </p:txBody>
      </p:sp>
      <p:sp>
        <p:nvSpPr>
          <p:cNvPr id="97" name="Rectangle 9"/>
          <p:cNvSpPr txBox="1"/>
          <p:nvPr/>
        </p:nvSpPr>
        <p:spPr>
          <a:xfrm>
            <a:off x="1376345" y="5139840"/>
            <a:ext cx="2270761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stream</a:t>
            </a:r>
          </a:p>
        </p:txBody>
      </p:sp>
      <p:sp>
        <p:nvSpPr>
          <p:cNvPr id="98" name="Rectangle 9"/>
          <p:cNvSpPr txBox="1"/>
          <p:nvPr/>
        </p:nvSpPr>
        <p:spPr>
          <a:xfrm>
            <a:off x="8544896" y="4810079"/>
            <a:ext cx="1740506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 dirty="0"/>
              <a:t>lambda</a:t>
            </a:r>
          </a:p>
        </p:txBody>
      </p:sp>
      <p:sp>
        <p:nvSpPr>
          <p:cNvPr id="99" name="Rectangle 9"/>
          <p:cNvSpPr txBox="1"/>
          <p:nvPr/>
        </p:nvSpPr>
        <p:spPr>
          <a:xfrm>
            <a:off x="3261400" y="5513410"/>
            <a:ext cx="1645880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instance</a:t>
            </a:r>
          </a:p>
        </p:txBody>
      </p:sp>
      <p:sp>
        <p:nvSpPr>
          <p:cNvPr id="100" name="Rectangle 9"/>
          <p:cNvSpPr txBox="1"/>
          <p:nvPr/>
        </p:nvSpPr>
        <p:spPr>
          <a:xfrm>
            <a:off x="8858646" y="3997453"/>
            <a:ext cx="1113007" cy="59247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>
            <a:lvl1pPr>
              <a:defRPr sz="6500" b="0">
                <a:solidFill>
                  <a:srgbClr val="1A3170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r>
              <a:rPr sz="3250"/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Goals</a:t>
            </a:r>
          </a:p>
        </p:txBody>
      </p:sp>
      <p:sp>
        <p:nvSpPr>
          <p:cNvPr id="104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Sound knowledge of programming principles</a:t>
            </a:r>
          </a:p>
          <a:p>
            <a:r>
              <a:rPr dirty="0"/>
              <a:t>Sound knowledge of object-orientation</a:t>
            </a:r>
          </a:p>
          <a:p>
            <a:r>
              <a:rPr dirty="0"/>
              <a:t>Able to implement a small software system in Java</a:t>
            </a:r>
          </a:p>
        </p:txBody>
      </p:sp>
      <p:sp>
        <p:nvSpPr>
          <p:cNvPr id="102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29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07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Book</a:t>
            </a:r>
          </a:p>
        </p:txBody>
      </p:sp>
      <p:sp>
        <p:nvSpPr>
          <p:cNvPr id="108" name="Rectangle 5"/>
          <p:cNvSpPr/>
          <p:nvPr/>
        </p:nvSpPr>
        <p:spPr>
          <a:xfrm>
            <a:off x="2207244" y="2084080"/>
            <a:ext cx="7792238" cy="3916457"/>
          </a:xfrm>
          <a:prstGeom prst="rect">
            <a:avLst/>
          </a:prstGeom>
          <a:solidFill>
            <a:srgbClr val="FFFFFF"/>
          </a:solidFill>
          <a:ln w="508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45720" bIns="45720">
            <a:spAutoFit/>
          </a:bodyPr>
          <a:lstStyle/>
          <a:p>
            <a:pPr>
              <a:defRPr sz="7100" b="0"/>
            </a:pPr>
            <a:r>
              <a:rPr sz="3550" dirty="0"/>
              <a:t>David J. Barnes &amp; Michael Kölling</a:t>
            </a:r>
            <a:br>
              <a:rPr sz="3550" dirty="0"/>
            </a:br>
            <a:br>
              <a:rPr sz="3550" dirty="0"/>
            </a:br>
            <a:r>
              <a:rPr sz="3550" dirty="0"/>
              <a:t>Objects First with Java</a:t>
            </a:r>
            <a:br>
              <a:rPr sz="3550" dirty="0"/>
            </a:br>
            <a:r>
              <a:rPr sz="3550" dirty="0"/>
              <a:t>A Practical Introduction using BlueJ</a:t>
            </a:r>
            <a:br>
              <a:rPr sz="3550" dirty="0"/>
            </a:br>
            <a:br>
              <a:rPr sz="3550" dirty="0"/>
            </a:br>
            <a:r>
              <a:rPr sz="3550" dirty="0"/>
              <a:t>7th edition, Pearson Education, 2025</a:t>
            </a:r>
            <a:br>
              <a:rPr sz="3550" dirty="0"/>
            </a:br>
            <a:endParaRPr sz="355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0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600" b="1" dirty="0"/>
              <a:t>Overview</a:t>
            </a:r>
            <a:r>
              <a:rPr dirty="0"/>
              <a:t> </a:t>
            </a:r>
          </a:p>
        </p:txBody>
      </p:sp>
      <p:sp>
        <p:nvSpPr>
          <p:cNvPr id="112" name="Rectangle 10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Objects and classes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Understanding class definitions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Object interaction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Grouping objects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Functional programming style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More sophisticated behavior - libraries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sz="6400" dirty="0"/>
              <a:t>Designing classes</a:t>
            </a:r>
            <a:endParaRPr lang="en-IE" sz="6400" dirty="0"/>
          </a:p>
          <a:p>
            <a:pPr marL="267462" indent="-267462" defTabSz="713232">
              <a:spcBef>
                <a:spcPts val="550"/>
              </a:spcBef>
              <a:defRPr sz="6707"/>
            </a:pPr>
            <a:r>
              <a:rPr lang="en-IE" sz="6400" dirty="0"/>
              <a:t>Teamwork</a:t>
            </a:r>
          </a:p>
          <a:p>
            <a:pPr marL="267462" indent="-267462" defTabSz="713232">
              <a:spcBef>
                <a:spcPts val="550"/>
              </a:spcBef>
              <a:defRPr sz="6707"/>
            </a:pPr>
            <a:endParaRPr dirty="0"/>
          </a:p>
        </p:txBody>
      </p:sp>
      <p:sp>
        <p:nvSpPr>
          <p:cNvPr id="110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0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600" b="1" dirty="0"/>
              <a:t>Overview</a:t>
            </a:r>
            <a:r>
              <a:rPr dirty="0"/>
              <a:t> </a:t>
            </a:r>
          </a:p>
        </p:txBody>
      </p:sp>
      <p:sp>
        <p:nvSpPr>
          <p:cNvPr id="120" name="Rectangle 10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4000" dirty="0"/>
              <a:t>Data-oriented classes</a:t>
            </a:r>
          </a:p>
          <a:p>
            <a:r>
              <a:rPr sz="4000" dirty="0"/>
              <a:t>A brief history of Java</a:t>
            </a:r>
          </a:p>
          <a:p>
            <a:r>
              <a:rPr sz="4000" dirty="0"/>
              <a:t>Handling errors</a:t>
            </a:r>
          </a:p>
          <a:p>
            <a:r>
              <a:rPr sz="4000" dirty="0"/>
              <a:t>Designing applications</a:t>
            </a:r>
          </a:p>
        </p:txBody>
      </p:sp>
      <p:sp>
        <p:nvSpPr>
          <p:cNvPr id="118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b="1" dirty="0"/>
              <a:t>Classes and objects</a:t>
            </a:r>
          </a:p>
        </p:txBody>
      </p:sp>
      <p:sp>
        <p:nvSpPr>
          <p:cNvPr id="124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88036" indent="-288036" defTabSz="768096">
              <a:spcBef>
                <a:spcPts val="600"/>
              </a:spcBef>
              <a:defRPr sz="7224"/>
            </a:pPr>
            <a:r>
              <a:rPr sz="4000" dirty="0"/>
              <a:t>Fundamental to much of the early parts of this course.</a:t>
            </a:r>
          </a:p>
          <a:p>
            <a:pPr marL="288036" indent="-288036" defTabSz="768096">
              <a:spcBef>
                <a:spcPts val="600"/>
              </a:spcBef>
              <a:defRPr sz="7224"/>
            </a:pPr>
            <a:r>
              <a:rPr sz="4000" dirty="0"/>
              <a:t>Class: category or type of ‘thing’. Like a template or blueprint.</a:t>
            </a:r>
          </a:p>
          <a:p>
            <a:pPr marL="288036" indent="-288036" defTabSz="768096">
              <a:spcBef>
                <a:spcPts val="600"/>
              </a:spcBef>
              <a:defRPr sz="7224"/>
            </a:pPr>
            <a:r>
              <a:rPr sz="4000" dirty="0"/>
              <a:t>Object: belongs to a particular class and has individual characteristics.</a:t>
            </a:r>
            <a:br>
              <a:rPr sz="4000" dirty="0"/>
            </a:br>
            <a:endParaRPr sz="4000" dirty="0"/>
          </a:p>
          <a:p>
            <a:pPr marL="288036" indent="-288036" defTabSz="768096">
              <a:spcBef>
                <a:spcPts val="600"/>
              </a:spcBef>
              <a:defRPr sz="7224"/>
            </a:pPr>
            <a:r>
              <a:rPr sz="4000" dirty="0"/>
              <a:t>Explore through </a:t>
            </a:r>
            <a:r>
              <a:rPr sz="4000" dirty="0" err="1"/>
              <a:t>BlueJ</a:t>
            </a:r>
            <a:r>
              <a:rPr sz="4000" dirty="0"/>
              <a:t> …</a:t>
            </a:r>
          </a:p>
        </p:txBody>
      </p:sp>
      <p:sp>
        <p:nvSpPr>
          <p:cNvPr id="122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298480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Fundamental concepts</a:t>
            </a:r>
          </a:p>
        </p:txBody>
      </p:sp>
      <p:sp>
        <p:nvSpPr>
          <p:cNvPr id="133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object</a:t>
            </a:r>
          </a:p>
          <a:p>
            <a:r>
              <a:rPr dirty="0"/>
              <a:t>class</a:t>
            </a:r>
          </a:p>
          <a:p>
            <a:r>
              <a:rPr dirty="0"/>
              <a:t>method</a:t>
            </a:r>
          </a:p>
          <a:p>
            <a:r>
              <a:rPr dirty="0"/>
              <a:t>parameter</a:t>
            </a:r>
          </a:p>
          <a:p>
            <a:r>
              <a:rPr dirty="0"/>
              <a:t>data type</a:t>
            </a:r>
          </a:p>
        </p:txBody>
      </p:sp>
      <p:sp>
        <p:nvSpPr>
          <p:cNvPr id="131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grpSp>
        <p:nvGrpSpPr>
          <p:cNvPr id="136" name="Group"/>
          <p:cNvGrpSpPr/>
          <p:nvPr/>
        </p:nvGrpSpPr>
        <p:grpSpPr>
          <a:xfrm>
            <a:off x="6317298" y="2323121"/>
            <a:ext cx="3887790" cy="3384552"/>
            <a:chOff x="99981" y="0"/>
            <a:chExt cx="7775578" cy="6769101"/>
          </a:xfrm>
        </p:grpSpPr>
        <p:sp>
          <p:nvSpPr>
            <p:cNvPr id="134" name="Star"/>
            <p:cNvSpPr/>
            <p:nvPr/>
          </p:nvSpPr>
          <p:spPr>
            <a:xfrm>
              <a:off x="99981" y="0"/>
              <a:ext cx="7775578" cy="6769101"/>
            </a:xfrm>
            <a:prstGeom prst="star7">
              <a:avLst>
                <a:gd name="adj" fmla="val 34601"/>
                <a:gd name="hf" fmla="val 102572"/>
                <a:gd name="vf" fmla="val 105210"/>
              </a:avLst>
            </a:prstGeom>
            <a:solidFill>
              <a:srgbClr val="FFFFFF"/>
            </a:solidFill>
            <a:ln w="508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 algn="ctr"/>
              <a:endParaRPr sz="1200"/>
            </a:p>
          </p:txBody>
        </p:sp>
        <p:sp>
          <p:nvSpPr>
            <p:cNvPr id="135" name="It is vital to understand these concepts as soon as possible."/>
            <p:cNvSpPr txBox="1"/>
            <p:nvPr/>
          </p:nvSpPr>
          <p:spPr>
            <a:xfrm>
              <a:off x="1931177" y="1350235"/>
              <a:ext cx="4113187" cy="3877982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20" tIns="45720" rIns="45720" bIns="45720" numCol="1" anchor="t">
              <a:spAutoFit/>
            </a:bodyPr>
            <a:lstStyle>
              <a:lvl1pPr algn="ctr"/>
            </a:lstStyle>
            <a:p>
              <a:r>
                <a:rPr dirty="0">
                  <a:latin typeface="Tw Cen MT" panose="020B0602020104020603" pitchFamily="34" charset="77"/>
                </a:rPr>
                <a:t>It is vital to understand these concepts as soon as possible.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600" b="1" dirty="0"/>
              <a:t>Classes and Objects</a:t>
            </a:r>
          </a:p>
        </p:txBody>
      </p:sp>
      <p:sp>
        <p:nvSpPr>
          <p:cNvPr id="140" name="Rectangle 3"/>
          <p:cNvSpPr txBox="1">
            <a:spLocks noGrp="1"/>
          </p:cNvSpPr>
          <p:nvPr>
            <p:ph idx="1"/>
          </p:nvPr>
        </p:nvSpPr>
        <p:spPr>
          <a:xfrm>
            <a:off x="1027670" y="1905687"/>
            <a:ext cx="10248026" cy="434493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4400" dirty="0"/>
              <a:t>A class</a:t>
            </a:r>
          </a:p>
          <a:p>
            <a:pPr lvl="1"/>
            <a:r>
              <a:rPr dirty="0"/>
              <a:t>represents all similar objects of a kind (example: “car”)</a:t>
            </a:r>
          </a:p>
          <a:p>
            <a:r>
              <a:rPr sz="4400" dirty="0"/>
              <a:t>objects</a:t>
            </a:r>
          </a:p>
          <a:p>
            <a:pPr lvl="1"/>
            <a:r>
              <a:rPr dirty="0"/>
              <a:t>represent ‘things’ from the real world, or from some problem domain;</a:t>
            </a:r>
          </a:p>
          <a:p>
            <a:pPr lvl="1"/>
            <a:r>
              <a:rPr dirty="0"/>
              <a:t>example: “that red car in the parking lot”.</a:t>
            </a:r>
          </a:p>
        </p:txBody>
      </p:sp>
      <p:sp>
        <p:nvSpPr>
          <p:cNvPr id="138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dirty="0"/>
              <a:t>Methods and Parameters</a:t>
            </a:r>
          </a:p>
        </p:txBody>
      </p:sp>
      <p:sp>
        <p:nvSpPr>
          <p:cNvPr id="144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Objects have operations which can be invoked (Java calls them </a:t>
            </a:r>
            <a:r>
              <a:rPr i="1" dirty="0"/>
              <a:t>methods</a:t>
            </a:r>
            <a:r>
              <a:rPr dirty="0"/>
              <a:t>).</a:t>
            </a:r>
            <a:endParaRPr lang="en-IE" dirty="0"/>
          </a:p>
          <a:p>
            <a:pPr marL="0" indent="0">
              <a:buNone/>
            </a:pPr>
            <a:endParaRPr dirty="0"/>
          </a:p>
          <a:p>
            <a:r>
              <a:rPr dirty="0"/>
              <a:t>Methods may have parameters to receive additional information needed to execute.</a:t>
            </a:r>
          </a:p>
          <a:p>
            <a:pPr lvl="1"/>
            <a:r>
              <a:rPr dirty="0"/>
              <a:t>Parameters introduce variation into the effect of method calls.</a:t>
            </a:r>
          </a:p>
        </p:txBody>
      </p:sp>
      <p:sp>
        <p:nvSpPr>
          <p:cNvPr id="142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b="1" dirty="0"/>
              <a:t>Other observations</a:t>
            </a:r>
          </a:p>
        </p:txBody>
      </p:sp>
      <p:sp>
        <p:nvSpPr>
          <p:cNvPr id="148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36042" indent="-336042" defTabSz="896112">
              <a:defRPr sz="8428"/>
            </a:pPr>
            <a:r>
              <a:rPr dirty="0"/>
              <a:t>Many distinct </a:t>
            </a:r>
            <a:r>
              <a:rPr b="1" i="1" dirty="0"/>
              <a:t>instances</a:t>
            </a:r>
            <a:r>
              <a:rPr dirty="0"/>
              <a:t> can be created from a single class.</a:t>
            </a:r>
          </a:p>
          <a:p>
            <a:pPr marL="336042" indent="-336042" defTabSz="896112">
              <a:defRPr sz="8428"/>
            </a:pPr>
            <a:r>
              <a:rPr dirty="0"/>
              <a:t>An object has </a:t>
            </a:r>
            <a:r>
              <a:rPr b="1" i="1" dirty="0"/>
              <a:t>attributes</a:t>
            </a:r>
            <a:r>
              <a:rPr dirty="0"/>
              <a:t>: values stored in </a:t>
            </a:r>
            <a:r>
              <a:rPr b="1" i="1" dirty="0"/>
              <a:t>fields</a:t>
            </a:r>
            <a:r>
              <a:rPr dirty="0"/>
              <a:t>.</a:t>
            </a:r>
          </a:p>
          <a:p>
            <a:pPr marL="336042" indent="-336042" defTabSz="896112">
              <a:defRPr sz="8428"/>
            </a:pPr>
            <a:r>
              <a:rPr dirty="0"/>
              <a:t>The class defines what fields an object has, but each object stores its own set of values (the </a:t>
            </a:r>
            <a:r>
              <a:rPr b="1" i="1" dirty="0"/>
              <a:t>state</a:t>
            </a:r>
            <a:r>
              <a:rPr dirty="0"/>
              <a:t> of the object).</a:t>
            </a:r>
          </a:p>
        </p:txBody>
      </p:sp>
      <p:sp>
        <p:nvSpPr>
          <p:cNvPr id="146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029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51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000" b="1" dirty="0"/>
              <a:t>State</a:t>
            </a:r>
            <a:endParaRPr b="1" dirty="0"/>
          </a:p>
        </p:txBody>
      </p:sp>
      <p:pic>
        <p:nvPicPr>
          <p:cNvPr id="152" name="Picture 1" descr="Picture 1"/>
          <p:cNvPicPr>
            <a:picLocks noChangeAspect="1"/>
          </p:cNvPicPr>
          <p:nvPr/>
        </p:nvPicPr>
        <p:blipFill>
          <a:blip r:embed="rId2"/>
          <a:srcRect l="1236" t="1547" r="1235" b="1931"/>
          <a:stretch>
            <a:fillRect/>
          </a:stretch>
        </p:blipFill>
        <p:spPr>
          <a:xfrm>
            <a:off x="3027582" y="2160455"/>
            <a:ext cx="6151563" cy="388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92" y="0"/>
                  <a:pt x="572" y="2"/>
                  <a:pt x="396" y="172"/>
                </a:cubicBezTo>
                <a:cubicBezTo>
                  <a:pt x="298" y="266"/>
                  <a:pt x="168" y="470"/>
                  <a:pt x="109" y="625"/>
                </a:cubicBezTo>
                <a:cubicBezTo>
                  <a:pt x="2" y="902"/>
                  <a:pt x="0" y="1080"/>
                  <a:pt x="0" y="10800"/>
                </a:cubicBezTo>
                <a:cubicBezTo>
                  <a:pt x="0" y="20520"/>
                  <a:pt x="2" y="20698"/>
                  <a:pt x="109" y="20975"/>
                </a:cubicBezTo>
                <a:cubicBezTo>
                  <a:pt x="168" y="21130"/>
                  <a:pt x="298" y="21334"/>
                  <a:pt x="396" y="21428"/>
                </a:cubicBezTo>
                <a:cubicBezTo>
                  <a:pt x="572" y="21598"/>
                  <a:pt x="692" y="21600"/>
                  <a:pt x="10800" y="21600"/>
                </a:cubicBezTo>
                <a:cubicBezTo>
                  <a:pt x="20908" y="21600"/>
                  <a:pt x="21028" y="21598"/>
                  <a:pt x="21204" y="21428"/>
                </a:cubicBezTo>
                <a:cubicBezTo>
                  <a:pt x="21302" y="21334"/>
                  <a:pt x="21432" y="21130"/>
                  <a:pt x="21491" y="20975"/>
                </a:cubicBezTo>
                <a:cubicBezTo>
                  <a:pt x="21598" y="20698"/>
                  <a:pt x="21600" y="20520"/>
                  <a:pt x="21600" y="10800"/>
                </a:cubicBezTo>
                <a:cubicBezTo>
                  <a:pt x="21600" y="1080"/>
                  <a:pt x="21598" y="902"/>
                  <a:pt x="21491" y="625"/>
                </a:cubicBezTo>
                <a:cubicBezTo>
                  <a:pt x="21432" y="470"/>
                  <a:pt x="21302" y="266"/>
                  <a:pt x="21204" y="172"/>
                </a:cubicBezTo>
                <a:cubicBezTo>
                  <a:pt x="21028" y="2"/>
                  <a:pt x="20908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029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55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dirty="0"/>
              <a:t>Two Circle objects</a:t>
            </a:r>
          </a:p>
        </p:txBody>
      </p:sp>
      <p:pic>
        <p:nvPicPr>
          <p:cNvPr id="156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119" y="1800882"/>
            <a:ext cx="5478298" cy="46053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b="1" dirty="0"/>
              <a:t>Source code</a:t>
            </a:r>
          </a:p>
        </p:txBody>
      </p:sp>
      <p:sp>
        <p:nvSpPr>
          <p:cNvPr id="160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spcBef>
                <a:spcPts val="700"/>
              </a:spcBef>
              <a:defRPr sz="8342"/>
            </a:pPr>
            <a:r>
              <a:rPr sz="4400" dirty="0"/>
              <a:t>Each class has source code associated with it that defines its details (attributes and methods).</a:t>
            </a:r>
          </a:p>
          <a:p>
            <a:pPr marL="332613" indent="-332613" defTabSz="886968">
              <a:spcBef>
                <a:spcPts val="700"/>
              </a:spcBef>
              <a:defRPr sz="8342"/>
            </a:pPr>
            <a:r>
              <a:rPr sz="4400" dirty="0"/>
              <a:t>The source code is written to obey the rules of a particular programming language.</a:t>
            </a:r>
          </a:p>
        </p:txBody>
      </p:sp>
      <p:sp>
        <p:nvSpPr>
          <p:cNvPr id="158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6000" b="1" dirty="0"/>
              <a:t>Return values</a:t>
            </a:r>
          </a:p>
        </p:txBody>
      </p:sp>
      <p:sp>
        <p:nvSpPr>
          <p:cNvPr id="164" name="Rectangle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4000" dirty="0"/>
              <a:t>All the methods in the </a:t>
            </a:r>
            <a:r>
              <a:rPr sz="4000" i="1" dirty="0"/>
              <a:t>figures</a:t>
            </a:r>
            <a:r>
              <a:rPr sz="4000" dirty="0"/>
              <a:t> project have </a:t>
            </a:r>
            <a:r>
              <a:rPr sz="4000" b="1" dirty="0">
                <a:latin typeface="Courier"/>
                <a:ea typeface="Courier"/>
                <a:cs typeface="Courier"/>
                <a:sym typeface="Courier"/>
              </a:rPr>
              <a:t>void</a:t>
            </a:r>
            <a:r>
              <a:rPr sz="4000" dirty="0"/>
              <a:t> return types; but …</a:t>
            </a:r>
          </a:p>
          <a:p>
            <a:r>
              <a:rPr sz="4000" dirty="0"/>
              <a:t>… methods may return a result via a return value.</a:t>
            </a:r>
          </a:p>
          <a:p>
            <a:r>
              <a:rPr sz="4000" dirty="0"/>
              <a:t>Such methods have a non-</a:t>
            </a:r>
            <a:r>
              <a:rPr sz="4000" b="1" dirty="0">
                <a:latin typeface="Courier"/>
                <a:ea typeface="Courier"/>
                <a:cs typeface="Courier"/>
                <a:sym typeface="Courier"/>
              </a:rPr>
              <a:t>void</a:t>
            </a:r>
            <a:r>
              <a:rPr sz="4000" dirty="0"/>
              <a:t> return type.</a:t>
            </a:r>
            <a:endParaRPr lang="en-IE" sz="4000" dirty="0"/>
          </a:p>
          <a:p>
            <a:r>
              <a:rPr lang="en-US" sz="4000" dirty="0"/>
              <a:t>More on this later..</a:t>
            </a:r>
          </a:p>
        </p:txBody>
      </p:sp>
      <p:sp>
        <p:nvSpPr>
          <p:cNvPr id="162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000" b="1" dirty="0"/>
              <a:t>Review</a:t>
            </a:r>
            <a:endParaRPr b="1" dirty="0"/>
          </a:p>
        </p:txBody>
      </p:sp>
      <p:sp>
        <p:nvSpPr>
          <p:cNvPr id="168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277749" indent="-277749" defTabSz="740664">
              <a:spcBef>
                <a:spcPts val="600"/>
              </a:spcBef>
              <a:defRPr sz="6966"/>
            </a:pPr>
            <a:r>
              <a:rPr dirty="0"/>
              <a:t>Classes model concepts.</a:t>
            </a:r>
          </a:p>
          <a:p>
            <a:pPr marL="277749" indent="-277749" defTabSz="740664">
              <a:spcBef>
                <a:spcPts val="600"/>
              </a:spcBef>
              <a:defRPr sz="6966"/>
            </a:pPr>
            <a:r>
              <a:rPr dirty="0"/>
              <a:t>Source code </a:t>
            </a:r>
            <a:r>
              <a:rPr dirty="0" err="1"/>
              <a:t>realises</a:t>
            </a:r>
            <a:r>
              <a:rPr dirty="0"/>
              <a:t> those concepts.</a:t>
            </a:r>
          </a:p>
          <a:p>
            <a:pPr marL="277749" indent="-277749" defTabSz="740664">
              <a:spcBef>
                <a:spcPts val="600"/>
              </a:spcBef>
              <a:defRPr sz="6966"/>
            </a:pPr>
            <a:r>
              <a:rPr dirty="0"/>
              <a:t>Source code defines</a:t>
            </a:r>
            <a:endParaRPr lang="en-IE" dirty="0"/>
          </a:p>
          <a:p>
            <a:pPr marL="1192149" lvl="2" indent="-277749" defTabSz="740664">
              <a:spcBef>
                <a:spcPts val="600"/>
              </a:spcBef>
              <a:defRPr sz="6966"/>
            </a:pPr>
            <a:r>
              <a:rPr dirty="0"/>
              <a:t>What objects can do (methods).</a:t>
            </a:r>
            <a:endParaRPr lang="en-IE" dirty="0"/>
          </a:p>
          <a:p>
            <a:pPr marL="1192149" lvl="2" indent="-277749" defTabSz="740664">
              <a:spcBef>
                <a:spcPts val="600"/>
              </a:spcBef>
              <a:defRPr sz="6966"/>
            </a:pPr>
            <a:r>
              <a:rPr dirty="0"/>
              <a:t>What data they store (attributes).</a:t>
            </a:r>
          </a:p>
          <a:p>
            <a:pPr marL="277749" indent="-277749" defTabSz="740664">
              <a:spcBef>
                <a:spcPts val="600"/>
              </a:spcBef>
              <a:defRPr sz="6966"/>
            </a:pPr>
            <a:r>
              <a:rPr dirty="0"/>
              <a:t>Objects come into existence with pre-defined attribute values.</a:t>
            </a:r>
          </a:p>
          <a:p>
            <a:pPr marL="277749" indent="-277749" defTabSz="740664">
              <a:spcBef>
                <a:spcPts val="600"/>
              </a:spcBef>
              <a:defRPr sz="6966"/>
            </a:pPr>
            <a:r>
              <a:rPr dirty="0"/>
              <a:t>The methods determine what objects do with their data.</a:t>
            </a:r>
          </a:p>
        </p:txBody>
      </p:sp>
      <p:sp>
        <p:nvSpPr>
          <p:cNvPr id="166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000" b="1" dirty="0"/>
              <a:t>Review</a:t>
            </a:r>
            <a:endParaRPr b="1" dirty="0"/>
          </a:p>
        </p:txBody>
      </p:sp>
      <p:sp>
        <p:nvSpPr>
          <p:cNvPr id="172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94894" indent="-294894" defTabSz="786384">
              <a:spcBef>
                <a:spcPts val="650"/>
              </a:spcBef>
              <a:defRPr sz="7396"/>
            </a:pPr>
            <a:r>
              <a:rPr dirty="0"/>
              <a:t>When a method is called an object:</a:t>
            </a:r>
          </a:p>
          <a:p>
            <a:pPr marL="934647" lvl="2" indent="-280851" defTabSz="786384">
              <a:spcBef>
                <a:spcPts val="650"/>
              </a:spcBef>
              <a:defRPr sz="5504"/>
            </a:pPr>
            <a:r>
              <a:rPr dirty="0"/>
              <a:t>Alters its state, and/or</a:t>
            </a:r>
            <a:endParaRPr lang="en-IE" dirty="0"/>
          </a:p>
          <a:p>
            <a:pPr marL="934647" lvl="2" indent="-280851" defTabSz="786384">
              <a:spcBef>
                <a:spcPts val="650"/>
              </a:spcBef>
              <a:defRPr sz="5504"/>
            </a:pPr>
            <a:r>
              <a:rPr dirty="0"/>
              <a:t>Uses its data to decide what to do.</a:t>
            </a:r>
          </a:p>
          <a:p>
            <a:pPr marL="294894" indent="-294894" defTabSz="786384">
              <a:spcBef>
                <a:spcPts val="650"/>
              </a:spcBef>
              <a:defRPr sz="7396"/>
            </a:pPr>
            <a:r>
              <a:rPr dirty="0"/>
              <a:t>Some methods take parameters that affect their actions.</a:t>
            </a:r>
          </a:p>
          <a:p>
            <a:pPr marL="294894" indent="-294894" defTabSz="786384">
              <a:spcBef>
                <a:spcPts val="650"/>
              </a:spcBef>
              <a:defRPr sz="7396"/>
            </a:pPr>
            <a:r>
              <a:rPr dirty="0"/>
              <a:t>Methods without parameters typically use their state to decide what to do.</a:t>
            </a:r>
          </a:p>
          <a:p>
            <a:pPr marL="294894" indent="-294894" defTabSz="786384">
              <a:spcBef>
                <a:spcPts val="650"/>
              </a:spcBef>
              <a:defRPr sz="7396"/>
            </a:pPr>
            <a:r>
              <a:rPr dirty="0"/>
              <a:t>Some methods return a value.</a:t>
            </a:r>
          </a:p>
        </p:txBody>
      </p:sp>
      <p:sp>
        <p:nvSpPr>
          <p:cNvPr id="170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6000" b="1" dirty="0"/>
              <a:t>Review</a:t>
            </a:r>
            <a:endParaRPr b="1" dirty="0"/>
          </a:p>
        </p:txBody>
      </p:sp>
      <p:sp>
        <p:nvSpPr>
          <p:cNvPr id="176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4000" dirty="0"/>
              <a:t>Most programs contain multiple classes.</a:t>
            </a:r>
          </a:p>
          <a:p>
            <a:r>
              <a:rPr sz="4000" dirty="0"/>
              <a:t>At runtime, objects interact with each other to realize the overall purpose of the program.</a:t>
            </a:r>
          </a:p>
        </p:txBody>
      </p:sp>
      <p:sp>
        <p:nvSpPr>
          <p:cNvPr id="174" name="Rectangle 1029"/>
          <p:cNvSpPr txBox="1">
            <a:spLocks noGrp="1"/>
          </p:cNvSpPr>
          <p:nvPr>
            <p:ph type="sldNum" sz="quarter" idx="12"/>
          </p:nvPr>
        </p:nvSpPr>
        <p:spPr>
          <a:xfrm>
            <a:off x="11691066" y="6493542"/>
            <a:ext cx="412292" cy="4308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bjects-first-6e">
  <a:themeElements>
    <a:clrScheme name="objects-first-6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bjects-first-6e">
      <a:majorFont>
        <a:latin typeface="Helvetica"/>
        <a:ea typeface="Helvetica"/>
        <a:cs typeface="Helvetica"/>
      </a:majorFont>
      <a:minorFont>
        <a:latin typeface="Times Roman"/>
        <a:ea typeface="Times Roman"/>
        <a:cs typeface="Times Roman"/>
      </a:minorFont>
    </a:fontScheme>
    <a:fmtScheme name="objects-first-6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508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593</Words>
  <Application>Microsoft Office PowerPoint</Application>
  <PresentationFormat>Widescreen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Courier</vt:lpstr>
      <vt:lpstr>Arial</vt:lpstr>
      <vt:lpstr>Tw Cen MT</vt:lpstr>
      <vt:lpstr>Calibri Light</vt:lpstr>
      <vt:lpstr>Times Roman</vt:lpstr>
      <vt:lpstr>Linux Biolinum</vt:lpstr>
      <vt:lpstr>Calibri</vt:lpstr>
      <vt:lpstr>Office 2013 - 2022 Theme</vt:lpstr>
      <vt:lpstr>Objects First with JAVA</vt:lpstr>
      <vt:lpstr>Course Contents</vt:lpstr>
      <vt:lpstr>Terminology</vt:lpstr>
      <vt:lpstr>Goals</vt:lpstr>
      <vt:lpstr>Book</vt:lpstr>
      <vt:lpstr>Overview </vt:lpstr>
      <vt:lpstr>Overview </vt:lpstr>
      <vt:lpstr>Classes and objects</vt:lpstr>
      <vt:lpstr>Fundamental concepts</vt:lpstr>
      <vt:lpstr>Classes and Objects</vt:lpstr>
      <vt:lpstr>Methods and Parameters</vt:lpstr>
      <vt:lpstr>Other observations</vt:lpstr>
      <vt:lpstr>State</vt:lpstr>
      <vt:lpstr>Two Circle objects</vt:lpstr>
      <vt:lpstr>Source code</vt:lpstr>
      <vt:lpstr>Return values</vt:lpstr>
      <vt:lpstr>Review</vt:lpstr>
      <vt:lpstr>Review</vt:lpstr>
      <vt:lpstr>Review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Siobhan Roche</dc:creator>
  <cp:lastModifiedBy>Siobhan Roche</cp:lastModifiedBy>
  <cp:revision>5</cp:revision>
  <dcterms:modified xsi:type="dcterms:W3CDTF">2025-09-12T08:31:33Z</dcterms:modified>
</cp:coreProperties>
</file>