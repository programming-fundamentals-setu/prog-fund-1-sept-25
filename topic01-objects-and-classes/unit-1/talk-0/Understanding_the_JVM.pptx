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97" r:id="rId3"/>
    <p:sldId id="383" r:id="rId4"/>
    <p:sldId id="403" r:id="rId5"/>
    <p:sldId id="400" r:id="rId6"/>
    <p:sldId id="313" r:id="rId7"/>
    <p:sldId id="402" r:id="rId8"/>
    <p:sldId id="401" r:id="rId9"/>
    <p:sldId id="315" r:id="rId10"/>
    <p:sldId id="316" r:id="rId11"/>
    <p:sldId id="312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61" autoAdjust="0"/>
    <p:restoredTop sz="94660"/>
  </p:normalViewPr>
  <p:slideViewPr>
    <p:cSldViewPr>
      <p:cViewPr>
        <p:scale>
          <a:sx n="108" d="100"/>
          <a:sy n="108" d="100"/>
        </p:scale>
        <p:origin x="-504" y="3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IE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viralpatel.net/blogs/java-virtual-machine-an-inside-story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viralpatel.net/blogs/java-virtual-machine-an-inside-story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JVM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 Virtual </a:t>
            </a:r>
            <a:r>
              <a:rPr lang="en-IE" sz="3200">
                <a:solidFill>
                  <a:schemeClr val="tx1">
                    <a:lumMod val="50000"/>
                    <a:lumOff val="50000"/>
                  </a:schemeClr>
                </a:solidFill>
              </a:rPr>
              <a:t>Machine and the main method</a:t>
            </a:r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596A1-7338-A987-D5C7-50ED2804D0C4}"/>
              </a:ext>
            </a:extLst>
          </p:cNvPr>
          <p:cNvSpPr txBox="1"/>
          <p:nvPr/>
        </p:nvSpPr>
        <p:spPr>
          <a:xfrm>
            <a:off x="76962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B4E7EC5-4D1F-5DF9-C8F7-1ABABB530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9AB3B-BE8C-6111-4D7B-9341C157E2C7}"/>
              </a:ext>
            </a:extLst>
          </p:cNvPr>
          <p:cNvSpPr txBox="1"/>
          <p:nvPr/>
        </p:nvSpPr>
        <p:spPr>
          <a:xfrm>
            <a:off x="3494314" y="381000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Files in Java.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Java Virtual Machine (JVM).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main() 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2073166"/>
            <a:ext cx="3505200" cy="67003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6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049000" cy="4953000"/>
          </a:xfrm>
        </p:spPr>
        <p:txBody>
          <a:bodyPr>
            <a:normAutofit/>
          </a:bodyPr>
          <a:lstStyle/>
          <a:p>
            <a:r>
              <a:rPr lang="en-IE" sz="2800" b="1" dirty="0"/>
              <a:t>Java code </a:t>
            </a:r>
            <a:r>
              <a:rPr lang="en-IE" sz="2800" dirty="0"/>
              <a:t>is written in </a:t>
            </a:r>
            <a:r>
              <a:rPr lang="en-IE" sz="2800" b="1" dirty="0">
                <a:solidFill>
                  <a:srgbClr val="FF0000"/>
                </a:solidFill>
              </a:rPr>
              <a:t>.java </a:t>
            </a:r>
            <a:r>
              <a:rPr lang="en-IE" sz="2800" dirty="0"/>
              <a:t>file. </a:t>
            </a:r>
          </a:p>
          <a:p>
            <a:pPr lvl="1"/>
            <a:r>
              <a:rPr lang="en-IE" sz="2400" dirty="0"/>
              <a:t>code contains one or more Java language constructs </a:t>
            </a:r>
            <a:br>
              <a:rPr lang="en-IE" sz="2400" dirty="0"/>
            </a:br>
            <a:r>
              <a:rPr lang="en-IE" sz="2400" dirty="0"/>
              <a:t>e.g. Classes, Methods, Variable, Objects etc. </a:t>
            </a:r>
          </a:p>
          <a:p>
            <a:r>
              <a:rPr lang="en-IE" sz="2800" b="1" dirty="0"/>
              <a:t>Compiling</a:t>
            </a:r>
            <a:r>
              <a:rPr lang="en-IE" sz="2800" dirty="0"/>
              <a:t> this code generates a </a:t>
            </a:r>
            <a:r>
              <a:rPr lang="en-IE" sz="2800" b="1" dirty="0">
                <a:solidFill>
                  <a:srgbClr val="FF0000"/>
                </a:solidFill>
              </a:rPr>
              <a:t>.class</a:t>
            </a:r>
            <a:r>
              <a:rPr lang="en-IE" sz="2800" dirty="0"/>
              <a:t> file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CA475-F92B-4A80-ACD3-723C0899C683}"/>
              </a:ext>
            </a:extLst>
          </p:cNvPr>
          <p:cNvSpPr/>
          <p:nvPr/>
        </p:nvSpPr>
        <p:spPr>
          <a:xfrm>
            <a:off x="2743201" y="6553201"/>
            <a:ext cx="7951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400" dirty="0">
                <a:hlinkClick r:id="rId2"/>
              </a:rPr>
              <a:t>http://viralpatel.net/blogs/java-virtual-machine-an-inside-story/</a:t>
            </a:r>
            <a:r>
              <a:rPr lang="en-IE" sz="1400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C4E766-7630-460F-A18C-FB145C6E7A13}"/>
              </a:ext>
            </a:extLst>
          </p:cNvPr>
          <p:cNvSpPr txBox="1">
            <a:spLocks/>
          </p:cNvSpPr>
          <p:nvPr/>
        </p:nvSpPr>
        <p:spPr>
          <a:xfrm>
            <a:off x="1981200" y="3429000"/>
            <a:ext cx="8610600" cy="381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800" dirty="0"/>
              <a:t>A</a:t>
            </a:r>
            <a:r>
              <a:rPr lang="en-IE" sz="2800" b="1" dirty="0">
                <a:solidFill>
                  <a:srgbClr val="FF0000"/>
                </a:solidFill>
              </a:rPr>
              <a:t> .class </a:t>
            </a:r>
            <a:r>
              <a:rPr lang="en-IE" sz="2800" dirty="0"/>
              <a:t>file </a:t>
            </a:r>
          </a:p>
          <a:p>
            <a:pPr lvl="1"/>
            <a:r>
              <a:rPr lang="en-IE" sz="2400" dirty="0"/>
              <a:t>“</a:t>
            </a:r>
            <a:r>
              <a:rPr lang="en-IE" sz="2400" b="1" dirty="0"/>
              <a:t>byte code</a:t>
            </a:r>
            <a:r>
              <a:rPr lang="en-IE" sz="2400" dirty="0"/>
              <a:t>” </a:t>
            </a:r>
          </a:p>
          <a:p>
            <a:pPr lvl="1"/>
            <a:r>
              <a:rPr lang="en-IE" sz="2400" dirty="0"/>
              <a:t>the input to Java Virtual Machine (JVM) </a:t>
            </a:r>
          </a:p>
          <a:p>
            <a:pPr lvl="1"/>
            <a:r>
              <a:rPr lang="en-IE" sz="2400" dirty="0"/>
              <a:t>The </a:t>
            </a:r>
            <a:r>
              <a:rPr lang="en-IE" sz="2400" b="1" dirty="0"/>
              <a:t>JVM</a:t>
            </a:r>
            <a:r>
              <a:rPr lang="en-IE" sz="2400" dirty="0"/>
              <a:t> </a:t>
            </a:r>
            <a:r>
              <a:rPr lang="en-IE" sz="2400" i="1" dirty="0"/>
              <a:t>(for a specific platform) </a:t>
            </a:r>
          </a:p>
          <a:p>
            <a:pPr lvl="2"/>
            <a:r>
              <a:rPr lang="en-IE" sz="2000" b="1" dirty="0"/>
              <a:t>reads</a:t>
            </a:r>
            <a:r>
              <a:rPr lang="en-IE" sz="2000" dirty="0"/>
              <a:t> this byte code</a:t>
            </a:r>
          </a:p>
          <a:p>
            <a:pPr lvl="2"/>
            <a:r>
              <a:rPr lang="en-IE" sz="2000" b="1" dirty="0"/>
              <a:t>interprets</a:t>
            </a:r>
            <a:r>
              <a:rPr lang="en-IE" sz="2000" dirty="0"/>
              <a:t> it as machine code instructions </a:t>
            </a:r>
            <a:r>
              <a:rPr lang="en-IE" sz="2000" i="1" dirty="0"/>
              <a:t>(for that platform)</a:t>
            </a:r>
          </a:p>
          <a:p>
            <a:pPr lvl="2"/>
            <a:r>
              <a:rPr lang="en-IE" sz="2000" dirty="0"/>
              <a:t>and </a:t>
            </a:r>
            <a:r>
              <a:rPr lang="en-IE" sz="2000" b="1" dirty="0"/>
              <a:t>executes</a:t>
            </a:r>
            <a:r>
              <a:rPr lang="en-IE" sz="2000" dirty="0"/>
              <a:t> the program </a:t>
            </a:r>
            <a:r>
              <a:rPr lang="en-IE" sz="2000" i="1" dirty="0"/>
              <a:t>(on that platform)</a:t>
            </a:r>
            <a:endParaRPr lang="en-IE" sz="2000" dirty="0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648456D5-610A-412C-9EA1-75C0004E7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050" y="2369889"/>
            <a:ext cx="3284550" cy="21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65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Development </a:t>
            </a:r>
            <a:r>
              <a:rPr lang="en-GB" dirty="0"/>
              <a:t>Process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10668000" cy="5334000"/>
          </a:xfrm>
        </p:spPr>
      </p:pic>
      <p:sp>
        <p:nvSpPr>
          <p:cNvPr id="7" name="TextBox 6"/>
          <p:cNvSpPr txBox="1"/>
          <p:nvPr/>
        </p:nvSpPr>
        <p:spPr>
          <a:xfrm>
            <a:off x="4343400" y="64770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https://dev.to/leetcode/what-happens-when-we-run-a-java-code-1p8i</a:t>
            </a:r>
          </a:p>
        </p:txBody>
      </p:sp>
    </p:spTree>
    <p:extLst>
      <p:ext uri="{BB962C8B-B14F-4D97-AF65-F5344CB8AC3E}">
        <p14:creationId xmlns:p14="http://schemas.microsoft.com/office/powerpoint/2010/main" val="1312855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Files in Java.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Java Virtual Machine (JVM).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main() 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2758967"/>
            <a:ext cx="6248400" cy="67003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35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Java Virtual Machine (JVM)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072E6-9DEF-453C-AC06-FFE4922914E3}"/>
              </a:ext>
            </a:extLst>
          </p:cNvPr>
          <p:cNvSpPr/>
          <p:nvPr/>
        </p:nvSpPr>
        <p:spPr>
          <a:xfrm>
            <a:off x="2743201" y="6553201"/>
            <a:ext cx="7951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400" dirty="0">
                <a:hlinkClick r:id="rId2"/>
              </a:rPr>
              <a:t>http://viralpatel.net/blogs/java-virtual-machine-an-inside-story/</a:t>
            </a:r>
            <a:r>
              <a:rPr lang="en-IE" sz="1400" dirty="0"/>
              <a:t> 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1F7E472B-0B9D-4E63-AA68-148F58A3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50" y="3965589"/>
            <a:ext cx="3284550" cy="21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BECD4E-FB37-4908-BB65-9C1BBE9E1920}"/>
              </a:ext>
            </a:extLst>
          </p:cNvPr>
          <p:cNvSpPr txBox="1">
            <a:spLocks/>
          </p:cNvSpPr>
          <p:nvPr/>
        </p:nvSpPr>
        <p:spPr>
          <a:xfrm>
            <a:off x="718283" y="1555353"/>
            <a:ext cx="9976757" cy="45284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Java Virtual Machine (</a:t>
            </a:r>
            <a:r>
              <a:rPr lang="en-IE" b="1" dirty="0"/>
              <a:t>JVM</a:t>
            </a:r>
            <a:r>
              <a:rPr lang="en-IE" dirty="0"/>
              <a:t>) </a:t>
            </a:r>
          </a:p>
          <a:p>
            <a:pPr lvl="1"/>
            <a:r>
              <a:rPr lang="en-IE" dirty="0"/>
              <a:t>is a “</a:t>
            </a:r>
            <a:r>
              <a:rPr lang="en-IE" b="1" dirty="0"/>
              <a:t>virtual</a:t>
            </a:r>
            <a:r>
              <a:rPr lang="en-IE" dirty="0"/>
              <a:t>” computer that resides in the “real” computer as a software process. </a:t>
            </a:r>
          </a:p>
          <a:p>
            <a:pPr lvl="2"/>
            <a:r>
              <a:rPr lang="en-IE" dirty="0"/>
              <a:t>E.g. JVM for windows, for OSX, Linux etc.</a:t>
            </a:r>
          </a:p>
          <a:p>
            <a:r>
              <a:rPr lang="en-IE" dirty="0"/>
              <a:t>The JVM gives Java the flexibility of </a:t>
            </a:r>
            <a:r>
              <a:rPr lang="en-IE" b="1" dirty="0"/>
              <a:t>platform independence</a:t>
            </a:r>
            <a:r>
              <a:rPr lang="en-IE" dirty="0"/>
              <a:t>. </a:t>
            </a:r>
          </a:p>
          <a:p>
            <a:r>
              <a:rPr lang="en-IE" dirty="0"/>
              <a:t>The </a:t>
            </a:r>
            <a:r>
              <a:rPr lang="en-IE" b="1" dirty="0">
                <a:highlight>
                  <a:srgbClr val="FCCA3A"/>
                </a:highlight>
              </a:rPr>
              <a:t>.class</a:t>
            </a:r>
            <a:r>
              <a:rPr lang="en-IE" b="1" dirty="0"/>
              <a:t>  </a:t>
            </a:r>
            <a:r>
              <a:rPr lang="en-IE" dirty="0"/>
              <a:t>files can be run on any OS, </a:t>
            </a:r>
            <a:br>
              <a:rPr lang="en-IE" dirty="0"/>
            </a:br>
            <a:r>
              <a:rPr lang="en-IE" dirty="0"/>
              <a:t>once a JVM has been installed </a:t>
            </a:r>
          </a:p>
          <a:p>
            <a:pPr lvl="1"/>
            <a:r>
              <a:rPr lang="en-IE" dirty="0"/>
              <a:t>(NB: JVM is installed when you install the JDK).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9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914400" y="914400"/>
            <a:ext cx="10842365" cy="5655013"/>
            <a:chOff x="442043" y="259313"/>
            <a:chExt cx="10842365" cy="56550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841DC5-1396-3452-3E0C-033577612900}"/>
                </a:ext>
              </a:extLst>
            </p:cNvPr>
            <p:cNvSpPr/>
            <p:nvPr/>
          </p:nvSpPr>
          <p:spPr>
            <a:xfrm>
              <a:off x="7482940" y="415635"/>
              <a:ext cx="1551709" cy="5098473"/>
            </a:xfrm>
            <a:prstGeom prst="rect">
              <a:avLst/>
            </a:prstGeom>
            <a:solidFill>
              <a:srgbClr val="0062A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Graphic 18">
              <a:extLst>
                <a:ext uri="{FF2B5EF4-FFF2-40B4-BE49-F238E27FC236}">
                  <a16:creationId xmlns:a16="http://schemas.microsoft.com/office/drawing/2014/main" id="{164D1372-FBC2-A785-0EE0-50365FCE1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77794" y="452258"/>
              <a:ext cx="696252" cy="696252"/>
            </a:xfrm>
            <a:prstGeom prst="rect">
              <a:avLst/>
            </a:prstGeom>
          </p:spPr>
        </p:pic>
        <p:pic>
          <p:nvPicPr>
            <p:cNvPr id="7" name="Graphic 19">
              <a:extLst>
                <a:ext uri="{FF2B5EF4-FFF2-40B4-BE49-F238E27FC236}">
                  <a16:creationId xmlns:a16="http://schemas.microsoft.com/office/drawing/2014/main" id="{E5C4AE04-A681-5488-53E9-E90B33267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56517" y="2275396"/>
              <a:ext cx="696252" cy="696252"/>
            </a:xfrm>
            <a:prstGeom prst="rect">
              <a:avLst/>
            </a:prstGeom>
          </p:spPr>
        </p:pic>
        <p:pic>
          <p:nvPicPr>
            <p:cNvPr id="8" name="Graphic 20">
              <a:extLst>
                <a:ext uri="{FF2B5EF4-FFF2-40B4-BE49-F238E27FC236}">
                  <a16:creationId xmlns:a16="http://schemas.microsoft.com/office/drawing/2014/main" id="{2FB69836-7242-AF81-1F7A-9DDC17824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56517" y="3952282"/>
              <a:ext cx="696252" cy="696252"/>
            </a:xfrm>
            <a:prstGeom prst="rect">
              <a:avLst/>
            </a:prstGeom>
          </p:spPr>
        </p:pic>
        <p:pic>
          <p:nvPicPr>
            <p:cNvPr id="9" name="Graphic 22">
              <a:extLst>
                <a:ext uri="{FF2B5EF4-FFF2-40B4-BE49-F238E27FC236}">
                  <a16:creationId xmlns:a16="http://schemas.microsoft.com/office/drawing/2014/main" id="{8749E8A6-6437-E6FA-642E-16C281067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23049" y="3778344"/>
              <a:ext cx="1061359" cy="1061359"/>
            </a:xfrm>
            <a:prstGeom prst="rect">
              <a:avLst/>
            </a:prstGeom>
          </p:spPr>
        </p:pic>
        <p:pic>
          <p:nvPicPr>
            <p:cNvPr id="10" name="Graphic 24">
              <a:extLst>
                <a:ext uri="{FF2B5EF4-FFF2-40B4-BE49-F238E27FC236}">
                  <a16:creationId xmlns:a16="http://schemas.microsoft.com/office/drawing/2014/main" id="{28083A09-2965-10DE-7E8D-F6C0E6162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0210" y="2082451"/>
              <a:ext cx="1082141" cy="1082141"/>
            </a:xfrm>
            <a:prstGeom prst="rect">
              <a:avLst/>
            </a:prstGeom>
          </p:spPr>
        </p:pic>
        <p:pic>
          <p:nvPicPr>
            <p:cNvPr id="11" name="Graphic 26">
              <a:extLst>
                <a:ext uri="{FF2B5EF4-FFF2-40B4-BE49-F238E27FC236}">
                  <a16:creationId xmlns:a16="http://schemas.microsoft.com/office/drawing/2014/main" id="{8613ED10-CCDD-C8D4-073B-AE896BFA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93778" y="259313"/>
              <a:ext cx="1082141" cy="108214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0FA55D-8783-9F88-80E2-9526111C9F4B}"/>
                </a:ext>
              </a:extLst>
            </p:cNvPr>
            <p:cNvSpPr txBox="1"/>
            <p:nvPr/>
          </p:nvSpPr>
          <p:spPr>
            <a:xfrm>
              <a:off x="7563384" y="1244589"/>
              <a:ext cx="13908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Windows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JVM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888D4C-9680-9FE8-DDD8-E0F7A124A4FA}"/>
                </a:ext>
              </a:extLst>
            </p:cNvPr>
            <p:cNvSpPr txBox="1"/>
            <p:nvPr/>
          </p:nvSpPr>
          <p:spPr>
            <a:xfrm>
              <a:off x="7777843" y="3028844"/>
              <a:ext cx="83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Linux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JVM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DB715F-E7A8-E1B3-66EF-3CB6EA116A39}"/>
                </a:ext>
              </a:extLst>
            </p:cNvPr>
            <p:cNvSpPr txBox="1"/>
            <p:nvPr/>
          </p:nvSpPr>
          <p:spPr>
            <a:xfrm>
              <a:off x="7714074" y="4757876"/>
              <a:ext cx="9615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Apple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JVM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B1CFAF-9A19-6C08-D9AD-2C62C0FD3787}"/>
                </a:ext>
              </a:extLst>
            </p:cNvPr>
            <p:cNvGrpSpPr/>
            <p:nvPr/>
          </p:nvGrpSpPr>
          <p:grpSpPr>
            <a:xfrm>
              <a:off x="442043" y="2670464"/>
              <a:ext cx="1331903" cy="2011201"/>
              <a:chOff x="442043" y="2670464"/>
              <a:chExt cx="1331903" cy="20112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24F92A4-A821-57D5-D711-3E22CB259C51}"/>
                  </a:ext>
                </a:extLst>
              </p:cNvPr>
              <p:cNvSpPr/>
              <p:nvPr/>
            </p:nvSpPr>
            <p:spPr>
              <a:xfrm>
                <a:off x="519545" y="2670464"/>
                <a:ext cx="1184564" cy="1184564"/>
              </a:xfrm>
              <a:prstGeom prst="ellipse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3" name="Picture 32" descr="Text, icon&#10;&#10;Description automatically generated">
                <a:extLst>
                  <a:ext uri="{FF2B5EF4-FFF2-40B4-BE49-F238E27FC236}">
                    <a16:creationId xmlns:a16="http://schemas.microsoft.com/office/drawing/2014/main" id="{00CFF3E8-5154-75B2-D626-BA72F84ED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0433" y="2879548"/>
                <a:ext cx="766395" cy="76639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B28CC29-C0E7-20D5-4F51-7F308A76A7A3}"/>
                  </a:ext>
                </a:extLst>
              </p:cNvPr>
              <p:cNvSpPr txBox="1"/>
              <p:nvPr/>
            </p:nvSpPr>
            <p:spPr>
              <a:xfrm>
                <a:off x="442043" y="4035334"/>
                <a:ext cx="13319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435765"/>
                    </a:solidFill>
                  </a:rPr>
                  <a:t>Source code</a:t>
                </a:r>
              </a:p>
              <a:p>
                <a:pPr algn="ctr"/>
                <a:r>
                  <a:rPr lang="en-US" dirty="0">
                    <a:solidFill>
                      <a:srgbClr val="435765"/>
                    </a:solidFill>
                    <a:highlight>
                      <a:srgbClr val="FCCA3A"/>
                    </a:highlight>
                  </a:rPr>
                  <a:t>.java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4F9DDB6-B906-7A94-654B-22775E81A0D5}"/>
                </a:ext>
              </a:extLst>
            </p:cNvPr>
            <p:cNvGrpSpPr/>
            <p:nvPr/>
          </p:nvGrpSpPr>
          <p:grpSpPr>
            <a:xfrm>
              <a:off x="2479962" y="2448069"/>
              <a:ext cx="1684771" cy="2247751"/>
              <a:chOff x="2479962" y="2448069"/>
              <a:chExt cx="1684771" cy="2247751"/>
            </a:xfrm>
          </p:grpSpPr>
          <p:pic>
            <p:nvPicPr>
              <p:cNvPr id="30" name="Graphic 15">
                <a:extLst>
                  <a:ext uri="{FF2B5EF4-FFF2-40B4-BE49-F238E27FC236}">
                    <a16:creationId xmlns:a16="http://schemas.microsoft.com/office/drawing/2014/main" id="{82737BAF-8D97-E519-562B-93E2D8B180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479962" y="2448069"/>
                <a:ext cx="1684771" cy="1684771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B0E0CA-FEF2-6886-C1F4-AD8F59B54A5E}"/>
                  </a:ext>
                </a:extLst>
              </p:cNvPr>
              <p:cNvSpPr txBox="1"/>
              <p:nvPr/>
            </p:nvSpPr>
            <p:spPr>
              <a:xfrm>
                <a:off x="2803617" y="4049489"/>
                <a:ext cx="10374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435765"/>
                    </a:solidFill>
                  </a:rPr>
                  <a:t>Java</a:t>
                </a:r>
              </a:p>
              <a:p>
                <a:pPr algn="ctr"/>
                <a:r>
                  <a:rPr lang="en-US" dirty="0">
                    <a:solidFill>
                      <a:srgbClr val="435765"/>
                    </a:solidFill>
                  </a:rPr>
                  <a:t>Compiler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4ED729-DEF4-570B-9D69-F9DC972D518F}"/>
                </a:ext>
              </a:extLst>
            </p:cNvPr>
            <p:cNvGrpSpPr/>
            <p:nvPr/>
          </p:nvGrpSpPr>
          <p:grpSpPr>
            <a:xfrm>
              <a:off x="4808247" y="2694214"/>
              <a:ext cx="1188792" cy="2011201"/>
              <a:chOff x="4808247" y="2670464"/>
              <a:chExt cx="1188792" cy="2011201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84858B9-148A-F13C-76AA-E5592350084C}"/>
                  </a:ext>
                </a:extLst>
              </p:cNvPr>
              <p:cNvSpPr/>
              <p:nvPr/>
            </p:nvSpPr>
            <p:spPr>
              <a:xfrm>
                <a:off x="4812475" y="2670464"/>
                <a:ext cx="1184564" cy="1184564"/>
              </a:xfrm>
              <a:prstGeom prst="ellipse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Picture 27" descr="Text, icon&#10;&#10;Description automatically generated">
                <a:extLst>
                  <a:ext uri="{FF2B5EF4-FFF2-40B4-BE49-F238E27FC236}">
                    <a16:creationId xmlns:a16="http://schemas.microsoft.com/office/drawing/2014/main" id="{B3794E83-9B8C-A3B7-A6A4-BECE39BFAC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21559" y="2879548"/>
                <a:ext cx="766395" cy="766395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B66A80-145E-9AA9-6878-8844B4CD2675}"/>
                  </a:ext>
                </a:extLst>
              </p:cNvPr>
              <p:cNvSpPr txBox="1"/>
              <p:nvPr/>
            </p:nvSpPr>
            <p:spPr>
              <a:xfrm>
                <a:off x="4808247" y="4035334"/>
                <a:ext cx="11104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435765"/>
                    </a:solidFill>
                  </a:rPr>
                  <a:t>Byte code</a:t>
                </a:r>
              </a:p>
              <a:p>
                <a:pPr algn="ctr"/>
                <a:r>
                  <a:rPr lang="en-US" dirty="0">
                    <a:solidFill>
                      <a:srgbClr val="435765"/>
                    </a:solidFill>
                    <a:highlight>
                      <a:srgbClr val="FCCA3A"/>
                    </a:highlight>
                  </a:rPr>
                  <a:t>.class</a:t>
                </a:r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9C0F1BA-7290-0D51-1842-F0158E68AC8D}"/>
                </a:ext>
              </a:extLst>
            </p:cNvPr>
            <p:cNvCxnSpPr>
              <a:stCxn id="32" idx="6"/>
              <a:endCxn id="30" idx="1"/>
            </p:cNvCxnSpPr>
            <p:nvPr/>
          </p:nvCxnSpPr>
          <p:spPr>
            <a:xfrm>
              <a:off x="1704109" y="3262746"/>
              <a:ext cx="775853" cy="27709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ABC86FA-9DF1-C405-9212-898DFFE14D79}"/>
                </a:ext>
              </a:extLst>
            </p:cNvPr>
            <p:cNvCxnSpPr>
              <a:stCxn id="30" idx="3"/>
              <a:endCxn id="27" idx="2"/>
            </p:cNvCxnSpPr>
            <p:nvPr/>
          </p:nvCxnSpPr>
          <p:spPr>
            <a:xfrm flipV="1">
              <a:off x="4164733" y="3286496"/>
              <a:ext cx="647742" cy="3959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A12DA659-008F-AFBE-ADD9-FCCBA92FCD4D}"/>
                </a:ext>
              </a:extLst>
            </p:cNvPr>
            <p:cNvCxnSpPr>
              <a:stCxn id="27" idx="6"/>
              <a:endCxn id="6" idx="1"/>
            </p:cNvCxnSpPr>
            <p:nvPr/>
          </p:nvCxnSpPr>
          <p:spPr>
            <a:xfrm flipV="1">
              <a:off x="5997039" y="800384"/>
              <a:ext cx="1880755" cy="2486112"/>
            </a:xfrm>
            <a:prstGeom prst="bentConnector3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A480975D-3565-0D54-0538-D58E2F5325C3}"/>
                </a:ext>
              </a:extLst>
            </p:cNvPr>
            <p:cNvCxnSpPr>
              <a:stCxn id="27" idx="6"/>
              <a:endCxn id="8" idx="1"/>
            </p:cNvCxnSpPr>
            <p:nvPr/>
          </p:nvCxnSpPr>
          <p:spPr>
            <a:xfrm>
              <a:off x="5997039" y="3286496"/>
              <a:ext cx="1859478" cy="1013912"/>
            </a:xfrm>
            <a:prstGeom prst="bentConnector3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FC64BC74-21BA-A7AF-0924-501DAB055B14}"/>
                </a:ext>
              </a:extLst>
            </p:cNvPr>
            <p:cNvCxnSpPr>
              <a:stCxn id="27" idx="6"/>
              <a:endCxn id="7" idx="1"/>
            </p:cNvCxnSpPr>
            <p:nvPr/>
          </p:nvCxnSpPr>
          <p:spPr>
            <a:xfrm flipV="1">
              <a:off x="5997039" y="2623522"/>
              <a:ext cx="1859478" cy="662974"/>
            </a:xfrm>
            <a:prstGeom prst="bentConnector3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67986C5-8800-FD9D-3DD2-DDD5A6C13D0C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>
              <a:off x="8574046" y="800384"/>
              <a:ext cx="1519732" cy="0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DA8A6B0-B8AA-7916-2E00-EEB6693A04F4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>
              <a:off x="8552769" y="2623522"/>
              <a:ext cx="1547441" cy="0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6FC1BA5-274D-7F1C-ABDB-5F14023F8121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8552769" y="4300408"/>
              <a:ext cx="1670280" cy="8616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F0F8D6-C0F6-EEF2-A587-EE25FA5F105B}"/>
                </a:ext>
              </a:extLst>
            </p:cNvPr>
            <p:cNvSpPr txBox="1"/>
            <p:nvPr/>
          </p:nvSpPr>
          <p:spPr>
            <a:xfrm>
              <a:off x="6937416" y="5544994"/>
              <a:ext cx="2715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Platform Specific JVMs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IE" sz="3600" dirty="0"/>
              <a:t>Java Virtual Machine (JVM)</a:t>
            </a:r>
          </a:p>
        </p:txBody>
      </p:sp>
    </p:spTree>
    <p:extLst>
      <p:ext uri="{BB962C8B-B14F-4D97-AF65-F5344CB8AC3E}">
        <p14:creationId xmlns:p14="http://schemas.microsoft.com/office/powerpoint/2010/main" val="82745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057401"/>
            <a:ext cx="8458200" cy="4068763"/>
          </a:xfrm>
        </p:spPr>
        <p:txBody>
          <a:bodyPr>
            <a:normAutofit/>
          </a:bodyPr>
          <a:lstStyle/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Files in Java.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Java Virtual Machine (JVM).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sz="3600" dirty="0"/>
              <a:t>main() 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3368567"/>
            <a:ext cx="6248400" cy="67003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712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895600"/>
          </a:xfrm>
        </p:spPr>
        <p:txBody>
          <a:bodyPr>
            <a:normAutofit/>
          </a:bodyPr>
          <a:lstStyle/>
          <a:p>
            <a:r>
              <a:rPr lang="en-IE" dirty="0"/>
              <a:t>When you want to run a java project, the Java Virtual Machine (JVM) invokes the </a:t>
            </a:r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</a:t>
            </a:r>
            <a:r>
              <a:rPr lang="en-IE" b="1" dirty="0"/>
              <a:t> </a:t>
            </a:r>
            <a:r>
              <a:rPr lang="en-IE" dirty="0"/>
              <a:t>in the project.</a:t>
            </a:r>
            <a:br>
              <a:rPr lang="en-IE" dirty="0"/>
            </a:br>
            <a:endParaRPr lang="en-IE" dirty="0"/>
          </a:p>
          <a:p>
            <a:r>
              <a:rPr lang="en-IE" dirty="0"/>
              <a:t>For the JVM to recognise it, the main() method </a:t>
            </a:r>
            <a:r>
              <a:rPr lang="en-IE" u="sng" dirty="0"/>
              <a:t>must</a:t>
            </a:r>
            <a:r>
              <a:rPr lang="en-IE" dirty="0"/>
              <a:t> have a specific method </a:t>
            </a:r>
            <a:r>
              <a:rPr lang="en-IE" b="1" dirty="0"/>
              <a:t>signature</a:t>
            </a:r>
            <a:r>
              <a:rPr lang="en-IE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38400" y="4833256"/>
            <a:ext cx="7315200" cy="1828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public static void </a:t>
            </a:r>
            <a:r>
              <a:rPr lang="en-AU" sz="24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2400" b="1" dirty="0">
                <a:latin typeface="Courier New" charset="0"/>
              </a:rPr>
              <a:t>(String[] </a:t>
            </a:r>
            <a:r>
              <a:rPr lang="en-AU" sz="2400" b="1" dirty="0" err="1">
                <a:latin typeface="Courier New" charset="0"/>
              </a:rPr>
              <a:t>args</a:t>
            </a:r>
            <a:r>
              <a:rPr lang="en-AU" sz="2400" b="1" dirty="0">
                <a:latin typeface="Courier New" charset="0"/>
              </a:rPr>
              <a:t>)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{ </a:t>
            </a:r>
          </a:p>
          <a:p>
            <a:pPr marL="0" indent="0">
              <a:buNone/>
            </a:pPr>
            <a:r>
              <a:rPr lang="en-AU" sz="2400" b="1" dirty="0">
                <a:latin typeface="Courier New" charset="0"/>
              </a:rPr>
              <a:t>  ...</a:t>
            </a:r>
            <a:br>
              <a:rPr lang="en-AU" sz="2400" b="1" dirty="0">
                <a:latin typeface="Courier New" charset="0"/>
              </a:rPr>
            </a:br>
            <a:r>
              <a:rPr lang="en-AU" sz="2400" b="1" dirty="0">
                <a:latin typeface="Courier New" charset="0"/>
              </a:rPr>
              <a:t>}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235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 - </a:t>
            </a:r>
            <a:r>
              <a:rPr lang="en-IE" b="1" dirty="0"/>
              <a:t>signature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09800" y="1600201"/>
            <a:ext cx="7924800" cy="3048000"/>
          </a:xfrm>
        </p:spPr>
        <p:txBody>
          <a:bodyPr>
            <a:normAutofit/>
          </a:bodyPr>
          <a:lstStyle/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exist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be </a:t>
            </a:r>
            <a:r>
              <a:rPr lang="en-AU" sz="2800" b="1" dirty="0">
                <a:latin typeface="Trebuchet MS" charset="0"/>
              </a:rPr>
              <a:t>public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be </a:t>
            </a:r>
            <a:r>
              <a:rPr lang="en-AU" sz="2800" b="1" dirty="0">
                <a:latin typeface="Trebuchet MS" charset="0"/>
              </a:rPr>
              <a:t>static</a:t>
            </a:r>
            <a:r>
              <a:rPr lang="en-AU" sz="2800" dirty="0">
                <a:latin typeface="Trebuchet MS" charset="0"/>
              </a:rPr>
              <a:t> (class method)</a:t>
            </a:r>
          </a:p>
          <a:p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must have a </a:t>
            </a:r>
            <a:r>
              <a:rPr lang="en-AU" sz="2800" b="1" dirty="0">
                <a:latin typeface="Trebuchet MS" charset="0"/>
              </a:rPr>
              <a:t>String array parameter</a:t>
            </a:r>
          </a:p>
          <a:p>
            <a:r>
              <a:rPr lang="en-AU" sz="2800" dirty="0">
                <a:latin typeface="Trebuchet MS" charset="0"/>
              </a:rPr>
              <a:t>Only </a:t>
            </a:r>
            <a:r>
              <a:rPr lang="ja-JP" altLang="en-AU" sz="2800" dirty="0">
                <a:latin typeface="Trebuchet MS" charset="0"/>
              </a:rPr>
              <a:t>“</a:t>
            </a:r>
            <a:r>
              <a:rPr lang="en-AU" sz="2800" dirty="0">
                <a:latin typeface="Trebuchet MS" charset="0"/>
              </a:rPr>
              <a:t>main</a:t>
            </a:r>
            <a:r>
              <a:rPr lang="ja-JP" altLang="en-AU" sz="2800" dirty="0">
                <a:latin typeface="Trebuchet MS" charset="0"/>
              </a:rPr>
              <a:t>”</a:t>
            </a:r>
            <a:r>
              <a:rPr lang="en-AU" sz="2800" dirty="0">
                <a:latin typeface="Trebuchet MS" charset="0"/>
              </a:rPr>
              <a:t> can be invoked automatically.</a:t>
            </a:r>
          </a:p>
          <a:p>
            <a:endParaRPr lang="en-IE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648201"/>
            <a:ext cx="9982200" cy="21171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450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676400" y="2312994"/>
            <a:ext cx="7162800" cy="189516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AU" sz="2400" b="1" dirty="0">
                <a:latin typeface="Courier New" charset="0"/>
              </a:rPr>
              <a:t>public static void </a:t>
            </a:r>
            <a:r>
              <a:rPr lang="en-AU" sz="24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2400" b="1" dirty="0">
                <a:latin typeface="Courier New" charset="0"/>
              </a:rPr>
              <a:t>(String[] </a:t>
            </a:r>
            <a:r>
              <a:rPr lang="en-AU" sz="2400" b="1" dirty="0" err="1">
                <a:latin typeface="Courier New" charset="0"/>
              </a:rPr>
              <a:t>args</a:t>
            </a:r>
            <a:r>
              <a:rPr lang="en-AU" sz="2400" b="1" dirty="0">
                <a:latin typeface="Courier New" charset="0"/>
              </a:rPr>
              <a:t>)</a:t>
            </a:r>
          </a:p>
          <a:p>
            <a:r>
              <a:rPr lang="en-AU" sz="2400" b="1" dirty="0">
                <a:latin typeface="Courier New" charset="0"/>
              </a:rPr>
              <a:t>{</a:t>
            </a:r>
          </a:p>
          <a:p>
            <a:r>
              <a:rPr lang="en-AU" sz="2400" b="1" dirty="0">
                <a:latin typeface="Courier New" charset="0"/>
              </a:rPr>
              <a:t>    Driver driver= new Driver();</a:t>
            </a:r>
          </a:p>
          <a:p>
            <a:r>
              <a:rPr lang="en-AU" sz="2400" b="1" dirty="0">
                <a:latin typeface="Courier New" charset="0"/>
              </a:rPr>
              <a:t>    </a:t>
            </a:r>
            <a:r>
              <a:rPr lang="en-AU" sz="2400" b="1" dirty="0" err="1">
                <a:latin typeface="Courier New" charset="0"/>
              </a:rPr>
              <a:t>driver.runMenu</a:t>
            </a:r>
            <a:r>
              <a:rPr lang="en-AU" sz="2400" b="1" dirty="0">
                <a:latin typeface="Courier New" charset="0"/>
              </a:rPr>
              <a:t>();</a:t>
            </a:r>
          </a:p>
          <a:p>
            <a:r>
              <a:rPr lang="en-AU" sz="2400" b="1" dirty="0">
                <a:latin typeface="Courier New" charset="0"/>
              </a:rPr>
              <a:t>}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chemeClr val="tx1"/>
                </a:solidFill>
              </a:rPr>
              <a:t>The </a:t>
            </a:r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 typically…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F048D-8C9D-40D4-833E-6D94C727D0CE}"/>
              </a:ext>
            </a:extLst>
          </p:cNvPr>
          <p:cNvSpPr/>
          <p:nvPr/>
        </p:nvSpPr>
        <p:spPr>
          <a:xfrm>
            <a:off x="7924800" y="3119736"/>
            <a:ext cx="264207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dirty="0">
                <a:latin typeface="Trebuchet MS" charset="0"/>
              </a:rPr>
              <a:t>Creates an object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C8DC77-1F24-4F57-ACDD-DF26806D27CC}"/>
              </a:ext>
            </a:extLst>
          </p:cNvPr>
          <p:cNvSpPr/>
          <p:nvPr/>
        </p:nvSpPr>
        <p:spPr>
          <a:xfrm>
            <a:off x="7949732" y="3741004"/>
            <a:ext cx="210866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>
                <a:latin typeface="Trebuchet MS" charset="0"/>
              </a:rPr>
              <a:t>Calls the first method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FFF27-7A82-4241-8138-25E8D4B444FE}"/>
              </a:ext>
            </a:extLst>
          </p:cNvPr>
          <p:cNvCxnSpPr/>
          <p:nvPr/>
        </p:nvCxnSpPr>
        <p:spPr>
          <a:xfrm flipH="1" flipV="1">
            <a:off x="7620000" y="3276600"/>
            <a:ext cx="304800" cy="7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88E237-8FC5-484E-9252-42ADF4A609B7}"/>
              </a:ext>
            </a:extLst>
          </p:cNvPr>
          <p:cNvCxnSpPr>
            <a:cxnSpLocks/>
          </p:cNvCxnSpPr>
          <p:nvPr/>
        </p:nvCxnSpPr>
        <p:spPr>
          <a:xfrm flipH="1" flipV="1">
            <a:off x="5638800" y="3657600"/>
            <a:ext cx="2286000" cy="484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6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</TotalTime>
  <Words>465</Words>
  <Application>Microsoft Macintosh PowerPoint</Application>
  <PresentationFormat>Widescreen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Inter</vt:lpstr>
      <vt:lpstr>Times</vt:lpstr>
      <vt:lpstr>Trebuchet MS</vt:lpstr>
      <vt:lpstr>Office Theme</vt:lpstr>
      <vt:lpstr>Introduction to JVM</vt:lpstr>
      <vt:lpstr>Topics list</vt:lpstr>
      <vt:lpstr>Files in Java</vt:lpstr>
      <vt:lpstr>Development Process</vt:lpstr>
      <vt:lpstr>Topics list</vt:lpstr>
      <vt:lpstr>Java Virtual Machine (JVM)</vt:lpstr>
      <vt:lpstr>Java Virtual Machine (JVM)</vt:lpstr>
      <vt:lpstr>Topics list</vt:lpstr>
      <vt:lpstr>main() method</vt:lpstr>
      <vt:lpstr>main() method - signature</vt:lpstr>
      <vt:lpstr>The main() method typically…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 2</dc:title>
  <dc:creator>Siobhan Drohan</dc:creator>
  <cp:lastModifiedBy>Mairead Meagher</cp:lastModifiedBy>
  <cp:revision>78</cp:revision>
  <dcterms:created xsi:type="dcterms:W3CDTF">2006-08-16T00:00:00Z</dcterms:created>
  <dcterms:modified xsi:type="dcterms:W3CDTF">2025-09-14T08:35:10Z</dcterms:modified>
</cp:coreProperties>
</file>